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7"/>
  </p:notesMasterIdLst>
  <p:sldIdLst>
    <p:sldId id="256" r:id="rId2"/>
    <p:sldId id="1110" r:id="rId3"/>
    <p:sldId id="1186" r:id="rId4"/>
    <p:sldId id="1187" r:id="rId5"/>
    <p:sldId id="1222" r:id="rId6"/>
    <p:sldId id="1188" r:id="rId7"/>
    <p:sldId id="1185" r:id="rId8"/>
    <p:sldId id="1190" r:id="rId9"/>
    <p:sldId id="1259" r:id="rId10"/>
    <p:sldId id="1267" r:id="rId11"/>
    <p:sldId id="1189" r:id="rId12"/>
    <p:sldId id="1224" r:id="rId13"/>
    <p:sldId id="1225" r:id="rId14"/>
    <p:sldId id="1226" r:id="rId15"/>
    <p:sldId id="1230" r:id="rId16"/>
    <p:sldId id="1227" r:id="rId17"/>
    <p:sldId id="1228" r:id="rId18"/>
    <p:sldId id="1193" r:id="rId19"/>
    <p:sldId id="1233" r:id="rId20"/>
    <p:sldId id="1234" r:id="rId21"/>
    <p:sldId id="1235" r:id="rId22"/>
    <p:sldId id="1236" r:id="rId23"/>
    <p:sldId id="1219" r:id="rId24"/>
    <p:sldId id="1237" r:id="rId25"/>
    <p:sldId id="1240" r:id="rId26"/>
    <p:sldId id="1241" r:id="rId27"/>
    <p:sldId id="1242" r:id="rId28"/>
    <p:sldId id="1238" r:id="rId29"/>
    <p:sldId id="1243" r:id="rId30"/>
    <p:sldId id="1244" r:id="rId31"/>
    <p:sldId id="1245" r:id="rId32"/>
    <p:sldId id="1246" r:id="rId33"/>
    <p:sldId id="1247" r:id="rId34"/>
    <p:sldId id="1248" r:id="rId35"/>
    <p:sldId id="1249" r:id="rId36"/>
    <p:sldId id="1239" r:id="rId37"/>
    <p:sldId id="1252" r:id="rId38"/>
    <p:sldId id="1250" r:id="rId39"/>
    <p:sldId id="1251" r:id="rId40"/>
    <p:sldId id="1255" r:id="rId41"/>
    <p:sldId id="1254" r:id="rId42"/>
    <p:sldId id="1269" r:id="rId43"/>
    <p:sldId id="1253" r:id="rId44"/>
    <p:sldId id="1256" r:id="rId45"/>
    <p:sldId id="1264" r:id="rId46"/>
    <p:sldId id="1260" r:id="rId47"/>
    <p:sldId id="1261" r:id="rId48"/>
    <p:sldId id="1262" r:id="rId49"/>
    <p:sldId id="1263" r:id="rId50"/>
    <p:sldId id="1217" r:id="rId51"/>
    <p:sldId id="1268" r:id="rId52"/>
    <p:sldId id="1266" r:id="rId53"/>
    <p:sldId id="1265" r:id="rId54"/>
    <p:sldId id="1184" r:id="rId55"/>
    <p:sldId id="674" r:id="rId56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Bruno Elias Penteado" initials="BE" lastIdx="2" clrIdx="0">
    <p:extLst>
      <p:ext uri="{19B8F6BF-5375-455C-9EA6-DF929625EA0E}">
        <p15:presenceInfo xmlns:p15="http://schemas.microsoft.com/office/powerpoint/2012/main" userId="S::bruno.penteado@unesp.br::bec6b747-612e-4f00-81d1-4fe3c5e6bf72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51C75"/>
    <a:srgbClr val="674EA7"/>
    <a:srgbClr val="E1EAE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2838BEF-8BB2-4498-84A7-C5851F593DF1}" styleName="Estilo Médio 4 - Ênfase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3B4B98B0-60AC-42C2-AFA5-B58CD77FA1E5}" styleName="Estilo Claro 1 - Ênfas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enhum Estilo, Nenhuma Grad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3870" autoAdjust="0"/>
  </p:normalViewPr>
  <p:slideViewPr>
    <p:cSldViewPr snapToGrid="0">
      <p:cViewPr>
        <p:scale>
          <a:sx n="80" d="100"/>
          <a:sy n="80" d="100"/>
        </p:scale>
        <p:origin x="17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commentAuthors" Target="commentAuthors.xml"/><Relationship Id="rId5" Type="http://schemas.openxmlformats.org/officeDocument/2006/relationships/slide" Target="slides/slide4.xml"/><Relationship Id="rId61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5A0D3E-F1D3-4165-92D6-88ABBF3402F7}" type="datetimeFigureOut">
              <a:rPr lang="pt-BR" smtClean="0"/>
              <a:t>14/04/2026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4F4DC4-6592-40BF-ABDB-9BFF74F557E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257362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4F4DC4-6592-40BF-ABDB-9BFF74F557E8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263000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FBC1F7-4DB4-88B8-7C26-3F8A456D11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B053B9C8-08AC-68A0-2881-99F07265E5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5ABF85E8-D449-C20D-638A-2F98AD12CA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1492266-AAD5-EA3F-13AB-822E366031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4F4DC4-6592-40BF-ABDB-9BFF74F557E8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932696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4F4DC4-6592-40BF-ABDB-9BFF74F557E8}" type="slidenum">
              <a:rPr lang="pt-BR" smtClean="0"/>
              <a:t>16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377679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Depto é participação total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4F4DC4-6592-40BF-ABDB-9BFF74F557E8}" type="slidenum">
              <a:rPr lang="pt-BR" smtClean="0"/>
              <a:t>25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812196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Tabela sumariza a correspondência entre os construtos e restrições dos Modelos ER e Relacional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4F4DC4-6592-40BF-ABDB-9BFF74F557E8}" type="slidenum">
              <a:rPr lang="pt-BR" smtClean="0"/>
              <a:t>39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388547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5D2ED7-AA36-1396-DB2F-9710A8C66A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1B42EB1E-6F0E-F15B-670E-7B17BAC0C3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43A76D8E-B7FA-F460-D81A-ED6A0DA6A6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327CFCB-DEE5-2F82-6CE7-AA49CD6B4F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4F4DC4-6592-40BF-ABDB-9BFF74F557E8}" type="slidenum">
              <a:rPr lang="pt-BR" smtClean="0"/>
              <a:t>43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7552940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E se não for disjunto?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4F4DC4-6592-40BF-ABDB-9BFF74F557E8}" type="slidenum">
              <a:rPr lang="pt-BR" smtClean="0"/>
              <a:t>46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9962356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https://www.drawdb.app/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4F4DC4-6592-40BF-ABDB-9BFF74F557E8}" type="slidenum">
              <a:rPr lang="pt-BR" smtClean="0"/>
              <a:t>55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077976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F23A69-42FA-6C7F-8E7F-6B98D92359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3D12021-E9B8-2DA5-D7AA-EEFAC9BE43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EAE13B6-90D0-2EBF-557D-77BD35E403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6B603-1547-4FF1-9893-248F1C80E797}" type="datetimeFigureOut">
              <a:rPr lang="pt-BR" smtClean="0"/>
              <a:t>14/04/2026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2DC1895-12D9-AC11-702E-11B703192A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B0C4B1D-8FC3-28DD-213A-B4A33E191E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34841A-B43B-4ADF-B560-E829E6A817B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065820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38C2FD6-A370-1985-C93A-1EDE8406C4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552C3B9-7A7B-6CD7-6119-3D2AB3F883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2677D9F-B2B1-EEB2-F39C-05B9FFB672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6B603-1547-4FF1-9893-248F1C80E797}" type="datetimeFigureOut">
              <a:rPr lang="pt-BR" smtClean="0"/>
              <a:t>14/04/2026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9BCF700-7673-8EE5-8957-C42E2F58FC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00852A1-3892-A7FE-CCE6-6FCC9FB20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34841A-B43B-4ADF-B560-E829E6A817B2}" type="slidenum">
              <a:rPr lang="pt-BR" smtClean="0"/>
              <a:t>‹nº›</a:t>
            </a:fld>
            <a:endParaRPr lang="pt-BR"/>
          </a:p>
        </p:txBody>
      </p:sp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F50F23F7-7509-A94A-0357-13196DBAB9BE}"/>
              </a:ext>
            </a:extLst>
          </p:cNvPr>
          <p:cNvCxnSpPr/>
          <p:nvPr userDrawn="1"/>
        </p:nvCxnSpPr>
        <p:spPr>
          <a:xfrm>
            <a:off x="838200" y="1515204"/>
            <a:ext cx="1051560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12493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4BC957-C48F-6616-84A8-A19050F982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AC85F08-A25E-5A03-6537-9CF234C813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31BBAA9-5543-2C33-03DE-855D245B44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6B603-1547-4FF1-9893-248F1C80E797}" type="datetimeFigureOut">
              <a:rPr lang="pt-BR" smtClean="0"/>
              <a:t>14/04/2026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CBEBC89-3A79-0634-3519-AF1F8111B7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3AD87A1-4927-B729-156C-B2C6FEFFC7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34841A-B43B-4ADF-B560-E829E6A817B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516523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5213CD-B211-17A6-D257-BB10AAF021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F0D9272-58DB-55C5-C017-D02D739EA6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B7CA884-D3A7-E862-7F04-B499373461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C147A3D-8DA4-6B2C-0A0E-0AA6B0871E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6B603-1547-4FF1-9893-248F1C80E797}" type="datetimeFigureOut">
              <a:rPr lang="pt-BR" smtClean="0"/>
              <a:t>14/04/2026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40C47B9-781B-1A6F-38A5-6CF791D123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D5ACD4D-8610-8AC9-93C7-D8B0369D9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34841A-B43B-4ADF-B560-E829E6A817B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011373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6E7B04-0019-79A4-76F5-2C89121749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BC33AB5-0365-0DCE-8AFE-3AABCB4EF4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D09B770-753E-FCF1-A116-D319C584F6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5E7E1C91-CE5E-222F-1899-061861EB58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1D8F9A3A-15E1-DB2C-9454-3759BC68B0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0DD57461-6C88-BC10-A526-51F0EC8E54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6B603-1547-4FF1-9893-248F1C80E797}" type="datetimeFigureOut">
              <a:rPr lang="pt-BR" smtClean="0"/>
              <a:t>14/04/2026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FF514616-1567-C300-7178-6E93D825C0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9D247810-64D7-2657-E807-F2E63157F7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34841A-B43B-4ADF-B560-E829E6A817B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317459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81F6D0-F91D-FF94-ADD4-10B99AAAA6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A211C08B-A0E1-D3DF-477B-076566DF47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6B603-1547-4FF1-9893-248F1C80E797}" type="datetimeFigureOut">
              <a:rPr lang="pt-BR" smtClean="0"/>
              <a:t>14/04/2026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28C29EE2-896F-6655-83F6-77B2CC7755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A9521969-790C-3FB8-B17B-C5D9FA8D2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34841A-B43B-4ADF-B560-E829E6A817B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453233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88EA4D47-97AA-E8F2-EFAD-E53C4D4BAD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6B603-1547-4FF1-9893-248F1C80E797}" type="datetimeFigureOut">
              <a:rPr lang="pt-BR" smtClean="0"/>
              <a:t>14/04/2026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C06686CE-31E4-CD82-2C3F-AE7B79DE6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D463308-365F-B15E-1B4F-EF5A05F5B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34841A-B43B-4ADF-B560-E829E6A817B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446467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F2A433-62E5-A2BD-9933-CEDBBAC8B2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1F278DE-9B7C-499B-0B63-1A51C8A34E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852706B-ACC1-4F1F-252E-07F6A94B5D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E07D0C2-9C2B-2A0D-85DB-E5122F1DFC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6B603-1547-4FF1-9893-248F1C80E797}" type="datetimeFigureOut">
              <a:rPr lang="pt-BR" smtClean="0"/>
              <a:t>14/04/2026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9CEBD13-52BB-5E4C-C4C9-7253B4D150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8118860-1540-DB38-E923-CF9EB4C152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34841A-B43B-4ADF-B560-E829E6A817B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982657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B72268F-28E4-33A8-9A0D-B4BD01E95E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4C3C9CF8-866C-BB9E-2C67-D40C4A1C7BD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078B3E1-ECBE-DAF0-5317-CCE8B66223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B9CF26C-EB62-7FA1-1821-42D3E058AF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6B603-1547-4FF1-9893-248F1C80E797}" type="datetimeFigureOut">
              <a:rPr lang="pt-BR" smtClean="0"/>
              <a:t>14/04/2026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70B9854-208F-52D2-AAFE-4C05AE118F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1340E45-F88F-F4D5-516C-ECC00FF81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34841A-B43B-4ADF-B560-E829E6A817B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926552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009645-90D5-1856-B2DB-C12DE86D30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F207D42-9D2A-8F7A-AEE8-7980420C0E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B97E935-7DE0-6081-9677-5C257B0B69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6B603-1547-4FF1-9893-248F1C80E797}" type="datetimeFigureOut">
              <a:rPr lang="pt-BR" smtClean="0"/>
              <a:t>14/04/2026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532B49B-2BD6-A21A-CEE2-1B9E214831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F3EF3D5-C6F9-8E4C-A73B-B9C1473DB7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34841A-B43B-4ADF-B560-E829E6A817B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905674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4C907A92-4A5E-2739-A866-E329CB69AB4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FEC33BF-D4D8-5F77-DD24-DA158AAC9E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F5AC911-DB13-B1D0-B867-3C6E61F09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6B603-1547-4FF1-9893-248F1C80E797}" type="datetimeFigureOut">
              <a:rPr lang="pt-BR" smtClean="0"/>
              <a:t>14/04/2026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843CF6F-A03A-D784-15F8-5DB6477A26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1624183-E9DA-9340-1464-04AA66A09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34841A-B43B-4ADF-B560-E829E6A817B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078741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BA7EA33D-A7C8-9466-7C32-0A686D071E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944E89D-FA86-74FF-F5B2-DA0869805C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9436571-AAA0-FF36-AE0C-F581FE3716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C6B603-1547-4FF1-9893-248F1C80E797}" type="datetimeFigureOut">
              <a:rPr lang="pt-BR" smtClean="0"/>
              <a:t>14/04/2026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2657596-0053-291B-1A10-11FCA5D6CB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2938FE5-92A0-DD55-5D9B-42370AB356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34841A-B43B-4ADF-B560-E829E6A817B2}" type="slidenum">
              <a:rPr lang="pt-BR" smtClean="0"/>
              <a:t>‹nº›</a:t>
            </a:fld>
            <a:endParaRPr lang="pt-BR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38C15A9F-51BE-835B-BCD8-3FE41794173D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8493855" y="176539"/>
            <a:ext cx="3481023" cy="480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42073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bruno.penteado@unesp.br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hyperlink" Target="https://15445.courses.cs.cmu.edu/spring2026/slides/01-relationalmodel.pdf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11CE52B2-35C1-BC52-58D1-71F38112F63D}"/>
              </a:ext>
            </a:extLst>
          </p:cNvPr>
          <p:cNvSpPr txBox="1">
            <a:spLocks/>
          </p:cNvSpPr>
          <p:nvPr/>
        </p:nvSpPr>
        <p:spPr>
          <a:xfrm>
            <a:off x="1524000" y="2048338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b="1" dirty="0"/>
              <a:t>Aula 5</a:t>
            </a:r>
          </a:p>
          <a:p>
            <a:r>
              <a:rPr lang="pt-BR" dirty="0"/>
              <a:t>Mapeamento EER - Relacional</a:t>
            </a:r>
          </a:p>
        </p:txBody>
      </p:sp>
      <p:sp>
        <p:nvSpPr>
          <p:cNvPr id="5" name="Subtítulo 2">
            <a:extLst>
              <a:ext uri="{FF2B5EF4-FFF2-40B4-BE49-F238E27FC236}">
                <a16:creationId xmlns:a16="http://schemas.microsoft.com/office/drawing/2014/main" id="{52575701-68BF-5229-3D18-C2C9D3651AA6}"/>
              </a:ext>
            </a:extLst>
          </p:cNvPr>
          <p:cNvSpPr txBox="1">
            <a:spLocks/>
          </p:cNvSpPr>
          <p:nvPr/>
        </p:nvSpPr>
        <p:spPr>
          <a:xfrm>
            <a:off x="1524000" y="4528013"/>
            <a:ext cx="91440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/>
              <a:t>Bruno Elias Penteado</a:t>
            </a:r>
          </a:p>
          <a:p>
            <a:r>
              <a:rPr lang="pt-BR" sz="1800" dirty="0">
                <a:hlinkClick r:id="rId3"/>
              </a:rPr>
              <a:t>bruno.penteado@unesp.br</a:t>
            </a:r>
            <a:r>
              <a:rPr lang="pt-BR" sz="18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4929190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2BC4F4-08BA-9CB3-278E-FE1CECDC4F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642D60B-B79E-5A3F-04EB-7AA90BF0CC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b="1" dirty="0"/>
              <a:t>Mapeamento ER para Modelo Relacional</a:t>
            </a:r>
          </a:p>
          <a:p>
            <a:pPr lvl="1"/>
            <a:r>
              <a:rPr lang="pt-BR" b="1" dirty="0"/>
              <a:t>7 passos</a:t>
            </a:r>
            <a:endParaRPr lang="pt-BR" dirty="0"/>
          </a:p>
          <a:p>
            <a:pPr>
              <a:spcBef>
                <a:spcPts val="2400"/>
              </a:spcBef>
            </a:pPr>
            <a:r>
              <a:rPr lang="pt-BR" dirty="0"/>
              <a:t>Mapeamento de construtos EER para Modelo Relacional</a:t>
            </a:r>
          </a:p>
          <a:p>
            <a:pPr lvl="1"/>
            <a:r>
              <a:rPr lang="pt-BR" dirty="0"/>
              <a:t>Generalização/especialização</a:t>
            </a:r>
          </a:p>
          <a:p>
            <a:pPr lvl="1"/>
            <a:endParaRPr lang="pt-BR" dirty="0"/>
          </a:p>
          <a:p>
            <a:pPr marL="1371600" lvl="2" indent="-457200">
              <a:buFont typeface="+mj-lt"/>
              <a:buAutoNum type="arabicPeriod"/>
            </a:pPr>
            <a:endParaRPr lang="pt-BR" dirty="0"/>
          </a:p>
          <a:p>
            <a:pPr marL="1371600" lvl="2" indent="-457200">
              <a:buFont typeface="+mj-lt"/>
              <a:buAutoNum type="arabicPeriod"/>
            </a:pPr>
            <a:endParaRPr lang="pt-BR" dirty="0"/>
          </a:p>
          <a:p>
            <a:pPr marL="971550" lvl="1" indent="-514350">
              <a:buFont typeface="+mj-lt"/>
              <a:buAutoNum type="arabicPeriod"/>
            </a:pPr>
            <a:endParaRPr lang="pt-BR" dirty="0"/>
          </a:p>
          <a:p>
            <a:pPr marL="1371600" lvl="2" indent="-457200">
              <a:buFont typeface="+mj-lt"/>
              <a:buAutoNum type="romanLcPeriod"/>
            </a:pPr>
            <a:endParaRPr lang="pt-BR" dirty="0"/>
          </a:p>
          <a:p>
            <a:endParaRPr lang="pt-BR" dirty="0"/>
          </a:p>
          <a:p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8682D57-6369-E819-79EF-8BC5D7AA50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Agenda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E8B61095-3DB5-957E-2B4C-792F937ECC82}"/>
              </a:ext>
            </a:extLst>
          </p:cNvPr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991116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628009-FBAA-4F22-0292-5D99EB3D58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Mapeamento entre esquemas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41D0DE5-1986-E2B3-C609-17A3CC7D74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b="1" dirty="0"/>
              <a:t>MER </a:t>
            </a:r>
            <a:r>
              <a:rPr lang="pt-BR" b="1" dirty="0">
                <a:sym typeface="Wingdings" panose="05000000000000000000" pitchFamily="2" charset="2"/>
              </a:rPr>
              <a:t> Modelo conceitual</a:t>
            </a:r>
          </a:p>
          <a:p>
            <a:pPr lvl="1">
              <a:spcBef>
                <a:spcPts val="1800"/>
              </a:spcBef>
            </a:pPr>
            <a:r>
              <a:rPr lang="pt-BR" dirty="0">
                <a:sym typeface="Wingdings" panose="05000000000000000000" pitchFamily="2" charset="2"/>
              </a:rPr>
              <a:t>Usado para especificar conceitualmente a estrutura dos dados de uma aplicação  </a:t>
            </a:r>
            <a:r>
              <a:rPr lang="pt-BR" dirty="0">
                <a:solidFill>
                  <a:srgbClr val="FF0000"/>
                </a:solidFill>
                <a:sym typeface="Wingdings" panose="05000000000000000000" pitchFamily="2" charset="2"/>
              </a:rPr>
              <a:t>Projeto conceitual</a:t>
            </a:r>
          </a:p>
          <a:p>
            <a:pPr lvl="1">
              <a:spcBef>
                <a:spcPts val="1800"/>
              </a:spcBef>
            </a:pPr>
            <a:r>
              <a:rPr lang="pt-BR" dirty="0">
                <a:sym typeface="Wingdings" panose="05000000000000000000" pitchFamily="2" charset="2"/>
              </a:rPr>
              <a:t>Pode ser reaproveitado em qualquer </a:t>
            </a:r>
            <a:r>
              <a:rPr lang="pt-BR" b="1" dirty="0">
                <a:sym typeface="Wingdings" panose="05000000000000000000" pitchFamily="2" charset="2"/>
              </a:rPr>
              <a:t>modelo de dados </a:t>
            </a:r>
            <a:r>
              <a:rPr lang="pt-BR" dirty="0">
                <a:sym typeface="Wingdings" panose="05000000000000000000" pitchFamily="2" charset="2"/>
              </a:rPr>
              <a:t>apropriado</a:t>
            </a:r>
          </a:p>
          <a:p>
            <a:pPr lvl="1"/>
            <a:endParaRPr lang="pt-BR" dirty="0">
              <a:sym typeface="Wingdings" panose="05000000000000000000" pitchFamily="2" charset="2"/>
            </a:endParaRPr>
          </a:p>
          <a:p>
            <a:r>
              <a:rPr lang="pt-BR" b="1" dirty="0">
                <a:sym typeface="Wingdings" panose="05000000000000000000" pitchFamily="2" charset="2"/>
              </a:rPr>
              <a:t>Modelo Relacional  Modelo de implementação</a:t>
            </a:r>
          </a:p>
          <a:p>
            <a:pPr lvl="1">
              <a:spcBef>
                <a:spcPts val="1800"/>
              </a:spcBef>
            </a:pPr>
            <a:r>
              <a:rPr lang="pt-BR" dirty="0">
                <a:sym typeface="Wingdings" panose="05000000000000000000" pitchFamily="2" charset="2"/>
              </a:rPr>
              <a:t>Usado para apoiar a implementação de aplicações  </a:t>
            </a:r>
            <a:r>
              <a:rPr lang="pt-BR" dirty="0">
                <a:solidFill>
                  <a:schemeClr val="accent1"/>
                </a:solidFill>
                <a:sym typeface="Wingdings" panose="05000000000000000000" pitchFamily="2" charset="2"/>
              </a:rPr>
              <a:t>Projeto lógico</a:t>
            </a:r>
          </a:p>
          <a:p>
            <a:pPr lvl="1">
              <a:spcBef>
                <a:spcPts val="1800"/>
              </a:spcBef>
            </a:pPr>
            <a:r>
              <a:rPr lang="pt-BR" dirty="0">
                <a:sym typeface="Wingdings" panose="05000000000000000000" pitchFamily="2" charset="2"/>
              </a:rPr>
              <a:t>SGBDR: SBGD baseado no modelo relacional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3576362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8ACB1A5-95EA-B73B-7DCC-A474A22141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630D522-CFA1-8E9E-5DC3-F16090417C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BA9DD021-BD3A-03C6-7108-51C671CADE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7642" y="160501"/>
            <a:ext cx="10286158" cy="6536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88057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A91118-3B8B-ABE8-1F17-7877C51F8A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9153CA2-C09D-AC23-C040-1C67E4D83B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D7CD2630-2DEB-C44E-972B-0042A24462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4619" y="1697633"/>
            <a:ext cx="8662761" cy="4795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14316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28B1E4-B0C1-A5C3-77C1-F338505459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Mapeamento entre esquemas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AD7B342-B0F6-FF8A-B3F6-D72FC69C13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Mapeamento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Permite “traduzir” esquemas criados com um modelo semântico (MER) para um esquema utilizando um modelo de implementação (</a:t>
            </a:r>
            <a:r>
              <a:rPr lang="pt-BR" dirty="0" err="1"/>
              <a:t>MRel</a:t>
            </a:r>
            <a:r>
              <a:rPr lang="pt-BR" dirty="0"/>
              <a:t>), preservando as propriedades do modelo semântico </a:t>
            </a:r>
          </a:p>
          <a:p>
            <a:endParaRPr lang="pt-BR" dirty="0"/>
          </a:p>
          <a:p>
            <a:r>
              <a:rPr lang="pt-BR" dirty="0"/>
              <a:t>Mapeamento MER – Relacional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Procedimento básico executado em 7 passos</a:t>
            </a:r>
          </a:p>
        </p:txBody>
      </p:sp>
    </p:spTree>
    <p:extLst>
      <p:ext uri="{BB962C8B-B14F-4D97-AF65-F5344CB8AC3E}">
        <p14:creationId xmlns:p14="http://schemas.microsoft.com/office/powerpoint/2010/main" val="32737590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FABBD0-E4C2-3A8A-D0D7-CAEB2237B4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Revisando...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7583715-9CC3-BCF0-3FD9-1824C49F9B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Restrições do </a:t>
            </a:r>
            <a:r>
              <a:rPr lang="pt-BR" b="1" dirty="0"/>
              <a:t>Modelo Relacional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Atributos atômicos 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Domínio (</a:t>
            </a:r>
            <a:r>
              <a:rPr lang="pt-BR" i="1" dirty="0"/>
              <a:t>Dom(A)</a:t>
            </a:r>
            <a:r>
              <a:rPr lang="pt-BR" dirty="0"/>
              <a:t> e </a:t>
            </a:r>
            <a:r>
              <a:rPr lang="pt-BR" i="1" dirty="0" err="1"/>
              <a:t>nullability</a:t>
            </a:r>
            <a:r>
              <a:rPr lang="pt-BR" dirty="0"/>
              <a:t>)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Chave (PK, SK, </a:t>
            </a:r>
            <a:r>
              <a:rPr lang="pt-BR" i="1" dirty="0" err="1"/>
              <a:t>uniqueness</a:t>
            </a:r>
            <a:r>
              <a:rPr lang="pt-BR" dirty="0"/>
              <a:t>)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Integridade de entidade (PK </a:t>
            </a:r>
            <a:r>
              <a:rPr lang="pt-BR" dirty="0" err="1"/>
              <a:t>not</a:t>
            </a:r>
            <a:r>
              <a:rPr lang="pt-BR" dirty="0"/>
              <a:t> </a:t>
            </a:r>
            <a:r>
              <a:rPr lang="pt-BR" dirty="0" err="1"/>
              <a:t>null</a:t>
            </a:r>
            <a:r>
              <a:rPr lang="pt-BR" dirty="0"/>
              <a:t>)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Integridade referencial (FK)</a:t>
            </a:r>
          </a:p>
        </p:txBody>
      </p:sp>
    </p:spTree>
    <p:extLst>
      <p:ext uri="{BB962C8B-B14F-4D97-AF65-F5344CB8AC3E}">
        <p14:creationId xmlns:p14="http://schemas.microsoft.com/office/powerpoint/2010/main" val="21405901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BFCF60-13E0-ADAA-975F-7D01320A47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Revisando...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7A84C59-3271-C799-4297-12B6F8B506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Notação do modelo Relacional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0D644E49-CF48-F1D7-39A2-41505F0C8132}"/>
              </a:ext>
            </a:extLst>
          </p:cNvPr>
          <p:cNvSpPr/>
          <p:nvPr/>
        </p:nvSpPr>
        <p:spPr>
          <a:xfrm>
            <a:off x="6677376" y="2291644"/>
            <a:ext cx="5492044" cy="4201231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2800" dirty="0"/>
              <a:t>Ex.:</a:t>
            </a:r>
          </a:p>
          <a:p>
            <a:pPr lvl="1"/>
            <a:r>
              <a:rPr lang="pt-BR" sz="2800" b="1" i="1" dirty="0"/>
              <a:t>Aluno</a:t>
            </a:r>
            <a:r>
              <a:rPr lang="pt-BR" sz="2800" b="1" dirty="0"/>
              <a:t>(Nome, </a:t>
            </a:r>
            <a:r>
              <a:rPr lang="pt-BR" sz="2800" b="1" u="sng" dirty="0"/>
              <a:t>RA</a:t>
            </a:r>
            <a:r>
              <a:rPr lang="pt-BR" sz="2800" b="1" dirty="0"/>
              <a:t>, </a:t>
            </a:r>
            <a:r>
              <a:rPr lang="pt-BR" sz="2800" b="1" i="1" dirty="0"/>
              <a:t>Curso</a:t>
            </a:r>
            <a:r>
              <a:rPr lang="pt-BR" sz="2800" b="1" dirty="0"/>
              <a:t>)</a:t>
            </a:r>
          </a:p>
          <a:p>
            <a:pPr lvl="1">
              <a:spcBef>
                <a:spcPts val="1200"/>
              </a:spcBef>
              <a:spcAft>
                <a:spcPts val="1200"/>
              </a:spcAft>
            </a:pPr>
            <a:r>
              <a:rPr lang="pt-BR" sz="2800" dirty="0"/>
              <a:t>ou</a:t>
            </a:r>
          </a:p>
          <a:p>
            <a:pPr lvl="1"/>
            <a:r>
              <a:rPr lang="pt-BR" sz="2800" b="1" i="1" dirty="0"/>
              <a:t>Aluno</a:t>
            </a:r>
            <a:r>
              <a:rPr lang="pt-BR" sz="2800" b="1" dirty="0"/>
              <a:t>={Nome, </a:t>
            </a:r>
            <a:r>
              <a:rPr lang="pt-BR" sz="2800" b="1" u="sng" dirty="0"/>
              <a:t>RA</a:t>
            </a:r>
            <a:r>
              <a:rPr lang="pt-BR" sz="2800" b="1" dirty="0"/>
              <a:t>, </a:t>
            </a:r>
            <a:r>
              <a:rPr lang="pt-BR" sz="2800" b="1" i="1" dirty="0"/>
              <a:t>Curso</a:t>
            </a:r>
            <a:r>
              <a:rPr lang="pt-BR" sz="2800" b="1" dirty="0"/>
              <a:t>} </a:t>
            </a:r>
          </a:p>
          <a:p>
            <a:pPr lvl="1">
              <a:spcBef>
                <a:spcPts val="1200"/>
              </a:spcBef>
              <a:spcAft>
                <a:spcPts val="1200"/>
              </a:spcAft>
            </a:pPr>
            <a:r>
              <a:rPr lang="pt-BR" sz="2800" dirty="0"/>
              <a:t>ou</a:t>
            </a:r>
          </a:p>
          <a:p>
            <a:pPr lvl="1"/>
            <a:r>
              <a:rPr lang="pt-BR" sz="2800" b="1" dirty="0"/>
              <a:t>Aluno(Nome: </a:t>
            </a:r>
            <a:r>
              <a:rPr lang="pt-BR" sz="2800" b="1" dirty="0" err="1"/>
              <a:t>string</a:t>
            </a:r>
            <a:r>
              <a:rPr lang="pt-BR" sz="2800" b="1" dirty="0"/>
              <a:t>, </a:t>
            </a:r>
            <a:r>
              <a:rPr lang="pt-BR" sz="2800" b="1" u="sng" dirty="0"/>
              <a:t>RA</a:t>
            </a:r>
            <a:r>
              <a:rPr lang="pt-BR" sz="2800" b="1" dirty="0"/>
              <a:t>: </a:t>
            </a:r>
            <a:r>
              <a:rPr lang="pt-BR" sz="2800" b="1" dirty="0" err="1"/>
              <a:t>integer</a:t>
            </a:r>
            <a:r>
              <a:rPr lang="pt-BR" sz="2800" b="1" dirty="0"/>
              <a:t>, </a:t>
            </a:r>
            <a:r>
              <a:rPr lang="pt-BR" sz="2800" b="1" i="1" dirty="0"/>
              <a:t>Curso: </a:t>
            </a:r>
            <a:r>
              <a:rPr lang="pt-BR" sz="2800" b="1" i="1" dirty="0" err="1"/>
              <a:t>string</a:t>
            </a:r>
            <a:r>
              <a:rPr lang="pt-BR" sz="2800" b="1" dirty="0"/>
              <a:t>)  </a:t>
            </a:r>
            <a:r>
              <a:rPr lang="pt-BR" sz="2800" dirty="0"/>
              <a:t>	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F9F0697E-6E37-692A-1840-09B8707137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869" y="2595844"/>
            <a:ext cx="5077178" cy="3897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98318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2C0714-ED4B-A7B8-3BAD-931506EF43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Mapeamento MER- </a:t>
            </a:r>
            <a:r>
              <a:rPr lang="pt-BR" dirty="0" err="1"/>
              <a:t>MRelacional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4504E08-77B9-44D5-A068-DEE672C2AA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Algoritmo com 7 passos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CE97CD19-DA51-7789-D3FB-6EC8CDD79DE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2797"/>
          <a:stretch/>
        </p:blipFill>
        <p:spPr>
          <a:xfrm>
            <a:off x="2078566" y="2581452"/>
            <a:ext cx="8034867" cy="3595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83521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63481F0-EC94-B549-B89C-837AD81B2E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1F047CD-1C5A-AF13-B612-34B2C2E566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0C0484B1-9DF9-3D75-AB50-40D89F7417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413" y="37626"/>
            <a:ext cx="10193173" cy="6782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7488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362ED9C-C6A2-2948-7854-30EF8260CF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Passo 1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1762948-A8E4-DEC6-B017-E97CCFDF23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Mapeando </a:t>
            </a:r>
            <a:r>
              <a:rPr lang="pt-BR" b="1" dirty="0"/>
              <a:t>conjuntos de entidades fortes que não fazem parte de Generalização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Para cada tipo entidade forte em um MER é criada uma Relação (Tabela) no modelo Relacional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Tabela inclui todos os </a:t>
            </a:r>
            <a:r>
              <a:rPr lang="pt-BR" b="1" dirty="0"/>
              <a:t>atributos</a:t>
            </a:r>
            <a:r>
              <a:rPr lang="pt-BR" dirty="0"/>
              <a:t> </a:t>
            </a:r>
            <a:r>
              <a:rPr lang="pt-BR" b="1" dirty="0"/>
              <a:t>simples </a:t>
            </a:r>
            <a:r>
              <a:rPr lang="pt-BR" dirty="0"/>
              <a:t>e os </a:t>
            </a:r>
            <a:r>
              <a:rPr lang="pt-BR" b="1" dirty="0"/>
              <a:t>componentes simples dos atributos compostos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Um atributo-chave da entidade é escolhido como chave primária da tabela recém-criada</a:t>
            </a:r>
          </a:p>
        </p:txBody>
      </p:sp>
    </p:spTree>
    <p:extLst>
      <p:ext uri="{BB962C8B-B14F-4D97-AF65-F5344CB8AC3E}">
        <p14:creationId xmlns:p14="http://schemas.microsoft.com/office/powerpoint/2010/main" val="22053606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64B247-6F29-D5B6-0139-4F8C6782F5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Passo 1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DBFC18D-7F3E-B1A8-18AC-5CAF04D0F5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0A538015-3DFF-FAEB-6D99-2E3F9898DA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1166" y="1601583"/>
            <a:ext cx="7309668" cy="3654834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92AA10AF-AE17-27F0-FED0-D6DC1DE549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41166" y="5256417"/>
            <a:ext cx="7309668" cy="1457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50496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BEF0EB-6955-DAB4-AE69-90CFE8613D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Passo 1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88774B3-864D-0C8C-601E-7B5979A53D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971012" cy="4351338"/>
          </a:xfrm>
        </p:spPr>
        <p:txBody>
          <a:bodyPr/>
          <a:lstStyle/>
          <a:p>
            <a:r>
              <a:rPr lang="pt-BR" dirty="0"/>
              <a:t>Outros tipos de atributos não entram por enquanto</a:t>
            </a:r>
          </a:p>
          <a:p>
            <a:pPr lvl="1"/>
            <a:r>
              <a:rPr lang="pt-BR" dirty="0"/>
              <a:t>Multivalorado</a:t>
            </a:r>
          </a:p>
          <a:p>
            <a:pPr lvl="1"/>
            <a:r>
              <a:rPr lang="pt-BR" dirty="0"/>
              <a:t>Derivado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F74A318E-E235-33F6-75EF-7F4707CE34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7264" y="1317860"/>
            <a:ext cx="6868484" cy="3409247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B0D58051-4CE0-D2E0-E1C1-81DA6E29F6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7264" y="4485944"/>
            <a:ext cx="6868484" cy="2372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41074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8FFE3A5-0507-4CA0-00A8-5E8C5F52E2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Passo 1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CB9B70C-3CEC-A9E0-AB2A-F046ABC6A4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858428" cy="4351338"/>
          </a:xfrm>
        </p:spPr>
        <p:txBody>
          <a:bodyPr/>
          <a:lstStyle/>
          <a:p>
            <a:r>
              <a:rPr lang="pt-BR" dirty="0"/>
              <a:t>Quando existir mais de um atributo-chave natural do CE, eleja uma como PK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29A8BF29-67F7-183A-67D6-B386571140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3629" y="1162448"/>
            <a:ext cx="4858428" cy="2838846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A2D6E125-D986-D85F-33CD-9E8C7D1BB7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2865" y="3954111"/>
            <a:ext cx="7039957" cy="2829320"/>
          </a:xfrm>
          <a:prstGeom prst="rect">
            <a:avLst/>
          </a:prstGeom>
        </p:spPr>
      </p:pic>
      <p:sp>
        <p:nvSpPr>
          <p:cNvPr id="8" name="Retângulo 7">
            <a:extLst>
              <a:ext uri="{FF2B5EF4-FFF2-40B4-BE49-F238E27FC236}">
                <a16:creationId xmlns:a16="http://schemas.microsoft.com/office/drawing/2014/main" id="{0507E9F4-6706-7A5F-5F17-57656B44E23E}"/>
              </a:ext>
            </a:extLst>
          </p:cNvPr>
          <p:cNvSpPr/>
          <p:nvPr/>
        </p:nvSpPr>
        <p:spPr>
          <a:xfrm>
            <a:off x="4562865" y="6129779"/>
            <a:ext cx="2120157" cy="462931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744567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A2667B-E317-00FE-C65D-10D0C47FC5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Passo 1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13EF830-EA02-A399-35B3-A472A3728D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8ACF5429-3F07-4703-BC79-C88C52B429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4202" y="1690688"/>
            <a:ext cx="9082820" cy="4866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57812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A3328D-641C-7004-7A77-DAFE82AFA6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653605-50F8-47E7-9616-2F11BB86F4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Passo 2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4A1569A-2E5E-A1B2-DDBE-ADD1B4FB3C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5257800" cy="4857397"/>
          </a:xfrm>
        </p:spPr>
        <p:txBody>
          <a:bodyPr>
            <a:normAutofit fontScale="92500"/>
          </a:bodyPr>
          <a:lstStyle/>
          <a:p>
            <a:r>
              <a:rPr lang="pt-BR" dirty="0"/>
              <a:t>Mapeando atributos multivalorados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Para cada um é necessário </a:t>
            </a:r>
            <a:r>
              <a:rPr lang="pt-BR" b="1" dirty="0"/>
              <a:t>criar nova Relação (Tabela)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Tabela incluirá o </a:t>
            </a:r>
            <a:r>
              <a:rPr lang="pt-BR" b="1" dirty="0"/>
              <a:t>atributo A multivalorado + o atributo PK </a:t>
            </a:r>
            <a:r>
              <a:rPr lang="pt-BR" dirty="0"/>
              <a:t>da tabela que representa o tipo de entidade no qual o atributo foi especificado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O atributo PK será uma FK desta nova tabela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A PK desta nova tabela será a combinação de A e PK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0B8D5FED-E675-85FB-2427-709B72146C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443989"/>
            <a:ext cx="6007480" cy="2504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13376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5BF549-8A27-4A1D-81B4-DBDB2A13A3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0F9FCF-4FF7-BB51-2408-A2003F1A9F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Passo 2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5C14537-C209-FB50-3A49-59CDAE10A5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A628B657-0855-1D73-D376-C2BECD6BF6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7865" y="1565981"/>
            <a:ext cx="8296270" cy="5131280"/>
          </a:xfrm>
          <a:prstGeom prst="rect">
            <a:avLst/>
          </a:prstGeom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7BD65088-3318-BADC-9E1B-ADF65230B8A5}"/>
              </a:ext>
            </a:extLst>
          </p:cNvPr>
          <p:cNvSpPr/>
          <p:nvPr/>
        </p:nvSpPr>
        <p:spPr>
          <a:xfrm>
            <a:off x="6784622" y="5249333"/>
            <a:ext cx="733778" cy="124354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362289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2ACBB9-23D7-7DB7-88F6-09E39B3DDD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Passo 3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259DB39-54A9-9DD0-8411-14A1D2A62C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Mapeando </a:t>
            </a:r>
            <a:r>
              <a:rPr lang="pt-BR" b="1" dirty="0"/>
              <a:t>conjuntos de entidades fracas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Para cada tipo entidade fraca no MER é criada uma </a:t>
            </a:r>
            <a:r>
              <a:rPr lang="pt-BR" b="1" dirty="0"/>
              <a:t>nova Relação (Tabela) </a:t>
            </a:r>
            <a:r>
              <a:rPr lang="pt-BR" dirty="0"/>
              <a:t>no Modelo Relacional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Tabela inclui todos os </a:t>
            </a:r>
            <a:r>
              <a:rPr lang="pt-BR" b="1" dirty="0"/>
              <a:t>atributos simples </a:t>
            </a:r>
            <a:r>
              <a:rPr lang="pt-BR" dirty="0"/>
              <a:t>(e os componentes simples de atributos compostos) </a:t>
            </a:r>
            <a:r>
              <a:rPr lang="pt-BR" b="1" dirty="0"/>
              <a:t>+ inclui como atributo FK a chave da entidade forte </a:t>
            </a:r>
            <a:r>
              <a:rPr lang="pt-BR" dirty="0"/>
              <a:t>associada à entidade fraca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A PK da tabela criada é a combinação do atributo-chave da entidade forte + atributo-chave parcial da entidade fraca</a:t>
            </a:r>
          </a:p>
        </p:txBody>
      </p:sp>
    </p:spTree>
    <p:extLst>
      <p:ext uri="{BB962C8B-B14F-4D97-AF65-F5344CB8AC3E}">
        <p14:creationId xmlns:p14="http://schemas.microsoft.com/office/powerpoint/2010/main" val="103779093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1CFCA5-86E0-4405-361F-7AB9D587F1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Passo 3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DAB5FFB-3386-B46F-BBFB-9EF5BC0D0E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F9581688-5537-CE2D-C372-7E717FBF1D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328" y="1594699"/>
            <a:ext cx="7935432" cy="2991267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72E94664-2013-4656-2358-1BD1F29960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0228" y="3853404"/>
            <a:ext cx="7259063" cy="2819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02625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A6A84C-9357-9165-C040-42F3CC89BE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Passo 3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17A7834-0BC7-CC93-B72F-349DB24418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E43ED36E-B9CE-C33E-4ACD-746D33AE4B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9231" y="1795948"/>
            <a:ext cx="7973538" cy="4410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554548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461F53-F069-B013-4AF4-88865055E8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Passo 3 – modelo parcial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C80B19B-C61F-0157-7AE9-091554B791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9499FC3D-4F5D-5046-A9B4-D74AE7EED4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8810" y="1825625"/>
            <a:ext cx="7554379" cy="4553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00075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74EC97-9A47-AF38-A22A-22A5B8346A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Passo 4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8F1A1D8-A4BC-51B7-A450-A40280C927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Mapeando </a:t>
            </a:r>
            <a:r>
              <a:rPr lang="pt-BR" b="1" dirty="0"/>
              <a:t>relacionamentos binários com cardinalidade 1:1</a:t>
            </a:r>
          </a:p>
          <a:p>
            <a:pPr lvl="1"/>
            <a:r>
              <a:rPr lang="pt-BR" dirty="0"/>
              <a:t>Para cada tipo relacionamento binário 1:1 no MER, identifique as tabelas S e T que correspondem aos tipos entidade participantes no relacionamento 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1E493F85-8DB9-F6B7-CF82-D50D65AA9F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7995" y="3404801"/>
            <a:ext cx="6516009" cy="2772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057171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EC1CD9-6E55-8DE7-A802-6F3F49486F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Passo 4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E4C16F3-EAF7-F637-3ECC-631D6E4CCA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3 opções de abordagem:</a:t>
            </a:r>
          </a:p>
          <a:p>
            <a:pPr lvl="1"/>
            <a:r>
              <a:rPr lang="pt-BR" dirty="0"/>
              <a:t>Chave estrangeira (mais comum)</a:t>
            </a:r>
          </a:p>
          <a:p>
            <a:pPr lvl="1"/>
            <a:r>
              <a:rPr lang="pt-BR" dirty="0"/>
              <a:t>Relação unificada</a:t>
            </a:r>
          </a:p>
          <a:p>
            <a:pPr lvl="1"/>
            <a:r>
              <a:rPr lang="pt-BR" dirty="0"/>
              <a:t>Relação do relacionamento / referência cruzada</a:t>
            </a:r>
          </a:p>
          <a:p>
            <a:pPr lvl="1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13334958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F145CE-EB53-AC7A-08E4-BBE24C486F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9D0A26-041E-543F-B2E4-AB3B8BD157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Passo 4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E02C060-A0D0-5D77-894B-03899EFEEE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Mapeando </a:t>
            </a:r>
            <a:r>
              <a:rPr lang="pt-BR" b="1" dirty="0"/>
              <a:t>tipos de relacionamentos binários com cardinalidade 1:1</a:t>
            </a:r>
          </a:p>
          <a:p>
            <a:pPr marL="457200" lvl="1" indent="0">
              <a:spcBef>
                <a:spcPts val="1800"/>
              </a:spcBef>
              <a:buNone/>
            </a:pPr>
            <a:r>
              <a:rPr lang="pt-BR" dirty="0"/>
              <a:t>A) Abordagem da chave-estrangeira (FK)</a:t>
            </a:r>
          </a:p>
          <a:p>
            <a:pPr lvl="2">
              <a:spcBef>
                <a:spcPts val="1800"/>
              </a:spcBef>
            </a:pPr>
            <a:r>
              <a:rPr lang="pt-BR" dirty="0"/>
              <a:t>Escolha uma tabela S e inclua nela, como FK, a PK de T</a:t>
            </a:r>
          </a:p>
          <a:p>
            <a:pPr lvl="2">
              <a:spcBef>
                <a:spcPts val="1800"/>
              </a:spcBef>
            </a:pPr>
            <a:r>
              <a:rPr lang="pt-BR" dirty="0"/>
              <a:t>Se houver tipo entidade com </a:t>
            </a:r>
            <a:r>
              <a:rPr lang="pt-BR" b="1" dirty="0"/>
              <a:t>participação total </a:t>
            </a:r>
            <a:r>
              <a:rPr lang="pt-BR" dirty="0"/>
              <a:t>envolvido no relacionamento, escolhê-lo para o </a:t>
            </a:r>
            <a:r>
              <a:rPr lang="pt-BR" b="1" dirty="0"/>
              <a:t>papel de S </a:t>
            </a:r>
            <a:r>
              <a:rPr lang="pt-BR" dirty="0"/>
              <a:t>será a melhor opção</a:t>
            </a:r>
          </a:p>
          <a:p>
            <a:pPr lvl="2">
              <a:spcBef>
                <a:spcPts val="1800"/>
              </a:spcBef>
            </a:pPr>
            <a:r>
              <a:rPr lang="pt-BR" dirty="0"/>
              <a:t>Inclua todos os atributos simples e os componentes simples dos atributos compostos, do tipo relacionamento como atributo de S</a:t>
            </a:r>
          </a:p>
        </p:txBody>
      </p:sp>
    </p:spTree>
    <p:extLst>
      <p:ext uri="{BB962C8B-B14F-4D97-AF65-F5344CB8AC3E}">
        <p14:creationId xmlns:p14="http://schemas.microsoft.com/office/powerpoint/2010/main" val="408961048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914EC0-3180-6E0D-D096-CC65405C54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94D8BD-0DFE-967F-73E5-4573A5449A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Passo 4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3FEAF78-A5CF-E568-B214-4863A902F8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Mapeando </a:t>
            </a:r>
            <a:r>
              <a:rPr lang="pt-BR" b="1" dirty="0"/>
              <a:t>relacionamentos binários com cardinalidade 1:1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Abordagem da chave-estrangeira (FK)</a:t>
            </a:r>
          </a:p>
          <a:p>
            <a:pPr lvl="2">
              <a:spcBef>
                <a:spcPts val="1800"/>
              </a:spcBef>
            </a:pPr>
            <a:r>
              <a:rPr lang="pt-BR" dirty="0"/>
              <a:t>Escolhendo DEPARTAMENTO para o papel de S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8D1FEF25-AB7F-F8A6-87A1-534B2F0C8E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3003" y="3549239"/>
            <a:ext cx="6868484" cy="2943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733570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8F5AD6-4047-1EC1-5C4E-28AC55A2A1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AEA0CF-7752-CBF1-9CB0-295494D865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Passo 4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71DE532-4240-5703-8894-34F90842E1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Mapeando </a:t>
            </a:r>
            <a:r>
              <a:rPr lang="pt-BR" b="1" dirty="0"/>
              <a:t>tipos de relacionamentos binários com cardinalidade 1:1</a:t>
            </a:r>
          </a:p>
          <a:p>
            <a:pPr marL="457200" lvl="1" indent="0">
              <a:spcBef>
                <a:spcPts val="1800"/>
              </a:spcBef>
              <a:buNone/>
            </a:pPr>
            <a:r>
              <a:rPr lang="pt-BR" dirty="0"/>
              <a:t>B) Abordagem da relação unificada</a:t>
            </a:r>
          </a:p>
          <a:p>
            <a:pPr lvl="2">
              <a:spcBef>
                <a:spcPts val="1800"/>
              </a:spcBef>
            </a:pPr>
            <a:r>
              <a:rPr lang="pt-BR" b="1" dirty="0"/>
              <a:t>Unifique</a:t>
            </a:r>
            <a:r>
              <a:rPr lang="pt-BR" dirty="0"/>
              <a:t> os dois tipos entidade e o tipo relacionamento em uma </a:t>
            </a:r>
            <a:r>
              <a:rPr lang="pt-BR" b="1" dirty="0"/>
              <a:t>única Tabela</a:t>
            </a:r>
          </a:p>
          <a:p>
            <a:pPr lvl="2">
              <a:spcBef>
                <a:spcPts val="1800"/>
              </a:spcBef>
            </a:pPr>
            <a:r>
              <a:rPr lang="pt-BR" dirty="0"/>
              <a:t>Possível quando </a:t>
            </a:r>
            <a:r>
              <a:rPr lang="pt-BR" u="sng" dirty="0"/>
              <a:t>ambos os tipos entidade possuem participação total</a:t>
            </a:r>
            <a:r>
              <a:rPr lang="pt-BR" dirty="0"/>
              <a:t>, indicando que as duas relações referentes aos tipos entidade participantes do relacionamento possuem sempre o mesmo número de registros</a:t>
            </a:r>
          </a:p>
        </p:txBody>
      </p:sp>
    </p:spTree>
    <p:extLst>
      <p:ext uri="{BB962C8B-B14F-4D97-AF65-F5344CB8AC3E}">
        <p14:creationId xmlns:p14="http://schemas.microsoft.com/office/powerpoint/2010/main" val="286850055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20ACA4-D8F1-0391-FB5A-85C94EB65E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DA66A56-7003-BD35-22AF-DD8ECC34A9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Passo 4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89B8EC3-5BA0-8BB1-0FF4-0E0B594F4F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Mapeando </a:t>
            </a:r>
            <a:r>
              <a:rPr lang="pt-BR" b="1" dirty="0"/>
              <a:t>tipos de relacionamentos binários com cardinalidade 1:1</a:t>
            </a:r>
          </a:p>
          <a:p>
            <a:pPr marL="457200" lvl="1" indent="0">
              <a:spcBef>
                <a:spcPts val="1800"/>
              </a:spcBef>
              <a:buNone/>
            </a:pPr>
            <a:r>
              <a:rPr lang="pt-BR" dirty="0"/>
              <a:t>C) Abordagem de referência cruzada</a:t>
            </a:r>
          </a:p>
          <a:p>
            <a:pPr lvl="2">
              <a:spcBef>
                <a:spcPts val="1800"/>
              </a:spcBef>
            </a:pPr>
            <a:r>
              <a:rPr lang="pt-BR" dirty="0"/>
              <a:t>Crie uma terceira Tabela para atuar como referência cruzada das chaves-primárias de cada uma das tabelas S e T</a:t>
            </a:r>
          </a:p>
          <a:p>
            <a:pPr lvl="2">
              <a:spcBef>
                <a:spcPts val="1800"/>
              </a:spcBef>
            </a:pPr>
            <a:r>
              <a:rPr lang="pt-BR" dirty="0"/>
              <a:t>Nova Tabela incluirá as PK de S e T como chaves-estrangeiras</a:t>
            </a:r>
          </a:p>
          <a:p>
            <a:pPr lvl="2">
              <a:spcBef>
                <a:spcPts val="1800"/>
              </a:spcBef>
            </a:pPr>
            <a:r>
              <a:rPr lang="pt-BR" dirty="0"/>
              <a:t>A PK da nova Tabela será uma das duas FK – a outra PK será chave única</a:t>
            </a:r>
          </a:p>
          <a:p>
            <a:pPr lvl="1"/>
            <a:endParaRPr lang="pt-BR" b="1" dirty="0"/>
          </a:p>
        </p:txBody>
      </p:sp>
    </p:spTree>
    <p:extLst>
      <p:ext uri="{BB962C8B-B14F-4D97-AF65-F5344CB8AC3E}">
        <p14:creationId xmlns:p14="http://schemas.microsoft.com/office/powerpoint/2010/main" val="39989303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BDFD76-79A4-4BC5-2AD5-F331DDF2E1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C917C7-B40E-C584-66B3-74E64E6625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Passo 5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4BF53D9-7104-2EFA-6738-5D20802B14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Mapeando </a:t>
            </a:r>
            <a:r>
              <a:rPr lang="pt-BR" b="1" dirty="0"/>
              <a:t>tipos de relacionamentos binários com cardinalidade 1:N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Para cada tipo relacionamento regular binário 1:N, identifique a  tabela S que representa o tipo entidade que participa do tipo relacionamento uma vez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Inclua a PK da tabela T (a outra entidade do relacionamento) como FK em S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Inclua como atributo de S todos os atributos simples (e os componentes simples de atributos compostos) do tipo relacionamento</a:t>
            </a:r>
          </a:p>
          <a:p>
            <a:pPr lvl="2">
              <a:spcBef>
                <a:spcPts val="1800"/>
              </a:spcBef>
            </a:pPr>
            <a:r>
              <a:rPr lang="pt-BR" b="1" dirty="0"/>
              <a:t>Referência cruzada também pode ser usada</a:t>
            </a:r>
          </a:p>
        </p:txBody>
      </p:sp>
    </p:spTree>
    <p:extLst>
      <p:ext uri="{BB962C8B-B14F-4D97-AF65-F5344CB8AC3E}">
        <p14:creationId xmlns:p14="http://schemas.microsoft.com/office/powerpoint/2010/main" val="198707115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D42ABD-3145-C910-FF89-00A591BB59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Passo 5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742E221-A2FA-3E92-3CAE-3491FB5788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9D34DAF7-3E2D-2EED-8CC5-26F3B83DB6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0416" y="1915937"/>
            <a:ext cx="6211167" cy="3734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250860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E7E863-6F6B-5587-C9AE-7773EBAE3B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76E8FB-5FD7-B577-C30A-84162DE36C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Passo 5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9D5C8CA-837E-A930-C985-6F93A3F37B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13671589-3D3B-1950-F182-61C2057694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6403" y="1825626"/>
            <a:ext cx="8219193" cy="4351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173447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0FAC39-F26A-B7A4-F0C6-CC0F3D1753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Passo 5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1B60436-012E-CBDD-F1A8-4EA46E3C10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64326DFC-3187-B6B5-C1A8-235769967F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3441" y="2467555"/>
            <a:ext cx="8545118" cy="3067478"/>
          </a:xfrm>
          <a:prstGeom prst="rect">
            <a:avLst/>
          </a:prstGeom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C6FE1B0D-1F7D-AB27-0657-95F9E83C89EC}"/>
              </a:ext>
            </a:extLst>
          </p:cNvPr>
          <p:cNvSpPr/>
          <p:nvPr/>
        </p:nvSpPr>
        <p:spPr>
          <a:xfrm>
            <a:off x="8856394" y="2968867"/>
            <a:ext cx="1336524" cy="518341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6F5BB70B-B51D-3D22-0622-FBC83A27654A}"/>
              </a:ext>
            </a:extLst>
          </p:cNvPr>
          <p:cNvSpPr/>
          <p:nvPr/>
        </p:nvSpPr>
        <p:spPr>
          <a:xfrm>
            <a:off x="1971121" y="4155258"/>
            <a:ext cx="1336524" cy="518341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942132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846D85-88F5-57BE-8A4E-BDA57FFF9F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Passo 5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47CA91B-31E1-A31D-F9ED-98B9CA8F95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9171FC3B-508C-B175-61EE-10DA0126D9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25625"/>
            <a:ext cx="6277851" cy="3486637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F97031EC-7498-21BF-0A07-44A231B0FA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65882" y="2818836"/>
            <a:ext cx="8726118" cy="4039164"/>
          </a:xfrm>
          <a:prstGeom prst="rect">
            <a:avLst/>
          </a:prstGeom>
        </p:spPr>
      </p:pic>
      <p:sp>
        <p:nvSpPr>
          <p:cNvPr id="8" name="Retângulo 7">
            <a:extLst>
              <a:ext uri="{FF2B5EF4-FFF2-40B4-BE49-F238E27FC236}">
                <a16:creationId xmlns:a16="http://schemas.microsoft.com/office/drawing/2014/main" id="{B91DA859-065D-4A03-D24B-6016DEB1ECFF}"/>
              </a:ext>
            </a:extLst>
          </p:cNvPr>
          <p:cNvSpPr/>
          <p:nvPr/>
        </p:nvSpPr>
        <p:spPr>
          <a:xfrm>
            <a:off x="7096276" y="5893747"/>
            <a:ext cx="1336524" cy="518341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C4E28B17-6078-5E8A-DB69-090DE427A15F}"/>
              </a:ext>
            </a:extLst>
          </p:cNvPr>
          <p:cNvSpPr/>
          <p:nvPr/>
        </p:nvSpPr>
        <p:spPr>
          <a:xfrm>
            <a:off x="3703964" y="4431836"/>
            <a:ext cx="1336524" cy="518341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223626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142DAD-D8E6-C955-EB31-B1717A01D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Passo 5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0E91424-D1A2-3921-1115-76B5035DEF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err="1"/>
              <a:t>Autorrelacionamento</a:t>
            </a:r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39D92FF2-CFB9-9904-9595-00845372F3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77710"/>
            <a:ext cx="5544324" cy="3801005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A76BD731-B843-AF39-60C9-D37337B941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1146" y="3218942"/>
            <a:ext cx="8630854" cy="3639058"/>
          </a:xfrm>
          <a:prstGeom prst="rect">
            <a:avLst/>
          </a:prstGeom>
        </p:spPr>
      </p:pic>
      <p:sp>
        <p:nvSpPr>
          <p:cNvPr id="8" name="Retângulo 7">
            <a:extLst>
              <a:ext uri="{FF2B5EF4-FFF2-40B4-BE49-F238E27FC236}">
                <a16:creationId xmlns:a16="http://schemas.microsoft.com/office/drawing/2014/main" id="{1AB06166-B29D-0563-6414-8CB69FFE6469}"/>
              </a:ext>
            </a:extLst>
          </p:cNvPr>
          <p:cNvSpPr/>
          <p:nvPr/>
        </p:nvSpPr>
        <p:spPr>
          <a:xfrm>
            <a:off x="10107588" y="3535693"/>
            <a:ext cx="1057124" cy="483152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5F3C12AD-3C4A-BE3C-360C-8A0FB2CB9EA4}"/>
              </a:ext>
            </a:extLst>
          </p:cNvPr>
          <p:cNvSpPr/>
          <p:nvPr/>
        </p:nvSpPr>
        <p:spPr>
          <a:xfrm>
            <a:off x="3768877" y="3646311"/>
            <a:ext cx="757967" cy="372534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843653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FF372D-9779-9C1E-A7C0-D0A8B11AD1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Passo 6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447A71E-7D92-0276-5FF8-446799DBB4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687756" cy="4351338"/>
          </a:xfrm>
        </p:spPr>
        <p:txBody>
          <a:bodyPr/>
          <a:lstStyle/>
          <a:p>
            <a:r>
              <a:rPr lang="pt-BR" dirty="0"/>
              <a:t>Mapeando </a:t>
            </a:r>
            <a:r>
              <a:rPr lang="pt-BR" b="1" dirty="0"/>
              <a:t>tipos de relacionamentos binários com cardinalidade M:N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Para tipo relacionamento binário M:N crie uma </a:t>
            </a:r>
            <a:r>
              <a:rPr lang="pt-BR" b="1" dirty="0"/>
              <a:t>nova Tabela para representar o relacionamento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Inclua como FK na nova Tabela as PK das tabelas que representam as entidades participantes do relacionamento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A </a:t>
            </a:r>
            <a:r>
              <a:rPr lang="pt-BR" b="1" dirty="0"/>
              <a:t>PK da nova tabela é a combinação </a:t>
            </a:r>
            <a:r>
              <a:rPr lang="pt-BR" dirty="0"/>
              <a:t>dessas FK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Também inclua todos os atributos simples (e componentes simples de atributos compostos) como atributos na nova tabela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21647379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5D9760-D8FB-3025-9F1D-99357D35D1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Passo 6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8377742-6D3C-D13E-988A-F45A530E2F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55F91056-4CE1-F04F-7AA7-067B2A02EE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678" y="1729582"/>
            <a:ext cx="6737811" cy="3765529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09E761A7-C43A-B602-9A76-F8210D8DE3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3786" y="3609522"/>
            <a:ext cx="6887536" cy="3248478"/>
          </a:xfrm>
          <a:prstGeom prst="rect">
            <a:avLst/>
          </a:prstGeom>
        </p:spPr>
      </p:pic>
      <p:sp>
        <p:nvSpPr>
          <p:cNvPr id="8" name="Retângulo 7">
            <a:extLst>
              <a:ext uri="{FF2B5EF4-FFF2-40B4-BE49-F238E27FC236}">
                <a16:creationId xmlns:a16="http://schemas.microsoft.com/office/drawing/2014/main" id="{3CC74AB0-1F1A-31EA-8B15-C72D806EF602}"/>
              </a:ext>
            </a:extLst>
          </p:cNvPr>
          <p:cNvSpPr/>
          <p:nvPr/>
        </p:nvSpPr>
        <p:spPr>
          <a:xfrm>
            <a:off x="9238342" y="6070323"/>
            <a:ext cx="2872979" cy="623987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7C9A5130-B880-4BEA-D8DE-2BFB86F54FA4}"/>
              </a:ext>
            </a:extLst>
          </p:cNvPr>
          <p:cNvSpPr/>
          <p:nvPr/>
        </p:nvSpPr>
        <p:spPr>
          <a:xfrm>
            <a:off x="5309810" y="6211158"/>
            <a:ext cx="1057124" cy="483152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A735C5D9-8214-2CD4-F196-9BAF9D7A7135}"/>
              </a:ext>
            </a:extLst>
          </p:cNvPr>
          <p:cNvSpPr/>
          <p:nvPr/>
        </p:nvSpPr>
        <p:spPr>
          <a:xfrm>
            <a:off x="5668009" y="4201738"/>
            <a:ext cx="665058" cy="336395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200821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F071F7-66D3-8CCB-FA35-5792C572C6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C3DAA9-0323-DBD8-6FE3-D8FD45423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Passo 7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86D7F53-F690-6BA1-3716-1C7D86C292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Mapeando </a:t>
            </a:r>
            <a:r>
              <a:rPr lang="pt-BR" b="1" dirty="0"/>
              <a:t>tipos de relacionamentos </a:t>
            </a:r>
            <a:r>
              <a:rPr lang="pt-BR" b="1" i="1" dirty="0"/>
              <a:t>n</a:t>
            </a:r>
            <a:r>
              <a:rPr lang="pt-BR" b="1" dirty="0"/>
              <a:t>-</a:t>
            </a:r>
            <a:r>
              <a:rPr lang="pt-BR" b="1" dirty="0" err="1"/>
              <a:t>ários</a:t>
            </a:r>
            <a:endParaRPr lang="pt-BR" b="1" dirty="0"/>
          </a:p>
          <a:p>
            <a:pPr lvl="1">
              <a:spcBef>
                <a:spcPts val="1800"/>
              </a:spcBef>
            </a:pPr>
            <a:r>
              <a:rPr lang="pt-BR" dirty="0"/>
              <a:t>Crie uma nova Tabela com referência cruzada que representa os tipos de entidade participantes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Também inclua todos os atributos simples do tipo de relacionamento (e componentes simples de atributos compostos) como atributos na nova tabela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A </a:t>
            </a:r>
            <a:r>
              <a:rPr lang="pt-BR" b="1" dirty="0"/>
              <a:t>PK da nova Tabela é a combinação </a:t>
            </a:r>
            <a:r>
              <a:rPr lang="pt-BR" dirty="0"/>
              <a:t>todas as FK dos tipos de entidade participantes</a:t>
            </a:r>
          </a:p>
          <a:p>
            <a:pPr lvl="1">
              <a:spcBef>
                <a:spcPts val="1800"/>
              </a:spcBef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05611400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BD7054-5A45-60B4-50FA-EC1DB79323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9A6620-8BBC-4CEA-2338-E01CD5F6DB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Passo 7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41E2CA4-BDA8-2F71-8506-AB9138D995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Mapeando </a:t>
            </a:r>
            <a:r>
              <a:rPr lang="pt-BR" b="1" dirty="0"/>
              <a:t>tipos de relacionamentos </a:t>
            </a:r>
            <a:r>
              <a:rPr lang="pt-BR" b="1" i="1" dirty="0"/>
              <a:t>n</a:t>
            </a:r>
            <a:r>
              <a:rPr lang="pt-BR" b="1" dirty="0"/>
              <a:t>-</a:t>
            </a:r>
            <a:r>
              <a:rPr lang="pt-BR" b="1" dirty="0" err="1"/>
              <a:t>ários</a:t>
            </a:r>
            <a:endParaRPr lang="pt-BR" b="1" dirty="0"/>
          </a:p>
          <a:p>
            <a:pPr lvl="1">
              <a:spcBef>
                <a:spcPts val="1800"/>
              </a:spcBef>
            </a:pPr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3B04E563-09F9-E879-8862-08A069A74A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8221" y="2661473"/>
            <a:ext cx="8387440" cy="3515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156620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6D6D70-6037-3FA6-7E1B-0BA9E2B457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87B3DC-E373-A0FB-1088-34AE0A4A49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Passo 7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FDFC9C8-EC6B-B843-FB4A-DADE4E87A1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Mapeando </a:t>
            </a:r>
            <a:r>
              <a:rPr lang="pt-BR" b="1" dirty="0"/>
              <a:t>tipos de relacionamentos </a:t>
            </a:r>
            <a:r>
              <a:rPr lang="pt-BR" b="1" i="1" dirty="0"/>
              <a:t>n</a:t>
            </a:r>
            <a:r>
              <a:rPr lang="pt-BR" b="1" dirty="0"/>
              <a:t>-</a:t>
            </a:r>
            <a:r>
              <a:rPr lang="pt-BR" b="1" dirty="0" err="1"/>
              <a:t>ários</a:t>
            </a:r>
            <a:endParaRPr lang="pt-BR" b="1" dirty="0"/>
          </a:p>
          <a:p>
            <a:pPr lvl="1">
              <a:spcBef>
                <a:spcPts val="1800"/>
              </a:spcBef>
            </a:pPr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9A02B14D-8ED9-548C-02BB-6CA1BFDB62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377" y="2277120"/>
            <a:ext cx="4651867" cy="1949772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66A74DF6-A428-0C57-A062-34E8A5F473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2778" y="3634097"/>
            <a:ext cx="7859222" cy="3143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244635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B4AB26F-7958-9933-63AA-E828EDF822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Mapeamento ER para Modelo Relacional</a:t>
            </a:r>
          </a:p>
        </p:txBody>
      </p:sp>
      <p:graphicFrame>
        <p:nvGraphicFramePr>
          <p:cNvPr id="4" name="Espaço Reservado para Conteúdo 3">
            <a:extLst>
              <a:ext uri="{FF2B5EF4-FFF2-40B4-BE49-F238E27FC236}">
                <a16:creationId xmlns:a16="http://schemas.microsoft.com/office/drawing/2014/main" id="{F43E798D-AD80-8FD0-1973-041571BD719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87221003"/>
              </p:ext>
            </p:extLst>
          </p:nvPr>
        </p:nvGraphicFramePr>
        <p:xfrm>
          <a:off x="838200" y="1735313"/>
          <a:ext cx="1051560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99756">
                  <a:extLst>
                    <a:ext uri="{9D8B030D-6E8A-4147-A177-3AD203B41FA5}">
                      <a16:colId xmlns:a16="http://schemas.microsoft.com/office/drawing/2014/main" val="1368062429"/>
                    </a:ext>
                  </a:extLst>
                </a:gridCol>
                <a:gridCol w="5415844">
                  <a:extLst>
                    <a:ext uri="{9D8B030D-6E8A-4147-A177-3AD203B41FA5}">
                      <a16:colId xmlns:a16="http://schemas.microsoft.com/office/drawing/2014/main" val="118730794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sz="2400" dirty="0"/>
                        <a:t>Modelo 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400" dirty="0"/>
                        <a:t>Modelo Relacional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829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2400" dirty="0"/>
                        <a:t>Tipo de entidade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400" dirty="0"/>
                        <a:t>Relação de entidade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39207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2400" dirty="0"/>
                        <a:t>Tipo de relacionamento 1:1 ou 1:N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400" dirty="0"/>
                        <a:t>Chave-estrangeira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84134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2400" dirty="0"/>
                        <a:t>Tipo de relacionamento M:N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400" dirty="0"/>
                        <a:t>Relação de relacionamento e 2 FK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00390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2400" dirty="0"/>
                        <a:t>Tipo de relacionamento </a:t>
                      </a:r>
                      <a:r>
                        <a:rPr lang="pt-BR" sz="2400" i="1" dirty="0" err="1"/>
                        <a:t>n</a:t>
                      </a:r>
                      <a:r>
                        <a:rPr lang="pt-BR" sz="2400" dirty="0" err="1"/>
                        <a:t>-ário</a:t>
                      </a:r>
                      <a:r>
                        <a:rPr lang="pt-BR" sz="2400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400" dirty="0"/>
                        <a:t>Relação de relacionamento e </a:t>
                      </a:r>
                      <a:r>
                        <a:rPr lang="pt-BR" sz="2400" i="1" dirty="0"/>
                        <a:t>n</a:t>
                      </a:r>
                      <a:r>
                        <a:rPr lang="pt-BR" sz="2400" dirty="0"/>
                        <a:t> FK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35661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2400" dirty="0"/>
                        <a:t>Atributo simples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400" dirty="0"/>
                        <a:t>Atributo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70253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2400" dirty="0"/>
                        <a:t>Atributo composto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400" dirty="0"/>
                        <a:t>Conjunto de atributos com componentes simples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78975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2400" dirty="0"/>
                        <a:t>Atributo multivalorado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400" dirty="0"/>
                        <a:t>Relação e FK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58177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2400" dirty="0"/>
                        <a:t>Conjunto de valores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400" dirty="0"/>
                        <a:t>Domínio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96416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2400" dirty="0"/>
                        <a:t>Atributo-chave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400" dirty="0"/>
                        <a:t>Chave-primária (ou secundária)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84428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2621354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32274E-4CC1-C8EB-E4FF-DD1401A623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Mapeamento ER-Relacional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55C533E-80C9-B54A-A884-CB606A9966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DC64111F-DBC6-C3A2-CAD9-B605E74A9E5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765"/>
          <a:stretch/>
        </p:blipFill>
        <p:spPr>
          <a:xfrm>
            <a:off x="838200" y="1601935"/>
            <a:ext cx="8034867" cy="4575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267668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1A7781-6B00-C5F2-D1CE-4E7185FE81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Exercício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61214D60-67B5-44F0-23EB-EDBA42936D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8621" y="1361308"/>
            <a:ext cx="8068801" cy="5496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206798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3FBA72-E9FC-98CA-1159-386C7BE64C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Exercício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8F66156-4601-89A6-9295-B4329AC91C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REGIAO (</a:t>
            </a:r>
            <a:r>
              <a:rPr lang="pt-BR" u="sng" dirty="0"/>
              <a:t>Estado, Nome</a:t>
            </a:r>
            <a:r>
              <a:rPr lang="pt-BR" dirty="0"/>
              <a:t>)</a:t>
            </a:r>
          </a:p>
          <a:p>
            <a:r>
              <a:rPr lang="pt-BR" dirty="0"/>
              <a:t>REPRESENTANTE (</a:t>
            </a:r>
            <a:r>
              <a:rPr lang="pt-BR" u="sng" dirty="0"/>
              <a:t>CPF</a:t>
            </a:r>
            <a:r>
              <a:rPr lang="pt-BR" dirty="0"/>
              <a:t>, Nome, RG, </a:t>
            </a:r>
            <a:r>
              <a:rPr lang="pt-BR" i="1" dirty="0"/>
              <a:t>Estado, Nome</a:t>
            </a:r>
            <a:r>
              <a:rPr lang="pt-BR" dirty="0"/>
              <a:t>)</a:t>
            </a:r>
          </a:p>
          <a:p>
            <a:r>
              <a:rPr lang="pt-BR" dirty="0"/>
              <a:t>CLIENTE (</a:t>
            </a:r>
            <a:r>
              <a:rPr lang="pt-BR" u="sng" dirty="0"/>
              <a:t>CNPJ</a:t>
            </a:r>
            <a:r>
              <a:rPr lang="pt-BR" dirty="0"/>
              <a:t>, Nome, </a:t>
            </a:r>
            <a:r>
              <a:rPr lang="pt-BR" dirty="0" err="1"/>
              <a:t>Endereco</a:t>
            </a:r>
            <a:r>
              <a:rPr lang="pt-BR" dirty="0"/>
              <a:t>, Estado, Nome)</a:t>
            </a:r>
          </a:p>
          <a:p>
            <a:r>
              <a:rPr lang="pt-BR" dirty="0"/>
              <a:t>TEL_CLIENTE (</a:t>
            </a:r>
            <a:r>
              <a:rPr lang="pt-BR" i="1" u="sng" dirty="0"/>
              <a:t>CNPJ</a:t>
            </a:r>
            <a:r>
              <a:rPr lang="pt-BR" u="sng" dirty="0"/>
              <a:t>, telefone</a:t>
            </a:r>
            <a:r>
              <a:rPr lang="pt-BR" dirty="0"/>
              <a:t>)</a:t>
            </a:r>
          </a:p>
          <a:p>
            <a:r>
              <a:rPr lang="pt-BR" dirty="0"/>
              <a:t>CONTATO (</a:t>
            </a:r>
            <a:r>
              <a:rPr lang="pt-BR" i="1" u="sng" dirty="0"/>
              <a:t>CNPJ</a:t>
            </a:r>
            <a:r>
              <a:rPr lang="pt-BR" u="sng" dirty="0"/>
              <a:t>, Data</a:t>
            </a:r>
            <a:r>
              <a:rPr lang="pt-BR" dirty="0"/>
              <a:t>)</a:t>
            </a:r>
          </a:p>
          <a:p>
            <a:r>
              <a:rPr lang="pt-BR" dirty="0"/>
              <a:t>VENDA (</a:t>
            </a:r>
            <a:r>
              <a:rPr lang="pt-BR" u="sng" dirty="0"/>
              <a:t>Nota</a:t>
            </a:r>
            <a:r>
              <a:rPr lang="pt-BR" dirty="0"/>
              <a:t>, Data, Valor, CNPJ)</a:t>
            </a:r>
          </a:p>
          <a:p>
            <a:r>
              <a:rPr lang="pt-BR" dirty="0"/>
              <a:t>PRODUTO (</a:t>
            </a:r>
            <a:r>
              <a:rPr lang="pt-BR" u="sng" dirty="0" err="1"/>
              <a:t>Cod</a:t>
            </a:r>
            <a:r>
              <a:rPr lang="pt-BR" dirty="0"/>
              <a:t>, Preço)</a:t>
            </a:r>
          </a:p>
          <a:p>
            <a:r>
              <a:rPr lang="pt-BR" dirty="0"/>
              <a:t>VENDA_PRODUTO (</a:t>
            </a:r>
            <a:r>
              <a:rPr lang="pt-BR" i="1" u="sng" dirty="0" err="1"/>
              <a:t>Cod_Produto</a:t>
            </a:r>
            <a:r>
              <a:rPr lang="pt-BR" i="1" u="sng" dirty="0"/>
              <a:t>, </a:t>
            </a:r>
            <a:r>
              <a:rPr lang="pt-BR" i="1" u="sng" dirty="0" err="1"/>
              <a:t>Nota_Venda</a:t>
            </a:r>
            <a:r>
              <a:rPr lang="pt-BR" dirty="0"/>
              <a:t>, </a:t>
            </a:r>
            <a:r>
              <a:rPr lang="pt-BR" dirty="0" err="1"/>
              <a:t>Qtde</a:t>
            </a:r>
            <a:r>
              <a:rPr lang="pt-BR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94666648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26F549-3B3B-4D30-7C39-9434D31BCF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E827F46-67D6-0B4C-FF79-DC7D4083ED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Mapeamento ER para Modelo Relacional</a:t>
            </a:r>
          </a:p>
          <a:p>
            <a:pPr lvl="1"/>
            <a:r>
              <a:rPr lang="pt-BR" dirty="0"/>
              <a:t>7 passos</a:t>
            </a:r>
          </a:p>
          <a:p>
            <a:pPr>
              <a:spcBef>
                <a:spcPts val="2400"/>
              </a:spcBef>
            </a:pPr>
            <a:r>
              <a:rPr lang="pt-BR" b="1" dirty="0"/>
              <a:t>Mapeamento de construtos EER para Modelo Relacional</a:t>
            </a:r>
          </a:p>
          <a:p>
            <a:pPr lvl="1"/>
            <a:r>
              <a:rPr lang="pt-BR" b="1" dirty="0"/>
              <a:t>Generalização/especialização</a:t>
            </a:r>
          </a:p>
          <a:p>
            <a:pPr lvl="1"/>
            <a:endParaRPr lang="pt-BR" dirty="0"/>
          </a:p>
          <a:p>
            <a:pPr marL="1371600" lvl="2" indent="-457200">
              <a:buFont typeface="+mj-lt"/>
              <a:buAutoNum type="arabicPeriod"/>
            </a:pPr>
            <a:endParaRPr lang="pt-BR" dirty="0"/>
          </a:p>
          <a:p>
            <a:pPr marL="1371600" lvl="2" indent="-457200">
              <a:buFont typeface="+mj-lt"/>
              <a:buAutoNum type="arabicPeriod"/>
            </a:pPr>
            <a:endParaRPr lang="pt-BR" dirty="0"/>
          </a:p>
          <a:p>
            <a:pPr marL="971550" lvl="1" indent="-514350">
              <a:buFont typeface="+mj-lt"/>
              <a:buAutoNum type="arabicPeriod"/>
            </a:pPr>
            <a:endParaRPr lang="pt-BR" dirty="0"/>
          </a:p>
          <a:p>
            <a:pPr marL="1371600" lvl="2" indent="-457200">
              <a:buFont typeface="+mj-lt"/>
              <a:buAutoNum type="romanLcPeriod"/>
            </a:pPr>
            <a:endParaRPr lang="pt-BR" dirty="0"/>
          </a:p>
          <a:p>
            <a:endParaRPr lang="pt-BR" dirty="0"/>
          </a:p>
          <a:p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42A9BA0-B312-2BAA-B530-E3B53BFE01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Agenda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5F19C272-63A7-A2C5-2D0A-7D3CF54942B4}"/>
              </a:ext>
            </a:extLst>
          </p:cNvPr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4709031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65A126-0A3A-21B3-3D9B-2FFDB17F3F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D598D6-B5B8-B866-9E8E-8F74C7189F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Generalização</a:t>
            </a:r>
          </a:p>
        </p:txBody>
      </p:sp>
      <p:pic>
        <p:nvPicPr>
          <p:cNvPr id="4" name="Espaço Reservado para Conteúdo 3">
            <a:extLst>
              <a:ext uri="{FF2B5EF4-FFF2-40B4-BE49-F238E27FC236}">
                <a16:creationId xmlns:a16="http://schemas.microsoft.com/office/drawing/2014/main" id="{8B28D96B-BE6F-A305-7EE2-E0ED9F5BEB9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40553" y="1825625"/>
            <a:ext cx="9910894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054347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683520-1EC9-9072-D375-B269EE1757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44A4B8-AE57-1633-A258-9312EC810D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Generalização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C622F78-8803-3FDD-8AF6-90D4559F3F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4 opções para mapeamento:</a:t>
            </a:r>
          </a:p>
          <a:p>
            <a:pPr marL="914400" lvl="1" indent="-457200">
              <a:spcBef>
                <a:spcPts val="1800"/>
              </a:spcBef>
              <a:buFont typeface="+mj-lt"/>
              <a:buAutoNum type="alphaUcPeriod"/>
            </a:pPr>
            <a:r>
              <a:rPr lang="pt-BR" dirty="0"/>
              <a:t>Múltiplas relações – superclasse e subclasses</a:t>
            </a:r>
          </a:p>
          <a:p>
            <a:pPr marL="914400" lvl="1" indent="-457200">
              <a:spcBef>
                <a:spcPts val="1800"/>
              </a:spcBef>
              <a:buFont typeface="+mj-lt"/>
              <a:buAutoNum type="alphaUcPeriod"/>
            </a:pPr>
            <a:r>
              <a:rPr lang="pt-BR" dirty="0"/>
              <a:t>Múltiplas relações – somente subclasses</a:t>
            </a:r>
          </a:p>
          <a:p>
            <a:pPr marL="914400" lvl="1" indent="-457200">
              <a:spcBef>
                <a:spcPts val="1800"/>
              </a:spcBef>
              <a:buFont typeface="+mj-lt"/>
              <a:buAutoNum type="alphaUcPeriod"/>
            </a:pPr>
            <a:r>
              <a:rPr lang="pt-BR" dirty="0"/>
              <a:t>Única relação – um atributo de tipo</a:t>
            </a:r>
          </a:p>
          <a:p>
            <a:pPr marL="914400" lvl="1" indent="-457200">
              <a:spcBef>
                <a:spcPts val="1800"/>
              </a:spcBef>
              <a:buFont typeface="+mj-lt"/>
              <a:buAutoNum type="alphaUcPeriod"/>
            </a:pPr>
            <a:r>
              <a:rPr lang="pt-BR" dirty="0"/>
              <a:t>Única relação – múltiplos atributos de tipo</a:t>
            </a:r>
          </a:p>
        </p:txBody>
      </p:sp>
    </p:spTree>
    <p:extLst>
      <p:ext uri="{BB962C8B-B14F-4D97-AF65-F5344CB8AC3E}">
        <p14:creationId xmlns:p14="http://schemas.microsoft.com/office/powerpoint/2010/main" val="77194474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249018-7E3B-7DA1-5530-D1003F730D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Opção 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6B7997A-7510-416C-C09E-ABEB67ECAC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b="1" dirty="0"/>
              <a:t>Múltiplas relações – superclasse e subclasses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Cada subclasse gera uma nova relação (Tabela), tendo suas respectivas PK iguais à PK da superclasse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22075D2F-CE5A-B688-2392-75C5A54B72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278" y="3370377"/>
            <a:ext cx="5423353" cy="3361691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305287E2-ED2F-6AF7-642B-87312737B3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0151" y="3733800"/>
            <a:ext cx="5423353" cy="1628422"/>
          </a:xfrm>
          <a:prstGeom prst="rect">
            <a:avLst/>
          </a:prstGeom>
        </p:spPr>
      </p:pic>
      <p:sp>
        <p:nvSpPr>
          <p:cNvPr id="8" name="Retângulo 7">
            <a:extLst>
              <a:ext uri="{FF2B5EF4-FFF2-40B4-BE49-F238E27FC236}">
                <a16:creationId xmlns:a16="http://schemas.microsoft.com/office/drawing/2014/main" id="{83BA3ABB-2F5C-DCAE-FA23-A4C3068CDF93}"/>
              </a:ext>
            </a:extLst>
          </p:cNvPr>
          <p:cNvSpPr/>
          <p:nvPr/>
        </p:nvSpPr>
        <p:spPr>
          <a:xfrm>
            <a:off x="6684135" y="4833511"/>
            <a:ext cx="732665" cy="415822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5340DC6E-4214-5288-97E3-2E4BFC48D23C}"/>
              </a:ext>
            </a:extLst>
          </p:cNvPr>
          <p:cNvSpPr/>
          <p:nvPr/>
        </p:nvSpPr>
        <p:spPr>
          <a:xfrm>
            <a:off x="9952269" y="4827866"/>
            <a:ext cx="732665" cy="415822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08E36A69-68BB-C489-8204-7D8F12B66BBB}"/>
              </a:ext>
            </a:extLst>
          </p:cNvPr>
          <p:cNvSpPr/>
          <p:nvPr/>
        </p:nvSpPr>
        <p:spPr>
          <a:xfrm>
            <a:off x="8550858" y="4827866"/>
            <a:ext cx="732665" cy="415822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B5E40EFD-6FC0-D579-9FF6-E60AD91F6CD3}"/>
              </a:ext>
            </a:extLst>
          </p:cNvPr>
          <p:cNvSpPr/>
          <p:nvPr/>
        </p:nvSpPr>
        <p:spPr>
          <a:xfrm>
            <a:off x="10756724" y="4086577"/>
            <a:ext cx="848254" cy="327378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527221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2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EBBC84-86BF-DF05-8CFA-A3FBD165F9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Opção B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89B8FD7-5E7F-0CEB-E9AA-C0164757A2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b="1" dirty="0"/>
              <a:t>Múltiplas relações – somente relações de subclasses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Subclasses incorporam atributos da superclasse</a:t>
            </a:r>
          </a:p>
          <a:p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104C2392-964A-6513-CAE8-E61C7A10BB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31" y="3367858"/>
            <a:ext cx="5810269" cy="2133360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EFB787A3-516D-D85D-EF0A-0D8C153807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2998" y="3605686"/>
            <a:ext cx="5883119" cy="1325563"/>
          </a:xfrm>
          <a:prstGeom prst="rect">
            <a:avLst/>
          </a:prstGeom>
        </p:spPr>
      </p:pic>
      <p:sp>
        <p:nvSpPr>
          <p:cNvPr id="8" name="Retângulo 7">
            <a:extLst>
              <a:ext uri="{FF2B5EF4-FFF2-40B4-BE49-F238E27FC236}">
                <a16:creationId xmlns:a16="http://schemas.microsoft.com/office/drawing/2014/main" id="{B6CD1A8A-9450-7EC7-EC64-402D108AFCE2}"/>
              </a:ext>
            </a:extLst>
          </p:cNvPr>
          <p:cNvSpPr/>
          <p:nvPr/>
        </p:nvSpPr>
        <p:spPr>
          <a:xfrm>
            <a:off x="6514801" y="4571999"/>
            <a:ext cx="3080755" cy="336671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637B72F4-82CB-C099-7202-007A71B00BF8}"/>
              </a:ext>
            </a:extLst>
          </p:cNvPr>
          <p:cNvSpPr/>
          <p:nvPr/>
        </p:nvSpPr>
        <p:spPr>
          <a:xfrm>
            <a:off x="6514800" y="3901577"/>
            <a:ext cx="3080755" cy="336671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688606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3A0C4BD-C57A-A6CA-25B1-64D4C99864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Opção C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1F373F3-BF93-9044-7253-A939B48213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b="1" dirty="0"/>
              <a:t>Relação única com um atributo de tipo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Uma única Relação (Tabela), que agrega todos os atributos das subclasses</a:t>
            </a:r>
          </a:p>
          <a:p>
            <a:pPr lvl="1"/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D87ED424-1252-67D9-10F1-50C93F5400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4107" y="5802210"/>
            <a:ext cx="9063785" cy="749505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13A7BB9C-537A-5506-3E6E-5052A3779A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0938" y="2915565"/>
            <a:ext cx="4270122" cy="2646855"/>
          </a:xfrm>
          <a:prstGeom prst="rect">
            <a:avLst/>
          </a:prstGeom>
        </p:spPr>
      </p:pic>
      <p:sp>
        <p:nvSpPr>
          <p:cNvPr id="7" name="Retângulo 6">
            <a:extLst>
              <a:ext uri="{FF2B5EF4-FFF2-40B4-BE49-F238E27FC236}">
                <a16:creationId xmlns:a16="http://schemas.microsoft.com/office/drawing/2014/main" id="{E498C2C6-DD25-EC25-9C8E-19FFF15B2C6B}"/>
              </a:ext>
            </a:extLst>
          </p:cNvPr>
          <p:cNvSpPr/>
          <p:nvPr/>
        </p:nvSpPr>
        <p:spPr>
          <a:xfrm>
            <a:off x="6548669" y="5984831"/>
            <a:ext cx="982133" cy="624054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533501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4F08E5-6A30-7585-FD3C-1EF671DA31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Opção D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27E4805-B2A9-8830-600F-6E6694C326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b="1" dirty="0"/>
              <a:t>Única relação com múltiplos tipos de atributos</a:t>
            </a:r>
          </a:p>
          <a:p>
            <a:pPr lvl="1"/>
            <a:r>
              <a:rPr lang="pt-BR" dirty="0"/>
              <a:t>Agrega todos os atributos das subclasses + atributos booleanos para indicar o tipo</a:t>
            </a:r>
          </a:p>
          <a:p>
            <a:pPr lvl="1"/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98076919-6336-9D31-257F-AB46F95669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2818" y="3003365"/>
            <a:ext cx="6546363" cy="2200812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5547476B-1C0D-62B0-22D8-70E0E34425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5691511"/>
            <a:ext cx="10163559" cy="803305"/>
          </a:xfrm>
          <a:prstGeom prst="rect">
            <a:avLst/>
          </a:prstGeom>
        </p:spPr>
      </p:pic>
      <p:sp>
        <p:nvSpPr>
          <p:cNvPr id="8" name="Retângulo 7">
            <a:extLst>
              <a:ext uri="{FF2B5EF4-FFF2-40B4-BE49-F238E27FC236}">
                <a16:creationId xmlns:a16="http://schemas.microsoft.com/office/drawing/2014/main" id="{40A2A6C6-2E76-D68E-E29C-185009A3D622}"/>
              </a:ext>
            </a:extLst>
          </p:cNvPr>
          <p:cNvSpPr/>
          <p:nvPr/>
        </p:nvSpPr>
        <p:spPr>
          <a:xfrm>
            <a:off x="2980267" y="5878777"/>
            <a:ext cx="982133" cy="624054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D2AC4F98-C462-A5A0-70A6-F1D6CD9B0870}"/>
              </a:ext>
            </a:extLst>
          </p:cNvPr>
          <p:cNvSpPr/>
          <p:nvPr/>
        </p:nvSpPr>
        <p:spPr>
          <a:xfrm>
            <a:off x="7546623" y="5882630"/>
            <a:ext cx="982133" cy="624054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465579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1F81DB-15B6-606F-2E9E-322DC9EFE2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56E47E-7541-171E-1269-561A6E1B09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Agregação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277866F-5ECE-2021-809D-0E08533F65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Regra geral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Criar Relação (Tabela) que represente a agregação, com PK composta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69DA8256-93B9-992C-45EE-61C26BF5C9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168" y="3249186"/>
            <a:ext cx="5020376" cy="2429214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FA52448A-33FD-8526-C8F5-629F7CFCBC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9388" y="3429000"/>
            <a:ext cx="5224412" cy="224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66362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14ABDF-B0EF-67F2-D373-52F8E4F319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Exercício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117925F-8B5B-5F67-FCA4-2B73D7A6DE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EC808741-E180-60B3-A127-9B443049F0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5200" y="452022"/>
            <a:ext cx="8011643" cy="5953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844871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574461-7E00-70DA-D34E-3DE7DF5BB6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Exercícios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3DFB768-2625-12CB-E095-0BC9AD7408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24A7F7EA-9373-ECD7-B47E-6408497830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2354" y="1577899"/>
            <a:ext cx="7054535" cy="5185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523867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EB9B66-C518-0853-FF86-B36DA956C4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Atividade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D409034-2214-0B76-E632-9D7FD4FBA5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No </a:t>
            </a:r>
            <a:r>
              <a:rPr lang="pt-BR" i="1" dirty="0" err="1"/>
              <a:t>Classroom</a:t>
            </a:r>
            <a:r>
              <a:rPr lang="pt-BR" dirty="0"/>
              <a:t>: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Refinar o MER com atualizações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Escrever o texto descrevendo o minimundo sendo modelado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Fazer o mapeamento para o Modelo Relacional</a:t>
            </a:r>
          </a:p>
        </p:txBody>
      </p:sp>
    </p:spTree>
    <p:extLst>
      <p:ext uri="{BB962C8B-B14F-4D97-AF65-F5344CB8AC3E}">
        <p14:creationId xmlns:p14="http://schemas.microsoft.com/office/powerpoint/2010/main" val="31350791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D161D20-8D61-AD5B-CF71-1718C3D42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Seminários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CB4FFD8-B6D8-DD9D-5BE4-69BE510960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pt-BR" dirty="0"/>
              <a:t>Seminários BD:</a:t>
            </a:r>
          </a:p>
          <a:p>
            <a:r>
              <a:rPr lang="pt-BR" dirty="0"/>
              <a:t>Chave-valor [</a:t>
            </a:r>
            <a:r>
              <a:rPr lang="pt-BR" b="1" dirty="0"/>
              <a:t>Giovana</a:t>
            </a:r>
            <a:r>
              <a:rPr lang="pt-BR" dirty="0"/>
              <a:t>]</a:t>
            </a:r>
          </a:p>
          <a:p>
            <a:r>
              <a:rPr lang="pt-BR" dirty="0"/>
              <a:t>Documentos [</a:t>
            </a:r>
            <a:r>
              <a:rPr lang="pt-BR" b="1" dirty="0"/>
              <a:t>Isaac</a:t>
            </a:r>
            <a:r>
              <a:rPr lang="pt-BR" dirty="0"/>
              <a:t>]</a:t>
            </a:r>
          </a:p>
          <a:p>
            <a:r>
              <a:rPr lang="pt-BR" dirty="0"/>
              <a:t>Colunar </a:t>
            </a:r>
            <a:r>
              <a:rPr lang="pt-BR" b="1" dirty="0"/>
              <a:t>[Mariana]</a:t>
            </a:r>
          </a:p>
          <a:p>
            <a:r>
              <a:rPr lang="pt-BR" dirty="0"/>
              <a:t>Geoespacial [</a:t>
            </a:r>
            <a:r>
              <a:rPr lang="pt-BR" b="1" dirty="0"/>
              <a:t>David</a:t>
            </a:r>
            <a:r>
              <a:rPr lang="pt-BR" dirty="0"/>
              <a:t>]</a:t>
            </a:r>
          </a:p>
          <a:p>
            <a:r>
              <a:rPr lang="pt-BR" dirty="0"/>
              <a:t>Séries temporais</a:t>
            </a:r>
          </a:p>
          <a:p>
            <a:r>
              <a:rPr lang="pt-BR" dirty="0"/>
              <a:t>Vetorial [</a:t>
            </a:r>
            <a:r>
              <a:rPr lang="pt-BR" b="1" dirty="0"/>
              <a:t>João</a:t>
            </a:r>
            <a:r>
              <a:rPr lang="pt-BR" dirty="0"/>
              <a:t>]</a:t>
            </a:r>
          </a:p>
          <a:p>
            <a:r>
              <a:rPr lang="pt-BR" dirty="0"/>
              <a:t>Grafo propriedades [</a:t>
            </a:r>
            <a:r>
              <a:rPr lang="pt-BR" b="1" dirty="0"/>
              <a:t>Mateus</a:t>
            </a:r>
            <a:r>
              <a:rPr lang="pt-BR" dirty="0"/>
              <a:t>]</a:t>
            </a:r>
          </a:p>
          <a:p>
            <a:r>
              <a:rPr lang="pt-BR" dirty="0"/>
              <a:t>Grafo RDF [</a:t>
            </a:r>
            <a:r>
              <a:rPr lang="pt-BR" b="1" dirty="0"/>
              <a:t>Felipe</a:t>
            </a:r>
            <a:r>
              <a:rPr lang="pt-BR" dirty="0"/>
              <a:t>]</a:t>
            </a:r>
          </a:p>
          <a:p>
            <a:r>
              <a:rPr lang="pt-BR" dirty="0"/>
              <a:t>Eventos </a:t>
            </a:r>
            <a:r>
              <a:rPr lang="pt-BR" b="1" dirty="0"/>
              <a:t>[Enrico]</a:t>
            </a:r>
          </a:p>
          <a:p>
            <a:r>
              <a:rPr lang="pt-BR" dirty="0"/>
              <a:t>Multimodal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C6B81D9E-9090-A873-222F-4CBEC7456127}"/>
              </a:ext>
            </a:extLst>
          </p:cNvPr>
          <p:cNvSpPr txBox="1"/>
          <p:nvPr/>
        </p:nvSpPr>
        <p:spPr>
          <a:xfrm>
            <a:off x="5554133" y="1825625"/>
            <a:ext cx="5373512" cy="3046988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2400" b="1" dirty="0"/>
              <a:t>Para cada um (20 min):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400" dirty="0"/>
              <a:t>Quando surgiu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400" dirty="0"/>
              <a:t>Características do modelo de dados (como organiza os dados)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400" dirty="0"/>
              <a:t>Vantagens e limitações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400" dirty="0"/>
              <a:t>Aplicações comuns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400" dirty="0"/>
              <a:t>Exemplos de </a:t>
            </a:r>
            <a:r>
              <a:rPr lang="pt-BR" sz="2400" dirty="0" err="1"/>
              <a:t>SGBDs</a:t>
            </a:r>
            <a:r>
              <a:rPr lang="pt-BR" sz="2400" dirty="0"/>
              <a:t> comerciais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400" dirty="0"/>
              <a:t>Executar um exemplo</a:t>
            </a:r>
          </a:p>
        </p:txBody>
      </p:sp>
    </p:spTree>
    <p:extLst>
      <p:ext uri="{BB962C8B-B14F-4D97-AF65-F5344CB8AC3E}">
        <p14:creationId xmlns:p14="http://schemas.microsoft.com/office/powerpoint/2010/main" val="22269338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08BCDF-8806-C49F-F139-24622FB226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Referências bibliográficas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162F806-5965-C85A-6DB3-92CF0BB637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/>
            <a:r>
              <a:rPr lang="pt-BR" sz="1800" b="0" i="0" u="none" strike="noStrike" baseline="0" dirty="0">
                <a:latin typeface="DejaVuSans"/>
              </a:rPr>
              <a:t>ELMASRI, Ramez; NAVATHE, </a:t>
            </a:r>
            <a:r>
              <a:rPr lang="pt-BR" sz="1800" b="0" i="0" u="none" strike="noStrike" baseline="0" dirty="0" err="1">
                <a:latin typeface="DejaVuSans"/>
              </a:rPr>
              <a:t>Shamkant</a:t>
            </a:r>
            <a:r>
              <a:rPr lang="pt-BR" sz="1800" b="0" i="0" u="none" strike="noStrike" baseline="0" dirty="0">
                <a:latin typeface="DejaVuSans"/>
              </a:rPr>
              <a:t> B</a:t>
            </a:r>
            <a:r>
              <a:rPr lang="pt-BR" sz="1800" b="1" i="0" u="none" strike="noStrike" baseline="0" dirty="0">
                <a:latin typeface="DejaVuSans"/>
              </a:rPr>
              <a:t>. Sistemas de Banco de Dados</a:t>
            </a:r>
            <a:r>
              <a:rPr lang="pt-BR" sz="1800" b="0" i="0" u="none" strike="noStrike" baseline="0" dirty="0">
                <a:latin typeface="DejaVuSans"/>
              </a:rPr>
              <a:t>. 7. ed. São Paulo: Pearson Universidades, 2019. 1152 p. ISBN-13 978-8543025001.</a:t>
            </a:r>
          </a:p>
          <a:p>
            <a:pPr algn="l"/>
            <a:r>
              <a:rPr lang="pt-BR" sz="1800" b="0" i="0" u="none" strike="noStrike" baseline="0" dirty="0">
                <a:latin typeface="DejaVuSans"/>
              </a:rPr>
              <a:t>SILBERSCHATZ, Abraham; KORTH, Henry F.; SUDARSHAN, S. </a:t>
            </a:r>
            <a:r>
              <a:rPr lang="pt-BR" sz="1800" b="1" i="0" u="none" strike="noStrike" baseline="0" dirty="0">
                <a:latin typeface="DejaVuSans"/>
              </a:rPr>
              <a:t>Sistema de Banco de Dados.</a:t>
            </a:r>
            <a:r>
              <a:rPr lang="pt-BR" sz="1800" b="0" i="0" u="none" strike="noStrike" baseline="0" dirty="0">
                <a:latin typeface="DejaVuSans"/>
              </a:rPr>
              <a:t> 7. ed. Rio de Janeiro: GEN LTC, 2020. 754 p. ISBN-13 978-8595157330.</a:t>
            </a:r>
          </a:p>
          <a:p>
            <a:pPr algn="l"/>
            <a:r>
              <a:rPr lang="pt-BR" sz="1800" b="0" i="0" u="none" strike="noStrike" baseline="0" dirty="0">
                <a:latin typeface="DejaVuSans"/>
              </a:rPr>
              <a:t>DATE, Christopher J. Introdução a Sistemas de Bancos de Dados. GEN LTC, 2004</a:t>
            </a:r>
          </a:p>
          <a:p>
            <a:pPr algn="l"/>
            <a:r>
              <a:rPr lang="pt-BR" sz="1800" dirty="0"/>
              <a:t>Notas de aulas, prof. Leonardo </a:t>
            </a:r>
            <a:r>
              <a:rPr lang="pt-BR" sz="1800" dirty="0" err="1"/>
              <a:t>Tórtoro</a:t>
            </a:r>
            <a:r>
              <a:rPr lang="pt-BR" sz="1800" dirty="0"/>
              <a:t> Pereira (DEMAC/UNESP). </a:t>
            </a:r>
            <a:r>
              <a:rPr lang="pt-BR" sz="1800" b="1" dirty="0"/>
              <a:t>Sistemas de Banco de Dados- Parte 01.</a:t>
            </a:r>
          </a:p>
          <a:p>
            <a:pPr algn="l"/>
            <a:r>
              <a:rPr lang="pt-BR" sz="1800" dirty="0"/>
              <a:t>PAVLO, Andy; PATEL, </a:t>
            </a:r>
            <a:r>
              <a:rPr lang="pt-BR" sz="1800" dirty="0" err="1"/>
              <a:t>Jinglesh</a:t>
            </a:r>
            <a:r>
              <a:rPr lang="pt-BR" sz="1800" dirty="0"/>
              <a:t> (Carnegie Mellon </a:t>
            </a:r>
            <a:r>
              <a:rPr lang="pt-BR" sz="1800" dirty="0" err="1"/>
              <a:t>University</a:t>
            </a:r>
            <a:r>
              <a:rPr lang="pt-BR" sz="1800" dirty="0"/>
              <a:t>)</a:t>
            </a:r>
            <a:r>
              <a:rPr lang="pt-BR" sz="1800" b="1" dirty="0"/>
              <a:t>. </a:t>
            </a:r>
            <a:r>
              <a:rPr lang="pt-BR" sz="1800" b="1" dirty="0" err="1"/>
              <a:t>Databse</a:t>
            </a:r>
            <a:r>
              <a:rPr lang="pt-BR" sz="1800" b="1" dirty="0"/>
              <a:t> Systems (15-445). </a:t>
            </a:r>
            <a:r>
              <a:rPr lang="pt-BR" sz="1800" dirty="0">
                <a:hlinkClick r:id="rId3"/>
              </a:rPr>
              <a:t>https://15445.courses.cs.cmu.edu/spring2026/slides/01-relationalmodel.pdf</a:t>
            </a:r>
            <a:r>
              <a:rPr lang="pt-BR" sz="1800" dirty="0"/>
              <a:t>. </a:t>
            </a:r>
          </a:p>
          <a:p>
            <a:pPr marL="0" indent="0">
              <a:spcBef>
                <a:spcPts val="1800"/>
              </a:spcBef>
              <a:buNone/>
            </a:pPr>
            <a:r>
              <a:rPr lang="pt-BR" sz="18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09800902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76448</TotalTime>
  <Words>1549</Words>
  <Application>Microsoft Office PowerPoint</Application>
  <PresentationFormat>Widescreen</PresentationFormat>
  <Paragraphs>239</Paragraphs>
  <Slides>55</Slides>
  <Notes>8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55</vt:i4>
      </vt:variant>
    </vt:vector>
  </HeadingPairs>
  <TitlesOfParts>
    <vt:vector size="61" baseType="lpstr">
      <vt:lpstr>Arial</vt:lpstr>
      <vt:lpstr>Calibri</vt:lpstr>
      <vt:lpstr>Calibri Light</vt:lpstr>
      <vt:lpstr>DejaVuSans</vt:lpstr>
      <vt:lpstr>Wingdings</vt:lpstr>
      <vt:lpstr>Tema do Office</vt:lpstr>
      <vt:lpstr>Apresentação do PowerPoint</vt:lpstr>
      <vt:lpstr>Agenda</vt:lpstr>
      <vt:lpstr>Mapeamento entre esquemas</vt:lpstr>
      <vt:lpstr>Apresentação do PowerPoint</vt:lpstr>
      <vt:lpstr>Apresentação do PowerPoint</vt:lpstr>
      <vt:lpstr>Mapeamento entre esquemas</vt:lpstr>
      <vt:lpstr>Revisando...</vt:lpstr>
      <vt:lpstr>Revisando...</vt:lpstr>
      <vt:lpstr>Mapeamento MER- MRelacional</vt:lpstr>
      <vt:lpstr>Apresentação do PowerPoint</vt:lpstr>
      <vt:lpstr>Passo 1</vt:lpstr>
      <vt:lpstr>Passo 1</vt:lpstr>
      <vt:lpstr>Passo 1</vt:lpstr>
      <vt:lpstr>Passo 1</vt:lpstr>
      <vt:lpstr>Passo 1</vt:lpstr>
      <vt:lpstr>Passo 2</vt:lpstr>
      <vt:lpstr>Passo 2</vt:lpstr>
      <vt:lpstr>Passo 3</vt:lpstr>
      <vt:lpstr>Passo 3</vt:lpstr>
      <vt:lpstr>Passo 3</vt:lpstr>
      <vt:lpstr>Passo 3 – modelo parcial</vt:lpstr>
      <vt:lpstr>Passo 4</vt:lpstr>
      <vt:lpstr>Passo 4</vt:lpstr>
      <vt:lpstr>Passo 4</vt:lpstr>
      <vt:lpstr>Passo 4</vt:lpstr>
      <vt:lpstr>Passo 4</vt:lpstr>
      <vt:lpstr>Passo 4</vt:lpstr>
      <vt:lpstr>Passo 5</vt:lpstr>
      <vt:lpstr>Passo 5</vt:lpstr>
      <vt:lpstr>Passo 5</vt:lpstr>
      <vt:lpstr>Passo 5</vt:lpstr>
      <vt:lpstr>Passo 5</vt:lpstr>
      <vt:lpstr>Passo 5</vt:lpstr>
      <vt:lpstr>Passo 6</vt:lpstr>
      <vt:lpstr>Passo 6</vt:lpstr>
      <vt:lpstr>Passo 7</vt:lpstr>
      <vt:lpstr>Passo 7</vt:lpstr>
      <vt:lpstr>Passo 7</vt:lpstr>
      <vt:lpstr>Mapeamento ER para Modelo Relacional</vt:lpstr>
      <vt:lpstr>Mapeamento ER-Relacional</vt:lpstr>
      <vt:lpstr>Exercício</vt:lpstr>
      <vt:lpstr>Exercício</vt:lpstr>
      <vt:lpstr>Agenda</vt:lpstr>
      <vt:lpstr>Generalização</vt:lpstr>
      <vt:lpstr>Generalização</vt:lpstr>
      <vt:lpstr>Opção A</vt:lpstr>
      <vt:lpstr>Opção B</vt:lpstr>
      <vt:lpstr>Opção C</vt:lpstr>
      <vt:lpstr>Opção D</vt:lpstr>
      <vt:lpstr>Agregação</vt:lpstr>
      <vt:lpstr>Exercício</vt:lpstr>
      <vt:lpstr>Exercícios</vt:lpstr>
      <vt:lpstr>Atividade</vt:lpstr>
      <vt:lpstr>Seminários</vt:lpstr>
      <vt:lpstr>Referências bibliográficas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Bruno Elias Penteado</dc:creator>
  <cp:lastModifiedBy>Author</cp:lastModifiedBy>
  <cp:revision>2247</cp:revision>
  <dcterms:created xsi:type="dcterms:W3CDTF">2024-08-08T20:58:28Z</dcterms:created>
  <dcterms:modified xsi:type="dcterms:W3CDTF">2026-04-16T14:15:58Z</dcterms:modified>
</cp:coreProperties>
</file>