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361" r:id="rId4"/>
    <p:sldId id="876" r:id="rId5"/>
    <p:sldId id="382" r:id="rId6"/>
    <p:sldId id="935" r:id="rId7"/>
    <p:sldId id="384" r:id="rId8"/>
    <p:sldId id="393" r:id="rId9"/>
    <p:sldId id="385" r:id="rId10"/>
    <p:sldId id="383" r:id="rId11"/>
    <p:sldId id="719" r:id="rId12"/>
    <p:sldId id="877" r:id="rId13"/>
    <p:sldId id="926" r:id="rId14"/>
    <p:sldId id="927" r:id="rId15"/>
    <p:sldId id="928" r:id="rId16"/>
    <p:sldId id="900" r:id="rId17"/>
    <p:sldId id="878" r:id="rId18"/>
    <p:sldId id="882" r:id="rId19"/>
    <p:sldId id="904" r:id="rId20"/>
    <p:sldId id="883" r:id="rId21"/>
    <p:sldId id="884" r:id="rId22"/>
    <p:sldId id="905" r:id="rId23"/>
    <p:sldId id="906" r:id="rId24"/>
    <p:sldId id="898" r:id="rId25"/>
    <p:sldId id="892" r:id="rId26"/>
    <p:sldId id="893" r:id="rId27"/>
    <p:sldId id="362" r:id="rId28"/>
    <p:sldId id="395" r:id="rId29"/>
    <p:sldId id="369" r:id="rId30"/>
    <p:sldId id="368" r:id="rId31"/>
    <p:sldId id="394" r:id="rId32"/>
    <p:sldId id="366" r:id="rId33"/>
    <p:sldId id="367" r:id="rId34"/>
    <p:sldId id="894" r:id="rId35"/>
    <p:sldId id="902" r:id="rId36"/>
    <p:sldId id="903" r:id="rId37"/>
    <p:sldId id="901" r:id="rId38"/>
    <p:sldId id="885" r:id="rId39"/>
    <p:sldId id="886" r:id="rId40"/>
    <p:sldId id="887" r:id="rId41"/>
    <p:sldId id="888" r:id="rId42"/>
    <p:sldId id="889" r:id="rId43"/>
    <p:sldId id="890" r:id="rId44"/>
    <p:sldId id="930" r:id="rId45"/>
    <p:sldId id="891" r:id="rId46"/>
    <p:sldId id="907" r:id="rId47"/>
    <p:sldId id="908" r:id="rId48"/>
    <p:sldId id="899" r:id="rId49"/>
    <p:sldId id="909" r:id="rId50"/>
    <p:sldId id="910" r:id="rId51"/>
    <p:sldId id="879" r:id="rId52"/>
    <p:sldId id="911" r:id="rId53"/>
    <p:sldId id="912" r:id="rId54"/>
    <p:sldId id="913" r:id="rId55"/>
    <p:sldId id="915" r:id="rId56"/>
    <p:sldId id="914" r:id="rId57"/>
    <p:sldId id="916" r:id="rId58"/>
    <p:sldId id="917" r:id="rId59"/>
    <p:sldId id="934" r:id="rId60"/>
    <p:sldId id="932" r:id="rId61"/>
    <p:sldId id="933" r:id="rId62"/>
    <p:sldId id="918" r:id="rId63"/>
    <p:sldId id="921" r:id="rId64"/>
    <p:sldId id="919" r:id="rId65"/>
    <p:sldId id="920" r:id="rId66"/>
    <p:sldId id="880" r:id="rId67"/>
    <p:sldId id="922" r:id="rId68"/>
    <p:sldId id="924" r:id="rId69"/>
    <p:sldId id="923" r:id="rId70"/>
    <p:sldId id="925" r:id="rId71"/>
    <p:sldId id="881" r:id="rId72"/>
    <p:sldId id="895" r:id="rId73"/>
    <p:sldId id="896" r:id="rId74"/>
    <p:sldId id="897" r:id="rId75"/>
    <p:sldId id="931" r:id="rId76"/>
    <p:sldId id="929" r:id="rId77"/>
    <p:sldId id="674" r:id="rId7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257"/>
            <p14:sldId id="361"/>
            <p14:sldId id="876"/>
            <p14:sldId id="382"/>
          </p14:sldIdLst>
        </p14:section>
        <p14:section name="Introdução" id="{14EFEFA0-C1A5-45D4-B781-AD9C2CA07C4B}">
          <p14:sldIdLst>
            <p14:sldId id="935"/>
            <p14:sldId id="384"/>
            <p14:sldId id="393"/>
            <p14:sldId id="385"/>
            <p14:sldId id="383"/>
            <p14:sldId id="719"/>
            <p14:sldId id="877"/>
            <p14:sldId id="926"/>
            <p14:sldId id="927"/>
            <p14:sldId id="928"/>
            <p14:sldId id="900"/>
            <p14:sldId id="878"/>
            <p14:sldId id="882"/>
            <p14:sldId id="904"/>
            <p14:sldId id="883"/>
            <p14:sldId id="884"/>
            <p14:sldId id="905"/>
            <p14:sldId id="906"/>
            <p14:sldId id="898"/>
            <p14:sldId id="892"/>
            <p14:sldId id="893"/>
            <p14:sldId id="362"/>
            <p14:sldId id="395"/>
            <p14:sldId id="369"/>
            <p14:sldId id="368"/>
            <p14:sldId id="394"/>
            <p14:sldId id="366"/>
            <p14:sldId id="367"/>
            <p14:sldId id="894"/>
            <p14:sldId id="902"/>
            <p14:sldId id="903"/>
            <p14:sldId id="901"/>
            <p14:sldId id="885"/>
            <p14:sldId id="886"/>
            <p14:sldId id="887"/>
            <p14:sldId id="888"/>
            <p14:sldId id="889"/>
            <p14:sldId id="890"/>
            <p14:sldId id="930"/>
            <p14:sldId id="891"/>
            <p14:sldId id="907"/>
            <p14:sldId id="908"/>
            <p14:sldId id="899"/>
            <p14:sldId id="909"/>
            <p14:sldId id="910"/>
            <p14:sldId id="879"/>
            <p14:sldId id="911"/>
            <p14:sldId id="912"/>
            <p14:sldId id="913"/>
            <p14:sldId id="915"/>
            <p14:sldId id="914"/>
            <p14:sldId id="916"/>
            <p14:sldId id="917"/>
            <p14:sldId id="934"/>
            <p14:sldId id="932"/>
            <p14:sldId id="933"/>
            <p14:sldId id="918"/>
            <p14:sldId id="921"/>
            <p14:sldId id="919"/>
            <p14:sldId id="920"/>
            <p14:sldId id="880"/>
            <p14:sldId id="922"/>
            <p14:sldId id="924"/>
            <p14:sldId id="923"/>
            <p14:sldId id="925"/>
            <p14:sldId id="881"/>
            <p14:sldId id="895"/>
            <p14:sldId id="896"/>
            <p14:sldId id="897"/>
            <p14:sldId id="931"/>
            <p14:sldId id="929"/>
          </p14:sldIdLst>
        </p14:section>
        <p14:section name="Refs" id="{F65D350F-258C-4860-9B11-97FB6D76D198}">
          <p14:sldIdLst>
            <p14:sldId id="6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93" autoAdjust="0"/>
  </p:normalViewPr>
  <p:slideViewPr>
    <p:cSldViewPr snapToGrid="0">
      <p:cViewPr varScale="1">
        <p:scale>
          <a:sx n="68" d="100"/>
          <a:sy n="68" d="100"/>
        </p:scale>
        <p:origin x="11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gostaram mais em ESI?</a:t>
            </a:r>
          </a:p>
          <a:p>
            <a:r>
              <a:rPr lang="pt-BR" dirty="0"/>
              <a:t>	projeto prático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9E112-8E62-415B-ABD8-A813EB2FB88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1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8FC09-1BE5-0BC4-7DEB-4BE11E1D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159775-6514-DDD2-B2EE-7B87FA646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3E44B9-A80C-71E7-86EB-862ED97D1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F5B116-4D02-0582-35D8-1B9FE81F5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9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https://www.preditiva.ai/blog/conheca-os-tipos-de-cargos-e-funcoes-das-areas-de-dados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BC013-42A6-4BC0-809A-1F18E4B445C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780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BC013-42A6-4BC0-809A-1F18E4B445C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49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102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BD58-1021-460D-5A58-1E992A7A0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CFA370-0D10-9786-8CB7-073EEF05A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15A699-FA04-3DF8-0CC3-E622F0FD8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B77173-93CC-B6BA-F46A-F306AA89B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244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C6E10-0801-6C69-0FA3-CEFE6F09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0919DD-4915-5AAB-5415-AFCDF4982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AF8FB6-F805-A05F-2B85-644EA9AA1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8E5E5E-EFD3-B763-015A-D98F25E9B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591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https://www.influxdata.com/key-value-database/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BC013-42A6-4BC0-809A-1F18E4B445C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863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https://www.linkedin.com/pulse/complete-guide-creating-storing-vector-embeddings-pavan-belagatti-5fyfc</a:t>
            </a:r>
          </a:p>
          <a:p>
            <a:r>
              <a:rPr lang="pt-BR" dirty="0"/>
              <a:t>https://d11qzsb0ksp6iz.cloudfront.net/assets/dff374c348_indexing-in-vector-database.webp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BC013-42A6-4BC0-809A-1F18E4B445C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21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901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Primeiro, criamos o </a:t>
            </a:r>
            <a:r>
              <a:rPr lang="pt-BR" dirty="0" err="1"/>
              <a:t>schema</a:t>
            </a:r>
            <a:r>
              <a:rPr lang="pt-BR" dirty="0"/>
              <a:t> para depois </a:t>
            </a:r>
            <a:r>
              <a:rPr lang="pt-BR" dirty="0" err="1"/>
              <a:t>populá-lo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081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 mudar a interface interna sem alterar a conceitual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413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BC28-A44F-5AA1-6277-739BDCBE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6915CC-21C5-6264-F920-99A8A2863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B3C9D9-2348-8B0D-9850-BE3D3EB3B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0B2263-B327-F93B-A96E-54345F644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60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53FD-D8D5-D297-F542-2B45256B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2F2FA0-DFF3-4787-4D3F-D5A2F40C5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F217B9-DF26-20CE-6472-C2082173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FC085C-C6C1-9EBF-2F6D-9D803A316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167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E7227-FFA7-7674-3026-AF5E7917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538479-830E-63EB-0942-5E6330F7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6DB748-8CB8-149F-D34C-3A2669162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5C18AF-7FA9-FB3A-F984-154C4FFFA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146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28DD-FCFF-5A7E-1A52-38791282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636816-CF12-3183-A7CD-2D36861C7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166FCA-D7D6-7848-ABE6-F2CED6870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7FE9B3-3416-BECC-3F5E-CDB57E9F2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291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2h 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1.awsstatic.com/AWS%20Databases/JSON%20document%20database.64fe2a382abc8ca2b8743f0e3b5af553a33f3fb0.png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medium.com/v2/resize:fit:1400/1*C-wxpmuzTOTXRJ9QlaCx5g.pn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ukri.com/code360/library/difference-between-schema-and-instance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spring2026/slides/01-relationalmodel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Aula 1</a:t>
            </a:r>
            <a:br>
              <a:rPr lang="pt-BR" dirty="0"/>
            </a:br>
            <a:r>
              <a:rPr lang="pt-BR" dirty="0"/>
              <a:t>BD, SGBD, Modelos de dados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585BE-8F15-FDFF-6B15-21F5AD1F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Quem sou eu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2067C6-25FC-7E1B-95BE-C6D88129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Experiência acadêmica </a:t>
            </a:r>
          </a:p>
          <a:p>
            <a:pPr lvl="1"/>
            <a:r>
              <a:rPr lang="pt-BR" dirty="0"/>
              <a:t>Bacharel em SI Unesp Bauru – TCC: Leis e inovações em software no Brasil</a:t>
            </a:r>
          </a:p>
          <a:p>
            <a:pPr lvl="1"/>
            <a:r>
              <a:rPr lang="pt-BR" dirty="0"/>
              <a:t>Mestre em CC Unesp Bauru – Dissertação: reconhecimento facial em e-learning;</a:t>
            </a:r>
          </a:p>
          <a:p>
            <a:pPr lvl="1"/>
            <a:r>
              <a:rPr lang="pt-BR" dirty="0"/>
              <a:t>Doutor em CC ICMC/USP – Tese: infraestrutura de publicação de dados abertos</a:t>
            </a:r>
          </a:p>
          <a:p>
            <a:pPr lvl="1"/>
            <a:r>
              <a:rPr lang="pt-BR" dirty="0"/>
              <a:t>Sanduíche no LIS/Aix-Marseille </a:t>
            </a:r>
            <a:r>
              <a:rPr lang="pt-BR" dirty="0" err="1"/>
              <a:t>Université</a:t>
            </a:r>
            <a:r>
              <a:rPr lang="pt-BR" dirty="0"/>
              <a:t> – Reconhecimento de sinais verbais e não verbais em agentes virtuais;</a:t>
            </a:r>
          </a:p>
          <a:p>
            <a:pPr lvl="1"/>
            <a:r>
              <a:rPr lang="pt-BR" dirty="0"/>
              <a:t>Pós-</a:t>
            </a:r>
            <a:r>
              <a:rPr lang="pt-BR" dirty="0" err="1"/>
              <a:t>doc</a:t>
            </a:r>
            <a:r>
              <a:rPr lang="pt-BR" dirty="0"/>
              <a:t> ICMC/USP – estrutura semântica para dados abertos educacionais</a:t>
            </a:r>
          </a:p>
          <a:p>
            <a:pPr lvl="2"/>
            <a:endParaRPr lang="pt-BR" dirty="0"/>
          </a:p>
          <a:p>
            <a:r>
              <a:rPr lang="pt-BR" dirty="0"/>
              <a:t>Experiência profissional</a:t>
            </a:r>
          </a:p>
          <a:p>
            <a:pPr lvl="1"/>
            <a:r>
              <a:rPr lang="pt-BR" dirty="0"/>
              <a:t>14 anos empresa de desenvolvimento de software educacionais </a:t>
            </a:r>
          </a:p>
          <a:p>
            <a:pPr lvl="2"/>
            <a:r>
              <a:rPr lang="pt-BR" dirty="0" err="1"/>
              <a:t>Dev</a:t>
            </a:r>
            <a:r>
              <a:rPr lang="pt-BR" dirty="0"/>
              <a:t>, </a:t>
            </a:r>
            <a:r>
              <a:rPr lang="pt-BR" dirty="0" err="1"/>
              <a:t>tester</a:t>
            </a:r>
            <a:r>
              <a:rPr lang="pt-BR" dirty="0"/>
              <a:t>, gerente funcional, suporte, especialista técnico, suporte a vendas</a:t>
            </a:r>
          </a:p>
          <a:p>
            <a:pPr lvl="1"/>
            <a:r>
              <a:rPr lang="pt-BR" dirty="0"/>
              <a:t>6 anos pesquisador de IA na saúde (Fiocruz)</a:t>
            </a:r>
          </a:p>
          <a:p>
            <a:pPr lvl="2"/>
            <a:r>
              <a:rPr lang="pt-BR" dirty="0"/>
              <a:t>Papel da IA na saúde digital, ciência de dados na Epidemiologia</a:t>
            </a:r>
          </a:p>
          <a:p>
            <a:pPr lvl="1"/>
            <a:r>
              <a:rPr lang="pt-BR" dirty="0"/>
              <a:t>3 anos gerente de projetos na </a:t>
            </a:r>
            <a:r>
              <a:rPr lang="pt-BR" dirty="0" err="1"/>
              <a:t>Unespetro</a:t>
            </a:r>
            <a:r>
              <a:rPr lang="pt-BR" dirty="0"/>
              <a:t> (Unesp/Rio Claro)</a:t>
            </a:r>
          </a:p>
          <a:p>
            <a:pPr lvl="2"/>
            <a:r>
              <a:rPr lang="pt-BR" dirty="0"/>
              <a:t>Planejamento de entregas e implantação de ferramentas de IA (PLN, semântica, LLM) dentro da Petrobras</a:t>
            </a:r>
          </a:p>
          <a:p>
            <a:pPr lvl="2"/>
            <a:endParaRPr lang="pt-BR" dirty="0"/>
          </a:p>
          <a:p>
            <a:r>
              <a:rPr lang="pt-BR" dirty="0"/>
              <a:t>Experiência didática</a:t>
            </a:r>
          </a:p>
          <a:p>
            <a:pPr lvl="1"/>
            <a:r>
              <a:rPr lang="pt-BR" dirty="0"/>
              <a:t>Disciplinas de Gerenciamento de projetos e Laboratório de Banco de dados (DEMAC/2024 e 2025)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31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DF34C-97A0-160B-5C94-291DD186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AB87D7-751C-089F-0FB7-E3C6B9E6B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Quem são vocês?</a:t>
            </a:r>
          </a:p>
          <a:p>
            <a:pPr lvl="1"/>
            <a:r>
              <a:rPr lang="pt-BR" dirty="0"/>
              <a:t>Estágio? Full-time? Iniciação Científica?</a:t>
            </a:r>
          </a:p>
          <a:p>
            <a:pPr lvl="1"/>
            <a:r>
              <a:rPr lang="pt-BR" dirty="0"/>
              <a:t>Já trabalham com banco </a:t>
            </a:r>
            <a:r>
              <a:rPr lang="pt-BR"/>
              <a:t>de dados?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30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CC0B3-C13D-9AC7-90B7-14DD78C1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EB8F2-F79C-3926-4A1C-EB19CD26B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Provas</a:t>
            </a:r>
          </a:p>
          <a:p>
            <a:r>
              <a:rPr lang="pt-BR" dirty="0"/>
              <a:t>Seminário</a:t>
            </a:r>
          </a:p>
          <a:p>
            <a:r>
              <a:rPr lang="pt-BR" dirty="0"/>
              <a:t>Trabalho</a:t>
            </a:r>
          </a:p>
        </p:txBody>
      </p:sp>
    </p:spTree>
    <p:extLst>
      <p:ext uri="{BB962C8B-B14F-4D97-AF65-F5344CB8AC3E}">
        <p14:creationId xmlns:p14="http://schemas.microsoft.com/office/powerpoint/2010/main" val="225775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Conceitos gerais sobre BD</a:t>
            </a:r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0DA1-0386-727B-F48F-EB3C059A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266DFF-9931-7437-A0C6-01D48530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Trabalho com dados</a:t>
            </a:r>
          </a:p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68AC26-521D-8D30-781F-ADA3B2731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519D1AA-F16C-4EA7-3926-18FA68DCB23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366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1C0BA-6D68-D5B0-60EE-EA5E0689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 com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4E09AD-214A-84E7-B17F-9952DF161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9D4ADC-83F9-DC3B-3091-167A8BAA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1825625"/>
            <a:ext cx="5885260" cy="295176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3742EA-4D96-D1C7-67BC-4DA1A7FB1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886" y="2137621"/>
            <a:ext cx="5885261" cy="451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0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7A0F5-E9CD-A0A1-760E-F8CDB462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ED7304-7A44-FA73-DC49-68B4A734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2E3671-2DC7-B52C-9B2D-14B89DE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713"/>
            <a:ext cx="12192000" cy="663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68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1F013-10FE-A1D2-F4E2-F5E62726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top data teams are structured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141C2D-BCE8-D545-6516-8A7B6AC58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2EF820-CCD5-EFB8-70E0-65E8A3F52003}"/>
              </a:ext>
            </a:extLst>
          </p:cNvPr>
          <p:cNvSpPr txBox="1"/>
          <p:nvPr/>
        </p:nvSpPr>
        <p:spPr>
          <a:xfrm>
            <a:off x="2615379" y="6338986"/>
            <a:ext cx="7354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https://medium.com/@mikldd/how-top-data-teams-are-structured-48d46a64b990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CD3B15-B706-4E4E-9172-4520DEA72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2" y="1712782"/>
            <a:ext cx="6060938" cy="299571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0A3CC38-E99F-614E-7150-E31279D3B735}"/>
              </a:ext>
            </a:extLst>
          </p:cNvPr>
          <p:cNvGrpSpPr/>
          <p:nvPr/>
        </p:nvGrpSpPr>
        <p:grpSpPr>
          <a:xfrm>
            <a:off x="2875055" y="2938620"/>
            <a:ext cx="6190287" cy="3708143"/>
            <a:chOff x="2875055" y="2938620"/>
            <a:chExt cx="6190287" cy="3708143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D45685C-F73C-487C-8D2F-967F50925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5055" y="2938620"/>
              <a:ext cx="5382376" cy="495369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23D7E3FF-1A23-E8D2-15A6-F8504287C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5055" y="3415175"/>
              <a:ext cx="6190287" cy="3231588"/>
            </a:xfrm>
            <a:prstGeom prst="rect">
              <a:avLst/>
            </a:prstGeom>
          </p:spPr>
        </p:pic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1313E5C8-CADD-2513-4722-14A9D13AF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055" y="1663602"/>
            <a:ext cx="7069319" cy="40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2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86A5E-0746-1095-05D0-BE0A4B58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Trabalho com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B9ECE1-0014-C80E-8769-16D4D52D6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Big Data Careers Salary">
            <a:extLst>
              <a:ext uri="{FF2B5EF4-FFF2-40B4-BE49-F238E27FC236}">
                <a16:creationId xmlns:a16="http://schemas.microsoft.com/office/drawing/2014/main" id="{3CEE3C26-10D3-2CB4-9740-6B5AF69DE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03" y="1825625"/>
            <a:ext cx="4798142" cy="479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ighest Paying Tech Jobs in 2025 | Zero To Mastery">
            <a:extLst>
              <a:ext uri="{FF2B5EF4-FFF2-40B4-BE49-F238E27FC236}">
                <a16:creationId xmlns:a16="http://schemas.microsoft.com/office/drawing/2014/main" id="{5C52D1B0-9A98-3FE7-ED0B-4A3EF768C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342" y="2049027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67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55E550-36C8-EB05-68E8-8A19D46BF18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586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2977-717C-9603-07E2-C46E6068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E375B8-5C99-08A5-BC98-79DEB81C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A7B6CC-F558-E894-8C6C-FA89B3BF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562C72-30BC-1FA0-DD62-4CC55C5796B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82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4436D-D21A-02D8-AF1F-6DBC5BD5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Sistemas de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FB357-68E9-0BB9-0482-1062987E0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Sistemas de Informação baseados em gerenciamento de arquivos</a:t>
            </a:r>
          </a:p>
          <a:p>
            <a:pPr lvl="1"/>
            <a:r>
              <a:rPr lang="pt-BR" dirty="0"/>
              <a:t>Programas e arquivos orientados a cada unidade organizacional </a:t>
            </a:r>
          </a:p>
          <a:p>
            <a:pPr lvl="1"/>
            <a:r>
              <a:rPr lang="pt-BR" dirty="0"/>
              <a:t>Rotinas específicas para tarefas específicas</a:t>
            </a:r>
          </a:p>
          <a:p>
            <a:pPr lvl="1"/>
            <a:r>
              <a:rPr lang="pt-BR" dirty="0"/>
              <a:t>Dados armazenados em disco, usando uma determinada estrutura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9767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1107C-2294-7F4A-8F70-0BFEF2E5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Sistemas de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53AB7-5EDE-EA83-3250-BF6D94A10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22A8F6-4167-408D-E166-C34FD76B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86" y="1553079"/>
            <a:ext cx="10167628" cy="522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21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0D6B9-971D-9FC5-5994-0F444DA1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Sistemas de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245321-66D6-5846-886E-8362BEF3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784A8F-5498-3A05-66B5-C41D94DF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1530"/>
            <a:ext cx="10515600" cy="519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0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30EC5-6513-8E56-9E29-8F439EAC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B196D5-E8E1-08E5-6944-AD6553F5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SIs</a:t>
            </a:r>
            <a:r>
              <a:rPr lang="pt-BR" dirty="0"/>
              <a:t> baseados em arquivos</a:t>
            </a:r>
          </a:p>
          <a:p>
            <a:pPr lvl="1"/>
            <a:r>
              <a:rPr lang="pt-BR" dirty="0"/>
              <a:t>Dados gravados em disco usando Estruturas de Dados</a:t>
            </a:r>
          </a:p>
          <a:p>
            <a:pPr lvl="1"/>
            <a:endParaRPr lang="pt-BR" dirty="0"/>
          </a:p>
          <a:p>
            <a:r>
              <a:rPr lang="pt-BR" dirty="0"/>
              <a:t>Requer conhecimento destas estruturas</a:t>
            </a:r>
          </a:p>
          <a:p>
            <a:pPr lvl="1"/>
            <a:r>
              <a:rPr lang="pt-BR" dirty="0"/>
              <a:t>Gera dependência dos dados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D94A173A-783C-4E0A-2619-49790F698B59}"/>
              </a:ext>
            </a:extLst>
          </p:cNvPr>
          <p:cNvGrpSpPr/>
          <p:nvPr/>
        </p:nvGrpSpPr>
        <p:grpSpPr>
          <a:xfrm>
            <a:off x="2400101" y="4334208"/>
            <a:ext cx="7391798" cy="2158667"/>
            <a:chOff x="2400101" y="4334208"/>
            <a:chExt cx="7391798" cy="2158667"/>
          </a:xfrm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03664C08-3BE5-4534-109D-B0188DE4BBF3}"/>
                </a:ext>
              </a:extLst>
            </p:cNvPr>
            <p:cNvGrpSpPr/>
            <p:nvPr/>
          </p:nvGrpSpPr>
          <p:grpSpPr>
            <a:xfrm>
              <a:off x="2400101" y="4334208"/>
              <a:ext cx="7391798" cy="2158667"/>
              <a:chOff x="2400101" y="4334208"/>
              <a:chExt cx="7391798" cy="2158667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C0DF7C86-9D4C-8D0A-8A18-2E0DF7B93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00101" y="4334208"/>
                <a:ext cx="7391798" cy="2158667"/>
              </a:xfrm>
              <a:prstGeom prst="rect">
                <a:avLst/>
              </a:prstGeom>
            </p:spPr>
          </p:pic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6430E732-3668-4F39-F56B-0A85470CC5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2139" y="5244542"/>
                <a:ext cx="1283819" cy="445058"/>
              </a:xfrm>
              <a:prstGeom prst="rect">
                <a:avLst/>
              </a:prstGeom>
            </p:spPr>
          </p:pic>
        </p:grp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18F3A16-31F4-505E-C2B5-F1B20EA7CCFD}"/>
                </a:ext>
              </a:extLst>
            </p:cNvPr>
            <p:cNvSpPr txBox="1"/>
            <p:nvPr/>
          </p:nvSpPr>
          <p:spPr>
            <a:xfrm>
              <a:off x="4547050" y="4728407"/>
              <a:ext cx="137323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Como desacoplar as aplicações dos dados?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687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48DB-6929-463F-EBB0-BA01E32E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D93918-F3DE-7279-25FE-C04952267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b="1" dirty="0"/>
              <a:t>Modelos, esquemas e instâncias de dados</a:t>
            </a:r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6B7386-B913-D744-D97F-5F4C07F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530621-1D9E-0C24-6D29-EE194E5884D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33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66816-B654-138E-81F7-E8B6600F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9E1FA4-616C-6825-993C-8C7D51F55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Coleções organizadas de dados </a:t>
            </a:r>
            <a:r>
              <a:rPr lang="pt-BR" dirty="0"/>
              <a:t>interrelacionados que modelam algum </a:t>
            </a:r>
            <a:r>
              <a:rPr lang="pt-BR" b="1" dirty="0">
                <a:solidFill>
                  <a:srgbClr val="FF0000"/>
                </a:solidFill>
              </a:rPr>
              <a:t>aspecto do mundo real</a:t>
            </a:r>
          </a:p>
          <a:p>
            <a:pPr>
              <a:spcBef>
                <a:spcPts val="2400"/>
              </a:spcBef>
            </a:pPr>
            <a:r>
              <a:rPr lang="pt-BR" dirty="0"/>
              <a:t>São o componente central da maioria das aplicações computacionais</a:t>
            </a:r>
          </a:p>
        </p:txBody>
      </p:sp>
      <p:pic>
        <p:nvPicPr>
          <p:cNvPr id="7170" name="Picture 2" descr="What Are Instagram Highlights? Here's How I Make the Most of Them">
            <a:extLst>
              <a:ext uri="{FF2B5EF4-FFF2-40B4-BE49-F238E27FC236}">
                <a16:creationId xmlns:a16="http://schemas.microsoft.com/office/drawing/2014/main" id="{3C1684C3-DEDA-6731-A3BC-06EE169A5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67" y="4001294"/>
            <a:ext cx="2624813" cy="17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onheça o ShopeePay, sua carteria digital na Shopee">
            <a:extLst>
              <a:ext uri="{FF2B5EF4-FFF2-40B4-BE49-F238E27FC236}">
                <a16:creationId xmlns:a16="http://schemas.microsoft.com/office/drawing/2014/main" id="{0D2A8F3B-B2BC-01F4-E4F2-9B8CFB0DE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984" y="3429000"/>
            <a:ext cx="1648472" cy="344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CB9F2BFB-B423-FC73-40A5-3CDA1365A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879" y="3712850"/>
            <a:ext cx="4049826" cy="230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Betano App 2026: Como Baixar para Apostar no Celular">
            <a:extLst>
              <a:ext uri="{FF2B5EF4-FFF2-40B4-BE49-F238E27FC236}">
                <a16:creationId xmlns:a16="http://schemas.microsoft.com/office/drawing/2014/main" id="{FB9B7766-22EA-CF61-3E08-D60BD41EE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638" y="3429000"/>
            <a:ext cx="2363928" cy="325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30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92FC-B39C-088B-A265-B51E2260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31C851-77B4-AB8D-63F8-AE32444E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Coleção de dados relacionados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Fatos</a:t>
            </a:r>
            <a:r>
              <a:rPr lang="pt-BR" dirty="0"/>
              <a:t> conhecidos e que podem ser </a:t>
            </a:r>
            <a:r>
              <a:rPr lang="pt-BR" dirty="0">
                <a:solidFill>
                  <a:srgbClr val="FF0000"/>
                </a:solidFill>
              </a:rPr>
              <a:t>registrados</a:t>
            </a:r>
          </a:p>
          <a:p>
            <a:pPr lvl="2"/>
            <a:r>
              <a:rPr lang="pt-BR" dirty="0"/>
              <a:t>Possuem significado implícito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nome, número de telefone, endereço...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Podem ser </a:t>
            </a:r>
            <a:r>
              <a:rPr lang="pt-BR" b="1" dirty="0"/>
              <a:t>armazenados</a:t>
            </a:r>
            <a:r>
              <a:rPr lang="pt-BR" dirty="0"/>
              <a:t> em celulares, agenda, disco rígido</a:t>
            </a:r>
          </a:p>
          <a:p>
            <a:pPr lvl="1"/>
            <a:endParaRPr lang="pt-BR" dirty="0"/>
          </a:p>
          <a:p>
            <a:r>
              <a:rPr lang="pt-BR" dirty="0"/>
              <a:t>Representa algum aspecto do mundo real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Mudanças no mundo real são refletidas no banco de dados</a:t>
            </a:r>
          </a:p>
          <a:p>
            <a:pPr lvl="1">
              <a:spcBef>
                <a:spcPts val="1800"/>
              </a:spcBef>
            </a:pPr>
            <a:r>
              <a:rPr lang="pt-BR" b="1" dirty="0">
                <a:solidFill>
                  <a:srgbClr val="FF0000"/>
                </a:solidFill>
              </a:rPr>
              <a:t>Minimundo</a:t>
            </a:r>
            <a:r>
              <a:rPr lang="pt-BR" b="1" dirty="0"/>
              <a:t> </a:t>
            </a:r>
            <a:r>
              <a:rPr lang="pt-BR" dirty="0"/>
              <a:t>ou </a:t>
            </a:r>
            <a:r>
              <a:rPr lang="pt-BR" b="1" dirty="0"/>
              <a:t>universo do discurso</a:t>
            </a:r>
          </a:p>
        </p:txBody>
      </p:sp>
    </p:spTree>
    <p:extLst>
      <p:ext uri="{BB962C8B-B14F-4D97-AF65-F5344CB8AC3E}">
        <p14:creationId xmlns:p14="http://schemas.microsoft.com/office/powerpoint/2010/main" val="1340149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44D9B-CD24-B740-0644-DC1A9968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545088-61E3-0643-F239-3275C8622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Banco de dados que modele uma loja de música digital que registre os artistas e álbuns.</a:t>
            </a:r>
          </a:p>
          <a:p>
            <a:endParaRPr lang="pt-BR" dirty="0"/>
          </a:p>
          <a:p>
            <a:r>
              <a:rPr lang="pt-BR" dirty="0"/>
              <a:t>Informações que precisamos registrar:</a:t>
            </a:r>
          </a:p>
          <a:p>
            <a:pPr lvl="1"/>
            <a:r>
              <a:rPr lang="pt-BR" dirty="0"/>
              <a:t>Dados sobre os Artistas</a:t>
            </a:r>
          </a:p>
          <a:p>
            <a:pPr lvl="1"/>
            <a:r>
              <a:rPr lang="pt-BR" dirty="0"/>
              <a:t>Os Álbuns que os Artistas produziram</a:t>
            </a:r>
          </a:p>
        </p:txBody>
      </p:sp>
    </p:spTree>
    <p:extLst>
      <p:ext uri="{BB962C8B-B14F-4D97-AF65-F5344CB8AC3E}">
        <p14:creationId xmlns:p14="http://schemas.microsoft.com/office/powerpoint/2010/main" val="3249148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9789D-9C04-DFEE-6A04-E9277AB7A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575A34-356C-6216-5A75-EA1CDFF37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E644AF-110B-411B-6888-E6DEED92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55"/>
            <a:ext cx="12192000" cy="657508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AE93259-8C2F-7564-1D4C-63EF51B0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893" y="4278489"/>
            <a:ext cx="9056107" cy="239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21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E7FCB-3C7A-C874-413F-5FDB2EB9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4F49D-8A89-D81F-CCCB-51A3539F7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projetado, montado, e preenchido com dados para uma </a:t>
            </a:r>
            <a:r>
              <a:rPr lang="pt-BR" b="1" dirty="0">
                <a:solidFill>
                  <a:srgbClr val="FF0000"/>
                </a:solidFill>
              </a:rPr>
              <a:t>finalidade</a:t>
            </a:r>
            <a:r>
              <a:rPr lang="pt-BR" dirty="0"/>
              <a:t> específica. </a:t>
            </a:r>
          </a:p>
          <a:p>
            <a:pPr lvl="1"/>
            <a:r>
              <a:rPr lang="pt-BR" dirty="0"/>
              <a:t>Grupo intencionado de usuários e aplicações previamente concebidas</a:t>
            </a:r>
          </a:p>
          <a:p>
            <a:pPr lvl="2"/>
            <a:r>
              <a:rPr lang="pt-BR" dirty="0"/>
              <a:t>Usuários tem interesse nestas aplicações</a:t>
            </a:r>
          </a:p>
          <a:p>
            <a:endParaRPr lang="pt-BR" dirty="0"/>
          </a:p>
          <a:p>
            <a:r>
              <a:rPr lang="pt-BR" dirty="0"/>
              <a:t>Em resumo, um BD tem:</a:t>
            </a:r>
          </a:p>
          <a:p>
            <a:pPr lvl="1"/>
            <a:r>
              <a:rPr lang="pt-BR" dirty="0"/>
              <a:t>Uma fonte da qual os dados são derivados</a:t>
            </a:r>
          </a:p>
          <a:p>
            <a:pPr lvl="1"/>
            <a:r>
              <a:rPr lang="pt-BR" dirty="0"/>
              <a:t>Grau de interação com eventos do mundo real</a:t>
            </a:r>
          </a:p>
          <a:p>
            <a:pPr lvl="1"/>
            <a:r>
              <a:rPr lang="pt-BR" dirty="0"/>
              <a:t>Audiência ativamente interessada em seu conteúdo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2405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AF81D-E000-D1D8-2B36-75840803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2D18B9-0D53-3A22-F4DC-7BE530B76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 ter qualquer tamanho ou complexidade</a:t>
            </a:r>
          </a:p>
          <a:p>
            <a:pPr lvl="1"/>
            <a:r>
              <a:rPr lang="pt-BR" dirty="0"/>
              <a:t>Alguns MB a muitos TB</a:t>
            </a:r>
          </a:p>
          <a:p>
            <a:pPr lvl="1"/>
            <a:r>
              <a:rPr lang="pt-BR" dirty="0"/>
              <a:t>Armazenados em celular ou distribuídos em centenas de computadores</a:t>
            </a:r>
          </a:p>
          <a:p>
            <a:pPr lvl="1"/>
            <a:r>
              <a:rPr lang="pt-BR" dirty="0"/>
              <a:t>Gerado e mantido manualmente ou automatizado</a:t>
            </a:r>
          </a:p>
          <a:p>
            <a:pPr lvl="1"/>
            <a:r>
              <a:rPr lang="pt-BR" dirty="0"/>
              <a:t>Automatizado por programas específicos ou um </a:t>
            </a:r>
            <a:r>
              <a:rPr lang="pt-BR" b="1" dirty="0"/>
              <a:t>SGBD</a:t>
            </a:r>
          </a:p>
        </p:txBody>
      </p:sp>
    </p:spTree>
    <p:extLst>
      <p:ext uri="{BB962C8B-B14F-4D97-AF65-F5344CB8AC3E}">
        <p14:creationId xmlns:p14="http://schemas.microsoft.com/office/powerpoint/2010/main" val="637421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00440-BABB-0328-F8F3-9E993654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672C6D-B1F7-4607-8199-68E7953B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Separação do conceito x implementação</a:t>
            </a:r>
          </a:p>
          <a:p>
            <a:r>
              <a:rPr lang="pt-BR" dirty="0"/>
              <a:t>Remoção de detalhes da organização e armazenamento dos dados</a:t>
            </a:r>
          </a:p>
          <a:p>
            <a:r>
              <a:rPr lang="pt-BR" dirty="0"/>
              <a:t>Enfatiza as características essenciais para melhor compreensão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130EF8A-7BF3-6F17-063E-25E751423C08}"/>
              </a:ext>
            </a:extLst>
          </p:cNvPr>
          <p:cNvSpPr/>
          <p:nvPr/>
        </p:nvSpPr>
        <p:spPr>
          <a:xfrm>
            <a:off x="3578577" y="4289777"/>
            <a:ext cx="4538133" cy="15465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Programa não precisa conhecer a implementação interna dos dados</a:t>
            </a:r>
          </a:p>
        </p:txBody>
      </p:sp>
    </p:spTree>
    <p:extLst>
      <p:ext uri="{BB962C8B-B14F-4D97-AF65-F5344CB8AC3E}">
        <p14:creationId xmlns:p14="http://schemas.microsoft.com/office/powerpoint/2010/main" val="1174180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A5DDE-BAC2-5592-7AFA-0D54C526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A9A817-F677-E74F-2F90-B8D83E80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Modelo de dados</a:t>
            </a:r>
            <a:r>
              <a:rPr lang="pt-BR" dirty="0"/>
              <a:t>: Coleção de conceitos para descrever a estrutura dos dados em uma base</a:t>
            </a:r>
          </a:p>
          <a:p>
            <a:pPr lvl="1"/>
            <a:r>
              <a:rPr lang="pt-BR" dirty="0"/>
              <a:t>Regras que definem o tipo de coisas que podem existir e como se relacionam</a:t>
            </a:r>
          </a:p>
          <a:p>
            <a:pPr lvl="1"/>
            <a:r>
              <a:rPr lang="pt-BR" dirty="0"/>
              <a:t>Operações básicas para recuperar e atualizar a base de dados</a:t>
            </a:r>
          </a:p>
          <a:p>
            <a:pPr lvl="1"/>
            <a:endParaRPr lang="pt-BR" dirty="0"/>
          </a:p>
          <a:p>
            <a:r>
              <a:rPr lang="pt-BR" b="1" dirty="0"/>
              <a:t>Esquema</a:t>
            </a:r>
            <a:r>
              <a:rPr lang="pt-BR" dirty="0"/>
              <a:t> (</a:t>
            </a:r>
            <a:r>
              <a:rPr lang="pt-BR" i="1" dirty="0" err="1"/>
              <a:t>schema</a:t>
            </a:r>
            <a:r>
              <a:rPr lang="pt-BR" dirty="0"/>
              <a:t>): descrição de uma coleção de dados em particular, usando um modelo de dados</a:t>
            </a:r>
          </a:p>
          <a:p>
            <a:pPr lvl="1"/>
            <a:r>
              <a:rPr lang="pt-BR" dirty="0"/>
              <a:t>Define a estrutura da base de dados para um modelo de dados</a:t>
            </a:r>
          </a:p>
          <a:p>
            <a:pPr lvl="1"/>
            <a:r>
              <a:rPr lang="pt-BR" dirty="0"/>
              <a:t>Senão, teremos bits aleatórios sem significado</a:t>
            </a:r>
          </a:p>
        </p:txBody>
      </p:sp>
    </p:spTree>
    <p:extLst>
      <p:ext uri="{BB962C8B-B14F-4D97-AF65-F5344CB8AC3E}">
        <p14:creationId xmlns:p14="http://schemas.microsoft.com/office/powerpoint/2010/main" val="881983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B3F0E-91F0-DB27-ACEF-EF459C20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D15B3B-0BBB-5023-FAB5-4C562A817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Relacional</a:t>
            </a:r>
          </a:p>
          <a:p>
            <a:r>
              <a:rPr lang="pt-BR" dirty="0"/>
              <a:t>Chave/valor</a:t>
            </a:r>
          </a:p>
          <a:p>
            <a:r>
              <a:rPr lang="pt-BR" dirty="0"/>
              <a:t>Grafos</a:t>
            </a:r>
          </a:p>
          <a:p>
            <a:r>
              <a:rPr lang="pt-BR" dirty="0"/>
              <a:t>Documentos/JSON/XML/Objetos</a:t>
            </a:r>
          </a:p>
          <a:p>
            <a:r>
              <a:rPr lang="pt-BR" dirty="0"/>
              <a:t>Colunar </a:t>
            </a:r>
          </a:p>
          <a:p>
            <a:r>
              <a:rPr lang="pt-BR" dirty="0" err="1"/>
              <a:t>Array</a:t>
            </a:r>
            <a:r>
              <a:rPr lang="pt-BR" dirty="0"/>
              <a:t> (vetor, matriz, tensor)</a:t>
            </a:r>
          </a:p>
          <a:p>
            <a:r>
              <a:rPr lang="pt-BR" dirty="0"/>
              <a:t>Hierárquicos</a:t>
            </a:r>
          </a:p>
          <a:p>
            <a:r>
              <a:rPr lang="pt-BR" dirty="0"/>
              <a:t>Redes</a:t>
            </a:r>
          </a:p>
          <a:p>
            <a:r>
              <a:rPr lang="pt-BR" dirty="0"/>
              <a:t>Semânticos </a:t>
            </a:r>
          </a:p>
          <a:p>
            <a:r>
              <a:rPr lang="pt-BR" dirty="0"/>
              <a:t>Entidade-Relacionamento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0CCE61-06A9-F0B3-F70F-1E0686961089}"/>
              </a:ext>
            </a:extLst>
          </p:cNvPr>
          <p:cNvSpPr/>
          <p:nvPr/>
        </p:nvSpPr>
        <p:spPr>
          <a:xfrm>
            <a:off x="756356" y="1690688"/>
            <a:ext cx="2215444" cy="5192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C6D4B90-DCE7-AAB3-1004-6AC700848BFB}"/>
              </a:ext>
            </a:extLst>
          </p:cNvPr>
          <p:cNvCxnSpPr/>
          <p:nvPr/>
        </p:nvCxnSpPr>
        <p:spPr>
          <a:xfrm>
            <a:off x="3567289" y="1950332"/>
            <a:ext cx="914400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9417B6-275E-FF10-D1BB-3EA01A5AAC73}"/>
              </a:ext>
            </a:extLst>
          </p:cNvPr>
          <p:cNvSpPr txBox="1"/>
          <p:nvPr/>
        </p:nvSpPr>
        <p:spPr>
          <a:xfrm>
            <a:off x="5077178" y="1765666"/>
            <a:ext cx="25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Maioria dos </a:t>
            </a:r>
            <a:r>
              <a:rPr lang="pt-BR" sz="2400" dirty="0" err="1">
                <a:solidFill>
                  <a:srgbClr val="FF0000"/>
                </a:solidFill>
              </a:rPr>
              <a:t>SGBDs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54826B-C57D-9C44-9286-CDAA85EB226D}"/>
              </a:ext>
            </a:extLst>
          </p:cNvPr>
          <p:cNvSpPr/>
          <p:nvPr/>
        </p:nvSpPr>
        <p:spPr>
          <a:xfrm>
            <a:off x="756356" y="2195513"/>
            <a:ext cx="2215444" cy="4017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7688A40-9F60-5598-1B9E-357FE746D5F7}"/>
              </a:ext>
            </a:extLst>
          </p:cNvPr>
          <p:cNvCxnSpPr/>
          <p:nvPr/>
        </p:nvCxnSpPr>
        <p:spPr>
          <a:xfrm>
            <a:off x="3567289" y="2441399"/>
            <a:ext cx="914400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6960D3-52EC-F558-3436-84C2D5335037}"/>
              </a:ext>
            </a:extLst>
          </p:cNvPr>
          <p:cNvSpPr txBox="1"/>
          <p:nvPr/>
        </p:nvSpPr>
        <p:spPr>
          <a:xfrm>
            <a:off x="5134910" y="2202529"/>
            <a:ext cx="3714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Aplicações simples / </a:t>
            </a:r>
            <a:r>
              <a:rPr lang="pt-BR" sz="2400" dirty="0" err="1">
                <a:solidFill>
                  <a:srgbClr val="FF0000"/>
                </a:solidFill>
              </a:rPr>
              <a:t>caching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E43FBB-1A0B-2AEE-FBF7-6A8428FDE3E3}"/>
              </a:ext>
            </a:extLst>
          </p:cNvPr>
          <p:cNvSpPr/>
          <p:nvPr/>
        </p:nvSpPr>
        <p:spPr>
          <a:xfrm>
            <a:off x="756356" y="2597220"/>
            <a:ext cx="4955822" cy="12184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7DF5290-ECE4-4849-5AB9-309B114E6C14}"/>
              </a:ext>
            </a:extLst>
          </p:cNvPr>
          <p:cNvCxnSpPr/>
          <p:nvPr/>
        </p:nvCxnSpPr>
        <p:spPr>
          <a:xfrm>
            <a:off x="5853289" y="3237266"/>
            <a:ext cx="914400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AC0FAC-2032-14F3-474A-02669C716CD8}"/>
              </a:ext>
            </a:extLst>
          </p:cNvPr>
          <p:cNvSpPr txBox="1"/>
          <p:nvPr/>
        </p:nvSpPr>
        <p:spPr>
          <a:xfrm>
            <a:off x="6849533" y="296733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>
                <a:solidFill>
                  <a:srgbClr val="FF0000"/>
                </a:solidFill>
              </a:rPr>
              <a:t>NoSQL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A365D8F-9A09-90F1-9E16-EDB085E98FD4}"/>
              </a:ext>
            </a:extLst>
          </p:cNvPr>
          <p:cNvSpPr/>
          <p:nvPr/>
        </p:nvSpPr>
        <p:spPr>
          <a:xfrm>
            <a:off x="756356" y="3811371"/>
            <a:ext cx="4955822" cy="4059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B0BE1F8-4C92-CC2C-E75D-32CA37E4DC53}"/>
              </a:ext>
            </a:extLst>
          </p:cNvPr>
          <p:cNvCxnSpPr/>
          <p:nvPr/>
        </p:nvCxnSpPr>
        <p:spPr>
          <a:xfrm>
            <a:off x="5853289" y="4033133"/>
            <a:ext cx="914400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AF1F55-9C8F-DAC5-DCE4-8F3609B1DD7E}"/>
              </a:ext>
            </a:extLst>
          </p:cNvPr>
          <p:cNvSpPr txBox="1"/>
          <p:nvPr/>
        </p:nvSpPr>
        <p:spPr>
          <a:xfrm>
            <a:off x="6849532" y="3815634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ML / ciência de dados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38A840E-D747-DBEB-16A7-0FA0D2335B52}"/>
              </a:ext>
            </a:extLst>
          </p:cNvPr>
          <p:cNvSpPr/>
          <p:nvPr/>
        </p:nvSpPr>
        <p:spPr>
          <a:xfrm>
            <a:off x="756356" y="4226394"/>
            <a:ext cx="4955822" cy="17115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63AE3F4-9600-2B0D-5F2E-002F5A7A7809}"/>
              </a:ext>
            </a:extLst>
          </p:cNvPr>
          <p:cNvCxnSpPr/>
          <p:nvPr/>
        </p:nvCxnSpPr>
        <p:spPr>
          <a:xfrm>
            <a:off x="5853289" y="5077355"/>
            <a:ext cx="914400" cy="0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F0DB583-DE80-8349-596A-BCEB2F3B82E8}"/>
              </a:ext>
            </a:extLst>
          </p:cNvPr>
          <p:cNvSpPr txBox="1"/>
          <p:nvPr/>
        </p:nvSpPr>
        <p:spPr>
          <a:xfrm>
            <a:off x="6849532" y="4859856"/>
            <a:ext cx="3192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Legado / raro / obsoleto</a:t>
            </a:r>
          </a:p>
        </p:txBody>
      </p:sp>
    </p:spTree>
    <p:extLst>
      <p:ext uri="{BB962C8B-B14F-4D97-AF65-F5344CB8AC3E}">
        <p14:creationId xmlns:p14="http://schemas.microsoft.com/office/powerpoint/2010/main" val="222042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10" grpId="0"/>
      <p:bldP spid="11" grpId="0" animBg="1"/>
      <p:bldP spid="13" grpId="0"/>
      <p:bldP spid="14" grpId="0" animBg="1"/>
      <p:bldP spid="16" grpId="0"/>
      <p:bldP spid="17" grpId="0" animBg="1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62922-F800-6A76-9FDD-ED0F8C57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relacionais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B33F4-3F0B-3E0E-83D7-25FA19F3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Basicamente, números e textos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FDEB32-912C-2CDA-784C-09EADCEBF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117" y="2541050"/>
            <a:ext cx="5302104" cy="34316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8FAAFE6-D511-F33C-B239-17EE7D4F8025}"/>
              </a:ext>
            </a:extLst>
          </p:cNvPr>
          <p:cNvSpPr txBox="1"/>
          <p:nvPr/>
        </p:nvSpPr>
        <p:spPr>
          <a:xfrm>
            <a:off x="4966043" y="6318841"/>
            <a:ext cx="2259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Mattoso e </a:t>
            </a:r>
            <a:r>
              <a:rPr lang="pt-BR" dirty="0" err="1"/>
              <a:t>Braganholo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7427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84BDA-7EDC-0CD6-1DE7-5110C5F5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Chave-Valor</a:t>
            </a:r>
          </a:p>
        </p:txBody>
      </p:sp>
      <p:pic>
        <p:nvPicPr>
          <p:cNvPr id="3074" name="Picture 2" descr="A Guide to Key-Value Databases | InfluxData">
            <a:extLst>
              <a:ext uri="{FF2B5EF4-FFF2-40B4-BE49-F238E27FC236}">
                <a16:creationId xmlns:a16="http://schemas.microsoft.com/office/drawing/2014/main" id="{B9256F92-34CD-7D45-7F5C-855CB9955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93" y="2239543"/>
            <a:ext cx="619125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A5D33328-0ABC-852C-7333-0499F123CE50}"/>
              </a:ext>
            </a:extLst>
          </p:cNvPr>
          <p:cNvGrpSpPr/>
          <p:nvPr/>
        </p:nvGrpSpPr>
        <p:grpSpPr>
          <a:xfrm>
            <a:off x="6605343" y="1634163"/>
            <a:ext cx="4748457" cy="4976808"/>
            <a:chOff x="7857637" y="2038870"/>
            <a:chExt cx="3496163" cy="392484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B7E682E-7E49-E1DF-E8F2-B66D5ECAF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7637" y="2038870"/>
              <a:ext cx="3496163" cy="392484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1318BE4-FE2A-1BFB-9BEB-1AD450E6D5A7}"/>
                </a:ext>
              </a:extLst>
            </p:cNvPr>
            <p:cNvSpPr/>
            <p:nvPr/>
          </p:nvSpPr>
          <p:spPr>
            <a:xfrm>
              <a:off x="7857637" y="2231255"/>
              <a:ext cx="552660" cy="603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7927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2FD45-08A8-2653-30EC-DACB0F92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BD de documentos</a:t>
            </a:r>
          </a:p>
        </p:txBody>
      </p:sp>
      <p:pic>
        <p:nvPicPr>
          <p:cNvPr id="6146" name="Picture 2" descr="What Is a Document Database? - Document DBs and Stores Explained - AWS">
            <a:extLst>
              <a:ext uri="{FF2B5EF4-FFF2-40B4-BE49-F238E27FC236}">
                <a16:creationId xmlns:a16="http://schemas.microsoft.com/office/drawing/2014/main" id="{19C66BF8-DDAE-CB2F-822F-0876BAE47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311"/>
            <a:ext cx="7246374" cy="383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F4843CF-66C2-0DF3-AD32-0F8FF99CAC34}"/>
              </a:ext>
            </a:extLst>
          </p:cNvPr>
          <p:cNvSpPr txBox="1"/>
          <p:nvPr/>
        </p:nvSpPr>
        <p:spPr>
          <a:xfrm>
            <a:off x="707922" y="6176962"/>
            <a:ext cx="107761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https://d1.awsstatic.com/AWS%20Databases/JSON%20document%20database.64fe2a382abc8ca2b8743f0e3b5af553a33f3fb0.png</a:t>
            </a:r>
            <a:r>
              <a:rPr lang="pt-BR" sz="1400" dirty="0"/>
              <a:t> </a:t>
            </a:r>
          </a:p>
        </p:txBody>
      </p:sp>
      <p:pic>
        <p:nvPicPr>
          <p:cNvPr id="6148" name="Picture 4" descr="Document Database - Data Engineering Wiki">
            <a:extLst>
              <a:ext uri="{FF2B5EF4-FFF2-40B4-BE49-F238E27FC236}">
                <a16:creationId xmlns:a16="http://schemas.microsoft.com/office/drawing/2014/main" id="{B2960163-CBC2-A9E0-5EAA-DFBE3AAE8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241" y="2089286"/>
            <a:ext cx="30861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7F5ED09-FAA7-9248-0DFD-F28699E1BE6F}"/>
              </a:ext>
            </a:extLst>
          </p:cNvPr>
          <p:cNvSpPr txBox="1"/>
          <p:nvPr/>
        </p:nvSpPr>
        <p:spPr>
          <a:xfrm>
            <a:off x="2289686" y="6479076"/>
            <a:ext cx="8083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https://publish-01.obsidian.md/access/e5408ef24c9251b993f742b19645ad44/Assets/document_database_example.png</a:t>
            </a:r>
          </a:p>
        </p:txBody>
      </p:sp>
    </p:spTree>
    <p:extLst>
      <p:ext uri="{BB962C8B-B14F-4D97-AF65-F5344CB8AC3E}">
        <p14:creationId xmlns:p14="http://schemas.microsoft.com/office/powerpoint/2010/main" val="3697410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23476-0F4B-0123-1D73-4F5EE1CE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orientados a grafos</a:t>
            </a:r>
          </a:p>
        </p:txBody>
      </p:sp>
      <p:pic>
        <p:nvPicPr>
          <p:cNvPr id="5122" name="Picture 2" descr="Graph databases, Why are they important | by Benny Ogidan | The Andela Way  | Medium">
            <a:extLst>
              <a:ext uri="{FF2B5EF4-FFF2-40B4-BE49-F238E27FC236}">
                <a16:creationId xmlns:a16="http://schemas.microsoft.com/office/drawing/2014/main" id="{92879CA2-C974-F1D9-C7C6-03DF4FDC3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471" y="2255121"/>
            <a:ext cx="6368691" cy="377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A5153D0-C9F4-7CAE-5E6F-16D35A71C454}"/>
              </a:ext>
            </a:extLst>
          </p:cNvPr>
          <p:cNvSpPr txBox="1"/>
          <p:nvPr/>
        </p:nvSpPr>
        <p:spPr>
          <a:xfrm>
            <a:off x="3244647" y="6298682"/>
            <a:ext cx="5948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https://miro.medium.com/v2/resize:fit:1400/1*C-wxpmuzTOTXRJ9QlaCx5g.png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87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6D924-6293-B8F0-C685-8EF4D6C9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vetoriais</a:t>
            </a:r>
          </a:p>
        </p:txBody>
      </p:sp>
      <p:pic>
        <p:nvPicPr>
          <p:cNvPr id="2050" name="Picture 2" descr="A Complete Guide to Creating and Storing Vector Embeddings!">
            <a:extLst>
              <a:ext uri="{FF2B5EF4-FFF2-40B4-BE49-F238E27FC236}">
                <a16:creationId xmlns:a16="http://schemas.microsoft.com/office/drawing/2014/main" id="{57845E28-D97A-DEA4-D7AE-8592FA2A8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92" y="1690688"/>
            <a:ext cx="5676514" cy="319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85B995-707B-2D76-EBE3-C3FCA3D77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886" y="2977490"/>
            <a:ext cx="6234114" cy="388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7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B2320-0A1A-DE97-3F18-6BFD4F39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BD de tempo real</a:t>
            </a:r>
          </a:p>
        </p:txBody>
      </p:sp>
      <p:pic>
        <p:nvPicPr>
          <p:cNvPr id="3074" name="Picture 2" descr="The Rise of the Event Streaming Database - The New Stack">
            <a:extLst>
              <a:ext uri="{FF2B5EF4-FFF2-40B4-BE49-F238E27FC236}">
                <a16:creationId xmlns:a16="http://schemas.microsoft.com/office/drawing/2014/main" id="{E0525471-5CCF-D1E4-9B63-FF07CA4C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5" y="2236993"/>
            <a:ext cx="97536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209B2A4-C016-C852-3C0C-B6D2B4A317C5}"/>
              </a:ext>
            </a:extLst>
          </p:cNvPr>
          <p:cNvSpPr txBox="1"/>
          <p:nvPr/>
        </p:nvSpPr>
        <p:spPr>
          <a:xfrm>
            <a:off x="2930014" y="631190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https://cdn.thenewstack.io/media/2020/11/31e8d21b-image1-1024x401.png</a:t>
            </a:r>
          </a:p>
        </p:txBody>
      </p:sp>
    </p:spTree>
    <p:extLst>
      <p:ext uri="{BB962C8B-B14F-4D97-AF65-F5344CB8AC3E}">
        <p14:creationId xmlns:p14="http://schemas.microsoft.com/office/powerpoint/2010/main" val="2565169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CBE7B-C700-F807-79C7-DAD2052E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espaciais/geográficos</a:t>
            </a:r>
          </a:p>
        </p:txBody>
      </p:sp>
      <p:pic>
        <p:nvPicPr>
          <p:cNvPr id="4098" name="Picture 2" descr="Part of a conceptual geographic database schema | Download Scientific  Diagram">
            <a:extLst>
              <a:ext uri="{FF2B5EF4-FFF2-40B4-BE49-F238E27FC236}">
                <a16:creationId xmlns:a16="http://schemas.microsoft.com/office/drawing/2014/main" id="{E7DCE47A-FE86-995C-C4AD-580B88E72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9231"/>
            <a:ext cx="4772025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hat is a Geospatial Database? | Oracle Brasil">
            <a:extLst>
              <a:ext uri="{FF2B5EF4-FFF2-40B4-BE49-F238E27FC236}">
                <a16:creationId xmlns:a16="http://schemas.microsoft.com/office/drawing/2014/main" id="{D7A1D373-669D-6F0D-A9ED-B051D90C2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002" y="2337031"/>
            <a:ext cx="7498998" cy="380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3828E71-258E-9753-EDB0-47594B505650}"/>
              </a:ext>
            </a:extLst>
          </p:cNvPr>
          <p:cNvSpPr txBox="1"/>
          <p:nvPr/>
        </p:nvSpPr>
        <p:spPr>
          <a:xfrm>
            <a:off x="2635044" y="6215876"/>
            <a:ext cx="76003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https://www.oracle.com/a/ocom/img/rc24-what-is-geospatial-database-fig-1.png</a:t>
            </a:r>
          </a:p>
        </p:txBody>
      </p:sp>
    </p:spTree>
    <p:extLst>
      <p:ext uri="{BB962C8B-B14F-4D97-AF65-F5344CB8AC3E}">
        <p14:creationId xmlns:p14="http://schemas.microsoft.com/office/powerpoint/2010/main" val="1127979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DBDE9DDB-117E-64F9-351D-EDA1AFD0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271" y="1647449"/>
            <a:ext cx="3858163" cy="49536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040C84-A3DB-D5AB-D0B3-5391FA90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FE0B3D-53BB-C7CC-A559-D343939B2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86689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Nos anos 60, </a:t>
            </a:r>
            <a:r>
              <a:rPr lang="pt-BR" dirty="0" err="1"/>
              <a:t>SGBDs</a:t>
            </a:r>
            <a:r>
              <a:rPr lang="pt-BR" dirty="0"/>
              <a:t> exigiam que os desenvolvedores escrevessem as consultas usando código procedural</a:t>
            </a:r>
          </a:p>
          <a:p>
            <a:pPr lvl="1"/>
            <a:r>
              <a:rPr lang="pt-BR" dirty="0"/>
              <a:t>Exemplos: IDS, IMS, CODASYL</a:t>
            </a:r>
          </a:p>
          <a:p>
            <a:endParaRPr lang="pt-BR" dirty="0"/>
          </a:p>
          <a:p>
            <a:r>
              <a:rPr lang="pt-BR" dirty="0"/>
              <a:t>O programador tinha que escolher caminhos de acesso e ordenação da execução baseado nos conteúdos atuais da base</a:t>
            </a:r>
          </a:p>
          <a:p>
            <a:pPr lvl="1"/>
            <a:r>
              <a:rPr lang="pt-BR" dirty="0"/>
              <a:t>Se os dados mudassem, o programador devia reescrever o código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780B4C-90B0-A943-C582-B90862FC4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58" y="2085660"/>
            <a:ext cx="4420217" cy="451548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755C064-28B7-166C-0801-148E2010D7E7}"/>
              </a:ext>
            </a:extLst>
          </p:cNvPr>
          <p:cNvSpPr txBox="1"/>
          <p:nvPr/>
        </p:nvSpPr>
        <p:spPr>
          <a:xfrm>
            <a:off x="7374157" y="1518842"/>
            <a:ext cx="4569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Recupere os nomes de Artistas que aparecem no álbum “DJ </a:t>
            </a:r>
            <a:r>
              <a:rPr lang="pt-BR" b="1" dirty="0" err="1">
                <a:solidFill>
                  <a:srgbClr val="FF0000"/>
                </a:solidFill>
              </a:rPr>
              <a:t>Mooshoo</a:t>
            </a:r>
            <a:r>
              <a:rPr lang="pt-BR" b="1" dirty="0">
                <a:solidFill>
                  <a:srgbClr val="FF0000"/>
                </a:solidFill>
              </a:rPr>
              <a:t> Tribute”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6355F7A-2041-01D2-B9C4-82E8ED4EF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157" y="2844405"/>
            <a:ext cx="442974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2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450CF-7E5C-41A3-A1FD-7817E8CA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e instâncias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075E0-8DD8-F122-0CCA-60E49C19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Distinção entre </a:t>
            </a:r>
            <a:r>
              <a:rPr lang="pt-BR" b="1" i="1" dirty="0"/>
              <a:t>descrição </a:t>
            </a:r>
            <a:r>
              <a:rPr lang="pt-BR" dirty="0"/>
              <a:t>da base de dados e dos </a:t>
            </a:r>
            <a:r>
              <a:rPr lang="pt-BR" b="1" i="1" dirty="0"/>
              <a:t>dados </a:t>
            </a:r>
            <a:r>
              <a:rPr lang="pt-BR" dirty="0"/>
              <a:t>em si</a:t>
            </a:r>
          </a:p>
          <a:p>
            <a:pPr>
              <a:spcBef>
                <a:spcPts val="2400"/>
              </a:spcBef>
            </a:pPr>
            <a:r>
              <a:rPr lang="pt-BR" b="1" i="1" dirty="0"/>
              <a:t>Schema</a:t>
            </a:r>
            <a:r>
              <a:rPr lang="pt-BR" dirty="0"/>
              <a:t>: descrição da base de dados, feita durante a modelagem e que não deve mudar frequentemente</a:t>
            </a:r>
          </a:p>
          <a:p>
            <a:pPr>
              <a:spcBef>
                <a:spcPts val="2400"/>
              </a:spcBef>
            </a:pPr>
            <a:r>
              <a:rPr lang="pt-BR" b="1" dirty="0"/>
              <a:t>Instâncias</a:t>
            </a:r>
            <a:r>
              <a:rPr lang="pt-BR" dirty="0"/>
              <a:t>: registros armazenados no banco de dados em um determinado momento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Metadados</a:t>
            </a:r>
            <a:r>
              <a:rPr lang="pt-BR" dirty="0"/>
              <a:t>: descrição dos </a:t>
            </a:r>
            <a:r>
              <a:rPr lang="pt-BR" dirty="0" err="1"/>
              <a:t>schemas</a:t>
            </a:r>
            <a:r>
              <a:rPr lang="pt-BR" dirty="0"/>
              <a:t> e suas restrições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4227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C73C1-F01A-069F-683B-CB2C53F8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Esquemas e instâncias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68B79DA-1035-6651-2F8F-AE6EB7605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830859"/>
              </p:ext>
            </p:extLst>
          </p:nvPr>
        </p:nvGraphicFramePr>
        <p:xfrm>
          <a:off x="838200" y="1690157"/>
          <a:ext cx="10515600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189931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0276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Instâncias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Representa visualmente uma base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Dados armazenados em uma base em determinado momento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136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Descrição formal da estrutura da base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Conjunto de informações armazenadas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96140"/>
                  </a:ext>
                </a:extLst>
              </a:tr>
              <a:tr h="235726">
                <a:tc>
                  <a:txBody>
                    <a:bodyPr/>
                    <a:lstStyle/>
                    <a:p>
                      <a:r>
                        <a:rPr lang="pt-BR" dirty="0"/>
                        <a:t>Não muda frequentemente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Muda com frequência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918616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A8B2956E-56B3-8BAD-3E91-BBC102E48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67" y="3500466"/>
            <a:ext cx="5418666" cy="321812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0180135-BF73-8115-72DD-01E1EADBCDBA}"/>
              </a:ext>
            </a:extLst>
          </p:cNvPr>
          <p:cNvSpPr txBox="1"/>
          <p:nvPr/>
        </p:nvSpPr>
        <p:spPr>
          <a:xfrm>
            <a:off x="3386667" y="6581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4"/>
              </a:rPr>
              <a:t>https://www.naukri.com/code360/library/difference-between-schema-and-instance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2341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40FD-CC4F-8C08-5252-B0854E8D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Independência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38E0FC-F01A-C6D9-B0EC-8BD9718CB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25156" cy="4351338"/>
          </a:xfrm>
        </p:spPr>
        <p:txBody>
          <a:bodyPr/>
          <a:lstStyle/>
          <a:p>
            <a:r>
              <a:rPr lang="pt-BR" dirty="0"/>
              <a:t>Arquitetura de 3 esquemas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Interno</a:t>
            </a:r>
            <a:r>
              <a:rPr lang="pt-BR" dirty="0"/>
              <a:t>: dados físicos (detalhes de armazenamento, compressão caminhos dos arquivos...)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Conceitual</a:t>
            </a:r>
            <a:r>
              <a:rPr lang="pt-BR" dirty="0"/>
              <a:t>: estrutura dos dados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Externo</a:t>
            </a:r>
            <a:r>
              <a:rPr lang="pt-BR" dirty="0"/>
              <a:t>: parte do BD de interesse para usuário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1E0ABF-8133-FE82-A437-65D867DE0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782482" cy="445832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2780C7B-EC5E-78CA-FEC5-8751FA1BFA08}"/>
              </a:ext>
            </a:extLst>
          </p:cNvPr>
          <p:cNvSpPr/>
          <p:nvPr/>
        </p:nvSpPr>
        <p:spPr>
          <a:xfrm>
            <a:off x="406400" y="5312304"/>
            <a:ext cx="5870222" cy="13255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Mudanças em um nível não afetam os outros níveis</a:t>
            </a:r>
            <a:r>
              <a:rPr lang="pt-BR" sz="2800" dirty="0"/>
              <a:t>, embora seja necessário mapeamento entre eles</a:t>
            </a:r>
          </a:p>
        </p:txBody>
      </p:sp>
    </p:spTree>
    <p:extLst>
      <p:ext uri="{BB962C8B-B14F-4D97-AF65-F5344CB8AC3E}">
        <p14:creationId xmlns:p14="http://schemas.microsoft.com/office/powerpoint/2010/main" val="1998464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AE06C-F556-93E7-8249-DEF123BC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B53EC-F0DD-282A-D0AD-960474F8D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Armazenar nossos dados como arquivos CSV que gerenciamos no código de nossa aplicação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E495522-34E3-72B0-4574-290D368A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64" y="3144845"/>
            <a:ext cx="10602805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32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98263-F3B5-31AE-6F3B-962BD8EB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40C1C6-8115-6C23-F606-01C39704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Recupere o ano em que GZA lançou álbum solo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018B59-2E63-57F1-3FB9-9BA5C394B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3122456"/>
            <a:ext cx="10498015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84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BCD24-06A3-73FF-4504-415302CE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25E29-327F-BF7C-558F-84802F71E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Problemas?</a:t>
            </a:r>
          </a:p>
        </p:txBody>
      </p:sp>
    </p:spTree>
    <p:extLst>
      <p:ext uri="{BB962C8B-B14F-4D97-AF65-F5344CB8AC3E}">
        <p14:creationId xmlns:p14="http://schemas.microsoft.com/office/powerpoint/2010/main" val="2128422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C2CD-0A29-DD13-F60C-311E9D7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Integridade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2F6FF-BC28-F696-6E34-78847D60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assegurar que o nome do artista está consistente para todos os registros?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“Wu-Tang </a:t>
            </a:r>
            <a:r>
              <a:rPr lang="pt-BR" dirty="0" err="1"/>
              <a:t>Clan</a:t>
            </a:r>
            <a:r>
              <a:rPr lang="pt-BR" dirty="0"/>
              <a:t>” e “Wu Tang </a:t>
            </a:r>
            <a:r>
              <a:rPr lang="pt-BR" dirty="0" err="1"/>
              <a:t>Clan</a:t>
            </a:r>
            <a:r>
              <a:rPr lang="pt-BR" dirty="0"/>
              <a:t>”</a:t>
            </a:r>
          </a:p>
          <a:p>
            <a:pPr lvl="1"/>
            <a:endParaRPr lang="pt-BR" dirty="0"/>
          </a:p>
          <a:p>
            <a:r>
              <a:rPr lang="pt-BR" dirty="0"/>
              <a:t>E se alguém sobrescrever o ano de lançamento com uma </a:t>
            </a:r>
            <a:r>
              <a:rPr lang="pt-BR" dirty="0" err="1"/>
              <a:t>string</a:t>
            </a:r>
            <a:r>
              <a:rPr lang="pt-BR" dirty="0"/>
              <a:t>?</a:t>
            </a:r>
          </a:p>
          <a:p>
            <a:endParaRPr lang="pt-BR" dirty="0"/>
          </a:p>
          <a:p>
            <a:r>
              <a:rPr lang="pt-BR" dirty="0"/>
              <a:t>E se houver múltiplos artistas em um mesmo álbum?</a:t>
            </a:r>
          </a:p>
          <a:p>
            <a:endParaRPr lang="pt-BR" dirty="0"/>
          </a:p>
          <a:p>
            <a:r>
              <a:rPr lang="pt-BR" dirty="0"/>
              <a:t>O que ocorre se apagarmos um artista que tem álbuns cadastrados?</a:t>
            </a:r>
          </a:p>
        </p:txBody>
      </p:sp>
    </p:spTree>
    <p:extLst>
      <p:ext uri="{BB962C8B-B14F-4D97-AF65-F5344CB8AC3E}">
        <p14:creationId xmlns:p14="http://schemas.microsoft.com/office/powerpoint/2010/main" val="3123461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6C00C-E236-6917-90E0-510CED7F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337C0A-B009-D475-0B72-7405B81A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encontrar um registro em particular?</a:t>
            </a:r>
          </a:p>
          <a:p>
            <a:endParaRPr lang="pt-BR" dirty="0"/>
          </a:p>
          <a:p>
            <a:r>
              <a:rPr lang="pt-BR" dirty="0"/>
              <a:t>E se quisermos criar uma nova aplicação que usa os mesmos dados? E se ela rodar em outra máquina?</a:t>
            </a:r>
          </a:p>
          <a:p>
            <a:endParaRPr lang="pt-BR" dirty="0"/>
          </a:p>
          <a:p>
            <a:r>
              <a:rPr lang="pt-BR" dirty="0"/>
              <a:t>E se dois processos tentarem escrever dados no mesmo arquivo </a:t>
            </a:r>
            <a:r>
              <a:rPr lang="pt-BR"/>
              <a:t>ao mesmo tempo?</a:t>
            </a:r>
          </a:p>
        </p:txBody>
      </p:sp>
    </p:spTree>
    <p:extLst>
      <p:ext uri="{BB962C8B-B14F-4D97-AF65-F5344CB8AC3E}">
        <p14:creationId xmlns:p14="http://schemas.microsoft.com/office/powerpoint/2010/main" val="35407467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9E476-743C-FA79-4D12-8481C080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Durabilidade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2DC565-970A-DF7E-8A31-B844083B5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o computador travar enquanto o programa está atualizando os dados?</a:t>
            </a:r>
          </a:p>
          <a:p>
            <a:endParaRPr lang="pt-BR" dirty="0"/>
          </a:p>
          <a:p>
            <a:r>
              <a:rPr lang="pt-BR" dirty="0"/>
              <a:t>E se quisermos replicar os dados para muitas máquinas para maior disponibilidade?</a:t>
            </a:r>
          </a:p>
        </p:txBody>
      </p:sp>
    </p:spTree>
    <p:extLst>
      <p:ext uri="{BB962C8B-B14F-4D97-AF65-F5344CB8AC3E}">
        <p14:creationId xmlns:p14="http://schemas.microsoft.com/office/powerpoint/2010/main" val="5386436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DC9AB-C961-7FD6-5CEC-46235FC8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SGBD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F70158-9C56-7546-C72D-BD6F9DC88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2698"/>
            <a:ext cx="10671506" cy="311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544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6729E-BA07-618C-1043-4E03AD14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D8D7A3-24AA-6EA2-7430-05AEF82AC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Gerenciador de Banco de Dados (SGBD) </a:t>
            </a:r>
            <a:r>
              <a:rPr lang="pt-BR" b="1" dirty="0"/>
              <a:t>é um software </a:t>
            </a:r>
            <a:r>
              <a:rPr lang="pt-BR" dirty="0"/>
              <a:t>que permite que aplicações armazenem, analisem e administrem informações em uma base de dados</a:t>
            </a:r>
          </a:p>
          <a:p>
            <a:endParaRPr lang="pt-BR" dirty="0"/>
          </a:p>
          <a:p>
            <a:r>
              <a:rPr lang="pt-BR" dirty="0"/>
              <a:t>Suporta a definição, criação, consulta, atualização e administração de bases de dados de acordo com algum modelo de dados</a:t>
            </a:r>
          </a:p>
        </p:txBody>
      </p:sp>
    </p:spTree>
    <p:extLst>
      <p:ext uri="{BB962C8B-B14F-4D97-AF65-F5344CB8AC3E}">
        <p14:creationId xmlns:p14="http://schemas.microsoft.com/office/powerpoint/2010/main" val="85684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68834-8C06-5932-C388-A2D633DD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808B6B-E156-07EF-6327-BB537409D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Sistema computacional que permite a criação e manutenção de um banco de dados</a:t>
            </a:r>
          </a:p>
          <a:p>
            <a:endParaRPr lang="pt-BR" dirty="0"/>
          </a:p>
          <a:p>
            <a:r>
              <a:rPr lang="pt-BR" dirty="0"/>
              <a:t>Sistema de software de uso geral, facilita:</a:t>
            </a:r>
          </a:p>
          <a:p>
            <a:pPr lvl="1"/>
            <a:r>
              <a:rPr lang="pt-BR" dirty="0"/>
              <a:t>Definição</a:t>
            </a:r>
          </a:p>
          <a:p>
            <a:pPr lvl="1"/>
            <a:r>
              <a:rPr lang="pt-BR" dirty="0"/>
              <a:t>Construção</a:t>
            </a:r>
          </a:p>
          <a:p>
            <a:pPr lvl="1"/>
            <a:r>
              <a:rPr lang="pt-BR" dirty="0"/>
              <a:t>Manipulação</a:t>
            </a:r>
          </a:p>
          <a:p>
            <a:pPr lvl="1"/>
            <a:r>
              <a:rPr lang="pt-BR" dirty="0"/>
              <a:t>Compartilhamento</a:t>
            </a:r>
          </a:p>
          <a:p>
            <a:pPr lvl="1"/>
            <a:endParaRPr lang="pt-BR" dirty="0"/>
          </a:p>
          <a:p>
            <a:r>
              <a:rPr lang="pt-BR" dirty="0"/>
              <a:t>De bancos de dados entre diversos usuários e aplicações</a:t>
            </a:r>
          </a:p>
        </p:txBody>
      </p:sp>
    </p:spTree>
    <p:extLst>
      <p:ext uri="{BB962C8B-B14F-4D97-AF65-F5344CB8AC3E}">
        <p14:creationId xmlns:p14="http://schemas.microsoft.com/office/powerpoint/2010/main" val="3926363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C9303-528F-B125-9703-786B3BC2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3F48D3-AC29-5F90-BB2C-6E901D156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existir um banco de dados (coleção organizada de dados estruturados) sem um SGBD</a:t>
            </a:r>
          </a:p>
          <a:p>
            <a:pPr lvl="1"/>
            <a:r>
              <a:rPr lang="pt-BR" dirty="0"/>
              <a:t>Não terá eficiência, segurança, escalabilidade de um sistema digital moderno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DAE88B-8B6F-845A-D478-C710142A11EE}"/>
              </a:ext>
            </a:extLst>
          </p:cNvPr>
          <p:cNvSpPr/>
          <p:nvPr/>
        </p:nvSpPr>
        <p:spPr>
          <a:xfrm>
            <a:off x="3465689" y="3793066"/>
            <a:ext cx="4876800" cy="15465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/>
              <a:t>SISTEMA DE BANCO DE DADOS = BD + SGBD</a:t>
            </a:r>
          </a:p>
        </p:txBody>
      </p:sp>
    </p:spTree>
    <p:extLst>
      <p:ext uri="{BB962C8B-B14F-4D97-AF65-F5344CB8AC3E}">
        <p14:creationId xmlns:p14="http://schemas.microsoft.com/office/powerpoint/2010/main" val="446457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775B0-C78E-C9A6-2D99-F5D78BE8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SBD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D4F00C-834F-5AA7-6CD2-94DA3BEC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Diagrama simplificado de um SGBD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sz="2400" i="1" dirty="0"/>
              <a:t>Fonte: (ELMASRI, NAVATHE, 2019).</a:t>
            </a:r>
          </a:p>
          <a:p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9F107B-79F7-82E8-541F-A66031A22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37" y="0"/>
            <a:ext cx="5973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012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5F0D5-0B99-79D4-C754-2E9F4798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FE386-D611-331E-9E8B-E8B14A71C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3610C8-73CE-F8C8-DE00-EB61766A9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8" y="56679"/>
            <a:ext cx="11955543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9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60C9A-9552-700D-606F-45C72D8A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06B81-46D6-6475-0920-CECB910A4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D2C419-71A9-7A41-E2C0-F51072D7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56679"/>
            <a:ext cx="11984122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065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964A-AAAE-A76C-2189-BF3D18E1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32115F-CBCE-4D9F-C840-871A6061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b="1" dirty="0"/>
              <a:t>Características de </a:t>
            </a:r>
            <a:r>
              <a:rPr lang="pt-BR" b="1" dirty="0" err="1"/>
              <a:t>SGBDs</a:t>
            </a:r>
            <a:endParaRPr lang="pt-BR" b="1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2CFB5F-A3B5-D371-FCEE-434D2AFA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19DCBBF-5BFA-4923-0BDE-4759FBF5BF7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262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A5B21-40FC-AC6A-6816-9B79D77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de </a:t>
            </a:r>
            <a:r>
              <a:rPr lang="pt-BR" dirty="0" err="1"/>
              <a:t>SBDs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C59724-B8DF-95A7-07AD-7527B89C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Único repositório mantém os dados</a:t>
            </a:r>
          </a:p>
          <a:p>
            <a:r>
              <a:rPr lang="pt-BR" dirty="0"/>
              <a:t>Dados são definidos uma vez</a:t>
            </a:r>
          </a:p>
          <a:p>
            <a:r>
              <a:rPr lang="pt-BR" dirty="0"/>
              <a:t>Vários usuários, repetidamente, acessam os dados</a:t>
            </a:r>
          </a:p>
          <a:p>
            <a:pPr lvl="1"/>
            <a:r>
              <a:rPr lang="pt-BR" dirty="0"/>
              <a:t>Consultas, transações, programas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895448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288D5-E6A0-6AC7-77B8-DF2D3DA8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de </a:t>
            </a:r>
            <a:r>
              <a:rPr lang="pt-BR" dirty="0" err="1"/>
              <a:t>SBDs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138CAC-4F93-3E57-4E07-A07ACE47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Autodescrição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Isolamento e abstração de dados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Suporte para múltiplas visões de dados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Compartilhamento de dados e processamento de transação multiusuário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61463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CA7D5-90BE-477E-0931-D5ED54E9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1-Autodescrição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E0168-8CAF-93E8-661B-C01F512A0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Sistemas de BD não contém apenas o banco de dados</a:t>
            </a:r>
          </a:p>
          <a:p>
            <a:pPr lvl="1"/>
            <a:r>
              <a:rPr lang="pt-BR" dirty="0"/>
              <a:t>Definição/descrição completa de estrutura e restrições do banco de dados</a:t>
            </a:r>
          </a:p>
          <a:p>
            <a:pPr lvl="2"/>
            <a:r>
              <a:rPr lang="pt-BR" dirty="0"/>
              <a:t>Guardada no catálogo do SGBD</a:t>
            </a:r>
          </a:p>
          <a:p>
            <a:r>
              <a:rPr lang="pt-BR" dirty="0"/>
              <a:t>Estrutura de cada arquivo, tipo, formato de armazenamento de cada item de dados e suas restrições</a:t>
            </a:r>
          </a:p>
        </p:txBody>
      </p:sp>
      <p:pic>
        <p:nvPicPr>
          <p:cNvPr id="3074" name="Picture 2" descr="Metadata in DBMS - Overview and Types">
            <a:extLst>
              <a:ext uri="{FF2B5EF4-FFF2-40B4-BE49-F238E27FC236}">
                <a16:creationId xmlns:a16="http://schemas.microsoft.com/office/drawing/2014/main" id="{AB0AB5C8-45EC-310E-0C30-754E282CE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440" y="4329264"/>
            <a:ext cx="6436783" cy="252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01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936E9-7C82-6D59-FCDB-AD7F391F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8D92D1-4CE0-2309-459F-13FFC8811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E55BB0E-561C-2277-FDD9-6064A0DF5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0"/>
            <a:ext cx="5973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9075A51-C577-93FD-AFA1-368F5268E141}"/>
              </a:ext>
            </a:extLst>
          </p:cNvPr>
          <p:cNvSpPr/>
          <p:nvPr/>
        </p:nvSpPr>
        <p:spPr>
          <a:xfrm>
            <a:off x="3668889" y="4357511"/>
            <a:ext cx="2528711" cy="241582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329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0DD6-BA2E-8A31-3A00-A207857D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1-Autodescrição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935658-F949-5A30-EE1A-360AD3428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49CE72-2C7E-13D3-E472-60CEBD5E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95" y="1825625"/>
            <a:ext cx="967875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957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D08C8-03B4-AC84-3B64-70679C18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1-Autodescrição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8110F-7460-72CB-B037-792F468D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69F349-64B5-CEAD-6169-C396A7F9C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7547"/>
            <a:ext cx="10747632" cy="530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780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BB1E7-4C18-6781-82EE-5EF121C5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2-Isolamento e 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88CF32-C652-F148-4210-30DF17FFF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Estrutura dos dados está no catálogo, separado dos programas</a:t>
            </a:r>
          </a:p>
          <a:p>
            <a:pPr lvl="1"/>
            <a:r>
              <a:rPr lang="pt-BR" dirty="0"/>
              <a:t>Com arquivos, uma mudança de estrutura afetaria todos os programas</a:t>
            </a:r>
          </a:p>
          <a:p>
            <a:pPr>
              <a:spcBef>
                <a:spcPts val="2400"/>
              </a:spcBef>
            </a:pPr>
            <a:r>
              <a:rPr lang="pt-BR" dirty="0"/>
              <a:t>SGBD fornece representação conceitual de dados</a:t>
            </a:r>
          </a:p>
          <a:p>
            <a:pPr lvl="1"/>
            <a:r>
              <a:rPr lang="pt-BR" dirty="0"/>
              <a:t>Sem detalhes de implementação ou armazenamento</a:t>
            </a:r>
          </a:p>
          <a:p>
            <a:pPr>
              <a:spcBef>
                <a:spcPts val="2400"/>
              </a:spcBef>
            </a:pPr>
            <a:r>
              <a:rPr lang="pt-BR" dirty="0"/>
              <a:t>Modelo de dados </a:t>
            </a:r>
            <a:r>
              <a:rPr lang="pt-BR" dirty="0">
                <a:sym typeface="Wingdings" panose="05000000000000000000" pitchFamily="2" charset="2"/>
              </a:rPr>
              <a:t> abstração de dados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Objetos, propriedades, relacionamentos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Mais fácil de entender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Oculta detalhes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7751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645BB-8053-0E18-E78C-5CF2C818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2-Isolamento e 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E0DA3C-5091-2424-A7C8-996921222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Detalhes de implementação, ocultada pela representação conceitual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32C73C-3B2A-BC23-0D84-59E362A1F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3314"/>
            <a:ext cx="10964805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990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C71DD-98AA-A266-1712-06937875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2-Isolamento e 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8168F-12DE-3F5E-9B94-B784C849B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DD7BA3-9E55-59EE-47D3-6FFA2D571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6953"/>
            <a:ext cx="10423935" cy="522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80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B5183-C788-BA74-8505-01FD7248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2-Isolamento e 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49E31-DCF4-B678-276F-499CA9838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4C8EBE-B9E0-E97C-D5DB-406963B8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98" y="1612850"/>
            <a:ext cx="9803004" cy="524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4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67D22-40BC-4805-6D82-79796A65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3-Suporte para múltiplas visões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6BD753-1D95-BBD5-DCCE-7CE1F938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BDs</a:t>
            </a:r>
            <a:r>
              <a:rPr lang="pt-BR" dirty="0"/>
              <a:t> tem muitos usuários</a:t>
            </a:r>
          </a:p>
          <a:p>
            <a:pPr lvl="1"/>
            <a:r>
              <a:rPr lang="pt-BR" dirty="0"/>
              <a:t>Perspectivas ou visões (</a:t>
            </a:r>
            <a:r>
              <a:rPr lang="pt-BR" b="1" i="1" dirty="0" err="1">
                <a:solidFill>
                  <a:srgbClr val="FF0000"/>
                </a:solidFill>
              </a:rPr>
              <a:t>views</a:t>
            </a:r>
            <a:r>
              <a:rPr lang="pt-BR" dirty="0"/>
              <a:t>) diferentes </a:t>
            </a:r>
          </a:p>
          <a:p>
            <a:pPr lvl="2"/>
            <a:r>
              <a:rPr lang="pt-BR" dirty="0"/>
              <a:t>Subconjunto do banco de dados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Dados virtuais </a:t>
            </a:r>
            <a:r>
              <a:rPr lang="pt-BR" dirty="0"/>
              <a:t>derivados dos arquivos do BD</a:t>
            </a:r>
          </a:p>
          <a:p>
            <a:pPr lvl="2"/>
            <a:r>
              <a:rPr lang="pt-BR" dirty="0"/>
              <a:t>Usuários geralmente não precisam saber qual é virtual e qual é armazenado de fato</a:t>
            </a:r>
          </a:p>
        </p:txBody>
      </p:sp>
    </p:spTree>
    <p:extLst>
      <p:ext uri="{BB962C8B-B14F-4D97-AF65-F5344CB8AC3E}">
        <p14:creationId xmlns:p14="http://schemas.microsoft.com/office/powerpoint/2010/main" val="41419394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B9571-AC71-B2FE-61B1-884E7088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2D8BAA-5D02-EFFE-686A-381A15FA2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3A2287-AD86-1378-2668-5288D4370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56" y="0"/>
            <a:ext cx="3982665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CDD1838-7872-1186-A8F4-6DE54991E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451" y="1844293"/>
            <a:ext cx="4915586" cy="2943636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BC41F043-ACF8-FACA-CD6C-58F8CC3A5C02}"/>
              </a:ext>
            </a:extLst>
          </p:cNvPr>
          <p:cNvSpPr/>
          <p:nvPr/>
        </p:nvSpPr>
        <p:spPr>
          <a:xfrm>
            <a:off x="5459805" y="3186683"/>
            <a:ext cx="1079645" cy="9676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586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4B55D-EF67-C8BF-59CC-E3B66909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4-Processamento multiusuário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49D066-F434-C569-3C27-CB94767AF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SGBD multiusuário precisa permitir acesso simultâneo</a:t>
            </a:r>
          </a:p>
          <a:p>
            <a:pPr lvl="1"/>
            <a:r>
              <a:rPr lang="pt-BR" dirty="0"/>
              <a:t>Varias aplicações integradas e mantidas num mesmo BD</a:t>
            </a:r>
          </a:p>
          <a:p>
            <a:pPr lvl="1"/>
            <a:endParaRPr lang="pt-BR" dirty="0"/>
          </a:p>
          <a:p>
            <a:r>
              <a:rPr lang="pt-BR" dirty="0"/>
              <a:t>Controle de </a:t>
            </a:r>
            <a:r>
              <a:rPr lang="pt-BR" b="1" dirty="0">
                <a:solidFill>
                  <a:srgbClr val="FF0000"/>
                </a:solidFill>
              </a:rPr>
              <a:t>concorrência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reserva de assento</a:t>
            </a:r>
          </a:p>
          <a:p>
            <a:pPr lvl="1"/>
            <a:r>
              <a:rPr lang="pt-BR" dirty="0"/>
              <a:t>Processamento de transações </a:t>
            </a:r>
          </a:p>
          <a:p>
            <a:pPr lvl="1"/>
            <a:endParaRPr lang="pt-BR" dirty="0"/>
          </a:p>
          <a:p>
            <a:r>
              <a:rPr lang="pt-BR" b="1" dirty="0">
                <a:solidFill>
                  <a:srgbClr val="FF0000"/>
                </a:solidFill>
              </a:rPr>
              <a:t>Transações</a:t>
            </a:r>
            <a:r>
              <a:rPr lang="pt-BR" dirty="0"/>
              <a:t> devem ser corretas e eficientes</a:t>
            </a:r>
          </a:p>
        </p:txBody>
      </p:sp>
    </p:spTree>
    <p:extLst>
      <p:ext uri="{BB962C8B-B14F-4D97-AF65-F5344CB8AC3E}">
        <p14:creationId xmlns:p14="http://schemas.microsoft.com/office/powerpoint/2010/main" val="11801356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0433-CEBE-A311-D289-6922B48C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AA8C1-FFFF-B5C8-238E-469F7D6B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4-Processamento multiusuário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1CC88-B408-AFFC-7958-99D53E04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Transações devem ser corretas e eficientes</a:t>
            </a:r>
          </a:p>
          <a:p>
            <a:r>
              <a:rPr lang="pt-BR" dirty="0"/>
              <a:t>Princípio </a:t>
            </a:r>
            <a:r>
              <a:rPr lang="pt-BR" dirty="0">
                <a:solidFill>
                  <a:srgbClr val="FF0000"/>
                </a:solidFill>
              </a:rPr>
              <a:t>ACID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Atômicas</a:t>
            </a:r>
            <a:r>
              <a:rPr lang="pt-BR" dirty="0"/>
              <a:t>: ou todas as operações são executadas ou nenhuma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Consistentes</a:t>
            </a:r>
            <a:r>
              <a:rPr lang="pt-BR" dirty="0"/>
              <a:t>: BD deve sair de um estado consistente para outro consistente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Isoladas</a:t>
            </a:r>
            <a:r>
              <a:rPr lang="pt-BR" dirty="0"/>
              <a:t>: cada transação deve parecer executar isoladamente, sem afetar diretamente outras transações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Duráveis</a:t>
            </a:r>
            <a:r>
              <a:rPr lang="pt-BR" dirty="0"/>
              <a:t>: mudanças aplicadas devem persistir no BD</a:t>
            </a:r>
          </a:p>
        </p:txBody>
      </p:sp>
    </p:spTree>
    <p:extLst>
      <p:ext uri="{BB962C8B-B14F-4D97-AF65-F5344CB8AC3E}">
        <p14:creationId xmlns:p14="http://schemas.microsoft.com/office/powerpoint/2010/main" val="38358690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D12B-3CA2-B656-5CEF-39CEB7AB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77B43-0CB0-35BF-7692-8C3871650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b="1" dirty="0"/>
              <a:t>Atores de </a:t>
            </a:r>
            <a:r>
              <a:rPr lang="pt-BR" b="1" dirty="0" err="1"/>
              <a:t>SGBDs</a:t>
            </a:r>
            <a:endParaRPr lang="pt-BR" b="1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B5490E-B0EC-CBD8-56E9-F3375F8E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111C7AD-C145-BEAE-1AFE-FD2A76757EC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1185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6F351-B9B9-C512-C9E1-4681D754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 em um SBD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AAF4C2-07BF-DDDC-40E8-BA7C225A2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A72FEE-96E0-8608-9F49-828326F9E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01" y="1561361"/>
            <a:ext cx="10974332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505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B1EF1-C391-89EE-6DFF-8D86A0A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 em cena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98AE56A-DE0C-0F9D-B432-02CA8D2754C7}"/>
              </a:ext>
            </a:extLst>
          </p:cNvPr>
          <p:cNvGrpSpPr/>
          <p:nvPr/>
        </p:nvGrpSpPr>
        <p:grpSpPr>
          <a:xfrm>
            <a:off x="623709" y="1374596"/>
            <a:ext cx="2683933" cy="838023"/>
            <a:chOff x="623709" y="1690688"/>
            <a:chExt cx="2683933" cy="838023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2CB4AB75-30DA-2B7C-F81E-86A0183D8DEB}"/>
                </a:ext>
              </a:extLst>
            </p:cNvPr>
            <p:cNvSpPr/>
            <p:nvPr/>
          </p:nvSpPr>
          <p:spPr>
            <a:xfrm>
              <a:off x="623709" y="1690688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57C12DB-7F8F-FC6A-1944-91CD1A930102}"/>
                </a:ext>
              </a:extLst>
            </p:cNvPr>
            <p:cNvSpPr/>
            <p:nvPr/>
          </p:nvSpPr>
          <p:spPr>
            <a:xfrm>
              <a:off x="702733" y="1753086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Administradores de BD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6061A7-630B-4FAC-421B-ACA768C79234}"/>
              </a:ext>
            </a:extLst>
          </p:cNvPr>
          <p:cNvSpPr txBox="1"/>
          <p:nvPr/>
        </p:nvSpPr>
        <p:spPr>
          <a:xfrm>
            <a:off x="4338" y="2235745"/>
            <a:ext cx="39170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Autoriza acessos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Coordena e monitora uso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Adquire SW e HW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Atua em falhas de segurança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Atua em demoras de processamento</a:t>
            </a:r>
          </a:p>
          <a:p>
            <a:pPr algn="ctr"/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ACE62EC-7C0D-AE34-A2E5-0CDB304025C5}"/>
              </a:ext>
            </a:extLst>
          </p:cNvPr>
          <p:cNvGrpSpPr/>
          <p:nvPr/>
        </p:nvGrpSpPr>
        <p:grpSpPr>
          <a:xfrm>
            <a:off x="4649608" y="1374596"/>
            <a:ext cx="2683933" cy="838023"/>
            <a:chOff x="4756854" y="1690688"/>
            <a:chExt cx="2683933" cy="838023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6C2D945-1880-FE74-F463-6F164E35ACD3}"/>
                </a:ext>
              </a:extLst>
            </p:cNvPr>
            <p:cNvSpPr/>
            <p:nvPr/>
          </p:nvSpPr>
          <p:spPr>
            <a:xfrm>
              <a:off x="4756854" y="1690688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A954EBA-66B1-98B7-8733-2DC8AA3CD160}"/>
                </a:ext>
              </a:extLst>
            </p:cNvPr>
            <p:cNvSpPr/>
            <p:nvPr/>
          </p:nvSpPr>
          <p:spPr>
            <a:xfrm>
              <a:off x="4835878" y="1753086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Projetistas de BD</a:t>
              </a:r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093EBD-5113-5A03-D00A-3BBBC1C3255D}"/>
              </a:ext>
            </a:extLst>
          </p:cNvPr>
          <p:cNvSpPr txBox="1"/>
          <p:nvPr/>
        </p:nvSpPr>
        <p:spPr>
          <a:xfrm>
            <a:off x="3820224" y="2172798"/>
            <a:ext cx="4635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Identificam os dados para armazenar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Escolhem estruturas apropriadas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(antes da implementação e carga)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Entendem requisitos com usuários potenciais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Criam visões conforme demandas de grupos</a:t>
            </a:r>
          </a:p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BA161E2-3989-4717-344F-A781495E524A}"/>
              </a:ext>
            </a:extLst>
          </p:cNvPr>
          <p:cNvGrpSpPr/>
          <p:nvPr/>
        </p:nvGrpSpPr>
        <p:grpSpPr>
          <a:xfrm>
            <a:off x="8675508" y="1380550"/>
            <a:ext cx="2683933" cy="838023"/>
            <a:chOff x="8675508" y="1730509"/>
            <a:chExt cx="2683933" cy="838023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CBE09648-489F-79E0-44FF-975C782E67DA}"/>
                </a:ext>
              </a:extLst>
            </p:cNvPr>
            <p:cNvSpPr/>
            <p:nvPr/>
          </p:nvSpPr>
          <p:spPr>
            <a:xfrm>
              <a:off x="8675508" y="1730509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13E6A71-F421-8E39-90B2-553F06A3157E}"/>
                </a:ext>
              </a:extLst>
            </p:cNvPr>
            <p:cNvSpPr/>
            <p:nvPr/>
          </p:nvSpPr>
          <p:spPr>
            <a:xfrm>
              <a:off x="8754532" y="1792907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Analistas e programadores</a:t>
              </a:r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09C6AD-15EB-5D9D-118F-DCB0E211A828}"/>
              </a:ext>
            </a:extLst>
          </p:cNvPr>
          <p:cNvSpPr txBox="1"/>
          <p:nvPr/>
        </p:nvSpPr>
        <p:spPr>
          <a:xfrm>
            <a:off x="8270630" y="2178752"/>
            <a:ext cx="3921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Determinam requisitos para usuários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Desenvolvem especificações para transações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Implementam especificações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Testam, depuram, documentam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76A0344-311F-8C00-FBC8-6BC2D3C7EEA9}"/>
              </a:ext>
            </a:extLst>
          </p:cNvPr>
          <p:cNvGrpSpPr/>
          <p:nvPr/>
        </p:nvGrpSpPr>
        <p:grpSpPr>
          <a:xfrm>
            <a:off x="4756854" y="4084313"/>
            <a:ext cx="2683933" cy="838023"/>
            <a:chOff x="4756854" y="4185914"/>
            <a:chExt cx="2683933" cy="838023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A26BD021-3713-C43E-24D1-6ADA263424C4}"/>
                </a:ext>
              </a:extLst>
            </p:cNvPr>
            <p:cNvSpPr/>
            <p:nvPr/>
          </p:nvSpPr>
          <p:spPr>
            <a:xfrm>
              <a:off x="4756854" y="4185914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rgbClr val="674EA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5F493BD-AC59-27A8-0F71-35C931E1E16F}"/>
                </a:ext>
              </a:extLst>
            </p:cNvPr>
            <p:cNvSpPr/>
            <p:nvPr/>
          </p:nvSpPr>
          <p:spPr>
            <a:xfrm>
              <a:off x="4835878" y="4248312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rgbClr val="351C7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Usuários finais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9B46B2-3B98-471B-225E-4033C8C7F372}"/>
              </a:ext>
            </a:extLst>
          </p:cNvPr>
          <p:cNvSpPr txBox="1"/>
          <p:nvPr/>
        </p:nvSpPr>
        <p:spPr>
          <a:xfrm>
            <a:off x="28221" y="4883795"/>
            <a:ext cx="37224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u="sng" dirty="0"/>
              <a:t>CASUAIS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Acessam ocasionalmente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Podem precisar de </a:t>
            </a:r>
            <a:r>
              <a:rPr lang="pt-BR" dirty="0" err="1"/>
              <a:t>infos</a:t>
            </a:r>
            <a:r>
              <a:rPr lang="pt-BR" dirty="0"/>
              <a:t> diferentes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Usam UI sofisticada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Gerentes de nível alto</a:t>
            </a:r>
          </a:p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E48E292-F6C7-95EF-7A54-C14D7EAF048E}"/>
              </a:ext>
            </a:extLst>
          </p:cNvPr>
          <p:cNvSpPr txBox="1"/>
          <p:nvPr/>
        </p:nvSpPr>
        <p:spPr>
          <a:xfrm>
            <a:off x="9677946" y="4883795"/>
            <a:ext cx="21044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u="sng" dirty="0"/>
              <a:t>ISOLADOS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 err="1"/>
              <a:t>BDs</a:t>
            </a:r>
            <a:r>
              <a:rPr lang="pt-BR" dirty="0"/>
              <a:t> pessoais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Pacotes prontos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 err="1"/>
              <a:t>Ex</a:t>
            </a:r>
            <a:r>
              <a:rPr lang="pt-BR" dirty="0"/>
              <a:t>: SW financeiro</a:t>
            </a:r>
          </a:p>
          <a:p>
            <a:pPr algn="ctr"/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43E5AAE-F378-1713-E503-9F7BCBD802A9}"/>
              </a:ext>
            </a:extLst>
          </p:cNvPr>
          <p:cNvSpPr txBox="1"/>
          <p:nvPr/>
        </p:nvSpPr>
        <p:spPr>
          <a:xfrm>
            <a:off x="3458976" y="4883795"/>
            <a:ext cx="34081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u="sng" dirty="0"/>
              <a:t>INICIANTES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Acesso parametrizado ao BD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Consulta e atualização constantes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Transações programadas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 err="1"/>
              <a:t>Ex</a:t>
            </a:r>
            <a:r>
              <a:rPr lang="pt-BR" dirty="0"/>
              <a:t>: verificação de saldo, reserva de passagem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7B9411-C4D8-BB7A-AD60-7A669F39DA2F}"/>
              </a:ext>
            </a:extLst>
          </p:cNvPr>
          <p:cNvSpPr txBox="1"/>
          <p:nvPr/>
        </p:nvSpPr>
        <p:spPr>
          <a:xfrm>
            <a:off x="6460928" y="4883795"/>
            <a:ext cx="3408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u="sng" dirty="0"/>
              <a:t>SOFISTICADOS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Engenheiros, cientistas.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Familiarizados com SGBD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Implementam próprias aplicações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415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19" grpId="0"/>
      <p:bldP spid="20" grpId="0"/>
      <p:bldP spid="21" grpId="0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95A16-F915-981A-B2D0-525F9E99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 nos bastidores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989CC-13AF-B7E7-1E9B-757FFC3B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interessados no conteúdo em si</a:t>
            </a:r>
          </a:p>
          <a:p>
            <a:r>
              <a:rPr lang="pt-BR" dirty="0"/>
              <a:t>Associados ao projeto, desenvolvimento e operação </a:t>
            </a:r>
          </a:p>
          <a:p>
            <a:pPr lvl="1"/>
            <a:r>
              <a:rPr lang="pt-BR" dirty="0"/>
              <a:t>Software SGBD</a:t>
            </a:r>
          </a:p>
          <a:p>
            <a:pPr lvl="1"/>
            <a:r>
              <a:rPr lang="pt-BR" dirty="0"/>
              <a:t>Ambiente de sistema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2179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40781-5D0A-9A73-444B-8B69A304A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 nos bastidores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B0841AB-EDD4-7452-66A0-179A5D932858}"/>
              </a:ext>
            </a:extLst>
          </p:cNvPr>
          <p:cNvGrpSpPr/>
          <p:nvPr/>
        </p:nvGrpSpPr>
        <p:grpSpPr>
          <a:xfrm>
            <a:off x="623709" y="1645532"/>
            <a:ext cx="2683933" cy="838023"/>
            <a:chOff x="623709" y="1690688"/>
            <a:chExt cx="2683933" cy="838023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C63BEC3-290D-491D-3BBD-785F9552D8CE}"/>
                </a:ext>
              </a:extLst>
            </p:cNvPr>
            <p:cNvSpPr/>
            <p:nvPr/>
          </p:nvSpPr>
          <p:spPr>
            <a:xfrm>
              <a:off x="623709" y="1690688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67FB586-10CF-189D-0DAD-61DB41F36BE9}"/>
                </a:ext>
              </a:extLst>
            </p:cNvPr>
            <p:cNvSpPr/>
            <p:nvPr/>
          </p:nvSpPr>
          <p:spPr>
            <a:xfrm>
              <a:off x="702733" y="1753086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Projetistas e implementadores de SGBD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8E78AAB-A7A9-9578-DC83-52674A251ABE}"/>
              </a:ext>
            </a:extLst>
          </p:cNvPr>
          <p:cNvGrpSpPr/>
          <p:nvPr/>
        </p:nvGrpSpPr>
        <p:grpSpPr>
          <a:xfrm>
            <a:off x="4649608" y="1645532"/>
            <a:ext cx="2683933" cy="838023"/>
            <a:chOff x="4756854" y="1690688"/>
            <a:chExt cx="2683933" cy="838023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311F319-C33C-F3BC-0EDB-E0893BFE8336}"/>
                </a:ext>
              </a:extLst>
            </p:cNvPr>
            <p:cNvSpPr/>
            <p:nvPr/>
          </p:nvSpPr>
          <p:spPr>
            <a:xfrm>
              <a:off x="4756854" y="1690688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00F0852-3C1B-7B89-4E5B-1752B61F706E}"/>
                </a:ext>
              </a:extLst>
            </p:cNvPr>
            <p:cNvSpPr/>
            <p:nvPr/>
          </p:nvSpPr>
          <p:spPr>
            <a:xfrm>
              <a:off x="4835878" y="1753086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Desenvolvedores de ferramentas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C41A9B8-50B4-DCA0-E9BF-56DE6BE8DAE8}"/>
              </a:ext>
            </a:extLst>
          </p:cNvPr>
          <p:cNvGrpSpPr/>
          <p:nvPr/>
        </p:nvGrpSpPr>
        <p:grpSpPr>
          <a:xfrm>
            <a:off x="8675508" y="1651486"/>
            <a:ext cx="2683933" cy="838023"/>
            <a:chOff x="8675508" y="1730509"/>
            <a:chExt cx="2683933" cy="838023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F97432D-9DCE-9BD8-E83B-3B3798C2755A}"/>
                </a:ext>
              </a:extLst>
            </p:cNvPr>
            <p:cNvSpPr/>
            <p:nvPr/>
          </p:nvSpPr>
          <p:spPr>
            <a:xfrm>
              <a:off x="8675508" y="1730509"/>
              <a:ext cx="2683933" cy="838023"/>
            </a:xfrm>
            <a:prstGeom prst="roundRect">
              <a:avLst>
                <a:gd name="adj" fmla="val 48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Adminis</a:t>
              </a:r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FB020707-0FCC-1122-7B6A-843F3E6CD6DB}"/>
                </a:ext>
              </a:extLst>
            </p:cNvPr>
            <p:cNvSpPr/>
            <p:nvPr/>
          </p:nvSpPr>
          <p:spPr>
            <a:xfrm>
              <a:off x="8754532" y="1792907"/>
              <a:ext cx="2520244" cy="735804"/>
            </a:xfrm>
            <a:prstGeom prst="roundRect">
              <a:avLst>
                <a:gd name="adj" fmla="val 48997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Operadores e manutenção</a:t>
              </a: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5DBED85-BC7A-1ABC-8DE6-C128A809CCA5}"/>
              </a:ext>
            </a:extLst>
          </p:cNvPr>
          <p:cNvSpPr txBox="1"/>
          <p:nvPr/>
        </p:nvSpPr>
        <p:spPr>
          <a:xfrm>
            <a:off x="64276" y="2618492"/>
            <a:ext cx="37971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Projetam e implementam como pacote de software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 err="1"/>
              <a:t>Ex</a:t>
            </a:r>
            <a:r>
              <a:rPr lang="pt-BR" dirty="0"/>
              <a:t>: módulos e interfaces do SGBD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Implementação de catálogo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Processamento de linguagem de consulta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Interface, acesso, </a:t>
            </a:r>
            <a:r>
              <a:rPr lang="pt-BR" i="1" dirty="0" err="1"/>
              <a:t>buffering</a:t>
            </a:r>
            <a:r>
              <a:rPr lang="pt-BR" dirty="0"/>
              <a:t> de dados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Concorrência, recuperação</a:t>
            </a:r>
          </a:p>
          <a:p>
            <a:pPr algn="ctr"/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7C5916-C273-5A50-41EE-73D1CEBD8FA4}"/>
              </a:ext>
            </a:extLst>
          </p:cNvPr>
          <p:cNvSpPr txBox="1"/>
          <p:nvPr/>
        </p:nvSpPr>
        <p:spPr>
          <a:xfrm>
            <a:off x="4090175" y="2618492"/>
            <a:ext cx="3797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Projetam e implementam ferramentas que facilitam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Modelagem e projeto de BD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Projeto de sistema de BD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Melhoria de desempenho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6A874C5-6EC4-BC0A-04E6-8C1A44528E5A}"/>
              </a:ext>
            </a:extLst>
          </p:cNvPr>
          <p:cNvSpPr txBox="1"/>
          <p:nvPr/>
        </p:nvSpPr>
        <p:spPr>
          <a:xfrm>
            <a:off x="8116075" y="2572325"/>
            <a:ext cx="3797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Execução e manutenção real do ambiente de BD (HW e SW)</a:t>
            </a:r>
          </a:p>
        </p:txBody>
      </p:sp>
    </p:spTree>
    <p:extLst>
      <p:ext uri="{BB962C8B-B14F-4D97-AF65-F5344CB8AC3E}">
        <p14:creationId xmlns:p14="http://schemas.microsoft.com/office/powerpoint/2010/main" val="369924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F625D-A09B-7847-53D6-832C95DC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521DB-D807-9536-1EBC-1A2850B1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b="1" dirty="0"/>
              <a:t>Vantagens e desvantagens de </a:t>
            </a:r>
            <a:r>
              <a:rPr lang="pt-BR" b="1" dirty="0" err="1"/>
              <a:t>SGBDs</a:t>
            </a:r>
            <a:endParaRPr lang="pt-BR" b="1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B2E302-233D-3082-9CA3-79B03AA2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59B086-6ACD-624F-9BD1-78EFD0FDCF2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221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105DF-1D7E-0E25-5CB3-C731FD55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do 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1FF28E-1675-2173-1A94-5088C38D9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Controle de redundância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Segurança e autorização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Armazenamento persistente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Estruturas eficientes de armazenamento e pesquisa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Backup e recuperação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Múltiplas interfaces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Representação de relacionamentos complexos</a:t>
            </a:r>
          </a:p>
        </p:txBody>
      </p:sp>
    </p:spTree>
    <p:extLst>
      <p:ext uri="{BB962C8B-B14F-4D97-AF65-F5344CB8AC3E}">
        <p14:creationId xmlns:p14="http://schemas.microsoft.com/office/powerpoint/2010/main" val="15217585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61D73-4337-62A7-C2A4-0296B950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do SGBD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3A1C6-361C-3DB4-79C3-17337EB15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pt-BR" dirty="0"/>
              <a:t>Restrições de integridade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Dedução e ação usando regras e gatilhos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Padrões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Redução de tempo para desenvolvimento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Flexibilidade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Disponibilidade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pt-BR" dirty="0"/>
              <a:t>Economias de escala</a:t>
            </a:r>
          </a:p>
        </p:txBody>
      </p:sp>
    </p:spTree>
    <p:extLst>
      <p:ext uri="{BB962C8B-B14F-4D97-AF65-F5344CB8AC3E}">
        <p14:creationId xmlns:p14="http://schemas.microsoft.com/office/powerpoint/2010/main" val="42822768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3024B-5DE9-8256-1FE2-741EC8FA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3F19B2-0129-2BA3-C851-807251B40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Alto investimento inicial (HW, SW, treinamento)</a:t>
            </a:r>
          </a:p>
          <a:p>
            <a:r>
              <a:rPr lang="pt-BR" dirty="0"/>
              <a:t>Generalidade para definição e processamento</a:t>
            </a:r>
          </a:p>
          <a:p>
            <a:r>
              <a:rPr lang="pt-BR" i="1" dirty="0"/>
              <a:t>Overhead</a:t>
            </a:r>
            <a:r>
              <a:rPr lang="pt-BR" dirty="0"/>
              <a:t> para funções de segurança, concorrência, recuperação e integridade</a:t>
            </a:r>
          </a:p>
          <a:p>
            <a:r>
              <a:rPr lang="pt-BR" dirty="0"/>
              <a:t>Aplicações de BD simples e bem definidas, estáveis</a:t>
            </a:r>
          </a:p>
          <a:p>
            <a:r>
              <a:rPr lang="pt-BR" dirty="0"/>
              <a:t>Requisitos rigorosos, em tempo real</a:t>
            </a:r>
          </a:p>
          <a:p>
            <a:r>
              <a:rPr lang="pt-BR" dirty="0"/>
              <a:t>Sistemas embarcados, com armazenamento limitado</a:t>
            </a:r>
          </a:p>
          <a:p>
            <a:r>
              <a:rPr lang="pt-BR" dirty="0"/>
              <a:t>Nenhum acesso múltiplo a usuários</a:t>
            </a:r>
          </a:p>
        </p:txBody>
      </p:sp>
    </p:spTree>
    <p:extLst>
      <p:ext uri="{BB962C8B-B14F-4D97-AF65-F5344CB8AC3E}">
        <p14:creationId xmlns:p14="http://schemas.microsoft.com/office/powerpoint/2010/main" val="2085175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99EB-AD5E-D1D5-CCA0-7B14B9A4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739ED-A3D8-BC4A-3416-619030637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dos sistemas de informação</a:t>
            </a:r>
          </a:p>
          <a:p>
            <a:r>
              <a:rPr lang="pt-BR" dirty="0" err="1"/>
              <a:t>BDs</a:t>
            </a:r>
            <a:r>
              <a:rPr lang="pt-BR" dirty="0"/>
              <a:t> 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Características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Atores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dirty="0"/>
              <a:t>Vantagens e desvantagens de </a:t>
            </a:r>
            <a:r>
              <a:rPr lang="pt-BR" dirty="0" err="1"/>
              <a:t>SGBDs</a:t>
            </a:r>
            <a:endParaRPr lang="pt-BR" dirty="0"/>
          </a:p>
          <a:p>
            <a:r>
              <a:rPr lang="pt-BR" b="1" dirty="0"/>
              <a:t>Atividade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E2DE1F-6E4A-04ED-B6BB-B89A567F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1AEFFF-6993-2AD3-DFC4-A3A13438B74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8220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76AEF-EFFE-57F9-B228-E8A6B524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– Projeto de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0A5CAC-3E11-9346-080C-C66223032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Grupos de 4 alunos</a:t>
            </a:r>
          </a:p>
          <a:p>
            <a:r>
              <a:rPr lang="pt-BR" dirty="0"/>
              <a:t>Delimitar um minimundo para aplicação com Banco de dados</a:t>
            </a:r>
          </a:p>
          <a:p>
            <a:r>
              <a:rPr lang="pt-BR" dirty="0"/>
              <a:t>Postar descrição no </a:t>
            </a:r>
            <a:r>
              <a:rPr lang="pt-BR" dirty="0" err="1"/>
              <a:t>Classroom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1 por grupo, detalhando quem são os participantes</a:t>
            </a:r>
          </a:p>
          <a:p>
            <a:r>
              <a:rPr lang="pt-BR" dirty="0"/>
              <a:t>Trabalharemos com ele nas próximas aulas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7890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3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68727</TotalTime>
  <Words>2495</Words>
  <Application>Microsoft Office PowerPoint</Application>
  <PresentationFormat>Widescreen</PresentationFormat>
  <Paragraphs>480</Paragraphs>
  <Slides>77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77</vt:i4>
      </vt:variant>
    </vt:vector>
  </HeadingPairs>
  <TitlesOfParts>
    <vt:vector size="83" baseType="lpstr">
      <vt:lpstr>Arial</vt:lpstr>
      <vt:lpstr>Calibri</vt:lpstr>
      <vt:lpstr>Calibri Light</vt:lpstr>
      <vt:lpstr>DejaVuSans</vt:lpstr>
      <vt:lpstr>Wingdings</vt:lpstr>
      <vt:lpstr>Tema do Office</vt:lpstr>
      <vt:lpstr>Apresentação do PowerPoint</vt:lpstr>
      <vt:lpstr>Quem sou eu</vt:lpstr>
      <vt:lpstr>Apresentações</vt:lpstr>
      <vt:lpstr>Avaliação da disciplina</vt:lpstr>
      <vt:lpstr>Na aula anterior, vimos...</vt:lpstr>
      <vt:lpstr>Agenda</vt:lpstr>
      <vt:lpstr>Trabalho com dados</vt:lpstr>
      <vt:lpstr>Apresentação do PowerPoint</vt:lpstr>
      <vt:lpstr>How top data teams are structured</vt:lpstr>
      <vt:lpstr>Trabalho com dados</vt:lpstr>
      <vt:lpstr>Agenda</vt:lpstr>
      <vt:lpstr>Agenda</vt:lpstr>
      <vt:lpstr>Evolução dos Sistemas de Informação</vt:lpstr>
      <vt:lpstr>Evolução dos Sistemas de Informação</vt:lpstr>
      <vt:lpstr>Evolução dos Sistemas de Informação</vt:lpstr>
      <vt:lpstr>Dependência dos dados</vt:lpstr>
      <vt:lpstr>Agenda</vt:lpstr>
      <vt:lpstr>Banco de dados</vt:lpstr>
      <vt:lpstr>Banco de dados</vt:lpstr>
      <vt:lpstr>Exemplo</vt:lpstr>
      <vt:lpstr>Apresentação do PowerPoint</vt:lpstr>
      <vt:lpstr>Banco de dados</vt:lpstr>
      <vt:lpstr>Banco de dados</vt:lpstr>
      <vt:lpstr>Abstração de dados</vt:lpstr>
      <vt:lpstr>Modelo de dados</vt:lpstr>
      <vt:lpstr>Modelos de dados</vt:lpstr>
      <vt:lpstr>BDs relacionais</vt:lpstr>
      <vt:lpstr>BDs Chave-Valor</vt:lpstr>
      <vt:lpstr>BD de documentos</vt:lpstr>
      <vt:lpstr>BDs orientados a grafos</vt:lpstr>
      <vt:lpstr>BDs vetoriais</vt:lpstr>
      <vt:lpstr>BD de tempo real</vt:lpstr>
      <vt:lpstr>BDs espaciais/geográficos</vt:lpstr>
      <vt:lpstr>Modelo Relacional</vt:lpstr>
      <vt:lpstr>Esquemas e instâncias</vt:lpstr>
      <vt:lpstr>Esquemas e instâncias</vt:lpstr>
      <vt:lpstr>Independência dos Dados</vt:lpstr>
      <vt:lpstr>Arquivos</vt:lpstr>
      <vt:lpstr>Arquivos</vt:lpstr>
      <vt:lpstr>Arquivos</vt:lpstr>
      <vt:lpstr>Integridade dos dados</vt:lpstr>
      <vt:lpstr>Implementação</vt:lpstr>
      <vt:lpstr>Durabilidade</vt:lpstr>
      <vt:lpstr>SGBD</vt:lpstr>
      <vt:lpstr>SGBD</vt:lpstr>
      <vt:lpstr>SGBD</vt:lpstr>
      <vt:lpstr>SGBD</vt:lpstr>
      <vt:lpstr>Funcionamento SBD</vt:lpstr>
      <vt:lpstr>Apresentação do PowerPoint</vt:lpstr>
      <vt:lpstr>Apresentação do PowerPoint</vt:lpstr>
      <vt:lpstr>Agenda</vt:lpstr>
      <vt:lpstr>Características de SBDs</vt:lpstr>
      <vt:lpstr>Características de SBDs</vt:lpstr>
      <vt:lpstr>1-Autodescrição</vt:lpstr>
      <vt:lpstr>Apresentação do PowerPoint</vt:lpstr>
      <vt:lpstr>1-Autodescrição</vt:lpstr>
      <vt:lpstr>1-Autodescrição</vt:lpstr>
      <vt:lpstr>2-Isolamento e abstração</vt:lpstr>
      <vt:lpstr>2-Isolamento e abstração</vt:lpstr>
      <vt:lpstr>2-Isolamento e abstração</vt:lpstr>
      <vt:lpstr>2-Isolamento e abstração</vt:lpstr>
      <vt:lpstr>3-Suporte para múltiplas visões</vt:lpstr>
      <vt:lpstr>Apresentação do PowerPoint</vt:lpstr>
      <vt:lpstr>4-Processamento multiusuário</vt:lpstr>
      <vt:lpstr>4-Processamento multiusuário</vt:lpstr>
      <vt:lpstr>Agenda</vt:lpstr>
      <vt:lpstr>Atores em um SBD</vt:lpstr>
      <vt:lpstr>Atores em cena</vt:lpstr>
      <vt:lpstr>Atores nos bastidores</vt:lpstr>
      <vt:lpstr>Atores nos bastidores</vt:lpstr>
      <vt:lpstr>Agenda</vt:lpstr>
      <vt:lpstr>Vantagens do SGBD</vt:lpstr>
      <vt:lpstr>Vantagens do SGBD</vt:lpstr>
      <vt:lpstr>Desvantagens</vt:lpstr>
      <vt:lpstr>Agenda</vt:lpstr>
      <vt:lpstr>Atividade – Projeto de BD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1655</cp:revision>
  <dcterms:created xsi:type="dcterms:W3CDTF">2024-08-08T20:58:28Z</dcterms:created>
  <dcterms:modified xsi:type="dcterms:W3CDTF">2026-03-19T17:58:59Z</dcterms:modified>
</cp:coreProperties>
</file>