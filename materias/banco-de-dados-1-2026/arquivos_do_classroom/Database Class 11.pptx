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1270" r:id="rId3"/>
    <p:sldId id="1564" r:id="rId4"/>
    <p:sldId id="1518" r:id="rId5"/>
    <p:sldId id="1609" r:id="rId6"/>
    <p:sldId id="1519" r:id="rId7"/>
    <p:sldId id="1520" r:id="rId8"/>
    <p:sldId id="1566" r:id="rId9"/>
    <p:sldId id="1567" r:id="rId10"/>
    <p:sldId id="1568" r:id="rId11"/>
    <p:sldId id="1569" r:id="rId12"/>
    <p:sldId id="1570" r:id="rId13"/>
    <p:sldId id="1571" r:id="rId14"/>
    <p:sldId id="1572" r:id="rId15"/>
    <p:sldId id="1575" r:id="rId16"/>
    <p:sldId id="1577" r:id="rId17"/>
    <p:sldId id="1578" r:id="rId18"/>
    <p:sldId id="1573" r:id="rId19"/>
    <p:sldId id="1574" r:id="rId20"/>
    <p:sldId id="1592" r:id="rId21"/>
    <p:sldId id="1593" r:id="rId22"/>
    <p:sldId id="1610" r:id="rId23"/>
    <p:sldId id="1576" r:id="rId24"/>
    <p:sldId id="1583" r:id="rId25"/>
    <p:sldId id="1584" r:id="rId26"/>
    <p:sldId id="1585" r:id="rId27"/>
    <p:sldId id="1586" r:id="rId28"/>
    <p:sldId id="472" r:id="rId29"/>
    <p:sldId id="480" r:id="rId30"/>
    <p:sldId id="1611" r:id="rId31"/>
    <p:sldId id="1594" r:id="rId32"/>
    <p:sldId id="1587" r:id="rId33"/>
    <p:sldId id="1589" r:id="rId34"/>
    <p:sldId id="1590" r:id="rId35"/>
    <p:sldId id="1588" r:id="rId36"/>
    <p:sldId id="394" r:id="rId37"/>
    <p:sldId id="412" r:id="rId38"/>
    <p:sldId id="1581" r:id="rId39"/>
    <p:sldId id="1582" r:id="rId40"/>
    <p:sldId id="1612" r:id="rId41"/>
    <p:sldId id="1591" r:id="rId42"/>
    <p:sldId id="1608" r:id="rId43"/>
    <p:sldId id="1595" r:id="rId44"/>
    <p:sldId id="1596" r:id="rId45"/>
    <p:sldId id="1597" r:id="rId46"/>
    <p:sldId id="1598" r:id="rId47"/>
    <p:sldId id="1599" r:id="rId48"/>
    <p:sldId id="1600" r:id="rId49"/>
    <p:sldId id="1604" r:id="rId50"/>
    <p:sldId id="1605" r:id="rId51"/>
    <p:sldId id="1601" r:id="rId52"/>
    <p:sldId id="1602" r:id="rId53"/>
    <p:sldId id="1603" r:id="rId54"/>
    <p:sldId id="1606" r:id="rId55"/>
    <p:sldId id="1607" r:id="rId56"/>
    <p:sldId id="1514" r:id="rId57"/>
    <p:sldId id="674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D8C6B89-70A2-4C68-BB82-303E6C7C1107}">
          <p14:sldIdLst>
            <p14:sldId id="256"/>
            <p14:sldId id="1270"/>
            <p14:sldId id="1564"/>
            <p14:sldId id="1518"/>
            <p14:sldId id="1609"/>
            <p14:sldId id="1519"/>
          </p14:sldIdLst>
        </p14:section>
        <p14:section name="trigger" id="{EB49C94D-96AE-4038-AB8C-DFDFB1D637DD}">
          <p14:sldIdLst>
            <p14:sldId id="1520"/>
            <p14:sldId id="1566"/>
            <p14:sldId id="1567"/>
            <p14:sldId id="1568"/>
            <p14:sldId id="1569"/>
            <p14:sldId id="1570"/>
            <p14:sldId id="1571"/>
            <p14:sldId id="1572"/>
            <p14:sldId id="1575"/>
            <p14:sldId id="1577"/>
            <p14:sldId id="1578"/>
            <p14:sldId id="1573"/>
            <p14:sldId id="1574"/>
            <p14:sldId id="1592"/>
            <p14:sldId id="1593"/>
            <p14:sldId id="1610"/>
            <p14:sldId id="1576"/>
          </p14:sldIdLst>
        </p14:section>
        <p14:section name="function" id="{A836ED0C-4C83-47C4-B46B-716F23E0B463}">
          <p14:sldIdLst>
            <p14:sldId id="1583"/>
            <p14:sldId id="1584"/>
            <p14:sldId id="1585"/>
            <p14:sldId id="1586"/>
            <p14:sldId id="472"/>
            <p14:sldId id="480"/>
            <p14:sldId id="1611"/>
            <p14:sldId id="1594"/>
          </p14:sldIdLst>
        </p14:section>
        <p14:section name="procedure" id="{B8D5C1B8-6D44-4F9F-8A15-59AF68C3B42C}">
          <p14:sldIdLst>
            <p14:sldId id="1587"/>
            <p14:sldId id="1589"/>
            <p14:sldId id="1590"/>
          </p14:sldIdLst>
        </p14:section>
        <p14:section name="DCL" id="{7A6ED207-41E8-482B-BEE9-FD4E1F55DB45}">
          <p14:sldIdLst>
            <p14:sldId id="1588"/>
            <p14:sldId id="394"/>
            <p14:sldId id="412"/>
            <p14:sldId id="1581"/>
            <p14:sldId id="1582"/>
            <p14:sldId id="1612"/>
            <p14:sldId id="1591"/>
            <p14:sldId id="1608"/>
            <p14:sldId id="1595"/>
            <p14:sldId id="1596"/>
            <p14:sldId id="1597"/>
            <p14:sldId id="1598"/>
            <p14:sldId id="1599"/>
            <p14:sldId id="1600"/>
            <p14:sldId id="1604"/>
            <p14:sldId id="1605"/>
            <p14:sldId id="1601"/>
            <p14:sldId id="1602"/>
            <p14:sldId id="1603"/>
            <p14:sldId id="1606"/>
            <p14:sldId id="1607"/>
            <p14:sldId id="1514"/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BB"/>
    <a:srgbClr val="F6B69B"/>
    <a:srgbClr val="4472C4"/>
    <a:srgbClr val="FFF7E5"/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06" autoAdjust="0"/>
  </p:normalViewPr>
  <p:slideViewPr>
    <p:cSldViewPr snapToGrid="0">
      <p:cViewPr varScale="1">
        <p:scale>
          <a:sx n="68" d="100"/>
          <a:sy n="6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Pode-se executar o script quanto quiser pois ele restaura um mesmo estado do banco de dados.</a:t>
            </a:r>
          </a:p>
          <a:p>
            <a:r>
              <a:rPr lang="pt-BR" dirty="0"/>
              <a:t>Também chamado de </a:t>
            </a:r>
            <a:r>
              <a:rPr lang="pt-BR" dirty="0" err="1"/>
              <a:t>dump</a:t>
            </a:r>
            <a:r>
              <a:rPr lang="pt-BR" dirty="0"/>
              <a:t> do BD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331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D685-013B-3611-4173-49297463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1B235F-6FDA-6E5B-1E15-8568DADB5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32FD59-8844-53DF-7B25-729BDCDC4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BA4C21-CAEF-A313-BC65-6528907FD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03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4CF04-9415-D945-0534-A9CFB23C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A174F3-DD4C-695D-00A9-98BC9CE14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A2720E-51CF-EE97-0B86-C21236FBA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059F44-BAAA-2202-3D9E-F8DB2BEBF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36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47B5-CB58-9ACF-559C-D6DDF963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CB0746-5986-97C4-50EF-A8EA217E9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438B20-1F73-8722-CAB2-22BAEAE18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CCCFE3-2295-EDE7-ED92-8B83195C7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370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8253-51D5-0B01-6B2C-19550696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2A0367-6B76-9399-67DB-775CE78AF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5A64D4-412C-B894-6F6A-E7238AA9F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E1FB9E-67FC-8D5D-8D95-888BC42F4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501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41F5A-9672-40EC-AB86-B4D519CCEB9C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000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A4BD-32EB-455C-081A-C20145FA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CC7B66-88A3-B831-30A4-13362BD9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E714FE-AC1C-E486-1BBF-3ABDF5685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BBECF7-9284-29A9-6DF5-5BBF0F69A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222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quest.io/blog/sql-trigger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console.aiven.io/signup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sebNaYQpk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5445.courses.cs.cmu.edu/spring2026/slides/01-relationalmode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11</a:t>
            </a:r>
          </a:p>
          <a:p>
            <a:r>
              <a:rPr lang="pt-BR" dirty="0"/>
              <a:t>Linguagem SQL – triggers, </a:t>
            </a:r>
            <a:r>
              <a:rPr lang="pt-BR" dirty="0" err="1"/>
              <a:t>functions</a:t>
            </a:r>
            <a:r>
              <a:rPr lang="pt-BR" dirty="0"/>
              <a:t> e DCL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8D3A-4E1D-B7C3-A617-AC5315EA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2CDBE-5CFE-8FC3-E1C4-26E49A71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Intermediário/Avançado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Tratamento de NULL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Funções agregadas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CTE / Recursividade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Views</a:t>
            </a:r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171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7687-45F4-27FE-6216-5D23D615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F0A00-913E-1AFC-419A-6998C74E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98792-2128-D2C5-6CAE-936F006C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Liste os clientes que ainda não realizaram nenhum pedido. Apresente o código, o nome e a cidade do cliente. Resolva utilizando LEFT JOIN e IS NULL.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Apresente, para cada situação de pedido </a:t>
            </a:r>
            <a:r>
              <a:rPr lang="pt-BR"/>
              <a:t>(status), </a:t>
            </a:r>
            <a:r>
              <a:rPr lang="pt-BR" dirty="0"/>
              <a:t>a quantidade de pedidos e o valor médio do frete. Desconsidere os pedidos cujo frete não foi informado e mostre somente as situações com pelo menos dois pedidos.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Apresente, para cada cliente que tenha realizado pedidos não cancelados: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nome do cliente; quantidade de pedidos; data do primeiro pedido ;data do pedido mais recente.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Mostre somente clientes que tenham realizado pelo menos três pedidos não cancelados.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(CASE) Liste os pedidos e crie uma coluna chamada andamento com a seguinte classificação: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Pendente para pedidos abertos;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Concluído para pedidos pagos ou enviados;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Cancelado para pedidos cancelados.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Apresente o código, a data, o status original e o andamento do pedido.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62D797-9597-7F8D-FB39-11C00592D35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1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0EF6-6353-709B-9364-3F6FB879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BD732-73D5-C0B5-6E5F-C4445D9C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DB77C-7471-A238-E8E8-46C5B3E2D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Projeto (16/09) – via </a:t>
            </a:r>
            <a:r>
              <a:rPr lang="pt-BR" dirty="0" err="1"/>
              <a:t>Classroom</a:t>
            </a:r>
            <a:r>
              <a:rPr lang="pt-BR" dirty="0"/>
              <a:t>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Normalize o banco de dados de seu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Crie um script .</a:t>
            </a:r>
            <a:r>
              <a:rPr lang="pt-BR" dirty="0" err="1"/>
              <a:t>sql</a:t>
            </a:r>
            <a:r>
              <a:rPr lang="pt-BR" dirty="0"/>
              <a:t> (arquivo) que: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um novo esquema (com o nome de seu projeto)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as tabelas (aplique todas as restrições (</a:t>
            </a:r>
            <a:r>
              <a:rPr lang="pt-BR" i="1" dirty="0" err="1"/>
              <a:t>constraints</a:t>
            </a:r>
            <a:r>
              <a:rPr lang="pt-BR" dirty="0"/>
              <a:t>) necessárias)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Documento com 3 partes: </a:t>
            </a:r>
          </a:p>
          <a:p>
            <a:pPr lvl="2"/>
            <a:r>
              <a:rPr lang="pt-BR" b="1" dirty="0"/>
              <a:t>Modelo conceitual</a:t>
            </a:r>
            <a:r>
              <a:rPr lang="pt-BR" dirty="0"/>
              <a:t>: explicação sobre o minimundo, regras de negócio e DER</a:t>
            </a:r>
          </a:p>
          <a:p>
            <a:pPr lvl="2"/>
            <a:r>
              <a:rPr lang="pt-BR" b="1" dirty="0"/>
              <a:t>Modelo lógico</a:t>
            </a:r>
            <a:r>
              <a:rPr lang="pt-BR" dirty="0"/>
              <a:t>: diagrama lógico já normalizado, com possíveis justificativas</a:t>
            </a:r>
          </a:p>
          <a:p>
            <a:pPr lvl="2"/>
            <a:r>
              <a:rPr lang="pt-BR" b="1" dirty="0"/>
              <a:t>Modelo físico</a:t>
            </a:r>
            <a:r>
              <a:rPr lang="pt-BR" dirty="0"/>
              <a:t>: print no Reverse </a:t>
            </a:r>
            <a:r>
              <a:rPr lang="pt-BR" dirty="0" err="1"/>
              <a:t>Engineer</a:t>
            </a:r>
            <a:r>
              <a:rPr lang="pt-BR" dirty="0"/>
              <a:t> do Workbench + arquivo .</a:t>
            </a:r>
            <a:r>
              <a:rPr lang="pt-BR" dirty="0" err="1"/>
              <a:t>sql</a:t>
            </a:r>
            <a:r>
              <a:rPr lang="pt-BR" dirty="0"/>
              <a:t> comentado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985A4C-06BF-6758-176D-FB70760957E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51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137DC-36D1-CE5E-2D8F-8F2A72704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7DA62F-F7F6-0455-88F3-F98EAAB0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SQL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76E7AF-71FC-D0E7-F5C6-3B242C4A7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431" y="103332"/>
            <a:ext cx="7128989" cy="665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C720F-8C4C-5A4D-9E1F-F4AE5385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no </a:t>
            </a:r>
            <a:r>
              <a:rPr lang="pt-BR" dirty="0" err="1"/>
              <a:t>Classroom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52359E-54AA-929A-68C3-D92C9078D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Abra o </a:t>
            </a:r>
            <a:r>
              <a:rPr lang="pt-BR" b="1" dirty="0"/>
              <a:t>MySQL Workbench;</a:t>
            </a:r>
          </a:p>
          <a:p>
            <a:endParaRPr lang="pt-BR" dirty="0"/>
          </a:p>
          <a:p>
            <a:r>
              <a:rPr lang="pt-BR" dirty="0"/>
              <a:t>Execute o script da última aula para criar um novo banco de dados, já </a:t>
            </a:r>
            <a:r>
              <a:rPr lang="pt-BR" dirty="0" err="1"/>
              <a:t>populando-o</a:t>
            </a:r>
            <a:endParaRPr lang="pt-BR" dirty="0"/>
          </a:p>
          <a:p>
            <a:endParaRPr lang="pt-BR" dirty="0"/>
          </a:p>
          <a:p>
            <a:r>
              <a:rPr lang="pt-BR" dirty="0"/>
              <a:t>As próximas atividades usarão este novo banco de dados (</a:t>
            </a:r>
            <a:r>
              <a:rPr lang="pt-BR" i="1" dirty="0"/>
              <a:t>loja_aula1</a:t>
            </a:r>
            <a:r>
              <a:rPr lang="pt-BR" dirty="0"/>
              <a:t>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EED732-A448-3FD7-4101-B282BBD983C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1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2A43-CE71-7D62-DEFC-35349055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F1C3FB-B1EF-A906-DA5A-D83C9DB22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Avançado</a:t>
            </a:r>
          </a:p>
          <a:p>
            <a:pPr lvl="2">
              <a:spcBef>
                <a:spcPts val="1200"/>
              </a:spcBef>
            </a:pPr>
            <a:r>
              <a:rPr lang="pt-BR" b="1" dirty="0"/>
              <a:t>Triggers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Procedures e cursor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DCL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MySQL online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8CCF38-F15C-0F5F-7C73-A8ED112D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8BDDFAB-BE11-7147-36A3-E90E93F2220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43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124B0-5CC3-63E4-D82B-A943FF3A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8530A1-4171-9BD6-4164-641BCA86C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Conceito de gatilho</a:t>
            </a:r>
          </a:p>
          <a:p>
            <a:r>
              <a:rPr lang="pt-BR" dirty="0"/>
              <a:t>Como funcionam eventos no banco de dados</a:t>
            </a:r>
          </a:p>
          <a:p>
            <a:r>
              <a:rPr lang="pt-BR" dirty="0"/>
              <a:t>Criar triggers no MySQL</a:t>
            </a:r>
          </a:p>
          <a:p>
            <a:r>
              <a:rPr lang="pt-BR" dirty="0"/>
              <a:t>Cenários reais</a:t>
            </a:r>
          </a:p>
        </p:txBody>
      </p:sp>
    </p:spTree>
    <p:extLst>
      <p:ext uri="{BB962C8B-B14F-4D97-AF65-F5344CB8AC3E}">
        <p14:creationId xmlns:p14="http://schemas.microsoft.com/office/powerpoint/2010/main" val="62294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9E37A-62E0-A12F-B46F-C07EF44F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751174-829D-0322-B676-9911989C5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Ações engatilhadas que disparam automaticamente quando um evento específico ocorre em uma tabela ou visão.</a:t>
            </a:r>
          </a:p>
          <a:p>
            <a:pPr>
              <a:spcBef>
                <a:spcPts val="2400"/>
              </a:spcBef>
            </a:pPr>
            <a:r>
              <a:rPr lang="pt-BR" dirty="0"/>
              <a:t>São funções executadas pelo SGBD sem intervenção direta do usuário após o disparo do evento</a:t>
            </a:r>
          </a:p>
          <a:p>
            <a:pPr>
              <a:spcBef>
                <a:spcPts val="2400"/>
              </a:spcBef>
            </a:pPr>
            <a:r>
              <a:rPr lang="pt-BR" dirty="0"/>
              <a:t>Pode ser útil para especificar uma condição que, se violada, causa alguma ação </a:t>
            </a:r>
            <a:r>
              <a:rPr lang="pt-BR" dirty="0">
                <a:sym typeface="Wingdings" panose="05000000000000000000" pitchFamily="2" charset="2"/>
              </a:rPr>
              <a:t> monitora o estado do banco de dados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138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BEA94-EB00-FD13-3958-55AA5112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5766EE-79EC-2F31-9AD8-8000EB0FB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Rastrear quem alterou ou excluiu um registro crítico e quando isso aconteceu, mantendo um histórico de segurança para conformidade (LGPD/GDPR);</a:t>
            </a:r>
          </a:p>
          <a:p>
            <a:pPr>
              <a:spcBef>
                <a:spcPts val="2400"/>
              </a:spcBef>
            </a:pPr>
            <a:r>
              <a:rPr lang="pt-BR" dirty="0"/>
              <a:t>Decrementar o estoque de um produto assim que uma venda for confirmada;</a:t>
            </a:r>
          </a:p>
          <a:p>
            <a:pPr>
              <a:spcBef>
                <a:spcPts val="2400"/>
              </a:spcBef>
            </a:pPr>
            <a:r>
              <a:rPr lang="pt-BR" dirty="0"/>
              <a:t>Impedir que um cliente faça um pedido se o seu limite de crédito estiver esgotado, ou impedir a exclusão de um registro mestre que possui dependências ativas</a:t>
            </a:r>
          </a:p>
        </p:txBody>
      </p:sp>
    </p:spTree>
    <p:extLst>
      <p:ext uri="{BB962C8B-B14F-4D97-AF65-F5344CB8AC3E}">
        <p14:creationId xmlns:p14="http://schemas.microsoft.com/office/powerpoint/2010/main" val="301135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F8069-C655-EF0C-3366-37533FAB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A7465-D022-4918-030B-9CC834091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Às vezes precisamos reagir quando os dados do banco forem alterados</a:t>
            </a:r>
          </a:p>
          <a:p>
            <a:pPr>
              <a:spcBef>
                <a:spcPts val="2400"/>
              </a:spcBef>
            </a:pPr>
            <a:r>
              <a:rPr lang="pt-BR" dirty="0"/>
              <a:t>Como resolver?</a:t>
            </a:r>
          </a:p>
          <a:p>
            <a:pPr lvl="1"/>
            <a:r>
              <a:rPr lang="pt-BR" dirty="0"/>
              <a:t>Automatizando essas ações, sem necessitar de chamada explícita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69CE38-06A2-F3E2-13AC-35BBAD27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45" y="4390104"/>
            <a:ext cx="11057110" cy="123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55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67DBC-2660-66F1-F888-90058D34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trigger?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4822E0-4A6D-B775-F48F-C7A3CEF07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Bloco de código executado de forma automática pelo banco de dados em resposta aos seguintes eventos em uma tabela: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INSERT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UPDATE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36454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31ACD-ADB1-40E6-9C31-5904C4A2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F31C36-8974-C29C-0E12-F0EF23D25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Evento </a:t>
            </a:r>
            <a:r>
              <a:rPr lang="pt-BR" dirty="0">
                <a:sym typeface="Wingdings" panose="05000000000000000000" pitchFamily="2" charset="2"/>
              </a:rPr>
              <a:t> Timing  Ação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r>
              <a:rPr lang="pt-BR" dirty="0">
                <a:sym typeface="Wingdings" panose="05000000000000000000" pitchFamily="2" charset="2"/>
              </a:rPr>
              <a:t>Evento: INSERT, UPDATE, DELETE</a:t>
            </a:r>
          </a:p>
          <a:p>
            <a:r>
              <a:rPr lang="pt-BR" dirty="0">
                <a:sym typeface="Wingdings" panose="05000000000000000000" pitchFamily="2" charset="2"/>
              </a:rPr>
              <a:t>Timing: BEFORE, AFTER, INSTEAD OF</a:t>
            </a:r>
          </a:p>
          <a:p>
            <a:r>
              <a:rPr lang="pt-BR" dirty="0">
                <a:sym typeface="Wingdings" panose="05000000000000000000" pitchFamily="2" charset="2"/>
              </a:rPr>
              <a:t>Ação: seu código SQL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3065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8A1F3-6C28-8F89-23A1-BE19251F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A3A674-246C-FA6C-B61C-CD115303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How a SQL Trigger Works">
            <a:extLst>
              <a:ext uri="{FF2B5EF4-FFF2-40B4-BE49-F238E27FC236}">
                <a16:creationId xmlns:a16="http://schemas.microsoft.com/office/drawing/2014/main" id="{02ACDA75-3EF8-9D02-93AE-EC323F5E1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7" b="5867"/>
          <a:stretch/>
        </p:blipFill>
        <p:spPr bwMode="auto">
          <a:xfrm>
            <a:off x="2152650" y="1619338"/>
            <a:ext cx="7886700" cy="476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6A21C48-7F11-E3E1-D194-678997FC4959}"/>
              </a:ext>
            </a:extLst>
          </p:cNvPr>
          <p:cNvSpPr txBox="1"/>
          <p:nvPr/>
        </p:nvSpPr>
        <p:spPr>
          <a:xfrm>
            <a:off x="3872089" y="6518186"/>
            <a:ext cx="4447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3"/>
              </a:rPr>
              <a:t>https://www.dataquest.io/blog/sql-trigger/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4632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125B9-32A0-1E5F-8C68-D9B126EA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75664D-365D-141E-05D4-F8CE94B9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BEFORE</a:t>
            </a:r>
            <a:r>
              <a:rPr lang="pt-BR" dirty="0"/>
              <a:t>: dispara a trigger antes que alteração seja escrita no banco de dados </a:t>
            </a:r>
            <a:r>
              <a:rPr lang="pt-BR" dirty="0">
                <a:sym typeface="Wingdings" panose="05000000000000000000" pitchFamily="2" charset="2"/>
              </a:rPr>
              <a:t> útil para validações</a:t>
            </a:r>
          </a:p>
          <a:p>
            <a:pPr>
              <a:spcBef>
                <a:spcPts val="2400"/>
              </a:spcBef>
            </a:pPr>
            <a:r>
              <a:rPr lang="pt-BR" b="1" dirty="0">
                <a:solidFill>
                  <a:schemeClr val="accent1"/>
                </a:solidFill>
                <a:sym typeface="Wingdings" panose="05000000000000000000" pitchFamily="2" charset="2"/>
              </a:rPr>
              <a:t>AFTER</a:t>
            </a:r>
            <a:r>
              <a:rPr lang="pt-BR" dirty="0">
                <a:sym typeface="Wingdings" panose="05000000000000000000" pitchFamily="2" charset="2"/>
              </a:rPr>
              <a:t>: dispara a trigger depois que a alteração foi feita  útil para criar logs de auditoria ou sincronizar tabelas relacionadas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rgbClr val="00B050"/>
                </a:solidFill>
                <a:sym typeface="Wingdings" panose="05000000000000000000" pitchFamily="2" charset="2"/>
              </a:rPr>
              <a:t>INSTEAD OF</a:t>
            </a:r>
            <a:r>
              <a:rPr lang="pt-BR" dirty="0">
                <a:sym typeface="Wingdings" panose="05000000000000000000" pitchFamily="2" charset="2"/>
              </a:rPr>
              <a:t>: dispara a trigger no lugar da operação original  útil para manutenção de tabelas legadas, soft delete, particionamento, criptografar dados sensíveis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607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E0247-364D-5379-D67D-89A94EC3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8A69E-A4F8-8C26-573C-7D2244C6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Definem quantas vezes o código do trigger vai rodar quando um comando DML for executado</a:t>
            </a:r>
          </a:p>
          <a:p>
            <a:pPr lvl="1">
              <a:spcBef>
                <a:spcPts val="1200"/>
              </a:spcBef>
            </a:pPr>
            <a:r>
              <a:rPr lang="pt-BR" dirty="0">
                <a:solidFill>
                  <a:srgbClr val="4472C4"/>
                </a:solidFill>
              </a:rPr>
              <a:t>Nível de linha </a:t>
            </a:r>
            <a:r>
              <a:rPr lang="pt-BR" dirty="0"/>
              <a:t>(</a:t>
            </a:r>
            <a:r>
              <a:rPr lang="pt-BR" i="1" dirty="0" err="1"/>
              <a:t>row-level</a:t>
            </a:r>
            <a:r>
              <a:rPr lang="pt-BR" dirty="0"/>
              <a:t>): executa 1 vez a cada linha afetada</a:t>
            </a:r>
          </a:p>
          <a:p>
            <a:pPr lvl="1">
              <a:spcBef>
                <a:spcPts val="1200"/>
              </a:spcBef>
            </a:pPr>
            <a:r>
              <a:rPr lang="pt-BR" dirty="0">
                <a:solidFill>
                  <a:srgbClr val="F6B69B"/>
                </a:solidFill>
              </a:rPr>
              <a:t>Nível de instrução </a:t>
            </a:r>
            <a:r>
              <a:rPr lang="pt-BR" dirty="0"/>
              <a:t>(</a:t>
            </a:r>
            <a:r>
              <a:rPr lang="pt-BR" i="1" dirty="0" err="1"/>
              <a:t>statement-level</a:t>
            </a:r>
            <a:r>
              <a:rPr lang="pt-BR" dirty="0"/>
              <a:t>): executa 1 vez por comando, não importando quantas linhas tenham sido afetadas (0, 1, n)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D7A72D-0447-9EFA-D316-C8379C1674D8}"/>
              </a:ext>
            </a:extLst>
          </p:cNvPr>
          <p:cNvSpPr/>
          <p:nvPr/>
        </p:nvSpPr>
        <p:spPr>
          <a:xfrm>
            <a:off x="-1" y="4131732"/>
            <a:ext cx="6005689" cy="2726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Exemplo:</a:t>
            </a:r>
          </a:p>
          <a:p>
            <a:pPr algn="ctr"/>
            <a:r>
              <a:rPr lang="pt-BR" dirty="0"/>
              <a:t>UPDATE Produtos 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 * 1.1 WHERE Categoria = 'Eletrônicos’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Se esse comando atualizar 500 produtos de uma vez, o trigger de instrução será disparado </a:t>
            </a:r>
            <a:r>
              <a:rPr lang="pt-BR" b="1" u="none" strike="noStrike" dirty="0">
                <a:effectLst/>
                <a:latin typeface="Google Sans"/>
              </a:rPr>
              <a:t>apenas uma única vez</a:t>
            </a:r>
            <a:r>
              <a:rPr lang="pt-BR" dirty="0"/>
              <a:t>.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 Ideal para registrar logs de auditoria simples ("O usuário X alterou a tabela Y às 14h") ou validações globais que não dependem dos valores individuais de cada linha.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FF98F69-CDDD-B2BE-4AEB-F31D2E2E9172}"/>
              </a:ext>
            </a:extLst>
          </p:cNvPr>
          <p:cNvSpPr/>
          <p:nvPr/>
        </p:nvSpPr>
        <p:spPr>
          <a:xfrm>
            <a:off x="6358466" y="4131732"/>
            <a:ext cx="5833534" cy="27262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Exemplo:</a:t>
            </a:r>
          </a:p>
          <a:p>
            <a:pPr algn="ctr"/>
            <a:r>
              <a:rPr lang="pt-BR" dirty="0"/>
              <a:t>UPDATE Produtos 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 * 1.1 WHERE Categoria = 'Eletrônicos’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o trigger de linha será executado </a:t>
            </a:r>
            <a:r>
              <a:rPr lang="pt-BR" b="1" u="none" strike="noStrike" dirty="0">
                <a:effectLst/>
                <a:latin typeface="Google Sans"/>
              </a:rPr>
              <a:t>500 vezes seguidas</a:t>
            </a:r>
            <a:r>
              <a:rPr lang="pt-BR" dirty="0"/>
              <a:t> (uma vez para cada produto modificado).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 Essencial quando você precisa fazer cálculos linha por linha, validar valores específicos de cada registro (como impedir que o estoque de um item específico fique negativo)</a:t>
            </a:r>
          </a:p>
        </p:txBody>
      </p:sp>
    </p:spTree>
    <p:extLst>
      <p:ext uri="{BB962C8B-B14F-4D97-AF65-F5344CB8AC3E}">
        <p14:creationId xmlns:p14="http://schemas.microsoft.com/office/powerpoint/2010/main" val="15686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05BAD-0F7A-BBCB-E4E7-77661393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F3B9E9-5101-51C9-00D9-6DD0A66B6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Row-Level vs Statement-Level Triggers">
            <a:extLst>
              <a:ext uri="{FF2B5EF4-FFF2-40B4-BE49-F238E27FC236}">
                <a16:creationId xmlns:a16="http://schemas.microsoft.com/office/drawing/2014/main" id="{061F97EF-CC14-1B15-6C73-F0C75FB3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849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6693C-CECA-641D-D34A-C43BCEC6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9F2A1C-D4D2-4747-8DBB-FD2FA5487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criar no MySQL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4B7F79-D68C-238A-3930-CC062435038E}"/>
              </a:ext>
            </a:extLst>
          </p:cNvPr>
          <p:cNvSpPr txBox="1"/>
          <p:nvPr/>
        </p:nvSpPr>
        <p:spPr>
          <a:xfrm>
            <a:off x="4272845" y="3129975"/>
            <a:ext cx="4775200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CREATE TRIGGER</a:t>
            </a:r>
            <a:r>
              <a:rPr lang="en-US" sz="2400" b="0" i="0" dirty="0">
                <a:solidFill>
                  <a:srgbClr val="B392F0"/>
                </a:solidFill>
                <a:effectLst/>
                <a:latin typeface="Inconsolata" panose="020F0502020204030204" pitchFamily="2" charset="0"/>
              </a:rPr>
              <a:t> </a:t>
            </a:r>
            <a:r>
              <a:rPr lang="en-US" sz="2400" b="0" i="0" dirty="0" err="1">
                <a:solidFill>
                  <a:srgbClr val="B392F0"/>
                </a:solidFill>
                <a:effectLst/>
                <a:latin typeface="Inconsolata" panose="020F0502020204030204" pitchFamily="2" charset="0"/>
              </a:rPr>
              <a:t>trigger_name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</a:t>
            </a:r>
          </a:p>
          <a:p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AFTER UPDATE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</a:t>
            </a:r>
          </a:p>
          <a:p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ON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</a:t>
            </a:r>
            <a:r>
              <a:rPr lang="en-US" sz="2400" b="0" i="0" dirty="0" err="1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table_name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</a:t>
            </a:r>
          </a:p>
          <a:p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FOR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EACH </a:t>
            </a:r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ROW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</a:t>
            </a:r>
          </a:p>
          <a:p>
            <a:endParaRPr lang="en-US" sz="2400" b="0" i="0" dirty="0">
              <a:solidFill>
                <a:srgbClr val="F97583"/>
              </a:solidFill>
              <a:effectLst/>
              <a:latin typeface="Inconsolata" panose="020F0502020204030204" pitchFamily="2" charset="0"/>
            </a:endParaRPr>
          </a:p>
          <a:p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BEGIN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 </a:t>
            </a:r>
          </a:p>
          <a:p>
            <a:r>
              <a:rPr lang="en-US" sz="2400" dirty="0">
                <a:solidFill>
                  <a:srgbClr val="E1E4E8"/>
                </a:solidFill>
                <a:latin typeface="Inconsolata" panose="020F0502020204030204" pitchFamily="2" charset="0"/>
              </a:rPr>
              <a:t>	</a:t>
            </a:r>
            <a:r>
              <a:rPr lang="en-US" sz="2400" b="0" i="0" dirty="0">
                <a:solidFill>
                  <a:srgbClr val="6A737D"/>
                </a:solidFill>
                <a:effectLst/>
                <a:latin typeface="Inconsolata" panose="020F0502020204030204" pitchFamily="2" charset="0"/>
              </a:rPr>
              <a:t>-- your logic here </a:t>
            </a:r>
          </a:p>
          <a:p>
            <a:r>
              <a:rPr lang="en-US" sz="2400" b="0" i="0" dirty="0">
                <a:solidFill>
                  <a:srgbClr val="F97583"/>
                </a:solidFill>
                <a:effectLst/>
                <a:latin typeface="Inconsolata" panose="020F0502020204030204" pitchFamily="2" charset="0"/>
              </a:rPr>
              <a:t>END</a:t>
            </a:r>
            <a:r>
              <a:rPr lang="en-US" sz="2400" b="0" i="0" dirty="0">
                <a:solidFill>
                  <a:srgbClr val="E1E4E8"/>
                </a:solidFill>
                <a:effectLst/>
                <a:latin typeface="Inconsolata" panose="020F0502020204030204" pitchFamily="2" charset="0"/>
              </a:rPr>
              <a:t>;</a:t>
            </a:r>
            <a:endParaRPr lang="pt-BR" sz="2400" dirty="0"/>
          </a:p>
        </p:txBody>
      </p:sp>
      <p:sp>
        <p:nvSpPr>
          <p:cNvPr id="5" name="Texto Explicativo: Linha 4">
            <a:extLst>
              <a:ext uri="{FF2B5EF4-FFF2-40B4-BE49-F238E27FC236}">
                <a16:creationId xmlns:a16="http://schemas.microsoft.com/office/drawing/2014/main" id="{C5FAE433-93FC-C4F0-3372-35604F1295D5}"/>
              </a:ext>
            </a:extLst>
          </p:cNvPr>
          <p:cNvSpPr/>
          <p:nvPr/>
        </p:nvSpPr>
        <p:spPr>
          <a:xfrm>
            <a:off x="8133645" y="2347265"/>
            <a:ext cx="1924756" cy="612648"/>
          </a:xfrm>
          <a:prstGeom prst="borderCallout1">
            <a:avLst>
              <a:gd name="adj1" fmla="val 18750"/>
              <a:gd name="adj2" fmla="val -8333"/>
              <a:gd name="adj3" fmla="val 123556"/>
              <a:gd name="adj4" fmla="val -3422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ID da trigger</a:t>
            </a:r>
          </a:p>
        </p:txBody>
      </p:sp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D17E2DB6-DF02-E593-3A74-B1841028E729}"/>
              </a:ext>
            </a:extLst>
          </p:cNvPr>
          <p:cNvSpPr/>
          <p:nvPr/>
        </p:nvSpPr>
        <p:spPr>
          <a:xfrm>
            <a:off x="1738489" y="3396562"/>
            <a:ext cx="1924756" cy="612648"/>
          </a:xfrm>
          <a:prstGeom prst="borderCallout1">
            <a:avLst>
              <a:gd name="adj1" fmla="val 33491"/>
              <a:gd name="adj2" fmla="val 103690"/>
              <a:gd name="adj3" fmla="val 70119"/>
              <a:gd name="adj4" fmla="val 142899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Timing</a:t>
            </a:r>
          </a:p>
        </p:txBody>
      </p:sp>
      <p:sp>
        <p:nvSpPr>
          <p:cNvPr id="7" name="Texto Explicativo: Linha 6">
            <a:extLst>
              <a:ext uri="{FF2B5EF4-FFF2-40B4-BE49-F238E27FC236}">
                <a16:creationId xmlns:a16="http://schemas.microsoft.com/office/drawing/2014/main" id="{7AB0A741-471C-206B-0F64-706505007E14}"/>
              </a:ext>
            </a:extLst>
          </p:cNvPr>
          <p:cNvSpPr/>
          <p:nvPr/>
        </p:nvSpPr>
        <p:spPr>
          <a:xfrm>
            <a:off x="9429044" y="3649466"/>
            <a:ext cx="1924756" cy="612648"/>
          </a:xfrm>
          <a:prstGeom prst="borderCallout1">
            <a:avLst>
              <a:gd name="adj1" fmla="val 35334"/>
              <a:gd name="adj2" fmla="val -7160"/>
              <a:gd name="adj3" fmla="val 18526"/>
              <a:gd name="adj4" fmla="val -15211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Evento</a:t>
            </a:r>
          </a:p>
        </p:txBody>
      </p:sp>
      <p:sp>
        <p:nvSpPr>
          <p:cNvPr id="8" name="Texto Explicativo: Linha 7">
            <a:extLst>
              <a:ext uri="{FF2B5EF4-FFF2-40B4-BE49-F238E27FC236}">
                <a16:creationId xmlns:a16="http://schemas.microsoft.com/office/drawing/2014/main" id="{6C7D39CB-A1F7-A96A-9CE8-B86B7AEF1CFF}"/>
              </a:ext>
            </a:extLst>
          </p:cNvPr>
          <p:cNvSpPr/>
          <p:nvPr/>
        </p:nvSpPr>
        <p:spPr>
          <a:xfrm>
            <a:off x="1738489" y="5273823"/>
            <a:ext cx="1924756" cy="612648"/>
          </a:xfrm>
          <a:prstGeom prst="borderCallout1">
            <a:avLst>
              <a:gd name="adj1" fmla="val 33491"/>
              <a:gd name="adj2" fmla="val 103690"/>
              <a:gd name="adj3" fmla="val 57221"/>
              <a:gd name="adj4" fmla="val 14935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Ação</a:t>
            </a:r>
          </a:p>
        </p:txBody>
      </p:sp>
      <p:sp>
        <p:nvSpPr>
          <p:cNvPr id="9" name="Texto Explicativo: Linha 8">
            <a:extLst>
              <a:ext uri="{FF2B5EF4-FFF2-40B4-BE49-F238E27FC236}">
                <a16:creationId xmlns:a16="http://schemas.microsoft.com/office/drawing/2014/main" id="{4BF5FB39-27A7-3996-487B-371F1EC92A12}"/>
              </a:ext>
            </a:extLst>
          </p:cNvPr>
          <p:cNvSpPr/>
          <p:nvPr/>
        </p:nvSpPr>
        <p:spPr>
          <a:xfrm>
            <a:off x="1738489" y="4326652"/>
            <a:ext cx="1924756" cy="612648"/>
          </a:xfrm>
          <a:prstGeom prst="borderCallout1">
            <a:avLst>
              <a:gd name="adj1" fmla="val 33491"/>
              <a:gd name="adj2" fmla="val 103690"/>
              <a:gd name="adj3" fmla="val -7272"/>
              <a:gd name="adj4" fmla="val 15580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Tabela-alvo</a:t>
            </a:r>
          </a:p>
        </p:txBody>
      </p:sp>
      <p:sp>
        <p:nvSpPr>
          <p:cNvPr id="10" name="Texto Explicativo: Linha 9">
            <a:extLst>
              <a:ext uri="{FF2B5EF4-FFF2-40B4-BE49-F238E27FC236}">
                <a16:creationId xmlns:a16="http://schemas.microsoft.com/office/drawing/2014/main" id="{CF0F037D-4218-033B-CDB6-2956577EC64F}"/>
              </a:ext>
            </a:extLst>
          </p:cNvPr>
          <p:cNvSpPr/>
          <p:nvPr/>
        </p:nvSpPr>
        <p:spPr>
          <a:xfrm>
            <a:off x="9491133" y="4414013"/>
            <a:ext cx="1924756" cy="612648"/>
          </a:xfrm>
          <a:prstGeom prst="borderCallout1">
            <a:avLst>
              <a:gd name="adj1" fmla="val 35334"/>
              <a:gd name="adj2" fmla="val -7160"/>
              <a:gd name="adj3" fmla="val 18526"/>
              <a:gd name="adj4" fmla="val -15211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Nível da trigger</a:t>
            </a:r>
          </a:p>
        </p:txBody>
      </p:sp>
    </p:spTree>
    <p:extLst>
      <p:ext uri="{BB962C8B-B14F-4D97-AF65-F5344CB8AC3E}">
        <p14:creationId xmlns:p14="http://schemas.microsoft.com/office/powerpoint/2010/main" val="1824147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FED3F-23C8-1A23-0813-AD8E9703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02B5E-9258-F4EA-08F3-26A1E1C0E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uma tupla é atualizada temos acesso aos valores:</a:t>
            </a:r>
          </a:p>
          <a:p>
            <a:pPr lvl="1"/>
            <a:r>
              <a:rPr lang="pt-BR" dirty="0"/>
              <a:t>NEW: valor após a alteração</a:t>
            </a:r>
          </a:p>
          <a:p>
            <a:pPr lvl="1"/>
            <a:r>
              <a:rPr lang="pt-BR" dirty="0"/>
              <a:t>OLD: valor antes da alteração</a:t>
            </a:r>
          </a:p>
        </p:txBody>
      </p:sp>
      <p:pic>
        <p:nvPicPr>
          <p:cNvPr id="4098" name="Picture 2" descr="SQL Trigger Example (Old vs New)">
            <a:extLst>
              <a:ext uri="{FF2B5EF4-FFF2-40B4-BE49-F238E27FC236}">
                <a16:creationId xmlns:a16="http://schemas.microsoft.com/office/drawing/2014/main" id="{9650AAC7-60C4-C261-09CC-599DBA097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 b="3374"/>
          <a:stretch/>
        </p:blipFill>
        <p:spPr bwMode="auto">
          <a:xfrm>
            <a:off x="2344561" y="3092600"/>
            <a:ext cx="7333024" cy="363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488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150D3-97EE-4431-95CA-DDB10B22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914A7E-2B0D-BF48-F7BE-8C7D96D32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CE00EE-0267-5D64-70EF-42847C5B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85" y="1547807"/>
            <a:ext cx="6743230" cy="51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03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F5564-C564-85DB-261F-039DB295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603FFE-F35B-8F08-016E-894AF73D6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D89E5D-C9EB-824B-C2E6-A0F8B8C4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396" y="1643306"/>
            <a:ext cx="6491207" cy="521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81348-46CB-F865-B7AA-65BF87A4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BC1753-A45C-F177-1D66-CB650051B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no MySQL Workbench (arquivo no </a:t>
            </a:r>
            <a:r>
              <a:rPr lang="pt-BR" i="1" dirty="0" err="1"/>
              <a:t>Classroom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Crie uma tabela </a:t>
            </a:r>
            <a:r>
              <a:rPr lang="pt-BR" dirty="0" err="1"/>
              <a:t>Usuario</a:t>
            </a:r>
            <a:r>
              <a:rPr lang="pt-BR" dirty="0"/>
              <a:t> e uma </a:t>
            </a:r>
            <a:r>
              <a:rPr lang="pt-BR" dirty="0" err="1"/>
              <a:t>Usuario_log</a:t>
            </a:r>
            <a:endParaRPr lang="pt-BR" dirty="0"/>
          </a:p>
          <a:p>
            <a:pPr lvl="1"/>
            <a:r>
              <a:rPr lang="pt-BR" dirty="0"/>
              <a:t>Quando alguém editar dados de um usuário, crie um log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3A634D-2BF1-8421-89DD-BDC8152BB14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110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4AE62-F1CE-D6B9-8D80-0C4AB1E9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689971-1116-F422-0342-4D234CEC3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DML (INSET, UPDATE, DELETE)</a:t>
            </a:r>
          </a:p>
          <a:p>
            <a:pPr>
              <a:spcBef>
                <a:spcPts val="2400"/>
              </a:spcBef>
            </a:pPr>
            <a:r>
              <a:rPr lang="pt-BR" dirty="0"/>
              <a:t>Comandos DDL (não suportado no MySQL): monitora eventos na estrutura do banco de dados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CREATE, ALTER, DROP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Ex.: impedir usuários de excluírem tabelas em ambiente de produção, salvando quem fez a tentativa em uma tabela de auditoria</a:t>
            </a:r>
          </a:p>
        </p:txBody>
      </p:sp>
    </p:spTree>
    <p:extLst>
      <p:ext uri="{BB962C8B-B14F-4D97-AF65-F5344CB8AC3E}">
        <p14:creationId xmlns:p14="http://schemas.microsoft.com/office/powerpoint/2010/main" val="17575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FF6E7-FE9C-AEF8-AC75-106F5FBF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9EB3E5-6F26-F942-8A0F-34F783B0C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Avançado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Triggers</a:t>
            </a:r>
          </a:p>
          <a:p>
            <a:pPr lvl="2">
              <a:spcBef>
                <a:spcPts val="1200"/>
              </a:spcBef>
            </a:pPr>
            <a:r>
              <a:rPr lang="pt-BR" b="1" dirty="0" err="1"/>
              <a:t>Functions</a:t>
            </a:r>
            <a:endParaRPr lang="pt-BR" b="1" dirty="0"/>
          </a:p>
          <a:p>
            <a:pPr lvl="2">
              <a:spcBef>
                <a:spcPts val="1200"/>
              </a:spcBef>
            </a:pPr>
            <a:r>
              <a:rPr lang="pt-BR" dirty="0"/>
              <a:t>Procedures e cursor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DCL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MySQL online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D8D135-2F41-BB47-3EEE-F2B34FCE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9CF6F12-D4C5-E6E0-126B-1778F917D55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632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059DD-7073-021C-CB6B-18173B4B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602A87-5C74-5D9A-FA02-2A16B971D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função é um bloco de código nomeado e reutilizável que fica salvo no banco de dados, aceita dados de entrada e retorna um valor como resultado</a:t>
            </a:r>
          </a:p>
          <a:p>
            <a:pPr>
              <a:spcBef>
                <a:spcPts val="2400"/>
              </a:spcBef>
            </a:pPr>
            <a:r>
              <a:rPr lang="pt-BR" dirty="0"/>
              <a:t>Útil para: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Reuso de código: evita repetir a mesma lógica em vários lugares;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Simplifica consultas: deixa comandos SELECT mais fáceis de ler;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Centralizar regras: mantém regras de negócio no próprio BD, garantindo que o resultado seja sempre o mesmo para qualquer aplicação acessando os dados</a:t>
            </a:r>
          </a:p>
        </p:txBody>
      </p:sp>
    </p:spTree>
    <p:extLst>
      <p:ext uri="{BB962C8B-B14F-4D97-AF65-F5344CB8AC3E}">
        <p14:creationId xmlns:p14="http://schemas.microsoft.com/office/powerpoint/2010/main" val="38150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C852B-CDA3-0A08-BCF3-B7B93C1E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B712BA-6EB8-605C-876B-5C1C3B472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Funções embutidas no MySQL: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String: </a:t>
            </a:r>
            <a:r>
              <a:rPr lang="pt-BR" dirty="0">
                <a:solidFill>
                  <a:srgbClr val="0076BB"/>
                </a:solidFill>
              </a:rPr>
              <a:t>CONCAT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LOWER</a:t>
            </a:r>
            <a:r>
              <a:rPr lang="pt-BR" dirty="0"/>
              <a:t> () / </a:t>
            </a:r>
            <a:r>
              <a:rPr lang="pt-BR" dirty="0">
                <a:solidFill>
                  <a:srgbClr val="0076BB"/>
                </a:solidFill>
              </a:rPr>
              <a:t>UPPER</a:t>
            </a:r>
            <a:r>
              <a:rPr lang="pt-BR" dirty="0"/>
              <a:t> () / </a:t>
            </a:r>
            <a:r>
              <a:rPr lang="pt-BR" dirty="0">
                <a:solidFill>
                  <a:srgbClr val="0076BB"/>
                </a:solidFill>
              </a:rPr>
              <a:t>REPLACE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SUBSTRING</a:t>
            </a:r>
            <a:r>
              <a:rPr lang="pt-BR" dirty="0"/>
              <a:t>()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Numérica: </a:t>
            </a:r>
            <a:r>
              <a:rPr lang="pt-BR" dirty="0">
                <a:solidFill>
                  <a:srgbClr val="0076BB"/>
                </a:solidFill>
              </a:rPr>
              <a:t>ROUND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CEIL</a:t>
            </a:r>
            <a:r>
              <a:rPr lang="pt-BR" dirty="0"/>
              <a:t> () / </a:t>
            </a:r>
            <a:r>
              <a:rPr lang="pt-BR" dirty="0">
                <a:solidFill>
                  <a:srgbClr val="0076BB"/>
                </a:solidFill>
              </a:rPr>
              <a:t>FLOOR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ABS</a:t>
            </a:r>
            <a:r>
              <a:rPr lang="pt-BR" dirty="0"/>
              <a:t>()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Datas: </a:t>
            </a:r>
            <a:r>
              <a:rPr lang="pt-BR" dirty="0">
                <a:solidFill>
                  <a:srgbClr val="0076BB"/>
                </a:solidFill>
              </a:rPr>
              <a:t>NOW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CURDATE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DATEDIFF</a:t>
            </a:r>
            <a:r>
              <a:rPr lang="pt-BR" dirty="0"/>
              <a:t>()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Agregação: </a:t>
            </a:r>
            <a:r>
              <a:rPr lang="pt-BR" dirty="0">
                <a:solidFill>
                  <a:srgbClr val="0076BB"/>
                </a:solidFill>
              </a:rPr>
              <a:t>COUNT</a:t>
            </a:r>
            <a:r>
              <a:rPr lang="pt-BR" dirty="0"/>
              <a:t>() / </a:t>
            </a:r>
            <a:r>
              <a:rPr lang="pt-BR" dirty="0">
                <a:solidFill>
                  <a:srgbClr val="0076BB"/>
                </a:solidFill>
              </a:rPr>
              <a:t>MAX</a:t>
            </a:r>
            <a:r>
              <a:rPr lang="pt-BR" dirty="0"/>
              <a:t> () / </a:t>
            </a:r>
            <a:r>
              <a:rPr lang="pt-BR" dirty="0">
                <a:solidFill>
                  <a:srgbClr val="0076BB"/>
                </a:solidFill>
              </a:rPr>
              <a:t>MIN</a:t>
            </a:r>
            <a:r>
              <a:rPr lang="pt-BR" dirty="0"/>
              <a:t> () / </a:t>
            </a:r>
            <a:r>
              <a:rPr lang="pt-BR" dirty="0">
                <a:solidFill>
                  <a:srgbClr val="0076BB"/>
                </a:solidFill>
              </a:rPr>
              <a:t>AVG</a:t>
            </a:r>
            <a:r>
              <a:rPr lang="pt-BR" dirty="0"/>
              <a:t> ()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Controle: </a:t>
            </a:r>
            <a:r>
              <a:rPr lang="pt-BR" dirty="0">
                <a:solidFill>
                  <a:srgbClr val="0076BB"/>
                </a:solidFill>
              </a:rPr>
              <a:t>IF</a:t>
            </a:r>
            <a:r>
              <a:rPr lang="pt-BR" dirty="0"/>
              <a:t> () / </a:t>
            </a:r>
            <a:r>
              <a:rPr lang="pt-BR" dirty="0">
                <a:solidFill>
                  <a:srgbClr val="0076BB"/>
                </a:solidFill>
              </a:rPr>
              <a:t>COALESCE</a:t>
            </a:r>
            <a:r>
              <a:rPr lang="pt-BR" dirty="0"/>
              <a:t> ()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4205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7DF4B-8066-9CDE-F091-3EF631F8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Functions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7B1D6B-4AC9-132C-DB98-B70F25F75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User-defined</a:t>
            </a:r>
            <a:r>
              <a:rPr lang="pt-BR" i="1" dirty="0"/>
              <a:t> </a:t>
            </a:r>
            <a:r>
              <a:rPr lang="pt-BR" i="1" dirty="0" err="1"/>
              <a:t>functions</a:t>
            </a:r>
            <a:r>
              <a:rPr lang="pt-BR" i="1" dirty="0"/>
              <a:t> </a:t>
            </a:r>
            <a:r>
              <a:rPr lang="pt-BR" dirty="0"/>
              <a:t>(UDF): função definida pelo usuário para realizar uma tarefa específica que as funções nativas de um SGBD não conseguem resolver sozinhas</a:t>
            </a:r>
          </a:p>
        </p:txBody>
      </p:sp>
    </p:spTree>
    <p:extLst>
      <p:ext uri="{BB962C8B-B14F-4D97-AF65-F5344CB8AC3E}">
        <p14:creationId xmlns:p14="http://schemas.microsoft.com/office/powerpoint/2010/main" val="2932254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C9C0B-2F3B-2623-3080-9EF9CDD8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99BAAE-755E-6590-BC16-C2BB48426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E91BD6-7DC2-C647-866A-DF8412C7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244" y="1690688"/>
            <a:ext cx="4265512" cy="49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00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1EE07-18E8-1AF2-76AC-5036C9D3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58F6E7-3864-6A1B-0EAD-CB360E7E2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BF4EDC-13D9-C938-BC08-F206B2E2E74C}"/>
              </a:ext>
            </a:extLst>
          </p:cNvPr>
          <p:cNvSpPr txBox="1"/>
          <p:nvPr/>
        </p:nvSpPr>
        <p:spPr>
          <a:xfrm>
            <a:off x="-440267" y="1998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E3D4512-F65D-FBB2-B822-49BA05399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57" y="2367465"/>
            <a:ext cx="9990686" cy="408467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BDFD04-0343-212F-3930-7390CA573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571" y="5029153"/>
            <a:ext cx="5247129" cy="114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2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9347-5BBA-A186-4238-D807B724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57BB8-3D1B-4C00-5D3F-330A46C0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074D36-96C7-F7C4-E063-E6DD40B9D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r>
              <a:rPr lang="pt-BR" dirty="0"/>
              <a:t>Exemplo no MySQL Workbench (arquivo no </a:t>
            </a:r>
            <a:r>
              <a:rPr lang="pt-BR" i="1" dirty="0" err="1"/>
              <a:t>Classroom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Crie uma UDF </a:t>
            </a:r>
            <a:r>
              <a:rPr lang="pt-BR" b="1" i="1" dirty="0" err="1"/>
              <a:t>fn_CalcularDesconto</a:t>
            </a:r>
            <a:r>
              <a:rPr lang="pt-BR" b="1" i="1" dirty="0"/>
              <a:t> (</a:t>
            </a:r>
            <a:r>
              <a:rPr lang="pt-BR" b="1" i="1" dirty="0" err="1"/>
              <a:t>preco_original</a:t>
            </a:r>
            <a:r>
              <a:rPr lang="pt-BR" b="1" i="1" dirty="0"/>
              <a:t>, </a:t>
            </a:r>
            <a:r>
              <a:rPr lang="pt-BR" b="1" i="1" dirty="0" err="1"/>
              <a:t>desconto_percentual</a:t>
            </a:r>
            <a:r>
              <a:rPr lang="pt-BR" b="1" i="1" dirty="0"/>
              <a:t>)</a:t>
            </a:r>
          </a:p>
          <a:p>
            <a:pPr lvl="1"/>
            <a:r>
              <a:rPr lang="pt-BR" dirty="0"/>
              <a:t>Retorna o novo valor, já com o desconto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417BB5-F60D-F177-D6ED-8CEBB4F7A7A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668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B68E3-BFDC-F943-D96F-0BA09B19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2A39DC-2F15-5B09-2CEC-6B635695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8DACDE4-F19E-CCB1-4A63-EC475ACDD7B9}"/>
              </a:ext>
            </a:extLst>
          </p:cNvPr>
          <p:cNvGrpSpPr/>
          <p:nvPr/>
        </p:nvGrpSpPr>
        <p:grpSpPr>
          <a:xfrm>
            <a:off x="3430358" y="365125"/>
            <a:ext cx="4663775" cy="6388633"/>
            <a:chOff x="3769025" y="365125"/>
            <a:chExt cx="4473328" cy="612775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EF4D08A-D391-DDDF-508B-8DAF278B4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9025" y="365125"/>
              <a:ext cx="4473328" cy="463336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ED619DE-2E0E-5026-5FE0-BBAD11FB0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9025" y="4968743"/>
              <a:ext cx="4244708" cy="1524132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F03C6E1C-BF16-21F7-2DD2-7F6D2CD6F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95212" y="4998487"/>
              <a:ext cx="347141" cy="14943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302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6B4A8-F1E0-0EFA-AD12-721B047D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622BC5-88F5-E599-CD2D-FB328D4B2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Avançado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Triggers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b="1" dirty="0"/>
              <a:t>Procedures e cursor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DCL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MySQL online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4A9171-6537-7C49-71CE-6C284C64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11A1B9-0312-CDEC-9F5F-D5786A760FC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276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E5D76-6F2C-2D43-72A7-0C8443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Procedures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EA42C5-235F-E8D0-BC45-6AB3660D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9933" cy="4351338"/>
          </a:xfrm>
        </p:spPr>
        <p:txBody>
          <a:bodyPr>
            <a:normAutofit fontScale="92500" lnSpcReduction="20000"/>
          </a:bodyPr>
          <a:lstStyle/>
          <a:p>
            <a:r>
              <a:rPr lang="pt-BR" i="1" dirty="0" err="1"/>
              <a:t>Stored</a:t>
            </a:r>
            <a:r>
              <a:rPr lang="pt-BR" i="1" dirty="0"/>
              <a:t> procedure </a:t>
            </a:r>
            <a:r>
              <a:rPr lang="pt-BR" dirty="0"/>
              <a:t>(procedimento armazenado)</a:t>
            </a:r>
          </a:p>
          <a:p>
            <a:pPr>
              <a:spcBef>
                <a:spcPts val="2400"/>
              </a:spcBef>
            </a:pPr>
            <a:r>
              <a:rPr lang="pt-BR" dirty="0"/>
              <a:t>Bloco de código salvo no BD e que pode ser executado quando necessário</a:t>
            </a:r>
          </a:p>
          <a:p>
            <a:pPr>
              <a:spcBef>
                <a:spcPts val="2400"/>
              </a:spcBef>
            </a:pPr>
            <a:r>
              <a:rPr lang="pt-BR" dirty="0"/>
              <a:t>Pode retornar conjunto de tuplas</a:t>
            </a:r>
          </a:p>
          <a:p>
            <a:pPr>
              <a:spcBef>
                <a:spcPts val="2400"/>
              </a:spcBef>
            </a:pPr>
            <a:r>
              <a:rPr lang="pt-BR" dirty="0"/>
              <a:t>Vantagens: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Reuso (mesma lógica em vários lugares)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Desempenho (única chamada ao BD)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Segurança (acesso a ações e não a dados)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Organização (centraliza regras de negócio)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4162DA-DAA9-A502-98EF-AE1382204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279" y="2753008"/>
            <a:ext cx="4931100" cy="16948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FA0BA4C-0B93-65C9-77D1-F99ABA16B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279" y="5137033"/>
            <a:ext cx="4803781" cy="37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63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9A934-3D2C-70E5-1AD8-A8C58E20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828E8A-0F24-5E50-840B-FAF415F2E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4409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Objeto do BD para navegar e processar, linha por linha, o resultado de uma instrução SELECT</a:t>
            </a:r>
          </a:p>
          <a:p>
            <a:pPr>
              <a:spcBef>
                <a:spcPts val="2400"/>
              </a:spcBef>
            </a:pPr>
            <a:r>
              <a:rPr lang="pt-BR" dirty="0"/>
              <a:t>Funciona como um ponteiro: permite que o sistema leia ou altere os valores daquela linha antes de passar para a próxima </a:t>
            </a:r>
          </a:p>
          <a:p>
            <a:pPr>
              <a:spcBef>
                <a:spcPts val="2400"/>
              </a:spcBef>
            </a:pPr>
            <a:r>
              <a:rPr lang="pt-BR" dirty="0"/>
              <a:t>Só pode ser usado em </a:t>
            </a:r>
            <a:r>
              <a:rPr lang="pt-BR" i="1" dirty="0" err="1"/>
              <a:t>functions</a:t>
            </a:r>
            <a:r>
              <a:rPr lang="pt-BR" dirty="0"/>
              <a:t>, </a:t>
            </a:r>
            <a:r>
              <a:rPr lang="pt-BR" i="1" dirty="0"/>
              <a:t>procedures </a:t>
            </a:r>
            <a:r>
              <a:rPr lang="pt-BR" dirty="0"/>
              <a:t>ou </a:t>
            </a:r>
            <a:r>
              <a:rPr lang="pt-BR" i="1" dirty="0"/>
              <a:t>triggers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CDBEBC-A646-4491-1204-8D3E0CA1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609" y="1690688"/>
            <a:ext cx="4269593" cy="4987172"/>
          </a:xfrm>
          <a:prstGeom prst="rect">
            <a:avLst/>
          </a:prstGeom>
        </p:spPr>
      </p:pic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768CA58A-8755-C3BC-0631-C171A368586D}"/>
              </a:ext>
            </a:extLst>
          </p:cNvPr>
          <p:cNvSpPr/>
          <p:nvPr/>
        </p:nvSpPr>
        <p:spPr>
          <a:xfrm>
            <a:off x="10540181" y="1930610"/>
            <a:ext cx="1651819" cy="612648"/>
          </a:xfrm>
          <a:prstGeom prst="wedgeRoundRectCallout">
            <a:avLst>
              <a:gd name="adj1" fmla="val -127074"/>
              <a:gd name="adj2" fmla="val 7373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Declarar cursor</a:t>
            </a:r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CD717650-76AA-B84A-CC7D-70580E157D6C}"/>
              </a:ext>
            </a:extLst>
          </p:cNvPr>
          <p:cNvSpPr/>
          <p:nvPr/>
        </p:nvSpPr>
        <p:spPr>
          <a:xfrm>
            <a:off x="9555725" y="2835938"/>
            <a:ext cx="1347019" cy="612648"/>
          </a:xfrm>
          <a:prstGeom prst="wedgeRoundRectCallout">
            <a:avLst>
              <a:gd name="adj1" fmla="val -278446"/>
              <a:gd name="adj2" fmla="val 4645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Abrir cursor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756E5931-6612-8B00-FC57-3E3AE6DEFF74}"/>
              </a:ext>
            </a:extLst>
          </p:cNvPr>
          <p:cNvSpPr/>
          <p:nvPr/>
        </p:nvSpPr>
        <p:spPr>
          <a:xfrm>
            <a:off x="8303590" y="3661062"/>
            <a:ext cx="1847602" cy="612648"/>
          </a:xfrm>
          <a:prstGeom prst="wedgeRoundRectCallout">
            <a:avLst>
              <a:gd name="adj1" fmla="val -103859"/>
              <a:gd name="adj2" fmla="val 3200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Recuperar dados</a:t>
            </a:r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6406C2C3-364D-70F7-5295-6EC71594AD90}"/>
              </a:ext>
            </a:extLst>
          </p:cNvPr>
          <p:cNvSpPr/>
          <p:nvPr/>
        </p:nvSpPr>
        <p:spPr>
          <a:xfrm>
            <a:off x="7474607" y="5782217"/>
            <a:ext cx="1847602" cy="406580"/>
          </a:xfrm>
          <a:prstGeom prst="wedgeRoundRectCallout">
            <a:avLst>
              <a:gd name="adj1" fmla="val -103859"/>
              <a:gd name="adj2" fmla="val 3926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Fechar cursor</a:t>
            </a:r>
          </a:p>
        </p:txBody>
      </p:sp>
      <p:sp>
        <p:nvSpPr>
          <p:cNvPr id="9" name="Balão de Fala: Retângulo com Cantos Arredondados 8">
            <a:extLst>
              <a:ext uri="{FF2B5EF4-FFF2-40B4-BE49-F238E27FC236}">
                <a16:creationId xmlns:a16="http://schemas.microsoft.com/office/drawing/2014/main" id="{DEECC243-4AB2-3B91-F191-7DE2ED023039}"/>
              </a:ext>
            </a:extLst>
          </p:cNvPr>
          <p:cNvSpPr/>
          <p:nvPr/>
        </p:nvSpPr>
        <p:spPr>
          <a:xfrm>
            <a:off x="8100982" y="4486186"/>
            <a:ext cx="1847602" cy="612648"/>
          </a:xfrm>
          <a:prstGeom prst="wedgeRoundRectCallout">
            <a:avLst>
              <a:gd name="adj1" fmla="val -103859"/>
              <a:gd name="adj2" fmla="val 3200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Processar dados</a:t>
            </a:r>
          </a:p>
        </p:txBody>
      </p:sp>
    </p:spTree>
    <p:extLst>
      <p:ext uri="{BB962C8B-B14F-4D97-AF65-F5344CB8AC3E}">
        <p14:creationId xmlns:p14="http://schemas.microsoft.com/office/powerpoint/2010/main" val="920072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97C8-2054-1790-EE0E-B20A9654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349B95-2DC3-7AAC-C363-AB28AE304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Avançado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Triggers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Procedures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DCL</a:t>
            </a: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MySQL online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4F4805-20DC-A44D-68C5-8C8C4DDD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65B92A-10DC-BA35-F2F0-F43D3CDCFA4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759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5CF4C-0B6F-0F84-FEF6-F2578D42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DCL (</a:t>
            </a:r>
            <a:r>
              <a:rPr lang="pt-BR" i="1" dirty="0"/>
              <a:t>Data </a:t>
            </a:r>
            <a:r>
              <a:rPr lang="pt-BR" i="1" dirty="0" err="1"/>
              <a:t>Control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365F21-1B8B-D71B-C493-84EBC7204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para atribuir ou revogar permissões a usuários específicos ou grupos de usuários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8B8819-EAD9-9E9D-A7B3-8DCCB2D1D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345" y="3050304"/>
            <a:ext cx="7611310" cy="276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31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E8561-9DAC-D2A8-9C42-5814F1B3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DCL -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2EDDEA-7278-B4A8-FB6C-6774036F5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0A10D0-4D02-A9C0-E724-023B7DEA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85" y="2180673"/>
            <a:ext cx="4858428" cy="8478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CEDFC5B-BD2B-D55D-800D-CFBBFAD0B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788" y="3393402"/>
            <a:ext cx="1600423" cy="4763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D5903B7-C396-69CD-1473-E7D92D7D5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42" y="4811403"/>
            <a:ext cx="7842716" cy="11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52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E8D92-7A4C-4C8D-E900-8CF1CB80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31FF7C-832A-866F-DA10-3050F781D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Você é administrador do sistema de uma loja e precisa criar um usuário para um funcionário do setor de vendas que só pode consultar (SELECT) e inserir (INSERT) dados na tabela de Produtos.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Criar usuário</a:t>
            </a:r>
          </a:p>
          <a:p>
            <a:pPr lvl="1">
              <a:spcBef>
                <a:spcPts val="3000"/>
              </a:spcBef>
            </a:pPr>
            <a:r>
              <a:rPr lang="pt-BR" dirty="0"/>
              <a:t>Conceder permissões </a:t>
            </a:r>
          </a:p>
          <a:p>
            <a:pPr lvl="1">
              <a:spcBef>
                <a:spcPts val="3000"/>
              </a:spcBef>
            </a:pPr>
            <a:r>
              <a:rPr lang="pt-BR" dirty="0"/>
              <a:t>Verificar permissões</a:t>
            </a:r>
          </a:p>
          <a:p>
            <a:pPr lvl="1">
              <a:spcBef>
                <a:spcPts val="3000"/>
              </a:spcBef>
            </a:pPr>
            <a:r>
              <a:rPr lang="pt-BR" dirty="0"/>
              <a:t>Remover permissões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627C55-23CF-4F50-7482-A00247EF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74" y="3153542"/>
            <a:ext cx="6907633" cy="5509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0F0394-8066-BC7B-F472-5FCA47CED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74" y="3930737"/>
            <a:ext cx="6777295" cy="55091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16AC0A-7E65-E77A-BA97-6D833A498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574" y="4637376"/>
            <a:ext cx="4438506" cy="60288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38907C-FA58-245C-223B-63B2E983A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74" y="5376210"/>
            <a:ext cx="5581913" cy="55091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9B42CFB-85E5-9664-C729-E194C8085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74" y="6207303"/>
            <a:ext cx="4544507" cy="5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0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1667-8287-5EC1-7DFA-E985319A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86A72-8D9F-15CD-960B-80B14610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DCL - Workbench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577BD-9F34-150F-12EE-2030AFAA6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MySQL Workbench</a:t>
            </a:r>
          </a:p>
          <a:p>
            <a:pPr lvl="1"/>
            <a:r>
              <a:rPr lang="pt-BR" dirty="0"/>
              <a:t>Menu ‘</a:t>
            </a:r>
            <a:r>
              <a:rPr lang="pt-BR" i="1" dirty="0"/>
              <a:t>Server</a:t>
            </a:r>
            <a:r>
              <a:rPr lang="pt-BR" dirty="0"/>
              <a:t> &gt; </a:t>
            </a:r>
            <a:r>
              <a:rPr lang="pt-BR" i="1" dirty="0" err="1"/>
              <a:t>Users</a:t>
            </a:r>
            <a:r>
              <a:rPr lang="pt-BR" i="1" dirty="0"/>
              <a:t>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privileges</a:t>
            </a:r>
            <a:r>
              <a:rPr lang="pt-BR" dirty="0"/>
              <a:t>’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B2B8915-5FE0-94A0-51BB-8B521325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78" y="3640048"/>
            <a:ext cx="3286584" cy="13241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056066D-EDC0-EC3C-FE9D-6634018A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784" y="2800730"/>
            <a:ext cx="7620000" cy="300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99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5B04-26A3-C689-AD0F-73E036373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BC9D7-3DDF-ABAD-D5D3-568C434F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0C9DAD-898D-6A39-13EF-EAA89C80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r>
              <a:rPr lang="pt-BR" dirty="0"/>
              <a:t>Exemplo no MySQL Workbench (arquivo no </a:t>
            </a:r>
            <a:r>
              <a:rPr lang="pt-BR" i="1" dirty="0" err="1"/>
              <a:t>Classroom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Crie um usuário </a:t>
            </a:r>
            <a:r>
              <a:rPr lang="pt-BR" b="1" i="1" dirty="0"/>
              <a:t>Leitor</a:t>
            </a:r>
          </a:p>
          <a:p>
            <a:pPr lvl="1"/>
            <a:r>
              <a:rPr lang="pt-BR" dirty="0"/>
              <a:t>Dê permissão de fazer apenas SELECT na tabela Produto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25796B-8FC0-F370-1F01-71655E86B62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6335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FE1-FF87-A921-24D8-0D3195E0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F34DA-4C32-355D-336E-C52100E6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C91D5C-A159-728A-6325-3DED0A2AF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Crie uma </a:t>
            </a:r>
            <a:r>
              <a:rPr lang="pt-BR" b="1" dirty="0"/>
              <a:t>função</a:t>
            </a:r>
            <a:r>
              <a:rPr lang="pt-BR" dirty="0"/>
              <a:t> </a:t>
            </a:r>
            <a:r>
              <a:rPr lang="pt-BR" i="1" dirty="0" err="1"/>
              <a:t>fn_total_pedido</a:t>
            </a:r>
            <a:r>
              <a:rPr lang="pt-BR" dirty="0"/>
              <a:t> que recebe o id de um Pedido e retorna o valor total deste Pedido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 soma dos subtotais de todos os itens + o frete (tratando NULL como 0)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Teste chamando a função com 2 pedidos diferentes (frete NULL e NOT NULL)</a:t>
            </a:r>
          </a:p>
          <a:p>
            <a:pPr>
              <a:spcBef>
                <a:spcPts val="2400"/>
              </a:spcBef>
            </a:pPr>
            <a:r>
              <a:rPr lang="pt-BR" dirty="0"/>
              <a:t>Crie uma </a:t>
            </a:r>
            <a:r>
              <a:rPr lang="pt-BR" b="1" dirty="0"/>
              <a:t>trigger</a:t>
            </a:r>
            <a:r>
              <a:rPr lang="pt-BR" dirty="0"/>
              <a:t> que impeça o registro de Itens inativos (ativo=0) em </a:t>
            </a:r>
            <a:r>
              <a:rPr lang="pt-BR" dirty="0" err="1"/>
              <a:t>ItemPedido</a:t>
            </a: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Teste tentando inserir um </a:t>
            </a:r>
            <a:r>
              <a:rPr lang="pt-BR" dirty="0" err="1"/>
              <a:t>ItemPedido</a:t>
            </a:r>
            <a:r>
              <a:rPr lang="pt-BR" dirty="0"/>
              <a:t> com </a:t>
            </a:r>
            <a:r>
              <a:rPr lang="pt-BR" dirty="0" err="1"/>
              <a:t>idPedido</a:t>
            </a:r>
            <a:r>
              <a:rPr lang="pt-BR" dirty="0"/>
              <a:t>=24 e </a:t>
            </a:r>
            <a:r>
              <a:rPr lang="pt-BR" dirty="0" err="1"/>
              <a:t>idProduto</a:t>
            </a:r>
            <a:r>
              <a:rPr lang="pt-BR" dirty="0"/>
              <a:t>=15</a:t>
            </a:r>
          </a:p>
          <a:p>
            <a:pPr>
              <a:spcBef>
                <a:spcPts val="2400"/>
              </a:spcBef>
            </a:pPr>
            <a:r>
              <a:rPr lang="pt-BR" dirty="0"/>
              <a:t>Crie um </a:t>
            </a:r>
            <a:r>
              <a:rPr lang="pt-BR" b="1" dirty="0"/>
              <a:t>usuário</a:t>
            </a:r>
            <a:r>
              <a:rPr lang="pt-BR" dirty="0"/>
              <a:t> do banco de dados chamado </a:t>
            </a:r>
            <a:r>
              <a:rPr lang="pt-BR" i="1" dirty="0" err="1"/>
              <a:t>relatorios</a:t>
            </a:r>
            <a:r>
              <a:rPr lang="pt-BR" dirty="0"/>
              <a:t> com permissão apenas de SELECT em todas as tabelas do </a:t>
            </a:r>
            <a:r>
              <a:rPr lang="pt-BR" dirty="0" err="1"/>
              <a:t>schema</a:t>
            </a: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Teste abrindo uma </a:t>
            </a:r>
            <a:r>
              <a:rPr lang="pt-BR" dirty="0">
                <a:solidFill>
                  <a:srgbClr val="FF0000"/>
                </a:solidFill>
              </a:rPr>
              <a:t>nova conexão </a:t>
            </a:r>
            <a:r>
              <a:rPr lang="pt-BR" dirty="0"/>
              <a:t>no Workbench com esse usuário, mostrando que o SELECT é permitido e o INSERT é negado pelo banco;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41E7FB-A64C-C5D8-A8E8-AAE9114DA86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CD219F6-8033-27C9-ACAF-A0D15CB9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188" y="6256634"/>
            <a:ext cx="2499577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2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97D4-04D8-2E4B-4BF2-8AC8C9CF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146E68-7685-00CB-4704-57FDFB77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Avançado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Triggers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Procedures e cursor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DCL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MySQL online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349A0D-A46A-E225-7E80-4072AC44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301C054-FADF-D661-7A9D-359E6F6AD49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0863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2EF2E-EB92-FC4E-F9C8-A4C8D219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Crie uma conta no </a:t>
            </a:r>
            <a:r>
              <a:rPr lang="pt-BR" dirty="0" err="1"/>
              <a:t>Aiven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40F8FE-29C2-9E0B-A0D7-309A667C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F46D5A-8F0F-BD13-F1B2-711DD022CBDB}"/>
              </a:ext>
            </a:extLst>
          </p:cNvPr>
          <p:cNvSpPr txBox="1"/>
          <p:nvPr/>
        </p:nvSpPr>
        <p:spPr>
          <a:xfrm>
            <a:off x="3048000" y="62620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hlinkClick r:id="rId2"/>
              </a:rPr>
              <a:t>https://console.aiven.io/signup</a:t>
            </a:r>
            <a:r>
              <a:rPr lang="pt-BR" sz="2400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6B8163-A4A7-1CB8-9051-494D3E4D4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83" y="1652527"/>
            <a:ext cx="9943233" cy="4455349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A267A43-664C-F070-1D4F-906C7120B930}"/>
              </a:ext>
            </a:extLst>
          </p:cNvPr>
          <p:cNvSpPr/>
          <p:nvPr/>
        </p:nvSpPr>
        <p:spPr>
          <a:xfrm>
            <a:off x="6570132" y="4173713"/>
            <a:ext cx="4346223" cy="578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609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055C4-6DC0-4037-E6A7-FB60F756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Valide sua conta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D9ED23-B038-F1AD-D022-14F2FFABF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4AD1F2-0CE5-74A7-81CF-1B64A7995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15" y="1563511"/>
            <a:ext cx="4480948" cy="5296359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D53EE63-47F5-3901-471D-64D26E00F1D4}"/>
              </a:ext>
            </a:extLst>
          </p:cNvPr>
          <p:cNvSpPr/>
          <p:nvPr/>
        </p:nvSpPr>
        <p:spPr>
          <a:xfrm>
            <a:off x="4103140" y="5294489"/>
            <a:ext cx="4346223" cy="578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106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DA4EC-60F8-D01F-2CDE-80AA0257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Crie e nomeie um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9C72D0-C6DE-4DB6-1627-2730B6E8C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37F72C-DAD5-69C7-7501-63B983572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64" y="2188626"/>
            <a:ext cx="3772227" cy="34064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CFD4D6-33B8-1195-57AB-271E05EC70C1}"/>
              </a:ext>
            </a:extLst>
          </p:cNvPr>
          <p:cNvSpPr/>
          <p:nvPr/>
        </p:nvSpPr>
        <p:spPr>
          <a:xfrm>
            <a:off x="666044" y="4534957"/>
            <a:ext cx="2167468" cy="3192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337A0A2-0CBD-DC53-8F26-85DC5013E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106" y="1880651"/>
            <a:ext cx="4823878" cy="371126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0B84DE54-818E-10CD-457B-26F04D67E01E}"/>
              </a:ext>
            </a:extLst>
          </p:cNvPr>
          <p:cNvSpPr/>
          <p:nvPr/>
        </p:nvSpPr>
        <p:spPr>
          <a:xfrm>
            <a:off x="5874105" y="2731911"/>
            <a:ext cx="2184223" cy="321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DCFC8F-66E6-FDB6-6B0D-95516B230708}"/>
              </a:ext>
            </a:extLst>
          </p:cNvPr>
          <p:cNvSpPr/>
          <p:nvPr/>
        </p:nvSpPr>
        <p:spPr>
          <a:xfrm>
            <a:off x="9281397" y="4865510"/>
            <a:ext cx="1205981" cy="395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934B1102-5F6C-4AA8-C94E-CEDD12740489}"/>
              </a:ext>
            </a:extLst>
          </p:cNvPr>
          <p:cNvSpPr/>
          <p:nvPr/>
        </p:nvSpPr>
        <p:spPr>
          <a:xfrm>
            <a:off x="4713230" y="3429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075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91A96-3D37-3048-5ED2-0C4A5215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Selecione o serviço MySQL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D089C4-BC54-C359-80B5-4872F252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5829838-68B2-EA09-A413-20A645D3495B}"/>
              </a:ext>
            </a:extLst>
          </p:cNvPr>
          <p:cNvGrpSpPr/>
          <p:nvPr/>
        </p:nvGrpSpPr>
        <p:grpSpPr>
          <a:xfrm>
            <a:off x="838200" y="1704066"/>
            <a:ext cx="10569856" cy="4275190"/>
            <a:chOff x="838200" y="1704066"/>
            <a:chExt cx="10569856" cy="427519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D7A8B66-F877-0E10-491F-474C691E9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704066"/>
              <a:ext cx="10569856" cy="427519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5443419-8011-EBE3-E488-CBE7CEE07EEE}"/>
                </a:ext>
              </a:extLst>
            </p:cNvPr>
            <p:cNvSpPr/>
            <p:nvPr/>
          </p:nvSpPr>
          <p:spPr>
            <a:xfrm>
              <a:off x="4301066" y="4236772"/>
              <a:ext cx="3420533" cy="77549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37257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F1536-753A-98B1-CCE7-83BE3D6B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B9A59-9A5C-096B-9C69-46687131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210F46-35AD-E686-6D22-26F51CE73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42"/>
            <a:ext cx="12192000" cy="676251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37600B1-29AE-C4E9-4137-F2C1320DD2A6}"/>
              </a:ext>
            </a:extLst>
          </p:cNvPr>
          <p:cNvSpPr/>
          <p:nvPr/>
        </p:nvSpPr>
        <p:spPr>
          <a:xfrm>
            <a:off x="632177" y="1370409"/>
            <a:ext cx="2675468" cy="13255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606F658-36CB-0557-A930-11089163BDC5}"/>
              </a:ext>
            </a:extLst>
          </p:cNvPr>
          <p:cNvSpPr/>
          <p:nvPr/>
        </p:nvSpPr>
        <p:spPr>
          <a:xfrm>
            <a:off x="10735733" y="6096000"/>
            <a:ext cx="1219199" cy="603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0301C1A-0DE0-2116-85E0-96877E15D392}"/>
              </a:ext>
            </a:extLst>
          </p:cNvPr>
          <p:cNvSpPr/>
          <p:nvPr/>
        </p:nvSpPr>
        <p:spPr>
          <a:xfrm>
            <a:off x="4515555" y="2695972"/>
            <a:ext cx="2957689" cy="15352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Escolha o Free </a:t>
            </a:r>
            <a:r>
              <a:rPr lang="pt-BR" sz="2800" b="1" dirty="0" err="1"/>
              <a:t>Tier</a:t>
            </a:r>
            <a:r>
              <a:rPr lang="pt-BR" sz="2800" b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402483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063A9-AE47-6DC5-24C5-9B813E9A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8B8E6-08A1-17DF-F954-C08819905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EA9A2C-3685-00D7-24A4-BE8289FF6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920"/>
            <a:ext cx="12192000" cy="606016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F56C561-1D2E-8E67-D1C8-6032D5F4A9CD}"/>
              </a:ext>
            </a:extLst>
          </p:cNvPr>
          <p:cNvSpPr/>
          <p:nvPr/>
        </p:nvSpPr>
        <p:spPr>
          <a:xfrm>
            <a:off x="10961511" y="2370667"/>
            <a:ext cx="1049868" cy="645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4192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26C1F-2DF8-0F4E-3B59-DC685CDE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conectar no Workbench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3B19E4-3DF2-ADFF-4DB3-560427315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FF1E19-E047-6C65-F9EE-3A68608B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07" y="1897617"/>
            <a:ext cx="7224386" cy="4595258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FC410EF-D555-B497-99CE-0DF58EE133C4}"/>
              </a:ext>
            </a:extLst>
          </p:cNvPr>
          <p:cNvSpPr/>
          <p:nvPr/>
        </p:nvSpPr>
        <p:spPr>
          <a:xfrm>
            <a:off x="2652888" y="4154134"/>
            <a:ext cx="2483555" cy="4858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055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BFC4D-DE8B-D165-D719-BB57E7D9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Baixe e carrega certificado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C2DF40-3F79-8383-4401-BED0FB163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462BB8-2DF8-4CE1-50E7-9A7873A4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65" y="1829031"/>
            <a:ext cx="7254869" cy="46638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1023995-079A-2BB9-6229-16A35A37AB85}"/>
              </a:ext>
            </a:extLst>
          </p:cNvPr>
          <p:cNvSpPr/>
          <p:nvPr/>
        </p:nvSpPr>
        <p:spPr>
          <a:xfrm>
            <a:off x="2468566" y="3675089"/>
            <a:ext cx="1866368" cy="354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273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BCA0F-AB38-82CE-3400-7F978C93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 conexão no Workbench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7F84B8-E4DA-63EC-CB70-4BCD6AF0C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90318C-001A-4BC2-DA46-AEEB337EB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44" y="1445658"/>
            <a:ext cx="10984089" cy="5111272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503878C-92A3-4D33-F47C-F1BC8DD2FB8D}"/>
              </a:ext>
            </a:extLst>
          </p:cNvPr>
          <p:cNvSpPr/>
          <p:nvPr/>
        </p:nvSpPr>
        <p:spPr>
          <a:xfrm>
            <a:off x="2370665" y="4255909"/>
            <a:ext cx="349957" cy="3725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4363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1942E-FDFB-B416-AB41-DADC8B4F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F42044-F9F4-F7CE-B032-70EEE01C6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6B0AF4C-E6EF-275A-3C8C-88F25064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711" y="957374"/>
            <a:ext cx="8498577" cy="5796179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B4E469A-1120-EFB3-0236-BC30DE3A6B91}"/>
              </a:ext>
            </a:extLst>
          </p:cNvPr>
          <p:cNvSpPr/>
          <p:nvPr/>
        </p:nvSpPr>
        <p:spPr>
          <a:xfrm>
            <a:off x="4278489" y="2596444"/>
            <a:ext cx="2043289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34D06A-1D76-379F-A527-87A3BABD0FBB}"/>
              </a:ext>
            </a:extLst>
          </p:cNvPr>
          <p:cNvSpPr/>
          <p:nvPr/>
        </p:nvSpPr>
        <p:spPr>
          <a:xfrm>
            <a:off x="6321778" y="2588973"/>
            <a:ext cx="1008511" cy="3122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B43F339-48B6-A4B5-9A32-1FDDA7C1F889}"/>
              </a:ext>
            </a:extLst>
          </p:cNvPr>
          <p:cNvSpPr/>
          <p:nvPr/>
        </p:nvSpPr>
        <p:spPr>
          <a:xfrm>
            <a:off x="4278489" y="2901244"/>
            <a:ext cx="2043289" cy="40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6BC313A-BD61-34B9-0B09-5CB8C378E6F3}"/>
              </a:ext>
            </a:extLst>
          </p:cNvPr>
          <p:cNvSpPr/>
          <p:nvPr/>
        </p:nvSpPr>
        <p:spPr>
          <a:xfrm>
            <a:off x="3965707" y="3573690"/>
            <a:ext cx="2356071" cy="38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14212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7EDC3-FAC2-EAC5-EA29-63A8654B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C919E-D8C2-F52C-8C24-FF2C39AF8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481ABD4-9C88-7CD7-D3E6-BB5B92998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553" y="1690687"/>
            <a:ext cx="7370670" cy="49522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3BD9894-C17D-5150-71A7-334392FDA71C}"/>
              </a:ext>
            </a:extLst>
          </p:cNvPr>
          <p:cNvSpPr/>
          <p:nvPr/>
        </p:nvSpPr>
        <p:spPr>
          <a:xfrm>
            <a:off x="5192889" y="3924124"/>
            <a:ext cx="2356071" cy="38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5CD9C6-E33A-D0E0-AE30-95B8F3FFB213}"/>
              </a:ext>
            </a:extLst>
          </p:cNvPr>
          <p:cNvSpPr/>
          <p:nvPr/>
        </p:nvSpPr>
        <p:spPr>
          <a:xfrm>
            <a:off x="8376356" y="6176963"/>
            <a:ext cx="998091" cy="430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06C1A74-0D88-FA13-C585-1C93CCAD92A4}"/>
              </a:ext>
            </a:extLst>
          </p:cNvPr>
          <p:cNvSpPr/>
          <p:nvPr/>
        </p:nvSpPr>
        <p:spPr>
          <a:xfrm>
            <a:off x="5192888" y="3035124"/>
            <a:ext cx="2356071" cy="38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491D22C-CFB0-D631-2611-CA912ABE1DE6}"/>
              </a:ext>
            </a:extLst>
          </p:cNvPr>
          <p:cNvSpPr/>
          <p:nvPr/>
        </p:nvSpPr>
        <p:spPr>
          <a:xfrm>
            <a:off x="5113865" y="2727050"/>
            <a:ext cx="440268" cy="38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623D4CE-BE9A-A3BD-99E3-0E79DF28AFC6}"/>
              </a:ext>
            </a:extLst>
          </p:cNvPr>
          <p:cNvSpPr/>
          <p:nvPr/>
        </p:nvSpPr>
        <p:spPr>
          <a:xfrm>
            <a:off x="959555" y="3229290"/>
            <a:ext cx="2957689" cy="2595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Aba SSL!!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Aponte para o certificado baixado</a:t>
            </a:r>
          </a:p>
        </p:txBody>
      </p:sp>
    </p:spTree>
    <p:extLst>
      <p:ext uri="{BB962C8B-B14F-4D97-AF65-F5344CB8AC3E}">
        <p14:creationId xmlns:p14="http://schemas.microsoft.com/office/powerpoint/2010/main" val="3198890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41B9-127B-1D0D-5BCB-4D80FD7A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0B363-6868-C73D-FA67-6F7422B3C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A93828-C7F3-973B-9F4E-7D44EA4FF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FD5280-6E94-E7F4-6B46-6960E038F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920"/>
            <a:ext cx="12192000" cy="606016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15B8C49-4E97-A4F0-6E49-9277D8084B4E}"/>
              </a:ext>
            </a:extLst>
          </p:cNvPr>
          <p:cNvSpPr/>
          <p:nvPr/>
        </p:nvSpPr>
        <p:spPr>
          <a:xfrm>
            <a:off x="2009422" y="5192889"/>
            <a:ext cx="10058400" cy="4854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6CA75A-120E-F5FB-0323-90F292544248}"/>
              </a:ext>
            </a:extLst>
          </p:cNvPr>
          <p:cNvSpPr/>
          <p:nvPr/>
        </p:nvSpPr>
        <p:spPr>
          <a:xfrm>
            <a:off x="6096000" y="1904647"/>
            <a:ext cx="2957689" cy="1222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Copie a senha</a:t>
            </a:r>
          </a:p>
        </p:txBody>
      </p:sp>
    </p:spTree>
    <p:extLst>
      <p:ext uri="{BB962C8B-B14F-4D97-AF65-F5344CB8AC3E}">
        <p14:creationId xmlns:p14="http://schemas.microsoft.com/office/powerpoint/2010/main" val="1529445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13CAF-EDD8-5D1E-8625-9EFB796A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28841E-EF7D-8F48-07F9-47F10AE72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CF251E-E74F-056B-C033-7DB416D0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593" y="1247359"/>
            <a:ext cx="7952474" cy="543977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49F444D-BF99-4CFE-11FC-14E593CDF4A4}"/>
              </a:ext>
            </a:extLst>
          </p:cNvPr>
          <p:cNvSpPr/>
          <p:nvPr/>
        </p:nvSpPr>
        <p:spPr>
          <a:xfrm>
            <a:off x="5396089" y="3511516"/>
            <a:ext cx="2356071" cy="38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420E4A1-999B-5FE1-65E1-646607CE49F0}"/>
              </a:ext>
            </a:extLst>
          </p:cNvPr>
          <p:cNvSpPr/>
          <p:nvPr/>
        </p:nvSpPr>
        <p:spPr>
          <a:xfrm>
            <a:off x="959555" y="3229290"/>
            <a:ext cx="2957689" cy="2595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Insira a senha, teste a conexão e dê OK.</a:t>
            </a:r>
          </a:p>
        </p:txBody>
      </p:sp>
    </p:spTree>
    <p:extLst>
      <p:ext uri="{BB962C8B-B14F-4D97-AF65-F5344CB8AC3E}">
        <p14:creationId xmlns:p14="http://schemas.microsoft.com/office/powerpoint/2010/main" val="21112365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0D35-59F5-4305-B639-305C6654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100B8-51D0-FDA9-651C-6BDBE7A5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8ECB9E-907F-7099-EF33-94781F771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Seminários BD:</a:t>
            </a:r>
          </a:p>
          <a:p>
            <a:r>
              <a:rPr lang="pt-BR" dirty="0"/>
              <a:t>Chave-valor [</a:t>
            </a:r>
            <a:r>
              <a:rPr lang="pt-BR" b="1" dirty="0"/>
              <a:t>Giovana</a:t>
            </a:r>
            <a:r>
              <a:rPr lang="pt-BR" dirty="0"/>
              <a:t>]</a:t>
            </a:r>
          </a:p>
          <a:p>
            <a:r>
              <a:rPr lang="pt-BR" dirty="0"/>
              <a:t>Documentos [</a:t>
            </a:r>
            <a:r>
              <a:rPr lang="pt-BR" b="1" dirty="0"/>
              <a:t>Isaac</a:t>
            </a:r>
            <a:r>
              <a:rPr lang="pt-BR" dirty="0"/>
              <a:t>]</a:t>
            </a:r>
          </a:p>
          <a:p>
            <a:r>
              <a:rPr lang="pt-BR" dirty="0"/>
              <a:t>Colunar </a:t>
            </a:r>
            <a:r>
              <a:rPr lang="pt-BR" b="1" dirty="0"/>
              <a:t>[Mariana]</a:t>
            </a:r>
          </a:p>
          <a:p>
            <a:r>
              <a:rPr lang="pt-BR" dirty="0"/>
              <a:t>Geoespacial [</a:t>
            </a:r>
            <a:r>
              <a:rPr lang="pt-BR" b="1" dirty="0"/>
              <a:t>David</a:t>
            </a:r>
            <a:r>
              <a:rPr lang="pt-BR" dirty="0"/>
              <a:t>]</a:t>
            </a:r>
          </a:p>
          <a:p>
            <a:r>
              <a:rPr lang="pt-BR" dirty="0"/>
              <a:t>Vetorial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r>
              <a:rPr lang="pt-BR" dirty="0"/>
              <a:t>Grafo propriedades [</a:t>
            </a:r>
            <a:r>
              <a:rPr lang="pt-BR" b="1" dirty="0"/>
              <a:t>Mateus</a:t>
            </a:r>
            <a:r>
              <a:rPr lang="pt-BR" dirty="0"/>
              <a:t>]</a:t>
            </a:r>
          </a:p>
          <a:p>
            <a:r>
              <a:rPr lang="pt-BR" dirty="0"/>
              <a:t>Grafo RDF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r>
              <a:rPr lang="pt-BR" dirty="0"/>
              <a:t>Eventos </a:t>
            </a:r>
            <a:r>
              <a:rPr lang="pt-BR" b="1" dirty="0"/>
              <a:t>[Enrico]</a:t>
            </a:r>
          </a:p>
          <a:p>
            <a:endParaRPr lang="pt-BR" b="1" dirty="0"/>
          </a:p>
          <a:p>
            <a:r>
              <a:rPr lang="pt-BR" strike="sngStrike" dirty="0"/>
              <a:t>Séries temporais</a:t>
            </a:r>
          </a:p>
          <a:p>
            <a:r>
              <a:rPr lang="pt-BR" strike="sngStrike" dirty="0"/>
              <a:t>Multimodal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35D263-8873-2847-8070-2F42F2422CE7}"/>
              </a:ext>
            </a:extLst>
          </p:cNvPr>
          <p:cNvSpPr txBox="1"/>
          <p:nvPr/>
        </p:nvSpPr>
        <p:spPr>
          <a:xfrm>
            <a:off x="5554133" y="1825625"/>
            <a:ext cx="5373512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Para cada um (20 min):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Quando surgiu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Características do modelo de dados (como organiza os dados)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Vantagens e limitações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comuns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Exemplos de </a:t>
            </a:r>
            <a:r>
              <a:rPr lang="pt-BR" sz="2400" dirty="0" err="1"/>
              <a:t>SGBDs</a:t>
            </a:r>
            <a:r>
              <a:rPr lang="pt-BR" sz="2400" dirty="0"/>
              <a:t> comerciais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um exemplo</a:t>
            </a:r>
          </a:p>
        </p:txBody>
      </p:sp>
    </p:spTree>
    <p:extLst>
      <p:ext uri="{BB962C8B-B14F-4D97-AF65-F5344CB8AC3E}">
        <p14:creationId xmlns:p14="http://schemas.microsoft.com/office/powerpoint/2010/main" val="37277705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Notas de aulas, prof. José Eduardo Santarém Segundo. </a:t>
            </a:r>
            <a:r>
              <a:rPr lang="pt-BR" sz="1800" b="1" i="0" u="none" strike="noStrike" baseline="0" dirty="0">
                <a:latin typeface="DejaVuSans"/>
              </a:rPr>
              <a:t>Banco de Dados - Normalização - Parte 1</a:t>
            </a:r>
            <a:r>
              <a:rPr lang="pt-BR" sz="1800" i="0" u="none" strike="noStrike" baseline="0" dirty="0">
                <a:latin typeface="DejaVuSans"/>
              </a:rPr>
              <a:t>. UNIVESP, Eixo de Computação. Disponível em: </a:t>
            </a:r>
            <a:r>
              <a:rPr lang="pt-BR" sz="1800" i="0" u="none" strike="noStrike" baseline="0" dirty="0">
                <a:latin typeface="DejaVuSans"/>
                <a:hlinkClick r:id="rId3"/>
              </a:rPr>
              <a:t>https://www.youtube.com/watch?v=OsebNaYQpk8</a:t>
            </a:r>
            <a:r>
              <a:rPr lang="pt-BR" sz="1800" i="0" u="none" strike="noStrike" baseline="0" dirty="0">
                <a:latin typeface="DejaVuSans"/>
              </a:rPr>
              <a:t> </a:t>
            </a:r>
            <a:endParaRPr lang="pt-BR" sz="1800" b="1" i="0" u="none" strike="noStrike" baseline="0" dirty="0">
              <a:latin typeface="DejaVuSans"/>
            </a:endParaRP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4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84237</TotalTime>
  <Words>1963</Words>
  <Application>Microsoft Office PowerPoint</Application>
  <PresentationFormat>Widescreen</PresentationFormat>
  <Paragraphs>312</Paragraphs>
  <Slides>57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5" baseType="lpstr">
      <vt:lpstr>Arial</vt:lpstr>
      <vt:lpstr>Calibri</vt:lpstr>
      <vt:lpstr>Calibri Light</vt:lpstr>
      <vt:lpstr>DejaVuSans</vt:lpstr>
      <vt:lpstr>Google Sans</vt:lpstr>
      <vt:lpstr>Inconsolata</vt:lpstr>
      <vt:lpstr>Wingdings</vt:lpstr>
      <vt:lpstr>Tema do Office</vt:lpstr>
      <vt:lpstr>Apresentação do PowerPoint</vt:lpstr>
      <vt:lpstr>Na aula anterior...</vt:lpstr>
      <vt:lpstr>Atividade</vt:lpstr>
      <vt:lpstr>Atividade</vt:lpstr>
      <vt:lpstr>Resumo</vt:lpstr>
      <vt:lpstr>Atividade no Classroom</vt:lpstr>
      <vt:lpstr>Agenda</vt:lpstr>
      <vt:lpstr>Trigger</vt:lpstr>
      <vt:lpstr>Triggers</vt:lpstr>
      <vt:lpstr>Triggers - Exemplos</vt:lpstr>
      <vt:lpstr>Triggers</vt:lpstr>
      <vt:lpstr>O que é um trigger?</vt:lpstr>
      <vt:lpstr>Fluxo de funcionamento</vt:lpstr>
      <vt:lpstr>Funcionamento</vt:lpstr>
      <vt:lpstr>Timing</vt:lpstr>
      <vt:lpstr>Escopo</vt:lpstr>
      <vt:lpstr>Apresentação do PowerPoint</vt:lpstr>
      <vt:lpstr>Sintaxe</vt:lpstr>
      <vt:lpstr>UPDATE</vt:lpstr>
      <vt:lpstr>Sintaxe</vt:lpstr>
      <vt:lpstr>Sintaxe</vt:lpstr>
      <vt:lpstr>Trigger</vt:lpstr>
      <vt:lpstr>Escopo</vt:lpstr>
      <vt:lpstr>Agenda</vt:lpstr>
      <vt:lpstr>Functions</vt:lpstr>
      <vt:lpstr>Functions</vt:lpstr>
      <vt:lpstr>Functions</vt:lpstr>
      <vt:lpstr>Funções</vt:lpstr>
      <vt:lpstr>Funções</vt:lpstr>
      <vt:lpstr>Trigger</vt:lpstr>
      <vt:lpstr>Sintaxe</vt:lpstr>
      <vt:lpstr>Agenda</vt:lpstr>
      <vt:lpstr>Procedures</vt:lpstr>
      <vt:lpstr>Cursor</vt:lpstr>
      <vt:lpstr>Agenda</vt:lpstr>
      <vt:lpstr>DCL (Data Control Language)</vt:lpstr>
      <vt:lpstr>DCL - Exemplo</vt:lpstr>
      <vt:lpstr>Exemplo</vt:lpstr>
      <vt:lpstr>DCL - Workbench</vt:lpstr>
      <vt:lpstr>Trigger</vt:lpstr>
      <vt:lpstr>Atividade</vt:lpstr>
      <vt:lpstr>Agenda</vt:lpstr>
      <vt:lpstr>Crie uma conta no Aiven</vt:lpstr>
      <vt:lpstr>Valide sua conta</vt:lpstr>
      <vt:lpstr>Crie e nomeie um projeto</vt:lpstr>
      <vt:lpstr>Selecione o serviço MySQL</vt:lpstr>
      <vt:lpstr>Apresentação do PowerPoint</vt:lpstr>
      <vt:lpstr>Apresentação do PowerPoint</vt:lpstr>
      <vt:lpstr>Como conectar no Workbench</vt:lpstr>
      <vt:lpstr>Baixe e carrega certificado</vt:lpstr>
      <vt:lpstr>Nova conexão no Workbench</vt:lpstr>
      <vt:lpstr>Apresentação do PowerPoint</vt:lpstr>
      <vt:lpstr>Apresentação do PowerPoint</vt:lpstr>
      <vt:lpstr>Apresentação do PowerPoint</vt:lpstr>
      <vt:lpstr>Apresentação do PowerPoint</vt:lpstr>
      <vt:lpstr>Seminários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2876</cp:revision>
  <dcterms:created xsi:type="dcterms:W3CDTF">2024-08-08T20:58:28Z</dcterms:created>
  <dcterms:modified xsi:type="dcterms:W3CDTF">2026-08-26T22:07:02Z</dcterms:modified>
</cp:coreProperties>
</file>