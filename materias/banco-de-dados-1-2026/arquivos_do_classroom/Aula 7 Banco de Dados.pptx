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1270" r:id="rId3"/>
    <p:sldId id="1222" r:id="rId4"/>
    <p:sldId id="1337" r:id="rId5"/>
    <p:sldId id="1110" r:id="rId6"/>
    <p:sldId id="1399" r:id="rId7"/>
    <p:sldId id="1338" r:id="rId8"/>
    <p:sldId id="1339" r:id="rId9"/>
    <p:sldId id="1340" r:id="rId10"/>
    <p:sldId id="1358" r:id="rId11"/>
    <p:sldId id="1341" r:id="rId12"/>
    <p:sldId id="1342" r:id="rId13"/>
    <p:sldId id="1343" r:id="rId14"/>
    <p:sldId id="1344" r:id="rId15"/>
    <p:sldId id="1345" r:id="rId16"/>
    <p:sldId id="1346" r:id="rId17"/>
    <p:sldId id="1347" r:id="rId18"/>
    <p:sldId id="1348" r:id="rId19"/>
    <p:sldId id="1349" r:id="rId20"/>
    <p:sldId id="1350" r:id="rId21"/>
    <p:sldId id="1351" r:id="rId22"/>
    <p:sldId id="1352" r:id="rId23"/>
    <p:sldId id="1353" r:id="rId24"/>
    <p:sldId id="1354" r:id="rId25"/>
    <p:sldId id="1355" r:id="rId26"/>
    <p:sldId id="1335" r:id="rId27"/>
    <p:sldId id="1356" r:id="rId28"/>
    <p:sldId id="1357" r:id="rId29"/>
    <p:sldId id="1359" r:id="rId30"/>
    <p:sldId id="1360" r:id="rId31"/>
    <p:sldId id="1361" r:id="rId32"/>
    <p:sldId id="1363" r:id="rId33"/>
    <p:sldId id="1362" r:id="rId34"/>
    <p:sldId id="1364" r:id="rId35"/>
    <p:sldId id="1365" r:id="rId36"/>
    <p:sldId id="1366" r:id="rId37"/>
    <p:sldId id="1377" r:id="rId38"/>
    <p:sldId id="1367" r:id="rId39"/>
    <p:sldId id="1368" r:id="rId40"/>
    <p:sldId id="1369" r:id="rId41"/>
    <p:sldId id="1334" r:id="rId42"/>
    <p:sldId id="1370" r:id="rId43"/>
    <p:sldId id="1371" r:id="rId44"/>
    <p:sldId id="1372" r:id="rId45"/>
    <p:sldId id="1373" r:id="rId46"/>
    <p:sldId id="1374" r:id="rId47"/>
    <p:sldId id="1375" r:id="rId48"/>
    <p:sldId id="1400" r:id="rId49"/>
    <p:sldId id="1376" r:id="rId50"/>
    <p:sldId id="1378" r:id="rId51"/>
    <p:sldId id="1379" r:id="rId52"/>
    <p:sldId id="1380" r:id="rId53"/>
    <p:sldId id="1381" r:id="rId54"/>
    <p:sldId id="1382" r:id="rId55"/>
    <p:sldId id="1383" r:id="rId56"/>
    <p:sldId id="1397" r:id="rId57"/>
    <p:sldId id="1398" r:id="rId58"/>
    <p:sldId id="1384" r:id="rId59"/>
    <p:sldId id="1390" r:id="rId60"/>
    <p:sldId id="1391" r:id="rId61"/>
    <p:sldId id="1392" r:id="rId62"/>
    <p:sldId id="1393" r:id="rId63"/>
    <p:sldId id="1394" r:id="rId64"/>
    <p:sldId id="1395" r:id="rId65"/>
    <p:sldId id="1388" r:id="rId66"/>
    <p:sldId id="1385" r:id="rId67"/>
    <p:sldId id="1401" r:id="rId68"/>
    <p:sldId id="1402" r:id="rId69"/>
    <p:sldId id="1386" r:id="rId70"/>
    <p:sldId id="1387" r:id="rId71"/>
    <p:sldId id="1184" r:id="rId72"/>
    <p:sldId id="674" r:id="rId7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5"/>
    <a:srgbClr val="351C75"/>
    <a:srgbClr val="674EA7"/>
    <a:srgbClr val="E1EA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85806" autoAdjust="0"/>
  </p:normalViewPr>
  <p:slideViewPr>
    <p:cSldViewPr snapToGrid="0">
      <p:cViewPr varScale="1">
        <p:scale>
          <a:sx n="68" d="100"/>
          <a:sy n="68" d="100"/>
        </p:scale>
        <p:origin x="12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Feeback</a:t>
            </a:r>
            <a:r>
              <a:rPr lang="pt-BR" dirty="0"/>
              <a:t> disciplina? Corrida? Prova puxada?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384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C1F7-4DB4-88B8-7C26-3F8A456D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053B9C8-08AC-68A0-2881-99F07265E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BF85E8-D449-C20D-638A-2F98AD12CA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492266-AAD5-EA3F-13AB-822E36603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326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9002F-267F-BFA8-F98A-3BE0C238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9A47B9-7259-28D5-AF93-87580EEF9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B310A3-5DAE-AF42-D4F4-8B9C0F46A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53EA9F9-A355-549A-FAD9-5B117EC8D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902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475D-245A-6064-2C12-BF33EDE5E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B57B32-C46E-FF86-5CA5-772980FCA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1CF6B3-DAB2-F6C5-E71B-D890ED099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6621B6-9237-EEAB-0C1D-12C0FA89B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169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Func_nome</a:t>
            </a:r>
            <a:r>
              <a:rPr lang="pt-BR" dirty="0"/>
              <a:t> é dependente parcial da PK (apenas </a:t>
            </a:r>
            <a:r>
              <a:rPr lang="pt-BR" dirty="0" err="1"/>
              <a:t>func_ident</a:t>
            </a:r>
            <a:r>
              <a:rPr lang="pt-BR" dirty="0"/>
              <a:t>)</a:t>
            </a:r>
          </a:p>
          <a:p>
            <a:r>
              <a:rPr lang="pt-BR" dirty="0" err="1"/>
              <a:t>Proj_nome</a:t>
            </a:r>
            <a:r>
              <a:rPr lang="pt-BR" dirty="0"/>
              <a:t> e </a:t>
            </a:r>
            <a:r>
              <a:rPr lang="pt-BR" dirty="0" err="1"/>
              <a:t>proj_localizacaco</a:t>
            </a:r>
            <a:r>
              <a:rPr lang="pt-BR" dirty="0"/>
              <a:t> é dependente parcial da PK (apenas de </a:t>
            </a:r>
            <a:r>
              <a:rPr lang="pt-BR" dirty="0" err="1"/>
              <a:t>proj_numero</a:t>
            </a:r>
            <a:r>
              <a:rPr lang="pt-BR" dirty="0"/>
              <a:t>)</a:t>
            </a:r>
          </a:p>
          <a:p>
            <a:r>
              <a:rPr lang="pt-BR" dirty="0"/>
              <a:t>Horas depende de ambas (dependência total)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413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382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{BD1, 1, 2026, 4A, Sala engenharia}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7199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Trivial: X </a:t>
            </a:r>
            <a:r>
              <a:rPr lang="pt-BR" dirty="0">
                <a:sym typeface="Wingdings" panose="05000000000000000000" pitchFamily="2" charset="2"/>
              </a:rPr>
              <a:t> Y | Y está contido em X. Ex.: (RA, Disc)  RA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752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https://www.digitalocean.com/community/tutorials/database-normalization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954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https://www.drawdb.app/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05/05/2026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8C15A9F-51BE-835B-BCD8-3FE4179417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3855" y="17653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sebNaYQpk8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15445.courses.cs.cmu.edu/spring2026/slides/01-relationalmodel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7</a:t>
            </a:r>
          </a:p>
          <a:p>
            <a:r>
              <a:rPr lang="pt-BR" dirty="0"/>
              <a:t>Normalização de bancos de dados relacionais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1800" dirty="0">
                <a:hlinkClick r:id="rId3"/>
              </a:rPr>
              <a:t>bruno.penteado@unesp.br</a:t>
            </a: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8D3A-4E1D-B7C3-A617-AC5315EA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C2CDBE-5CFE-8FC3-E1C4-26E49A717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Álgebra relacional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unários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adicionais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binários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Operadores de conjuntos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1711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91118-3B8B-ABE8-1F17-7877C51F8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lógico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7CD2630-2DEB-C44E-972B-0042A2446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619" y="1697633"/>
            <a:ext cx="8662761" cy="479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31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8D712-8FBA-1F4E-EF2B-5BFEADE1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9171CF-91D7-43CF-4427-021EFC7FD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/>
              <a:t>Esquema (</a:t>
            </a:r>
            <a:r>
              <a:rPr lang="pt-BR" i="1" dirty="0" err="1"/>
              <a:t>schema</a:t>
            </a:r>
            <a:r>
              <a:rPr lang="pt-BR" i="1" dirty="0"/>
              <a:t>) </a:t>
            </a:r>
            <a:r>
              <a:rPr lang="pt-BR" dirty="0"/>
              <a:t>da relação: tabela com conjunto de atributos</a:t>
            </a:r>
          </a:p>
          <a:p>
            <a:pPr>
              <a:spcBef>
                <a:spcPts val="2400"/>
              </a:spcBef>
            </a:pPr>
            <a:r>
              <a:rPr lang="pt-BR" i="1" dirty="0"/>
              <a:t>Esquema</a:t>
            </a:r>
            <a:r>
              <a:rPr lang="pt-BR" dirty="0"/>
              <a:t> de banco de dados relacional: conjunto de tabelas</a:t>
            </a:r>
          </a:p>
        </p:txBody>
      </p:sp>
      <p:pic>
        <p:nvPicPr>
          <p:cNvPr id="4" name="Espaço Reservado para Conteúdo 4">
            <a:extLst>
              <a:ext uri="{FF2B5EF4-FFF2-40B4-BE49-F238E27FC236}">
                <a16:creationId xmlns:a16="http://schemas.microsoft.com/office/drawing/2014/main" id="{2B6549EA-0986-A797-17E0-5553F0F773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904"/>
          <a:stretch/>
        </p:blipFill>
        <p:spPr>
          <a:xfrm>
            <a:off x="3070481" y="3816783"/>
            <a:ext cx="5526909" cy="249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6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C4F4-08BA-9CB3-278E-FE1CECDC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2D60B-B79E-5A3F-04EB-7AA90BF0C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Normalização de bancos de dados relacionais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O que é e para que serve a normalização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Dependência funcional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Principais Formas Normais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682D57-6369-E819-79EF-8BC5D7AA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8B61095-3DB5-957E-2B4C-792F937ECC8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11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84874-551F-0903-9CEB-2469AF2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C2878-B2F5-3824-20B3-6FB57810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41141A-4A4A-4B4B-7A4B-069AFCA71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Até aqui, assumimos que os atributo são agrupados para formar um esquema de relação pelo </a:t>
            </a:r>
            <a:r>
              <a:rPr lang="pt-BR" b="1" dirty="0"/>
              <a:t>senso comum do projetista </a:t>
            </a:r>
            <a:r>
              <a:rPr lang="pt-BR" dirty="0"/>
              <a:t>do banco de dados ou pelo </a:t>
            </a:r>
            <a:r>
              <a:rPr lang="pt-BR" b="1" dirty="0"/>
              <a:t>mapeamento</a:t>
            </a:r>
            <a:r>
              <a:rPr lang="pt-BR" dirty="0"/>
              <a:t> do esquema de um modelo de dados Conceitual para o Relacional</a:t>
            </a:r>
          </a:p>
          <a:p>
            <a:pPr>
              <a:spcBef>
                <a:spcPts val="2400"/>
              </a:spcBef>
            </a:pPr>
            <a:r>
              <a:rPr lang="pt-BR" dirty="0"/>
              <a:t>Ainda precisamos de uma </a:t>
            </a:r>
            <a:r>
              <a:rPr lang="pt-BR" b="1" dirty="0"/>
              <a:t>maneira formal </a:t>
            </a:r>
            <a:r>
              <a:rPr lang="pt-BR" dirty="0"/>
              <a:t>de analisar porque um agrupamento de atributos pode ser melhor que o outro</a:t>
            </a:r>
          </a:p>
        </p:txBody>
      </p:sp>
    </p:spTree>
    <p:extLst>
      <p:ext uri="{BB962C8B-B14F-4D97-AF65-F5344CB8AC3E}">
        <p14:creationId xmlns:p14="http://schemas.microsoft.com/office/powerpoint/2010/main" val="485469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0B568-3787-EB38-1DE8-AF078F28A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074534-A0F9-7ADA-B63D-4EE053E99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Ate aqui, não tínhamos uma medida formal de adequação do projeto além da intuição do projetista</a:t>
            </a:r>
          </a:p>
          <a:p>
            <a:pPr>
              <a:spcBef>
                <a:spcPts val="2400"/>
              </a:spcBef>
            </a:pPr>
            <a:r>
              <a:rPr lang="pt-BR" dirty="0"/>
              <a:t>Hoje veremos uma forma de avaliar a qualidade de esquemas relacionais</a:t>
            </a:r>
          </a:p>
          <a:p>
            <a:pPr lvl="1"/>
            <a:r>
              <a:rPr lang="pt-BR" dirty="0"/>
              <a:t>Atribuir qualidade à modelagem</a:t>
            </a:r>
          </a:p>
          <a:p>
            <a:pPr lvl="1"/>
            <a:r>
              <a:rPr lang="pt-BR" dirty="0"/>
              <a:t>Porque um modelo é melhor que o outro</a:t>
            </a:r>
          </a:p>
        </p:txBody>
      </p:sp>
    </p:spTree>
    <p:extLst>
      <p:ext uri="{BB962C8B-B14F-4D97-AF65-F5344CB8AC3E}">
        <p14:creationId xmlns:p14="http://schemas.microsoft.com/office/powerpoint/2010/main" val="106855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BCA10-4942-4062-614F-7C1EF661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E5B47D-362B-6AF4-2FCA-A2006D136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Metodologia </a:t>
            </a:r>
            <a:r>
              <a:rPr lang="pt-BR" i="1" dirty="0"/>
              <a:t>top-</a:t>
            </a:r>
            <a:r>
              <a:rPr lang="pt-BR" i="1" dirty="0" err="1"/>
              <a:t>down</a:t>
            </a:r>
            <a:r>
              <a:rPr lang="pt-BR" dirty="0"/>
              <a:t> (</a:t>
            </a:r>
            <a:r>
              <a:rPr lang="pt-BR" i="1" dirty="0"/>
              <a:t>design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analysis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Agrupamentos de atributos em Relações que existem juntas naturalmente</a:t>
            </a:r>
          </a:p>
          <a:p>
            <a:pPr lvl="2"/>
            <a:r>
              <a:rPr lang="pt-BR" dirty="0"/>
              <a:t>Ex.: relatório, pedido, matrícula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Relações são analisadas individualmente e coletivamente, levando a uma maior decomposição até que todas as propriedades desejadas estejam satisfeitas</a:t>
            </a:r>
          </a:p>
          <a:p>
            <a:pPr lvl="2"/>
            <a:r>
              <a:rPr lang="pt-BR" dirty="0"/>
              <a:t>Produção de conjunto de Relações</a:t>
            </a:r>
          </a:p>
        </p:txBody>
      </p:sp>
    </p:spTree>
    <p:extLst>
      <p:ext uri="{BB962C8B-B14F-4D97-AF65-F5344CB8AC3E}">
        <p14:creationId xmlns:p14="http://schemas.microsoft.com/office/powerpoint/2010/main" val="115028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4AA7E-6BB9-667D-7630-308F7CBCD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 Relacional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59D81A-5141-77B5-BDBB-6D9769546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Objetivos implícitos da modelagem</a:t>
            </a:r>
          </a:p>
          <a:p>
            <a:pPr lvl="1"/>
            <a:r>
              <a:rPr lang="pt-BR" dirty="0"/>
              <a:t>Preservação da informação</a:t>
            </a:r>
          </a:p>
          <a:p>
            <a:pPr lvl="1"/>
            <a:r>
              <a:rPr lang="pt-BR" dirty="0"/>
              <a:t>Redundância mínima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Informação é difícil de quantificar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ym typeface="Wingdings" panose="05000000000000000000" pitchFamily="2" charset="2"/>
              </a:rPr>
              <a:t>preservação</a:t>
            </a:r>
            <a:r>
              <a:rPr lang="pt-BR" dirty="0">
                <a:sym typeface="Wingdings" panose="05000000000000000000" pitchFamily="2" charset="2"/>
              </a:rPr>
              <a:t>: manter todos os conceitos, incluindo tipos de atributos, tipos de entidades, e tipos de relacionamentos bem como generalizações/especializações</a:t>
            </a:r>
          </a:p>
          <a:p>
            <a:pPr lvl="2"/>
            <a:r>
              <a:rPr lang="pt-BR" dirty="0">
                <a:sym typeface="Wingdings" panose="05000000000000000000" pitchFamily="2" charset="2"/>
              </a:rPr>
              <a:t>Devemos preservar esses conceitos capturados na modelagem Conceitual</a:t>
            </a:r>
          </a:p>
          <a:p>
            <a:pPr lvl="1">
              <a:spcBef>
                <a:spcPts val="2400"/>
              </a:spcBef>
            </a:pPr>
            <a:r>
              <a:rPr lang="pt-BR" b="1" dirty="0">
                <a:sym typeface="Wingdings" panose="05000000000000000000" pitchFamily="2" charset="2"/>
              </a:rPr>
              <a:t>Minimizar redundância </a:t>
            </a:r>
            <a:r>
              <a:rPr lang="pt-BR" dirty="0">
                <a:sym typeface="Wingdings" panose="05000000000000000000" pitchFamily="2" charset="2"/>
              </a:rPr>
              <a:t> minimizar armazenamento redundante da mesma informação e reduzir a necessidade para múltiplas atualizações para manter a consistência através de muitas cópias da mesma informação em resposta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762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1736A-155D-6B12-C429-A0787C6A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0C0B4-6FDB-AD71-9274-2C52C2C0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do 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846C7-6EBE-E252-718F-C3819BCD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Avaliação da qualidade do Projeto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Análise informal</a:t>
            </a:r>
          </a:p>
          <a:p>
            <a:pPr lvl="2"/>
            <a:r>
              <a:rPr lang="pt-BR" dirty="0"/>
              <a:t>Diretrizes para um bom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Análise formal</a:t>
            </a:r>
          </a:p>
          <a:p>
            <a:pPr lvl="2"/>
            <a:r>
              <a:rPr lang="pt-BR" dirty="0"/>
              <a:t>Dependências funcionais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Formas normais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Normalização</a:t>
            </a:r>
          </a:p>
        </p:txBody>
      </p:sp>
    </p:spTree>
    <p:extLst>
      <p:ext uri="{BB962C8B-B14F-4D97-AF65-F5344CB8AC3E}">
        <p14:creationId xmlns:p14="http://schemas.microsoft.com/office/powerpoint/2010/main" val="250018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93115A-2901-1505-47D2-4E98B434A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Diretrizes informais de design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3C331-81B1-A3F2-550D-BD6567C66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4 diretrizes (não independentes entre si) que podem ser usadas como medidas para determinar a qualidade do projeto de esquemas relacionais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Garantir que a </a:t>
            </a:r>
            <a:r>
              <a:rPr lang="pt-BR" b="1" dirty="0"/>
              <a:t>semântica</a:t>
            </a:r>
            <a:r>
              <a:rPr lang="pt-BR" dirty="0"/>
              <a:t> dos atributos esteja claro no esquema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Reduzir as informações </a:t>
            </a:r>
            <a:r>
              <a:rPr lang="pt-BR" b="1" dirty="0"/>
              <a:t>redundantes</a:t>
            </a:r>
            <a:r>
              <a:rPr lang="pt-BR" dirty="0"/>
              <a:t> nas tuplas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Reduzir os valores </a:t>
            </a:r>
            <a:r>
              <a:rPr lang="pt-BR" b="1" dirty="0"/>
              <a:t>NULL</a:t>
            </a:r>
            <a:r>
              <a:rPr lang="pt-BR" dirty="0"/>
              <a:t> nas tuplas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Não permitir a geração de tuplas </a:t>
            </a:r>
            <a:r>
              <a:rPr lang="pt-BR" b="1" dirty="0"/>
              <a:t>espúrias</a:t>
            </a:r>
          </a:p>
        </p:txBody>
      </p:sp>
    </p:spTree>
    <p:extLst>
      <p:ext uri="{BB962C8B-B14F-4D97-AF65-F5344CB8AC3E}">
        <p14:creationId xmlns:p14="http://schemas.microsoft.com/office/powerpoint/2010/main" val="1040020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9F58B-12B0-AA07-40FC-3841019E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Semântica dos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2FD17F-5744-A078-8188-EB9A9D285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Ao agruparmos atributos para formar um esquema relacional, assumimos que os atributos que pertencem a uma Relação possuem significado no mundo-real e uma interpretação adequada associada a eles (semântica)</a:t>
            </a:r>
          </a:p>
          <a:p>
            <a:pPr>
              <a:spcBef>
                <a:spcPts val="2400"/>
              </a:spcBef>
            </a:pPr>
            <a:r>
              <a:rPr lang="pt-BR" dirty="0"/>
              <a:t>A semântica de uma Relação se refere a seu significado resultante da interpretação dos valores dos atributos em uma tupla</a:t>
            </a:r>
          </a:p>
          <a:p>
            <a:pPr>
              <a:spcBef>
                <a:spcPts val="2400"/>
              </a:spcBef>
            </a:pPr>
            <a:r>
              <a:rPr lang="pt-BR" dirty="0"/>
              <a:t>Quanto mais fácil for explicar a semântica das Relações melhor será a modelagem das Relações</a:t>
            </a:r>
          </a:p>
        </p:txBody>
      </p:sp>
    </p:spTree>
    <p:extLst>
      <p:ext uri="{BB962C8B-B14F-4D97-AF65-F5344CB8AC3E}">
        <p14:creationId xmlns:p14="http://schemas.microsoft.com/office/powerpoint/2010/main" val="66429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D6CB-DE38-4061-CCCF-1B107484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09ABC-9F7F-CB08-0E46-0E11DFE1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Semântica dos atributos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189954-53A7-C860-EE37-0426689D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sng" dirty="0"/>
              <a:t>Diretriz 1</a:t>
            </a:r>
            <a:r>
              <a:rPr lang="pt-BR" dirty="0"/>
              <a:t>: projete um esquema relacional que seja fácil de explicar seu significado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Não combine atributos de vários tipos de entidade em uma única Relação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Se um esquema de Relação corresponde a apenas um tipo de Entidade ou de Relacionamento fica fácil de explicar seu significado</a:t>
            </a:r>
          </a:p>
        </p:txBody>
      </p:sp>
    </p:spTree>
    <p:extLst>
      <p:ext uri="{BB962C8B-B14F-4D97-AF65-F5344CB8AC3E}">
        <p14:creationId xmlns:p14="http://schemas.microsoft.com/office/powerpoint/2010/main" val="317993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EDA5D-DC6F-8384-2E52-516A0F5B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82CED-EEF0-894D-9B81-53F1FADBC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Semântica dos atributos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E885DAD-6F63-7AE2-4EE5-C1CBC3AFD3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837" y="1670483"/>
            <a:ext cx="3451418" cy="5177126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38A7C0D-FAAC-E13C-9ACA-F6575335A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335" y="2124772"/>
            <a:ext cx="5360258" cy="3216155"/>
          </a:xfrm>
          <a:prstGeom prst="rect">
            <a:avLst/>
          </a:prstGeom>
        </p:spPr>
      </p:pic>
      <p:sp>
        <p:nvSpPr>
          <p:cNvPr id="8" name="Cruz 7">
            <a:extLst>
              <a:ext uri="{FF2B5EF4-FFF2-40B4-BE49-F238E27FC236}">
                <a16:creationId xmlns:a16="http://schemas.microsoft.com/office/drawing/2014/main" id="{0B7488E8-33CF-FE59-7F16-527A88EFF90C}"/>
              </a:ext>
            </a:extLst>
          </p:cNvPr>
          <p:cNvSpPr/>
          <p:nvPr/>
        </p:nvSpPr>
        <p:spPr>
          <a:xfrm rot="2700000">
            <a:off x="5098473" y="3618378"/>
            <a:ext cx="914400" cy="914400"/>
          </a:xfrm>
          <a:prstGeom prst="plus">
            <a:avLst>
              <a:gd name="adj" fmla="val 3944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622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2AF0C-6BBF-8569-6DEB-9DD49EE3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Informações redundantes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12C7E3-C039-C96F-26E0-B419D55E2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Objetivo: minimizar espaço de armazenamento usado pelas Relações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Anomalias de atualização (INSERT, UPDATE, DELETE)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7FB4D2E-48E3-CA58-5B7F-E3321B13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583" y="3236799"/>
            <a:ext cx="9734484" cy="325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82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90441-4BA2-81CB-973B-0D752FF5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Informações redundantes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956DA3-444D-42AA-CF25-C459E8F7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Anomalias de </a:t>
            </a:r>
            <a:r>
              <a:rPr lang="pt-BR" b="1" dirty="0"/>
              <a:t>inserção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Para incluir um novo </a:t>
            </a:r>
            <a:r>
              <a:rPr lang="pt-BR" i="1" dirty="0" err="1"/>
              <a:t>Employee</a:t>
            </a:r>
            <a:r>
              <a:rPr lang="pt-BR" dirty="0"/>
              <a:t> dentro de EMP_DEPT, precisamos também incluir também as informações do </a:t>
            </a:r>
            <a:r>
              <a:rPr lang="pt-BR" i="1" dirty="0" err="1"/>
              <a:t>Department</a:t>
            </a:r>
            <a:r>
              <a:rPr lang="pt-BR" dirty="0"/>
              <a:t> para o qual ele trabalha ou com valores NULL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Difícil criar um novo </a:t>
            </a:r>
            <a:r>
              <a:rPr lang="pt-BR" i="1" dirty="0" err="1"/>
              <a:t>Department</a:t>
            </a:r>
            <a:r>
              <a:rPr lang="pt-BR" dirty="0"/>
              <a:t> que não tenha </a:t>
            </a:r>
            <a:r>
              <a:rPr lang="pt-BR" dirty="0" err="1"/>
              <a:t>Employees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o que viola a integridade da entidade (PK NULL)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DCA21A-343A-7316-4A3E-A01F2B87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007" y="4871608"/>
            <a:ext cx="6893985" cy="144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54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FE84-0603-9CB9-F738-E44406E4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2F6A3-D186-2C3F-BBE4-B8DAA773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Informações redundantes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7533B-4C22-B2E1-AEAE-34D24FEBC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Anomalias de deleção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Apagar em EMP_DEPT uma tupla de </a:t>
            </a:r>
            <a:r>
              <a:rPr lang="pt-BR" i="1" dirty="0" err="1"/>
              <a:t>Employee</a:t>
            </a:r>
            <a:r>
              <a:rPr lang="pt-BR" dirty="0"/>
              <a:t> que seja o último trabalhando no </a:t>
            </a:r>
            <a:r>
              <a:rPr lang="pt-BR" i="1" dirty="0" err="1"/>
              <a:t>Department</a:t>
            </a:r>
            <a:r>
              <a:rPr lang="pt-BR" dirty="0"/>
              <a:t> causa o apagamento total das informações do Departamento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DA4C8B-54FC-DD7E-4BA7-FF0BF219E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30" y="3469296"/>
            <a:ext cx="8094941" cy="27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77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23029-DB7C-8214-065B-76AE6EE2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ECA7E-4BCD-D26E-55FF-31199FDB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Informações redundantes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E6B5D6-149A-86E5-756F-E58C3BAEC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Anomalias de modificação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Se mudarmos o valor do gerente do </a:t>
            </a:r>
            <a:r>
              <a:rPr lang="pt-BR" i="1" dirty="0" err="1"/>
              <a:t>Dept</a:t>
            </a:r>
            <a:r>
              <a:rPr lang="pt-BR" i="1" dirty="0"/>
              <a:t> </a:t>
            </a:r>
            <a:r>
              <a:rPr lang="pt-BR" dirty="0"/>
              <a:t>(</a:t>
            </a:r>
            <a:r>
              <a:rPr lang="pt-BR" dirty="0" err="1"/>
              <a:t>Dmgr_ssn</a:t>
            </a:r>
            <a:r>
              <a:rPr lang="pt-BR" dirty="0"/>
              <a:t>)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Temos que atualizar as tuplas de TODOS os </a:t>
            </a:r>
            <a:r>
              <a:rPr lang="pt-BR" i="1" dirty="0" err="1"/>
              <a:t>Employee</a:t>
            </a:r>
            <a:r>
              <a:rPr lang="pt-BR" dirty="0"/>
              <a:t> que trabalho no </a:t>
            </a:r>
            <a:r>
              <a:rPr lang="pt-BR" i="1" dirty="0" err="1"/>
              <a:t>Dept</a:t>
            </a:r>
            <a:r>
              <a:rPr lang="pt-BR" i="1" dirty="0"/>
              <a:t> </a:t>
            </a:r>
            <a:r>
              <a:rPr lang="pt-BR" dirty="0"/>
              <a:t>para garantir a consistência (se alguma for esquecida, pode-se ter informações conflitantes)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2F06B0-09AE-36DA-0B59-2B085BBE3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29" y="3917288"/>
            <a:ext cx="8094941" cy="27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52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A92F-A3C2-7289-9A08-5EBBC790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2260F-CD1D-99B1-C165-2221EDAF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Informações redundantes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32B1E-5D8F-10C5-62CF-9B90D73EC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sng" dirty="0"/>
              <a:t>Diretriz 2</a:t>
            </a:r>
            <a:r>
              <a:rPr lang="pt-BR" dirty="0"/>
              <a:t>: modele os esquemas das Relações para que não ocorram anomalias em suas atualizações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3909D3-A0B8-DE9C-6459-98FDF46DA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529" y="3917288"/>
            <a:ext cx="8094941" cy="27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30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4A56A-1D75-5A01-50E9-EF1C7F16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Valores NULL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BAB6CB-2C21-9210-BA18-A3F77086C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Modelagem pode resultar em Relações inchadas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Caso parte dos atributos não se aplique a todas as tuplas, teremos muitos valores NULL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Problemas de armazenamento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Problemas de entendimento do significado dos atributos em </a:t>
            </a:r>
            <a:r>
              <a:rPr lang="pt-BR" dirty="0" err="1"/>
              <a:t>JOINs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Problemas com funções agregadas (SUM, COUNT)</a:t>
            </a:r>
          </a:p>
        </p:txBody>
      </p:sp>
    </p:spTree>
    <p:extLst>
      <p:ext uri="{BB962C8B-B14F-4D97-AF65-F5344CB8AC3E}">
        <p14:creationId xmlns:p14="http://schemas.microsoft.com/office/powerpoint/2010/main" val="846787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6649-4F98-CB83-0BDC-7CC08A0C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32084D-A8E6-9820-D2CB-673A576A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Valores NULL nas tuplas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A3D421-F229-B5EA-76F8-94B7A134A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sng" dirty="0"/>
              <a:t>Diretriz 3</a:t>
            </a:r>
            <a:r>
              <a:rPr lang="pt-BR" dirty="0"/>
              <a:t>: evite especificar atributos que tenham valor NULL frequentemente</a:t>
            </a:r>
          </a:p>
          <a:p>
            <a:pPr lvl="1"/>
            <a:r>
              <a:rPr lang="pt-BR" dirty="0"/>
              <a:t>Apenas caso excepcionais e não na maioria das tuplas da Relação</a:t>
            </a:r>
          </a:p>
        </p:txBody>
      </p:sp>
    </p:spTree>
    <p:extLst>
      <p:ext uri="{BB962C8B-B14F-4D97-AF65-F5344CB8AC3E}">
        <p14:creationId xmlns:p14="http://schemas.microsoft.com/office/powerpoint/2010/main" val="688985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DB356-91F5-4DDD-ACEE-1041919A5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Geração de tuplas espúrias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D8E41B-BE6C-282B-87AF-58B4D01F3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Tuplas espúrias: informações falsas que o banco de dados gera quando você tenta unir tabelas que não possuem uma ligação única e segura entre elas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DE4465-3074-A064-EE5A-668D94F46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167" y="3267515"/>
            <a:ext cx="5186366" cy="33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9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0174B-4890-B3CC-EC11-4868F371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Geração de tuplas espúrias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45678C-ECD9-CB45-9351-9DFE198F4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NATURAL JOIN entre as tabelas gera tuplas espúrias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8CAD5A-36BE-5192-D205-A11061AB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611"/>
          <a:stretch/>
        </p:blipFill>
        <p:spPr>
          <a:xfrm>
            <a:off x="156548" y="3112506"/>
            <a:ext cx="3423920" cy="295316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4606048-4404-A41A-B519-14F4E6BC4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32" y="2651473"/>
            <a:ext cx="4858428" cy="4115374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8900DDA8-4632-232E-93F2-725F2DBC419E}"/>
              </a:ext>
            </a:extLst>
          </p:cNvPr>
          <p:cNvSpPr/>
          <p:nvPr/>
        </p:nvSpPr>
        <p:spPr>
          <a:xfrm>
            <a:off x="5789162" y="410445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7112E80-B3F6-5694-D595-52F0C964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232" b="15538"/>
          <a:stretch/>
        </p:blipFill>
        <p:spPr>
          <a:xfrm>
            <a:off x="3755518" y="3099626"/>
            <a:ext cx="1877989" cy="249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59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E4DCA-DB44-2C15-C303-38B5D98B2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4) Geração de tuplas espúrias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2BAFB4-EE58-9461-E79B-754D28E26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u="sng" dirty="0"/>
              <a:t>Diretriz 4</a:t>
            </a:r>
            <a:r>
              <a:rPr lang="pt-BR" dirty="0"/>
              <a:t>: modele esquemas de Relações que possam ser unidas (JOIN) em atributos que sejam adequadamente relacionados (PK, FK) de modo a garantir que não seja geradas tuplas espúrias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Evite relacionamentos que contenham atributos que não são PK ou FK</a:t>
            </a:r>
          </a:p>
        </p:txBody>
      </p:sp>
    </p:spTree>
    <p:extLst>
      <p:ext uri="{BB962C8B-B14F-4D97-AF65-F5344CB8AC3E}">
        <p14:creationId xmlns:p14="http://schemas.microsoft.com/office/powerpoint/2010/main" val="2024740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33C1F0-29A5-31B4-98AF-8DFA0747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Resumindo...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995308-FD53-C6E7-F784-ADBFFB7B7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5ECBBAB-8FEB-2EAC-BDEE-527862AA8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221" y="1690688"/>
            <a:ext cx="7039957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86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3379-E6BF-7516-56D3-03065DB22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134485-56DC-0191-9BF7-7EAACB58A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Normalização de bancos de dados relacionais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que é e para que serve a normalização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Dependência funcional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Principais Formas Normais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D4BA38-2F80-B366-BEA0-2B9FE1F23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69DFB8D-2F71-F4AF-09F5-1B958A32EB73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1037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B2FB7-235C-FB73-0277-44726980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do 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BE5230-066F-8A23-022B-791128B17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Avaliação da qualidade do Projeto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Análise informal</a:t>
            </a:r>
          </a:p>
          <a:p>
            <a:pPr lvl="2"/>
            <a:r>
              <a:rPr lang="pt-BR" dirty="0"/>
              <a:t>Diretrizes para um bom projeto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Análise formal</a:t>
            </a:r>
          </a:p>
          <a:p>
            <a:pPr lvl="2"/>
            <a:r>
              <a:rPr lang="pt-BR" dirty="0"/>
              <a:t>Dependências funcionais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Formas normais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Normalização</a:t>
            </a:r>
          </a:p>
        </p:txBody>
      </p:sp>
    </p:spTree>
    <p:extLst>
      <p:ext uri="{BB962C8B-B14F-4D97-AF65-F5344CB8AC3E}">
        <p14:creationId xmlns:p14="http://schemas.microsoft.com/office/powerpoint/2010/main" val="1813721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447867-C539-38E4-B24F-2116BC9F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do Projeto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9CA311-E069-3BAA-1238-2A2839001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Análise formal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Baseada em </a:t>
            </a:r>
            <a:r>
              <a:rPr lang="pt-BR" b="1" dirty="0">
                <a:solidFill>
                  <a:srgbClr val="FF0000"/>
                </a:solidFill>
              </a:rPr>
              <a:t>Dependência Funcional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 restrições (dependências entre atributos</a:t>
            </a:r>
          </a:p>
          <a:p>
            <a:pPr lvl="1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Garantir consistência de base de dados  não violar as Dependências Funcionais</a:t>
            </a:r>
          </a:p>
          <a:p>
            <a:pPr lvl="1"/>
            <a:endParaRPr lang="pt-BR" dirty="0">
              <a:sym typeface="Wingdings" panose="05000000000000000000" pitchFamily="2" charset="2"/>
            </a:endParaRPr>
          </a:p>
          <a:p>
            <a:pPr lvl="1"/>
            <a:r>
              <a:rPr lang="pt-BR" dirty="0">
                <a:sym typeface="Wingdings" panose="05000000000000000000" pitchFamily="2" charset="2"/>
              </a:rPr>
              <a:t>Formas normais e Normalização</a:t>
            </a:r>
          </a:p>
          <a:p>
            <a:pPr lvl="2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Baseadas em Dependências Funcionais</a:t>
            </a:r>
          </a:p>
          <a:p>
            <a:pPr lvl="2">
              <a:spcBef>
                <a:spcPts val="1800"/>
              </a:spcBef>
            </a:pPr>
            <a:r>
              <a:rPr lang="pt-BR" dirty="0">
                <a:sym typeface="Wingdings" panose="05000000000000000000" pitchFamily="2" charset="2"/>
              </a:rPr>
              <a:t>Avaliação e garantia da qualidade dos esquemas de Relação</a:t>
            </a:r>
          </a:p>
        </p:txBody>
      </p:sp>
    </p:spTree>
    <p:extLst>
      <p:ext uri="{BB962C8B-B14F-4D97-AF65-F5344CB8AC3E}">
        <p14:creationId xmlns:p14="http://schemas.microsoft.com/office/powerpoint/2010/main" val="6949938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1C063-2735-1896-CB52-F5C87A0D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26D916-2B68-92AC-D16C-E238F2D5B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Restrição entre 2 </a:t>
            </a:r>
            <a:r>
              <a:rPr lang="pt-BR" u="sng" dirty="0"/>
              <a:t>conjuntos de atributos</a:t>
            </a:r>
            <a:r>
              <a:rPr lang="pt-BR" dirty="0"/>
              <a:t> X e Y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X determina funcionalmente Y </a:t>
            </a:r>
            <a:r>
              <a:rPr lang="pt-BR" dirty="0"/>
              <a:t>(ou Y depende funcionalmente de X)</a:t>
            </a:r>
          </a:p>
          <a:p>
            <a:pPr lvl="1"/>
            <a:r>
              <a:rPr lang="pt-BR" dirty="0"/>
              <a:t>Se</a:t>
            </a:r>
            <a:r>
              <a:rPr lang="pt-BR" b="1" dirty="0"/>
              <a:t> t</a:t>
            </a:r>
            <a:r>
              <a:rPr lang="pt-BR" b="1" baseline="-25000" dirty="0"/>
              <a:t>1</a:t>
            </a:r>
            <a:r>
              <a:rPr lang="pt-BR" b="1" dirty="0"/>
              <a:t>[X] = t</a:t>
            </a:r>
            <a:r>
              <a:rPr lang="pt-BR" b="1" baseline="-25000" dirty="0"/>
              <a:t>2</a:t>
            </a:r>
            <a:r>
              <a:rPr lang="pt-BR" b="1" dirty="0"/>
              <a:t>[X] </a:t>
            </a:r>
            <a:r>
              <a:rPr lang="pt-BR" dirty="0"/>
              <a:t>então</a:t>
            </a:r>
            <a:r>
              <a:rPr lang="pt-BR" b="1" dirty="0"/>
              <a:t> t</a:t>
            </a:r>
            <a:r>
              <a:rPr lang="pt-BR" b="1" baseline="-25000" dirty="0"/>
              <a:t>1</a:t>
            </a:r>
            <a:r>
              <a:rPr lang="pt-BR" b="1" dirty="0"/>
              <a:t>[Y] = t</a:t>
            </a:r>
            <a:r>
              <a:rPr lang="pt-BR" b="1" baseline="-25000" dirty="0"/>
              <a:t>2</a:t>
            </a:r>
            <a:r>
              <a:rPr lang="pt-BR" b="1" dirty="0"/>
              <a:t>[Y]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A6720A-A266-D471-1890-CE9A275CF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640" y="2733578"/>
            <a:ext cx="1686160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616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1583-2DE0-4DEE-A2C2-018584523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ECF9-F6D3-3E5E-1271-7FA70B9E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8A338E-E044-852B-5E80-A19113FAD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endParaRPr lang="pt-BR" dirty="0"/>
          </a:p>
          <a:p>
            <a:pPr marL="0" indent="0">
              <a:spcBef>
                <a:spcPts val="1800"/>
              </a:spcBef>
              <a:buNone/>
            </a:pPr>
            <a:r>
              <a:rPr lang="pt-BR" b="1" dirty="0"/>
              <a:t>RA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Nome, Idade, Curso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b="1" dirty="0" err="1">
                <a:sym typeface="Wingdings" panose="05000000000000000000" pitchFamily="2" charset="2"/>
              </a:rPr>
              <a:t>Sigla_Disc</a:t>
            </a:r>
            <a:r>
              <a:rPr lang="pt-BR" b="1" dirty="0">
                <a:sym typeface="Wingdings" panose="05000000000000000000" pitchFamily="2" charset="2"/>
              </a:rPr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 err="1">
                <a:sym typeface="Wingdings" panose="05000000000000000000" pitchFamily="2" charset="2"/>
              </a:rPr>
              <a:t>Nome_Disc</a:t>
            </a:r>
            <a:r>
              <a:rPr lang="pt-BR" dirty="0">
                <a:sym typeface="Wingdings" panose="05000000000000000000" pitchFamily="2" charset="2"/>
              </a:rPr>
              <a:t>, Créditos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b="1" dirty="0" err="1">
                <a:sym typeface="Wingdings" panose="05000000000000000000" pitchFamily="2" charset="2"/>
              </a:rPr>
              <a:t>Sigla_Disc</a:t>
            </a:r>
            <a:r>
              <a:rPr lang="pt-BR" b="1" dirty="0">
                <a:sym typeface="Wingdings" panose="05000000000000000000" pitchFamily="2" charset="2"/>
              </a:rPr>
              <a:t>, RA, semestre, ano </a:t>
            </a:r>
            <a:r>
              <a:rPr lang="pt-BR" dirty="0">
                <a:sym typeface="Wingdings" panose="05000000000000000000" pitchFamily="2" charset="2"/>
              </a:rPr>
              <a:t> Nota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2033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351A-E294-DAC7-4AB8-1846B379A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0DF82-3F54-D000-2C37-23EED3B27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1BB54C-B1C7-9ECB-8D99-7F983E5B5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1119"/>
            <a:ext cx="10515600" cy="1025843"/>
          </a:xfrm>
        </p:spPr>
        <p:txBody>
          <a:bodyPr/>
          <a:lstStyle/>
          <a:p>
            <a:r>
              <a:rPr lang="pt-BR" dirty="0"/>
              <a:t>A Relação Alunos atende </a:t>
            </a:r>
            <a:r>
              <a:rPr lang="pt-BR" b="1" dirty="0"/>
              <a:t>RA </a:t>
            </a:r>
            <a:r>
              <a:rPr lang="pt-BR" b="1" dirty="0">
                <a:sym typeface="Wingdings" panose="05000000000000000000" pitchFamily="2" charset="2"/>
              </a:rPr>
              <a:t> Nome</a:t>
            </a:r>
          </a:p>
          <a:p>
            <a:r>
              <a:rPr lang="pt-BR" dirty="0">
                <a:sym typeface="Wingdings" panose="05000000000000000000" pitchFamily="2" charset="2"/>
              </a:rPr>
              <a:t>Uma DF </a:t>
            </a:r>
            <a:r>
              <a:rPr lang="pt-BR" b="1" dirty="0">
                <a:sym typeface="Wingdings" panose="05000000000000000000" pitchFamily="2" charset="2"/>
              </a:rPr>
              <a:t>RA  Nome </a:t>
            </a:r>
            <a:r>
              <a:rPr lang="pt-BR" dirty="0">
                <a:sym typeface="Wingdings" panose="05000000000000000000" pitchFamily="2" charset="2"/>
              </a:rPr>
              <a:t>tem </a:t>
            </a:r>
            <a:r>
              <a:rPr lang="pt-BR" u="sng" dirty="0">
                <a:sym typeface="Wingdings" panose="05000000000000000000" pitchFamily="2" charset="2"/>
              </a:rPr>
              <a:t>sentido semântico</a:t>
            </a:r>
            <a:r>
              <a:rPr lang="pt-BR" dirty="0">
                <a:sym typeface="Wingdings" panose="05000000000000000000" pitchFamily="2" charset="2"/>
              </a:rPr>
              <a:t>?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4A420A-5220-48DA-7934-7C79FBD08C9F}"/>
              </a:ext>
            </a:extLst>
          </p:cNvPr>
          <p:cNvSpPr txBox="1"/>
          <p:nvPr/>
        </p:nvSpPr>
        <p:spPr>
          <a:xfrm>
            <a:off x="3294380" y="16906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Alunos = {</a:t>
            </a:r>
            <a:r>
              <a:rPr lang="pt-BR" sz="2800" b="0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Nome, Curso, Idade}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D39BC10-A2EA-2156-C20B-190AB7D8C1D7}"/>
              </a:ext>
            </a:extLst>
          </p:cNvPr>
          <p:cNvSpPr txBox="1"/>
          <p:nvPr/>
        </p:nvSpPr>
        <p:spPr>
          <a:xfrm>
            <a:off x="4281170" y="2213908"/>
            <a:ext cx="49542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{&lt;111, Mario, Comp., 21&gt;,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&lt;222, Paulo, Eletr.,  22&gt;,            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&lt;333, Almir, Fisio.,   22&gt;,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&lt;444, Marta, Comp.,21&gt;,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&lt;555, Vânia, Eletr.,  22&gt;,   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&lt;6666, Mario, Matem., 21&gt;} </a:t>
            </a:r>
            <a:endParaRPr lang="pt-BR" sz="2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934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5D1E-6B9D-48ED-4AB0-4D8A0B3B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E5420-CC4A-C48D-E49B-195199B3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F6B42-6129-562E-5392-ABA34CEA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1119"/>
            <a:ext cx="10515600" cy="1025843"/>
          </a:xfrm>
        </p:spPr>
        <p:txBody>
          <a:bodyPr/>
          <a:lstStyle/>
          <a:p>
            <a:r>
              <a:rPr lang="pt-BR" dirty="0"/>
              <a:t>A Relação Alunos atende </a:t>
            </a:r>
            <a:r>
              <a:rPr lang="pt-BR" b="1" dirty="0"/>
              <a:t>Curso </a:t>
            </a:r>
            <a:r>
              <a:rPr lang="pt-BR" b="1" dirty="0">
                <a:sym typeface="Wingdings" panose="05000000000000000000" pitchFamily="2" charset="2"/>
              </a:rPr>
              <a:t> Idade</a:t>
            </a:r>
          </a:p>
          <a:p>
            <a:r>
              <a:rPr lang="pt-BR" dirty="0">
                <a:sym typeface="Wingdings" panose="05000000000000000000" pitchFamily="2" charset="2"/>
              </a:rPr>
              <a:t>Uma DF </a:t>
            </a:r>
            <a:r>
              <a:rPr lang="pt-BR" b="1" dirty="0">
                <a:sym typeface="Wingdings" panose="05000000000000000000" pitchFamily="2" charset="2"/>
              </a:rPr>
              <a:t>Curso  Idade </a:t>
            </a:r>
            <a:r>
              <a:rPr lang="pt-BR" dirty="0">
                <a:sym typeface="Wingdings" panose="05000000000000000000" pitchFamily="2" charset="2"/>
              </a:rPr>
              <a:t>tem </a:t>
            </a:r>
            <a:r>
              <a:rPr lang="pt-BR" u="sng" dirty="0">
                <a:sym typeface="Wingdings" panose="05000000000000000000" pitchFamily="2" charset="2"/>
              </a:rPr>
              <a:t>sentido semântico</a:t>
            </a:r>
            <a:r>
              <a:rPr lang="pt-BR" dirty="0">
                <a:sym typeface="Wingdings" panose="05000000000000000000" pitchFamily="2" charset="2"/>
              </a:rPr>
              <a:t>?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D80142-D4DB-050E-9A63-43F77D23C781}"/>
              </a:ext>
            </a:extLst>
          </p:cNvPr>
          <p:cNvSpPr txBox="1"/>
          <p:nvPr/>
        </p:nvSpPr>
        <p:spPr>
          <a:xfrm>
            <a:off x="3294380" y="169068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Alunos = {</a:t>
            </a:r>
            <a:r>
              <a:rPr lang="pt-BR" sz="2800" b="0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RA</a:t>
            </a:r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Nome, Curso, Idade}</a:t>
            </a:r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6BA2A7C-920C-81F9-66E1-04AA36750FE1}"/>
              </a:ext>
            </a:extLst>
          </p:cNvPr>
          <p:cNvSpPr txBox="1"/>
          <p:nvPr/>
        </p:nvSpPr>
        <p:spPr>
          <a:xfrm>
            <a:off x="4281170" y="2213908"/>
            <a:ext cx="495427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{&lt;111, Mario, Comp., 21&gt;,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&lt;222, Paulo, Eletr.,  22&gt;,            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&lt;333, Almir, Fisio.,   22&gt;,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&lt;444, Marta, Comp.,21&gt;,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&lt;555, Vânia, Eletr.,  22&gt;,   </a:t>
            </a:r>
            <a:endParaRPr lang="pt-BR" sz="2800" b="0" dirty="0">
              <a:effectLst/>
            </a:endParaRPr>
          </a:p>
          <a:p>
            <a:pPr rtl="0"/>
            <a:r>
              <a:rPr lang="pt-BR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&lt;6666, Mario, Matem., 21&gt;} </a:t>
            </a:r>
            <a:endParaRPr lang="pt-BR" sz="28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7722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FA99-5EAB-6C31-78F5-3FCAB5F0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9B4D1-CAD6-BDA7-4488-3718BA0F6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F32075-1F89-2754-242F-9DB058049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Propriedade </a:t>
            </a:r>
            <a:r>
              <a:rPr lang="pt-BR" u="sng" dirty="0"/>
              <a:t>semântica</a:t>
            </a:r>
          </a:p>
          <a:p>
            <a:pPr>
              <a:spcBef>
                <a:spcPts val="2400"/>
              </a:spcBef>
            </a:pPr>
            <a:r>
              <a:rPr lang="pt-BR" dirty="0"/>
              <a:t>Identificada pelo projetista do banco de dados</a:t>
            </a:r>
          </a:p>
          <a:p>
            <a:pPr>
              <a:spcBef>
                <a:spcPts val="2400"/>
              </a:spcBef>
            </a:pPr>
            <a:r>
              <a:rPr lang="pt-BR" dirty="0"/>
              <a:t>Deve ser </a:t>
            </a:r>
            <a:r>
              <a:rPr lang="pt-BR" u="sng" dirty="0"/>
              <a:t>validada</a:t>
            </a:r>
            <a:r>
              <a:rPr lang="pt-BR" dirty="0"/>
              <a:t> na instância da base (nos dados)</a:t>
            </a:r>
          </a:p>
          <a:p>
            <a:pPr>
              <a:spcBef>
                <a:spcPts val="2400"/>
              </a:spcBef>
            </a:pPr>
            <a:r>
              <a:rPr lang="pt-BR" u="sng" dirty="0"/>
              <a:t>Nunca deve ser definida/inferida </a:t>
            </a:r>
            <a:r>
              <a:rPr lang="pt-BR" dirty="0"/>
              <a:t>a partir dos dados</a:t>
            </a:r>
          </a:p>
        </p:txBody>
      </p:sp>
    </p:spTree>
    <p:extLst>
      <p:ext uri="{BB962C8B-B14F-4D97-AF65-F5344CB8AC3E}">
        <p14:creationId xmlns:p14="http://schemas.microsoft.com/office/powerpoint/2010/main" val="3910511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53A0C-2301-DC51-FC05-36E707AF5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Garantir consistência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C4B82A-DC7B-F09C-D730-D8E7EC28E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Relacional – garantia da consistência na construção da base de dados (</a:t>
            </a:r>
            <a:r>
              <a:rPr lang="pt-BR" dirty="0" err="1"/>
              <a:t>i.e</a:t>
            </a:r>
            <a:r>
              <a:rPr lang="pt-BR" dirty="0"/>
              <a:t>, no ESQUEMA)</a:t>
            </a:r>
          </a:p>
          <a:p>
            <a:pPr>
              <a:spcBef>
                <a:spcPts val="2400"/>
              </a:spcBef>
            </a:pPr>
            <a:r>
              <a:rPr lang="pt-BR" dirty="0"/>
              <a:t>Qualidade das Relações é baseada na análise de </a:t>
            </a:r>
            <a:r>
              <a:rPr lang="pt-BR" b="1" dirty="0"/>
              <a:t>Dependências Funcionais</a:t>
            </a:r>
            <a:r>
              <a:rPr lang="pt-BR" b="1" dirty="0">
                <a:effectLst/>
              </a:rPr>
              <a:t> </a:t>
            </a:r>
            <a:endParaRPr lang="pt-BR" b="1" dirty="0"/>
          </a:p>
        </p:txBody>
      </p:sp>
      <p:sp>
        <p:nvSpPr>
          <p:cNvPr id="4" name="Seta: para a Direita Listrada 3">
            <a:extLst>
              <a:ext uri="{FF2B5EF4-FFF2-40B4-BE49-F238E27FC236}">
                <a16:creationId xmlns:a16="http://schemas.microsoft.com/office/drawing/2014/main" id="{6B7D1085-EBF4-9C92-B7EC-BE389E4D95F0}"/>
              </a:ext>
            </a:extLst>
          </p:cNvPr>
          <p:cNvSpPr/>
          <p:nvPr/>
        </p:nvSpPr>
        <p:spPr>
          <a:xfrm rot="5400000">
            <a:off x="4744720" y="4033520"/>
            <a:ext cx="978408" cy="484632"/>
          </a:xfrm>
          <a:prstGeom prst="stripedRightArrow">
            <a:avLst/>
          </a:prstGeom>
          <a:solidFill>
            <a:schemeClr val="accent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0079A0A-4844-54C1-0C45-C1CFDB02B121}"/>
              </a:ext>
            </a:extLst>
          </p:cNvPr>
          <p:cNvSpPr txBox="1"/>
          <p:nvPr/>
        </p:nvSpPr>
        <p:spPr>
          <a:xfrm>
            <a:off x="2196084" y="5038190"/>
            <a:ext cx="692759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pt-BR" sz="3200" b="1" i="0" u="none" strike="noStrike" dirty="0">
                <a:solidFill>
                  <a:srgbClr val="6A0000"/>
                </a:solidFill>
                <a:effectLst/>
                <a:latin typeface="Tahoma" panose="020B0604030504040204" pitchFamily="34" charset="0"/>
              </a:rPr>
              <a:t>Formas Normais </a:t>
            </a:r>
            <a:r>
              <a:rPr lang="pt-BR" sz="1800" b="1" i="0" u="none" strike="noStrike" dirty="0">
                <a:solidFill>
                  <a:srgbClr val="6A0000"/>
                </a:solidFill>
                <a:effectLst/>
                <a:latin typeface="Tahoma" panose="020B0604030504040204" pitchFamily="34" charset="0"/>
              </a:rPr>
              <a:t>(1ª, 2ª, 3ª, 4ª, BCNF, ...)</a:t>
            </a:r>
            <a:endParaRPr lang="pt-BR" b="0" dirty="0">
              <a:effectLst/>
            </a:endParaRPr>
          </a:p>
          <a:p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56500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C3B87-5A1E-829C-1699-4E574DAE4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Garantir consistência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24B8BD-205D-0138-E21C-4ED1D5171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Relação </a:t>
            </a:r>
            <a:r>
              <a:rPr lang="pt-BR" b="1" dirty="0"/>
              <a:t>está em </a:t>
            </a:r>
            <a:r>
              <a:rPr lang="pt-BR" dirty="0"/>
              <a:t>uma determinada </a:t>
            </a:r>
            <a:r>
              <a:rPr lang="pt-BR" b="1" dirty="0"/>
              <a:t>Forma Normal </a:t>
            </a:r>
            <a:r>
              <a:rPr lang="pt-BR" dirty="0"/>
              <a:t>quando satisfaz um conjunto de condições baseadas nas dependências funcionais</a:t>
            </a:r>
          </a:p>
          <a:p>
            <a:pPr>
              <a:spcBef>
                <a:spcPts val="2400"/>
              </a:spcBef>
            </a:pPr>
            <a:r>
              <a:rPr lang="pt-BR" dirty="0"/>
              <a:t>Colocar uma Relação na forma normal</a:t>
            </a:r>
          </a:p>
        </p:txBody>
      </p:sp>
      <p:sp>
        <p:nvSpPr>
          <p:cNvPr id="4" name="Seta: para a Direita Listrada 3">
            <a:extLst>
              <a:ext uri="{FF2B5EF4-FFF2-40B4-BE49-F238E27FC236}">
                <a16:creationId xmlns:a16="http://schemas.microsoft.com/office/drawing/2014/main" id="{6CAF7906-3A0A-1E7F-A95D-6C80AE14DC1B}"/>
              </a:ext>
            </a:extLst>
          </p:cNvPr>
          <p:cNvSpPr/>
          <p:nvPr/>
        </p:nvSpPr>
        <p:spPr>
          <a:xfrm rot="5400000">
            <a:off x="4744720" y="4157699"/>
            <a:ext cx="978408" cy="484632"/>
          </a:xfrm>
          <a:prstGeom prst="stripedRightArrow">
            <a:avLst/>
          </a:prstGeom>
          <a:solidFill>
            <a:schemeClr val="accent6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42B3CEC-7614-809C-C43F-286DF6633BA5}"/>
              </a:ext>
            </a:extLst>
          </p:cNvPr>
          <p:cNvSpPr txBox="1"/>
          <p:nvPr/>
        </p:nvSpPr>
        <p:spPr>
          <a:xfrm>
            <a:off x="3302000" y="5141575"/>
            <a:ext cx="3881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pt-BR" sz="4000" b="1" i="0" u="none" strike="noStrike" dirty="0">
                <a:solidFill>
                  <a:srgbClr val="6A0000"/>
                </a:solidFill>
                <a:effectLst/>
                <a:latin typeface="Calibri" panose="020F0502020204030204" pitchFamily="34" charset="0"/>
              </a:rPr>
              <a:t>NORMALIZAÇÃO</a:t>
            </a:r>
            <a:r>
              <a:rPr lang="pt-BR" sz="3200" b="0" i="0" u="none" strike="noStrike" dirty="0">
                <a:solidFill>
                  <a:srgbClr val="6A0000"/>
                </a:solidFill>
                <a:effectLst/>
                <a:latin typeface="Calibri" panose="020F0502020204030204" pitchFamily="34" charset="0"/>
              </a:rPr>
              <a:t> </a:t>
            </a:r>
            <a:endParaRPr lang="pt-BR" sz="4000" b="0" dirty="0">
              <a:effectLst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55932B-8B9E-ADB0-7BE0-2FE74FC667A5}"/>
              </a:ext>
            </a:extLst>
          </p:cNvPr>
          <p:cNvSpPr txBox="1"/>
          <p:nvPr/>
        </p:nvSpPr>
        <p:spPr>
          <a:xfrm>
            <a:off x="5069840" y="395669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rtl="0" fontAlgn="base"/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conjunto de </a:t>
            </a:r>
            <a:r>
              <a:rPr lang="pt-BR" sz="2000" b="0" i="0" u="none" strike="noStrike" dirty="0" err="1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DFs</a:t>
            </a: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 para cada relação </a:t>
            </a:r>
            <a:endParaRPr lang="pt-BR" sz="2000" b="0" i="0" u="none" strike="noStrike" dirty="0">
              <a:solidFill>
                <a:srgbClr val="8DC765"/>
              </a:solidFill>
              <a:effectLst/>
              <a:latin typeface="Noto Sans Symbols"/>
            </a:endParaRPr>
          </a:p>
          <a:p>
            <a:pPr marL="685800" rtl="0" fontAlgn="base">
              <a:spcBef>
                <a:spcPts val="1200"/>
              </a:spcBef>
            </a:pPr>
            <a:r>
              <a:rPr lang="pt-BR" sz="2000" b="0" i="0" u="none" strike="noStrike" dirty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condições para Formas Normais </a:t>
            </a:r>
            <a:endParaRPr lang="pt-BR" sz="2000" b="0" i="0" u="none" strike="noStrike" dirty="0">
              <a:solidFill>
                <a:srgbClr val="8DC765"/>
              </a:solidFill>
              <a:effectLst/>
              <a:latin typeface="Noto Sans Symbols"/>
            </a:endParaRPr>
          </a:p>
          <a:p>
            <a:br>
              <a:rPr lang="pt-BR" sz="2000" b="0" dirty="0">
                <a:effectLst/>
              </a:rPr>
            </a:b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698033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60C1E-367C-A803-8195-D3AA5DBB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BDDF30-E0DB-E65A-1894-6583A36D8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Formas Normais baseadas em Dependências Funcionais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Baseada em PK:</a:t>
            </a:r>
          </a:p>
          <a:p>
            <a:pPr lvl="2"/>
            <a:r>
              <a:rPr lang="pt-BR" dirty="0"/>
              <a:t>1ª FN</a:t>
            </a:r>
          </a:p>
          <a:p>
            <a:pPr lvl="2"/>
            <a:r>
              <a:rPr lang="pt-BR" dirty="0"/>
              <a:t>2ª FN</a:t>
            </a:r>
          </a:p>
          <a:p>
            <a:pPr lvl="2"/>
            <a:r>
              <a:rPr lang="pt-BR" dirty="0"/>
              <a:t>3ª FN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Baseada em chaves candidatas</a:t>
            </a:r>
          </a:p>
          <a:p>
            <a:pPr lvl="2"/>
            <a:r>
              <a:rPr lang="pt-BR" dirty="0"/>
              <a:t>Definições genéricas de 2ª FN e 3ª FN</a:t>
            </a:r>
          </a:p>
          <a:p>
            <a:pPr lvl="2"/>
            <a:r>
              <a:rPr lang="pt-BR" dirty="0"/>
              <a:t>FN de </a:t>
            </a:r>
            <a:r>
              <a:rPr lang="pt-BR" dirty="0" err="1"/>
              <a:t>Boyce-Codd</a:t>
            </a:r>
            <a:r>
              <a:rPr lang="pt-BR" dirty="0"/>
              <a:t> (BCNF)</a:t>
            </a:r>
          </a:p>
          <a:p>
            <a:pPr>
              <a:spcBef>
                <a:spcPts val="2400"/>
              </a:spcBef>
            </a:pPr>
            <a:r>
              <a:rPr lang="pt-BR" dirty="0"/>
              <a:t>Forma Normal baseada em Dependências Multivaloradas</a:t>
            </a:r>
          </a:p>
          <a:p>
            <a:pPr lvl="1"/>
            <a:r>
              <a:rPr lang="pt-BR" dirty="0"/>
              <a:t>4ª FN</a:t>
            </a:r>
          </a:p>
        </p:txBody>
      </p:sp>
    </p:spTree>
    <p:extLst>
      <p:ext uri="{BB962C8B-B14F-4D97-AF65-F5344CB8AC3E}">
        <p14:creationId xmlns:p14="http://schemas.microsoft.com/office/powerpoint/2010/main" val="37492275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6B467-5240-72C6-0E12-259419AC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5D4DD2-0709-DC8D-88AD-9DEDA7846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Framework formal para analisar esquemas de Relações </a:t>
            </a:r>
            <a:r>
              <a:rPr lang="pt-BR" dirty="0"/>
              <a:t>baseado em suas chaves e nas dependências funcionais entre seus atributos</a:t>
            </a:r>
          </a:p>
          <a:p>
            <a:pPr>
              <a:spcBef>
                <a:spcPts val="2400"/>
              </a:spcBef>
            </a:pPr>
            <a:r>
              <a:rPr lang="pt-BR" dirty="0"/>
              <a:t>Série de </a:t>
            </a:r>
            <a:r>
              <a:rPr lang="pt-BR" b="1" dirty="0"/>
              <a:t>testes formais </a:t>
            </a:r>
            <a:r>
              <a:rPr lang="pt-BR" dirty="0"/>
              <a:t>que podem ser executados em esquemas de Relação individuais para que o banco de dados possa ser normalizado para qualquer nível desejado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460975C-3550-5903-739A-2F9AA5AE4F7B}"/>
              </a:ext>
            </a:extLst>
          </p:cNvPr>
          <p:cNvSpPr/>
          <p:nvPr/>
        </p:nvSpPr>
        <p:spPr>
          <a:xfrm>
            <a:off x="1721556" y="4697940"/>
            <a:ext cx="8748888" cy="17949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dirty="0"/>
              <a:t>A forma normal de uma relação refere-se à forma normal mais alta condição que ela satisfaz e, portanto, indica o grau em que ela foi normalizada</a:t>
            </a:r>
          </a:p>
        </p:txBody>
      </p:sp>
    </p:spTree>
    <p:extLst>
      <p:ext uri="{BB962C8B-B14F-4D97-AF65-F5344CB8AC3E}">
        <p14:creationId xmlns:p14="http://schemas.microsoft.com/office/powerpoint/2010/main" val="30021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6EA06-CF82-7A26-43D2-11E6B10B7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B74BF6-02A2-B306-38B9-BBB08928F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Total ou Parcial</a:t>
            </a:r>
          </a:p>
          <a:p>
            <a:r>
              <a:rPr lang="pt-BR" dirty="0"/>
              <a:t>Dados os conjuntos de atributos </a:t>
            </a:r>
            <a:r>
              <a:rPr lang="pt-BR" b="1" dirty="0"/>
              <a:t>X</a:t>
            </a:r>
            <a:r>
              <a:rPr lang="pt-BR" dirty="0"/>
              <a:t> e </a:t>
            </a:r>
            <a:r>
              <a:rPr lang="pt-BR" b="1" dirty="0"/>
              <a:t>Y</a:t>
            </a:r>
            <a:r>
              <a:rPr lang="pt-BR" dirty="0"/>
              <a:t>, e um atributo (qualquer) </a:t>
            </a:r>
            <a:r>
              <a:rPr lang="pt-BR" b="1" dirty="0"/>
              <a:t>a ∈ X:</a:t>
            </a:r>
          </a:p>
          <a:p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BA3FC9-3C3D-9E1D-92E9-32F3974D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153" y="3429000"/>
            <a:ext cx="6401693" cy="166710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2DED1B9-C633-B4E0-2D93-9FFDE42488EB}"/>
              </a:ext>
            </a:extLst>
          </p:cNvPr>
          <p:cNvSpPr txBox="1"/>
          <p:nvPr/>
        </p:nvSpPr>
        <p:spPr>
          <a:xfrm>
            <a:off x="3047999" y="545186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Sigla_Disc</a:t>
            </a: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RA, semestre, ano → Nota </a:t>
            </a:r>
            <a:endParaRPr lang="pt-BR" sz="2800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40A348A-E831-0BA7-DBC9-2A656C7CCC15}"/>
              </a:ext>
            </a:extLst>
          </p:cNvPr>
          <p:cNvSpPr/>
          <p:nvPr/>
        </p:nvSpPr>
        <p:spPr>
          <a:xfrm>
            <a:off x="9273031" y="6097051"/>
            <a:ext cx="1656080" cy="639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DF TOTAL</a:t>
            </a:r>
          </a:p>
        </p:txBody>
      </p:sp>
    </p:spTree>
    <p:extLst>
      <p:ext uri="{BB962C8B-B14F-4D97-AF65-F5344CB8AC3E}">
        <p14:creationId xmlns:p14="http://schemas.microsoft.com/office/powerpoint/2010/main" val="25026925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0E509-A2AC-E1E8-CB13-C2A1D824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DBB4F-4226-C0D7-AADE-70831837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4405EE-DA29-0919-C81B-4692A20DE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Total ou Parcial</a:t>
            </a:r>
          </a:p>
          <a:p>
            <a:r>
              <a:rPr lang="pt-BR" dirty="0"/>
              <a:t>Dados os conjuntos de atributos </a:t>
            </a:r>
            <a:r>
              <a:rPr lang="pt-BR" b="1" dirty="0"/>
              <a:t>X</a:t>
            </a:r>
            <a:r>
              <a:rPr lang="pt-BR" dirty="0"/>
              <a:t> e </a:t>
            </a:r>
            <a:r>
              <a:rPr lang="pt-BR" b="1" dirty="0"/>
              <a:t>Y</a:t>
            </a:r>
            <a:r>
              <a:rPr lang="pt-BR" dirty="0"/>
              <a:t>, e um atributo (qualquer) </a:t>
            </a:r>
            <a:r>
              <a:rPr lang="pt-BR" b="1" dirty="0"/>
              <a:t>a ∈ X:</a:t>
            </a:r>
          </a:p>
          <a:p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A16992-E9FA-D4E7-8F29-614507C4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969" y="3429000"/>
            <a:ext cx="6354062" cy="158137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DB39628-BCB5-BC5E-5BA0-083A9CFB5369}"/>
              </a:ext>
            </a:extLst>
          </p:cNvPr>
          <p:cNvSpPr txBox="1"/>
          <p:nvPr/>
        </p:nvSpPr>
        <p:spPr>
          <a:xfrm>
            <a:off x="2743200" y="5451869"/>
            <a:ext cx="6658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Sigla_Disc</a:t>
            </a: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RA, semestre, ano → </a:t>
            </a:r>
            <a:r>
              <a:rPr lang="pt-BR" sz="28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Nome_Disc</a:t>
            </a:r>
            <a:r>
              <a:rPr lang="pt-BR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lang="pt-BR" sz="2800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B62C451-CC89-284A-4241-54E2F2CF099B}"/>
              </a:ext>
            </a:extLst>
          </p:cNvPr>
          <p:cNvSpPr/>
          <p:nvPr/>
        </p:nvSpPr>
        <p:spPr>
          <a:xfrm>
            <a:off x="9273030" y="6097051"/>
            <a:ext cx="1852169" cy="639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DF PARCIAL</a:t>
            </a:r>
          </a:p>
        </p:txBody>
      </p:sp>
    </p:spTree>
    <p:extLst>
      <p:ext uri="{BB962C8B-B14F-4D97-AF65-F5344CB8AC3E}">
        <p14:creationId xmlns:p14="http://schemas.microsoft.com/office/powerpoint/2010/main" val="5025157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CF082-92E0-216F-869F-47720BE09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9C7F3A-4721-B4CC-7A4A-E5E8B561C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Quais as DF candidatas aqui?</a:t>
            </a:r>
          </a:p>
          <a:p>
            <a:pPr lvl="1"/>
            <a:r>
              <a:rPr lang="pt-BR" dirty="0"/>
              <a:t>Semântica importa!</a:t>
            </a:r>
          </a:p>
          <a:p>
            <a:pPr lvl="1"/>
            <a:r>
              <a:rPr lang="pt-BR" dirty="0"/>
              <a:t>O que conseguimos e eliminar o que não pode ser DF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EFB99D-2CCF-42D1-B65F-8CDEBE26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9337"/>
            <a:ext cx="6042340" cy="289762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D47CC51-93D7-E310-F600-5B2450429FB9}"/>
              </a:ext>
            </a:extLst>
          </p:cNvPr>
          <p:cNvSpPr/>
          <p:nvPr/>
        </p:nvSpPr>
        <p:spPr>
          <a:xfrm>
            <a:off x="8319911" y="3815644"/>
            <a:ext cx="3033889" cy="199813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pt-BR" sz="2000" dirty="0"/>
              <a:t>TEXT </a:t>
            </a:r>
            <a:r>
              <a:rPr lang="pt-BR" sz="2000" dirty="0">
                <a:sym typeface="Wingdings" panose="05000000000000000000" pitchFamily="2" charset="2"/>
              </a:rPr>
              <a:t> COURSE?</a:t>
            </a:r>
          </a:p>
          <a:p>
            <a:pPr algn="ctr">
              <a:spcBef>
                <a:spcPts val="1200"/>
              </a:spcBef>
            </a:pPr>
            <a:r>
              <a:rPr lang="pt-BR" sz="2000" dirty="0">
                <a:sym typeface="Wingdings" panose="05000000000000000000" pitchFamily="2" charset="2"/>
              </a:rPr>
              <a:t>TEACHER  COURSE?</a:t>
            </a:r>
          </a:p>
          <a:p>
            <a:pPr algn="ctr">
              <a:spcBef>
                <a:spcPts val="1200"/>
              </a:spcBef>
            </a:pPr>
            <a:r>
              <a:rPr lang="pt-BR" sz="2000" dirty="0">
                <a:sym typeface="Wingdings" panose="05000000000000000000" pitchFamily="2" charset="2"/>
              </a:rPr>
              <a:t>TEXT  TEACHER?</a:t>
            </a:r>
          </a:p>
          <a:p>
            <a:pPr algn="ctr">
              <a:spcBef>
                <a:spcPts val="1200"/>
              </a:spcBef>
            </a:pPr>
            <a:r>
              <a:rPr lang="pt-BR" sz="2000" dirty="0">
                <a:sym typeface="Wingdings" panose="05000000000000000000" pitchFamily="2" charset="2"/>
              </a:rPr>
              <a:t>COURSE  TEXT?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26785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624E6-E076-FD86-393C-C3A3ADE5B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E5ADC1-F5C9-A98D-A909-9FFEB939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Normalização de bancos de dados relacionais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 que é e para que serve a normalização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Dependência funcional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Principais Formas Normais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84CE0B-D402-D0BF-777C-B01F9FC0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A7A661-05FE-6094-87FC-41DB5B2F37C4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3916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6FF6E-E258-1300-949B-0F96C78B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759978-84DC-8D30-6BC3-7A4AB128F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Todos os atributos da Relação devem ser </a:t>
            </a:r>
            <a:r>
              <a:rPr lang="pt-BR" b="1" dirty="0"/>
              <a:t>Atômicos </a:t>
            </a:r>
            <a:r>
              <a:rPr lang="pt-BR" dirty="0"/>
              <a:t>e </a:t>
            </a:r>
            <a:r>
              <a:rPr lang="pt-BR" b="1" dirty="0" err="1"/>
              <a:t>Monovalorados</a:t>
            </a:r>
            <a:endParaRPr lang="pt-BR" b="1" dirty="0"/>
          </a:p>
          <a:p>
            <a:pPr lvl="1"/>
            <a:r>
              <a:rPr lang="pt-BR" dirty="0"/>
              <a:t>Parte da definição formal do Modelo Relacional</a:t>
            </a:r>
          </a:p>
          <a:p>
            <a:pPr lvl="1"/>
            <a:r>
              <a:rPr lang="pt-BR" dirty="0"/>
              <a:t>Exigida pela maioria dos </a:t>
            </a:r>
            <a:r>
              <a:rPr lang="pt-BR" dirty="0" err="1"/>
              <a:t>SGBD</a:t>
            </a:r>
            <a:r>
              <a:rPr lang="pt-BR" u="sng" dirty="0" err="1"/>
              <a:t>R</a:t>
            </a:r>
            <a:r>
              <a:rPr lang="pt-BR" dirty="0" err="1"/>
              <a:t>s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F2F294-53AF-456D-B698-8092A5147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770" y="3543923"/>
            <a:ext cx="5512461" cy="294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997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EC8F6-DCF8-5D6A-B54E-DD6E1D2B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1ª Forma Normal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F0FFB4-7AE4-8344-8DA3-786D77940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2" y="2120975"/>
            <a:ext cx="5827554" cy="350986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E0153CE-B935-92DD-58B9-934E4E91A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251" y="2049855"/>
            <a:ext cx="5875647" cy="385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4CF3C-9963-7CDE-C6A8-FCC6572E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E27B7-C47E-95D9-6A99-1AB26EF5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Relação já na 1ª FN</a:t>
            </a:r>
          </a:p>
          <a:p>
            <a:pPr>
              <a:spcBef>
                <a:spcPts val="2400"/>
              </a:spcBef>
            </a:pPr>
            <a:r>
              <a:rPr lang="pt-BR" dirty="0"/>
              <a:t>Todos os atributos </a:t>
            </a:r>
            <a:r>
              <a:rPr lang="pt-BR" u="sng" dirty="0"/>
              <a:t>não-primários</a:t>
            </a:r>
            <a:r>
              <a:rPr lang="pt-BR" dirty="0"/>
              <a:t> (ou não-primos) possuem </a:t>
            </a:r>
            <a:r>
              <a:rPr lang="pt-BR" b="1" dirty="0"/>
              <a:t>dependência funcional </a:t>
            </a:r>
            <a:r>
              <a:rPr lang="pt-BR" b="1" u="sng" dirty="0"/>
              <a:t>total</a:t>
            </a:r>
            <a:r>
              <a:rPr lang="pt-BR" dirty="0"/>
              <a:t>, transitiva ou não, da </a:t>
            </a:r>
            <a:r>
              <a:rPr lang="pt-BR" b="1" dirty="0"/>
              <a:t>PK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Atributo não-primário: não faz parte de nenhuma chave candidata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13CCB1-78AF-74FE-0ADE-45C2111C2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145" y="4266777"/>
            <a:ext cx="8481709" cy="191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033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195A6-44C1-024A-3095-9ECD2DC0A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C3B652-5261-7C71-1058-F70E6157B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D91F99-BEFC-6EAC-720C-D69AA9C2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346" y="2173361"/>
            <a:ext cx="7506748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7345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C23F0-7175-9E6C-79C6-383D0EB6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DD8A70-487C-E73D-62A2-8359F9F74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1DF31485-F612-7549-7EA4-FA6812177B74}"/>
              </a:ext>
            </a:extLst>
          </p:cNvPr>
          <p:cNvGrpSpPr/>
          <p:nvPr/>
        </p:nvGrpSpPr>
        <p:grpSpPr>
          <a:xfrm>
            <a:off x="2009204" y="1825624"/>
            <a:ext cx="8173591" cy="4058217"/>
            <a:chOff x="2009204" y="1825624"/>
            <a:chExt cx="8173591" cy="4058217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C4BA61E-4CDA-81F0-52E6-22C50E28B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09204" y="1825625"/>
              <a:ext cx="8173591" cy="4058216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9FA6BBB6-1065-132F-3480-67FF26729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53689" y="1825624"/>
              <a:ext cx="1129106" cy="1396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681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2CA28-C7E4-BAD1-149F-B73B58AA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EE49D4-452C-8154-C740-20D2967B8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esquema da tabela T está na 2NF se todo atributo não-primário A em T não depender parcialmente de qualquer chave de 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379F3D-E822-15E2-9B98-FD051AB8B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" y="3429000"/>
            <a:ext cx="6839905" cy="245779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95D124E-F32C-4F86-A80E-E739DB7B34E7}"/>
              </a:ext>
            </a:extLst>
          </p:cNvPr>
          <p:cNvSpPr txBox="1"/>
          <p:nvPr/>
        </p:nvSpPr>
        <p:spPr>
          <a:xfrm>
            <a:off x="7857067" y="3429000"/>
            <a:ext cx="3646311" cy="156966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Normalizar o esquema </a:t>
            </a:r>
            <a:r>
              <a:rPr lang="pt-BR" sz="2400" dirty="0">
                <a:sym typeface="Wingdings" panose="05000000000000000000" pitchFamily="2" charset="2"/>
              </a:rPr>
              <a:t> </a:t>
            </a:r>
            <a:r>
              <a:rPr lang="pt-BR" sz="2400" dirty="0"/>
              <a:t>Decompor o esquema em outros menores, seguindo as DF totais</a:t>
            </a:r>
          </a:p>
        </p:txBody>
      </p:sp>
    </p:spTree>
    <p:extLst>
      <p:ext uri="{BB962C8B-B14F-4D97-AF65-F5344CB8AC3E}">
        <p14:creationId xmlns:p14="http://schemas.microsoft.com/office/powerpoint/2010/main" val="335215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7E24A-B4B7-6211-79D8-052F0FF6A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38358-249C-D010-F6E5-71BF566A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30805-06F9-1E19-5BDB-09720F6A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esquema da tabela T está na 2NF se todo atributo não-primário A em T não depender parcialmente de qualquer chave de T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EB34C01-680E-E4C1-2214-3F8850829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117" y="2938607"/>
            <a:ext cx="8033765" cy="337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8026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A75B2-AD57-AFEA-241C-67CB3CD8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F5470E-89C7-EB63-3FC8-0A130B538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Decomposto em 3 esquemas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2CBDC5-8F09-F819-EF8D-B01FBB0E0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679" y="2375721"/>
            <a:ext cx="6744641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661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1D565-E8B0-58B1-1A9F-F8FF44D00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86149-AB72-AA56-4146-D581C9695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Relação já na 2ª FN</a:t>
            </a:r>
          </a:p>
          <a:p>
            <a:pPr>
              <a:spcBef>
                <a:spcPts val="2400"/>
              </a:spcBef>
            </a:pPr>
            <a:r>
              <a:rPr lang="pt-BR" dirty="0"/>
              <a:t>Baseada no conceito de </a:t>
            </a:r>
            <a:r>
              <a:rPr lang="pt-BR" b="1" dirty="0"/>
              <a:t>dependência transitiva</a:t>
            </a:r>
          </a:p>
          <a:p>
            <a:pPr>
              <a:spcBef>
                <a:spcPts val="2400"/>
              </a:spcBef>
            </a:pPr>
            <a:r>
              <a:rPr lang="pt-BR" dirty="0"/>
              <a:t>DF </a:t>
            </a:r>
            <a:r>
              <a:rPr lang="pt-BR" b="1" dirty="0"/>
              <a:t>X </a:t>
            </a:r>
            <a:r>
              <a:rPr lang="pt-BR" b="1" dirty="0">
                <a:sym typeface="Wingdings" panose="05000000000000000000" pitchFamily="2" charset="2"/>
              </a:rPr>
              <a:t> Y </a:t>
            </a:r>
            <a:r>
              <a:rPr lang="pt-BR" dirty="0">
                <a:sym typeface="Wingdings" panose="05000000000000000000" pitchFamily="2" charset="2"/>
              </a:rPr>
              <a:t>é transitiva se: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Existe um conjunto de atributos Z em T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Z não é chave candidata e nem subconjunto de chaves de T e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Tanto </a:t>
            </a:r>
            <a:r>
              <a:rPr lang="pt-BR" b="1" dirty="0">
                <a:sym typeface="Wingdings" panose="05000000000000000000" pitchFamily="2" charset="2"/>
              </a:rPr>
              <a:t>X  Z </a:t>
            </a:r>
            <a:r>
              <a:rPr lang="pt-BR" dirty="0">
                <a:sym typeface="Wingdings" panose="05000000000000000000" pitchFamily="2" charset="2"/>
              </a:rPr>
              <a:t>quanto </a:t>
            </a:r>
            <a:r>
              <a:rPr lang="pt-BR" b="1" dirty="0">
                <a:sym typeface="Wingdings" panose="05000000000000000000" pitchFamily="2" charset="2"/>
              </a:rPr>
              <a:t>Z  Y </a:t>
            </a:r>
            <a:r>
              <a:rPr lang="pt-BR" dirty="0">
                <a:sym typeface="Wingdings" panose="05000000000000000000" pitchFamily="2" charset="2"/>
              </a:rPr>
              <a:t>valem no esquema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Um atributo </a:t>
            </a:r>
            <a:r>
              <a:rPr lang="pt-BR" b="1" dirty="0">
                <a:sym typeface="Wingdings" panose="05000000000000000000" pitchFamily="2" charset="2"/>
              </a:rPr>
              <a:t>não-chave depende de outro atributo não-chave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942151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7543E-3067-E604-2D73-634CA533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045F-2572-E06C-2755-9587AEC0E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A2EA8F-45DA-3D47-A919-D4FBB0EBB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07F12E-9D75-D883-D3C4-91DDF391E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665" y="1744001"/>
            <a:ext cx="9472669" cy="451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713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64CE-6927-6CF1-07AF-B9A0A329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E310A-90A0-69A9-6951-4426D5A2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09AD2-9ED2-D168-6779-DE027101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784E69-29C2-4041-D63A-5099FEE5B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30" y="2184647"/>
            <a:ext cx="9738140" cy="363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224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E015A-D9A1-4F24-972A-00A67CB9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EE6B3-7A66-1396-1CD2-8F121316C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BB64F-F227-1984-ECA5-3D790786D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9A3AFD5-A03A-61F3-BE83-0670FDFA6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9" y="1777700"/>
            <a:ext cx="10236921" cy="444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0521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3683E-47F1-3A72-7E21-7B48E3554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134B9C-C3E1-C6A2-EC25-AB6581EB8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BA01AC-853B-08F2-30B3-5EF20AFCE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454754-C763-5B6D-2C23-138ADB4BE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856" y="1843580"/>
            <a:ext cx="9100300" cy="477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5406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F43A3-77ED-D1C7-6C6A-6AFB082C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A6FD71-C5C1-1CA5-2E27-62ABDB04B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3ª Forma Normal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A84A41-4BB6-B6CA-B480-6FAFBBF91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Outro exemplo: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F55BFA-1E36-8B29-A9DA-8890820F257C}"/>
              </a:ext>
            </a:extLst>
          </p:cNvPr>
          <p:cNvSpPr txBox="1"/>
          <p:nvPr/>
        </p:nvSpPr>
        <p:spPr>
          <a:xfrm>
            <a:off x="1337734" y="2784311"/>
            <a:ext cx="95165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dirty="0"/>
              <a:t>T(</a:t>
            </a:r>
            <a:r>
              <a:rPr lang="it-IT" sz="2800" b="1" u="sng" dirty="0"/>
              <a:t>CodDisc, Ano, Semestre</a:t>
            </a:r>
            <a:r>
              <a:rPr lang="it-IT" sz="2800" dirty="0"/>
              <a:t>, Sala, Predio)</a:t>
            </a:r>
          </a:p>
          <a:p>
            <a:endParaRPr lang="it-IT" sz="2800" b="1" dirty="0"/>
          </a:p>
          <a:p>
            <a:r>
              <a:rPr lang="it-IT" sz="2800" b="1" dirty="0"/>
              <a:t>2FN: (CodDisc, Ano, Semestre) </a:t>
            </a:r>
            <a:r>
              <a:rPr lang="it-IT" sz="2800" b="1" dirty="0">
                <a:sym typeface="Wingdings" panose="05000000000000000000" pitchFamily="2" charset="2"/>
              </a:rPr>
              <a:t> Sala</a:t>
            </a:r>
          </a:p>
          <a:p>
            <a:endParaRPr lang="it-IT" sz="2800" b="1" dirty="0">
              <a:sym typeface="Wingdings" panose="05000000000000000000" pitchFamily="2" charset="2"/>
            </a:endParaRPr>
          </a:p>
          <a:p>
            <a:r>
              <a:rPr lang="it-IT" sz="2800" b="1" dirty="0">
                <a:sym typeface="Wingdings" panose="05000000000000000000" pitchFamily="2" charset="2"/>
              </a:rPr>
              <a:t>Não está na 3FN, pois: Sala  Prédio</a:t>
            </a:r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628757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6AE75-64DE-415F-83A1-C72F40C2E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B09F0-C941-EF13-8D78-A42C942E1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8DE60C-D310-6947-EAF1-9EE43AE46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Normalize as seguintes relações (sem relação entre elas):</a:t>
            </a:r>
          </a:p>
          <a:p>
            <a:pPr marL="0" indent="0">
              <a:spcBef>
                <a:spcPts val="2400"/>
              </a:spcBef>
              <a:buNone/>
            </a:pPr>
            <a:r>
              <a:rPr lang="pt-BR" dirty="0"/>
              <a:t>1) </a:t>
            </a:r>
            <a:r>
              <a:rPr lang="pt-BR" b="1" dirty="0"/>
              <a:t>MATRICULA </a:t>
            </a:r>
            <a:r>
              <a:rPr lang="pt-BR" dirty="0"/>
              <a:t>(</a:t>
            </a:r>
            <a:r>
              <a:rPr lang="pt-BR" u="sng" dirty="0" err="1"/>
              <a:t>ID_Aluno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Telefones, </a:t>
            </a:r>
            <a:r>
              <a:rPr lang="pt-BR" u="sng" dirty="0" err="1"/>
              <a:t>ID</a:t>
            </a:r>
            <a:r>
              <a:rPr lang="pt-BR" dirty="0" err="1"/>
              <a:t>_</a:t>
            </a:r>
            <a:r>
              <a:rPr lang="pt-BR" u="sng" dirty="0" err="1"/>
              <a:t>Curso</a:t>
            </a:r>
            <a:r>
              <a:rPr lang="pt-BR" dirty="0"/>
              <a:t>, </a:t>
            </a:r>
            <a:r>
              <a:rPr lang="pt-BR" dirty="0" err="1"/>
              <a:t>Nome_curso</a:t>
            </a:r>
            <a:r>
              <a:rPr lang="pt-BR" dirty="0"/>
              <a:t>, </a:t>
            </a:r>
            <a:r>
              <a:rPr lang="pt-BR" dirty="0" err="1"/>
              <a:t>Valor_Curso</a:t>
            </a:r>
            <a:r>
              <a:rPr lang="pt-BR" dirty="0"/>
              <a:t>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2) </a:t>
            </a:r>
            <a:r>
              <a:rPr lang="pt-BR" b="1" dirty="0"/>
              <a:t>EMPRESTIMO</a:t>
            </a:r>
            <a:r>
              <a:rPr lang="pt-BR" dirty="0"/>
              <a:t> (</a:t>
            </a:r>
            <a:r>
              <a:rPr lang="pt-BR" u="sng" dirty="0" err="1"/>
              <a:t>COD_Aluno</a:t>
            </a:r>
            <a:r>
              <a:rPr lang="pt-BR" dirty="0"/>
              <a:t>, </a:t>
            </a:r>
            <a:r>
              <a:rPr lang="pt-BR" dirty="0" err="1"/>
              <a:t>nome_aluno</a:t>
            </a:r>
            <a:r>
              <a:rPr lang="pt-BR" dirty="0"/>
              <a:t>, </a:t>
            </a:r>
            <a:r>
              <a:rPr lang="pt-BR" dirty="0" err="1"/>
              <a:t>Tels_aluno</a:t>
            </a:r>
            <a:r>
              <a:rPr lang="pt-BR" dirty="0"/>
              <a:t>, CEP, Cidade, Estado, </a:t>
            </a:r>
            <a:r>
              <a:rPr lang="pt-BR" u="sng" dirty="0" err="1"/>
              <a:t>COD_livro</a:t>
            </a:r>
            <a:r>
              <a:rPr lang="pt-BR" dirty="0"/>
              <a:t>, </a:t>
            </a:r>
            <a:r>
              <a:rPr lang="pt-BR" dirty="0" err="1"/>
              <a:t>Titulo_livro</a:t>
            </a:r>
            <a:r>
              <a:rPr lang="pt-BR" dirty="0"/>
              <a:t>, </a:t>
            </a:r>
            <a:r>
              <a:rPr lang="pt-BR" dirty="0" err="1"/>
              <a:t>Autores_livro</a:t>
            </a:r>
            <a:r>
              <a:rPr lang="pt-BR" dirty="0"/>
              <a:t>, </a:t>
            </a:r>
            <a:r>
              <a:rPr lang="pt-BR" u="sng" dirty="0" err="1"/>
              <a:t>Data_empréstimo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5F57D9-B574-D227-E126-09FD9C3BA73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129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9CA8AC-F9B3-EA48-5CA9-1DB497F2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- resposta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28A73-0AE8-E47A-F23D-874441B87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2400" dirty="0"/>
              <a:t>MATRICULA (</a:t>
            </a:r>
            <a:r>
              <a:rPr lang="pt-BR" sz="2400" dirty="0" err="1"/>
              <a:t>ID_Aluno</a:t>
            </a:r>
            <a:r>
              <a:rPr lang="pt-BR" sz="2400" dirty="0"/>
              <a:t>, </a:t>
            </a:r>
            <a:r>
              <a:rPr lang="pt-BR" sz="2400" dirty="0" err="1"/>
              <a:t>ID_Curso</a:t>
            </a:r>
            <a:r>
              <a:rPr lang="pt-BR" sz="2400" dirty="0"/>
              <a:t>, Valor)</a:t>
            </a:r>
          </a:p>
          <a:p>
            <a:r>
              <a:rPr lang="pt-BR" sz="2400" dirty="0"/>
              <a:t>ALUNO (</a:t>
            </a:r>
            <a:r>
              <a:rPr lang="pt-BR" sz="2400" dirty="0" err="1"/>
              <a:t>ID_Aluno</a:t>
            </a:r>
            <a:r>
              <a:rPr lang="pt-BR" sz="2400" dirty="0"/>
              <a:t>, </a:t>
            </a:r>
            <a:r>
              <a:rPr lang="pt-BR" sz="2400" dirty="0" err="1"/>
              <a:t>Nome_aluno</a:t>
            </a:r>
            <a:r>
              <a:rPr lang="pt-BR" sz="2400" dirty="0"/>
              <a:t>)</a:t>
            </a:r>
          </a:p>
          <a:p>
            <a:r>
              <a:rPr lang="pt-BR" sz="2400" dirty="0"/>
              <a:t>CURSO (</a:t>
            </a:r>
            <a:r>
              <a:rPr lang="pt-BR" sz="2400" dirty="0" err="1"/>
              <a:t>ID_Curso</a:t>
            </a:r>
            <a:r>
              <a:rPr lang="pt-BR" sz="2400" dirty="0"/>
              <a:t>, </a:t>
            </a:r>
            <a:r>
              <a:rPr lang="pt-BR" sz="2400" dirty="0" err="1"/>
              <a:t>Nome_curso</a:t>
            </a:r>
            <a:r>
              <a:rPr lang="pt-BR" sz="2400" dirty="0"/>
              <a:t>)</a:t>
            </a:r>
          </a:p>
          <a:p>
            <a:r>
              <a:rPr lang="pt-BR" sz="2400" dirty="0"/>
              <a:t>TELEFONE (</a:t>
            </a:r>
            <a:r>
              <a:rPr lang="pt-BR" sz="2400" dirty="0" err="1"/>
              <a:t>ID_Aluno</a:t>
            </a:r>
            <a:r>
              <a:rPr lang="pt-BR" sz="2400" dirty="0"/>
              <a:t>, Telefone)</a:t>
            </a:r>
          </a:p>
          <a:p>
            <a:endParaRPr lang="pt-BR" sz="2400" dirty="0"/>
          </a:p>
          <a:p>
            <a:r>
              <a:rPr lang="pt-BR" sz="2400" dirty="0"/>
              <a:t>EMPRESTIMO (</a:t>
            </a:r>
            <a:r>
              <a:rPr lang="pt-BR" sz="2400" dirty="0" err="1"/>
              <a:t>COD_Aluno</a:t>
            </a:r>
            <a:r>
              <a:rPr lang="pt-BR" sz="2400" dirty="0"/>
              <a:t>, </a:t>
            </a:r>
            <a:r>
              <a:rPr lang="pt-BR" sz="2400" dirty="0" err="1"/>
              <a:t>COD_Livro</a:t>
            </a:r>
            <a:r>
              <a:rPr lang="pt-BR" sz="2400" dirty="0"/>
              <a:t>, Data)</a:t>
            </a:r>
          </a:p>
          <a:p>
            <a:r>
              <a:rPr lang="pt-BR" sz="2400" dirty="0"/>
              <a:t>ALUNO (</a:t>
            </a:r>
            <a:r>
              <a:rPr lang="pt-BR" sz="2400" dirty="0" err="1"/>
              <a:t>COD_Aluno</a:t>
            </a:r>
            <a:r>
              <a:rPr lang="pt-BR" sz="2400" dirty="0"/>
              <a:t>, Nome, CEP)</a:t>
            </a:r>
          </a:p>
          <a:p>
            <a:r>
              <a:rPr lang="pt-BR" sz="2400" dirty="0"/>
              <a:t>TELEFONE (</a:t>
            </a:r>
            <a:r>
              <a:rPr lang="pt-BR" sz="2400" dirty="0" err="1"/>
              <a:t>COD_Aluno</a:t>
            </a:r>
            <a:r>
              <a:rPr lang="pt-BR" sz="2400" dirty="0"/>
              <a:t>, Telefone)</a:t>
            </a:r>
          </a:p>
          <a:p>
            <a:r>
              <a:rPr lang="pt-BR" sz="2400" dirty="0"/>
              <a:t>LIVRO (</a:t>
            </a:r>
            <a:r>
              <a:rPr lang="pt-BR" sz="2400" dirty="0" err="1"/>
              <a:t>COD_Livro</a:t>
            </a:r>
            <a:r>
              <a:rPr lang="pt-BR" sz="2400" dirty="0"/>
              <a:t>, </a:t>
            </a:r>
            <a:r>
              <a:rPr lang="pt-BR" sz="2400" dirty="0" err="1"/>
              <a:t>Titulo_Livro</a:t>
            </a:r>
            <a:r>
              <a:rPr lang="pt-BR" sz="2400" dirty="0"/>
              <a:t>)</a:t>
            </a:r>
          </a:p>
          <a:p>
            <a:r>
              <a:rPr lang="pt-BR" sz="2400" dirty="0"/>
              <a:t>AUTOR (</a:t>
            </a:r>
            <a:r>
              <a:rPr lang="pt-BR" sz="2400" dirty="0" err="1"/>
              <a:t>COD_Livro</a:t>
            </a:r>
            <a:r>
              <a:rPr lang="pt-BR" sz="2400" dirty="0"/>
              <a:t>, Autor)</a:t>
            </a:r>
          </a:p>
          <a:p>
            <a:r>
              <a:rPr lang="pt-BR" sz="2400" dirty="0"/>
              <a:t>ENDERECO(CEP, Cidade, Estado)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5BFB1B-83E4-F8E6-A123-63C4091D12B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3640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6D52-FE1C-B3A4-E6C4-8B5279572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2A10D-C90E-87B3-7714-6ED06F31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5B10EA-4FFB-7683-E2E4-8A4D15E70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Forma mais restrita da 3FN</a:t>
            </a:r>
          </a:p>
          <a:p>
            <a:pPr lvl="1"/>
            <a:r>
              <a:rPr lang="pt-BR" dirty="0"/>
              <a:t>Toda Relação em BCNF também está na 3FN, mas não o contrário</a:t>
            </a:r>
          </a:p>
          <a:p>
            <a:pPr>
              <a:spcBef>
                <a:spcPts val="2400"/>
              </a:spcBef>
            </a:pPr>
            <a:r>
              <a:rPr lang="pt-BR" dirty="0"/>
              <a:t>A BCNF aborda certos casos extremos em que a 3NF não elimina toda a redundância, particularmente quando existem chaves candidatas sobrepostas ou dependências complexas.</a:t>
            </a:r>
          </a:p>
          <a:p>
            <a:pPr>
              <a:spcBef>
                <a:spcPts val="2400"/>
              </a:spcBef>
            </a:pPr>
            <a:r>
              <a:rPr lang="pt-BR" dirty="0"/>
              <a:t>Uma Relação está na BCNF se:</a:t>
            </a:r>
          </a:p>
          <a:p>
            <a:pPr lvl="1"/>
            <a:r>
              <a:rPr lang="pt-BR" dirty="0"/>
              <a:t>Estiver na 3FN</a:t>
            </a:r>
          </a:p>
          <a:p>
            <a:pPr lvl="1"/>
            <a:r>
              <a:rPr lang="pt-BR" dirty="0"/>
              <a:t>Para toda DF não-trivial X</a:t>
            </a:r>
            <a:r>
              <a:rPr lang="pt-BR" dirty="0">
                <a:sym typeface="Wingdings" panose="05000000000000000000" pitchFamily="2" charset="2"/>
              </a:rPr>
              <a:t>A valida para a Relação R, </a:t>
            </a:r>
            <a:r>
              <a:rPr lang="pt-BR" b="1" dirty="0">
                <a:sym typeface="Wingdings" panose="05000000000000000000" pitchFamily="2" charset="2"/>
              </a:rPr>
              <a:t>X </a:t>
            </a:r>
            <a:r>
              <a:rPr lang="pt-BR" dirty="0">
                <a:sym typeface="Wingdings" panose="05000000000000000000" pitchFamily="2" charset="2"/>
              </a:rPr>
              <a:t>é uma </a:t>
            </a:r>
            <a:r>
              <a:rPr lang="pt-BR" b="1" dirty="0">
                <a:sym typeface="Wingdings" panose="05000000000000000000" pitchFamily="2" charset="2"/>
              </a:rPr>
              <a:t>chave </a:t>
            </a:r>
            <a:r>
              <a:rPr lang="pt-BR" dirty="0">
                <a:sym typeface="Wingdings" panose="05000000000000000000" pitchFamily="2" charset="2"/>
              </a:rPr>
              <a:t>em 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83689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864B3-62A6-8977-7E68-18530679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7E086C-2649-FC45-EC9F-BF62AC415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Exemplo:</a:t>
            </a:r>
          </a:p>
          <a:p>
            <a:endParaRPr lang="pt-BR" sz="1100" dirty="0"/>
          </a:p>
          <a:p>
            <a:pPr marL="0" indent="0">
              <a:buNone/>
            </a:pPr>
            <a:r>
              <a:rPr lang="pt-BR" b="1" dirty="0"/>
              <a:t>Treinamento = {</a:t>
            </a:r>
            <a:r>
              <a:rPr lang="pt-BR" b="1" u="sng" dirty="0"/>
              <a:t>Aluno</a:t>
            </a:r>
            <a:r>
              <a:rPr lang="pt-BR" b="1" dirty="0"/>
              <a:t>, </a:t>
            </a:r>
            <a:r>
              <a:rPr lang="pt-BR" b="1" u="sng" dirty="0"/>
              <a:t>Curso</a:t>
            </a:r>
            <a:r>
              <a:rPr lang="pt-BR" b="1" dirty="0"/>
              <a:t>, Instrutor}</a:t>
            </a:r>
          </a:p>
          <a:p>
            <a:pPr marL="0" indent="0">
              <a:buNone/>
            </a:pPr>
            <a:endParaRPr lang="pt-BR" sz="1400" dirty="0"/>
          </a:p>
          <a:p>
            <a:pPr marL="0" indent="0">
              <a:buNone/>
            </a:pPr>
            <a:r>
              <a:rPr lang="pt-BR" dirty="0"/>
              <a:t>(Aluno, Curso) </a:t>
            </a:r>
            <a:r>
              <a:rPr lang="pt-BR" dirty="0">
                <a:sym typeface="Wingdings" panose="05000000000000000000" pitchFamily="2" charset="2"/>
              </a:rPr>
              <a:t> Instrutor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Instrutor  Curso</a:t>
            </a:r>
          </a:p>
          <a:p>
            <a:pPr marL="0" indent="0">
              <a:buNone/>
            </a:pPr>
            <a:endParaRPr lang="pt-B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Analisando a Relação </a:t>
            </a:r>
            <a:r>
              <a:rPr lang="pt-BR" b="1" dirty="0">
                <a:sym typeface="Wingdings" panose="05000000000000000000" pitchFamily="2" charset="2"/>
              </a:rPr>
              <a:t>Treinamento </a:t>
            </a:r>
            <a:r>
              <a:rPr lang="pt-BR" dirty="0">
                <a:sym typeface="Wingdings" panose="05000000000000000000" pitchFamily="2" charset="2"/>
              </a:rPr>
              <a:t>e considerando as definições da 2FN e 3FN: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	2FN? OK</a:t>
            </a:r>
          </a:p>
          <a:p>
            <a:pPr marL="0" indent="0">
              <a:buNone/>
            </a:pPr>
            <a:r>
              <a:rPr lang="pt-BR" dirty="0">
                <a:sym typeface="Wingdings" panose="05000000000000000000" pitchFamily="2" charset="2"/>
              </a:rPr>
              <a:t>	3FN? OK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71E1AD-BCDD-F862-2E14-378A23CD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285" y="6140274"/>
            <a:ext cx="648743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492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17800-A555-3363-5DAE-4CDE59734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B96615-364E-F12B-2B29-748A257CA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  <a:p>
            <a:pPr marL="0" indent="0">
              <a:buNone/>
            </a:pPr>
            <a:r>
              <a:rPr lang="pt-BR" b="1" dirty="0" err="1"/>
              <a:t>Orientacao</a:t>
            </a:r>
            <a:r>
              <a:rPr lang="pt-BR" b="1" dirty="0"/>
              <a:t> (Aluno, Disciplina, Professor)</a:t>
            </a:r>
          </a:p>
          <a:p>
            <a:pPr marL="0" indent="0">
              <a:buNone/>
            </a:pPr>
            <a:endParaRPr lang="pt-BR" sz="1100" dirty="0"/>
          </a:p>
          <a:p>
            <a:pPr marL="0" indent="0">
              <a:buNone/>
            </a:pPr>
            <a:r>
              <a:rPr lang="pt-BR" sz="2000" dirty="0"/>
              <a:t>(Aluno, Disciplina) </a:t>
            </a:r>
            <a:r>
              <a:rPr lang="pt-BR" sz="2000" dirty="0">
                <a:sym typeface="Wingdings" panose="05000000000000000000" pitchFamily="2" charset="2"/>
              </a:rPr>
              <a:t> Professor</a:t>
            </a:r>
          </a:p>
          <a:p>
            <a:pPr marL="0" indent="0">
              <a:buNone/>
            </a:pPr>
            <a:r>
              <a:rPr lang="pt-BR" sz="2000" dirty="0">
                <a:sym typeface="Wingdings" panose="05000000000000000000" pitchFamily="2" charset="2"/>
              </a:rPr>
              <a:t>(Aluno, Professor)  Disciplina</a:t>
            </a:r>
          </a:p>
          <a:p>
            <a:pPr marL="0" indent="0">
              <a:buNone/>
            </a:pPr>
            <a:r>
              <a:rPr lang="pt-BR" sz="2000" dirty="0">
                <a:sym typeface="Wingdings" panose="05000000000000000000" pitchFamily="2" charset="2"/>
              </a:rPr>
              <a:t>Professor  Disciplina</a:t>
            </a:r>
            <a:endParaRPr lang="pt-BR" sz="20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D783428-40DB-2991-971F-810D1CCE177A}"/>
              </a:ext>
            </a:extLst>
          </p:cNvPr>
          <p:cNvSpPr/>
          <p:nvPr/>
        </p:nvSpPr>
        <p:spPr>
          <a:xfrm>
            <a:off x="2472265" y="4447821"/>
            <a:ext cx="8082845" cy="2207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u="sng" dirty="0"/>
              <a:t>Premissas</a:t>
            </a:r>
            <a:r>
              <a:rPr lang="pt-BR" sz="2800" dirty="0"/>
              <a:t>: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2400" dirty="0"/>
              <a:t>Uma Aluno pode fazer várias disciplinas, mas com professor diferente para cada uma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2400" dirty="0"/>
              <a:t>Um professor ensina apenas uma disciplina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pt-BR" sz="2400" dirty="0"/>
              <a:t>Uma aluno, para uma disciplina, tem um único professor</a:t>
            </a:r>
          </a:p>
        </p:txBody>
      </p:sp>
    </p:spTree>
    <p:extLst>
      <p:ext uri="{BB962C8B-B14F-4D97-AF65-F5344CB8AC3E}">
        <p14:creationId xmlns:p14="http://schemas.microsoft.com/office/powerpoint/2010/main" val="14732038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CD500-38EB-63D5-93F5-8F41F265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2FF7E-88E4-D4E6-DA9C-9F75A3B71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Cenário de exemplo: banco de dados de universidade que registre quais Alunos estão matriculados em quais Disciplinas e que Professor leciona para a Disciplina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sz="4300" dirty="0"/>
          </a:p>
          <a:p>
            <a:r>
              <a:rPr lang="pt-BR" dirty="0"/>
              <a:t>Dependências funcionais:</a:t>
            </a:r>
          </a:p>
          <a:p>
            <a:pPr lvl="1"/>
            <a:r>
              <a:rPr lang="pt-BR" dirty="0"/>
              <a:t>(</a:t>
            </a:r>
            <a:r>
              <a:rPr lang="pt-BR" dirty="0" err="1"/>
              <a:t>StudentID</a:t>
            </a:r>
            <a:r>
              <a:rPr lang="pt-BR" dirty="0"/>
              <a:t>, </a:t>
            </a:r>
            <a:r>
              <a:rPr lang="pt-BR" dirty="0" err="1"/>
              <a:t>Course</a:t>
            </a:r>
            <a:r>
              <a:rPr lang="pt-BR" dirty="0"/>
              <a:t>)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 err="1">
                <a:sym typeface="Wingdings" panose="05000000000000000000" pitchFamily="2" charset="2"/>
              </a:rPr>
              <a:t>Instructor</a:t>
            </a:r>
            <a:r>
              <a:rPr lang="pt-BR" dirty="0">
                <a:sym typeface="Wingdings" panose="05000000000000000000" pitchFamily="2" charset="2"/>
              </a:rPr>
              <a:t> (cada combinação determina </a:t>
            </a:r>
            <a:r>
              <a:rPr lang="pt-BR" dirty="0" err="1">
                <a:sym typeface="Wingdings" panose="05000000000000000000" pitchFamily="2" charset="2"/>
              </a:rPr>
              <a:t>Instructor</a:t>
            </a:r>
            <a:r>
              <a:rPr lang="pt-B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pt-BR" dirty="0" err="1">
                <a:sym typeface="Wingdings" panose="05000000000000000000" pitchFamily="2" charset="2"/>
              </a:rPr>
              <a:t>Course</a:t>
            </a:r>
            <a:r>
              <a:rPr lang="pt-BR" dirty="0">
                <a:sym typeface="Wingdings" panose="05000000000000000000" pitchFamily="2" charset="2"/>
              </a:rPr>
              <a:t>  </a:t>
            </a:r>
            <a:r>
              <a:rPr lang="pt-BR" dirty="0" err="1">
                <a:sym typeface="Wingdings" panose="05000000000000000000" pitchFamily="2" charset="2"/>
              </a:rPr>
              <a:t>Instructor</a:t>
            </a:r>
            <a:r>
              <a:rPr lang="pt-BR" dirty="0">
                <a:sym typeface="Wingdings" panose="05000000000000000000" pitchFamily="2" charset="2"/>
              </a:rPr>
              <a:t> (cada curso é sempre ministrado pelo mesmo Instrutor)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431933B-4617-02A5-691D-188ED14E4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135608"/>
              </p:ext>
            </p:extLst>
          </p:nvPr>
        </p:nvGraphicFramePr>
        <p:xfrm>
          <a:off x="3212818" y="2985294"/>
          <a:ext cx="5608320" cy="1828800"/>
        </p:xfrm>
        <a:graphic>
          <a:graphicData uri="http://schemas.openxmlformats.org/drawingml/2006/table">
            <a:tbl>
              <a:tblPr/>
              <a:tblGrid>
                <a:gridCol w="1869440">
                  <a:extLst>
                    <a:ext uri="{9D8B030D-6E8A-4147-A177-3AD203B41FA5}">
                      <a16:colId xmlns:a16="http://schemas.microsoft.com/office/drawing/2014/main" val="3330167928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2678303194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3295022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StudentID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9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1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7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184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2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1764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113A1-90FE-15D0-ABC6-972C9A3E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9237A-62C4-15F3-C8F1-A73D925E2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1A8FED-194D-18EB-ED4A-EB042BDCC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Chaves candidatas:</a:t>
            </a:r>
          </a:p>
          <a:p>
            <a:pPr lvl="1"/>
            <a:r>
              <a:rPr lang="pt-BR" dirty="0"/>
              <a:t>Única chave candidata é a chave composta (</a:t>
            </a:r>
            <a:r>
              <a:rPr lang="pt-BR" dirty="0" err="1"/>
              <a:t>StudentID</a:t>
            </a:r>
            <a:r>
              <a:rPr lang="pt-BR" dirty="0"/>
              <a:t> e </a:t>
            </a:r>
            <a:r>
              <a:rPr lang="pt-BR" dirty="0" err="1"/>
              <a:t>Course</a:t>
            </a:r>
            <a:r>
              <a:rPr lang="pt-BR" dirty="0"/>
              <a:t>), já que ambas são necessárias para identificar univocamente uma tupla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3FN? SIM!</a:t>
            </a:r>
          </a:p>
          <a:p>
            <a:pPr lvl="1"/>
            <a:r>
              <a:rPr lang="pt-BR" dirty="0"/>
              <a:t>Todos atributos não-primários (</a:t>
            </a:r>
            <a:r>
              <a:rPr lang="pt-BR" dirty="0" err="1"/>
              <a:t>Instructor</a:t>
            </a:r>
            <a:r>
              <a:rPr lang="pt-BR" dirty="0"/>
              <a:t>) são totalmente dependentes da chave candidata (</a:t>
            </a:r>
            <a:r>
              <a:rPr lang="pt-BR" dirty="0" err="1"/>
              <a:t>StudentID</a:t>
            </a:r>
            <a:r>
              <a:rPr lang="pt-BR" dirty="0"/>
              <a:t>, </a:t>
            </a:r>
            <a:r>
              <a:rPr lang="pt-BR" dirty="0" err="1"/>
              <a:t>Course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Não existem dependências transitivas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9635DC4-C363-2849-CD26-FA5343D8AE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016450"/>
              </p:ext>
            </p:extLst>
          </p:nvPr>
        </p:nvGraphicFramePr>
        <p:xfrm>
          <a:off x="3066062" y="3007872"/>
          <a:ext cx="5608320" cy="1828800"/>
        </p:xfrm>
        <a:graphic>
          <a:graphicData uri="http://schemas.openxmlformats.org/drawingml/2006/table">
            <a:tbl>
              <a:tblPr/>
              <a:tblGrid>
                <a:gridCol w="1869440">
                  <a:extLst>
                    <a:ext uri="{9D8B030D-6E8A-4147-A177-3AD203B41FA5}">
                      <a16:colId xmlns:a16="http://schemas.microsoft.com/office/drawing/2014/main" val="3330167928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2678303194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3295022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rgbClr val="000C2A"/>
                          </a:solidFill>
                          <a:effectLst/>
                        </a:rPr>
                        <a:t>StudentID</a:t>
                      </a:r>
                      <a:endParaRPr lang="pt-BR" b="1" dirty="0">
                        <a:solidFill>
                          <a:srgbClr val="000C2A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Course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rgbClr val="000C2A"/>
                          </a:solidFill>
                          <a:effectLst/>
                        </a:rPr>
                        <a:t>Instructor</a:t>
                      </a:r>
                      <a:endParaRPr lang="pt-BR" b="1" dirty="0">
                        <a:solidFill>
                          <a:srgbClr val="000C2A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9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1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7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184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2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3861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93DFE-464D-E1FE-A948-B62B285D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E229F-D9E0-9A6B-F7D3-87601CD0B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808A60-4556-3987-84F6-54564AE44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6868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3FN? SIM!</a:t>
            </a:r>
          </a:p>
          <a:p>
            <a:pPr lvl="1"/>
            <a:r>
              <a:rPr lang="pt-BR" dirty="0"/>
              <a:t>Todos atributos não-primários (</a:t>
            </a:r>
            <a:r>
              <a:rPr lang="pt-BR" dirty="0" err="1"/>
              <a:t>Instructor</a:t>
            </a:r>
            <a:r>
              <a:rPr lang="pt-BR" dirty="0"/>
              <a:t>) são totalmente dependentes da chave candidata (</a:t>
            </a:r>
            <a:r>
              <a:rPr lang="pt-BR" dirty="0" err="1"/>
              <a:t>StudentID</a:t>
            </a:r>
            <a:r>
              <a:rPr lang="pt-BR" dirty="0"/>
              <a:t>, </a:t>
            </a:r>
            <a:r>
              <a:rPr lang="pt-BR" dirty="0" err="1"/>
              <a:t>Course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Não existem dependências transitivas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BCNF? NÃO!</a:t>
            </a:r>
          </a:p>
          <a:p>
            <a:pPr lvl="1"/>
            <a:r>
              <a:rPr lang="pt-BR" dirty="0"/>
              <a:t>A dependência funcional </a:t>
            </a:r>
            <a:r>
              <a:rPr lang="pt-BR" dirty="0" err="1"/>
              <a:t>Course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 err="1">
                <a:sym typeface="Wingdings" panose="05000000000000000000" pitchFamily="2" charset="2"/>
              </a:rPr>
              <a:t>Instructor</a:t>
            </a:r>
            <a:r>
              <a:rPr lang="pt-BR" dirty="0">
                <a:sym typeface="Wingdings" panose="05000000000000000000" pitchFamily="2" charset="2"/>
              </a:rPr>
              <a:t> existe mas </a:t>
            </a:r>
            <a:r>
              <a:rPr lang="pt-BR" dirty="0" err="1">
                <a:sym typeface="Wingdings" panose="05000000000000000000" pitchFamily="2" charset="2"/>
              </a:rPr>
              <a:t>Course</a:t>
            </a:r>
            <a:r>
              <a:rPr lang="pt-BR" dirty="0">
                <a:sym typeface="Wingdings" panose="05000000000000000000" pitchFamily="2" charset="2"/>
              </a:rPr>
              <a:t> não é uma </a:t>
            </a:r>
            <a:r>
              <a:rPr lang="pt-BR" dirty="0" err="1">
                <a:sym typeface="Wingdings" panose="05000000000000000000" pitchFamily="2" charset="2"/>
              </a:rPr>
              <a:t>superchave</a:t>
            </a:r>
            <a:r>
              <a:rPr lang="pt-BR" dirty="0">
                <a:sym typeface="Wingdings" panose="05000000000000000000" pitchFamily="2" charset="2"/>
              </a:rPr>
              <a:t> (não identifica univocamente a tupla na tabela)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BCNF exige que X  Y, X seja uma </a:t>
            </a:r>
            <a:r>
              <a:rPr lang="pt-BR" dirty="0" err="1">
                <a:sym typeface="Wingdings" panose="05000000000000000000" pitchFamily="2" charset="2"/>
              </a:rPr>
              <a:t>superchave</a:t>
            </a:r>
            <a:r>
              <a:rPr lang="pt-BR" dirty="0">
                <a:sym typeface="Wingdings" panose="05000000000000000000" pitchFamily="2" charset="2"/>
              </a:rPr>
              <a:t>; o que não é o caso aqui</a:t>
            </a:r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F539A6A2-DDF2-1173-F4AB-76B7069DB5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307513"/>
              </p:ext>
            </p:extLst>
          </p:nvPr>
        </p:nvGraphicFramePr>
        <p:xfrm>
          <a:off x="3077351" y="3345568"/>
          <a:ext cx="5608320" cy="1828800"/>
        </p:xfrm>
        <a:graphic>
          <a:graphicData uri="http://schemas.openxmlformats.org/drawingml/2006/table">
            <a:tbl>
              <a:tblPr/>
              <a:tblGrid>
                <a:gridCol w="1869440">
                  <a:extLst>
                    <a:ext uri="{9D8B030D-6E8A-4147-A177-3AD203B41FA5}">
                      <a16:colId xmlns:a16="http://schemas.microsoft.com/office/drawing/2014/main" val="3330167928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2678303194"/>
                    </a:ext>
                  </a:extLst>
                </a:gridCol>
                <a:gridCol w="1869440">
                  <a:extLst>
                    <a:ext uri="{9D8B030D-6E8A-4147-A177-3AD203B41FA5}">
                      <a16:colId xmlns:a16="http://schemas.microsoft.com/office/drawing/2014/main" val="3295022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StudentID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Course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Instructor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93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16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773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184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920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5923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B781E-1AE1-B5DC-DBFF-BC947C86A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Boyce-Codd</a:t>
            </a:r>
            <a:r>
              <a:rPr lang="pt-BR" dirty="0"/>
              <a:t> Normal </a:t>
            </a:r>
            <a:r>
              <a:rPr lang="pt-BR" dirty="0" err="1"/>
              <a:t>Form</a:t>
            </a:r>
            <a:r>
              <a:rPr lang="pt-BR" dirty="0"/>
              <a:t> (BCNF)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66C1A4-62AC-93CE-2A24-3AE631FD5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Como normalizar?</a:t>
            </a:r>
          </a:p>
          <a:p>
            <a:pPr lvl="1"/>
            <a:r>
              <a:rPr lang="pt-BR" dirty="0"/>
              <a:t>Decompor a Relação original de modo que cada determinante é uma chave candidata em sua tabela respectiva – originando 2 Relações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Todas </a:t>
            </a:r>
            <a:r>
              <a:rPr lang="pt-BR" dirty="0" err="1"/>
              <a:t>DFs</a:t>
            </a:r>
            <a:r>
              <a:rPr lang="pt-BR" dirty="0"/>
              <a:t> tem determinantes (X) que são chaves</a:t>
            </a:r>
          </a:p>
          <a:p>
            <a:pPr lvl="1"/>
            <a:r>
              <a:rPr lang="pt-BR" dirty="0"/>
              <a:t>Redundância reduzida: instrutor é armazenado apenas 1 vez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9DAEAF0-B6CF-35FB-6D85-B36BD617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2774055"/>
              </p:ext>
            </p:extLst>
          </p:nvPr>
        </p:nvGraphicFramePr>
        <p:xfrm>
          <a:off x="838200" y="3429000"/>
          <a:ext cx="438912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48374945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334982059"/>
                    </a:ext>
                  </a:extLst>
                </a:gridCol>
              </a:tblGrid>
              <a:tr h="117917"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rgbClr val="000C2A"/>
                          </a:solidFill>
                          <a:effectLst/>
                        </a:rPr>
                        <a:t>StudentID</a:t>
                      </a:r>
                      <a:endParaRPr lang="pt-BR" b="1" dirty="0">
                        <a:solidFill>
                          <a:srgbClr val="000C2A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Course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95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8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90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670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367283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65C3AE8D-C847-BC3B-2640-A2D68FB2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699504"/>
              </p:ext>
            </p:extLst>
          </p:nvPr>
        </p:nvGraphicFramePr>
        <p:xfrm>
          <a:off x="6672862" y="3429000"/>
          <a:ext cx="4096738" cy="1097280"/>
        </p:xfrm>
        <a:graphic>
          <a:graphicData uri="http://schemas.openxmlformats.org/drawingml/2006/table">
            <a:tbl>
              <a:tblPr/>
              <a:tblGrid>
                <a:gridCol w="2048369">
                  <a:extLst>
                    <a:ext uri="{9D8B030D-6E8A-4147-A177-3AD203B41FA5}">
                      <a16:colId xmlns:a16="http://schemas.microsoft.com/office/drawing/2014/main" val="1990259774"/>
                    </a:ext>
                  </a:extLst>
                </a:gridCol>
                <a:gridCol w="2048369">
                  <a:extLst>
                    <a:ext uri="{9D8B030D-6E8A-4147-A177-3AD203B41FA5}">
                      <a16:colId xmlns:a16="http://schemas.microsoft.com/office/drawing/2014/main" val="2331908817"/>
                    </a:ext>
                  </a:extLst>
                </a:gridCol>
              </a:tblGrid>
              <a:tr h="151784">
                <a:tc>
                  <a:txBody>
                    <a:bodyPr/>
                    <a:lstStyle/>
                    <a:p>
                      <a:r>
                        <a:rPr lang="pt-BR" b="1">
                          <a:solidFill>
                            <a:srgbClr val="000C2A"/>
                          </a:solidFill>
                          <a:effectLst/>
                        </a:rPr>
                        <a:t>Course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 err="1">
                          <a:solidFill>
                            <a:srgbClr val="000C2A"/>
                          </a:solidFill>
                          <a:effectLst/>
                        </a:rPr>
                        <a:t>Instructor</a:t>
                      </a:r>
                      <a:endParaRPr lang="pt-BR" b="1" dirty="0">
                        <a:solidFill>
                          <a:srgbClr val="000C2A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369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Math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Dr. Smith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86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Dr. Jones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563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7761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FA372-3240-AA21-1EF8-CA9CF67D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gerais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1EB2C43F-EB00-EFD7-2F4E-2D8818826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207420"/>
              </p:ext>
            </p:extLst>
          </p:nvPr>
        </p:nvGraphicFramePr>
        <p:xfrm>
          <a:off x="1271128" y="2386418"/>
          <a:ext cx="10082672" cy="1828800"/>
        </p:xfrm>
        <a:graphic>
          <a:graphicData uri="http://schemas.openxmlformats.org/drawingml/2006/table">
            <a:tbl>
              <a:tblPr/>
              <a:tblGrid>
                <a:gridCol w="2002650">
                  <a:extLst>
                    <a:ext uri="{9D8B030D-6E8A-4147-A177-3AD203B41FA5}">
                      <a16:colId xmlns:a16="http://schemas.microsoft.com/office/drawing/2014/main" val="397062199"/>
                    </a:ext>
                  </a:extLst>
                </a:gridCol>
                <a:gridCol w="2257778">
                  <a:extLst>
                    <a:ext uri="{9D8B030D-6E8A-4147-A177-3AD203B41FA5}">
                      <a16:colId xmlns:a16="http://schemas.microsoft.com/office/drawing/2014/main" val="4249620727"/>
                    </a:ext>
                  </a:extLst>
                </a:gridCol>
                <a:gridCol w="3301576">
                  <a:extLst>
                    <a:ext uri="{9D8B030D-6E8A-4147-A177-3AD203B41FA5}">
                      <a16:colId xmlns:a16="http://schemas.microsoft.com/office/drawing/2014/main" val="2022237917"/>
                    </a:ext>
                  </a:extLst>
                </a:gridCol>
                <a:gridCol w="2520668">
                  <a:extLst>
                    <a:ext uri="{9D8B030D-6E8A-4147-A177-3AD203B41FA5}">
                      <a16:colId xmlns:a16="http://schemas.microsoft.com/office/drawing/2014/main" val="3079736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000C2A"/>
                          </a:solidFill>
                          <a:effectLst/>
                        </a:rPr>
                        <a:t>Forma 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000C2A"/>
                          </a:solidFill>
                          <a:effectLst/>
                        </a:rPr>
                        <a:t>Regra imposta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000C2A"/>
                          </a:solidFill>
                          <a:effectLst/>
                        </a:rPr>
                        <a:t>Problema resolvido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>
                          <a:solidFill>
                            <a:srgbClr val="000C2A"/>
                          </a:solidFill>
                          <a:effectLst/>
                        </a:rPr>
                        <a:t>Foco da dependência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036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1NF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Atomicidade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Dados multivalorados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Nenhuma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712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2NF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Dependência 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Dependência parcial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PK composta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742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3NF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Transitividade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Dependência transitiva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Atributos não-chave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039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>
                          <a:solidFill>
                            <a:srgbClr val="4D5B7C"/>
                          </a:solidFill>
                          <a:effectLst/>
                        </a:rPr>
                        <a:t>BCNF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Regra da </a:t>
                      </a:r>
                      <a:r>
                        <a:rPr lang="pt-BR" dirty="0" err="1">
                          <a:solidFill>
                            <a:srgbClr val="4D5B7C"/>
                          </a:solidFill>
                          <a:effectLst/>
                        </a:rPr>
                        <a:t>superchave</a:t>
                      </a:r>
                      <a:endParaRPr lang="pt-BR" dirty="0">
                        <a:solidFill>
                          <a:srgbClr val="4D5B7C"/>
                        </a:solidFill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Anomalias restantes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rgbClr val="4D5B7C"/>
                          </a:solidFill>
                          <a:effectLst/>
                        </a:rPr>
                        <a:t>Todos os determinantes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3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0818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AD882-4A58-9967-CDAE-177751607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gerais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0F1DB3-9CE6-4FB5-0BDD-6D3CFB2F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Ao chegar até aqui já se considera que o projeto lógico de banco de dados está num </a:t>
            </a:r>
            <a:r>
              <a:rPr lang="pt-BR" b="1" dirty="0"/>
              <a:t>bom nível de qualidade</a:t>
            </a:r>
          </a:p>
          <a:p>
            <a:pPr>
              <a:spcBef>
                <a:spcPts val="2400"/>
              </a:spcBef>
            </a:pPr>
            <a:r>
              <a:rPr lang="pt-BR" dirty="0"/>
              <a:t>2FN e 3FN evitam: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Inconsistências e anomalias causadas por redundância de informações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Perda de informação em operações de remoção/</a:t>
            </a:r>
            <a:r>
              <a:rPr lang="pt-BR" dirty="0" err="1"/>
              <a:t>altareçaõ</a:t>
            </a:r>
            <a:r>
              <a:rPr lang="pt-BR" dirty="0"/>
              <a:t> na Relação</a:t>
            </a:r>
          </a:p>
          <a:p>
            <a:pPr>
              <a:spcBef>
                <a:spcPts val="2400"/>
              </a:spcBef>
            </a:pPr>
            <a:r>
              <a:rPr lang="pt-BR" dirty="0"/>
              <a:t>Normalização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Feita uma Relação por vez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Decomposição de Relações</a:t>
            </a:r>
          </a:p>
          <a:p>
            <a:pPr lvl="2"/>
            <a:r>
              <a:rPr lang="pt-BR" dirty="0"/>
              <a:t>Aumenta consistência</a:t>
            </a:r>
          </a:p>
          <a:p>
            <a:pPr lvl="2"/>
            <a:r>
              <a:rPr lang="pt-BR" dirty="0"/>
              <a:t>Reduz desempenho </a:t>
            </a:r>
            <a:r>
              <a:rPr lang="pt-BR" dirty="0">
                <a:sym typeface="Wingdings" panose="05000000000000000000" pitchFamily="2" charset="2"/>
              </a:rPr>
              <a:t> necessidade de operações de Junção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79312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7C8B3-8FDD-B380-AE69-517468008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gerais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F2331F-527E-6764-FE70-C9A2A2322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Vantagens da Normalização</a:t>
            </a:r>
          </a:p>
          <a:p>
            <a:pPr lvl="1"/>
            <a:r>
              <a:rPr lang="pt-BR" dirty="0"/>
              <a:t>Integridade dos dados</a:t>
            </a:r>
          </a:p>
          <a:p>
            <a:pPr lvl="1"/>
            <a:r>
              <a:rPr lang="pt-BR" dirty="0"/>
              <a:t>Atualizações eficientes</a:t>
            </a:r>
          </a:p>
          <a:p>
            <a:pPr lvl="1"/>
            <a:r>
              <a:rPr lang="pt-BR" dirty="0"/>
              <a:t>Relacionamentos claros</a:t>
            </a:r>
          </a:p>
          <a:p>
            <a:pPr lvl="1"/>
            <a:r>
              <a:rPr lang="pt-BR" dirty="0"/>
              <a:t>Otimização de armazenamento</a:t>
            </a:r>
          </a:p>
          <a:p>
            <a:pPr lvl="1"/>
            <a:r>
              <a:rPr lang="pt-BR" dirty="0"/>
              <a:t>Escalabilidade</a:t>
            </a:r>
          </a:p>
          <a:p>
            <a:pPr>
              <a:spcBef>
                <a:spcPts val="2400"/>
              </a:spcBef>
            </a:pPr>
            <a:r>
              <a:rPr lang="pt-BR" dirty="0"/>
              <a:t>Desvantagens</a:t>
            </a:r>
          </a:p>
          <a:p>
            <a:pPr lvl="1"/>
            <a:r>
              <a:rPr lang="pt-BR" dirty="0"/>
              <a:t>Complexidade de consultas</a:t>
            </a:r>
          </a:p>
          <a:p>
            <a:pPr lvl="1"/>
            <a:r>
              <a:rPr lang="pt-BR" dirty="0"/>
              <a:t>Sobrecarga no desempenho</a:t>
            </a:r>
          </a:p>
          <a:p>
            <a:pPr lvl="1"/>
            <a:r>
              <a:rPr lang="pt-BR" dirty="0"/>
              <a:t>Modelagem e manutenção cuidadosa</a:t>
            </a:r>
          </a:p>
        </p:txBody>
      </p:sp>
    </p:spTree>
    <p:extLst>
      <p:ext uri="{BB962C8B-B14F-4D97-AF65-F5344CB8AC3E}">
        <p14:creationId xmlns:p14="http://schemas.microsoft.com/office/powerpoint/2010/main" val="115077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60919-5DEB-81CF-7891-4558C8F95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gerais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D65822-CAC4-4B5D-03C9-3B7035E70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Desnormalização</a:t>
            </a:r>
            <a:r>
              <a:rPr lang="pt-BR" dirty="0"/>
              <a:t> pode ser útil em situações em que o desempenho (carga de trabalho) computacional seja altamente focado na leitura de dados em escala</a:t>
            </a:r>
          </a:p>
          <a:p>
            <a:pPr>
              <a:spcBef>
                <a:spcPts val="2400"/>
              </a:spcBef>
            </a:pPr>
            <a:r>
              <a:rPr lang="pt-BR" dirty="0"/>
              <a:t>Cenários comuns: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Plataformas de BI (agregar dados de muitas tabelas rapidamente)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Data </a:t>
            </a:r>
            <a:r>
              <a:rPr lang="pt-BR" dirty="0" err="1"/>
              <a:t>warehouses</a:t>
            </a:r>
            <a:r>
              <a:rPr lang="pt-BR" dirty="0"/>
              <a:t> (dados históricos e consultas simplificadas mais importantes que atualizações)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Consultas complexas (gargalos de desempenho na aplicação)</a:t>
            </a:r>
          </a:p>
        </p:txBody>
      </p:sp>
    </p:spTree>
    <p:extLst>
      <p:ext uri="{BB962C8B-B14F-4D97-AF65-F5344CB8AC3E}">
        <p14:creationId xmlns:p14="http://schemas.microsoft.com/office/powerpoint/2010/main" val="1474148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9AE0-665F-71E8-DF0D-4645CDB88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995EB-4F77-E22A-5197-3F8F707A5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1C6149-6581-55DB-DCEB-7BC1F58D2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>
              <a:buFont typeface="+mj-lt"/>
              <a:buAutoNum type="arabicPeriod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Cite e explique as anomalias (inserção, remoção, alteração, geração de tuplas ilegítimas) que podem ocorrer nas relações abaixo. Exemplifique. </a:t>
            </a:r>
          </a:p>
          <a:p>
            <a:pPr marL="800100" lvl="1" indent="-342900" fontAlgn="base">
              <a:spcBef>
                <a:spcPts val="2400"/>
              </a:spcBef>
              <a:buFont typeface="+mj-lt"/>
              <a:buAutoNum type="alphaLcParenR"/>
            </a:pP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Piloto_TipoAviao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= {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NroLicençaPiloto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CpfPiloto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NomePiloto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 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EndereçoPiloto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  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TipoAviao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 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FabricanteTipoAviao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NroMaxPoltronas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}</a:t>
            </a:r>
            <a:endParaRPr lang="pt-BR" sz="1800" dirty="0"/>
          </a:p>
          <a:p>
            <a:pPr marL="800100" lvl="1" indent="-342900" fontAlgn="base">
              <a:spcBef>
                <a:spcPts val="1800"/>
              </a:spcBef>
              <a:buFont typeface="+mj-lt"/>
              <a:buAutoNum type="alphaLcParenR"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Aluno = {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Nusp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Idade, Curso} </a:t>
            </a:r>
            <a:endParaRPr lang="pt-BR" b="0" dirty="0">
              <a:effectLst/>
            </a:endParaRPr>
          </a:p>
          <a:p>
            <a:pPr marL="0" indent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          Matrícula = {</a:t>
            </a:r>
            <a:r>
              <a:rPr lang="pt-BR" sz="1800" b="0" i="0" u="sng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NomeAluno</a:t>
            </a:r>
            <a:r>
              <a:rPr lang="pt-BR" sz="1800" b="0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Disciplina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Curso}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6366E08-E62C-D3E6-2D09-B1389AE7EFB5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5696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95F9C-4CFF-29BC-A3C5-3F9F7C05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536B9-3819-AA10-8076-79566074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F1BB66-15DA-4026-1194-FC4D22193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 fontAlgn="base">
              <a:buFont typeface="+mj-lt"/>
              <a:buAutoNum type="arabicPeriod" startAt="2"/>
            </a:pPr>
            <a:r>
              <a:rPr lang="pt-B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Para a seguinte relação e suas dependências funcionais, indique se as formas normais 1FN, 2FN e 3FN são atendidas (e o porquê). Normalize a relação para atender a cada uma dessas formas.</a:t>
            </a:r>
            <a:endParaRPr lang="pt-BR" sz="2400" b="0" i="0" u="none" strike="noStrike" dirty="0">
              <a:solidFill>
                <a:srgbClr val="000000"/>
              </a:solidFill>
              <a:effectLst/>
              <a:latin typeface="Gill Sans"/>
            </a:endParaRPr>
          </a:p>
          <a:p>
            <a:pPr marL="0" indent="0" rtl="0">
              <a:buNone/>
            </a:pPr>
            <a:br>
              <a:rPr lang="pt-BR" sz="1600" b="0" dirty="0">
                <a:effectLst/>
              </a:rPr>
            </a:b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Peça = {</a:t>
            </a:r>
            <a:r>
              <a:rPr lang="pt-BR" sz="2400" b="1" i="0" u="sng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codigo</a:t>
            </a:r>
            <a:r>
              <a:rPr lang="pt-BR" sz="2400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fornecedor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cidadeForn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estadoForn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qtdEstoque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peso, </a:t>
            </a:r>
            <a:r>
              <a:rPr lang="pt-BR" sz="2400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custoTransporte</a:t>
            </a:r>
            <a:r>
              <a:rPr lang="pt-BR" sz="24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  valor}</a:t>
            </a:r>
            <a:endParaRPr lang="pt-BR" sz="1600" b="0" dirty="0">
              <a:effectLst/>
            </a:endParaRP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Dependências funcionais:   </a:t>
            </a:r>
            <a:endParaRPr lang="pt-BR" sz="1200" b="0" dirty="0">
              <a:effectLst/>
            </a:endParaRP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código, fornecedor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valor; </a:t>
            </a:r>
            <a:endParaRPr lang="pt-BR" sz="1200" b="0" dirty="0">
              <a:effectLst/>
            </a:endParaRP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fornecedor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cidadeForn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estadoForn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custoTransporte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 </a:t>
            </a:r>
            <a:endParaRPr lang="pt-BR" sz="1200" b="0" dirty="0">
              <a:effectLst/>
            </a:endParaRP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código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peso,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qtdEstoque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 </a:t>
            </a:r>
            <a:endParaRPr lang="pt-BR" sz="1200" b="0" dirty="0">
              <a:effectLst/>
            </a:endParaRPr>
          </a:p>
          <a:p>
            <a:pPr marL="0" indent="0" rtl="0">
              <a:buNone/>
            </a:pP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    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cidadeForn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estadoForn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 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pt-BR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custoTransporte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;  </a:t>
            </a:r>
            <a:endParaRPr lang="pt-BR" sz="1200" b="0" dirty="0">
              <a:effectLst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746243-E63C-215C-8E58-29A64FD6EAD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38425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61D20-8D61-AD5B-CF71-1718C3D42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B4FFD8-B6D8-DD9D-5BE4-69BE51096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/>
              <a:t>Seminários BD:</a:t>
            </a:r>
          </a:p>
          <a:p>
            <a:r>
              <a:rPr lang="pt-BR" dirty="0"/>
              <a:t>Chave-valor [</a:t>
            </a:r>
            <a:r>
              <a:rPr lang="pt-BR" b="1" dirty="0"/>
              <a:t>Giovana</a:t>
            </a:r>
            <a:r>
              <a:rPr lang="pt-BR" dirty="0"/>
              <a:t>]</a:t>
            </a:r>
          </a:p>
          <a:p>
            <a:r>
              <a:rPr lang="pt-BR" dirty="0"/>
              <a:t>Documentos [</a:t>
            </a:r>
            <a:r>
              <a:rPr lang="pt-BR" b="1" dirty="0"/>
              <a:t>Isaac</a:t>
            </a:r>
            <a:r>
              <a:rPr lang="pt-BR" dirty="0"/>
              <a:t>]</a:t>
            </a:r>
          </a:p>
          <a:p>
            <a:r>
              <a:rPr lang="pt-BR" dirty="0"/>
              <a:t>Colunar </a:t>
            </a:r>
            <a:r>
              <a:rPr lang="pt-BR" b="1" dirty="0"/>
              <a:t>[Mariana]</a:t>
            </a:r>
          </a:p>
          <a:p>
            <a:r>
              <a:rPr lang="pt-BR" dirty="0"/>
              <a:t>Geoespacial [</a:t>
            </a:r>
            <a:r>
              <a:rPr lang="pt-BR" b="1" dirty="0"/>
              <a:t>David</a:t>
            </a:r>
            <a:r>
              <a:rPr lang="pt-BR" dirty="0"/>
              <a:t>]</a:t>
            </a:r>
          </a:p>
          <a:p>
            <a:r>
              <a:rPr lang="pt-BR" dirty="0"/>
              <a:t>Vetorial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r>
              <a:rPr lang="pt-BR" dirty="0"/>
              <a:t>Grafo propriedades [</a:t>
            </a:r>
            <a:r>
              <a:rPr lang="pt-BR" b="1" dirty="0"/>
              <a:t>Mateus</a:t>
            </a:r>
            <a:r>
              <a:rPr lang="pt-BR" dirty="0"/>
              <a:t>]</a:t>
            </a:r>
          </a:p>
          <a:p>
            <a:r>
              <a:rPr lang="pt-BR" dirty="0"/>
              <a:t>Grafo RDF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r>
              <a:rPr lang="pt-BR" dirty="0"/>
              <a:t>Eventos </a:t>
            </a:r>
            <a:r>
              <a:rPr lang="pt-BR" b="1" dirty="0"/>
              <a:t>[Enrico]</a:t>
            </a:r>
          </a:p>
          <a:p>
            <a:endParaRPr lang="pt-BR" b="1" dirty="0"/>
          </a:p>
          <a:p>
            <a:r>
              <a:rPr lang="pt-BR" strike="sngStrike" dirty="0"/>
              <a:t>Séries temporais</a:t>
            </a:r>
          </a:p>
          <a:p>
            <a:r>
              <a:rPr lang="pt-BR" strike="sngStrike" dirty="0"/>
              <a:t>Multimodal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6B81D9E-9090-A873-222F-4CBEC7456127}"/>
              </a:ext>
            </a:extLst>
          </p:cNvPr>
          <p:cNvSpPr txBox="1"/>
          <p:nvPr/>
        </p:nvSpPr>
        <p:spPr>
          <a:xfrm>
            <a:off x="5554133" y="1825625"/>
            <a:ext cx="5373512" cy="304698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Para cada um (20 min):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Quando surgiu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Características do modelo de dados (como organiza os dados)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Vantagens e limitações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Aplicações comuns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Exemplos de </a:t>
            </a:r>
            <a:r>
              <a:rPr lang="pt-BR" sz="2400" dirty="0" err="1"/>
              <a:t>SGBDs</a:t>
            </a:r>
            <a:r>
              <a:rPr lang="pt-BR" sz="2400" dirty="0"/>
              <a:t> comerciais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Executar um exemplo</a:t>
            </a:r>
          </a:p>
        </p:txBody>
      </p:sp>
    </p:spTree>
    <p:extLst>
      <p:ext uri="{BB962C8B-B14F-4D97-AF65-F5344CB8AC3E}">
        <p14:creationId xmlns:p14="http://schemas.microsoft.com/office/powerpoint/2010/main" val="2226933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1800" b="0" i="0" u="none" strike="noStrike" baseline="0" dirty="0">
                <a:latin typeface="DejaVuSans"/>
              </a:rPr>
              <a:t>Notas de aulas, prof. José Eduardo Santarém Segundo. </a:t>
            </a:r>
            <a:r>
              <a:rPr lang="pt-BR" sz="1800" b="1" i="0" u="none" strike="noStrike" baseline="0" dirty="0">
                <a:latin typeface="DejaVuSans"/>
              </a:rPr>
              <a:t>Banco de Dados - Normalização - Parte 1</a:t>
            </a:r>
            <a:r>
              <a:rPr lang="pt-BR" sz="1800" i="0" u="none" strike="noStrike" baseline="0" dirty="0">
                <a:latin typeface="DejaVuSans"/>
              </a:rPr>
              <a:t>. UNIVESP, Eixo de Computação. Disponível em: </a:t>
            </a:r>
            <a:r>
              <a:rPr lang="pt-BR" sz="1800" i="0" u="none" strike="noStrike" baseline="0" dirty="0">
                <a:latin typeface="DejaVuSans"/>
                <a:hlinkClick r:id="rId3"/>
              </a:rPr>
              <a:t>https://www.youtube.com/watch?v=OsebNaYQpk8</a:t>
            </a:r>
            <a:r>
              <a:rPr lang="pt-BR" sz="1800" i="0" u="none" strike="noStrike" baseline="0" dirty="0">
                <a:latin typeface="DejaVuSans"/>
              </a:rPr>
              <a:t> </a:t>
            </a:r>
            <a:endParaRPr lang="pt-BR" sz="1800" b="1" i="0" u="none" strike="noStrike" baseline="0" dirty="0">
              <a:latin typeface="DejaVuSans"/>
            </a:endParaRP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ELMASRI, Ramez; NAVATHE, </a:t>
            </a:r>
            <a:r>
              <a:rPr lang="pt-BR" sz="1800" b="0" i="0" u="none" strike="noStrike" baseline="0" dirty="0" err="1">
                <a:latin typeface="DejaVuSans"/>
              </a:rPr>
              <a:t>Shamkant</a:t>
            </a:r>
            <a:r>
              <a:rPr lang="pt-BR" sz="1800" b="0" i="0" u="none" strike="noStrike" baseline="0" dirty="0">
                <a:latin typeface="DejaVuSans"/>
              </a:rPr>
              <a:t> B</a:t>
            </a:r>
            <a:r>
              <a:rPr lang="pt-BR" sz="1800" b="1" i="0" u="none" strike="noStrike" baseline="0" dirty="0">
                <a:latin typeface="DejaVuSans"/>
              </a:rPr>
              <a:t>. Sistemas de Banco de Dados</a:t>
            </a:r>
            <a:r>
              <a:rPr lang="pt-BR" sz="1800" b="0" i="0" u="none" strike="noStrike" baseline="0" dirty="0">
                <a:latin typeface="DejaVuSans"/>
              </a:rPr>
              <a:t>. 7. ed. São Paulo: Pearson Universidades, 2019. 1152 p. ISBN-13 978-8543025001.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SILBERSCHATZ, Abraham; KORTH, Henry F.; SUDARSHAN, S. </a:t>
            </a:r>
            <a:r>
              <a:rPr lang="pt-BR" sz="1800" b="1" i="0" u="none" strike="noStrike" baseline="0" dirty="0">
                <a:latin typeface="DejaVuSans"/>
              </a:rPr>
              <a:t>Sistema de Banco de Dados.</a:t>
            </a:r>
            <a:r>
              <a:rPr lang="pt-BR" sz="1800" b="0" i="0" u="none" strike="noStrike" baseline="0" dirty="0">
                <a:latin typeface="DejaVuSans"/>
              </a:rPr>
              <a:t> 7. ed. Rio de Janeiro: GEN LTC, 2020. 754 p. ISBN-13 978-8595157330.</a:t>
            </a:r>
          </a:p>
          <a:p>
            <a:pPr algn="l"/>
            <a:r>
              <a:rPr lang="pt-BR" sz="1800" b="0" i="0" u="none" strike="noStrike" baseline="0" dirty="0">
                <a:latin typeface="DejaVuSans"/>
              </a:rPr>
              <a:t>DATE, Christopher J. Introdução a Sistemas de Bancos de Dados. GEN LTC, 2004</a:t>
            </a:r>
          </a:p>
          <a:p>
            <a:pPr algn="l"/>
            <a:r>
              <a:rPr lang="pt-BR" sz="1800" dirty="0"/>
              <a:t>Notas de aulas, prof. Leonardo </a:t>
            </a:r>
            <a:r>
              <a:rPr lang="pt-BR" sz="1800" dirty="0" err="1"/>
              <a:t>Tórtoro</a:t>
            </a:r>
            <a:r>
              <a:rPr lang="pt-BR" sz="1800" dirty="0"/>
              <a:t> Pereira (DEMAC/UNESP). </a:t>
            </a:r>
            <a:r>
              <a:rPr lang="pt-BR" sz="1800" b="1" dirty="0"/>
              <a:t>Sistemas de Banco de Dados- Parte 01.</a:t>
            </a:r>
          </a:p>
          <a:p>
            <a:pPr algn="l"/>
            <a:r>
              <a:rPr lang="pt-BR" sz="1800" dirty="0"/>
              <a:t>PAVLO, Andy; PATEL, </a:t>
            </a:r>
            <a:r>
              <a:rPr lang="pt-BR" sz="1800" dirty="0" err="1"/>
              <a:t>Jinglesh</a:t>
            </a:r>
            <a:r>
              <a:rPr lang="pt-BR" sz="1800" dirty="0"/>
              <a:t> (Carnegie Mellon </a:t>
            </a:r>
            <a:r>
              <a:rPr lang="pt-BR" sz="1800" dirty="0" err="1"/>
              <a:t>University</a:t>
            </a:r>
            <a:r>
              <a:rPr lang="pt-BR" sz="1800" dirty="0"/>
              <a:t>)</a:t>
            </a:r>
            <a:r>
              <a:rPr lang="pt-BR" sz="1800" b="1" dirty="0"/>
              <a:t>. </a:t>
            </a:r>
            <a:r>
              <a:rPr lang="pt-BR" sz="1800" b="1" dirty="0" err="1"/>
              <a:t>Databse</a:t>
            </a:r>
            <a:r>
              <a:rPr lang="pt-BR" sz="1800" b="1" dirty="0"/>
              <a:t> Systems (15-445). </a:t>
            </a:r>
            <a:r>
              <a:rPr lang="pt-BR" sz="1800" dirty="0">
                <a:hlinkClick r:id="rId4"/>
              </a:rPr>
              <a:t>https://15445.courses.cs.cmu.edu/spring2026/slides/01-relationalmodel.pdf</a:t>
            </a:r>
            <a:r>
              <a:rPr lang="pt-BR" sz="1800" dirty="0"/>
              <a:t>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80014</TotalTime>
  <Words>3274</Words>
  <Application>Microsoft Office PowerPoint</Application>
  <PresentationFormat>Widescreen</PresentationFormat>
  <Paragraphs>524</Paragraphs>
  <Slides>72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1" baseType="lpstr">
      <vt:lpstr>Arial</vt:lpstr>
      <vt:lpstr>Calibri</vt:lpstr>
      <vt:lpstr>Calibri Light</vt:lpstr>
      <vt:lpstr>DejaVuSans</vt:lpstr>
      <vt:lpstr>Gill Sans</vt:lpstr>
      <vt:lpstr>Noto Sans Symbols</vt:lpstr>
      <vt:lpstr>Tahoma</vt:lpstr>
      <vt:lpstr>Wingdings</vt:lpstr>
      <vt:lpstr>Tema do Office</vt:lpstr>
      <vt:lpstr>Apresentação do PowerPoint</vt:lpstr>
      <vt:lpstr>Na aula anterior...</vt:lpstr>
      <vt:lpstr>Projeto lógico</vt:lpstr>
      <vt:lpstr>Modelo Relacional</vt:lpstr>
      <vt:lpstr>Agenda</vt:lpstr>
      <vt:lpstr>Modelo Relacional</vt:lpstr>
      <vt:lpstr>Modelo Relacional</vt:lpstr>
      <vt:lpstr>Modelo Relacional</vt:lpstr>
      <vt:lpstr>Modelo Relacional</vt:lpstr>
      <vt:lpstr>Qualidade do Projeto Lógico</vt:lpstr>
      <vt:lpstr>Diretrizes informais de design</vt:lpstr>
      <vt:lpstr>1) Semântica dos atributos</vt:lpstr>
      <vt:lpstr>1) Semântica dos atributos</vt:lpstr>
      <vt:lpstr>1) Semântica dos atributos</vt:lpstr>
      <vt:lpstr>2) Informações redundantes nas tuplas</vt:lpstr>
      <vt:lpstr>2) Informações redundantes nas tuplas</vt:lpstr>
      <vt:lpstr>2) Informações redundantes nas tuplas</vt:lpstr>
      <vt:lpstr>2) Informações redundantes nas tuplas</vt:lpstr>
      <vt:lpstr>2) Informações redundantes nas tuplas</vt:lpstr>
      <vt:lpstr>3) Valores NULL nas tuplas</vt:lpstr>
      <vt:lpstr>3) Valores NULL nas tuplas</vt:lpstr>
      <vt:lpstr>4) Geração de tuplas espúrias</vt:lpstr>
      <vt:lpstr>4) Geração de tuplas espúrias</vt:lpstr>
      <vt:lpstr>4) Geração de tuplas espúrias</vt:lpstr>
      <vt:lpstr>Resumindo...</vt:lpstr>
      <vt:lpstr>Agenda</vt:lpstr>
      <vt:lpstr>Qualidade do Projeto Lógico</vt:lpstr>
      <vt:lpstr>Qualidade do Projeto Lógico</vt:lpstr>
      <vt:lpstr>Dependência Funcional</vt:lpstr>
      <vt:lpstr>Dependência Funcional</vt:lpstr>
      <vt:lpstr>Dependência Funcional</vt:lpstr>
      <vt:lpstr>Dependência Funcional</vt:lpstr>
      <vt:lpstr>Dependência Funcional</vt:lpstr>
      <vt:lpstr>Garantir consistência </vt:lpstr>
      <vt:lpstr>Garantir consistência </vt:lpstr>
      <vt:lpstr>Normalização</vt:lpstr>
      <vt:lpstr>Normalização</vt:lpstr>
      <vt:lpstr>Dependência Funcional</vt:lpstr>
      <vt:lpstr>Dependência Funcional</vt:lpstr>
      <vt:lpstr>Dependência Funcional</vt:lpstr>
      <vt:lpstr>Agenda</vt:lpstr>
      <vt:lpstr>1ª Forma Normal</vt:lpstr>
      <vt:lpstr>1ª Forma Normal</vt:lpstr>
      <vt:lpstr>2ª Forma Normal</vt:lpstr>
      <vt:lpstr>2ª Forma Normal</vt:lpstr>
      <vt:lpstr>2ª Forma Normal</vt:lpstr>
      <vt:lpstr>2ª Forma Normal</vt:lpstr>
      <vt:lpstr>2ª Forma Normal</vt:lpstr>
      <vt:lpstr>2ª Forma Normal</vt:lpstr>
      <vt:lpstr>3ª Forma Normal</vt:lpstr>
      <vt:lpstr>3ª Forma Normal</vt:lpstr>
      <vt:lpstr>3ª Forma Normal</vt:lpstr>
      <vt:lpstr>3ª Forma Normal</vt:lpstr>
      <vt:lpstr>3ª Forma Normal</vt:lpstr>
      <vt:lpstr>3ª Forma Normal</vt:lpstr>
      <vt:lpstr>Exercício</vt:lpstr>
      <vt:lpstr>Exercício - resposta</vt:lpstr>
      <vt:lpstr>Boyce-Codd Normal Form (BCNF)</vt:lpstr>
      <vt:lpstr>Boyce-Codd Normal Form (BCNF)</vt:lpstr>
      <vt:lpstr>Boyce-Codd Normal Form (BCNF)</vt:lpstr>
      <vt:lpstr>Boyce-Codd Normal Form (BCNF)</vt:lpstr>
      <vt:lpstr>Boyce-Codd Normal Form (BCNF)</vt:lpstr>
      <vt:lpstr>Boyce-Codd Normal Form (BCNF)</vt:lpstr>
      <vt:lpstr>Boyce-Codd Normal Form (BCNF)</vt:lpstr>
      <vt:lpstr>Considerações gerais</vt:lpstr>
      <vt:lpstr>Considerações gerais</vt:lpstr>
      <vt:lpstr>Considerações gerais</vt:lpstr>
      <vt:lpstr>Considerações gerais</vt:lpstr>
      <vt:lpstr>Exercício</vt:lpstr>
      <vt:lpstr>Exercício</vt:lpstr>
      <vt:lpstr>Seminários</vt:lpstr>
      <vt:lpstr>Referências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2534</cp:revision>
  <dcterms:created xsi:type="dcterms:W3CDTF">2024-08-08T20:58:28Z</dcterms:created>
  <dcterms:modified xsi:type="dcterms:W3CDTF">2026-05-06T23:43:19Z</dcterms:modified>
</cp:coreProperties>
</file>