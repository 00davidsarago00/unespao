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4"/>
  </p:notesMasterIdLst>
  <p:sldIdLst>
    <p:sldId id="256" r:id="rId2"/>
    <p:sldId id="1048" r:id="rId3"/>
    <p:sldId id="1270" r:id="rId4"/>
    <p:sldId id="1222" r:id="rId5"/>
    <p:sldId id="1391" r:id="rId6"/>
    <p:sldId id="401" r:id="rId7"/>
    <p:sldId id="1510" r:id="rId8"/>
    <p:sldId id="1517" r:id="rId9"/>
    <p:sldId id="1414" r:id="rId10"/>
    <p:sldId id="1415" r:id="rId11"/>
    <p:sldId id="1420" r:id="rId12"/>
    <p:sldId id="1512" r:id="rId13"/>
    <p:sldId id="1110" r:id="rId14"/>
    <p:sldId id="1437" r:id="rId15"/>
    <p:sldId id="1422" r:id="rId16"/>
    <p:sldId id="1438" r:id="rId17"/>
    <p:sldId id="1439" r:id="rId18"/>
    <p:sldId id="1440" r:id="rId19"/>
    <p:sldId id="1441" r:id="rId20"/>
    <p:sldId id="1442" r:id="rId21"/>
    <p:sldId id="1443" r:id="rId22"/>
    <p:sldId id="1445" r:id="rId23"/>
    <p:sldId id="1446" r:id="rId24"/>
    <p:sldId id="1421" r:id="rId25"/>
    <p:sldId id="1449" r:id="rId26"/>
    <p:sldId id="1450" r:id="rId27"/>
    <p:sldId id="1465" r:id="rId28"/>
    <p:sldId id="1466" r:id="rId29"/>
    <p:sldId id="1467" r:id="rId30"/>
    <p:sldId id="1468" r:id="rId31"/>
    <p:sldId id="1469" r:id="rId32"/>
    <p:sldId id="1470" r:id="rId33"/>
    <p:sldId id="1471" r:id="rId34"/>
    <p:sldId id="1472" r:id="rId35"/>
    <p:sldId id="1474" r:id="rId36"/>
    <p:sldId id="1475" r:id="rId37"/>
    <p:sldId id="1476" r:id="rId38"/>
    <p:sldId id="1473" r:id="rId39"/>
    <p:sldId id="1477" r:id="rId40"/>
    <p:sldId id="1479" r:id="rId41"/>
    <p:sldId id="1480" r:id="rId42"/>
    <p:sldId id="1481" r:id="rId43"/>
    <p:sldId id="1482" r:id="rId44"/>
    <p:sldId id="1483" r:id="rId45"/>
    <p:sldId id="1484" r:id="rId46"/>
    <p:sldId id="1485" r:id="rId47"/>
    <p:sldId id="1486" r:id="rId48"/>
    <p:sldId id="1515" r:id="rId49"/>
    <p:sldId id="1516" r:id="rId50"/>
    <p:sldId id="1511" r:id="rId51"/>
    <p:sldId id="1184" r:id="rId52"/>
    <p:sldId id="674" r:id="rId5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runo Elias Penteado" initials="BE" lastIdx="2" clrIdx="0">
    <p:extLst>
      <p:ext uri="{19B8F6BF-5375-455C-9EA6-DF929625EA0E}">
        <p15:presenceInfo xmlns:p15="http://schemas.microsoft.com/office/powerpoint/2012/main" userId="S::bruno.penteado@unesp.br::bec6b747-612e-4f00-81d1-4fe3c5e6bf7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7E5"/>
    <a:srgbClr val="351C75"/>
    <a:srgbClr val="674EA7"/>
    <a:srgbClr val="E1EA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Estilo Médio 4 - Ênfase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5806" autoAdjust="0"/>
  </p:normalViewPr>
  <p:slideViewPr>
    <p:cSldViewPr snapToGrid="0">
      <p:cViewPr varScale="1">
        <p:scale>
          <a:sx n="68" d="100"/>
          <a:sy n="68" d="100"/>
        </p:scale>
        <p:origin x="11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5A0D3E-F1D3-4165-92D6-88ABBF3402F7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4F4DC4-6592-40BF-ABDB-9BFF74F557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5736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63000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Feeback</a:t>
            </a:r>
            <a:r>
              <a:rPr lang="pt-BR" dirty="0"/>
              <a:t> disciplina? Corrida? Prova puxada?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03845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94157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0" u="none" strike="noStrike" dirty="0">
                <a:effectLst/>
                <a:latin typeface="Courier New" panose="02070309020205020404" pitchFamily="49" charset="0"/>
              </a:rPr>
              <a:t>ALTER TABLE matricula ADD CONSTRAINT </a:t>
            </a:r>
            <a:r>
              <a:rPr lang="pt-BR" b="0" u="none" strike="noStrike" dirty="0" err="1">
                <a:effectLst/>
                <a:latin typeface="Courier New" panose="02070309020205020404" pitchFamily="49" charset="0"/>
              </a:rPr>
              <a:t>chk_nota</a:t>
            </a:r>
            <a:r>
              <a:rPr lang="pt-BR" b="0" u="none" strike="noStrike" dirty="0">
                <a:effectLst/>
                <a:latin typeface="Courier New" panose="02070309020205020404" pitchFamily="49" charset="0"/>
              </a:rPr>
              <a:t> CHECK (nota &gt;= 0);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75632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BC1F7-4DB4-88B8-7C26-3F8A456D1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053B9C8-08AC-68A0-2881-99F07265E5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ABF85E8-D449-C20D-638A-2F98AD12CA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1492266-AAD5-EA3F-13AB-822E366031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32696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Supondo que uma disciplina tem Turma 1 e Turma 2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4838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13560-86CE-539D-CC76-AE180E359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48E454D-9699-8FB9-79D4-92F198B773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8E3E42F-E2B6-53B6-90F3-71FED97F57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86CE0E0-340E-7D4B-1D57-D5B452B9A8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14902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https://www.drawdb.app/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52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77976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23A69-42FA-6C7F-8E7F-6B98D92359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3D12021-E9B8-2DA5-D7AA-EEFAC9BE43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AE13B6-90D0-2EBF-557D-77BD35E40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2DC1895-12D9-AC11-702E-11B703192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B0C4B1D-8FC3-28DD-213A-B4A33E191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6582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8C2FD6-A370-1985-C93A-1EDE8406C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552C3B9-7A7B-6CD7-6119-3D2AB3F88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2677D9F-B2B1-EEB2-F39C-05B9FFB67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BCF700-7673-8EE5-8957-C42E2F58F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00852A1-3892-A7FE-CCE6-6FCC9FB20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F50F23F7-7509-A94A-0357-13196DBAB9BE}"/>
              </a:ext>
            </a:extLst>
          </p:cNvPr>
          <p:cNvCxnSpPr/>
          <p:nvPr userDrawn="1"/>
        </p:nvCxnSpPr>
        <p:spPr>
          <a:xfrm>
            <a:off x="838200" y="1515204"/>
            <a:ext cx="105156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249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4BC957-C48F-6616-84A8-A19050F98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C85F08-A25E-5A03-6537-9CF234C813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31BBAA9-5543-2C33-03DE-855D245B4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CBEBC89-3A79-0634-3519-AF1F8111B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3AD87A1-4927-B729-156C-B2C6FEFFC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1652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5213CD-B211-17A6-D257-BB10AAF02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0D9272-58DB-55C5-C017-D02D739EA6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B7CA884-D3A7-E862-7F04-B499373461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C147A3D-8DA4-6B2C-0A0E-0AA6B0871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40C47B9-781B-1A6F-38A5-6CF791D12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D5ACD4D-8610-8AC9-93C7-D8B0369D9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1137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6E7B04-0019-79A4-76F5-2C8912174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BC33AB5-0365-0DCE-8AFE-3AABCB4EF4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D09B770-753E-FCF1-A116-D319C584F6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E7E1C91-CE5E-222F-1899-061861EB58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D8F9A3A-15E1-DB2C-9454-3759BC68B0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DD57461-6C88-BC10-A526-51F0EC8E5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F514616-1567-C300-7178-6E93D825C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D247810-64D7-2657-E807-F2E63157F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1745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81F6D0-F91D-FF94-ADD4-10B99AAAA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211C08B-A0E1-D3DF-477B-076566DF4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8C29EE2-896F-6655-83F6-77B2CC775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9521969-790C-3FB8-B17B-C5D9FA8D2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5323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8EA4D47-97AA-E8F2-EFAD-E53C4D4BA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06686CE-31E4-CD82-2C3F-AE7B79DE6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D463308-365F-B15E-1B4F-EF5A05F5B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4646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F2A433-62E5-A2BD-9933-CEDBBAC8B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1F278DE-9B7C-499B-0B63-1A51C8A34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852706B-ACC1-4F1F-252E-07F6A94B5D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E07D0C2-9C2B-2A0D-85DB-E5122F1DF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9CEBD13-52BB-5E4C-C4C9-7253B4D15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8118860-1540-DB38-E923-CF9EB4C15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8265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72268F-28E4-33A8-9A0D-B4BD01E95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C3C9CF8-866C-BB9E-2C67-D40C4A1C7B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078B3E1-ECBE-DAF0-5317-CCE8B66223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B9CF26C-EB62-7FA1-1821-42D3E058A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70B9854-208F-52D2-AAFE-4C05AE118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1340E45-F88F-F4D5-516C-ECC00FF81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2655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009645-90D5-1856-B2DB-C12DE86D3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F207D42-9D2A-8F7A-AEE8-7980420C0E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97E935-7DE0-6081-9677-5C257B0B6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532B49B-2BD6-A21A-CEE2-1B9E2148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3EF3D5-C6F9-8E4C-A73B-B9C1473DB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0567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C907A92-4A5E-2739-A866-E329CB69AB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FEC33BF-D4D8-5F77-DD24-DA158AAC9E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F5AC911-DB13-B1D0-B867-3C6E61F09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43CF6F-A03A-D784-15F8-5DB6477A2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624183-E9DA-9340-1464-04AA66A09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7874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A7EA33D-A7C8-9466-7C32-0A686D071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44E89D-FA86-74FF-F5B2-DA0869805C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9436571-AAA0-FF36-AE0C-F581FE3716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C6B603-1547-4FF1-9893-248F1C80E797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2657596-0053-291B-1A10-11FCA5D6CB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2938FE5-92A0-DD55-5D9B-42370AB356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38C15A9F-51BE-835B-BCD8-3FE41794173D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493855" y="176539"/>
            <a:ext cx="3481023" cy="4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207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bruno.penteado@unesp.b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OsebNaYQpk8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15445.courses.cs.cmu.edu/spring2026/slides/01-relationalmodel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1CE52B2-35C1-BC52-58D1-71F38112F63D}"/>
              </a:ext>
            </a:extLst>
          </p:cNvPr>
          <p:cNvSpPr txBox="1">
            <a:spLocks/>
          </p:cNvSpPr>
          <p:nvPr/>
        </p:nvSpPr>
        <p:spPr>
          <a:xfrm>
            <a:off x="1524000" y="2048338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/>
              <a:t>Aula 9</a:t>
            </a:r>
          </a:p>
          <a:p>
            <a:r>
              <a:rPr lang="pt-BR" dirty="0"/>
              <a:t>Linguagem SQL – DDL, DML, DQL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52575701-68BF-5229-3D18-C2C9D3651AA6}"/>
              </a:ext>
            </a:extLst>
          </p:cNvPr>
          <p:cNvSpPr txBox="1">
            <a:spLocks/>
          </p:cNvSpPr>
          <p:nvPr/>
        </p:nvSpPr>
        <p:spPr>
          <a:xfrm>
            <a:off x="1524000" y="4528013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Bruno Elias Penteado</a:t>
            </a:r>
          </a:p>
          <a:p>
            <a:r>
              <a:rPr lang="pt-BR" sz="1800" dirty="0">
                <a:hlinkClick r:id="rId3"/>
              </a:rPr>
              <a:t>bruno.penteado@unesp.br</a:t>
            </a:r>
            <a:r>
              <a:rPr lang="pt-BR" sz="1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92919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3B91EB-C8B7-0983-7E98-FA38297AF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Planejamento da disciplina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C2379589-CCDE-0FB9-AE22-1198657664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7244680"/>
              </p:ext>
            </p:extLst>
          </p:nvPr>
        </p:nvGraphicFramePr>
        <p:xfrm>
          <a:off x="2717800" y="1690688"/>
          <a:ext cx="6756400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21328">
                  <a:extLst>
                    <a:ext uri="{9D8B030D-6E8A-4147-A177-3AD203B41FA5}">
                      <a16:colId xmlns:a16="http://schemas.microsoft.com/office/drawing/2014/main" val="1655695673"/>
                    </a:ext>
                  </a:extLst>
                </a:gridCol>
                <a:gridCol w="5835072">
                  <a:extLst>
                    <a:ext uri="{9D8B030D-6E8A-4147-A177-3AD203B41FA5}">
                      <a16:colId xmlns:a16="http://schemas.microsoft.com/office/drawing/2014/main" val="1012511063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6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</a:p>
                  </a:txBody>
                  <a:tcPr marL="7620" marR="7620" marT="7620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6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Conteúdo planejado</a:t>
                      </a:r>
                    </a:p>
                  </a:txBody>
                  <a:tcPr marL="7620" marR="7620" marT="7620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120454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>
                          <a:effectLst/>
                        </a:rPr>
                        <a:t>04/mar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u="none" strike="noStrike" dirty="0">
                          <a:effectLst/>
                        </a:rPr>
                        <a:t>Apresentação da disciplina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32525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>
                          <a:effectLst/>
                        </a:rPr>
                        <a:t>11/mar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u="none" strike="noStrike">
                          <a:effectLst/>
                        </a:rPr>
                        <a:t>-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32535209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>
                          <a:effectLst/>
                        </a:rPr>
                        <a:t>18/mar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u="none" strike="noStrike" dirty="0" err="1">
                          <a:effectLst/>
                        </a:rPr>
                        <a:t>Intro</a:t>
                      </a:r>
                      <a:r>
                        <a:rPr lang="pt-BR" sz="1600" u="none" strike="noStrike" dirty="0">
                          <a:effectLst/>
                        </a:rPr>
                        <a:t> SGBD + escolha de projeto de grupo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69919328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>
                          <a:effectLst/>
                        </a:rPr>
                        <a:t>25/mar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u="none" strike="noStrike" dirty="0">
                          <a:effectLst/>
                        </a:rPr>
                        <a:t>Modelagem Conceitual: Entidades e Atributos (projeto conceitual)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2048693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>
                          <a:effectLst/>
                        </a:rPr>
                        <a:t>01/abr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u="none" strike="noStrike" dirty="0">
                          <a:effectLst/>
                        </a:rPr>
                        <a:t>MER Estendido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4093395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>
                          <a:effectLst/>
                        </a:rPr>
                        <a:t>08/abr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Modelo Relacional (projeto lógico)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4719049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>
                          <a:effectLst/>
                        </a:rPr>
                        <a:t>15/abr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u="none" strike="noStrike" dirty="0">
                          <a:effectLst/>
                        </a:rPr>
                        <a:t>Mapeamento MER-Relacional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4492018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>
                          <a:effectLst/>
                        </a:rPr>
                        <a:t>22/abr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u="none" strike="noStrike" dirty="0">
                          <a:effectLst/>
                        </a:rPr>
                        <a:t>Álgebra Relacional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4009157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1" u="none" strike="noStrike">
                          <a:effectLst/>
                        </a:rPr>
                        <a:t>29/abr</a:t>
                      </a:r>
                      <a:endParaRPr lang="pt-BR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1" u="none" strike="noStrike" dirty="0">
                          <a:effectLst/>
                        </a:rPr>
                        <a:t>P1</a:t>
                      </a:r>
                      <a:endParaRPr lang="pt-BR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2724238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>
                          <a:effectLst/>
                        </a:rPr>
                        <a:t>06/mai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u="none" strike="noStrike" dirty="0">
                          <a:effectLst/>
                        </a:rPr>
                        <a:t>Normalização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8227553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05/</a:t>
                      </a:r>
                      <a:r>
                        <a:rPr lang="pt-B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ago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u="none" strike="noStrike" dirty="0">
                          <a:effectLst/>
                        </a:rPr>
                        <a:t>Introdução ao SQL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4708332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12/</a:t>
                      </a:r>
                      <a:r>
                        <a:rPr lang="pt-B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ago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u="none" strike="noStrike" dirty="0">
                          <a:effectLst/>
                        </a:rPr>
                        <a:t>SQL Básico (DDL + DML + SELECT Simples)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2786066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19/</a:t>
                      </a:r>
                      <a:r>
                        <a:rPr lang="pt-B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ago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SQL </a:t>
                      </a:r>
                      <a:r>
                        <a:rPr lang="en-US" sz="1600" u="none" strike="noStrike" dirty="0" err="1">
                          <a:effectLst/>
                        </a:rPr>
                        <a:t>Intermediário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640842488"/>
                  </a:ext>
                </a:extLst>
              </a:tr>
              <a:tr h="24055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26/</a:t>
                      </a:r>
                      <a:r>
                        <a:rPr lang="pt-B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ago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u="none" strike="noStrike" dirty="0">
                          <a:effectLst/>
                        </a:rPr>
                        <a:t>SQL Avançado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7076639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02/set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1" u="none" strike="noStrike" dirty="0">
                          <a:effectLst/>
                        </a:rPr>
                        <a:t>P2</a:t>
                      </a:r>
                      <a:endParaRPr lang="pt-BR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13925938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09/set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1" u="none" strike="noStrike" dirty="0">
                          <a:effectLst/>
                        </a:rPr>
                        <a:t>Seminário</a:t>
                      </a:r>
                      <a:endParaRPr lang="pt-BR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8494503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endParaRPr lang="pt-BR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1" u="none" strike="noStrike" dirty="0">
                          <a:effectLst/>
                        </a:rPr>
                        <a:t>Exame final</a:t>
                      </a:r>
                      <a:endParaRPr lang="pt-BR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48215880"/>
                  </a:ext>
                </a:extLst>
              </a:tr>
            </a:tbl>
          </a:graphicData>
        </a:graphic>
      </p:graphicFrame>
      <p:sp>
        <p:nvSpPr>
          <p:cNvPr id="4" name="Chave Esquerda 3">
            <a:extLst>
              <a:ext uri="{FF2B5EF4-FFF2-40B4-BE49-F238E27FC236}">
                <a16:creationId xmlns:a16="http://schemas.microsoft.com/office/drawing/2014/main" id="{B6138C63-71F2-A871-7548-8A47C87ADC6E}"/>
              </a:ext>
            </a:extLst>
          </p:cNvPr>
          <p:cNvSpPr/>
          <p:nvPr/>
        </p:nvSpPr>
        <p:spPr>
          <a:xfrm>
            <a:off x="2352144" y="4487495"/>
            <a:ext cx="199046" cy="1729473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4079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768D3A-4E1D-B7C3-A617-AC5315EA9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Na aula anterior...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C2CDBE-5CFE-8FC3-E1C4-26E49A717A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SQL Básico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Conceitos básicos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MySQL + IDE Workbench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Linguagem SQL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Comandos DDL</a:t>
            </a:r>
          </a:p>
          <a:p>
            <a:pPr lvl="1"/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61711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A91118-3B8B-ABE8-1F17-7877C51F8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Projeto lógico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7CD2630-2DEB-C44E-972B-0042A24462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4619" y="1697633"/>
            <a:ext cx="8662761" cy="4795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431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B8450E-1EBF-83C7-1299-C34AFA310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SQL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7B9AF38-57DB-2636-DBA1-028068FC62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Modelo Relacional </a:t>
            </a:r>
            <a:r>
              <a:rPr lang="pt-BR" dirty="0"/>
              <a:t>ainda predominante no mercado</a:t>
            </a:r>
          </a:p>
          <a:p>
            <a:pPr>
              <a:spcBef>
                <a:spcPts val="2400"/>
              </a:spcBef>
            </a:pPr>
            <a:r>
              <a:rPr lang="pt-BR" dirty="0"/>
              <a:t>Fornece </a:t>
            </a:r>
            <a:r>
              <a:rPr lang="pt-BR" b="1" dirty="0"/>
              <a:t>linguagem de alto nível </a:t>
            </a:r>
            <a:r>
              <a:rPr lang="pt-BR" dirty="0"/>
              <a:t>declarativa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Criar esquemas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Manipular e consultar dados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Atividades de apoio (controle de acesso, transações, backups, etc.)</a:t>
            </a:r>
          </a:p>
          <a:p>
            <a:pPr>
              <a:spcBef>
                <a:spcPts val="2400"/>
              </a:spcBef>
            </a:pPr>
            <a:r>
              <a:rPr lang="pt-BR" dirty="0"/>
              <a:t>SQL é baseado na Álgebra Relacional e no Cálculo Relacional de Tuplas, porém com sintaxe simplificada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0914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80E7DC-3B08-F488-47B2-C50CE05C0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de dados SQL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77EEA2E-8D53-6656-4AE9-16F2F22E3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Tipos de dados </a:t>
            </a:r>
            <a:r>
              <a:rPr lang="pt-BR" b="1" dirty="0"/>
              <a:t>pré-definidos</a:t>
            </a:r>
            <a:r>
              <a:rPr lang="pt-BR" dirty="0"/>
              <a:t> padrão ANSI 92:</a:t>
            </a:r>
          </a:p>
        </p:txBody>
      </p:sp>
      <p:pic>
        <p:nvPicPr>
          <p:cNvPr id="2050" name="Picture 2" descr="SQL Data Types - Dev-hwon's blog">
            <a:extLst>
              <a:ext uri="{FF2B5EF4-FFF2-40B4-BE49-F238E27FC236}">
                <a16:creationId xmlns:a16="http://schemas.microsoft.com/office/drawing/2014/main" id="{BED89BC1-B8FB-3B07-8C20-5304F931CB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5511" y="2416034"/>
            <a:ext cx="7540978" cy="4076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0065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383FF-B47D-79DB-352C-252D3CD2A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D5F4EA-7E2C-8118-8933-7D9E32481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Categorias de comandos SQL</a:t>
            </a:r>
          </a:p>
        </p:txBody>
      </p:sp>
      <p:pic>
        <p:nvPicPr>
          <p:cNvPr id="1026" name="Picture 2" descr="sql commands categories">
            <a:extLst>
              <a:ext uri="{FF2B5EF4-FFF2-40B4-BE49-F238E27FC236}">
                <a16:creationId xmlns:a16="http://schemas.microsoft.com/office/drawing/2014/main" id="{8FC26025-D04E-2ABD-C24C-1F765ED119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5088" y="1639069"/>
            <a:ext cx="6135789" cy="5150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B233728C-E7CD-6EE2-51DA-DAEFC8F0AC40}"/>
              </a:ext>
            </a:extLst>
          </p:cNvPr>
          <p:cNvSpPr/>
          <p:nvPr/>
        </p:nvSpPr>
        <p:spPr>
          <a:xfrm>
            <a:off x="3104444" y="2415822"/>
            <a:ext cx="1219200" cy="302542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94242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DEEFF0-E38A-59F4-8460-C5691A4ED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MySQL Workbench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436452C-8CF2-8B33-5B78-C152530CF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IDE para o SGBDR MySQL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C3E6B4D-8FF0-EB27-F76D-F71918CEBA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022" y="2311680"/>
            <a:ext cx="6919994" cy="418119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E77862FC-2461-A668-6799-1A8C047EE621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844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A04F7-C4D2-18A7-82A6-42DAD5557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B185F1-21F1-C742-9E9E-1E061D0C4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C1DB401-FB83-C31C-01AB-5F0F82EB6E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i="1" dirty="0"/>
              <a:t>Crie um </a:t>
            </a:r>
            <a:r>
              <a:rPr lang="pt-BR" i="1" dirty="0" err="1"/>
              <a:t>Schema</a:t>
            </a:r>
            <a:r>
              <a:rPr lang="pt-BR" i="1" dirty="0"/>
              <a:t> no MySQL chamado </a:t>
            </a:r>
            <a:r>
              <a:rPr lang="pt-BR" b="1" i="1" dirty="0"/>
              <a:t>BD1 </a:t>
            </a:r>
            <a:r>
              <a:rPr lang="pt-BR" i="1" dirty="0"/>
              <a:t>e </a:t>
            </a:r>
            <a:r>
              <a:rPr lang="pt-BR" b="1" i="1" dirty="0"/>
              <a:t>entre em seu contexto</a:t>
            </a:r>
          </a:p>
          <a:p>
            <a:r>
              <a:rPr lang="pt-BR" i="1" dirty="0"/>
              <a:t>Crie as seguintes tabelas :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B7F7BEA-D030-6963-0135-689FB12790A7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AB9FFC7-DAF1-BC7E-43F3-1A8A81B85089}"/>
              </a:ext>
            </a:extLst>
          </p:cNvPr>
          <p:cNvSpPr txBox="1"/>
          <p:nvPr/>
        </p:nvSpPr>
        <p:spPr>
          <a:xfrm>
            <a:off x="2133600" y="2965803"/>
            <a:ext cx="7270044" cy="3416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rtl="0"/>
            <a:r>
              <a:rPr lang="pt-BR" sz="24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Aluno = {</a:t>
            </a:r>
            <a:r>
              <a:rPr lang="pt-BR" sz="2400" b="0" i="0" u="sng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RA</a:t>
            </a:r>
            <a:r>
              <a:rPr lang="pt-BR" sz="24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, CPF, Nome, </a:t>
            </a:r>
            <a:r>
              <a:rPr lang="pt-BR" sz="2400" b="0" i="0" u="none" strike="noStrike" dirty="0" err="1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DataNasc</a:t>
            </a:r>
            <a:r>
              <a:rPr lang="pt-BR" sz="24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}</a:t>
            </a:r>
            <a:endParaRPr lang="pt-BR" sz="2400" b="0" dirty="0">
              <a:effectLst/>
            </a:endParaRPr>
          </a:p>
          <a:p>
            <a:pPr rtl="0"/>
            <a:r>
              <a:rPr lang="pt-BR" sz="24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</a:t>
            </a:r>
            <a:endParaRPr lang="pt-BR" sz="2400" b="0" dirty="0">
              <a:effectLst/>
            </a:endParaRPr>
          </a:p>
          <a:p>
            <a:pPr rtl="0"/>
            <a:r>
              <a:rPr lang="pt-BR" sz="24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Professor = {Nome, </a:t>
            </a:r>
            <a:r>
              <a:rPr lang="pt-BR" sz="2400" b="0" i="0" u="sng" dirty="0" err="1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NFunc</a:t>
            </a:r>
            <a:r>
              <a:rPr lang="pt-BR" sz="24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, Titulação}</a:t>
            </a:r>
            <a:endParaRPr lang="pt-BR" sz="2400" b="0" dirty="0">
              <a:effectLst/>
            </a:endParaRPr>
          </a:p>
          <a:p>
            <a:pPr rtl="0"/>
            <a:r>
              <a:rPr lang="pt-BR" sz="24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</a:t>
            </a:r>
            <a:endParaRPr lang="pt-BR" sz="2400" b="0" dirty="0">
              <a:effectLst/>
            </a:endParaRPr>
          </a:p>
          <a:p>
            <a:pPr rtl="0"/>
            <a:r>
              <a:rPr lang="pt-BR" sz="24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Disciplina = {</a:t>
            </a:r>
            <a:r>
              <a:rPr lang="pt-BR" sz="2400" b="0" i="0" u="sng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Sigla</a:t>
            </a:r>
            <a:r>
              <a:rPr lang="pt-BR" sz="24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, Nome, </a:t>
            </a:r>
            <a:r>
              <a:rPr lang="pt-BR" sz="2400" b="0" i="0" u="none" strike="noStrike" dirty="0" err="1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NCred</a:t>
            </a:r>
            <a:r>
              <a:rPr lang="pt-BR" sz="24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, </a:t>
            </a:r>
            <a:r>
              <a:rPr lang="pt-BR" sz="2400" b="0" i="0" u="none" strike="noStrike" dirty="0" err="1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Prof</a:t>
            </a:r>
            <a:r>
              <a:rPr lang="pt-BR" sz="24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}</a:t>
            </a:r>
            <a:endParaRPr lang="pt-BR" sz="2400" b="0" dirty="0">
              <a:effectLst/>
            </a:endParaRPr>
          </a:p>
          <a:p>
            <a:pPr rtl="0"/>
            <a:r>
              <a:rPr lang="pt-BR" sz="24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</a:t>
            </a:r>
            <a:endParaRPr lang="pt-BR" sz="2400" b="0" dirty="0">
              <a:effectLst/>
            </a:endParaRPr>
          </a:p>
          <a:p>
            <a:pPr rtl="0"/>
            <a:r>
              <a:rPr lang="pt-BR" sz="24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Turma = {</a:t>
            </a:r>
            <a:r>
              <a:rPr lang="pt-BR" sz="2400" b="0" i="0" u="sng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Sigla, Numero</a:t>
            </a:r>
            <a:r>
              <a:rPr lang="pt-BR" sz="24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, </a:t>
            </a:r>
            <a:r>
              <a:rPr lang="pt-BR" sz="2400" b="0" i="0" u="none" strike="noStrike" dirty="0" err="1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NAlunos</a:t>
            </a:r>
            <a:r>
              <a:rPr lang="pt-BR" sz="24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}</a:t>
            </a:r>
            <a:endParaRPr lang="pt-BR" sz="2400" b="0" dirty="0">
              <a:effectLst/>
            </a:endParaRPr>
          </a:p>
          <a:p>
            <a:pPr rtl="0"/>
            <a:r>
              <a:rPr lang="pt-BR" sz="24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</a:t>
            </a:r>
            <a:endParaRPr lang="pt-BR" sz="2400" b="0" dirty="0">
              <a:effectLst/>
            </a:endParaRPr>
          </a:p>
          <a:p>
            <a:pPr rtl="0"/>
            <a:r>
              <a:rPr lang="pt-BR" sz="24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Matrícula = {</a:t>
            </a:r>
            <a:r>
              <a:rPr lang="pt-BR" sz="2400" b="0" i="0" u="sng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Sigla, Numero, Aluno, Ano</a:t>
            </a:r>
            <a:r>
              <a:rPr lang="pt-BR" sz="24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, Nota}</a:t>
            </a:r>
            <a:endParaRPr lang="pt-BR" sz="2400" b="0" dirty="0">
              <a:effectLst/>
            </a:endParaRPr>
          </a:p>
        </p:txBody>
      </p:sp>
      <p:cxnSp>
        <p:nvCxnSpPr>
          <p:cNvPr id="10" name="Conector: Angulado 9">
            <a:extLst>
              <a:ext uri="{FF2B5EF4-FFF2-40B4-BE49-F238E27FC236}">
                <a16:creationId xmlns:a16="http://schemas.microsoft.com/office/drawing/2014/main" id="{603A5B11-97D2-DF81-4B44-32D750755B29}"/>
              </a:ext>
            </a:extLst>
          </p:cNvPr>
          <p:cNvCxnSpPr>
            <a:cxnSpLocks/>
          </p:cNvCxnSpPr>
          <p:nvPr/>
        </p:nvCxnSpPr>
        <p:spPr>
          <a:xfrm rot="10800000">
            <a:off x="4030134" y="3390880"/>
            <a:ext cx="2720623" cy="2501920"/>
          </a:xfrm>
          <a:prstGeom prst="bentConnector3">
            <a:avLst>
              <a:gd name="adj1" fmla="val -52490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Conector: Angulado 12">
            <a:extLst>
              <a:ext uri="{FF2B5EF4-FFF2-40B4-BE49-F238E27FC236}">
                <a16:creationId xmlns:a16="http://schemas.microsoft.com/office/drawing/2014/main" id="{A04684E7-CC94-B947-26EE-322FF717DBC9}"/>
              </a:ext>
            </a:extLst>
          </p:cNvPr>
          <p:cNvCxnSpPr>
            <a:cxnSpLocks/>
          </p:cNvCxnSpPr>
          <p:nvPr/>
        </p:nvCxnSpPr>
        <p:spPr>
          <a:xfrm rot="16200000" flipV="1">
            <a:off x="5059760" y="5574374"/>
            <a:ext cx="492037" cy="428978"/>
          </a:xfrm>
          <a:prstGeom prst="bentConnector3">
            <a:avLst>
              <a:gd name="adj1" fmla="val 50000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ector: Angulado 15">
            <a:extLst>
              <a:ext uri="{FF2B5EF4-FFF2-40B4-BE49-F238E27FC236}">
                <a16:creationId xmlns:a16="http://schemas.microsoft.com/office/drawing/2014/main" id="{79EA1E66-F071-5DAE-72C1-FEA8C3A671B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656931" y="5593380"/>
            <a:ext cx="484894" cy="383822"/>
          </a:xfrm>
          <a:prstGeom prst="bentConnector3">
            <a:avLst>
              <a:gd name="adj1" fmla="val 50000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Conector: Angulado 20">
            <a:extLst>
              <a:ext uri="{FF2B5EF4-FFF2-40B4-BE49-F238E27FC236}">
                <a16:creationId xmlns:a16="http://schemas.microsoft.com/office/drawing/2014/main" id="{6136EF17-F2B4-E2CE-C79B-70D56E3AB1D2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973688" y="4888088"/>
            <a:ext cx="485424" cy="372535"/>
          </a:xfrm>
          <a:prstGeom prst="bentConnector3">
            <a:avLst>
              <a:gd name="adj1" fmla="val 50000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ector: Angulado 23">
            <a:extLst>
              <a:ext uri="{FF2B5EF4-FFF2-40B4-BE49-F238E27FC236}">
                <a16:creationId xmlns:a16="http://schemas.microsoft.com/office/drawing/2014/main" id="{7428C232-9873-1359-93CF-DA4B24CB91E6}"/>
              </a:ext>
            </a:extLst>
          </p:cNvPr>
          <p:cNvCxnSpPr>
            <a:cxnSpLocks/>
          </p:cNvCxnSpPr>
          <p:nvPr/>
        </p:nvCxnSpPr>
        <p:spPr>
          <a:xfrm rot="10800000">
            <a:off x="5621867" y="4199468"/>
            <a:ext cx="1670758" cy="248353"/>
          </a:xfrm>
          <a:prstGeom prst="bentConnector3">
            <a:avLst>
              <a:gd name="adj1" fmla="val -676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2" name="Agrupar 31">
            <a:extLst>
              <a:ext uri="{FF2B5EF4-FFF2-40B4-BE49-F238E27FC236}">
                <a16:creationId xmlns:a16="http://schemas.microsoft.com/office/drawing/2014/main" id="{2D5F1E0F-6D08-69A0-ECF0-1DF98EAE7A4C}"/>
              </a:ext>
            </a:extLst>
          </p:cNvPr>
          <p:cNvGrpSpPr/>
          <p:nvPr/>
        </p:nvGrpSpPr>
        <p:grpSpPr>
          <a:xfrm>
            <a:off x="4174803" y="3159300"/>
            <a:ext cx="532664" cy="451556"/>
            <a:chOff x="10271140" y="3872089"/>
            <a:chExt cx="532664" cy="451556"/>
          </a:xfrm>
        </p:grpSpPr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CB69E853-5B1D-BED4-0DEE-EE722A51BE4B}"/>
                </a:ext>
              </a:extLst>
            </p:cNvPr>
            <p:cNvSpPr txBox="1"/>
            <p:nvPr/>
          </p:nvSpPr>
          <p:spPr>
            <a:xfrm>
              <a:off x="10272889" y="3872089"/>
              <a:ext cx="5309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b="1" dirty="0"/>
                <a:t>___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68212DBB-B8A8-CF92-FA26-18733C683FD0}"/>
                </a:ext>
              </a:extLst>
            </p:cNvPr>
            <p:cNvSpPr txBox="1"/>
            <p:nvPr/>
          </p:nvSpPr>
          <p:spPr>
            <a:xfrm>
              <a:off x="10271140" y="3954313"/>
              <a:ext cx="5309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b="1" dirty="0"/>
                <a:t>___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871892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5D84F-0E34-C35A-1350-D2BA8E125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44C249-72A1-9ECB-4F99-2A1E99BCB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527F697-563A-B46D-7A06-47E157D581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55797"/>
          </a:xfrm>
        </p:spPr>
        <p:txBody>
          <a:bodyPr>
            <a:normAutofit fontScale="77500" lnSpcReduction="20000"/>
          </a:bodyPr>
          <a:lstStyle/>
          <a:p>
            <a:r>
              <a:rPr lang="pt-BR" i="1" dirty="0"/>
              <a:t>Altere as tabelas:</a:t>
            </a:r>
          </a:p>
          <a:p>
            <a:endParaRPr lang="pt-BR" b="1" i="1" dirty="0"/>
          </a:p>
          <a:p>
            <a:endParaRPr lang="pt-BR" b="1" i="1" dirty="0"/>
          </a:p>
          <a:p>
            <a:endParaRPr lang="pt-BR" b="1" i="1" dirty="0"/>
          </a:p>
          <a:p>
            <a:endParaRPr lang="pt-BR" b="1" i="1" dirty="0"/>
          </a:p>
          <a:p>
            <a:endParaRPr lang="pt-BR" b="1" i="1" dirty="0"/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Acrescente atributo </a:t>
            </a:r>
            <a:r>
              <a:rPr lang="pt-BR" i="1" dirty="0" err="1"/>
              <a:t>Cidade_Origem</a:t>
            </a:r>
            <a:r>
              <a:rPr lang="pt-BR" i="1" dirty="0"/>
              <a:t> </a:t>
            </a:r>
            <a:r>
              <a:rPr lang="pt-BR" dirty="0"/>
              <a:t>em </a:t>
            </a:r>
            <a:r>
              <a:rPr lang="pt-BR" b="1" dirty="0"/>
              <a:t>Aluno</a:t>
            </a:r>
            <a:r>
              <a:rPr lang="pt-BR" dirty="0"/>
              <a:t> com default “Bauru”</a:t>
            </a:r>
          </a:p>
          <a:p>
            <a:pPr marL="514350" indent="-514350">
              <a:spcBef>
                <a:spcPts val="1800"/>
              </a:spcBef>
              <a:buFont typeface="+mj-lt"/>
              <a:buAutoNum type="arabicPeriod"/>
            </a:pPr>
            <a:r>
              <a:rPr lang="pt-BR" dirty="0"/>
              <a:t>Remova o atributo </a:t>
            </a:r>
            <a:r>
              <a:rPr lang="pt-BR" i="1" dirty="0" err="1"/>
              <a:t>NAlunos</a:t>
            </a:r>
            <a:r>
              <a:rPr lang="pt-BR" dirty="0"/>
              <a:t> da tabela </a:t>
            </a:r>
            <a:r>
              <a:rPr lang="pt-BR" b="1" dirty="0"/>
              <a:t>Turma</a:t>
            </a:r>
          </a:p>
          <a:p>
            <a:pPr marL="514350" indent="-514350">
              <a:spcBef>
                <a:spcPts val="1800"/>
              </a:spcBef>
              <a:buFont typeface="+mj-lt"/>
              <a:buAutoNum type="arabicPeriod"/>
            </a:pPr>
            <a:r>
              <a:rPr lang="pt-BR" dirty="0"/>
              <a:t>Acrescente uma restrição para que a </a:t>
            </a:r>
            <a:r>
              <a:rPr lang="pt-BR" i="1" dirty="0"/>
              <a:t>Nota</a:t>
            </a:r>
            <a:r>
              <a:rPr lang="pt-BR" dirty="0"/>
              <a:t> do aluno em </a:t>
            </a:r>
            <a:r>
              <a:rPr lang="pt-BR" b="1" dirty="0"/>
              <a:t>Matrícula </a:t>
            </a:r>
            <a:r>
              <a:rPr lang="pt-BR" dirty="0"/>
              <a:t>seja sempre maior ou igual a 0</a:t>
            </a:r>
          </a:p>
          <a:p>
            <a:pPr marL="514350" indent="-514350">
              <a:spcBef>
                <a:spcPts val="1800"/>
              </a:spcBef>
              <a:buFont typeface="+mj-lt"/>
              <a:buAutoNum type="arabicPeriod"/>
            </a:pPr>
            <a:r>
              <a:rPr lang="pt-BR" dirty="0"/>
              <a:t>Remova essa restrição</a:t>
            </a:r>
          </a:p>
          <a:p>
            <a:pPr marL="514350" indent="-514350">
              <a:spcBef>
                <a:spcPts val="1800"/>
              </a:spcBef>
              <a:buFont typeface="+mj-lt"/>
              <a:buAutoNum type="arabicPeriod"/>
            </a:pPr>
            <a:r>
              <a:rPr lang="pt-BR" dirty="0"/>
              <a:t>Adicione novamente a coluna </a:t>
            </a:r>
            <a:r>
              <a:rPr lang="pt-BR" i="1" dirty="0" err="1"/>
              <a:t>NAlunos</a:t>
            </a:r>
            <a:r>
              <a:rPr lang="pt-BR" i="1" dirty="0"/>
              <a:t> </a:t>
            </a:r>
            <a:r>
              <a:rPr lang="pt-BR" dirty="0"/>
              <a:t>na tabela </a:t>
            </a:r>
            <a:r>
              <a:rPr lang="pt-BR" b="1" dirty="0"/>
              <a:t>Turma </a:t>
            </a:r>
          </a:p>
          <a:p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CD01BD8-6778-21DF-3F94-35AE05F6C681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9543C38-2146-5AD8-77B5-3D40DB4B6BA8}"/>
              </a:ext>
            </a:extLst>
          </p:cNvPr>
          <p:cNvSpPr txBox="1"/>
          <p:nvPr/>
        </p:nvSpPr>
        <p:spPr>
          <a:xfrm>
            <a:off x="2223911" y="2232023"/>
            <a:ext cx="7270044" cy="178510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rtl="0"/>
            <a:r>
              <a:rPr lang="pt-BR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Aluno = {</a:t>
            </a:r>
            <a:r>
              <a:rPr lang="pt-BR" b="0" i="0" u="sng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RA</a:t>
            </a:r>
            <a:r>
              <a:rPr lang="pt-BR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, CPF, RG, UF,  Nome, </a:t>
            </a:r>
            <a:r>
              <a:rPr lang="pt-BR" b="0" i="0" u="none" strike="noStrike" dirty="0" err="1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DataNasc</a:t>
            </a:r>
            <a:r>
              <a:rPr lang="pt-BR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}</a:t>
            </a:r>
            <a:endParaRPr lang="pt-BR" b="0" dirty="0">
              <a:effectLst/>
            </a:endParaRPr>
          </a:p>
          <a:p>
            <a:pPr rtl="0">
              <a:spcBef>
                <a:spcPts val="600"/>
              </a:spcBef>
            </a:pPr>
            <a:r>
              <a:rPr lang="pt-BR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Professor = {Nome, </a:t>
            </a:r>
            <a:r>
              <a:rPr lang="pt-BR" b="0" i="0" u="sng" dirty="0" err="1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NFunc</a:t>
            </a:r>
            <a:r>
              <a:rPr lang="pt-BR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, Titulação}</a:t>
            </a:r>
            <a:endParaRPr lang="pt-BR" b="0" dirty="0">
              <a:effectLst/>
            </a:endParaRPr>
          </a:p>
          <a:p>
            <a:pPr rtl="0">
              <a:spcBef>
                <a:spcPts val="600"/>
              </a:spcBef>
            </a:pPr>
            <a:r>
              <a:rPr lang="pt-BR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Disciplina = {</a:t>
            </a:r>
            <a:r>
              <a:rPr lang="pt-BR" b="0" i="0" u="sng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Sigla</a:t>
            </a:r>
            <a:r>
              <a:rPr lang="pt-BR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, Nome, </a:t>
            </a:r>
            <a:r>
              <a:rPr lang="pt-BR" b="0" i="0" u="none" strike="noStrike" dirty="0" err="1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NCred</a:t>
            </a:r>
            <a:r>
              <a:rPr lang="pt-BR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, </a:t>
            </a:r>
            <a:r>
              <a:rPr lang="pt-BR" b="0" i="0" u="none" strike="noStrike" dirty="0" err="1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Prof</a:t>
            </a:r>
            <a:r>
              <a:rPr lang="pt-BR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}</a:t>
            </a:r>
            <a:endParaRPr lang="pt-BR" b="0" dirty="0">
              <a:effectLst/>
            </a:endParaRPr>
          </a:p>
          <a:p>
            <a:pPr rtl="0">
              <a:spcBef>
                <a:spcPts val="600"/>
              </a:spcBef>
            </a:pPr>
            <a:r>
              <a:rPr lang="pt-BR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Turma = {</a:t>
            </a:r>
            <a:r>
              <a:rPr lang="pt-BR" b="0" i="0" u="sng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Sigla, Numero</a:t>
            </a:r>
            <a:r>
              <a:rPr lang="pt-BR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, </a:t>
            </a:r>
            <a:r>
              <a:rPr lang="pt-BR" b="0" i="0" u="none" strike="noStrike" dirty="0" err="1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NAlunos</a:t>
            </a:r>
            <a:r>
              <a:rPr lang="pt-BR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}</a:t>
            </a:r>
            <a:endParaRPr lang="pt-BR" b="0" dirty="0">
              <a:effectLst/>
            </a:endParaRPr>
          </a:p>
          <a:p>
            <a:pPr rtl="0">
              <a:spcBef>
                <a:spcPts val="600"/>
              </a:spcBef>
            </a:pPr>
            <a:r>
              <a:rPr lang="pt-BR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Matrícula = {</a:t>
            </a:r>
            <a:r>
              <a:rPr lang="pt-BR" b="0" i="0" u="sng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Sigla, Numero, Aluno, Ano</a:t>
            </a:r>
            <a:r>
              <a:rPr lang="pt-BR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, Nota}</a:t>
            </a:r>
            <a:endParaRPr lang="pt-BR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180150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45A394-242D-54DE-C631-F106D1663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- Resolução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51A8DFA-66F3-5176-FAAE-4C27E964EB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 rtl="0">
              <a:buFont typeface="+mj-lt"/>
              <a:buAutoNum type="arabicPeriod"/>
            </a:pPr>
            <a:r>
              <a:rPr lang="pt-BR" sz="1800" b="1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alter</a:t>
            </a: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800" b="1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Aluno </a:t>
            </a:r>
            <a:r>
              <a:rPr lang="pt-BR" sz="1800" b="1" i="0" u="none" strike="noStrike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pt-BR" sz="1800" b="0" i="0" u="none" strike="noStrike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800" b="1" i="0" u="none" strike="noStrike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column</a:t>
            </a:r>
            <a:r>
              <a:rPr lang="pt-BR" sz="1800" b="0" i="0" u="none" strike="noStrike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800" b="0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Cidade_Origem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800" b="1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varchar</a:t>
            </a: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(60) default 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‘Bauru';</a:t>
            </a:r>
            <a:endParaRPr lang="pt-BR" b="0" dirty="0">
              <a:effectLst/>
            </a:endParaRPr>
          </a:p>
          <a:p>
            <a:pPr marL="342900" indent="-342900" rtl="0">
              <a:buFont typeface="+mj-lt"/>
              <a:buAutoNum type="arabicPeriod"/>
            </a:pPr>
            <a:r>
              <a:rPr lang="pt-BR" sz="1800" b="1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alter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800" b="1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Turma </a:t>
            </a:r>
            <a:r>
              <a:rPr lang="pt-BR" sz="1800" b="1" i="0" u="none" strike="noStrike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drop</a:t>
            </a:r>
            <a:r>
              <a:rPr lang="pt-BR" sz="1800" b="1" i="0" u="none" strike="noStrike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800" b="1" i="0" u="none" strike="noStrike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column</a:t>
            </a:r>
            <a:r>
              <a:rPr lang="pt-BR" sz="1800" b="0" i="0" u="none" strike="noStrike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800" b="0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NAlunos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800" b="1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cascade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pt-BR" b="0" dirty="0">
              <a:effectLst/>
            </a:endParaRPr>
          </a:p>
          <a:p>
            <a:pPr marL="342900" indent="-342900" rtl="0">
              <a:buFont typeface="+mj-lt"/>
              <a:buAutoNum type="arabicPeriod"/>
            </a:pPr>
            <a:r>
              <a:rPr lang="pt-BR" sz="1800" b="1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alter</a:t>
            </a: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800" b="1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Matricula </a:t>
            </a:r>
            <a:r>
              <a:rPr lang="pt-BR" sz="1800" b="1" i="0" u="none" strike="noStrike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pt-BR" sz="1800" b="1" i="0" u="none" strike="noStrike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800" b="1" i="0" u="none" strike="noStrike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constraint</a:t>
            </a:r>
            <a:r>
              <a:rPr lang="pt-BR" sz="1800" b="0" i="0" u="none" strike="noStrike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1800" b="0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ck_nota</a:t>
            </a: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800" b="1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check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(nota 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0 </a:t>
            </a:r>
            <a:r>
              <a:rPr lang="pt-BR" sz="1800" b="0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nota &lt;=10);</a:t>
            </a:r>
          </a:p>
          <a:p>
            <a:pPr marL="342900" indent="-342900" rtl="0">
              <a:buFont typeface="+mj-lt"/>
              <a:buAutoNum type="arabicPeriod"/>
            </a:pPr>
            <a:r>
              <a:rPr lang="pt-BR" sz="1800" b="1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alter</a:t>
            </a: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800" b="1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Matricula </a:t>
            </a:r>
            <a:r>
              <a:rPr lang="pt-BR" sz="18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drop</a:t>
            </a:r>
            <a:r>
              <a:rPr lang="pt-BR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pt-BR" sz="18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constraint</a:t>
            </a:r>
            <a:r>
              <a:rPr lang="pt-BR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pt-BR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ck_nota</a:t>
            </a:r>
            <a:r>
              <a:rPr lang="pt-B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342900" indent="-342900" rtl="0">
              <a:buFont typeface="+mj-lt"/>
              <a:buAutoNum type="arabicPeriod"/>
            </a:pPr>
            <a:r>
              <a:rPr lang="pt-BR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alter</a:t>
            </a:r>
            <a:r>
              <a:rPr lang="pt-B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table</a:t>
            </a:r>
            <a:r>
              <a:rPr lang="pt-B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Turma </a:t>
            </a:r>
            <a:r>
              <a:rPr lang="pt-BR" sz="18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add</a:t>
            </a:r>
            <a:r>
              <a:rPr lang="pt-BR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pt-BR" sz="18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column</a:t>
            </a:r>
            <a:r>
              <a:rPr lang="pt-BR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pt-BR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Nalunos</a:t>
            </a:r>
            <a:r>
              <a:rPr lang="pt-B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pt-B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default(40);</a:t>
            </a:r>
          </a:p>
          <a:p>
            <a:pPr marL="0" indent="0" rtl="0">
              <a:buNone/>
            </a:pPr>
            <a:br>
              <a:rPr lang="pt-BR" dirty="0"/>
            </a:br>
            <a:br>
              <a:rPr lang="pt-BR" dirty="0"/>
            </a:br>
            <a:br>
              <a:rPr lang="pt-BR" dirty="0"/>
            </a:br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AF98878-34E6-1F85-06E2-9F4C1DAFC013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00400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ED686-BA4D-F226-D0A7-0373E9925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8353D2D-218D-984E-98D3-19F2A95219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2400F8B-8974-474C-D7B4-B3489FD45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1044" y="2712909"/>
            <a:ext cx="2724530" cy="1838582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2336E344-03E5-1925-36CD-92C2815AD60B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CBF68D8-BF08-4163-C267-6A2D452D619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670" b="12564"/>
          <a:stretch/>
        </p:blipFill>
        <p:spPr>
          <a:xfrm>
            <a:off x="4691269" y="1825625"/>
            <a:ext cx="6792273" cy="4486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8287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BC4F4-08BA-9CB3-278E-FE1CECDC4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642D60B-B79E-5A3F-04EB-7AA90BF0CC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SQL Básico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DML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DQL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DCL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TCL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971550" lvl="1" indent="-51435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romanLcPeriod"/>
            </a:pPr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8682D57-6369-E819-79EF-8BC5D7AA5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Agenda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8B61095-3DB5-957E-2B4C-792F937ECC82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91116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383FF-B47D-79DB-352C-252D3CD2A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D5F4EA-7E2C-8118-8933-7D9E32481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Categorias de comandos SQL</a:t>
            </a:r>
          </a:p>
        </p:txBody>
      </p:sp>
      <p:pic>
        <p:nvPicPr>
          <p:cNvPr id="1026" name="Picture 2" descr="sql commands categories">
            <a:extLst>
              <a:ext uri="{FF2B5EF4-FFF2-40B4-BE49-F238E27FC236}">
                <a16:creationId xmlns:a16="http://schemas.microsoft.com/office/drawing/2014/main" id="{8FC26025-D04E-2ABD-C24C-1F765ED119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5088" y="1639069"/>
            <a:ext cx="6135789" cy="5150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B233728C-E7CD-6EE2-51DA-DAEFC8F0AC40}"/>
              </a:ext>
            </a:extLst>
          </p:cNvPr>
          <p:cNvSpPr/>
          <p:nvPr/>
        </p:nvSpPr>
        <p:spPr>
          <a:xfrm>
            <a:off x="4143022" y="2438398"/>
            <a:ext cx="1219200" cy="41656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68131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94DBEE-B886-0722-CE16-40F1313DC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Comandos DML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6975F3-E0A9-9270-198C-23645A5C3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Comandos mais comuns</a:t>
            </a:r>
          </a:p>
          <a:p>
            <a:pPr lvl="1"/>
            <a:r>
              <a:rPr lang="pt-BR" dirty="0"/>
              <a:t>INSERT</a:t>
            </a:r>
          </a:p>
          <a:p>
            <a:pPr lvl="1"/>
            <a:r>
              <a:rPr lang="pt-BR" dirty="0"/>
              <a:t>UPDATE</a:t>
            </a:r>
          </a:p>
          <a:p>
            <a:pPr lvl="1"/>
            <a:r>
              <a:rPr lang="pt-BR" dirty="0"/>
              <a:t>DELETE</a:t>
            </a:r>
          </a:p>
        </p:txBody>
      </p:sp>
    </p:spTree>
    <p:extLst>
      <p:ext uri="{BB962C8B-B14F-4D97-AF65-F5344CB8AC3E}">
        <p14:creationId xmlns:p14="http://schemas.microsoft.com/office/powerpoint/2010/main" val="36995432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6AAE0A-ECA7-916D-0AD4-EEA181346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Comandos DML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CB77A9-BB64-7294-37A0-5BD70C4A8B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>
                <a:solidFill>
                  <a:schemeClr val="accent1"/>
                </a:solidFill>
              </a:rPr>
              <a:t>INSERT</a:t>
            </a:r>
            <a:r>
              <a:rPr lang="pt-BR" dirty="0"/>
              <a:t> – insere uma ou mais tuplas em uma tabela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35E2168-58C7-93EA-681F-A16E76DD4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5547" y="2776063"/>
            <a:ext cx="7020905" cy="340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4773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9DE9A4-90E1-E338-2452-30B5A6494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Comandos DML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5875C22-29AB-2D99-56E7-13C799D971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Baseado no esquema anterior: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Insira os seguintes dados</a:t>
            </a:r>
          </a:p>
          <a:p>
            <a:pPr lvl="1"/>
            <a:r>
              <a:rPr lang="pt-BR" dirty="0"/>
              <a:t>Aluna com nome Juliana, RA 222, nascida em 10/04/2003</a:t>
            </a:r>
          </a:p>
          <a:p>
            <a:pPr lvl="1"/>
            <a:r>
              <a:rPr lang="pt-BR" dirty="0"/>
              <a:t>Disciplina SCC240, Banco de dados, 4 créditos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540D664-80AA-1799-8685-64E182EE474D}"/>
              </a:ext>
            </a:extLst>
          </p:cNvPr>
          <p:cNvSpPr txBox="1"/>
          <p:nvPr/>
        </p:nvSpPr>
        <p:spPr>
          <a:xfrm>
            <a:off x="6524978" y="1825625"/>
            <a:ext cx="5000978" cy="178510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rtl="0"/>
            <a:r>
              <a:rPr lang="pt-BR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Aluno = {</a:t>
            </a:r>
            <a:r>
              <a:rPr lang="pt-BR" b="0" i="0" u="sng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RA</a:t>
            </a:r>
            <a:r>
              <a:rPr lang="pt-BR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, CPF, Nome, </a:t>
            </a:r>
            <a:r>
              <a:rPr lang="pt-BR" b="0" i="0" u="none" strike="noStrike" dirty="0" err="1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DataNasc</a:t>
            </a:r>
            <a:r>
              <a:rPr lang="pt-BR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}</a:t>
            </a:r>
            <a:endParaRPr lang="pt-BR" b="0" dirty="0">
              <a:effectLst/>
            </a:endParaRPr>
          </a:p>
          <a:p>
            <a:pPr rtl="0">
              <a:spcBef>
                <a:spcPts val="600"/>
              </a:spcBef>
            </a:pPr>
            <a:r>
              <a:rPr lang="pt-BR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Professor = {Nome, </a:t>
            </a:r>
            <a:r>
              <a:rPr lang="pt-BR" b="0" i="0" u="sng" dirty="0" err="1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NFunc</a:t>
            </a:r>
            <a:r>
              <a:rPr lang="pt-BR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, Titulação}</a:t>
            </a:r>
            <a:endParaRPr lang="pt-BR" b="0" dirty="0">
              <a:effectLst/>
            </a:endParaRPr>
          </a:p>
          <a:p>
            <a:pPr rtl="0">
              <a:spcBef>
                <a:spcPts val="600"/>
              </a:spcBef>
            </a:pPr>
            <a:r>
              <a:rPr lang="pt-BR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Disciplina = {</a:t>
            </a:r>
            <a:r>
              <a:rPr lang="pt-BR" b="0" i="0" u="sng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Sigla</a:t>
            </a:r>
            <a:r>
              <a:rPr lang="pt-BR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, Nome, </a:t>
            </a:r>
            <a:r>
              <a:rPr lang="pt-BR" b="0" i="0" u="none" strike="noStrike" dirty="0" err="1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NCred</a:t>
            </a:r>
            <a:r>
              <a:rPr lang="pt-BR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, </a:t>
            </a:r>
            <a:r>
              <a:rPr lang="pt-BR" b="0" i="0" u="none" strike="noStrike" dirty="0" err="1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Prof</a:t>
            </a:r>
            <a:r>
              <a:rPr lang="pt-BR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}</a:t>
            </a:r>
            <a:endParaRPr lang="pt-BR" b="0" dirty="0">
              <a:effectLst/>
            </a:endParaRPr>
          </a:p>
          <a:p>
            <a:pPr rtl="0">
              <a:spcBef>
                <a:spcPts val="600"/>
              </a:spcBef>
            </a:pPr>
            <a:r>
              <a:rPr lang="pt-BR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Turma = {</a:t>
            </a:r>
            <a:r>
              <a:rPr lang="pt-BR" b="0" i="0" u="sng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Sigla, Numero</a:t>
            </a:r>
            <a:r>
              <a:rPr lang="pt-BR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, </a:t>
            </a:r>
            <a:r>
              <a:rPr lang="pt-BR" b="0" i="0" u="none" strike="noStrike" dirty="0" err="1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NAlunos</a:t>
            </a:r>
            <a:r>
              <a:rPr lang="pt-BR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}</a:t>
            </a:r>
            <a:endParaRPr lang="pt-BR" b="0" dirty="0">
              <a:effectLst/>
            </a:endParaRPr>
          </a:p>
          <a:p>
            <a:pPr rtl="0">
              <a:spcBef>
                <a:spcPts val="600"/>
              </a:spcBef>
            </a:pPr>
            <a:r>
              <a:rPr lang="pt-BR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Matrícula = {</a:t>
            </a:r>
            <a:r>
              <a:rPr lang="pt-BR" b="0" i="0" u="sng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Sigla, Numero, Aluno, Ano</a:t>
            </a:r>
            <a:r>
              <a:rPr lang="pt-BR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, Nota}</a:t>
            </a:r>
            <a:endParaRPr lang="pt-BR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1789068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8D7CC1-C0E9-7978-5EFA-24F5FA993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Comandos DML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7A20B372-E711-9FC5-73BC-0B9F9432A3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8330" y="4065129"/>
            <a:ext cx="8878539" cy="1333686"/>
          </a:xfrm>
          <a:prstGeom prst="rect">
            <a:avLst/>
          </a:prstGeom>
        </p:spPr>
      </p:pic>
      <p:grpSp>
        <p:nvGrpSpPr>
          <p:cNvPr id="7" name="Agrupar 6">
            <a:extLst>
              <a:ext uri="{FF2B5EF4-FFF2-40B4-BE49-F238E27FC236}">
                <a16:creationId xmlns:a16="http://schemas.microsoft.com/office/drawing/2014/main" id="{2E87C30B-DFC7-7D87-6191-93A8E180898D}"/>
              </a:ext>
            </a:extLst>
          </p:cNvPr>
          <p:cNvGrpSpPr/>
          <p:nvPr/>
        </p:nvGrpSpPr>
        <p:grpSpPr>
          <a:xfrm>
            <a:off x="1748804" y="2168009"/>
            <a:ext cx="8888065" cy="1600423"/>
            <a:chOff x="2351879" y="2201876"/>
            <a:chExt cx="8888065" cy="1600423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70EDE4A2-22D6-E77B-074E-901C32E003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51879" y="2201876"/>
              <a:ext cx="8888065" cy="1600423"/>
            </a:xfrm>
            <a:prstGeom prst="rect">
              <a:avLst/>
            </a:prstGeom>
          </p:spPr>
        </p:pic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EA7C9918-7266-8750-F814-694067483B4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1277"/>
            <a:stretch/>
          </p:blipFill>
          <p:spPr>
            <a:xfrm>
              <a:off x="2436565" y="2878667"/>
              <a:ext cx="8682991" cy="834499"/>
            </a:xfrm>
            <a:prstGeom prst="rect">
              <a:avLst/>
            </a:prstGeom>
          </p:spPr>
        </p:pic>
      </p:grpSp>
      <p:sp>
        <p:nvSpPr>
          <p:cNvPr id="8" name="Retângulo 7">
            <a:extLst>
              <a:ext uri="{FF2B5EF4-FFF2-40B4-BE49-F238E27FC236}">
                <a16:creationId xmlns:a16="http://schemas.microsoft.com/office/drawing/2014/main" id="{6D0FE4FF-32A2-B2C2-DDFF-FA5248F6557C}"/>
              </a:ext>
            </a:extLst>
          </p:cNvPr>
          <p:cNvSpPr/>
          <p:nvPr/>
        </p:nvSpPr>
        <p:spPr>
          <a:xfrm>
            <a:off x="2856089" y="5759098"/>
            <a:ext cx="6208889" cy="9144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400" dirty="0"/>
              <a:t>Colunas que aceitam NULL, DEFAULT ou valor calculado</a:t>
            </a:r>
          </a:p>
        </p:txBody>
      </p:sp>
    </p:spTree>
    <p:extLst>
      <p:ext uri="{BB962C8B-B14F-4D97-AF65-F5344CB8AC3E}">
        <p14:creationId xmlns:p14="http://schemas.microsoft.com/office/powerpoint/2010/main" val="4132843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D51D82-9939-D5D3-E50D-73CC05298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Comandos DML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1EB624-A5A7-A705-B43E-52727D3299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Tabelas derivadas</a:t>
            </a:r>
          </a:p>
          <a:p>
            <a:pPr lvl="1"/>
            <a:r>
              <a:rPr lang="pt-BR" dirty="0"/>
              <a:t>Ex.: Crie uma tabela para os alunos de menor idade e insira com os alunos da tabela Aluno que têm menos de 18 anos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1452C41-C55E-93EE-0872-C506AE632900}"/>
              </a:ext>
            </a:extLst>
          </p:cNvPr>
          <p:cNvSpPr/>
          <p:nvPr/>
        </p:nvSpPr>
        <p:spPr>
          <a:xfrm>
            <a:off x="2765777" y="5304548"/>
            <a:ext cx="6208889" cy="9144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400" dirty="0"/>
              <a:t>Nova tabela precisa ter exatamente o mesmo esquema retornado pelo </a:t>
            </a:r>
            <a:r>
              <a:rPr lang="pt-BR" sz="2400" dirty="0" err="1"/>
              <a:t>Select</a:t>
            </a:r>
            <a:endParaRPr lang="pt-BR" sz="24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B06F452-2CF6-53FF-6CC2-F8A41FFEC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283" y="3595511"/>
            <a:ext cx="9383434" cy="1305107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545453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0DC5A8-F224-CEAD-8456-7F2C61308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Comandos DML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A1AC73E-463C-540B-78AF-84CEFC37B9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>
                <a:solidFill>
                  <a:schemeClr val="accent1"/>
                </a:solidFill>
              </a:rPr>
              <a:t>UPDATE </a:t>
            </a:r>
            <a:r>
              <a:rPr lang="pt-BR" dirty="0"/>
              <a:t>– modifica o valor de um atributo em uma ou mais tuplas da tabela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164B5AF-0F48-5FF4-E8D4-35EC560DD4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7428" y="3196904"/>
            <a:ext cx="7059010" cy="206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0474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D29A3-FFA5-8CFA-CA29-54B0617E2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232FA0-2CDF-CC34-A822-A06E694AC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Comandos DML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7E06B5A-3650-BB75-CE6D-43E533CE83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Atualize os seguintes dados: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Alterar para 70% a frequência de todos os alunos com nota acima de 5.0 e frequência abaixo de 70%</a:t>
            </a:r>
          </a:p>
          <a:p>
            <a:r>
              <a:rPr lang="pt-BR" dirty="0"/>
              <a:t>Acrescentar 1 crédito para as disciplinas de Sistemas de Informação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153F971-F16C-0D31-4F4B-FB5549E7CCB0}"/>
              </a:ext>
            </a:extLst>
          </p:cNvPr>
          <p:cNvSpPr txBox="1"/>
          <p:nvPr/>
        </p:nvSpPr>
        <p:spPr>
          <a:xfrm>
            <a:off x="6524978" y="1825625"/>
            <a:ext cx="5000978" cy="178510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rtl="0"/>
            <a:r>
              <a:rPr lang="pt-BR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Aluno = {</a:t>
            </a:r>
            <a:r>
              <a:rPr lang="pt-BR" b="0" i="0" u="sng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RA</a:t>
            </a:r>
            <a:r>
              <a:rPr lang="pt-BR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, CPF, RG, UF,  Nome, </a:t>
            </a:r>
            <a:r>
              <a:rPr lang="pt-BR" b="0" i="0" u="none" strike="noStrike" dirty="0" err="1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DataNasc</a:t>
            </a:r>
            <a:r>
              <a:rPr lang="pt-BR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}</a:t>
            </a:r>
            <a:endParaRPr lang="pt-BR" b="0" dirty="0">
              <a:effectLst/>
            </a:endParaRPr>
          </a:p>
          <a:p>
            <a:pPr rtl="0">
              <a:spcBef>
                <a:spcPts val="600"/>
              </a:spcBef>
            </a:pPr>
            <a:r>
              <a:rPr lang="pt-BR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Professor = {Nome, </a:t>
            </a:r>
            <a:r>
              <a:rPr lang="pt-BR" b="0" i="0" u="sng" dirty="0" err="1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NFunc</a:t>
            </a:r>
            <a:r>
              <a:rPr lang="pt-BR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, Titulação}</a:t>
            </a:r>
            <a:endParaRPr lang="pt-BR" b="0" dirty="0">
              <a:effectLst/>
            </a:endParaRPr>
          </a:p>
          <a:p>
            <a:pPr rtl="0">
              <a:spcBef>
                <a:spcPts val="600"/>
              </a:spcBef>
            </a:pPr>
            <a:r>
              <a:rPr lang="pt-BR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Disciplina = {</a:t>
            </a:r>
            <a:r>
              <a:rPr lang="pt-BR" b="0" i="0" u="sng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Sigla</a:t>
            </a:r>
            <a:r>
              <a:rPr lang="pt-BR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, Nome, </a:t>
            </a:r>
            <a:r>
              <a:rPr lang="pt-BR" b="0" i="0" u="none" strike="noStrike" dirty="0" err="1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NCred</a:t>
            </a:r>
            <a:r>
              <a:rPr lang="pt-BR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, </a:t>
            </a:r>
            <a:r>
              <a:rPr lang="pt-BR" b="0" i="0" u="none" strike="noStrike" dirty="0" err="1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Prof</a:t>
            </a:r>
            <a:r>
              <a:rPr lang="pt-BR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}</a:t>
            </a:r>
            <a:endParaRPr lang="pt-BR" b="0" dirty="0">
              <a:effectLst/>
            </a:endParaRPr>
          </a:p>
          <a:p>
            <a:pPr rtl="0">
              <a:spcBef>
                <a:spcPts val="600"/>
              </a:spcBef>
            </a:pPr>
            <a:r>
              <a:rPr lang="pt-BR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Turma = {</a:t>
            </a:r>
            <a:r>
              <a:rPr lang="pt-BR" b="0" i="0" u="sng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Sigla, Numero</a:t>
            </a:r>
            <a:r>
              <a:rPr lang="pt-BR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, </a:t>
            </a:r>
            <a:r>
              <a:rPr lang="pt-BR" b="0" i="0" u="none" strike="noStrike" dirty="0" err="1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NAlunos</a:t>
            </a:r>
            <a:r>
              <a:rPr lang="pt-BR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}</a:t>
            </a:r>
            <a:endParaRPr lang="pt-BR" b="0" dirty="0">
              <a:effectLst/>
            </a:endParaRPr>
          </a:p>
          <a:p>
            <a:pPr rtl="0">
              <a:spcBef>
                <a:spcPts val="600"/>
              </a:spcBef>
            </a:pPr>
            <a:r>
              <a:rPr lang="pt-BR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Matrícula = {</a:t>
            </a:r>
            <a:r>
              <a:rPr lang="pt-BR" b="0" i="0" u="sng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Sigla, Numero, Aluno, Ano</a:t>
            </a:r>
            <a:r>
              <a:rPr lang="pt-BR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, Nota}</a:t>
            </a:r>
            <a:endParaRPr lang="pt-BR" b="0" dirty="0">
              <a:effectLst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230FFCB-C6AB-E893-6B4F-3C05F2BC6A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6114" y="3563083"/>
            <a:ext cx="7611537" cy="876422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6BE19662-2C3D-9A1E-E0EB-F27EC317A8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8009" y="5809293"/>
            <a:ext cx="7687748" cy="838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528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C9C9B-E70D-B2FE-7A92-926A1CF4F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047368-A45F-DAAD-5899-E90B0BA1A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Comandos DML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548F6B1-E622-F15A-1F5C-745735419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>
                <a:solidFill>
                  <a:schemeClr val="accent1"/>
                </a:solidFill>
              </a:rPr>
              <a:t>DELETE </a:t>
            </a:r>
            <a:r>
              <a:rPr lang="pt-BR" dirty="0"/>
              <a:t>– remove uma ou mais tuplas de uma tabela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EEC6D52-073D-13D4-D2B8-1C7CD54DE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3653" y="2966973"/>
            <a:ext cx="6944694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5247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3018C-E0A4-A737-DE23-EEF403045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1927D8-E00B-BF09-BF6C-A85275485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Comandos DML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E53A409-17FD-D014-DFA3-EEF789B25A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Remova os seguintes dados: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Matrícula dos alunos da Turma 2 da Disciplina SCC240</a:t>
            </a:r>
          </a:p>
          <a:p>
            <a:r>
              <a:rPr lang="pt-BR" dirty="0"/>
              <a:t>Matrículas de alunos com 16 anos ou menos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0254B37-41D9-A4BC-E562-2C8C7028F85A}"/>
              </a:ext>
            </a:extLst>
          </p:cNvPr>
          <p:cNvSpPr txBox="1"/>
          <p:nvPr/>
        </p:nvSpPr>
        <p:spPr>
          <a:xfrm>
            <a:off x="6524978" y="1825625"/>
            <a:ext cx="5000978" cy="178510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rtl="0"/>
            <a:r>
              <a:rPr lang="pt-BR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Aluno = {</a:t>
            </a:r>
            <a:r>
              <a:rPr lang="pt-BR" b="0" i="0" u="sng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RA</a:t>
            </a:r>
            <a:r>
              <a:rPr lang="pt-BR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, CPF, RG, UF,  Nome, </a:t>
            </a:r>
            <a:r>
              <a:rPr lang="pt-BR" b="0" i="0" u="none" strike="noStrike" dirty="0" err="1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DataNasc</a:t>
            </a:r>
            <a:r>
              <a:rPr lang="pt-BR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}</a:t>
            </a:r>
            <a:endParaRPr lang="pt-BR" b="0" dirty="0">
              <a:effectLst/>
            </a:endParaRPr>
          </a:p>
          <a:p>
            <a:pPr rtl="0">
              <a:spcBef>
                <a:spcPts val="600"/>
              </a:spcBef>
            </a:pPr>
            <a:r>
              <a:rPr lang="pt-BR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Professor = {Nome, </a:t>
            </a:r>
            <a:r>
              <a:rPr lang="pt-BR" b="0" i="0" u="sng" dirty="0" err="1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NFunc</a:t>
            </a:r>
            <a:r>
              <a:rPr lang="pt-BR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, Titulação}</a:t>
            </a:r>
            <a:endParaRPr lang="pt-BR" b="0" dirty="0">
              <a:effectLst/>
            </a:endParaRPr>
          </a:p>
          <a:p>
            <a:pPr rtl="0">
              <a:spcBef>
                <a:spcPts val="600"/>
              </a:spcBef>
            </a:pPr>
            <a:r>
              <a:rPr lang="pt-BR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Disciplina = {</a:t>
            </a:r>
            <a:r>
              <a:rPr lang="pt-BR" b="0" i="0" u="sng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Sigla</a:t>
            </a:r>
            <a:r>
              <a:rPr lang="pt-BR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, Nome, </a:t>
            </a:r>
            <a:r>
              <a:rPr lang="pt-BR" b="0" i="0" u="none" strike="noStrike" dirty="0" err="1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NCred</a:t>
            </a:r>
            <a:r>
              <a:rPr lang="pt-BR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, </a:t>
            </a:r>
            <a:r>
              <a:rPr lang="pt-BR" b="0" i="0" u="none" strike="noStrike" dirty="0" err="1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Prof</a:t>
            </a:r>
            <a:r>
              <a:rPr lang="pt-BR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}</a:t>
            </a:r>
            <a:endParaRPr lang="pt-BR" b="0" dirty="0">
              <a:effectLst/>
            </a:endParaRPr>
          </a:p>
          <a:p>
            <a:pPr rtl="0">
              <a:spcBef>
                <a:spcPts val="600"/>
              </a:spcBef>
            </a:pPr>
            <a:r>
              <a:rPr lang="pt-BR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Turma = {</a:t>
            </a:r>
            <a:r>
              <a:rPr lang="pt-BR" b="0" i="0" u="sng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Sigla, Numero</a:t>
            </a:r>
            <a:r>
              <a:rPr lang="pt-BR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, </a:t>
            </a:r>
            <a:r>
              <a:rPr lang="pt-BR" b="0" i="0" u="none" strike="noStrike" dirty="0" err="1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NAlunos</a:t>
            </a:r>
            <a:r>
              <a:rPr lang="pt-BR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}</a:t>
            </a:r>
            <a:endParaRPr lang="pt-BR" b="0" dirty="0">
              <a:effectLst/>
            </a:endParaRPr>
          </a:p>
          <a:p>
            <a:pPr rtl="0">
              <a:spcBef>
                <a:spcPts val="600"/>
              </a:spcBef>
            </a:pPr>
            <a:r>
              <a:rPr lang="pt-BR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Matrícula = {</a:t>
            </a:r>
            <a:r>
              <a:rPr lang="pt-BR" b="0" i="0" u="sng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Sigla, Numero, Aluno, Ano</a:t>
            </a:r>
            <a:r>
              <a:rPr lang="pt-BR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, Nota}</a:t>
            </a:r>
            <a:endParaRPr lang="pt-BR" b="0" dirty="0">
              <a:effectLst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4588556-D4B9-12ED-6B54-752A9333E6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3621" y="3572609"/>
            <a:ext cx="7706801" cy="85737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2807D63-907C-DB15-CD9A-0527CD9494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0343" y="5610146"/>
            <a:ext cx="8640381" cy="113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758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CB0F9-71DB-72FC-36E6-3AE8FC0B9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F9959A-2CC1-97B6-8D21-AAD096B11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– Inserir dados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33D81F4-C849-C6A9-CCA0-B6CC6F253DFB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C6636F7-65E9-23DD-F6DF-65EF316C6871}"/>
              </a:ext>
            </a:extLst>
          </p:cNvPr>
          <p:cNvSpPr txBox="1"/>
          <p:nvPr/>
        </p:nvSpPr>
        <p:spPr>
          <a:xfrm>
            <a:off x="467458" y="1492652"/>
            <a:ext cx="468134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1"/>
            <a:r>
              <a:rPr lang="pt-BR" b="1" dirty="0"/>
              <a:t>Professor</a:t>
            </a:r>
            <a:r>
              <a:rPr lang="pt-BR" dirty="0"/>
              <a:t>:</a:t>
            </a:r>
          </a:p>
          <a:p>
            <a:pPr lvl="2"/>
            <a:r>
              <a:rPr lang="pt-BR" dirty="0"/>
              <a:t>(101, 'Carlos Mendes', 'Doutor'),</a:t>
            </a:r>
          </a:p>
          <a:p>
            <a:pPr lvl="2"/>
            <a:r>
              <a:rPr lang="pt-BR" dirty="0"/>
              <a:t>(102, 'Ana Beatriz', 'Mestre'),</a:t>
            </a:r>
          </a:p>
          <a:p>
            <a:pPr lvl="2"/>
            <a:r>
              <a:rPr lang="pt-BR" dirty="0"/>
              <a:t>(103, 'Roberto Lima', 'Doutor'),</a:t>
            </a:r>
          </a:p>
          <a:p>
            <a:pPr lvl="2"/>
            <a:r>
              <a:rPr lang="pt-BR" dirty="0"/>
              <a:t>(104, 'Fernanda Costa', 'Especialista’);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F71338F-2863-4D90-A0B5-F3EA2ADFF50F}"/>
              </a:ext>
            </a:extLst>
          </p:cNvPr>
          <p:cNvSpPr txBox="1"/>
          <p:nvPr/>
        </p:nvSpPr>
        <p:spPr>
          <a:xfrm>
            <a:off x="358266" y="3047534"/>
            <a:ext cx="550253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pt-BR" b="1" dirty="0"/>
              <a:t>Disciplina</a:t>
            </a:r>
          </a:p>
          <a:p>
            <a:pPr lvl="2"/>
            <a:r>
              <a:rPr lang="pt-BR" dirty="0"/>
              <a:t>('BD1',   'Banco de Dados 1',        4, 101),</a:t>
            </a:r>
          </a:p>
          <a:p>
            <a:pPr lvl="2"/>
            <a:r>
              <a:rPr lang="pt-BR" dirty="0"/>
              <a:t>('BD2',   'Banco de Dados 2',        4, 101),</a:t>
            </a:r>
          </a:p>
          <a:p>
            <a:pPr lvl="2"/>
            <a:r>
              <a:rPr lang="pt-BR" dirty="0"/>
              <a:t>('ALG1',  'Algoritmos 1',            6, 102),</a:t>
            </a:r>
          </a:p>
          <a:p>
            <a:pPr lvl="2"/>
            <a:r>
              <a:rPr lang="pt-BR" dirty="0"/>
              <a:t>('CALC1', 'Cálculo 1',               6, 103),</a:t>
            </a:r>
          </a:p>
          <a:p>
            <a:pPr lvl="2"/>
            <a:r>
              <a:rPr lang="pt-BR" dirty="0"/>
              <a:t>('REDES', 'Redes de Computadores',   4, NULL); 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4E205CE-FB9E-935A-A1AD-33F77DE21A1F}"/>
              </a:ext>
            </a:extLst>
          </p:cNvPr>
          <p:cNvSpPr txBox="1"/>
          <p:nvPr/>
        </p:nvSpPr>
        <p:spPr>
          <a:xfrm>
            <a:off x="807146" y="4826675"/>
            <a:ext cx="217335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Turma</a:t>
            </a:r>
            <a:r>
              <a:rPr lang="pt-BR" dirty="0"/>
              <a:t> </a:t>
            </a:r>
          </a:p>
          <a:p>
            <a:pPr lvl="1"/>
            <a:r>
              <a:rPr lang="pt-BR" dirty="0"/>
              <a:t>('BD1',   1, 35),</a:t>
            </a:r>
          </a:p>
          <a:p>
            <a:pPr lvl="1"/>
            <a:r>
              <a:rPr lang="pt-BR" dirty="0"/>
              <a:t>('BD1',   2, 28),</a:t>
            </a:r>
          </a:p>
          <a:p>
            <a:pPr lvl="1"/>
            <a:r>
              <a:rPr lang="pt-BR" dirty="0"/>
              <a:t>('ALG1',  1, 40),</a:t>
            </a:r>
          </a:p>
          <a:p>
            <a:pPr lvl="1"/>
            <a:r>
              <a:rPr lang="pt-BR" dirty="0"/>
              <a:t>('CALC1', 1, 25),</a:t>
            </a:r>
          </a:p>
          <a:p>
            <a:pPr lvl="1"/>
            <a:r>
              <a:rPr lang="pt-BR" dirty="0"/>
              <a:t>('BD2',   1, 20),</a:t>
            </a:r>
          </a:p>
          <a:p>
            <a:pPr lvl="1"/>
            <a:r>
              <a:rPr lang="pt-BR" dirty="0"/>
              <a:t>('REDES', 1, 15); 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2F1C59E-56EF-8B3C-751E-D66ABD028761}"/>
              </a:ext>
            </a:extLst>
          </p:cNvPr>
          <p:cNvSpPr txBox="1"/>
          <p:nvPr/>
        </p:nvSpPr>
        <p:spPr>
          <a:xfrm>
            <a:off x="6002940" y="1674674"/>
            <a:ext cx="581377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Aluno</a:t>
            </a:r>
          </a:p>
          <a:p>
            <a:pPr lvl="1"/>
            <a:r>
              <a:rPr lang="pt-BR" dirty="0"/>
              <a:t>(1001, '111.111.111-11', 'João Silva',     '2001-03-15'),</a:t>
            </a:r>
          </a:p>
          <a:p>
            <a:pPr lvl="1"/>
            <a:r>
              <a:rPr lang="pt-BR" dirty="0"/>
              <a:t>(1002, '222.222.222-22', 'Maria Souza',    '2000-07-22'),</a:t>
            </a:r>
          </a:p>
          <a:p>
            <a:pPr lvl="1"/>
            <a:r>
              <a:rPr lang="pt-BR" dirty="0"/>
              <a:t>(1003, '333.333.333-33', 'Pedro Santos',   '2002-01-10'),</a:t>
            </a:r>
          </a:p>
          <a:p>
            <a:pPr lvl="1"/>
            <a:r>
              <a:rPr lang="pt-BR" dirty="0"/>
              <a:t>(1004, '444.444.444-44', 'Juliana Alves',  '1999-11-05'),</a:t>
            </a:r>
          </a:p>
          <a:p>
            <a:pPr lvl="1"/>
            <a:r>
              <a:rPr lang="pt-BR" dirty="0"/>
              <a:t>(1005, '555.555.555-55', 'Lucas Pereira',  '2001-09-30');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82E5D93C-A383-26E6-99D2-D8A8D9838E5B}"/>
              </a:ext>
            </a:extLst>
          </p:cNvPr>
          <p:cNvSpPr txBox="1"/>
          <p:nvPr/>
        </p:nvSpPr>
        <p:spPr>
          <a:xfrm>
            <a:off x="6015416" y="3613665"/>
            <a:ext cx="5338384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Matricula</a:t>
            </a:r>
          </a:p>
          <a:p>
            <a:pPr lvl="1"/>
            <a:r>
              <a:rPr lang="pt-BR" dirty="0"/>
              <a:t>('BD1',   1, 1001, 2023, 8.5),</a:t>
            </a:r>
          </a:p>
          <a:p>
            <a:pPr lvl="1"/>
            <a:r>
              <a:rPr lang="pt-BR" dirty="0"/>
              <a:t>('BD1',   1, 1002, 2023, 5.5),</a:t>
            </a:r>
          </a:p>
          <a:p>
            <a:pPr lvl="1"/>
            <a:r>
              <a:rPr lang="pt-BR" dirty="0"/>
              <a:t>('BD1',   1, 1003, 2023, NULL),  -- nota não lançada</a:t>
            </a:r>
          </a:p>
          <a:p>
            <a:pPr lvl="1"/>
            <a:r>
              <a:rPr lang="pt-BR" dirty="0"/>
              <a:t>('BD1',   2, 1004, 2023, 9.0),</a:t>
            </a:r>
          </a:p>
          <a:p>
            <a:pPr lvl="1"/>
            <a:r>
              <a:rPr lang="pt-BR" dirty="0"/>
              <a:t>('ALG1',  1, 1001, 2023, 6.0),</a:t>
            </a:r>
          </a:p>
          <a:p>
            <a:pPr lvl="1"/>
            <a:r>
              <a:rPr lang="pt-BR" dirty="0"/>
              <a:t>('ALG1',  1, 1002, 2023, 3.5),</a:t>
            </a:r>
          </a:p>
          <a:p>
            <a:pPr lvl="1"/>
            <a:r>
              <a:rPr lang="pt-BR" dirty="0"/>
              <a:t>('CALC1', 1, 1003, 2023, 7.0),</a:t>
            </a:r>
          </a:p>
          <a:p>
            <a:pPr lvl="1"/>
            <a:r>
              <a:rPr lang="pt-BR" dirty="0"/>
              <a:t>('CALC1', 1, 1004, 2023, 4.5),</a:t>
            </a:r>
          </a:p>
          <a:p>
            <a:pPr lvl="1"/>
            <a:r>
              <a:rPr lang="pt-BR" dirty="0"/>
              <a:t>('BD2',   1, 1001, 2024, 9.5),</a:t>
            </a:r>
          </a:p>
          <a:p>
            <a:pPr lvl="1"/>
            <a:r>
              <a:rPr lang="pt-BR" dirty="0"/>
              <a:t>('BD2',   1, 1004, 2024, 8.0);</a:t>
            </a:r>
          </a:p>
        </p:txBody>
      </p:sp>
    </p:spTree>
    <p:extLst>
      <p:ext uri="{BB962C8B-B14F-4D97-AF65-F5344CB8AC3E}">
        <p14:creationId xmlns:p14="http://schemas.microsoft.com/office/powerpoint/2010/main" val="3739174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6FE86-1C91-0C83-B4ED-7B4442022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9F1003-613D-4F2F-762C-E8603CACC1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SQL Básico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DML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DQL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DCL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TCL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971550" lvl="1" indent="-51435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romanLcPeriod"/>
            </a:pPr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E2DF8B5-EE66-5332-2CA5-947AB82DB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Agenda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3DD5B1C-4133-8714-B389-DB93A67A61AA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31101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25828-60F7-8BCF-868B-E1E1A4E40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6B798C-1CFA-7D6B-FDDF-681FD1E48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Categorias de comandos SQL</a:t>
            </a:r>
          </a:p>
        </p:txBody>
      </p:sp>
      <p:pic>
        <p:nvPicPr>
          <p:cNvPr id="1026" name="Picture 2" descr="sql commands categories">
            <a:extLst>
              <a:ext uri="{FF2B5EF4-FFF2-40B4-BE49-F238E27FC236}">
                <a16:creationId xmlns:a16="http://schemas.microsoft.com/office/drawing/2014/main" id="{D78CE270-4CD1-2DB9-E3A8-B3649F6DD6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5088" y="1639069"/>
            <a:ext cx="6135789" cy="5150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EEDC1C15-C144-3102-F0F8-51BAF97F7AAD}"/>
              </a:ext>
            </a:extLst>
          </p:cNvPr>
          <p:cNvSpPr/>
          <p:nvPr/>
        </p:nvSpPr>
        <p:spPr>
          <a:xfrm>
            <a:off x="6175023" y="2327274"/>
            <a:ext cx="1219200" cy="13255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82334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296E89-F640-10AB-4DE1-3F4014AAC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Comando DQL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9DBC7E2-3B01-4568-1A56-1067ADAE7C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>
                <a:solidFill>
                  <a:schemeClr val="accent1"/>
                </a:solidFill>
              </a:rPr>
              <a:t>SELECT</a:t>
            </a:r>
            <a:r>
              <a:rPr lang="pt-BR" dirty="0"/>
              <a:t> – recupera os dados de uma ou mais tabelas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B6A97DF-624A-2C9A-044E-80FBA42D49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9170" y="2548975"/>
            <a:ext cx="8049748" cy="394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8536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A998F6-96C3-14BB-AFFD-7370EB1F8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Comando DQL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1FE3A67-2818-C63D-9168-541CECAD52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2C9BCE7-9E6D-5558-40DF-53695632A9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985" b="45252"/>
          <a:stretch/>
        </p:blipFill>
        <p:spPr>
          <a:xfrm>
            <a:off x="2660302" y="1598394"/>
            <a:ext cx="7052734" cy="2303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8299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4CF042-E3F0-FD6A-2EAC-4DCB3B726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Comando DQL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A1AE940-B73E-2F6E-4D76-8A2A06E62A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1AF92C3-08CD-DC09-A53F-DC3C85C60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4169" y="1556559"/>
            <a:ext cx="6803662" cy="5301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2408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BAAB11-29FF-7AC0-E7D6-CA7D400DD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Comando DQL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C3E4568-179E-E1C5-BE70-D30A5D57A2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Exemplo:</a:t>
            </a:r>
          </a:p>
          <a:p>
            <a:pPr lvl="1"/>
            <a:r>
              <a:rPr lang="pt-BR" dirty="0"/>
              <a:t>Selecionar nome, RA e data de nascimento de todos os alunos que vieram de São Paulo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0B90ADA-E961-D199-B558-F108E7A7CA47}"/>
              </a:ext>
            </a:extLst>
          </p:cNvPr>
          <p:cNvSpPr txBox="1"/>
          <p:nvPr/>
        </p:nvSpPr>
        <p:spPr>
          <a:xfrm>
            <a:off x="2856088" y="3624912"/>
            <a:ext cx="667173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pt-BR" sz="2000" b="1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select</a:t>
            </a:r>
            <a:r>
              <a:rPr lang="pt-BR" sz="2000" b="1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Nome, RA, </a:t>
            </a:r>
            <a:r>
              <a:rPr lang="pt-BR" sz="2000" b="1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DataNasc</a:t>
            </a:r>
            <a:endParaRPr lang="pt-BR" sz="2000" b="0" dirty="0">
              <a:effectLst/>
            </a:endParaRPr>
          </a:p>
          <a:p>
            <a:pPr rtl="0"/>
            <a:r>
              <a:rPr lang="pt-BR" sz="2000" b="1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pt-BR" sz="2000" b="1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Aluno</a:t>
            </a:r>
            <a:endParaRPr lang="pt-BR" sz="2000" b="0" dirty="0">
              <a:effectLst/>
            </a:endParaRPr>
          </a:p>
          <a:p>
            <a:r>
              <a:rPr lang="pt-BR" sz="2000" b="1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where</a:t>
            </a:r>
            <a:r>
              <a:rPr lang="pt-BR" sz="2000" b="1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sz="2000" b="1" i="0" u="none" strike="noStrike" dirty="0">
                <a:solidFill>
                  <a:srgbClr val="000099"/>
                </a:solidFill>
                <a:effectLst/>
                <a:latin typeface="Courier New" panose="02070309020205020404" pitchFamily="49" charset="0"/>
              </a:rPr>
              <a:t>UPPER(</a:t>
            </a:r>
            <a:r>
              <a:rPr lang="pt-BR" sz="2000" b="1" i="0" u="none" strike="noStrike" dirty="0" err="1">
                <a:solidFill>
                  <a:srgbClr val="000099"/>
                </a:solidFill>
                <a:effectLst/>
                <a:latin typeface="Courier New" panose="02070309020205020404" pitchFamily="49" charset="0"/>
              </a:rPr>
              <a:t>CidadeOrigem</a:t>
            </a:r>
            <a:r>
              <a:rPr lang="pt-BR" sz="2000" b="1" i="0" u="none" strike="noStrike" dirty="0">
                <a:solidFill>
                  <a:srgbClr val="000099"/>
                </a:solidFill>
                <a:effectLst/>
                <a:latin typeface="Courier New" panose="02070309020205020404" pitchFamily="49" charset="0"/>
              </a:rPr>
              <a:t>) = </a:t>
            </a:r>
            <a:r>
              <a:rPr lang="pt-BR" sz="2000" b="1" i="0" u="none" strike="noStrike" dirty="0">
                <a:solidFill>
                  <a:srgbClr val="3333CC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pt-BR" sz="2000" b="1" i="0" u="none" strike="noStrike" dirty="0">
                <a:solidFill>
                  <a:srgbClr val="000099"/>
                </a:solidFill>
                <a:effectLst/>
                <a:latin typeface="Courier New" panose="02070309020205020404" pitchFamily="49" charset="0"/>
              </a:rPr>
              <a:t>SAO PAULO</a:t>
            </a:r>
            <a:r>
              <a:rPr lang="pt-BR" sz="2000" b="1" i="0" u="none" strike="noStrike" dirty="0">
                <a:solidFill>
                  <a:srgbClr val="3333CC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pt-BR" sz="2000" b="1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;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284241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E194D7-6A89-378A-8CE4-49F8D3870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Comando DQL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4F5CDE2-5270-3435-927B-7AA7FC7EB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Junções entre tabelas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51C8E87-5542-B323-7094-44335E38A4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8353" y="2548975"/>
            <a:ext cx="7459116" cy="394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0342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2756CA-2330-1924-A91F-2410FF279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Comando DQL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7B9212D-9CB3-CCD0-A45C-47E8669D4A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Junção interna (INNER JOIN)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26D8DC1-37CC-8988-9430-53105FA5F2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5037" y="2491817"/>
            <a:ext cx="7325747" cy="400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4556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1E966A-A28C-E02C-F3EB-C88B5839E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Comando DQL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A2751EA-B043-2A06-5BFA-75EEB76D20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Junção interna (</a:t>
            </a:r>
            <a:r>
              <a:rPr lang="pt-BR" b="1" dirty="0"/>
              <a:t>INNER JOIN</a:t>
            </a:r>
            <a:r>
              <a:rPr lang="pt-BR" dirty="0"/>
              <a:t>)</a:t>
            </a:r>
          </a:p>
          <a:p>
            <a:pPr>
              <a:spcBef>
                <a:spcPts val="2400"/>
              </a:spcBef>
            </a:pPr>
            <a:r>
              <a:rPr lang="pt-BR" dirty="0"/>
              <a:t>Operação importante em bases de dados relacionais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usada para combinar tuplas (relacionadas) de </a:t>
            </a:r>
            <a:r>
              <a:rPr lang="pt-BR" b="1" dirty="0"/>
              <a:t>diferentes relações em uma única tupla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permite processamento de relacionamentos entre relações 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muito usada com </a:t>
            </a:r>
            <a:r>
              <a:rPr lang="pt-BR" b="1" dirty="0"/>
              <a:t>relações vinculadas por chave estrangeira</a:t>
            </a:r>
          </a:p>
        </p:txBody>
      </p:sp>
    </p:spTree>
    <p:extLst>
      <p:ext uri="{BB962C8B-B14F-4D97-AF65-F5344CB8AC3E}">
        <p14:creationId xmlns:p14="http://schemas.microsoft.com/office/powerpoint/2010/main" val="17119787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5E90AD-F7CB-78F4-A2C3-33AA46ACF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Comando DQL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888E2AF-9DB0-4CBB-E7ED-0AC930B0537A}"/>
              </a:ext>
            </a:extLst>
          </p:cNvPr>
          <p:cNvSpPr txBox="1"/>
          <p:nvPr/>
        </p:nvSpPr>
        <p:spPr>
          <a:xfrm>
            <a:off x="1862667" y="2013926"/>
            <a:ext cx="25061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Aluno = {Nome, </a:t>
            </a:r>
            <a:r>
              <a:rPr lang="pt-BR" sz="1800" b="0" i="0" u="sng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RA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} </a:t>
            </a:r>
            <a:endParaRPr lang="pt-BR" b="0" dirty="0">
              <a:effectLst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6304092-B832-82C7-D34A-0A8274B149DC}"/>
              </a:ext>
            </a:extLst>
          </p:cNvPr>
          <p:cNvSpPr txBox="1"/>
          <p:nvPr/>
        </p:nvSpPr>
        <p:spPr>
          <a:xfrm>
            <a:off x="6096000" y="2013926"/>
            <a:ext cx="43575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Matricula= {</a:t>
            </a:r>
            <a:r>
              <a:rPr lang="pt-BR" sz="1800" b="0" i="0" u="sng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Sigla, Numero, Aluno, Ano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} </a:t>
            </a:r>
            <a:endParaRPr lang="pt-BR" b="0" dirty="0">
              <a:effectLst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9080348-FB75-904E-ED66-FC68FAB7D11A}"/>
              </a:ext>
            </a:extLst>
          </p:cNvPr>
          <p:cNvSpPr txBox="1"/>
          <p:nvPr/>
        </p:nvSpPr>
        <p:spPr>
          <a:xfrm>
            <a:off x="2743200" y="2409205"/>
            <a:ext cx="2235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{&lt;Zeca, 11111&gt;,</a:t>
            </a:r>
            <a:endParaRPr lang="pt-BR" b="0" dirty="0">
              <a:effectLst/>
            </a:endParaRPr>
          </a:p>
          <a:p>
            <a:pPr rtl="0"/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 &lt;Zico, 22222&gt;,</a:t>
            </a:r>
            <a:endParaRPr lang="pt-BR" b="0" dirty="0">
              <a:effectLst/>
            </a:endParaRPr>
          </a:p>
          <a:p>
            <a:pPr rtl="0"/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 &lt;Juca, 33333&gt;,</a:t>
            </a:r>
            <a:endParaRPr lang="pt-BR" b="0" dirty="0">
              <a:effectLst/>
            </a:endParaRPr>
          </a:p>
          <a:p>
            <a:pPr rtl="0"/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 &lt;Tuca, 44444&gt; }</a:t>
            </a:r>
            <a:endParaRPr lang="pt-BR" b="0" dirty="0">
              <a:effectLst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9542566A-5F91-6D86-F96B-58397A2AA226}"/>
              </a:ext>
            </a:extLst>
          </p:cNvPr>
          <p:cNvSpPr txBox="1"/>
          <p:nvPr/>
        </p:nvSpPr>
        <p:spPr>
          <a:xfrm>
            <a:off x="7213602" y="2426330"/>
            <a:ext cx="364631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{&lt;SCC-125, 1, 11111, 2010&gt;,</a:t>
            </a:r>
            <a:endParaRPr lang="pt-BR" b="0" dirty="0">
              <a:effectLst/>
            </a:endParaRPr>
          </a:p>
          <a:p>
            <a:pPr rtl="0"/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 &lt;SCC-148, 1, 11111, 2010&gt;,</a:t>
            </a:r>
            <a:endParaRPr lang="pt-BR" b="0" dirty="0">
              <a:effectLst/>
            </a:endParaRPr>
          </a:p>
          <a:p>
            <a:pPr rtl="0"/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 &lt;SCC-125, 2, 22222, 2010&gt;,</a:t>
            </a:r>
            <a:endParaRPr lang="pt-BR" b="0" dirty="0">
              <a:effectLst/>
            </a:endParaRPr>
          </a:p>
          <a:p>
            <a:pPr rtl="0"/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 &lt;SCC-148, 1, 22222, 2009&gt;}</a:t>
            </a:r>
            <a:endParaRPr lang="pt-BR" b="0" dirty="0">
              <a:effectLst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5B330E36-0396-1C52-EBB7-5BFD5B4D3DDB}"/>
              </a:ext>
            </a:extLst>
          </p:cNvPr>
          <p:cNvSpPr txBox="1"/>
          <p:nvPr/>
        </p:nvSpPr>
        <p:spPr>
          <a:xfrm>
            <a:off x="2743200" y="3874578"/>
            <a:ext cx="6096000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rtl="0"/>
            <a:r>
              <a:rPr lang="pt-BR" sz="2400" b="1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select</a:t>
            </a:r>
            <a:r>
              <a:rPr lang="pt-BR" sz="2400" b="1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sz="2400" b="1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A.nome</a:t>
            </a:r>
            <a:r>
              <a:rPr lang="pt-BR" sz="2400" b="1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A.RA, </a:t>
            </a:r>
            <a:r>
              <a:rPr lang="pt-BR" sz="2400" b="1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M.sigla</a:t>
            </a:r>
            <a:endParaRPr lang="pt-BR" sz="2400" b="0" dirty="0">
              <a:effectLst/>
            </a:endParaRPr>
          </a:p>
          <a:p>
            <a:pPr rtl="0"/>
            <a:r>
              <a:rPr lang="pt-BR" sz="2400" b="1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pt-BR" sz="2400" b="1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Aluno </a:t>
            </a:r>
            <a:r>
              <a:rPr lang="pt-BR" sz="2400" b="1" i="0" u="none" strike="noStrike" dirty="0">
                <a:solidFill>
                  <a:srgbClr val="000099"/>
                </a:solidFill>
                <a:effectLst/>
                <a:latin typeface="Courier New" panose="02070309020205020404" pitchFamily="49" charset="0"/>
              </a:rPr>
              <a:t>A</a:t>
            </a:r>
            <a:r>
              <a:rPr lang="pt-BR" sz="2400" b="1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Matricula </a:t>
            </a:r>
            <a:r>
              <a:rPr lang="pt-BR" sz="2400" b="1" i="0" u="none" strike="noStrike" dirty="0">
                <a:solidFill>
                  <a:srgbClr val="000099"/>
                </a:solidFill>
                <a:effectLst/>
                <a:latin typeface="Courier New" panose="02070309020205020404" pitchFamily="49" charset="0"/>
              </a:rPr>
              <a:t>M</a:t>
            </a:r>
            <a:endParaRPr lang="pt-BR" sz="2400" b="0" dirty="0">
              <a:effectLst/>
            </a:endParaRPr>
          </a:p>
          <a:p>
            <a:r>
              <a:rPr lang="pt-BR" sz="2400" b="1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where</a:t>
            </a:r>
            <a:r>
              <a:rPr lang="pt-BR" sz="2400" b="1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sz="2400" b="1" i="0" u="none" strike="noStrike" dirty="0" err="1">
                <a:solidFill>
                  <a:srgbClr val="000099"/>
                </a:solidFill>
                <a:effectLst/>
                <a:latin typeface="Courier New" panose="02070309020205020404" pitchFamily="49" charset="0"/>
              </a:rPr>
              <a:t>A.nusp</a:t>
            </a:r>
            <a:r>
              <a:rPr lang="pt-BR" sz="2400" b="1" i="0" u="none" strike="noStrike" dirty="0">
                <a:solidFill>
                  <a:srgbClr val="000099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pt-BR" sz="2400" b="1" i="0" u="none" strike="noStrike" dirty="0" err="1">
                <a:solidFill>
                  <a:srgbClr val="000099"/>
                </a:solidFill>
                <a:effectLst/>
                <a:latin typeface="Courier New" panose="02070309020205020404" pitchFamily="49" charset="0"/>
              </a:rPr>
              <a:t>M.aluno</a:t>
            </a:r>
            <a:r>
              <a:rPr lang="pt-BR" sz="2400" b="1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;</a:t>
            </a:r>
            <a:endParaRPr lang="pt-BR" sz="2400" dirty="0"/>
          </a:p>
        </p:txBody>
      </p:sp>
      <p:cxnSp>
        <p:nvCxnSpPr>
          <p:cNvPr id="19" name="Conector: Angulado 18">
            <a:extLst>
              <a:ext uri="{FF2B5EF4-FFF2-40B4-BE49-F238E27FC236}">
                <a16:creationId xmlns:a16="http://schemas.microsoft.com/office/drawing/2014/main" id="{BE093BE2-7551-3F9C-48AD-697E31EDAC3C}"/>
              </a:ext>
            </a:extLst>
          </p:cNvPr>
          <p:cNvCxnSpPr>
            <a:cxnSpLocks/>
          </p:cNvCxnSpPr>
          <p:nvPr/>
        </p:nvCxnSpPr>
        <p:spPr>
          <a:xfrm rot="10800000">
            <a:off x="3657600" y="1885202"/>
            <a:ext cx="5588000" cy="128724"/>
          </a:xfrm>
          <a:prstGeom prst="curved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328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96DF3-1BAB-E0F9-A7F8-119082A88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B00637-4082-45CE-B044-058342752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Comando DQL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383AE72-4A1C-825F-5E89-0D24954510EB}"/>
              </a:ext>
            </a:extLst>
          </p:cNvPr>
          <p:cNvSpPr txBox="1"/>
          <p:nvPr/>
        </p:nvSpPr>
        <p:spPr>
          <a:xfrm>
            <a:off x="1862667" y="2013926"/>
            <a:ext cx="25061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Aluno = {Nome, </a:t>
            </a:r>
            <a:r>
              <a:rPr lang="pt-BR" sz="1800" b="0" i="0" u="sng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RA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} </a:t>
            </a:r>
            <a:endParaRPr lang="pt-BR" b="0" dirty="0">
              <a:effectLst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8290B72-224F-4252-6951-8460F018539F}"/>
              </a:ext>
            </a:extLst>
          </p:cNvPr>
          <p:cNvSpPr txBox="1"/>
          <p:nvPr/>
        </p:nvSpPr>
        <p:spPr>
          <a:xfrm>
            <a:off x="6096000" y="2013926"/>
            <a:ext cx="43575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Matricula= {</a:t>
            </a:r>
            <a:r>
              <a:rPr lang="pt-BR" sz="1800" b="0" i="0" u="sng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Sigla, Numero, Aluno, Ano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} </a:t>
            </a:r>
            <a:endParaRPr lang="pt-BR" b="0" dirty="0">
              <a:effectLst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0A3AC9F-A54E-D810-F9E9-FFAA9F3F511E}"/>
              </a:ext>
            </a:extLst>
          </p:cNvPr>
          <p:cNvSpPr txBox="1"/>
          <p:nvPr/>
        </p:nvSpPr>
        <p:spPr>
          <a:xfrm>
            <a:off x="2743200" y="2409205"/>
            <a:ext cx="2235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{&lt;Zeca, 11111&gt;,</a:t>
            </a:r>
            <a:endParaRPr lang="pt-BR" b="0" dirty="0">
              <a:effectLst/>
            </a:endParaRPr>
          </a:p>
          <a:p>
            <a:pPr rtl="0"/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 &lt;Zico, 22222&gt;,</a:t>
            </a:r>
            <a:endParaRPr lang="pt-BR" b="0" dirty="0">
              <a:effectLst/>
            </a:endParaRPr>
          </a:p>
          <a:p>
            <a:pPr rtl="0"/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 &lt;Juca, 33333&gt;,</a:t>
            </a:r>
            <a:endParaRPr lang="pt-BR" b="0" dirty="0">
              <a:effectLst/>
            </a:endParaRPr>
          </a:p>
          <a:p>
            <a:pPr rtl="0"/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 &lt;Tuca, 44444&gt; }</a:t>
            </a:r>
            <a:endParaRPr lang="pt-BR" b="0" dirty="0">
              <a:effectLst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1E11AC1-E70B-4C56-1121-71CEB36B3017}"/>
              </a:ext>
            </a:extLst>
          </p:cNvPr>
          <p:cNvSpPr txBox="1"/>
          <p:nvPr/>
        </p:nvSpPr>
        <p:spPr>
          <a:xfrm>
            <a:off x="7213602" y="2426330"/>
            <a:ext cx="364631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{&lt;SCC-125, 1, 11111, 2010&gt;,</a:t>
            </a:r>
            <a:endParaRPr lang="pt-BR" b="0" dirty="0">
              <a:effectLst/>
            </a:endParaRPr>
          </a:p>
          <a:p>
            <a:pPr rtl="0"/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 &lt;SCC-148, 1, 11111, 2010&gt;,</a:t>
            </a:r>
            <a:endParaRPr lang="pt-BR" b="0" dirty="0">
              <a:effectLst/>
            </a:endParaRPr>
          </a:p>
          <a:p>
            <a:pPr rtl="0"/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 &lt;SCC-125, 2, 22222, 2010&gt;,</a:t>
            </a:r>
            <a:endParaRPr lang="pt-BR" b="0" dirty="0">
              <a:effectLst/>
            </a:endParaRPr>
          </a:p>
          <a:p>
            <a:pPr rtl="0"/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 &lt;SCC-148, 1, 22222, 2009&gt;}</a:t>
            </a:r>
            <a:endParaRPr lang="pt-BR" b="0" dirty="0">
              <a:effectLst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7A079164-5E47-F14C-A38D-9AAC23D06261}"/>
              </a:ext>
            </a:extLst>
          </p:cNvPr>
          <p:cNvSpPr txBox="1"/>
          <p:nvPr/>
        </p:nvSpPr>
        <p:spPr>
          <a:xfrm>
            <a:off x="2743200" y="3874578"/>
            <a:ext cx="6096000" cy="83099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rtl="0"/>
            <a:r>
              <a:rPr lang="pt-BR" sz="2400" b="1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select</a:t>
            </a:r>
            <a:r>
              <a:rPr lang="pt-BR" sz="2400" b="1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sz="2400" b="1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A.nome</a:t>
            </a:r>
            <a:r>
              <a:rPr lang="pt-BR" sz="2400" b="1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A.RA, </a:t>
            </a:r>
            <a:r>
              <a:rPr lang="pt-BR" sz="2400" b="1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M.sigla</a:t>
            </a:r>
            <a:endParaRPr lang="pt-BR" sz="2400" b="0" dirty="0">
              <a:effectLst/>
            </a:endParaRPr>
          </a:p>
          <a:p>
            <a:pPr rtl="0"/>
            <a:r>
              <a:rPr lang="pt-BR" sz="2400" b="1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pt-BR" sz="2400" b="1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Aluno </a:t>
            </a:r>
            <a:r>
              <a:rPr lang="pt-BR" sz="2400" b="1" i="0" u="none" strike="noStrike" dirty="0">
                <a:solidFill>
                  <a:srgbClr val="000099"/>
                </a:solidFill>
                <a:effectLst/>
                <a:latin typeface="Courier New" panose="02070309020205020404" pitchFamily="49" charset="0"/>
              </a:rPr>
              <a:t>A</a:t>
            </a:r>
            <a:r>
              <a:rPr lang="pt-BR" sz="2400" b="1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Matricula </a:t>
            </a:r>
            <a:r>
              <a:rPr lang="pt-BR" sz="2400" b="1" i="0" u="none" strike="noStrike" dirty="0">
                <a:solidFill>
                  <a:srgbClr val="000099"/>
                </a:solidFill>
                <a:effectLst/>
                <a:latin typeface="Courier New" panose="02070309020205020404" pitchFamily="49" charset="0"/>
              </a:rPr>
              <a:t>M</a:t>
            </a:r>
            <a:endParaRPr lang="pt-BR" sz="2400" b="0" dirty="0">
              <a:effectLst/>
            </a:endParaRPr>
          </a:p>
        </p:txBody>
      </p:sp>
      <p:cxnSp>
        <p:nvCxnSpPr>
          <p:cNvPr id="19" name="Conector: Angulado 18">
            <a:extLst>
              <a:ext uri="{FF2B5EF4-FFF2-40B4-BE49-F238E27FC236}">
                <a16:creationId xmlns:a16="http://schemas.microsoft.com/office/drawing/2014/main" id="{44F424B3-674F-6821-33FA-A76250AA7008}"/>
              </a:ext>
            </a:extLst>
          </p:cNvPr>
          <p:cNvCxnSpPr>
            <a:cxnSpLocks/>
          </p:cNvCxnSpPr>
          <p:nvPr/>
        </p:nvCxnSpPr>
        <p:spPr>
          <a:xfrm rot="10800000">
            <a:off x="3657600" y="1885202"/>
            <a:ext cx="5588000" cy="128724"/>
          </a:xfrm>
          <a:prstGeom prst="curved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tângulo 11">
            <a:extLst>
              <a:ext uri="{FF2B5EF4-FFF2-40B4-BE49-F238E27FC236}">
                <a16:creationId xmlns:a16="http://schemas.microsoft.com/office/drawing/2014/main" id="{EB76C352-D1F8-6DD8-868B-3E7A98C5D4F6}"/>
              </a:ext>
            </a:extLst>
          </p:cNvPr>
          <p:cNvSpPr/>
          <p:nvPr/>
        </p:nvSpPr>
        <p:spPr>
          <a:xfrm>
            <a:off x="3928532" y="5100854"/>
            <a:ext cx="4346223" cy="9144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800" dirty="0"/>
              <a:t>E se não colocarmos a condição de junção?</a:t>
            </a:r>
          </a:p>
        </p:txBody>
      </p:sp>
    </p:spTree>
    <p:extLst>
      <p:ext uri="{BB962C8B-B14F-4D97-AF65-F5344CB8AC3E}">
        <p14:creationId xmlns:p14="http://schemas.microsoft.com/office/powerpoint/2010/main" val="13559634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0E71F-E021-F3A5-8FE2-78260751A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FF6A77-43DB-B0F4-A195-6EC446FEF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Comando DQL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08F9496-1634-FFB9-F486-5754A873CBB0}"/>
              </a:ext>
            </a:extLst>
          </p:cNvPr>
          <p:cNvSpPr txBox="1"/>
          <p:nvPr/>
        </p:nvSpPr>
        <p:spPr>
          <a:xfrm>
            <a:off x="1862667" y="2013926"/>
            <a:ext cx="25061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Aluno = {Nome, </a:t>
            </a:r>
            <a:r>
              <a:rPr lang="pt-BR" sz="1800" b="0" i="0" u="sng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RA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} </a:t>
            </a:r>
            <a:endParaRPr lang="pt-BR" b="0" dirty="0">
              <a:effectLst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E2F3849-B563-BC5E-DA82-3445AF964843}"/>
              </a:ext>
            </a:extLst>
          </p:cNvPr>
          <p:cNvSpPr txBox="1"/>
          <p:nvPr/>
        </p:nvSpPr>
        <p:spPr>
          <a:xfrm>
            <a:off x="6096000" y="2013926"/>
            <a:ext cx="43575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Matricula= {</a:t>
            </a:r>
            <a:r>
              <a:rPr lang="pt-BR" sz="1800" b="0" i="0" u="sng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Sigla, Numero, Aluno, Ano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} </a:t>
            </a:r>
            <a:endParaRPr lang="pt-BR" b="0" dirty="0">
              <a:effectLst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06D5066-9C4E-344E-5B92-83DD4F4309F6}"/>
              </a:ext>
            </a:extLst>
          </p:cNvPr>
          <p:cNvSpPr txBox="1"/>
          <p:nvPr/>
        </p:nvSpPr>
        <p:spPr>
          <a:xfrm>
            <a:off x="2743200" y="2409205"/>
            <a:ext cx="2235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{&lt;Zeca, 11111&gt;,</a:t>
            </a:r>
            <a:endParaRPr lang="pt-BR" b="0" dirty="0">
              <a:effectLst/>
            </a:endParaRPr>
          </a:p>
          <a:p>
            <a:pPr rtl="0"/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 &lt;Zico, 22222&gt;,</a:t>
            </a:r>
            <a:endParaRPr lang="pt-BR" b="0" dirty="0">
              <a:effectLst/>
            </a:endParaRPr>
          </a:p>
          <a:p>
            <a:pPr rtl="0"/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 &lt;Juca, 33333&gt;,</a:t>
            </a:r>
            <a:endParaRPr lang="pt-BR" b="0" dirty="0">
              <a:effectLst/>
            </a:endParaRPr>
          </a:p>
          <a:p>
            <a:pPr rtl="0"/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 &lt;Tuca, 44444&gt; }</a:t>
            </a:r>
            <a:endParaRPr lang="pt-BR" b="0" dirty="0">
              <a:effectLst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4D90094-37F7-C9AE-EDB1-D784656FD27C}"/>
              </a:ext>
            </a:extLst>
          </p:cNvPr>
          <p:cNvSpPr txBox="1"/>
          <p:nvPr/>
        </p:nvSpPr>
        <p:spPr>
          <a:xfrm>
            <a:off x="7213602" y="2426330"/>
            <a:ext cx="364631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{&lt;SCC-125, 1, 11111, 2010&gt;,</a:t>
            </a:r>
            <a:endParaRPr lang="pt-BR" b="0" dirty="0">
              <a:effectLst/>
            </a:endParaRPr>
          </a:p>
          <a:p>
            <a:pPr rtl="0"/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 &lt;SCC-148, 1, 11111, 2010&gt;,</a:t>
            </a:r>
            <a:endParaRPr lang="pt-BR" b="0" dirty="0">
              <a:effectLst/>
            </a:endParaRPr>
          </a:p>
          <a:p>
            <a:pPr rtl="0"/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 &lt;SCC-125, 2, 22222, 2010&gt;,</a:t>
            </a:r>
            <a:endParaRPr lang="pt-BR" b="0" dirty="0">
              <a:effectLst/>
            </a:endParaRPr>
          </a:p>
          <a:p>
            <a:pPr rtl="0"/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 &lt;SCC-148, 1, 22222, 2009&gt;}</a:t>
            </a:r>
            <a:endParaRPr lang="pt-BR" b="0" dirty="0">
              <a:effectLst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8D734267-2E31-DBB4-23A9-6AAEBF779988}"/>
              </a:ext>
            </a:extLst>
          </p:cNvPr>
          <p:cNvSpPr txBox="1"/>
          <p:nvPr/>
        </p:nvSpPr>
        <p:spPr>
          <a:xfrm>
            <a:off x="2743200" y="3874578"/>
            <a:ext cx="6096000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rtl="0"/>
            <a:r>
              <a:rPr lang="pt-BR" sz="2400" b="1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select</a:t>
            </a:r>
            <a:r>
              <a:rPr lang="pt-BR" sz="2400" b="1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sz="2400" b="1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A.nome</a:t>
            </a:r>
            <a:r>
              <a:rPr lang="pt-BR" sz="2400" b="1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A.RA, </a:t>
            </a:r>
            <a:r>
              <a:rPr lang="pt-BR" sz="2400" b="1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M.sigla</a:t>
            </a:r>
            <a:endParaRPr lang="pt-BR" sz="2400" b="0" dirty="0">
              <a:effectLst/>
            </a:endParaRPr>
          </a:p>
          <a:p>
            <a:pPr rtl="0"/>
            <a:r>
              <a:rPr lang="pt-BR" sz="2400" b="1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pt-BR" sz="2400" b="1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Aluno </a:t>
            </a:r>
            <a:r>
              <a:rPr lang="pt-BR" sz="2400" b="1" i="0" u="none" strike="noStrike" dirty="0">
                <a:solidFill>
                  <a:srgbClr val="000099"/>
                </a:solidFill>
                <a:effectLst/>
                <a:latin typeface="Courier New" panose="02070309020205020404" pitchFamily="49" charset="0"/>
              </a:rPr>
              <a:t>A</a:t>
            </a:r>
            <a:r>
              <a:rPr lang="pt-BR" sz="2400" b="1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Matricula </a:t>
            </a:r>
            <a:r>
              <a:rPr lang="pt-BR" sz="2400" b="1" i="0" u="none" strike="noStrike" dirty="0">
                <a:solidFill>
                  <a:srgbClr val="000099"/>
                </a:solidFill>
                <a:effectLst/>
                <a:latin typeface="Courier New" panose="02070309020205020404" pitchFamily="49" charset="0"/>
              </a:rPr>
              <a:t>M</a:t>
            </a:r>
            <a:endParaRPr lang="pt-BR" sz="2400" b="0" dirty="0">
              <a:effectLst/>
            </a:endParaRPr>
          </a:p>
          <a:p>
            <a:r>
              <a:rPr lang="pt-BR" sz="2400" b="1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where</a:t>
            </a:r>
            <a:r>
              <a:rPr lang="pt-BR" sz="2400" b="1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sz="2400" b="1" i="0" u="none" strike="noStrike" dirty="0" err="1">
                <a:solidFill>
                  <a:srgbClr val="000099"/>
                </a:solidFill>
                <a:effectLst/>
                <a:latin typeface="Courier New" panose="02070309020205020404" pitchFamily="49" charset="0"/>
              </a:rPr>
              <a:t>A.nusp</a:t>
            </a:r>
            <a:r>
              <a:rPr lang="pt-BR" sz="2400" b="1" i="0" u="none" strike="noStrike" dirty="0">
                <a:solidFill>
                  <a:srgbClr val="000099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pt-BR" sz="2400" b="1" i="0" u="none" strike="noStrike" dirty="0" err="1">
                <a:solidFill>
                  <a:srgbClr val="000099"/>
                </a:solidFill>
                <a:effectLst/>
                <a:latin typeface="Courier New" panose="02070309020205020404" pitchFamily="49" charset="0"/>
              </a:rPr>
              <a:t>M.aluno</a:t>
            </a:r>
            <a:r>
              <a:rPr lang="pt-BR" sz="2400" b="1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;</a:t>
            </a:r>
            <a:endParaRPr lang="pt-BR" sz="2400" dirty="0"/>
          </a:p>
        </p:txBody>
      </p:sp>
      <p:cxnSp>
        <p:nvCxnSpPr>
          <p:cNvPr id="19" name="Conector: Angulado 18">
            <a:extLst>
              <a:ext uri="{FF2B5EF4-FFF2-40B4-BE49-F238E27FC236}">
                <a16:creationId xmlns:a16="http://schemas.microsoft.com/office/drawing/2014/main" id="{917BB5F1-9034-4F3D-C5B2-F59B9E96780D}"/>
              </a:ext>
            </a:extLst>
          </p:cNvPr>
          <p:cNvCxnSpPr>
            <a:cxnSpLocks/>
          </p:cNvCxnSpPr>
          <p:nvPr/>
        </p:nvCxnSpPr>
        <p:spPr>
          <a:xfrm rot="10800000">
            <a:off x="3657600" y="1885202"/>
            <a:ext cx="5588000" cy="128724"/>
          </a:xfrm>
          <a:prstGeom prst="curved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98130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7CEB71-8FEB-26E3-8C30-5ED98F371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Comado DQL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45A84C1-9086-5CE1-F1FB-9CBA225F7D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Operador JOIN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23334EE-891F-71CE-9858-4E9DE6D72A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3153" y="2681433"/>
            <a:ext cx="7125694" cy="296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8893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1BBF85-831A-A435-D852-42F051464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A2030B2-3CF8-09CD-71E9-10C222EA70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Junção interna equivalentes 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3116E50-2ACF-2EAA-B8A0-0EDBE642C6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9757" y="2488603"/>
            <a:ext cx="7592485" cy="4267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7616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21C7A7-4A45-6D82-6359-E399AD69D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Comando DQL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B290CA2-2DD7-8EFA-8712-746DBDB735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Junção interna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5E08C48-F503-215A-5DAF-EE18503B486B}"/>
              </a:ext>
            </a:extLst>
          </p:cNvPr>
          <p:cNvSpPr txBox="1"/>
          <p:nvPr/>
        </p:nvSpPr>
        <p:spPr>
          <a:xfrm>
            <a:off x="3048000" y="2132646"/>
            <a:ext cx="6096000" cy="4985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2550" indent="-282575" rtl="0">
              <a:spcBef>
                <a:spcPts val="600"/>
              </a:spcBef>
            </a:pPr>
            <a:br>
              <a:rPr lang="pt-BR" sz="2400" b="0" dirty="0">
                <a:effectLst/>
              </a:rPr>
            </a:br>
            <a:r>
              <a:rPr lang="pt-BR" sz="2400" b="1" i="0" u="none" strike="noStrike" dirty="0" err="1">
                <a:solidFill>
                  <a:schemeClr val="accent1"/>
                </a:solidFill>
                <a:effectLst/>
                <a:latin typeface="Courier New" panose="02070309020205020404" pitchFamily="49" charset="0"/>
              </a:rPr>
              <a:t>select</a:t>
            </a:r>
            <a:r>
              <a:rPr lang="pt-BR" sz="2400" b="1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sz="2400" b="1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A.nome</a:t>
            </a:r>
            <a:r>
              <a:rPr lang="pt-BR" sz="2400" b="1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pt-BR" sz="2400" b="1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A.nusp</a:t>
            </a:r>
            <a:r>
              <a:rPr lang="pt-BR" sz="2400" b="1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pt-BR" sz="2400" b="1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M.Sigla</a:t>
            </a:r>
            <a:endParaRPr lang="pt-BR" sz="2400" b="0" dirty="0">
              <a:effectLst/>
            </a:endParaRPr>
          </a:p>
          <a:p>
            <a:pPr marL="82550" indent="-282575" rtl="0">
              <a:spcBef>
                <a:spcPts val="600"/>
              </a:spcBef>
            </a:pPr>
            <a:r>
              <a:rPr lang="pt-BR" sz="2400" b="1" i="0" u="none" strike="noStrike" dirty="0" err="1">
                <a:solidFill>
                  <a:srgbClr val="3333CC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pt-BR" sz="2400" b="1" i="0" u="none" strike="noStrike" dirty="0">
                <a:solidFill>
                  <a:srgbClr val="3333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sz="2400" b="1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Aluno A, Matricula M</a:t>
            </a:r>
            <a:endParaRPr lang="pt-BR" sz="2400" b="0" dirty="0">
              <a:effectLst/>
            </a:endParaRPr>
          </a:p>
          <a:p>
            <a:pPr marL="82550" indent="-282575" rtl="0">
              <a:spcBef>
                <a:spcPts val="600"/>
              </a:spcBef>
            </a:pPr>
            <a:r>
              <a:rPr lang="pt-BR" sz="2400" b="1" i="0" u="none" strike="noStrike" dirty="0" err="1">
                <a:solidFill>
                  <a:srgbClr val="3333CC"/>
                </a:solidFill>
                <a:effectLst/>
                <a:latin typeface="Courier New" panose="02070309020205020404" pitchFamily="49" charset="0"/>
              </a:rPr>
              <a:t>where</a:t>
            </a:r>
            <a:r>
              <a:rPr lang="pt-BR" sz="2400" b="1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sz="2400" b="1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A.nusp</a:t>
            </a:r>
            <a:r>
              <a:rPr lang="pt-BR" sz="2400" b="1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pt-BR" sz="2400" b="1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M.aluno</a:t>
            </a:r>
            <a:r>
              <a:rPr lang="pt-BR" sz="2400" b="1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; </a:t>
            </a:r>
            <a:endParaRPr lang="pt-BR" sz="2400" b="0" dirty="0">
              <a:effectLst/>
            </a:endParaRPr>
          </a:p>
          <a:p>
            <a:pPr marL="82550" indent="-282575" rtl="0"/>
            <a:r>
              <a:rPr lang="pt-BR" sz="2400" b="1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                            </a:t>
            </a:r>
            <a:endParaRPr lang="pt-BR" sz="2400" b="0" dirty="0">
              <a:effectLst/>
            </a:endParaRPr>
          </a:p>
          <a:p>
            <a:pPr marL="82550" indent="-282575" rtl="0">
              <a:spcBef>
                <a:spcPts val="600"/>
              </a:spcBef>
            </a:pPr>
            <a:endParaRPr lang="pt-BR" sz="2400" b="0" dirty="0">
              <a:effectLst/>
            </a:endParaRPr>
          </a:p>
          <a:p>
            <a:pPr marL="82550" indent="-282575" rtl="0">
              <a:spcBef>
                <a:spcPts val="600"/>
              </a:spcBef>
            </a:pPr>
            <a:br>
              <a:rPr lang="pt-BR" sz="2400" b="0" dirty="0">
                <a:effectLst/>
              </a:rPr>
            </a:br>
            <a:r>
              <a:rPr lang="pt-BR" sz="2400" b="1" i="0" u="none" strike="noStrike" dirty="0" err="1">
                <a:solidFill>
                  <a:schemeClr val="accent1"/>
                </a:solidFill>
                <a:effectLst/>
                <a:latin typeface="Courier New" panose="02070309020205020404" pitchFamily="49" charset="0"/>
              </a:rPr>
              <a:t>select</a:t>
            </a:r>
            <a:r>
              <a:rPr lang="pt-BR" sz="2400" b="1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sz="2400" b="1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A.nome</a:t>
            </a:r>
            <a:r>
              <a:rPr lang="pt-BR" sz="2400" b="1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pt-BR" sz="2400" b="1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A.nusp</a:t>
            </a:r>
            <a:r>
              <a:rPr lang="pt-BR" sz="2400" b="1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pt-BR" sz="2400" b="1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M.Sigla</a:t>
            </a:r>
            <a:endParaRPr lang="pt-BR" sz="2400" b="0" dirty="0">
              <a:effectLst/>
            </a:endParaRPr>
          </a:p>
          <a:p>
            <a:pPr marL="82550" indent="-282575" rtl="0">
              <a:spcBef>
                <a:spcPts val="600"/>
              </a:spcBef>
            </a:pPr>
            <a:r>
              <a:rPr lang="pt-BR" sz="2400" b="1" i="0" u="none" strike="noStrike" dirty="0" err="1">
                <a:solidFill>
                  <a:srgbClr val="3333CC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pt-BR" sz="2400" b="1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Aluno A </a:t>
            </a:r>
            <a:r>
              <a:rPr lang="pt-BR" sz="2400" b="1" i="0" u="none" strike="noStrike" dirty="0" err="1">
                <a:solidFill>
                  <a:srgbClr val="3333CC"/>
                </a:solidFill>
                <a:effectLst/>
                <a:latin typeface="Courier New" panose="02070309020205020404" pitchFamily="49" charset="0"/>
              </a:rPr>
              <a:t>join</a:t>
            </a:r>
            <a:r>
              <a:rPr lang="pt-BR" sz="2400" b="1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Matricula M</a:t>
            </a:r>
            <a:endParaRPr lang="pt-BR" sz="2400" b="0" dirty="0">
              <a:effectLst/>
            </a:endParaRPr>
          </a:p>
          <a:p>
            <a:pPr marL="82550" indent="-282575" rtl="0">
              <a:spcBef>
                <a:spcPts val="600"/>
              </a:spcBef>
            </a:pPr>
            <a:r>
              <a:rPr lang="pt-BR" sz="2400" b="1" i="0" u="none" strike="noStrike" dirty="0" err="1">
                <a:solidFill>
                  <a:srgbClr val="3333CC"/>
                </a:solidFill>
                <a:effectLst/>
                <a:latin typeface="Courier New" panose="02070309020205020404" pitchFamily="49" charset="0"/>
              </a:rPr>
              <a:t>on</a:t>
            </a:r>
            <a:r>
              <a:rPr lang="pt-BR" sz="2400" b="1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sz="2400" b="1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A.nusp</a:t>
            </a:r>
            <a:r>
              <a:rPr lang="pt-BR" sz="2400" b="1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pt-BR" sz="2400" b="1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M.aluno</a:t>
            </a:r>
            <a:r>
              <a:rPr lang="pt-BR" sz="2400" b="1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; </a:t>
            </a:r>
            <a:endParaRPr lang="pt-BR" sz="2400" b="0" dirty="0">
              <a:effectLst/>
            </a:endParaRPr>
          </a:p>
          <a:p>
            <a:br>
              <a:rPr lang="pt-BR" sz="2400" dirty="0"/>
            </a:br>
            <a:endParaRPr lang="pt-BR" sz="24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D1EA144-7834-68CD-7F6A-4250B15BC2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1752"/>
          <a:stretch/>
        </p:blipFill>
        <p:spPr>
          <a:xfrm>
            <a:off x="5437299" y="3784159"/>
            <a:ext cx="933580" cy="1126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88272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49C434-377A-98DF-28F7-BAE601F12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30640E-7583-4CD4-9A16-2DC2A4C455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Junção externa (OUTER JOIN)</a:t>
            </a:r>
          </a:p>
          <a:p>
            <a:pPr rtl="0" fontAlgn="base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pt-BR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Extensão da operação de junção interna para consultas em que tuplas de uma tabela devem ser combinadas a tuplas de outra tabela, </a:t>
            </a:r>
            <a:r>
              <a:rPr lang="pt-BR" sz="2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mas sem desconsiderar tuplas que não têm correspondência. </a:t>
            </a:r>
            <a:endParaRPr lang="pt-BR" sz="2240" b="0" i="0" u="none" strike="noStrike" dirty="0">
              <a:solidFill>
                <a:srgbClr val="3891A7"/>
              </a:solidFill>
              <a:effectLst/>
              <a:latin typeface="Noto Sans Symbols"/>
            </a:endParaRPr>
          </a:p>
          <a:p>
            <a:pPr rtl="0" fontAlgn="base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pt-BR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Três tipos de junção externa</a:t>
            </a:r>
            <a:endParaRPr lang="pt-BR" sz="2240" b="0" i="0" u="none" strike="noStrike" dirty="0">
              <a:solidFill>
                <a:srgbClr val="3891A7"/>
              </a:solidFill>
              <a:effectLst/>
              <a:latin typeface="Noto Sans Symbols"/>
            </a:endParaRPr>
          </a:p>
          <a:p>
            <a:pPr marL="742950" lvl="1" indent="-285750" rtl="0" fontAlgn="base">
              <a:spcBef>
                <a:spcPts val="720"/>
              </a:spcBef>
              <a:buFont typeface="+mj-lt"/>
              <a:buAutoNum type="arabicPeriod"/>
            </a:pPr>
            <a:r>
              <a:rPr lang="pt-BR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Junção externa à esquerda (</a:t>
            </a:r>
            <a:r>
              <a:rPr lang="pt-BR" sz="2400" b="0" i="1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Left</a:t>
            </a:r>
            <a:r>
              <a:rPr lang="pt-BR" sz="2400" b="0" i="1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pt-BR" sz="2400" b="0" i="1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Outer</a:t>
            </a:r>
            <a:r>
              <a:rPr lang="pt-BR" sz="2400" b="0" i="1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Join</a:t>
            </a:r>
            <a:r>
              <a:rPr lang="pt-BR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)</a:t>
            </a:r>
            <a:endParaRPr lang="pt-BR" sz="2400" b="0" i="0" u="none" strike="noStrike" dirty="0">
              <a:solidFill>
                <a:srgbClr val="3891A7"/>
              </a:solidFill>
              <a:effectLst/>
              <a:latin typeface="Gill Sans"/>
            </a:endParaRPr>
          </a:p>
          <a:p>
            <a:pPr marL="742950" lvl="1" indent="-285750" rtl="0" fontAlgn="base">
              <a:spcBef>
                <a:spcPts val="720"/>
              </a:spcBef>
              <a:buFont typeface="+mj-lt"/>
              <a:buAutoNum type="arabicPeriod"/>
            </a:pPr>
            <a:r>
              <a:rPr lang="pt-BR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Junção externa à direita (</a:t>
            </a:r>
            <a:r>
              <a:rPr lang="pt-BR" sz="2400" b="0" i="1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Right</a:t>
            </a:r>
            <a:r>
              <a:rPr lang="pt-BR" sz="2400" b="0" i="1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pt-BR" sz="2400" b="0" i="1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Outer</a:t>
            </a:r>
            <a:r>
              <a:rPr lang="pt-BR" sz="2400" b="0" i="1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Join</a:t>
            </a:r>
            <a:r>
              <a:rPr lang="pt-BR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)</a:t>
            </a:r>
            <a:endParaRPr lang="pt-BR" dirty="0">
              <a:solidFill>
                <a:srgbClr val="3891A7"/>
              </a:solidFill>
              <a:latin typeface="Gill Sans"/>
            </a:endParaRPr>
          </a:p>
          <a:p>
            <a:pPr marL="742950" lvl="1" indent="-285750" rtl="0" fontAlgn="base">
              <a:spcBef>
                <a:spcPts val="720"/>
              </a:spcBef>
              <a:buFont typeface="+mj-lt"/>
              <a:buAutoNum type="arabicPeriod"/>
            </a:pPr>
            <a:r>
              <a:rPr lang="pt-BR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Junção externa completa (</a:t>
            </a:r>
            <a:r>
              <a:rPr lang="pt-BR" sz="2400" b="0" i="1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Full </a:t>
            </a:r>
            <a:r>
              <a:rPr lang="pt-BR" sz="2400" b="0" i="1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Outer</a:t>
            </a:r>
            <a:r>
              <a:rPr lang="pt-BR" sz="2400" b="0" i="1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Join)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13520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7A25DE-458E-0BCB-24B7-776FC8CD0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Comando DQL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C17C35A-A840-468B-4E82-880A30621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Junção externa (OUTER JOIN)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015F15F-4FBD-719E-89D1-7F5809F508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9757" y="3085546"/>
            <a:ext cx="7592485" cy="2876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7503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BD627D-68EB-751A-7683-5A69CCF9B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Comando DQL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2BF5E60-65E1-E2A0-624A-E0ED51E4A7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LEFT OUTER JOIN	</a:t>
            </a:r>
          </a:p>
          <a:p>
            <a:pPr lvl="1"/>
            <a:r>
              <a:rPr lang="pt-BR" dirty="0"/>
              <a:t>Tuplas que atendem à condição de junção</a:t>
            </a:r>
          </a:p>
          <a:p>
            <a:pPr marL="457200" lvl="1" indent="0">
              <a:buNone/>
            </a:pPr>
            <a:r>
              <a:rPr lang="pt-BR" dirty="0"/>
              <a:t>		+</a:t>
            </a:r>
          </a:p>
          <a:p>
            <a:pPr lvl="1"/>
            <a:r>
              <a:rPr lang="pt-BR" dirty="0"/>
              <a:t>Tuplas da tabela à esquerda que não tem correspondentes na tabela à direita</a:t>
            </a:r>
          </a:p>
        </p:txBody>
      </p:sp>
    </p:spTree>
    <p:extLst>
      <p:ext uri="{BB962C8B-B14F-4D97-AF65-F5344CB8AC3E}">
        <p14:creationId xmlns:p14="http://schemas.microsoft.com/office/powerpoint/2010/main" val="184910412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2CB88C-E179-ACC8-A0AB-CF6A63477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338ECAD-DF85-1750-354C-85B9D7AE5D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92D3A5E-5813-0850-E243-07B3E91C6A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204" y="151942"/>
            <a:ext cx="8897592" cy="6554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74014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A762CE-D372-BCF7-1DCE-7254DC5C0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Comando DQL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779D23-87B6-CE10-3A79-3695776BFA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RIGHT OUTER JOIN	</a:t>
            </a:r>
          </a:p>
          <a:p>
            <a:pPr lvl="1"/>
            <a:r>
              <a:rPr lang="pt-BR" dirty="0"/>
              <a:t>Tuplas que atendem à condição de junção</a:t>
            </a:r>
          </a:p>
          <a:p>
            <a:pPr marL="457200" lvl="1" indent="0">
              <a:buNone/>
            </a:pPr>
            <a:r>
              <a:rPr lang="pt-BR" dirty="0"/>
              <a:t>		+</a:t>
            </a:r>
          </a:p>
          <a:p>
            <a:pPr lvl="1"/>
            <a:r>
              <a:rPr lang="pt-BR" dirty="0"/>
              <a:t>Tuplas da tabela à esquerda que não tem correspondentes na tabela à direita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5006687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E3BAD2-9971-4959-4375-63DEE8E8B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5F806F-260C-47CA-07E5-A72ED35BA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4095A36-2141-201E-2111-B28A555F7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151" y="147179"/>
            <a:ext cx="8935697" cy="6563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33063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B2156A-687B-C179-019E-FAE23432A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Comando DQL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B52C015-BEBA-F24E-5699-E0D4EB0064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FULL OUTER JOIN</a:t>
            </a:r>
          </a:p>
          <a:p>
            <a:pPr marL="606425" rtl="0" fontAlgn="base">
              <a:spcBef>
                <a:spcPts val="560"/>
              </a:spcBef>
              <a:buFont typeface="Arial" panose="020B0604020202020204" pitchFamily="34" charset="0"/>
              <a:buChar char="•"/>
            </a:pPr>
            <a:r>
              <a:rPr lang="pt-BR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tuplas que atendem à condição de junção </a:t>
            </a:r>
            <a:endParaRPr lang="pt-BR" sz="2400" b="0" i="0" u="none" strike="noStrike" dirty="0">
              <a:solidFill>
                <a:srgbClr val="FEB80A"/>
              </a:solidFill>
              <a:effectLst/>
              <a:latin typeface="Noto Sans Symbols"/>
            </a:endParaRPr>
          </a:p>
          <a:p>
            <a:pPr marL="428625" indent="0" rtl="0">
              <a:spcBef>
                <a:spcPts val="640"/>
              </a:spcBef>
              <a:buNone/>
            </a:pPr>
            <a:r>
              <a:rPr lang="pt-BR" sz="2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                           +</a:t>
            </a:r>
            <a:r>
              <a:rPr lang="pt-BR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endParaRPr lang="pt-BR" b="0" dirty="0">
              <a:effectLst/>
            </a:endParaRPr>
          </a:p>
          <a:p>
            <a:pPr marL="606425" rtl="0" fontAlgn="base">
              <a:spcBef>
                <a:spcPts val="560"/>
              </a:spcBef>
              <a:buFont typeface="Arial" panose="020B0604020202020204" pitchFamily="34" charset="0"/>
              <a:buChar char="•"/>
            </a:pPr>
            <a:r>
              <a:rPr lang="pt-BR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tuplas da tabela à esquerda que não têm correspondentes na tabela à direta</a:t>
            </a:r>
            <a:endParaRPr lang="pt-BR" sz="2400" b="0" i="0" u="none" strike="noStrike" dirty="0">
              <a:solidFill>
                <a:srgbClr val="FEB80A"/>
              </a:solidFill>
              <a:effectLst/>
              <a:latin typeface="Noto Sans Symbols"/>
            </a:endParaRPr>
          </a:p>
          <a:p>
            <a:pPr marL="428625" indent="0" rtl="0">
              <a:spcBef>
                <a:spcPts val="640"/>
              </a:spcBef>
              <a:buNone/>
            </a:pPr>
            <a:r>
              <a:rPr lang="pt-BR" sz="2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                           +</a:t>
            </a:r>
            <a:r>
              <a:rPr lang="pt-BR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endParaRPr lang="pt-BR" b="0" dirty="0">
              <a:effectLst/>
            </a:endParaRPr>
          </a:p>
          <a:p>
            <a:pPr marL="606425" rtl="0" fontAlgn="base">
              <a:spcBef>
                <a:spcPts val="560"/>
              </a:spcBef>
              <a:buFont typeface="Arial" panose="020B0604020202020204" pitchFamily="34" charset="0"/>
              <a:buChar char="•"/>
            </a:pPr>
            <a:r>
              <a:rPr lang="pt-BR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tuplas da tabela à direita que não têm correspondentes na tabela à esquerda</a:t>
            </a:r>
            <a:endParaRPr lang="pt-BR" sz="2400" b="0" i="0" u="none" strike="noStrike" dirty="0">
              <a:solidFill>
                <a:srgbClr val="FEB80A"/>
              </a:solidFill>
              <a:effectLst/>
              <a:latin typeface="Noto Sans Symbols"/>
            </a:endParaRPr>
          </a:p>
          <a:p>
            <a:pPr lvl="1"/>
            <a:endParaRPr lang="pt-BR" b="1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573632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94A55B-E4CB-C075-B105-026577C19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7B9FB0A-E6B0-4C5E-C3D0-687D374AE1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734DBCC-F6C3-C7A7-3A44-CEF6049CF4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2967" y="313890"/>
            <a:ext cx="8526065" cy="6230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78249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16DFC-BFB9-1006-2E9D-515F325AA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542EA6-C8E0-6029-0FF6-74C0B9B85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4586985-E5D3-901F-BD45-7A8C479B4D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pt-BR" dirty="0"/>
              <a:t>Selecione todos os registros de Matrícula;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Selecione os anos em que houveram Matrícula registrada;</a:t>
            </a:r>
          </a:p>
          <a:p>
            <a:pPr lvl="1"/>
            <a:r>
              <a:rPr lang="pt-BR" dirty="0"/>
              <a:t>Apenas os valores distintos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Selecione as Disciplinas com mais de 4 créditos e com professor definido;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Selecione dados dos Alunos que já se matricularam na disciplina ‘BD1’</a:t>
            </a:r>
          </a:p>
          <a:p>
            <a:pPr lvl="1"/>
            <a:r>
              <a:rPr lang="pt-BR" dirty="0"/>
              <a:t>Use </a:t>
            </a:r>
            <a:r>
              <a:rPr lang="pt-BR" dirty="0" err="1"/>
              <a:t>subselect</a:t>
            </a:r>
            <a:r>
              <a:rPr lang="pt-BR" dirty="0"/>
              <a:t>;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Selecione {nome aluno, nome disciplina, nota} das matrículas efetivadas;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Selecione todos os Professores e as Disciplinas que lecionam</a:t>
            </a:r>
          </a:p>
          <a:p>
            <a:pPr lvl="1"/>
            <a:r>
              <a:rPr lang="pt-BR" dirty="0"/>
              <a:t>Incluindo Professores sem Disciplina atribuída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Selecione todos as Disciplinas e os Professores que lecionam</a:t>
            </a:r>
          </a:p>
          <a:p>
            <a:pPr lvl="1"/>
            <a:r>
              <a:rPr lang="pt-BR" dirty="0"/>
              <a:t>Incluindo Disciplinas sem Professor atribuído</a:t>
            </a:r>
          </a:p>
          <a:p>
            <a:pPr lvl="1"/>
            <a:endParaRPr lang="pt-BR" dirty="0"/>
          </a:p>
          <a:p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EC41F68-8D0D-81F7-D247-330EB72E7EDE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560829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1220A-F674-F2F2-3CFB-6366042C0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05C4F8-50B7-3182-2BF7-FC06DCBBA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B943E0F-DB55-2FCC-D40A-17CBB1D72E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pt-BR" dirty="0"/>
              <a:t>Selecione todos os registros de Professor;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Selecione as titulações dos Professores - apenas os valores distintos;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Selecione as Turma com </a:t>
            </a:r>
          </a:p>
          <a:p>
            <a:pPr marL="971550" lvl="1" indent="-514350">
              <a:buFont typeface="+mj-lt"/>
              <a:buAutoNum type="arabicPeriod"/>
            </a:pPr>
            <a:r>
              <a:rPr lang="pt-BR" dirty="0"/>
              <a:t>Numero de alunos entre 20 e 30</a:t>
            </a:r>
          </a:p>
          <a:p>
            <a:pPr marL="971550" lvl="1" indent="-514350">
              <a:buFont typeface="+mj-lt"/>
              <a:buAutoNum type="arabicPeriod"/>
            </a:pPr>
            <a:r>
              <a:rPr lang="pt-BR" dirty="0"/>
              <a:t>Disciplina BD1 ou  ALG1;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Selecione Professores que lecionam disciplina ‘BD1’ com mais de 4 créditos;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Selecione {</a:t>
            </a:r>
            <a:r>
              <a:rPr lang="pt-BR" dirty="0" err="1"/>
              <a:t>ra</a:t>
            </a:r>
            <a:r>
              <a:rPr lang="pt-BR" dirty="0"/>
              <a:t>, nome aluno, disciplina, nota} das Matrículas de 2023;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Selecione todas as </a:t>
            </a:r>
            <a:r>
              <a:rPr lang="pt-BR" dirty="0" err="1"/>
              <a:t>Tumas</a:t>
            </a:r>
            <a:r>
              <a:rPr lang="pt-BR" dirty="0"/>
              <a:t> e Matrículas associadas a elas</a:t>
            </a:r>
          </a:p>
          <a:p>
            <a:pPr marL="971550" lvl="1" indent="-514350">
              <a:buFont typeface="+mj-lt"/>
              <a:buAutoNum type="arabicPeriod"/>
            </a:pPr>
            <a:r>
              <a:rPr lang="pt-BR" dirty="0"/>
              <a:t>Incluindo turmas sem aluno matriculado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Selecione todos as Disciplinas e os Professores que lecionam</a:t>
            </a:r>
          </a:p>
          <a:p>
            <a:pPr lvl="1"/>
            <a:r>
              <a:rPr lang="pt-BR" dirty="0"/>
              <a:t>Incluindo professores sem disciplina atribuída</a:t>
            </a:r>
          </a:p>
          <a:p>
            <a:pPr lvl="1"/>
            <a:endParaRPr lang="pt-BR" dirty="0"/>
          </a:p>
          <a:p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8C16340-31A9-D0D1-9837-95ADBED24F5E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253965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E0EF6-6353-709B-9364-3F6FB8795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BBD732-73D5-C0B5-6E5F-C4445D9CA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Atividade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6BDB77C-7471-A238-E8E8-46C5B3E2DD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Projeto: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Normalize o banco de dados de seu projeto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Crie um script .</a:t>
            </a:r>
            <a:r>
              <a:rPr lang="pt-BR" dirty="0" err="1"/>
              <a:t>sql</a:t>
            </a:r>
            <a:r>
              <a:rPr lang="pt-BR" dirty="0"/>
              <a:t> (arquivo) que:</a:t>
            </a:r>
          </a:p>
          <a:p>
            <a:pPr lvl="2">
              <a:spcBef>
                <a:spcPts val="1200"/>
              </a:spcBef>
            </a:pPr>
            <a:r>
              <a:rPr lang="pt-BR" dirty="0"/>
              <a:t>Crie um novo esquema (com o nome de seu projeto)</a:t>
            </a:r>
          </a:p>
          <a:p>
            <a:pPr lvl="2">
              <a:spcBef>
                <a:spcPts val="1200"/>
              </a:spcBef>
            </a:pPr>
            <a:r>
              <a:rPr lang="pt-BR" dirty="0"/>
              <a:t>Crie as tabelas usando os comandos desta aula</a:t>
            </a:r>
          </a:p>
          <a:p>
            <a:pPr lvl="3"/>
            <a:r>
              <a:rPr lang="pt-BR" dirty="0"/>
              <a:t>Aplique todas as restrições (</a:t>
            </a:r>
            <a:r>
              <a:rPr lang="pt-BR" i="1" dirty="0" err="1"/>
              <a:t>constraints</a:t>
            </a:r>
            <a:r>
              <a:rPr lang="pt-BR" dirty="0"/>
              <a:t>) necessárias</a:t>
            </a:r>
          </a:p>
          <a:p>
            <a:pPr lvl="4"/>
            <a:r>
              <a:rPr lang="pt-BR" dirty="0"/>
              <a:t>PK, FK, UNIQUE</a:t>
            </a:r>
          </a:p>
          <a:p>
            <a:pPr lvl="4"/>
            <a:r>
              <a:rPr lang="pt-BR" dirty="0"/>
              <a:t>(NOT) NULL</a:t>
            </a:r>
          </a:p>
          <a:p>
            <a:pPr lvl="4"/>
            <a:r>
              <a:rPr lang="pt-BR" dirty="0"/>
              <a:t>CHECK por valores</a:t>
            </a:r>
          </a:p>
          <a:p>
            <a:pPr lvl="4"/>
            <a:r>
              <a:rPr lang="pt-BR" dirty="0"/>
              <a:t>DEFAULT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1985A4C-06BF-6758-176D-FB70760957E6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410166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161D20-8D61-AD5B-CF71-1718C3D42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Seminários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CB4FFD8-B6D8-DD9D-5BE4-69BE51096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pt-BR" dirty="0"/>
              <a:t>Seminários BD:</a:t>
            </a:r>
          </a:p>
          <a:p>
            <a:r>
              <a:rPr lang="pt-BR" dirty="0"/>
              <a:t>Chave-valor [</a:t>
            </a:r>
            <a:r>
              <a:rPr lang="pt-BR" b="1" dirty="0"/>
              <a:t>Giovana</a:t>
            </a:r>
            <a:r>
              <a:rPr lang="pt-BR" dirty="0"/>
              <a:t>]</a:t>
            </a:r>
          </a:p>
          <a:p>
            <a:r>
              <a:rPr lang="pt-BR" dirty="0"/>
              <a:t>Documentos [</a:t>
            </a:r>
            <a:r>
              <a:rPr lang="pt-BR" b="1" dirty="0"/>
              <a:t>Isaac</a:t>
            </a:r>
            <a:r>
              <a:rPr lang="pt-BR" dirty="0"/>
              <a:t>]</a:t>
            </a:r>
          </a:p>
          <a:p>
            <a:r>
              <a:rPr lang="pt-BR" dirty="0"/>
              <a:t>Colunar </a:t>
            </a:r>
            <a:r>
              <a:rPr lang="pt-BR" b="1" dirty="0"/>
              <a:t>[Mariana]</a:t>
            </a:r>
          </a:p>
          <a:p>
            <a:r>
              <a:rPr lang="pt-BR" dirty="0"/>
              <a:t>Geoespacial [</a:t>
            </a:r>
            <a:r>
              <a:rPr lang="pt-BR" b="1" dirty="0"/>
              <a:t>David</a:t>
            </a:r>
            <a:r>
              <a:rPr lang="pt-BR" dirty="0"/>
              <a:t>]</a:t>
            </a:r>
          </a:p>
          <a:p>
            <a:r>
              <a:rPr lang="pt-BR" dirty="0"/>
              <a:t>Vetorial [</a:t>
            </a:r>
            <a:r>
              <a:rPr lang="pt-BR" b="1" dirty="0"/>
              <a:t>João</a:t>
            </a:r>
            <a:r>
              <a:rPr lang="pt-BR" dirty="0"/>
              <a:t>]</a:t>
            </a:r>
          </a:p>
          <a:p>
            <a:r>
              <a:rPr lang="pt-BR" dirty="0"/>
              <a:t>Grafo propriedades [</a:t>
            </a:r>
            <a:r>
              <a:rPr lang="pt-BR" b="1" dirty="0"/>
              <a:t>Mateus</a:t>
            </a:r>
            <a:r>
              <a:rPr lang="pt-BR" dirty="0"/>
              <a:t>]</a:t>
            </a:r>
          </a:p>
          <a:p>
            <a:r>
              <a:rPr lang="pt-BR" dirty="0"/>
              <a:t>Grafo RDF [</a:t>
            </a:r>
            <a:r>
              <a:rPr lang="pt-BR" b="1" dirty="0"/>
              <a:t>Felipe</a:t>
            </a:r>
            <a:r>
              <a:rPr lang="pt-BR" dirty="0"/>
              <a:t>]</a:t>
            </a:r>
          </a:p>
          <a:p>
            <a:r>
              <a:rPr lang="pt-BR" dirty="0"/>
              <a:t>Eventos </a:t>
            </a:r>
            <a:r>
              <a:rPr lang="pt-BR" b="1" dirty="0"/>
              <a:t>[Enrico]</a:t>
            </a:r>
          </a:p>
          <a:p>
            <a:endParaRPr lang="pt-BR" b="1" dirty="0"/>
          </a:p>
          <a:p>
            <a:r>
              <a:rPr lang="pt-BR" strike="sngStrike" dirty="0"/>
              <a:t>Séries temporais</a:t>
            </a:r>
          </a:p>
          <a:p>
            <a:r>
              <a:rPr lang="pt-BR" strike="sngStrike" dirty="0"/>
              <a:t>Multimodal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6B81D9E-9090-A873-222F-4CBEC7456127}"/>
              </a:ext>
            </a:extLst>
          </p:cNvPr>
          <p:cNvSpPr txBox="1"/>
          <p:nvPr/>
        </p:nvSpPr>
        <p:spPr>
          <a:xfrm>
            <a:off x="5554133" y="1825625"/>
            <a:ext cx="5373512" cy="304698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400" b="1" dirty="0"/>
              <a:t>Para cada um (20 min):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Quando surgiu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Características do modelo de dados (como organiza os dados)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Vantagens e limitações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Aplicações comuns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Exemplos de </a:t>
            </a:r>
            <a:r>
              <a:rPr lang="pt-BR" sz="2400" dirty="0" err="1"/>
              <a:t>SGBDs</a:t>
            </a:r>
            <a:r>
              <a:rPr lang="pt-BR" sz="2400" dirty="0"/>
              <a:t> comerciais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Executar um exemplo</a:t>
            </a:r>
          </a:p>
        </p:txBody>
      </p:sp>
    </p:spTree>
    <p:extLst>
      <p:ext uri="{BB962C8B-B14F-4D97-AF65-F5344CB8AC3E}">
        <p14:creationId xmlns:p14="http://schemas.microsoft.com/office/powerpoint/2010/main" val="415296830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08BCDF-8806-C49F-F139-24622FB22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 bibliográficas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162F806-5965-C85A-6DB3-92CF0BB637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pt-BR" sz="1800" b="0" i="0" u="none" strike="noStrike" baseline="0" dirty="0">
                <a:latin typeface="DejaVuSans"/>
              </a:rPr>
              <a:t>Notas de aulas, prof. José Eduardo Santarém Segundo. </a:t>
            </a:r>
            <a:r>
              <a:rPr lang="pt-BR" sz="1800" b="1" i="0" u="none" strike="noStrike" baseline="0" dirty="0">
                <a:latin typeface="DejaVuSans"/>
              </a:rPr>
              <a:t>Banco de Dados - Normalização - Parte 1</a:t>
            </a:r>
            <a:r>
              <a:rPr lang="pt-BR" sz="1800" i="0" u="none" strike="noStrike" baseline="0" dirty="0">
                <a:latin typeface="DejaVuSans"/>
              </a:rPr>
              <a:t>. UNIVESP, Eixo de Computação. Disponível em: </a:t>
            </a:r>
            <a:r>
              <a:rPr lang="pt-BR" sz="1800" i="0" u="none" strike="noStrike" baseline="0" dirty="0">
                <a:latin typeface="DejaVuSans"/>
                <a:hlinkClick r:id="rId3"/>
              </a:rPr>
              <a:t>https://www.youtube.com/watch?v=OsebNaYQpk8</a:t>
            </a:r>
            <a:r>
              <a:rPr lang="pt-BR" sz="1800" i="0" u="none" strike="noStrike" baseline="0" dirty="0">
                <a:latin typeface="DejaVuSans"/>
              </a:rPr>
              <a:t> </a:t>
            </a:r>
            <a:endParaRPr lang="pt-BR" sz="1800" b="1" i="0" u="none" strike="noStrike" baseline="0" dirty="0">
              <a:latin typeface="DejaVuSans"/>
            </a:endParaRPr>
          </a:p>
          <a:p>
            <a:pPr algn="l"/>
            <a:r>
              <a:rPr lang="pt-BR" sz="1800" b="0" i="0" u="none" strike="noStrike" baseline="0" dirty="0">
                <a:latin typeface="DejaVuSans"/>
              </a:rPr>
              <a:t>ELMASRI, Ramez; NAVATHE, </a:t>
            </a:r>
            <a:r>
              <a:rPr lang="pt-BR" sz="1800" b="0" i="0" u="none" strike="noStrike" baseline="0" dirty="0" err="1">
                <a:latin typeface="DejaVuSans"/>
              </a:rPr>
              <a:t>Shamkant</a:t>
            </a:r>
            <a:r>
              <a:rPr lang="pt-BR" sz="1800" b="0" i="0" u="none" strike="noStrike" baseline="0" dirty="0">
                <a:latin typeface="DejaVuSans"/>
              </a:rPr>
              <a:t> B</a:t>
            </a:r>
            <a:r>
              <a:rPr lang="pt-BR" sz="1800" b="1" i="0" u="none" strike="noStrike" baseline="0" dirty="0">
                <a:latin typeface="DejaVuSans"/>
              </a:rPr>
              <a:t>. Sistemas de Banco de Dados</a:t>
            </a:r>
            <a:r>
              <a:rPr lang="pt-BR" sz="1800" b="0" i="0" u="none" strike="noStrike" baseline="0" dirty="0">
                <a:latin typeface="DejaVuSans"/>
              </a:rPr>
              <a:t>. 7. ed. São Paulo: Pearson Universidades, 2019. 1152 p. ISBN-13 978-8543025001.</a:t>
            </a:r>
          </a:p>
          <a:p>
            <a:pPr algn="l"/>
            <a:r>
              <a:rPr lang="pt-BR" sz="1800" b="0" i="0" u="none" strike="noStrike" baseline="0" dirty="0">
                <a:latin typeface="DejaVuSans"/>
              </a:rPr>
              <a:t>SILBERSCHATZ, Abraham; KORTH, Henry F.; SUDARSHAN, S. </a:t>
            </a:r>
            <a:r>
              <a:rPr lang="pt-BR" sz="1800" b="1" i="0" u="none" strike="noStrike" baseline="0" dirty="0">
                <a:latin typeface="DejaVuSans"/>
              </a:rPr>
              <a:t>Sistema de Banco de Dados.</a:t>
            </a:r>
            <a:r>
              <a:rPr lang="pt-BR" sz="1800" b="0" i="0" u="none" strike="noStrike" baseline="0" dirty="0">
                <a:latin typeface="DejaVuSans"/>
              </a:rPr>
              <a:t> 7. ed. Rio de Janeiro: GEN LTC, 2020. 754 p. ISBN-13 978-8595157330.</a:t>
            </a:r>
          </a:p>
          <a:p>
            <a:pPr algn="l"/>
            <a:r>
              <a:rPr lang="pt-BR" sz="1800" b="0" i="0" u="none" strike="noStrike" baseline="0" dirty="0">
                <a:latin typeface="DejaVuSans"/>
              </a:rPr>
              <a:t>DATE, Christopher J. Introdução a Sistemas de Bancos de Dados. GEN LTC, 2004</a:t>
            </a:r>
          </a:p>
          <a:p>
            <a:pPr algn="l"/>
            <a:r>
              <a:rPr lang="pt-BR" sz="1800" dirty="0"/>
              <a:t>Notas de aulas, prof. Leonardo </a:t>
            </a:r>
            <a:r>
              <a:rPr lang="pt-BR" sz="1800" dirty="0" err="1"/>
              <a:t>Tórtoro</a:t>
            </a:r>
            <a:r>
              <a:rPr lang="pt-BR" sz="1800" dirty="0"/>
              <a:t> Pereira (DEMAC/UNESP). </a:t>
            </a:r>
            <a:r>
              <a:rPr lang="pt-BR" sz="1800" b="1" dirty="0"/>
              <a:t>Sistemas de Banco de Dados- Parte 01.</a:t>
            </a:r>
          </a:p>
          <a:p>
            <a:pPr algn="l"/>
            <a:r>
              <a:rPr lang="pt-BR" sz="1800" dirty="0"/>
              <a:t>PAVLO, Andy; PATEL, </a:t>
            </a:r>
            <a:r>
              <a:rPr lang="pt-BR" sz="1800" dirty="0" err="1"/>
              <a:t>Jinglesh</a:t>
            </a:r>
            <a:r>
              <a:rPr lang="pt-BR" sz="1800" dirty="0"/>
              <a:t> (Carnegie Mellon </a:t>
            </a:r>
            <a:r>
              <a:rPr lang="pt-BR" sz="1800" dirty="0" err="1"/>
              <a:t>University</a:t>
            </a:r>
            <a:r>
              <a:rPr lang="pt-BR" sz="1800" dirty="0"/>
              <a:t>)</a:t>
            </a:r>
            <a:r>
              <a:rPr lang="pt-BR" sz="1800" b="1" dirty="0"/>
              <a:t>. </a:t>
            </a:r>
            <a:r>
              <a:rPr lang="pt-BR" sz="1800" b="1" dirty="0" err="1"/>
              <a:t>Databse</a:t>
            </a:r>
            <a:r>
              <a:rPr lang="pt-BR" sz="1800" b="1" dirty="0"/>
              <a:t> Systems (15-445). </a:t>
            </a:r>
            <a:r>
              <a:rPr lang="pt-BR" sz="1800" dirty="0">
                <a:hlinkClick r:id="rId4"/>
              </a:rPr>
              <a:t>https://15445.courses.cs.cmu.edu/spring2026/slides/01-relationalmodel.pdf</a:t>
            </a:r>
            <a:r>
              <a:rPr lang="pt-BR" sz="1800" dirty="0"/>
              <a:t>. 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pt-BR" sz="1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9800902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82087</TotalTime>
  <Words>2434</Words>
  <Application>Microsoft Office PowerPoint</Application>
  <PresentationFormat>Widescreen</PresentationFormat>
  <Paragraphs>393</Paragraphs>
  <Slides>52</Slides>
  <Notes>8</Notes>
  <HiddenSlides>1</HiddenSlides>
  <MMClips>0</MMClips>
  <ScaleCrop>false</ScaleCrop>
  <HeadingPairs>
    <vt:vector size="6" baseType="variant">
      <vt:variant>
        <vt:lpstr>Fontes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52</vt:i4>
      </vt:variant>
    </vt:vector>
  </HeadingPairs>
  <TitlesOfParts>
    <vt:vector size="63" baseType="lpstr">
      <vt:lpstr>Aptos Narrow</vt:lpstr>
      <vt:lpstr>Arial</vt:lpstr>
      <vt:lpstr>Calibri</vt:lpstr>
      <vt:lpstr>Calibri Light</vt:lpstr>
      <vt:lpstr>Consolas</vt:lpstr>
      <vt:lpstr>Courier New</vt:lpstr>
      <vt:lpstr>DejaVuSans</vt:lpstr>
      <vt:lpstr>Gill Sans</vt:lpstr>
      <vt:lpstr>Noto Sans Symbols</vt:lpstr>
      <vt:lpstr>Tahoma</vt:lpstr>
      <vt:lpstr>Tema do Office</vt:lpstr>
      <vt:lpstr>Apresentação do PowerPoint</vt:lpstr>
      <vt:lpstr>Planejamento da disciplina</vt:lpstr>
      <vt:lpstr>Na aula anterior...</vt:lpstr>
      <vt:lpstr>Projeto lógico</vt:lpstr>
      <vt:lpstr>SQL</vt:lpstr>
      <vt:lpstr>Tipos de dados SQL</vt:lpstr>
      <vt:lpstr>Categorias de comandos SQL</vt:lpstr>
      <vt:lpstr>MySQL Workbench</vt:lpstr>
      <vt:lpstr>Exercício</vt:lpstr>
      <vt:lpstr>Exercício</vt:lpstr>
      <vt:lpstr>Exercício - Resolução</vt:lpstr>
      <vt:lpstr>Resultado</vt:lpstr>
      <vt:lpstr>Agenda</vt:lpstr>
      <vt:lpstr>Categorias de comandos SQL</vt:lpstr>
      <vt:lpstr>Comandos DML</vt:lpstr>
      <vt:lpstr>Comandos DML</vt:lpstr>
      <vt:lpstr>Comandos DML</vt:lpstr>
      <vt:lpstr>Comandos DML</vt:lpstr>
      <vt:lpstr>Comandos DML</vt:lpstr>
      <vt:lpstr>Comandos DML</vt:lpstr>
      <vt:lpstr>Comandos DML</vt:lpstr>
      <vt:lpstr>Comandos DML</vt:lpstr>
      <vt:lpstr>Comandos DML</vt:lpstr>
      <vt:lpstr>Exercício – Inserir dados</vt:lpstr>
      <vt:lpstr>Agenda</vt:lpstr>
      <vt:lpstr>Categorias de comandos SQL</vt:lpstr>
      <vt:lpstr>Comando DQL</vt:lpstr>
      <vt:lpstr>Comando DQL</vt:lpstr>
      <vt:lpstr>Comando DQL</vt:lpstr>
      <vt:lpstr>Comando DQL</vt:lpstr>
      <vt:lpstr>Comando DQL</vt:lpstr>
      <vt:lpstr>Comando DQL</vt:lpstr>
      <vt:lpstr>Comando DQL</vt:lpstr>
      <vt:lpstr>Comando DQL</vt:lpstr>
      <vt:lpstr>Comando DQL</vt:lpstr>
      <vt:lpstr>Comando DQL</vt:lpstr>
      <vt:lpstr>Comado DQL</vt:lpstr>
      <vt:lpstr>Apresentação do PowerPoint</vt:lpstr>
      <vt:lpstr>Comando DQL</vt:lpstr>
      <vt:lpstr>Apresentação do PowerPoint</vt:lpstr>
      <vt:lpstr>Comando DQL</vt:lpstr>
      <vt:lpstr>Comando DQL</vt:lpstr>
      <vt:lpstr>Apresentação do PowerPoint</vt:lpstr>
      <vt:lpstr>Comando DQL</vt:lpstr>
      <vt:lpstr>Apresentação do PowerPoint</vt:lpstr>
      <vt:lpstr>Comando DQL</vt:lpstr>
      <vt:lpstr>Apresentação do PowerPoint</vt:lpstr>
      <vt:lpstr>Exercícios</vt:lpstr>
      <vt:lpstr>Exercícios</vt:lpstr>
      <vt:lpstr>Atividade</vt:lpstr>
      <vt:lpstr>Seminários</vt:lpstr>
      <vt:lpstr>Referências bibliográficas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Bruno Elias Penteado</dc:creator>
  <cp:lastModifiedBy>Author</cp:lastModifiedBy>
  <cp:revision>2695</cp:revision>
  <dcterms:created xsi:type="dcterms:W3CDTF">2024-08-08T20:58:28Z</dcterms:created>
  <dcterms:modified xsi:type="dcterms:W3CDTF">2026-08-13T00:02:04Z</dcterms:modified>
</cp:coreProperties>
</file>