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1270" r:id="rId3"/>
    <p:sldId id="1222" r:id="rId4"/>
    <p:sldId id="1110" r:id="rId5"/>
    <p:sldId id="1271" r:id="rId6"/>
    <p:sldId id="1272" r:id="rId7"/>
    <p:sldId id="1273" r:id="rId8"/>
    <p:sldId id="1339" r:id="rId9"/>
    <p:sldId id="1274" r:id="rId10"/>
    <p:sldId id="1308" r:id="rId11"/>
    <p:sldId id="1275" r:id="rId12"/>
    <p:sldId id="1276" r:id="rId13"/>
    <p:sldId id="1277" r:id="rId14"/>
    <p:sldId id="1278" r:id="rId15"/>
    <p:sldId id="1279" r:id="rId16"/>
    <p:sldId id="1280" r:id="rId17"/>
    <p:sldId id="1281" r:id="rId18"/>
    <p:sldId id="1282" r:id="rId19"/>
    <p:sldId id="1284" r:id="rId20"/>
    <p:sldId id="1283" r:id="rId21"/>
    <p:sldId id="1285" r:id="rId22"/>
    <p:sldId id="1290" r:id="rId23"/>
    <p:sldId id="1291" r:id="rId24"/>
    <p:sldId id="1312" r:id="rId25"/>
    <p:sldId id="1286" r:id="rId26"/>
    <p:sldId id="1287" r:id="rId27"/>
    <p:sldId id="1288" r:id="rId28"/>
    <p:sldId id="1310" r:id="rId29"/>
    <p:sldId id="1311" r:id="rId30"/>
    <p:sldId id="1309" r:id="rId31"/>
    <p:sldId id="1289" r:id="rId32"/>
    <p:sldId id="1292" r:id="rId33"/>
    <p:sldId id="1293" r:id="rId34"/>
    <p:sldId id="1294" r:id="rId35"/>
    <p:sldId id="1295" r:id="rId36"/>
    <p:sldId id="1296" r:id="rId37"/>
    <p:sldId id="1297" r:id="rId38"/>
    <p:sldId id="1313" r:id="rId39"/>
    <p:sldId id="1298" r:id="rId40"/>
    <p:sldId id="1299" r:id="rId41"/>
    <p:sldId id="1300" r:id="rId42"/>
    <p:sldId id="1301" r:id="rId43"/>
    <p:sldId id="1302" r:id="rId44"/>
    <p:sldId id="1303" r:id="rId45"/>
    <p:sldId id="1304" r:id="rId46"/>
    <p:sldId id="1305" r:id="rId47"/>
    <p:sldId id="1306" r:id="rId48"/>
    <p:sldId id="1307" r:id="rId49"/>
    <p:sldId id="1314" r:id="rId50"/>
    <p:sldId id="1315" r:id="rId51"/>
    <p:sldId id="1341" r:id="rId52"/>
    <p:sldId id="1342" r:id="rId5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E5"/>
    <a:srgbClr val="351C75"/>
    <a:srgbClr val="674EA7"/>
    <a:srgbClr val="E1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3870" autoAdjust="0"/>
  </p:normalViewPr>
  <p:slideViewPr>
    <p:cSldViewPr snapToGrid="0">
      <p:cViewPr varScale="1">
        <p:scale>
          <a:sx n="75" d="100"/>
          <a:sy n="75" d="100"/>
        </p:scale>
        <p:origin x="3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30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C1F7-4DB4-88B8-7C26-3F8A456D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53B9C8-08AC-68A0-2881-99F07265E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BF85E8-D449-C20D-638A-2F98AD12C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492266-AAD5-EA3F-13AB-822E36603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269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ED0AF-A7A3-C0D1-B392-05EEBD9E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B67800-44CB-9AB8-25E2-67F06A688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E18D1E9-2B0D-A7C5-2556-01E34C5B6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E731F4-D88E-8442-9D01-D8015A483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303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4012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41F15-D01D-4FF5-A930-5DA629487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951A010-3FC1-AC00-3D71-6B6F092A0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FAD9E8-43A6-2048-7AED-3B73FA6FE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7F2702-6F6F-2ECC-4736-B9FF37A5F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5813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17AF8-F847-27AA-E9BE-D096C4BD4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B2FBA9E-37EB-AFE9-74E2-032610191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BD4FA4B-2922-D2CD-7AF1-8B24BA30D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2A91E7-FA21-3886-BCD2-FBE1E2DD2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755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8C15A9F-51BE-835B-BCD8-3FE41794173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93855" y="17653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penteado@unesp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dimuthadithya/inner-join-outer-join-and-full-join-in-sql-using-laravel-67f2a4b36665" TargetMode="Externa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6</a:t>
            </a:r>
          </a:p>
          <a:p>
            <a:r>
              <a:rPr lang="pt-BR" dirty="0"/>
              <a:t>Álgebra Relacional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sz="1800" dirty="0">
                <a:hlinkClick r:id="rId3"/>
              </a:rPr>
              <a:t>bruno.penteado@unesp.br</a:t>
            </a: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68D3A-4E1D-B7C3-A617-AC5315EA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C2CDBE-5CFE-8FC3-E1C4-26E49A717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Mapeamento ER para Modelo Relacional</a:t>
            </a:r>
          </a:p>
          <a:p>
            <a:pPr lvl="1"/>
            <a:r>
              <a:rPr lang="pt-BR" dirty="0"/>
              <a:t>7 passos</a:t>
            </a:r>
          </a:p>
          <a:p>
            <a:pPr>
              <a:spcBef>
                <a:spcPts val="2400"/>
              </a:spcBef>
            </a:pPr>
            <a:r>
              <a:rPr lang="pt-BR" dirty="0"/>
              <a:t>Mapeamento de construtos EER para Modelo Relacional</a:t>
            </a:r>
          </a:p>
          <a:p>
            <a:pPr lvl="1"/>
            <a:r>
              <a:rPr lang="pt-BR" dirty="0"/>
              <a:t>Generalização/especialização</a:t>
            </a:r>
          </a:p>
          <a:p>
            <a:pPr lvl="1"/>
            <a:r>
              <a:rPr lang="pt-BR" dirty="0"/>
              <a:t>Agregação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1711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91118-3B8B-ABE8-1F17-7877C51F8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lógico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CD2630-2DEB-C44E-972B-0042A2446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19" y="1697633"/>
            <a:ext cx="8662761" cy="479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31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C4F4-08BA-9CB3-278E-FE1CECDC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42D60B-B79E-5A3F-04EB-7AA90BF0C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Álgebra relacional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unários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adicionais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binários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de conjuntos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682D57-6369-E819-79EF-8BC5D7AA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B61095-3DB5-957E-2B4C-792F937ECC8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111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C9A9FB-DFBE-EC03-E14B-715F6BAE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Relembrando...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66FD81-3ED9-03A4-DEE1-5E950641A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Modelo de dados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olidFill>
                  <a:schemeClr val="accent1"/>
                </a:solidFill>
              </a:rPr>
              <a:t>Estrutura</a:t>
            </a:r>
            <a:r>
              <a:rPr lang="pt-BR" dirty="0"/>
              <a:t> do banco de dados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olidFill>
                  <a:schemeClr val="accent1"/>
                </a:solidFill>
              </a:rPr>
              <a:t>Restrições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Conjunto de </a:t>
            </a:r>
            <a:r>
              <a:rPr lang="pt-BR" dirty="0">
                <a:solidFill>
                  <a:schemeClr val="accent1"/>
                </a:solidFill>
              </a:rPr>
              <a:t>operações</a:t>
            </a:r>
            <a:r>
              <a:rPr lang="pt-BR" dirty="0"/>
              <a:t> para manipular dados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Construção de requisições básicas para recuperar dados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Modelo Relacional </a:t>
            </a:r>
            <a:r>
              <a:rPr lang="pt-BR" dirty="0">
                <a:sym typeface="Wingdings" panose="05000000000000000000" pitchFamily="2" charset="2"/>
              </a:rPr>
              <a:t> </a:t>
            </a:r>
            <a:r>
              <a:rPr lang="pt-BR" b="1" dirty="0">
                <a:sym typeface="Wingdings" panose="05000000000000000000" pitchFamily="2" charset="2"/>
              </a:rPr>
              <a:t>Álgebra relacional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468367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D59F5-6DFD-F839-69EF-DDA54EE5D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Álgebra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1B317E-9E18-642B-D64F-9C4BBDED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Linguagem de consulta procedural</a:t>
            </a:r>
          </a:p>
          <a:p>
            <a:pPr>
              <a:spcBef>
                <a:spcPts val="2400"/>
              </a:spcBef>
            </a:pPr>
            <a:r>
              <a:rPr lang="pt-BR" dirty="0"/>
              <a:t>Operação da álgebra relacional</a:t>
            </a:r>
          </a:p>
          <a:p>
            <a:pPr lvl="1"/>
            <a:r>
              <a:rPr lang="pt-BR" dirty="0"/>
              <a:t>Definida sobre uma ou mais Relações</a:t>
            </a:r>
          </a:p>
          <a:p>
            <a:pPr lvl="1"/>
            <a:r>
              <a:rPr lang="pt-BR" dirty="0"/>
              <a:t>Resultado </a:t>
            </a:r>
            <a:r>
              <a:rPr lang="pt-BR" dirty="0">
                <a:sym typeface="Wingdings" panose="05000000000000000000" pitchFamily="2" charset="2"/>
              </a:rPr>
              <a:t> Relação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Expressão da álgebra relacional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Sequência de operações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Consulta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Expressa como uma expressão da álgebra relacional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7927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AC4B4-46C1-92A7-EA15-EA3CBE954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Álgebra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E24323-2754-62A5-DED9-E513EFB8C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perspectiva algébrica: uma Relação é um elemento </a:t>
            </a:r>
            <a:r>
              <a:rPr lang="pt-BR" u="sng" dirty="0"/>
              <a:t>imutável</a:t>
            </a:r>
            <a:r>
              <a:rPr lang="pt-BR" dirty="0"/>
              <a:t> e </a:t>
            </a:r>
            <a:r>
              <a:rPr lang="pt-BR" u="sng" dirty="0"/>
              <a:t>atômico</a:t>
            </a:r>
            <a:r>
              <a:rPr lang="pt-BR" dirty="0"/>
              <a:t>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Não tem operações de definição de Relações ou inclusão/ modificação/ exclusão de tuplas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AR permite apenas a </a:t>
            </a:r>
            <a:r>
              <a:rPr lang="pt-BR" b="1" dirty="0"/>
              <a:t>definição de consultas</a:t>
            </a:r>
          </a:p>
        </p:txBody>
      </p:sp>
    </p:spTree>
    <p:extLst>
      <p:ext uri="{BB962C8B-B14F-4D97-AF65-F5344CB8AC3E}">
        <p14:creationId xmlns:p14="http://schemas.microsoft.com/office/powerpoint/2010/main" val="131809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474CE-6A3D-2478-3B58-C7D2220E3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Álgebra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2E7D29-6FC9-6644-FD9F-F3487AAD4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Entendimento de </a:t>
            </a:r>
            <a:r>
              <a:rPr lang="pt-BR" b="1" dirty="0"/>
              <a:t>otimizadores de consultas </a:t>
            </a:r>
            <a:r>
              <a:rPr lang="pt-BR" dirty="0"/>
              <a:t>em </a:t>
            </a:r>
            <a:r>
              <a:rPr lang="pt-BR" dirty="0" err="1"/>
              <a:t>SGBDs</a:t>
            </a:r>
            <a:endParaRPr lang="pt-BR" dirty="0"/>
          </a:p>
          <a:p>
            <a:pPr lvl="1">
              <a:spcBef>
                <a:spcPts val="1800"/>
              </a:spcBef>
            </a:pPr>
            <a:r>
              <a:rPr lang="pt-BR" dirty="0"/>
              <a:t>SGBD transforma SQL em AR para criar Plano de Execução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Compreender ordem de execução de operadores e sua otimização</a:t>
            </a:r>
          </a:p>
          <a:p>
            <a:pPr>
              <a:spcBef>
                <a:spcPts val="2400"/>
              </a:spcBef>
            </a:pPr>
            <a:r>
              <a:rPr lang="pt-BR" dirty="0"/>
              <a:t>Independência de sintaxe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SQL, LINQ, Pandas, </a:t>
            </a:r>
            <a:r>
              <a:rPr lang="pt-BR" dirty="0" err="1"/>
              <a:t>PySpark</a:t>
            </a:r>
            <a:r>
              <a:rPr lang="pt-BR" dirty="0"/>
              <a:t>... (APIs com transformações baseadas em AR)</a:t>
            </a:r>
          </a:p>
          <a:p>
            <a:pPr>
              <a:spcBef>
                <a:spcPts val="2400"/>
              </a:spcBef>
            </a:pPr>
            <a:r>
              <a:rPr lang="pt-BR" dirty="0"/>
              <a:t>Força pensamento em conjuntos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Evita erros comuns em consultas complexas , com rigor matemático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033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B4AF8-0C95-F0E6-B271-232EBDAC8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Álgebra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59A915-41AB-2AA5-45F0-6725B58C8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Operações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Unárias</a:t>
            </a:r>
            <a:r>
              <a:rPr lang="pt-BR" dirty="0"/>
              <a:t>: Seleção e Projeção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Binárias</a:t>
            </a:r>
            <a:r>
              <a:rPr lang="pt-BR" dirty="0"/>
              <a:t>: Junção (interna e externa) e Divisão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Sobre Conjuntos</a:t>
            </a:r>
            <a:r>
              <a:rPr lang="pt-BR" dirty="0"/>
              <a:t>: União, União Exclusiva, Interseção, Diferença, Produto Cartesiano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Outras</a:t>
            </a:r>
            <a:r>
              <a:rPr lang="pt-BR" dirty="0"/>
              <a:t>: </a:t>
            </a:r>
            <a:r>
              <a:rPr lang="pt-BR" i="1" dirty="0" err="1"/>
              <a:t>Assignment</a:t>
            </a:r>
            <a:r>
              <a:rPr lang="pt-BR" dirty="0"/>
              <a:t> e </a:t>
            </a:r>
            <a:r>
              <a:rPr lang="pt-BR" i="1" dirty="0" err="1"/>
              <a:t>Rename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82402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D496-8982-E4E5-7CF8-A790A7DFC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16D73F-8978-693E-8765-967F6418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Álgebra relacional</a:t>
            </a:r>
          </a:p>
          <a:p>
            <a:pPr lvl="1"/>
            <a:r>
              <a:rPr lang="pt-BR" b="1" dirty="0"/>
              <a:t>Operadores unários</a:t>
            </a:r>
          </a:p>
          <a:p>
            <a:pPr lvl="2"/>
            <a:r>
              <a:rPr lang="pt-BR" b="1" dirty="0"/>
              <a:t>Seleção</a:t>
            </a:r>
          </a:p>
          <a:p>
            <a:pPr lvl="2"/>
            <a:r>
              <a:rPr lang="pt-BR" b="1" dirty="0"/>
              <a:t>Projeção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adicionais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binários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de conjuntos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628353-BF17-8392-DEF9-C748F72CE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9B9F520-2581-FC53-C03C-8726C4ACB04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217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7D9F5-4D09-20D9-1702-A708291A3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relacionais unárias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093853-FC27-F33A-ABC7-A6E1EB559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Levam em conta a estrutura das relações</a:t>
            </a:r>
          </a:p>
          <a:p>
            <a:pPr>
              <a:spcBef>
                <a:spcPts val="2400"/>
              </a:spcBef>
            </a:pPr>
            <a:r>
              <a:rPr lang="pt-BR" dirty="0"/>
              <a:t>Basicamente, 2 operações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Seleção (</a:t>
            </a:r>
            <a:r>
              <a:rPr lang="el-G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σ</a:t>
            </a:r>
            <a:r>
              <a:rPr lang="pt-BR" dirty="0"/>
              <a:t>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Projeção (</a:t>
            </a:r>
            <a:r>
              <a:rPr lang="el-G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π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41502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44212-7571-0380-F707-B5B3ED0C0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7E2B2D-B293-5386-38CF-8AF20F5B3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sz="2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σ</a:t>
            </a:r>
            <a:r>
              <a:rPr lang="pt-BR" i="1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(</a:t>
            </a:r>
            <a:r>
              <a:rPr lang="pt-BR" sz="2800" b="0" i="1" u="none" strike="noStrike" baseline="-2500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condição</a:t>
            </a:r>
            <a:r>
              <a:rPr lang="pt-BR" sz="2800" b="0" i="0" u="none" strike="noStrike" baseline="-2500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) 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R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Resultado: </a:t>
            </a:r>
            <a:r>
              <a:rPr lang="pt-BR" b="1" dirty="0"/>
              <a:t>Relação </a:t>
            </a:r>
            <a:r>
              <a:rPr lang="pt-BR" dirty="0"/>
              <a:t>que contém o subconjunto das tuplas de R que satisfazem à condição de seleção &lt;</a:t>
            </a:r>
            <a:r>
              <a:rPr lang="pt-BR" b="1" i="1" dirty="0"/>
              <a:t>condição</a:t>
            </a:r>
            <a:r>
              <a:rPr lang="pt-BR" dirty="0"/>
              <a:t>&gt;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Condição de seleção: operação de comparação de um atributo da relação com :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Uma constante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Outro atributo </a:t>
            </a:r>
            <a:r>
              <a:rPr lang="pt-BR" dirty="0">
                <a:solidFill>
                  <a:schemeClr val="accent1"/>
                </a:solidFill>
              </a:rPr>
              <a:t>da própria relação </a:t>
            </a:r>
            <a:r>
              <a:rPr lang="pt-BR" dirty="0">
                <a:sym typeface="Wingdings" panose="05000000000000000000" pitchFamily="2" charset="2"/>
              </a:rPr>
              <a:t> </a:t>
            </a:r>
            <a:r>
              <a:rPr lang="pt-BR" u="sng" dirty="0">
                <a:sym typeface="Wingdings" panose="05000000000000000000" pitchFamily="2" charset="2"/>
              </a:rPr>
              <a:t>comparação de valores de atributos da mesma tupla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3507323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DA188-458A-B559-AB3C-D84235A1B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02140B-75F4-FB23-AC50-B9A16CC98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 combinar várias condições concatenadas por operadores lógicos </a:t>
            </a:r>
            <a:r>
              <a:rPr lang="pt-BR" b="1" dirty="0"/>
              <a:t>AND</a:t>
            </a:r>
            <a:r>
              <a:rPr lang="pt-BR" dirty="0"/>
              <a:t> e </a:t>
            </a:r>
            <a:r>
              <a:rPr lang="pt-BR" b="1" dirty="0"/>
              <a:t>OR</a:t>
            </a:r>
          </a:p>
          <a:p>
            <a:pPr lvl="1"/>
            <a:r>
              <a:rPr lang="pt-BR" dirty="0"/>
              <a:t>Ex.: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809815-E5A2-4396-ED9D-7C4029880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747" y="3429000"/>
            <a:ext cx="8188506" cy="139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99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86D09-AC77-86C1-4BE9-1583270F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0C19DF-246A-76F1-DD27-837F8DB59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Particionamento horizontal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Escolha de algumas linhas da tabela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A8F67FC5-D361-67C6-D7B2-50B3FBA598EF}"/>
              </a:ext>
            </a:extLst>
          </p:cNvPr>
          <p:cNvGrpSpPr/>
          <p:nvPr/>
        </p:nvGrpSpPr>
        <p:grpSpPr>
          <a:xfrm>
            <a:off x="2040562" y="3351394"/>
            <a:ext cx="7937289" cy="1943371"/>
            <a:chOff x="2040562" y="3351394"/>
            <a:chExt cx="7937289" cy="1943371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6C6D3B0-0609-6691-B47D-DCED1EF58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42948" y="3351394"/>
              <a:ext cx="5934903" cy="1943371"/>
            </a:xfrm>
            <a:prstGeom prst="rect">
              <a:avLst/>
            </a:prstGeom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D6C7C1A-E0D6-AD8E-2665-F64A97F2C557}"/>
                </a:ext>
              </a:extLst>
            </p:cNvPr>
            <p:cNvSpPr txBox="1"/>
            <p:nvPr/>
          </p:nvSpPr>
          <p:spPr>
            <a:xfrm>
              <a:off x="2040562" y="3907580"/>
              <a:ext cx="200238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 sz="4800" b="0" i="0" u="none" strike="noStrike" dirty="0">
                  <a:solidFill>
                    <a:srgbClr val="000000"/>
                  </a:solidFill>
                  <a:effectLst/>
                  <a:latin typeface="Tahoma" panose="020B0604030504040204" pitchFamily="34" charset="0"/>
                </a:rPr>
                <a:t>σ</a:t>
              </a:r>
              <a:r>
                <a:rPr lang="pt-BR" sz="2400" b="0" i="0" u="none" strike="noStrike" dirty="0">
                  <a:solidFill>
                    <a:srgbClr val="000000"/>
                  </a:solidFill>
                  <a:effectLst/>
                  <a:latin typeface="Tahoma" panose="020B0604030504040204" pitchFamily="34" charset="0"/>
                </a:rPr>
                <a:t>(condição)</a:t>
              </a:r>
              <a:endParaRPr lang="pt-BR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51152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637F9-69DE-8038-211C-D1CF014E3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F5CBCD-0978-151A-3583-E1C198665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410691" cy="181952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BC2E180-7214-B3E4-FFED-DA121F7E99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6931"/>
          <a:stretch/>
        </p:blipFill>
        <p:spPr>
          <a:xfrm>
            <a:off x="838200" y="3628988"/>
            <a:ext cx="6735995" cy="68866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E95AC64-D42C-D193-2329-7EB8941220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825"/>
          <a:stretch/>
        </p:blipFill>
        <p:spPr>
          <a:xfrm>
            <a:off x="4869617" y="4584028"/>
            <a:ext cx="6735995" cy="227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32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D0A23-6AE4-7B94-3991-FD56F8EA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99D5F2-7F88-A481-6887-1254EDCCE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Operador </a:t>
            </a:r>
            <a:r>
              <a:rPr lang="pt-BR" b="1" dirty="0"/>
              <a:t>Comutativo</a:t>
            </a:r>
          </a:p>
          <a:p>
            <a:pPr marL="527050" rtl="0" fontAlgn="base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σ</a:t>
            </a:r>
            <a:r>
              <a:rPr lang="pt-BR" sz="36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(condição A)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(σ</a:t>
            </a:r>
            <a:r>
              <a:rPr lang="pt-BR" sz="36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(condição B)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R) = σ</a:t>
            </a:r>
            <a:r>
              <a:rPr lang="pt-BR" sz="36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(condição B)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(σ</a:t>
            </a:r>
            <a:r>
              <a:rPr lang="pt-BR" sz="36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(condição A)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R)  </a:t>
            </a:r>
            <a:endParaRPr lang="pt-BR" sz="3600" b="0" i="0" u="none" strike="noStrike" dirty="0">
              <a:solidFill>
                <a:srgbClr val="8DC765"/>
              </a:solidFill>
              <a:effectLst/>
              <a:latin typeface="Times" panose="02020603050405020304" pitchFamily="18" charset="0"/>
            </a:endParaRPr>
          </a:p>
          <a:p>
            <a:endParaRPr lang="pt-BR" b="0" dirty="0">
              <a:effectLst/>
            </a:endParaRPr>
          </a:p>
          <a:p>
            <a:r>
              <a:rPr lang="pt-BR" b="0" dirty="0">
                <a:effectLst/>
              </a:rPr>
              <a:t>Uma sequência de seleções pode ser executada em qualquer ordem, ou pode ser transformada numa única seleção</a:t>
            </a:r>
          </a:p>
          <a:p>
            <a:pPr marL="298450" indent="0" rtl="0" fontAlgn="base">
              <a:spcBef>
                <a:spcPts val="1800"/>
              </a:spcBef>
              <a:buNone/>
            </a:pP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σ</a:t>
            </a:r>
            <a:r>
              <a:rPr lang="pt-BR" sz="36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(condição 1)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(σ</a:t>
            </a:r>
            <a:r>
              <a:rPr lang="pt-BR" sz="36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(condição 2)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(...(σ</a:t>
            </a:r>
            <a:r>
              <a:rPr lang="pt-BR" sz="36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(condição n)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(R))))</a:t>
            </a:r>
            <a:endParaRPr lang="pt-BR" sz="3600" b="0" i="0" u="none" strike="noStrike" dirty="0">
              <a:solidFill>
                <a:srgbClr val="8DC765"/>
              </a:solidFill>
              <a:effectLst/>
              <a:latin typeface="Times" panose="02020603050405020304" pitchFamily="18" charset="0"/>
            </a:endParaRPr>
          </a:p>
          <a:p>
            <a:pPr marL="298450" indent="0" rtl="0" fontAlgn="base">
              <a:spcBef>
                <a:spcPts val="1800"/>
              </a:spcBef>
              <a:buNone/>
            </a:pP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σ </a:t>
            </a:r>
            <a:r>
              <a:rPr lang="pt-BR" sz="36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((condição 1)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3600" b="1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pt-BR" sz="36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(condição 2)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3600" b="1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pt-BR" sz="36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... (condição n))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(R)</a:t>
            </a:r>
            <a:endParaRPr lang="pt-BR" sz="3600" b="0" i="0" u="none" strike="noStrike" dirty="0">
              <a:solidFill>
                <a:srgbClr val="8DC765"/>
              </a:solidFill>
              <a:effectLst/>
              <a:latin typeface="Times" panose="02020603050405020304" pitchFamily="18" charset="0"/>
            </a:endParaRPr>
          </a:p>
          <a:p>
            <a:pPr marL="457200" lvl="1" indent="0">
              <a:buNone/>
            </a:pPr>
            <a:br>
              <a:rPr lang="pt-BR" b="0" dirty="0">
                <a:effectLst/>
              </a:rPr>
            </a:b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18280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69443-ABA8-E3F1-CAA2-58906832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E96D92-941A-4C9B-4431-5BE70CCB3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Aplicado a cada tupla da Relação R</a:t>
            </a:r>
          </a:p>
          <a:p>
            <a:pPr lvl="1"/>
            <a:r>
              <a:rPr lang="pt-BR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pt-BR" b="1" i="0" u="none" strike="noStrike" dirty="0">
                <a:solidFill>
                  <a:srgbClr val="0707A5"/>
                </a:solidFill>
                <a:effectLst/>
                <a:latin typeface="Calibri" panose="020F0502020204030204" pitchFamily="34" charset="0"/>
              </a:rPr>
              <a:t>grau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de  σ</a:t>
            </a:r>
            <a:r>
              <a:rPr lang="pt-BR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(condição)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(R) ) = (</a:t>
            </a:r>
            <a:r>
              <a:rPr lang="pt-BR" b="0" i="0" u="none" strike="noStrike" dirty="0">
                <a:solidFill>
                  <a:srgbClr val="0707A5"/>
                </a:solidFill>
                <a:effectLst/>
                <a:latin typeface="Calibri" panose="020F0502020204030204" pitchFamily="34" charset="0"/>
              </a:rPr>
              <a:t>grau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de R)</a:t>
            </a:r>
          </a:p>
          <a:p>
            <a:pPr marL="263525" rtl="0" fontAlgn="base">
              <a:spcBef>
                <a:spcPts val="640"/>
              </a:spcBef>
              <a:buFont typeface="Arial" panose="020B0604020202020204" pitchFamily="34" charset="0"/>
              <a:buChar char="•"/>
            </a:pPr>
            <a:endParaRPr lang="pt-BR" dirty="0"/>
          </a:p>
          <a:p>
            <a:pPr marL="263525" rtl="0" fontAlgn="base">
              <a:spcBef>
                <a:spcPts val="640"/>
              </a:spcBef>
              <a:buFont typeface="Arial" panose="020B0604020202020204" pitchFamily="34" charset="0"/>
              <a:buChar char="•"/>
            </a:pPr>
            <a:r>
              <a:rPr lang="pt-BR" dirty="0"/>
              <a:t>Seletividade da condição de seleção: fração de tuplas selecionadas (cardinalidade)</a:t>
            </a:r>
          </a:p>
          <a:p>
            <a:pPr marL="742950" lvl="1" indent="-285750" rtl="0" fontAlgn="base"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| </a:t>
            </a:r>
            <a:r>
              <a:rPr lang="pt-BR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σ</a:t>
            </a:r>
            <a:r>
              <a:rPr lang="pt-BR" sz="32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(condição)</a:t>
            </a:r>
            <a:r>
              <a:rPr lang="pt-BR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(R)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|  ≤  | R |</a:t>
            </a:r>
            <a:endParaRPr lang="pt-BR" sz="2800" b="0" i="0" u="none" strike="noStrike" dirty="0">
              <a:solidFill>
                <a:srgbClr val="8DC765"/>
              </a:solidFill>
              <a:effectLst/>
              <a:latin typeface="Times" panose="02020603050405020304" pitchFamily="18" charset="0"/>
            </a:endParaRP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EEA0EB9-E21B-0B8D-39D8-0D73B614A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324" y="4001294"/>
            <a:ext cx="5648661" cy="222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7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02278-BF58-E164-B675-CE9CD924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2D11A3-DC83-9A43-570E-EF9B02CB2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sz="4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π</a:t>
            </a:r>
            <a:r>
              <a:rPr lang="el-GR" sz="4000" b="1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pt-BR" sz="4000" b="1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atributos)</a:t>
            </a:r>
            <a:r>
              <a:rPr lang="pt-BR" sz="4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</a:t>
            </a:r>
          </a:p>
          <a:p>
            <a:pPr>
              <a:spcBef>
                <a:spcPts val="2400"/>
              </a:spcBef>
            </a:pPr>
            <a:r>
              <a:rPr lang="pt-BR" dirty="0"/>
              <a:t>Resultado: </a:t>
            </a:r>
            <a:r>
              <a:rPr lang="pt-BR" b="1" dirty="0"/>
              <a:t>Relação </a:t>
            </a:r>
            <a:r>
              <a:rPr lang="pt-BR" dirty="0"/>
              <a:t>que tem apenas os atributos indicados na lista &lt;</a:t>
            </a:r>
            <a:r>
              <a:rPr lang="pt-BR" b="1" i="1" dirty="0"/>
              <a:t>atributos</a:t>
            </a:r>
            <a:r>
              <a:rPr lang="pt-BR" dirty="0"/>
              <a:t>&gt;</a:t>
            </a:r>
          </a:p>
          <a:p>
            <a:pPr>
              <a:spcBef>
                <a:spcPts val="2400"/>
              </a:spcBef>
            </a:pPr>
            <a:r>
              <a:rPr lang="pt-BR" b="1" i="1" dirty="0"/>
              <a:t>&lt;atributos&gt;:</a:t>
            </a:r>
            <a:r>
              <a:rPr lang="pt-BR" dirty="0"/>
              <a:t> subconjunto do conjunto de atributos da Relação</a:t>
            </a:r>
            <a:endParaRPr lang="pt-BR" b="1" i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846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C8544-4812-DC5D-870D-ABBEE03B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C13210-5986-BBD4-CB56-B0DA3FC83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Particionamento vertical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Escolha de algumas “colunas” da tabela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346D2F-9E51-0D04-DCCC-746522024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937" y="3038620"/>
            <a:ext cx="7173326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29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2CBE4-76EB-34F0-C695-BF87C2A49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3FB931-BC13-2565-8B86-B14C6BCC1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Resultado de uma Projeção é uma Relação </a:t>
            </a:r>
            <a:r>
              <a:rPr lang="pt-BR" dirty="0">
                <a:sym typeface="Wingdings" panose="05000000000000000000" pitchFamily="2" charset="2"/>
              </a:rPr>
              <a:t> não há tuplas repetidas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Por definição, tuplas repetidas são eliminadas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Se lista de </a:t>
            </a:r>
            <a:r>
              <a:rPr lang="pt-BR" b="1" dirty="0">
                <a:sym typeface="Wingdings" panose="05000000000000000000" pitchFamily="2" charset="2"/>
              </a:rPr>
              <a:t>&lt;</a:t>
            </a:r>
            <a:r>
              <a:rPr lang="pt-BR" b="1" i="1" dirty="0">
                <a:sym typeface="Wingdings" panose="05000000000000000000" pitchFamily="2" charset="2"/>
              </a:rPr>
              <a:t>atributos</a:t>
            </a:r>
            <a:r>
              <a:rPr lang="pt-BR" b="1" dirty="0">
                <a:sym typeface="Wingdings" panose="05000000000000000000" pitchFamily="2" charset="2"/>
              </a:rPr>
              <a:t>&gt; </a:t>
            </a:r>
            <a:r>
              <a:rPr lang="pt-BR" dirty="0">
                <a:sym typeface="Wingdings" panose="05000000000000000000" pitchFamily="2" charset="2"/>
              </a:rPr>
              <a:t>contém chave da relação  resultado naturalmente não tem tuplas repetidas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Se lista de &lt;</a:t>
            </a:r>
            <a:r>
              <a:rPr lang="pt-BR" b="1" i="1" dirty="0">
                <a:sym typeface="Wingdings" panose="05000000000000000000" pitchFamily="2" charset="2"/>
              </a:rPr>
              <a:t>atributos</a:t>
            </a:r>
            <a:r>
              <a:rPr lang="pt-BR" dirty="0">
                <a:sym typeface="Wingdings" panose="05000000000000000000" pitchFamily="2" charset="2"/>
              </a:rPr>
              <a:t>&gt; não contém chave  tuplas repetidas são eliminadas (se for o caso)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101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C5CDC-4F2F-71D8-A0FA-B506D5556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8F8C83-C20C-480D-C4F0-F970114F7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é comutativo</a:t>
            </a:r>
          </a:p>
          <a:p>
            <a:pPr>
              <a:spcBef>
                <a:spcPts val="1800"/>
              </a:spcBef>
            </a:pPr>
            <a:r>
              <a:rPr lang="pt-BR" dirty="0"/>
              <a:t>Se &lt;lista B&gt; contém &lt;lista A&gt; então vale a igualdade:</a:t>
            </a:r>
          </a:p>
          <a:p>
            <a:pPr lvl="1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π </a:t>
            </a:r>
            <a:r>
              <a:rPr lang="pt-BR" sz="28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&lt;lista A&gt;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(π </a:t>
            </a:r>
            <a:r>
              <a:rPr lang="pt-BR" sz="28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&lt;lista B&gt; 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(R)) = π </a:t>
            </a:r>
            <a:r>
              <a:rPr lang="pt-BR" sz="28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&lt;lista A&gt; 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(R)</a:t>
            </a:r>
          </a:p>
          <a:p>
            <a:pPr lvl="1"/>
            <a:endParaRPr lang="pt-BR" sz="2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lvl="1" fontAlgn="base">
              <a:spcBef>
                <a:spcPts val="720"/>
              </a:spcBef>
            </a:pP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pt-BR" sz="2800" b="1" i="0" u="none" strike="noStrike" dirty="0">
                <a:solidFill>
                  <a:srgbClr val="0707A5"/>
                </a:solidFill>
                <a:effectLst/>
                <a:latin typeface="Calibri" panose="020F0502020204030204" pitchFamily="34" charset="0"/>
              </a:rPr>
              <a:t>grau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de π</a:t>
            </a:r>
            <a:r>
              <a:rPr lang="pt-BR" sz="28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</a:t>
            </a:r>
            <a:r>
              <a:rPr lang="pt-BR" sz="2800" b="0" i="1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lista</a:t>
            </a:r>
            <a:r>
              <a:rPr lang="pt-BR" sz="28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&gt;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(R) ) = |&lt;</a:t>
            </a:r>
            <a:r>
              <a:rPr lang="pt-BR" sz="28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lista&gt;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|  </a:t>
            </a:r>
            <a:endParaRPr lang="pt-BR" sz="2800" b="0" i="0" u="none" strike="noStrike" dirty="0">
              <a:solidFill>
                <a:srgbClr val="8DC765"/>
              </a:solidFill>
              <a:effectLst/>
              <a:latin typeface="Times" panose="02020603050405020304" pitchFamily="18" charset="0"/>
            </a:endParaRPr>
          </a:p>
          <a:p>
            <a:pPr lvl="1">
              <a:spcBef>
                <a:spcPts val="2400"/>
              </a:spcBef>
            </a:pP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| π</a:t>
            </a:r>
            <a:r>
              <a:rPr lang="pt-BR" sz="28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</a:t>
            </a:r>
            <a:r>
              <a:rPr lang="pt-BR" sz="2800" b="0" i="1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lista</a:t>
            </a:r>
            <a:r>
              <a:rPr lang="pt-BR" sz="28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&gt;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(R) |  </a:t>
            </a:r>
            <a:r>
              <a:rPr lang="pt-BR" sz="2800" b="1" i="0" u="none" strike="noStrike" dirty="0">
                <a:solidFill>
                  <a:srgbClr val="0707A5"/>
                </a:solidFill>
                <a:effectLst/>
                <a:latin typeface="Calibri" panose="020F0502020204030204" pitchFamily="34" charset="0"/>
              </a:rPr>
              <a:t>≤ 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| R |</a:t>
            </a:r>
            <a:endParaRPr lang="pt-BR" sz="4400" b="0" i="0" u="none" strike="noStrike" dirty="0">
              <a:solidFill>
                <a:srgbClr val="AA8A14"/>
              </a:solidFill>
              <a:effectLst/>
              <a:latin typeface="Times" panose="02020603050405020304" pitchFamily="18" charset="0"/>
            </a:endParaRP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4806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1E9A2F-6C36-34D2-9691-E105F3F3F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Projeção	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3D1CC1C-3C6D-84F1-086A-9BCC60A895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475"/>
          <a:stretch/>
        </p:blipFill>
        <p:spPr>
          <a:xfrm>
            <a:off x="2704626" y="1690688"/>
            <a:ext cx="6782747" cy="187547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C8F3ABC-3CE7-AFC0-7CCF-85DAC5DFA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296" b="51800"/>
          <a:stretch/>
        </p:blipFill>
        <p:spPr>
          <a:xfrm>
            <a:off x="2704625" y="3647440"/>
            <a:ext cx="6782747" cy="4572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D840E6A-A9FA-1880-8667-C6F3FD71FB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526"/>
          <a:stretch/>
        </p:blipFill>
        <p:spPr>
          <a:xfrm>
            <a:off x="2704625" y="4271962"/>
            <a:ext cx="6782747" cy="16160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518AF49-BF00-7E82-8719-9FBDA4805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595" b="32292"/>
          <a:stretch/>
        </p:blipFill>
        <p:spPr>
          <a:xfrm>
            <a:off x="2826546" y="5876608"/>
            <a:ext cx="6782747" cy="98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2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1F5DC-B413-8AF1-FB1D-0B42BE4D9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CB1355-90F4-332E-3B89-AF56CE42E9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423"/>
          <a:stretch/>
        </p:blipFill>
        <p:spPr>
          <a:xfrm>
            <a:off x="2061599" y="1531547"/>
            <a:ext cx="8068801" cy="259341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C49EEB6-D80C-D73F-9665-E9C0222BFC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30"/>
          <a:stretch/>
        </p:blipFill>
        <p:spPr>
          <a:xfrm>
            <a:off x="2579983" y="5056289"/>
            <a:ext cx="6096851" cy="103443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E2077E3-B15B-A29A-E9F3-8B65EACCD9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60" b="3821"/>
          <a:stretch/>
        </p:blipFill>
        <p:spPr>
          <a:xfrm>
            <a:off x="4814741" y="6049159"/>
            <a:ext cx="2105319" cy="76727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79DFE6A-73B0-CAE3-0434-62978A3CFC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712"/>
          <a:stretch/>
        </p:blipFill>
        <p:spPr>
          <a:xfrm>
            <a:off x="2061599" y="4105551"/>
            <a:ext cx="8068801" cy="96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70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E2E2-3D18-A1FF-40CE-3FD0960B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4FDCC4-0EF8-2785-C3CE-D212C4044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Álgebra relacional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unários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Operadores adicionais</a:t>
            </a:r>
          </a:p>
          <a:p>
            <a:pPr lvl="2"/>
            <a:r>
              <a:rPr lang="pt-BR" b="1" i="1" dirty="0" err="1"/>
              <a:t>Assignment</a:t>
            </a:r>
            <a:r>
              <a:rPr lang="pt-BR" b="1" i="1" dirty="0"/>
              <a:t> </a:t>
            </a:r>
            <a:r>
              <a:rPr lang="pt-BR" b="1" dirty="0"/>
              <a:t>(atribuição)</a:t>
            </a:r>
          </a:p>
          <a:p>
            <a:pPr lvl="2"/>
            <a:r>
              <a:rPr lang="pt-BR" b="1" i="1" dirty="0" err="1"/>
              <a:t>Rename</a:t>
            </a:r>
            <a:r>
              <a:rPr lang="pt-BR" b="1" dirty="0"/>
              <a:t> (renomear)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binários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de conjuntos</a:t>
            </a:r>
          </a:p>
          <a:p>
            <a:pPr lvl="2"/>
            <a:endParaRPr lang="pt-BR" b="1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60CED0-3F28-73B7-E2FB-AF09E766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BDDD999-7E8C-8331-D706-57CA87F3C79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610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74536-E4FD-8D21-416E-139392AB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Assignment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66A239-FA17-0E25-8ED2-0735D73FB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Assignment</a:t>
            </a:r>
            <a:r>
              <a:rPr lang="pt-BR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 ← ): d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ois modos de utilização: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1) </a:t>
            </a:r>
            <a:r>
              <a:rPr lang="pt-BR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Atribuir um nome a uma Relação que armazena resultados intermediários de uma expressão algébrica</a:t>
            </a:r>
          </a:p>
          <a:p>
            <a:pPr lvl="1">
              <a:spcBef>
                <a:spcPts val="1800"/>
              </a:spcBef>
            </a:pPr>
            <a:r>
              <a:rPr lang="pt-BR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Nome 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←</a:t>
            </a:r>
            <a:r>
              <a:rPr lang="pt-BR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Expressão Algébrica Relacional</a:t>
            </a:r>
            <a:endParaRPr lang="pt-BR" b="1" i="0" u="none" strike="noStrike" dirty="0">
              <a:solidFill>
                <a:srgbClr val="AA8A14"/>
              </a:solidFill>
              <a:effectLst/>
              <a:latin typeface="Times" panose="02020603050405020304" pitchFamily="18" charset="0"/>
            </a:endParaRPr>
          </a:p>
          <a:p>
            <a:pPr lvl="1"/>
            <a:endParaRPr lang="pt-BR" u="none" strike="noStrike" dirty="0">
              <a:solidFill>
                <a:srgbClr val="AA8A14"/>
              </a:solidFill>
              <a:effectLst/>
              <a:latin typeface="Times" panose="02020603050405020304" pitchFamily="18" charset="0"/>
            </a:endParaRP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B0ECBA5-C88E-D970-87CA-61A6424C4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835" y="4128779"/>
            <a:ext cx="5086329" cy="218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8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892BF-9D49-9FA0-4F79-E561BAC47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Assignment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A1EA68-F71D-BF5E-A9C5-3810A6D65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Assignment</a:t>
            </a:r>
            <a:r>
              <a:rPr lang="pt-BR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 ← ): d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ois modos de utilização: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2) </a:t>
            </a:r>
            <a:r>
              <a:rPr lang="pt-BR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Renomear os atributos numa relação intermediária ou resultante de uma sequência de operações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18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NomeRelação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(A</a:t>
            </a:r>
            <a:r>
              <a:rPr lang="pt-BR" sz="1800" b="1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</a:t>
            </a:r>
            <a:r>
              <a:rPr lang="pt-BR" sz="1800" b="1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...) </a:t>
            </a: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←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Expressão</a:t>
            </a:r>
            <a:endParaRPr lang="pt-BR" sz="1800" b="1" i="0" u="none" strike="noStrike" dirty="0">
              <a:solidFill>
                <a:srgbClr val="AA8A14"/>
              </a:solidFill>
              <a:effectLst/>
              <a:latin typeface="Times" panose="02020603050405020304" pitchFamily="18" charset="0"/>
            </a:endParaRPr>
          </a:p>
          <a:p>
            <a:pPr marL="457200" lvl="1" indent="0">
              <a:spcBef>
                <a:spcPts val="1800"/>
              </a:spcBef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08D7B1-6134-2BE4-2C32-40352E643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781" y="4541520"/>
            <a:ext cx="8038437" cy="139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6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08040-6E13-6774-5EEB-73EE0C20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Rename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15CA60-5E2F-FDEB-C8AB-791E7078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dirty="0" err="1"/>
              <a:t>Rename</a:t>
            </a:r>
            <a:r>
              <a:rPr lang="pt-BR" dirty="0"/>
              <a:t> (</a:t>
            </a:r>
            <a:r>
              <a:rPr lang="el-GR" b="1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ρ</a:t>
            </a:r>
            <a:r>
              <a:rPr lang="pt-BR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)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olidFill>
                  <a:srgbClr val="000000"/>
                </a:solidFill>
                <a:latin typeface="Noto Sans Symbols"/>
              </a:rPr>
              <a:t>Permite renomear uma Relação ou os atributos de uma Relação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olidFill>
                  <a:srgbClr val="000000"/>
                </a:solidFill>
                <a:latin typeface="Noto Sans Symbols"/>
              </a:rPr>
              <a:t>Dada uma relação R(A</a:t>
            </a:r>
            <a:r>
              <a:rPr lang="pt-BR" baseline="-25000" dirty="0">
                <a:solidFill>
                  <a:srgbClr val="000000"/>
                </a:solidFill>
                <a:latin typeface="Noto Sans Symbols"/>
              </a:rPr>
              <a:t>1</a:t>
            </a:r>
            <a:r>
              <a:rPr lang="pt-BR" dirty="0">
                <a:solidFill>
                  <a:srgbClr val="000000"/>
                </a:solidFill>
                <a:latin typeface="Noto Sans Symbols"/>
              </a:rPr>
              <a:t>, A</a:t>
            </a:r>
            <a:r>
              <a:rPr lang="pt-BR" baseline="-25000" dirty="0">
                <a:solidFill>
                  <a:srgbClr val="000000"/>
                </a:solidFill>
                <a:latin typeface="Noto Sans Symbols"/>
              </a:rPr>
              <a:t>2</a:t>
            </a:r>
            <a:r>
              <a:rPr lang="pt-BR" dirty="0">
                <a:solidFill>
                  <a:srgbClr val="000000"/>
                </a:solidFill>
                <a:latin typeface="Noto Sans Symbols"/>
              </a:rPr>
              <a:t>,</a:t>
            </a:r>
            <a:r>
              <a:rPr lang="pt-BR" baseline="-25000" dirty="0">
                <a:solidFill>
                  <a:srgbClr val="000000"/>
                </a:solidFill>
                <a:latin typeface="Noto Sans Symbols"/>
              </a:rPr>
              <a:t> </a:t>
            </a:r>
            <a:r>
              <a:rPr lang="pt-BR" dirty="0">
                <a:solidFill>
                  <a:srgbClr val="000000"/>
                </a:solidFill>
                <a:latin typeface="Noto Sans Symbols"/>
              </a:rPr>
              <a:t>..., </a:t>
            </a:r>
            <a:r>
              <a:rPr lang="pt-BR" dirty="0" err="1">
                <a:solidFill>
                  <a:srgbClr val="000000"/>
                </a:solidFill>
                <a:latin typeface="Noto Sans Symbols"/>
              </a:rPr>
              <a:t>A</a:t>
            </a:r>
            <a:r>
              <a:rPr lang="pt-BR" baseline="-25000" dirty="0" err="1">
                <a:solidFill>
                  <a:srgbClr val="000000"/>
                </a:solidFill>
                <a:latin typeface="Noto Sans Symbols"/>
              </a:rPr>
              <a:t>n</a:t>
            </a:r>
            <a:r>
              <a:rPr lang="pt-BR" dirty="0">
                <a:solidFill>
                  <a:srgbClr val="000000"/>
                </a:solidFill>
                <a:latin typeface="Noto Sans Symbols"/>
              </a:rPr>
              <a:t>)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10357CE-49F3-3DE6-4742-47A2658B1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709" y="4175760"/>
            <a:ext cx="5811061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7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320F4-5FE6-E413-A43B-342E69675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Rename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A139F6-CD6E-7D86-1CE9-68B420F70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dirty="0" err="1"/>
              <a:t>Rename</a:t>
            </a:r>
            <a:r>
              <a:rPr lang="pt-BR" dirty="0"/>
              <a:t> (</a:t>
            </a:r>
            <a:r>
              <a:rPr lang="el-GR" b="1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ρ</a:t>
            </a:r>
            <a:r>
              <a:rPr lang="pt-BR" i="0" u="none" strike="noStrike" dirty="0">
                <a:solidFill>
                  <a:srgbClr val="000000"/>
                </a:solidFill>
                <a:effectLst/>
                <a:latin typeface="Noto Sans Symbols"/>
              </a:rPr>
              <a:t>)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B18386-E729-77F7-500B-474A2DB07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547" y="2785590"/>
            <a:ext cx="7020905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737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DAB02-9693-BA9A-8BBB-1DF53FD2C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E4C55A-E4EE-4E4D-0B01-C667D44E4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Há como fazer em SQL as operações de </a:t>
            </a:r>
            <a:r>
              <a:rPr lang="pt-BR" b="1" i="1" dirty="0" err="1"/>
              <a:t>Assignment</a:t>
            </a:r>
            <a:r>
              <a:rPr lang="pt-BR" b="1" i="1" dirty="0"/>
              <a:t> </a:t>
            </a:r>
            <a:r>
              <a:rPr lang="pt-BR" dirty="0"/>
              <a:t>e </a:t>
            </a:r>
            <a:r>
              <a:rPr lang="pt-BR" b="1" i="1" dirty="0" err="1"/>
              <a:t>Rename</a:t>
            </a:r>
            <a:r>
              <a:rPr lang="pt-BR" b="1" i="1" dirty="0"/>
              <a:t> </a:t>
            </a:r>
            <a:r>
              <a:rPr lang="pt-BR" dirty="0"/>
              <a:t>em SQL?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21593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970ED-6226-52C5-180A-9C10B641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4DBE16-95A5-61F5-1368-25851C26A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Álgebra relacional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unários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adicionais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Operadores binários </a:t>
            </a:r>
          </a:p>
          <a:p>
            <a:pPr lvl="2"/>
            <a:r>
              <a:rPr lang="pt-BR" b="1" dirty="0"/>
              <a:t>Junção</a:t>
            </a:r>
          </a:p>
          <a:p>
            <a:pPr lvl="2"/>
            <a:r>
              <a:rPr lang="pt-BR" b="1" dirty="0"/>
              <a:t>Divisão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de conjuntos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65211E-FF91-FF5A-D6D0-3D630871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5BDFBEB-7AEC-CAA9-91F3-B2519A1FF2B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386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629D2-361C-E7FF-E7FA-2A887667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EC9457-B678-A48B-9FB2-C69B7324E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 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⋈</a:t>
            </a:r>
            <a:r>
              <a:rPr lang="pt-BR" b="1" dirty="0"/>
              <a:t> </a:t>
            </a:r>
            <a:r>
              <a:rPr lang="pt-BR" b="1" baseline="-25000" dirty="0"/>
              <a:t>(condição da junção)</a:t>
            </a:r>
            <a:r>
              <a:rPr lang="pt-BR" b="1" dirty="0"/>
              <a:t> 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BCCDA6C-F564-0DCF-36E8-C0D18DC6F3A3}"/>
              </a:ext>
            </a:extLst>
          </p:cNvPr>
          <p:cNvSpPr txBox="1"/>
          <p:nvPr/>
        </p:nvSpPr>
        <p:spPr>
          <a:xfrm>
            <a:off x="3048000" y="2690336"/>
            <a:ext cx="60960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Aluno = {</a:t>
            </a:r>
            <a:r>
              <a:rPr lang="pt-BR" sz="18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Nome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Idade, Curso} </a:t>
            </a:r>
            <a:endParaRPr lang="pt-BR" b="0" dirty="0">
              <a:effectLst/>
            </a:endParaRPr>
          </a:p>
          <a:p>
            <a:pPr rtl="0"/>
            <a:br>
              <a:rPr lang="pt-BR" b="0" dirty="0">
                <a:effectLst/>
              </a:rPr>
            </a:b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Matricula= {</a:t>
            </a:r>
            <a:r>
              <a:rPr lang="pt-BR" sz="1800" b="0" i="0" u="sng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NomeA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sz="18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Disciplina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Nota} </a:t>
            </a:r>
            <a:endParaRPr lang="pt-BR" b="0" dirty="0">
              <a:effectLst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6CCEA68-60CB-01EE-F2B9-9A9D97555851}"/>
              </a:ext>
            </a:extLst>
          </p:cNvPr>
          <p:cNvSpPr txBox="1"/>
          <p:nvPr/>
        </p:nvSpPr>
        <p:spPr>
          <a:xfrm>
            <a:off x="2214880" y="3895636"/>
            <a:ext cx="8849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1800" b="0" i="1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“Listar as disciplinas em que os alunos de computação se matricularam”</a:t>
            </a:r>
            <a:endParaRPr lang="pt-BR" b="0" dirty="0">
              <a:effectLst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9993763-E16E-DD4A-6688-ACAABB155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435" y="4887756"/>
            <a:ext cx="7215609" cy="116604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0DEDA11-936C-FFC1-F0EE-60480406D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379" y="5194023"/>
            <a:ext cx="373101" cy="34691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DA9EF0-BC87-7BF7-5385-C5920E79B7B0}"/>
              </a:ext>
            </a:extLst>
          </p:cNvPr>
          <p:cNvSpPr txBox="1"/>
          <p:nvPr/>
        </p:nvSpPr>
        <p:spPr>
          <a:xfrm>
            <a:off x="7399299" y="4852680"/>
            <a:ext cx="833120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4800" b="1" i="0" dirty="0">
                <a:solidFill>
                  <a:srgbClr val="0070C0"/>
                </a:solidFill>
                <a:effectLst/>
                <a:latin typeface="Google Sans"/>
              </a:rPr>
              <a:t>⋈</a:t>
            </a:r>
            <a:endParaRPr lang="pt-BR" sz="4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992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433008-D497-0C80-DC97-B1010ECF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2F7E24-2BAF-6692-47D1-5A72333D1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 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⋈</a:t>
            </a:r>
            <a:r>
              <a:rPr lang="pt-BR" b="1" dirty="0"/>
              <a:t> </a:t>
            </a:r>
            <a:r>
              <a:rPr lang="pt-BR" b="1" baseline="-25000" dirty="0"/>
              <a:t>(condição da junção)</a:t>
            </a:r>
            <a:r>
              <a:rPr lang="pt-BR" b="1" dirty="0"/>
              <a:t> S</a:t>
            </a:r>
          </a:p>
          <a:p>
            <a:pPr lvl="1">
              <a:spcBef>
                <a:spcPts val="1800"/>
              </a:spcBef>
            </a:pPr>
            <a:r>
              <a:rPr lang="pt-BR" i="1" dirty="0"/>
              <a:t>Condição da junção</a:t>
            </a:r>
            <a:r>
              <a:rPr lang="pt-BR" b="1" dirty="0"/>
              <a:t>: </a:t>
            </a:r>
          </a:p>
          <a:p>
            <a:pPr lvl="2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</a:t>
            </a:r>
            <a:r>
              <a:rPr lang="pt-BR" sz="18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condição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&gt;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&lt;</a:t>
            </a:r>
            <a:r>
              <a:rPr lang="pt-BR" sz="18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condição</a:t>
            </a:r>
            <a:r>
              <a:rPr lang="pt-BR" sz="18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&gt;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... &lt; </a:t>
            </a:r>
            <a:r>
              <a:rPr lang="pt-BR" sz="18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condição</a:t>
            </a:r>
            <a:r>
              <a:rPr lang="pt-BR" sz="18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&gt;</a:t>
            </a:r>
            <a:endParaRPr lang="pt-BR" sz="1800" b="0" i="0" u="none" strike="noStrike" dirty="0">
              <a:solidFill>
                <a:srgbClr val="AA8A14"/>
              </a:solidFill>
              <a:effectLst/>
              <a:latin typeface="Times" panose="02020603050405020304" pitchFamily="18" charset="0"/>
            </a:endParaRPr>
          </a:p>
          <a:p>
            <a:pPr lvl="1">
              <a:spcBef>
                <a:spcPts val="1800"/>
              </a:spcBef>
            </a:pPr>
            <a:r>
              <a:rPr lang="pt-BR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&lt;</a:t>
            </a:r>
            <a:r>
              <a:rPr lang="pt-BR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condição</a:t>
            </a:r>
            <a:r>
              <a:rPr lang="pt-BR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&gt;: comparação entre atributos, ou conjunto de atributos</a:t>
            </a:r>
            <a:endParaRPr lang="pt-BR" sz="1800" b="0" i="0" u="none" strike="noStrike" dirty="0">
              <a:solidFill>
                <a:srgbClr val="AA8A14"/>
              </a:solidFill>
              <a:effectLst/>
              <a:latin typeface="Times" panose="02020603050405020304" pitchFamily="18" charset="0"/>
            </a:endParaRPr>
          </a:p>
          <a:p>
            <a:pPr lvl="1"/>
            <a:endParaRPr lang="pt-BR" b="1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6C1C83-8AB9-86D6-A718-50104E964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423" y="3896211"/>
            <a:ext cx="6192114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394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92CC9-6676-E023-E1F9-6E8D8D424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4368DA-A39E-BFD6-9F18-6147EAB7C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 ← R </a:t>
            </a:r>
            <a:r>
              <a:rPr lang="pt-BR" sz="2400" b="1" i="0" dirty="0">
                <a:solidFill>
                  <a:srgbClr val="0A0A0A"/>
                </a:solidFill>
                <a:effectLst/>
                <a:latin typeface="Google Sans"/>
              </a:rPr>
              <a:t>⋈</a:t>
            </a:r>
            <a:r>
              <a:rPr lang="pt-BR" sz="2400" b="1" dirty="0"/>
              <a:t> </a:t>
            </a:r>
            <a:r>
              <a:rPr lang="pt-BR" sz="2400" b="1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pt-BR" sz="2400" b="1" i="1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condição de junção</a:t>
            </a:r>
            <a:r>
              <a:rPr lang="pt-BR" sz="2400" b="1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</a:t>
            </a:r>
            <a:endParaRPr lang="pt-BR" sz="2400" b="1" i="0" u="none" strike="noStrike" dirty="0">
              <a:solidFill>
                <a:srgbClr val="3891A7"/>
              </a:solidFill>
              <a:effectLst/>
              <a:latin typeface="Noto Sans Symbols"/>
            </a:endParaRPr>
          </a:p>
          <a:p>
            <a:pPr>
              <a:spcBef>
                <a:spcPts val="2400"/>
              </a:spcBef>
            </a:pPr>
            <a:r>
              <a:rPr lang="pt-BR" sz="2400" dirty="0"/>
              <a:t>Resultado: Q tem uma tupla para cada combinação das tuplas R com as tuplas de S que satisfaz a </a:t>
            </a:r>
            <a:r>
              <a:rPr lang="pt-BR" sz="2400" i="1" dirty="0"/>
              <a:t>condição de junção</a:t>
            </a:r>
          </a:p>
          <a:p>
            <a:pPr marL="581025" rtl="0" fontAlgn="base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|Q|  ≤  | R </a:t>
            </a:r>
            <a:r>
              <a:rPr lang="pt-BR" sz="1800" b="1" i="0" dirty="0">
                <a:solidFill>
                  <a:srgbClr val="0A0A0A"/>
                </a:solidFill>
                <a:effectLst/>
                <a:latin typeface="Google Sans"/>
              </a:rPr>
              <a:t>⋈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 |</a:t>
            </a:r>
            <a:endParaRPr lang="pt-BR" sz="1800" b="0" i="0" u="none" strike="noStrike" dirty="0">
              <a:solidFill>
                <a:srgbClr val="FEB80A"/>
              </a:solidFill>
              <a:effectLst/>
              <a:latin typeface="Noto Sans Symbols"/>
            </a:endParaRPr>
          </a:p>
          <a:p>
            <a:pPr marL="581025" rtl="0" fontAlgn="base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(grau de Q) = (grau de R) + (grau de S)</a:t>
            </a:r>
            <a:endParaRPr lang="pt-BR" sz="1800" b="0" i="0" u="none" strike="noStrike" dirty="0">
              <a:solidFill>
                <a:srgbClr val="FEB80A"/>
              </a:solidFill>
              <a:effectLst/>
              <a:latin typeface="Noto Sans Symbols"/>
            </a:endParaRPr>
          </a:p>
          <a:p>
            <a:pPr>
              <a:spcBef>
                <a:spcPts val="2400"/>
              </a:spcBef>
            </a:pPr>
            <a:r>
              <a:rPr lang="pt-BR" dirty="0"/>
              <a:t>Tuplas de R que não têm correspondentes em S </a:t>
            </a:r>
            <a:r>
              <a:rPr lang="pt-BR" b="1" dirty="0">
                <a:solidFill>
                  <a:srgbClr val="FF0000"/>
                </a:solidFill>
              </a:rPr>
              <a:t>não estão </a:t>
            </a:r>
            <a:r>
              <a:rPr lang="pt-BR" dirty="0"/>
              <a:t>no resultado (ou vice-versa)</a:t>
            </a:r>
          </a:p>
          <a:p>
            <a:pPr>
              <a:spcBef>
                <a:spcPts val="2400"/>
              </a:spcBef>
            </a:pPr>
            <a:r>
              <a:rPr lang="pt-BR" dirty="0"/>
              <a:t>Tuplas com valores NULL  para atributos de junção  </a:t>
            </a:r>
            <a:r>
              <a:rPr lang="pt-BR" b="1" dirty="0">
                <a:solidFill>
                  <a:srgbClr val="FF0000"/>
                </a:solidFill>
              </a:rPr>
              <a:t>não estão</a:t>
            </a:r>
            <a:r>
              <a:rPr lang="pt-BR" dirty="0"/>
              <a:t> no resultado</a:t>
            </a:r>
          </a:p>
        </p:txBody>
      </p:sp>
    </p:spTree>
    <p:extLst>
      <p:ext uri="{BB962C8B-B14F-4D97-AF65-F5344CB8AC3E}">
        <p14:creationId xmlns:p14="http://schemas.microsoft.com/office/powerpoint/2010/main" val="314093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F9269-59BA-C53B-C592-A0824B9F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CBCDED-B13F-DB04-D352-D8FFF1555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75960" cy="4351338"/>
          </a:xfrm>
        </p:spPr>
        <p:txBody>
          <a:bodyPr>
            <a:normAutofit/>
          </a:bodyPr>
          <a:lstStyle/>
          <a:p>
            <a:r>
              <a:rPr lang="pt-BR" i="1" dirty="0">
                <a:solidFill>
                  <a:srgbClr val="000000"/>
                </a:solidFill>
                <a:latin typeface="Tahoma" panose="020B0604030504040204" pitchFamily="34" charset="0"/>
              </a:rPr>
              <a:t>“</a:t>
            </a:r>
            <a:r>
              <a:rPr lang="pt-BR" b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Listar as disciplinas em que os alunos de </a:t>
            </a:r>
            <a:r>
              <a:rPr lang="pt-BR" b="0" u="none" strike="noStrike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computação</a:t>
            </a:r>
            <a:r>
              <a:rPr lang="pt-BR" b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se matricularam”</a:t>
            </a:r>
            <a:endParaRPr lang="pt-BR" sz="40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0778C8-737E-EBB0-0333-AF0675D7745F}"/>
              </a:ext>
            </a:extLst>
          </p:cNvPr>
          <p:cNvSpPr txBox="1"/>
          <p:nvPr/>
        </p:nvSpPr>
        <p:spPr>
          <a:xfrm>
            <a:off x="6883400" y="1690688"/>
            <a:ext cx="44704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/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Aluno = {</a:t>
            </a:r>
            <a:r>
              <a:rPr lang="pt-BR" sz="18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Nome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Idade, Curso} </a:t>
            </a:r>
            <a:endParaRPr lang="pt-BR" b="0" dirty="0">
              <a:effectLst/>
            </a:endParaRPr>
          </a:p>
          <a:p>
            <a:pPr rtl="0"/>
            <a:br>
              <a:rPr lang="pt-BR" b="0" dirty="0">
                <a:effectLst/>
              </a:rPr>
            </a:b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Matricula= {</a:t>
            </a:r>
            <a:r>
              <a:rPr lang="pt-BR" sz="1800" b="0" i="0" u="sng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NomeA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</a:t>
            </a:r>
            <a:r>
              <a:rPr lang="pt-BR" sz="1800" b="0" i="0" u="sng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Disciplina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, Nota} </a:t>
            </a:r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1906EE8D-1509-6DC6-DF67-881DD7B477DF}"/>
              </a:ext>
            </a:extLst>
          </p:cNvPr>
          <p:cNvGrpSpPr/>
          <p:nvPr/>
        </p:nvGrpSpPr>
        <p:grpSpPr>
          <a:xfrm>
            <a:off x="3256499" y="3429000"/>
            <a:ext cx="5963482" cy="962159"/>
            <a:chOff x="3256499" y="3429000"/>
            <a:chExt cx="5963482" cy="962159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AB91B337-5982-8378-064D-DD663DE98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56499" y="3429000"/>
              <a:ext cx="5963482" cy="962159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5600D39D-6B1C-416A-3EF6-E233342AA82B}"/>
                </a:ext>
              </a:extLst>
            </p:cNvPr>
            <p:cNvSpPr txBox="1"/>
            <p:nvPr/>
          </p:nvSpPr>
          <p:spPr>
            <a:xfrm>
              <a:off x="7710005" y="3557029"/>
              <a:ext cx="353170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pt-BR" sz="2800" b="1" i="0" dirty="0">
                  <a:solidFill>
                    <a:schemeClr val="tx1"/>
                  </a:solidFill>
                  <a:effectLst/>
                  <a:latin typeface="Google Sans"/>
                </a:rPr>
                <a:t>⋈</a:t>
              </a:r>
              <a:endParaRPr lang="pt-BR" sz="2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51DD7B91-108A-17CE-8807-B4A932BED2E0}"/>
              </a:ext>
            </a:extLst>
          </p:cNvPr>
          <p:cNvGrpSpPr/>
          <p:nvPr/>
        </p:nvGrpSpPr>
        <p:grpSpPr>
          <a:xfrm>
            <a:off x="2745486" y="5466675"/>
            <a:ext cx="6373114" cy="838317"/>
            <a:chOff x="2745486" y="5466675"/>
            <a:chExt cx="6373114" cy="838317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2598EC05-0034-67E2-97C6-63C3E2553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45486" y="5466675"/>
              <a:ext cx="6373114" cy="838317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622E12B4-473A-4110-E055-2EDFE4E08AB3}"/>
                </a:ext>
              </a:extLst>
            </p:cNvPr>
            <p:cNvSpPr txBox="1"/>
            <p:nvPr/>
          </p:nvSpPr>
          <p:spPr>
            <a:xfrm>
              <a:off x="5251284" y="5471314"/>
              <a:ext cx="458635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pt-BR" sz="2800" b="1" i="0" dirty="0">
                  <a:solidFill>
                    <a:schemeClr val="tx1"/>
                  </a:solidFill>
                  <a:effectLst/>
                  <a:latin typeface="Google Sans"/>
                </a:rPr>
                <a:t>⋈</a:t>
              </a:r>
              <a:endParaRPr lang="pt-BR" sz="2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Retângulo 13">
            <a:extLst>
              <a:ext uri="{FF2B5EF4-FFF2-40B4-BE49-F238E27FC236}">
                <a16:creationId xmlns:a16="http://schemas.microsoft.com/office/drawing/2014/main" id="{8A62F308-4D62-8E9A-436A-D1D872239C99}"/>
              </a:ext>
            </a:extLst>
          </p:cNvPr>
          <p:cNvSpPr/>
          <p:nvPr/>
        </p:nvSpPr>
        <p:spPr>
          <a:xfrm>
            <a:off x="9446514" y="5428633"/>
            <a:ext cx="2032000" cy="9144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Versão mais otimizada</a:t>
            </a:r>
          </a:p>
        </p:txBody>
      </p:sp>
    </p:spTree>
    <p:extLst>
      <p:ext uri="{BB962C8B-B14F-4D97-AF65-F5344CB8AC3E}">
        <p14:creationId xmlns:p14="http://schemas.microsoft.com/office/powerpoint/2010/main" val="4181528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E5E19-C00C-DF3D-0B80-D3F10C626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Junção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AFF5BF-5BD9-C3F3-C34B-C37D088FD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Junções internas (</a:t>
            </a:r>
            <a:r>
              <a:rPr lang="pt-BR" b="1" i="1" dirty="0"/>
              <a:t>INNER JOINS</a:t>
            </a:r>
            <a:r>
              <a:rPr lang="pt-BR" b="1" dirty="0"/>
              <a:t>)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Junção </a:t>
            </a:r>
            <a:r>
              <a:rPr lang="pt-BR" dirty="0" err="1"/>
              <a:t>Theta</a:t>
            </a:r>
            <a:endParaRPr lang="pt-BR" dirty="0"/>
          </a:p>
          <a:p>
            <a:pPr lvl="1">
              <a:spcBef>
                <a:spcPts val="1200"/>
              </a:spcBef>
            </a:pPr>
            <a:r>
              <a:rPr lang="pt-BR" dirty="0" err="1"/>
              <a:t>Equi</a:t>
            </a:r>
            <a:r>
              <a:rPr lang="pt-BR" dirty="0"/>
              <a:t>-Junção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Junção Natural</a:t>
            </a:r>
          </a:p>
          <a:p>
            <a:pPr>
              <a:spcBef>
                <a:spcPts val="2400"/>
              </a:spcBef>
            </a:pPr>
            <a:r>
              <a:rPr lang="pt-BR" b="1" dirty="0"/>
              <a:t>Junções externas (</a:t>
            </a:r>
            <a:r>
              <a:rPr lang="pt-BR" b="1" i="1" dirty="0"/>
              <a:t>OUTER JOINS</a:t>
            </a:r>
            <a:r>
              <a:rPr lang="pt-BR" b="1" dirty="0"/>
              <a:t>)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LEFT OUTER JOIN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RIGHT OUTER JOIN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FULL OUTER JOIN</a:t>
            </a:r>
          </a:p>
        </p:txBody>
      </p:sp>
    </p:spTree>
    <p:extLst>
      <p:ext uri="{BB962C8B-B14F-4D97-AF65-F5344CB8AC3E}">
        <p14:creationId xmlns:p14="http://schemas.microsoft.com/office/powerpoint/2010/main" val="11353361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90228-602C-E8C3-5F04-5625632B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Junção interna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DA9EE1-D196-1332-7033-E68B7E4E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Junção </a:t>
            </a:r>
            <a:r>
              <a:rPr lang="pt-BR" b="1" dirty="0" err="1"/>
              <a:t>Theta</a:t>
            </a:r>
            <a:r>
              <a:rPr lang="pt-BR" b="1" dirty="0"/>
              <a:t> (</a:t>
            </a:r>
            <a:r>
              <a:rPr lang="el-GR" b="1" dirty="0"/>
              <a:t>θ-</a:t>
            </a:r>
            <a:r>
              <a:rPr lang="pt-BR" b="1" dirty="0" err="1"/>
              <a:t>join</a:t>
            </a:r>
            <a:r>
              <a:rPr lang="pt-BR" b="1" dirty="0"/>
              <a:t>)</a:t>
            </a:r>
          </a:p>
          <a:p>
            <a:pPr lvl="1">
              <a:spcBef>
                <a:spcPts val="1800"/>
              </a:spcBef>
            </a:pPr>
            <a:r>
              <a:rPr lang="el-GR" b="1" dirty="0"/>
              <a:t>Θ</a:t>
            </a:r>
            <a:r>
              <a:rPr lang="pt-BR" b="1" dirty="0"/>
              <a:t> é qualquer valor </a:t>
            </a:r>
            <a:r>
              <a:rPr lang="pt-BR" dirty="0"/>
              <a:t>válido no domínio dos atributos da junção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Atributos de junção </a:t>
            </a:r>
            <a:r>
              <a:rPr lang="pt-BR" b="1" dirty="0"/>
              <a:t>das duas Relações </a:t>
            </a:r>
            <a:r>
              <a:rPr lang="pt-BR" dirty="0"/>
              <a:t>aparecem na relação de resultado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Variação mais genérica - permite unir tabelas com base em </a:t>
            </a:r>
            <a:r>
              <a:rPr lang="pt-BR" b="1" dirty="0"/>
              <a:t>qualquer operador de comparação</a:t>
            </a:r>
            <a:r>
              <a:rPr lang="pt-BR" dirty="0"/>
              <a:t> (como &gt;, &lt;, &gt;=, &lt;=, &lt;&gt;), além da igualdade</a:t>
            </a:r>
          </a:p>
        </p:txBody>
      </p:sp>
    </p:spTree>
    <p:extLst>
      <p:ext uri="{BB962C8B-B14F-4D97-AF65-F5344CB8AC3E}">
        <p14:creationId xmlns:p14="http://schemas.microsoft.com/office/powerpoint/2010/main" val="27528380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A7E1A-9E6C-A440-2CF2-42C1720DE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Junção interna – </a:t>
            </a:r>
            <a:r>
              <a:rPr lang="pt-BR" dirty="0" err="1"/>
              <a:t>Theta</a:t>
            </a:r>
            <a:r>
              <a:rPr lang="pt-BR" dirty="0"/>
              <a:t> Join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B86534-B093-2962-CA3C-26AB931F9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081" y="1609408"/>
            <a:ext cx="8059275" cy="19338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B545830-2FC3-6044-ED5D-14F97AF37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043" y="3745425"/>
            <a:ext cx="6611273" cy="315321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04B1CCA-D4DA-0D68-B9E5-E666AD0DAF11}"/>
              </a:ext>
            </a:extLst>
          </p:cNvPr>
          <p:cNvSpPr txBox="1"/>
          <p:nvPr/>
        </p:nvSpPr>
        <p:spPr>
          <a:xfrm>
            <a:off x="3869524" y="3886354"/>
            <a:ext cx="45863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tx1"/>
                </a:solidFill>
                <a:effectLst/>
                <a:latin typeface="Google Sans"/>
              </a:rPr>
              <a:t>⋈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171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0C57C-5113-098E-6917-A55715C0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20A99-6B20-A8A0-D292-568A4F71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Junção interna - </a:t>
            </a:r>
            <a:r>
              <a:rPr lang="pt-BR" dirty="0" err="1"/>
              <a:t>Theta</a:t>
            </a:r>
            <a:r>
              <a:rPr lang="pt-BR" dirty="0"/>
              <a:t> Join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E9A5073-A98D-24B2-EB3F-A8BFEBE54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081" y="1609408"/>
            <a:ext cx="8059275" cy="193384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ED2D0EB-9556-CD88-A5DA-A2288294B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203" y="3733364"/>
            <a:ext cx="6611273" cy="312463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A96BAA8-10CA-9D11-FC17-5B04702F498B}"/>
              </a:ext>
            </a:extLst>
          </p:cNvPr>
          <p:cNvSpPr txBox="1"/>
          <p:nvPr/>
        </p:nvSpPr>
        <p:spPr>
          <a:xfrm>
            <a:off x="3859364" y="3866034"/>
            <a:ext cx="45863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tx1"/>
                </a:solidFill>
                <a:effectLst/>
                <a:latin typeface="Google Sans"/>
              </a:rPr>
              <a:t>⋈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5267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33BE3-201A-07FF-508F-96CCA21A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Junção interna – </a:t>
            </a:r>
            <a:r>
              <a:rPr lang="pt-BR" i="1" dirty="0" err="1"/>
              <a:t>Equi-join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96E528-1AAC-E042-25C8-22B8F527D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1" dirty="0" err="1"/>
              <a:t>Equi</a:t>
            </a:r>
            <a:r>
              <a:rPr lang="pt-BR" b="1" i="1" dirty="0"/>
              <a:t>-Junção </a:t>
            </a:r>
            <a:r>
              <a:rPr lang="pt-BR" dirty="0"/>
              <a:t>(</a:t>
            </a:r>
            <a:r>
              <a:rPr lang="pt-BR" i="1" dirty="0" err="1"/>
              <a:t>Equi-join</a:t>
            </a:r>
            <a:r>
              <a:rPr lang="pt-BR" dirty="0"/>
              <a:t>)</a:t>
            </a:r>
          </a:p>
          <a:p>
            <a:pPr lvl="1"/>
            <a:r>
              <a:rPr lang="pt-BR" b="1" dirty="0"/>
              <a:t>θ</a:t>
            </a:r>
            <a:r>
              <a:rPr lang="pt-BR" dirty="0"/>
              <a:t> é um operador de igualdade</a:t>
            </a:r>
          </a:p>
          <a:p>
            <a:pPr lvl="1"/>
            <a:r>
              <a:rPr lang="pt-BR" dirty="0"/>
              <a:t>Caso especial do </a:t>
            </a:r>
            <a:r>
              <a:rPr lang="pt-BR" dirty="0" err="1"/>
              <a:t>Theta</a:t>
            </a:r>
            <a:r>
              <a:rPr lang="pt-BR" dirty="0"/>
              <a:t>-Join que usa apenas </a:t>
            </a:r>
            <a:r>
              <a:rPr lang="pt-BR" b="1" dirty="0"/>
              <a:t>igualdade (=)</a:t>
            </a:r>
          </a:p>
          <a:p>
            <a:pPr lvl="1"/>
            <a:r>
              <a:rPr lang="pt-BR" dirty="0"/>
              <a:t>Os atributos  de junção das duas Relações aparecem na relação de resultado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16B8A56-2230-DE9D-4C98-66270B5E3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732" y="4231512"/>
            <a:ext cx="6706536" cy="182905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B35BEB5-94CF-4D6A-34CA-2D1FE5746784}"/>
              </a:ext>
            </a:extLst>
          </p:cNvPr>
          <p:cNvSpPr txBox="1"/>
          <p:nvPr/>
        </p:nvSpPr>
        <p:spPr>
          <a:xfrm>
            <a:off x="4702644" y="4963314"/>
            <a:ext cx="458635" cy="523220"/>
          </a:xfrm>
          <a:prstGeom prst="rect">
            <a:avLst/>
          </a:prstGeom>
          <a:solidFill>
            <a:srgbClr val="FFF7E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tx1"/>
                </a:solidFill>
                <a:effectLst/>
                <a:latin typeface="Google Sans"/>
              </a:rPr>
              <a:t>⋈</a:t>
            </a:r>
            <a:endParaRPr lang="pt-BR" sz="2800" dirty="0">
              <a:solidFill>
                <a:schemeClr val="tx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54BEEE0-E08C-01AF-E9D2-B440CD4516B3}"/>
              </a:ext>
            </a:extLst>
          </p:cNvPr>
          <p:cNvSpPr txBox="1"/>
          <p:nvPr/>
        </p:nvSpPr>
        <p:spPr>
          <a:xfrm>
            <a:off x="4641684" y="5573495"/>
            <a:ext cx="346877" cy="400110"/>
          </a:xfrm>
          <a:prstGeom prst="rect">
            <a:avLst/>
          </a:prstGeom>
          <a:solidFill>
            <a:srgbClr val="FFF7E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b="1" i="0" dirty="0">
                <a:solidFill>
                  <a:schemeClr val="tx1"/>
                </a:solidFill>
                <a:effectLst/>
                <a:latin typeface="Google Sans"/>
              </a:rPr>
              <a:t>⋈</a:t>
            </a:r>
            <a:endParaRPr lang="pt-B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7168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6D8DA-B9BD-3F75-D980-18500EF7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Junção interna – </a:t>
            </a:r>
            <a:r>
              <a:rPr lang="pt-BR" i="1" dirty="0" err="1"/>
              <a:t>Equi-join</a:t>
            </a:r>
            <a:endParaRPr lang="pt-BR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6CE18CA-E4ED-A8E0-4D0E-FF17D8C1E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034" y="1825625"/>
            <a:ext cx="7992590" cy="184810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6A7FFD4-9641-7F87-AFEE-AFB2D2CFF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956" y="4146060"/>
            <a:ext cx="6420746" cy="2467319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56CCB45-5387-8D5E-7378-BCFD27E40F36}"/>
              </a:ext>
            </a:extLst>
          </p:cNvPr>
          <p:cNvSpPr txBox="1"/>
          <p:nvPr/>
        </p:nvSpPr>
        <p:spPr>
          <a:xfrm>
            <a:off x="4601045" y="4302914"/>
            <a:ext cx="417996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800" b="1" i="0" dirty="0">
                <a:solidFill>
                  <a:schemeClr val="tx1"/>
                </a:solidFill>
                <a:effectLst/>
                <a:latin typeface="Google Sans"/>
              </a:rPr>
              <a:t>⋈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02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A12A0-68D8-9678-DB0D-C8CE16BE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Junção interna - Natural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AE7DFF-AA73-F329-DA76-EFABD8E5F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Junção Natural - R*S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Semelhante à </a:t>
            </a:r>
            <a:r>
              <a:rPr lang="pt-BR" dirty="0" err="1"/>
              <a:t>Equi</a:t>
            </a:r>
            <a:r>
              <a:rPr lang="pt-BR" dirty="0"/>
              <a:t>-Junção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Identifica automaticamente coluna com mesmo nome e tipo de dados em cada tabela para fazer a Junção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Apenas os atributos de junção de uma das relações aparecem na relação resultado</a:t>
            </a:r>
          </a:p>
          <a:p>
            <a:pPr lvl="2">
              <a:spcBef>
                <a:spcPts val="1800"/>
              </a:spcBef>
            </a:pPr>
            <a:r>
              <a:rPr lang="pt-BR" dirty="0"/>
              <a:t>Requer que os atributos de junção </a:t>
            </a:r>
            <a:r>
              <a:rPr lang="pt-BR" b="1" u="sng" dirty="0"/>
              <a:t>tenham nomes iguais nas duas relações</a:t>
            </a:r>
            <a:r>
              <a:rPr lang="pt-BR" dirty="0"/>
              <a:t>, ou que sejam renomeados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92552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12683-2E2E-DB6D-A6F4-D1EB8A349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Junção interna - Natural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D726F6F-5955-F26F-4678-7248CD8F6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455" y="1825625"/>
            <a:ext cx="8021169" cy="189574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A094E32-6780-2D99-2D79-57BD6B102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639" y="4161046"/>
            <a:ext cx="7344800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3649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F6BBB-DF02-6941-CDCD-C69FD9939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Junção interna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AE1836-5B5E-1095-BA91-F412E22F5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Resumindo... 3 tipos de Junção Interna (INNER JOIN)</a:t>
            </a:r>
          </a:p>
          <a:p>
            <a:endParaRPr lang="pt-BR" dirty="0"/>
          </a:p>
          <a:p>
            <a:r>
              <a:rPr lang="pt-BR" dirty="0"/>
              <a:t>Junção - θ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R    (condição de junção) S</a:t>
            </a:r>
          </a:p>
          <a:p>
            <a:r>
              <a:rPr lang="pt-BR" dirty="0" err="1"/>
              <a:t>Equi</a:t>
            </a:r>
            <a:r>
              <a:rPr lang="pt-BR" dirty="0"/>
              <a:t>-Junção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R    (</a:t>
            </a:r>
            <a:r>
              <a:rPr lang="pt-BR" dirty="0" err="1"/>
              <a:t>Atrib</a:t>
            </a:r>
            <a:r>
              <a:rPr lang="pt-BR" baseline="-25000" dirty="0" err="1"/>
              <a:t>R</a:t>
            </a:r>
            <a:r>
              <a:rPr lang="pt-BR" dirty="0"/>
              <a:t>, </a:t>
            </a:r>
            <a:r>
              <a:rPr lang="pt-BR" dirty="0" err="1"/>
              <a:t>Atrib</a:t>
            </a:r>
            <a:r>
              <a:rPr lang="pt-BR" baseline="-25000" dirty="0" err="1"/>
              <a:t>S</a:t>
            </a:r>
            <a:r>
              <a:rPr lang="pt-BR" dirty="0"/>
              <a:t>) S</a:t>
            </a:r>
          </a:p>
          <a:p>
            <a:r>
              <a:rPr lang="pt-BR" dirty="0"/>
              <a:t>Junção Natural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R*S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C5CE159-D2EA-AA5B-5FDB-646A75E1E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834" y="5078373"/>
            <a:ext cx="2780857" cy="80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467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FE02C-E6E1-9008-947F-BD39A97D7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Junções externas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608AF7-B700-7667-C089-23201EED6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6510" rtl="0" fontAlgn="base">
              <a:buFont typeface="Arial" panose="020B0604020202020204" pitchFamily="34" charset="0"/>
              <a:buChar char="•"/>
            </a:pPr>
            <a:r>
              <a:rPr lang="pt-BR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Junções externas (</a:t>
            </a:r>
            <a:r>
              <a:rPr lang="pt-BR" sz="3200" b="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outer</a:t>
            </a:r>
            <a:r>
              <a:rPr lang="pt-BR" sz="32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3200" b="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joins</a:t>
            </a:r>
            <a:r>
              <a:rPr lang="pt-BR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</a:t>
            </a:r>
            <a:endParaRPr lang="pt-BR" sz="2560" b="0" i="0" u="none" strike="noStrike" dirty="0">
              <a:solidFill>
                <a:srgbClr val="3891A7"/>
              </a:solidFill>
              <a:effectLst/>
              <a:latin typeface="Noto Sans Symbols"/>
            </a:endParaRPr>
          </a:p>
          <a:p>
            <a:pPr marL="742950" lvl="1" indent="-285750" rtl="0" fontAlgn="base">
              <a:spcBef>
                <a:spcPts val="550"/>
              </a:spcBef>
              <a:buFont typeface="Arial" panose="020B0604020202020204" pitchFamily="34" charset="0"/>
              <a:buChar char="•"/>
            </a:pPr>
            <a:r>
              <a:rPr lang="pt-BR" sz="2800" b="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Left</a:t>
            </a:r>
            <a:r>
              <a:rPr lang="pt-BR" sz="28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2800" b="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Outer</a:t>
            </a:r>
            <a:r>
              <a:rPr lang="pt-BR" sz="28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Join </a:t>
            </a:r>
            <a:endParaRPr lang="pt-BR" sz="2800" b="0" i="1" u="none" strike="noStrike" dirty="0">
              <a:solidFill>
                <a:srgbClr val="3891A7"/>
              </a:solidFill>
              <a:effectLst/>
              <a:latin typeface="Verdana" panose="020B0604030504040204" pitchFamily="34" charset="0"/>
            </a:endParaRPr>
          </a:p>
          <a:p>
            <a:pPr marL="742950" lvl="1" indent="-285750" rtl="0" fontAlgn="base">
              <a:spcBef>
                <a:spcPts val="550"/>
              </a:spcBef>
              <a:buFont typeface="Arial" panose="020B0604020202020204" pitchFamily="34" charset="0"/>
              <a:buChar char="•"/>
            </a:pPr>
            <a:r>
              <a:rPr lang="pt-BR" sz="2800" b="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Right</a:t>
            </a:r>
            <a:r>
              <a:rPr lang="pt-BR" sz="28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2800" b="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Outer</a:t>
            </a:r>
            <a:r>
              <a:rPr lang="pt-BR" sz="28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Join </a:t>
            </a:r>
            <a:endParaRPr lang="pt-BR" sz="2800" b="0" i="1" u="none" strike="noStrike" dirty="0">
              <a:solidFill>
                <a:srgbClr val="3891A7"/>
              </a:solidFill>
              <a:effectLst/>
              <a:latin typeface="Verdana" panose="020B0604030504040204" pitchFamily="34" charset="0"/>
            </a:endParaRPr>
          </a:p>
          <a:p>
            <a:pPr marL="742950" lvl="1" indent="-285750" rtl="0" fontAlgn="base">
              <a:spcBef>
                <a:spcPts val="550"/>
              </a:spcBef>
              <a:buFont typeface="Arial" panose="020B0604020202020204" pitchFamily="34" charset="0"/>
              <a:buChar char="•"/>
            </a:pPr>
            <a:r>
              <a:rPr lang="pt-BR" sz="28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Full </a:t>
            </a:r>
            <a:r>
              <a:rPr lang="pt-BR" sz="2800" b="0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Outer</a:t>
            </a:r>
            <a:r>
              <a:rPr lang="pt-BR" sz="28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Join</a:t>
            </a:r>
            <a:endParaRPr lang="pt-BR" sz="2800" b="0" i="1" u="none" strike="noStrike" dirty="0">
              <a:solidFill>
                <a:srgbClr val="3891A7"/>
              </a:solidFill>
              <a:effectLst/>
              <a:latin typeface="Verdana" panose="020B060403050404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87782A8-5741-46C5-32B7-A0B0DB713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716" y="4001294"/>
            <a:ext cx="5001323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33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BB33B-5EBC-AF14-74C5-40C845876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Junções externas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D618CA-8894-8CE4-863F-AAD647A70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817" rtl="0" fontAlgn="base">
              <a:buFont typeface="Arial" panose="020B0604020202020204" pitchFamily="34" charset="0"/>
              <a:buChar char="•"/>
            </a:pPr>
            <a:r>
              <a:rPr lang="pt-BR" sz="3600" b="1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Left</a:t>
            </a:r>
            <a:r>
              <a:rPr lang="pt-BR" sz="3600" b="1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3600" b="1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Outer</a:t>
            </a:r>
            <a:r>
              <a:rPr lang="pt-BR" sz="3600" b="1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Join 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– </a:t>
            </a:r>
            <a:r>
              <a:rPr lang="pt-BR" sz="3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     </a:t>
            </a:r>
            <a:r>
              <a:rPr lang="pt-BR" sz="32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(condição de junção)</a:t>
            </a:r>
            <a:r>
              <a:rPr lang="pt-BR" sz="3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</a:t>
            </a:r>
            <a:endParaRPr lang="pt-BR" sz="2880" b="1" i="1" u="none" strike="noStrike" dirty="0">
              <a:solidFill>
                <a:srgbClr val="3891A7"/>
              </a:solidFill>
              <a:effectLst/>
              <a:latin typeface="Noto Sans Symbols"/>
            </a:endParaRPr>
          </a:p>
          <a:p>
            <a:pPr marL="742950" lvl="1" indent="-285750" rtl="0" fontAlgn="base">
              <a:spcBef>
                <a:spcPts val="550"/>
              </a:spcBef>
              <a:buFont typeface="Arial" panose="020B0604020202020204" pitchFamily="34" charset="0"/>
              <a:buChar char="•"/>
            </a:pPr>
            <a:r>
              <a:rPr lang="pt-BR" sz="3200" b="0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resultado</a:t>
            </a:r>
            <a:r>
              <a:rPr lang="pt-BR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 </a:t>
            </a:r>
            <a:endParaRPr lang="pt-BR" sz="3200" b="0" i="0" u="none" strike="noStrike" dirty="0">
              <a:solidFill>
                <a:srgbClr val="3891A7"/>
              </a:solidFill>
              <a:effectLst/>
              <a:latin typeface="Verdana" panose="020B0604030504040204" pitchFamily="34" charset="0"/>
            </a:endParaRPr>
          </a:p>
          <a:p>
            <a:pPr marL="1143000" lvl="2" indent="-228600" rtl="0" fontAlgn="base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tuplas que atendem à condição de junção </a:t>
            </a:r>
            <a:endParaRPr lang="pt-BR" sz="2800" b="0" i="0" u="none" strike="noStrike" dirty="0">
              <a:solidFill>
                <a:srgbClr val="FEB80A"/>
              </a:solidFill>
              <a:effectLst/>
              <a:latin typeface="Noto Sans Symbols"/>
            </a:endParaRPr>
          </a:p>
          <a:p>
            <a:pPr marL="428625" indent="0" rtl="0">
              <a:spcBef>
                <a:spcPts val="800"/>
              </a:spcBef>
              <a:buNone/>
            </a:pPr>
            <a:r>
              <a:rPr lang="pt-BR" sz="3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                       </a:t>
            </a:r>
            <a:r>
              <a:rPr lang="pt-BR" sz="4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+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pt-BR" b="0" dirty="0">
              <a:effectLst/>
            </a:endParaRPr>
          </a:p>
          <a:p>
            <a:pPr marL="1168400" rtl="0" fontAlgn="base">
              <a:spcBef>
                <a:spcPts val="560"/>
              </a:spcBef>
              <a:buFont typeface="Arial" panose="020B0604020202020204" pitchFamily="34" charset="0"/>
              <a:buChar char="•"/>
            </a:pP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tuplas de R que não têm correspondentes em S</a:t>
            </a:r>
            <a:endParaRPr lang="pt-BR" sz="2800" b="0" i="0" u="none" strike="noStrike" dirty="0">
              <a:solidFill>
                <a:srgbClr val="FEB80A"/>
              </a:solidFill>
              <a:effectLst/>
              <a:latin typeface="Noto Sans Symbols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13710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AB404-C113-0E35-78AE-9D62049A6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Junções externas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EFA451-E823-56B1-BCB0-2E7670E7C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64E90A-DAD9-9408-FC30-B1AE71037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15" y="1571366"/>
            <a:ext cx="8021169" cy="185763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1A5E0F3-8511-A53D-96FB-E0902A386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015" y="3450242"/>
            <a:ext cx="7763958" cy="135273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E5438D6-FF7B-1D09-CBDD-12E3ADC8E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748" y="5048022"/>
            <a:ext cx="6846492" cy="170753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44BCADA-E6C8-2DEC-4475-E4EDD1844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252" y="5409090"/>
            <a:ext cx="1924319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31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0EBC0-E915-5022-0EA6-9AFB8F340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Junções externas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17BB33-8A5F-4847-0609-7BB5AD560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817" rtl="0" fontAlgn="base">
              <a:buFont typeface="Arial" panose="020B0604020202020204" pitchFamily="34" charset="0"/>
              <a:buChar char="•"/>
            </a:pPr>
            <a:r>
              <a:rPr lang="pt-BR" sz="3600" b="1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Right</a:t>
            </a:r>
            <a:r>
              <a:rPr lang="pt-BR" sz="3600" b="1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3600" b="1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Outer</a:t>
            </a:r>
            <a:r>
              <a:rPr lang="pt-BR" sz="3600" b="1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Join</a:t>
            </a:r>
            <a:r>
              <a:rPr lang="pt-BR" sz="36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– </a:t>
            </a:r>
            <a:r>
              <a:rPr lang="pt-BR" sz="3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     </a:t>
            </a:r>
            <a:r>
              <a:rPr lang="pt-BR" sz="32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(condição de junção)</a:t>
            </a:r>
            <a:r>
              <a:rPr lang="pt-BR" sz="3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</a:t>
            </a:r>
            <a:endParaRPr lang="pt-BR" sz="2880" b="1" i="1" u="none" strike="noStrike" dirty="0">
              <a:solidFill>
                <a:srgbClr val="3891A7"/>
              </a:solidFill>
              <a:effectLst/>
              <a:latin typeface="Noto Sans Symbols"/>
            </a:endParaRPr>
          </a:p>
          <a:p>
            <a:pPr marL="742950" lvl="1" indent="-285750" rtl="0" fontAlgn="base">
              <a:spcBef>
                <a:spcPts val="550"/>
              </a:spcBef>
              <a:buFont typeface="Arial" panose="020B0604020202020204" pitchFamily="34" charset="0"/>
              <a:buChar char="•"/>
            </a:pPr>
            <a:r>
              <a:rPr lang="pt-BR" sz="3200" b="0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resultado</a:t>
            </a:r>
            <a:r>
              <a:rPr lang="pt-BR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 </a:t>
            </a:r>
            <a:endParaRPr lang="pt-BR" sz="3200" b="0" i="0" u="none" strike="noStrike" dirty="0">
              <a:solidFill>
                <a:srgbClr val="3891A7"/>
              </a:solidFill>
              <a:effectLst/>
              <a:latin typeface="Verdana" panose="020B0604030504040204" pitchFamily="34" charset="0"/>
            </a:endParaRPr>
          </a:p>
          <a:p>
            <a:pPr marL="1143000" lvl="2" indent="-228600" rtl="0" fontAlgn="base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tuplas que atendem à condição de junção </a:t>
            </a:r>
            <a:endParaRPr lang="pt-BR" sz="2800" b="0" i="0" u="none" strike="noStrike" dirty="0">
              <a:solidFill>
                <a:srgbClr val="FEB80A"/>
              </a:solidFill>
              <a:effectLst/>
              <a:latin typeface="Noto Sans Symbols"/>
            </a:endParaRPr>
          </a:p>
          <a:p>
            <a:pPr marL="428625" indent="0" rtl="0">
              <a:spcBef>
                <a:spcPts val="800"/>
              </a:spcBef>
              <a:buNone/>
            </a:pPr>
            <a:r>
              <a:rPr lang="pt-BR" sz="3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                       </a:t>
            </a:r>
            <a:r>
              <a:rPr lang="pt-BR" sz="4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+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pt-BR" b="0" dirty="0">
              <a:effectLst/>
            </a:endParaRPr>
          </a:p>
          <a:p>
            <a:pPr marL="1168400" rtl="0" fontAlgn="base">
              <a:spcBef>
                <a:spcPts val="560"/>
              </a:spcBef>
              <a:buFont typeface="Arial" panose="020B0604020202020204" pitchFamily="34" charset="0"/>
              <a:buChar char="•"/>
            </a:pP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tuplas de S que não têm correspondentes em R</a:t>
            </a:r>
            <a:endParaRPr lang="pt-BR" sz="2800" b="0" i="0" u="none" strike="noStrike" dirty="0">
              <a:solidFill>
                <a:srgbClr val="FEB80A"/>
              </a:solidFill>
              <a:effectLst/>
              <a:latin typeface="Noto Sans Symbols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41124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03CC0-E0B2-211D-AE3E-2A6E3C6A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Junções externas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1B367A-FA0A-9B67-2926-B91810CB0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830C799-EA3A-14DC-C230-E107FC84B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145" y="1576278"/>
            <a:ext cx="7992590" cy="157184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A7F291A-50E8-C077-6D59-A1CCAAAB6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448" y="3148122"/>
            <a:ext cx="8078327" cy="159089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A9298D9-9B63-EF0C-A70A-0CDA55DEF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739" y="5022175"/>
            <a:ext cx="6563641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4186C-326C-0C96-0720-6F9309223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Junções externas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39FCA8-E5C7-2CFC-F718-12FB45D2E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817" rtl="0" fontAlgn="base">
              <a:buFont typeface="Arial" panose="020B0604020202020204" pitchFamily="34" charset="0"/>
              <a:buChar char="•"/>
            </a:pPr>
            <a:r>
              <a:rPr lang="pt-BR" sz="3600" b="1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Full </a:t>
            </a:r>
            <a:r>
              <a:rPr lang="pt-BR" sz="3600" b="1" i="1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Outer</a:t>
            </a:r>
            <a:r>
              <a:rPr lang="pt-BR" sz="3600" b="1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Join 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– </a:t>
            </a:r>
            <a:r>
              <a:rPr lang="pt-BR" sz="3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pt-BR" sz="3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      </a:t>
            </a:r>
            <a:r>
              <a:rPr lang="pt-BR" sz="2800" b="0" i="0" u="none" strike="noStrike" baseline="-25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(condição de junção)</a:t>
            </a:r>
            <a:r>
              <a:rPr lang="pt-BR" sz="3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</a:t>
            </a:r>
            <a:endParaRPr lang="pt-BR" sz="2880" b="1" i="1" u="none" strike="noStrike" dirty="0">
              <a:solidFill>
                <a:srgbClr val="3891A7"/>
              </a:solidFill>
              <a:effectLst/>
              <a:latin typeface="Noto Sans Symbols"/>
            </a:endParaRPr>
          </a:p>
          <a:p>
            <a:pPr marL="742950" lvl="1" indent="-285750" rtl="0" fontAlgn="base">
              <a:spcBef>
                <a:spcPts val="550"/>
              </a:spcBef>
              <a:buFont typeface="Arial" panose="020B0604020202020204" pitchFamily="34" charset="0"/>
              <a:buChar char="•"/>
            </a:pPr>
            <a:r>
              <a:rPr lang="pt-BR" sz="3200" b="0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resultado</a:t>
            </a:r>
            <a:r>
              <a:rPr lang="pt-BR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 </a:t>
            </a:r>
            <a:endParaRPr lang="pt-BR" sz="3200" b="0" i="0" u="none" strike="noStrike" dirty="0">
              <a:solidFill>
                <a:srgbClr val="3891A7"/>
              </a:solidFill>
              <a:effectLst/>
              <a:latin typeface="Verdana" panose="020B0604030504040204" pitchFamily="34" charset="0"/>
            </a:endParaRPr>
          </a:p>
          <a:p>
            <a:pPr marL="1143000" lvl="2" indent="-228600" rtl="0" fontAlgn="base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tuplas que atendem à condição de junção </a:t>
            </a:r>
            <a:endParaRPr lang="pt-BR" sz="2800" b="0" i="0" u="none" strike="noStrike" dirty="0">
              <a:solidFill>
                <a:srgbClr val="FEB80A"/>
              </a:solidFill>
              <a:effectLst/>
              <a:latin typeface="Noto Sans Symbols"/>
            </a:endParaRPr>
          </a:p>
          <a:p>
            <a:pPr marL="428625" indent="0" rtl="0">
              <a:spcBef>
                <a:spcPts val="640"/>
              </a:spcBef>
              <a:buNone/>
            </a:pPr>
            <a:r>
              <a:rPr lang="pt-BR" sz="3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                          +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pt-BR" b="0" dirty="0">
              <a:effectLst/>
            </a:endParaRPr>
          </a:p>
          <a:p>
            <a:pPr marL="1168400" rtl="0" fontAlgn="base">
              <a:spcBef>
                <a:spcPts val="560"/>
              </a:spcBef>
              <a:buFont typeface="Arial" panose="020B0604020202020204" pitchFamily="34" charset="0"/>
              <a:buChar char="•"/>
            </a:pP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tuplas de R que não têm correspondentes em S </a:t>
            </a:r>
            <a:endParaRPr lang="pt-BR" sz="2800" b="0" i="0" u="none" strike="noStrike" dirty="0">
              <a:solidFill>
                <a:srgbClr val="FEB80A"/>
              </a:solidFill>
              <a:effectLst/>
              <a:latin typeface="Noto Sans Symbols"/>
            </a:endParaRPr>
          </a:p>
          <a:p>
            <a:pPr marL="428625" indent="0" rtl="0">
              <a:spcBef>
                <a:spcPts val="640"/>
              </a:spcBef>
              <a:buNone/>
            </a:pPr>
            <a:r>
              <a:rPr lang="pt-BR" sz="3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                          +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pt-BR" b="0" dirty="0">
              <a:effectLst/>
            </a:endParaRPr>
          </a:p>
          <a:p>
            <a:pPr marL="1168400" rtl="0" fontAlgn="base">
              <a:spcBef>
                <a:spcPts val="560"/>
              </a:spcBef>
              <a:buFont typeface="Arial" panose="020B0604020202020204" pitchFamily="34" charset="0"/>
              <a:buChar char="•"/>
            </a:pP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tuplas de S que não têm correspondentes em R</a:t>
            </a:r>
            <a:endParaRPr lang="pt-BR" sz="2800" b="0" i="0" u="none" strike="noStrike" dirty="0">
              <a:solidFill>
                <a:srgbClr val="FEB80A"/>
              </a:solidFill>
              <a:effectLst/>
              <a:latin typeface="Noto Sans Symbols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77145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900D1-4AD5-8F70-56EF-AA95AC9D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Junções externas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BCA71B-7FCA-8C7D-F61D-516602359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3E5801-FD63-261B-ECCC-9F5227220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677" y="1690688"/>
            <a:ext cx="7954485" cy="166710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AA7AC89-8C49-8A55-A122-C933CC5DD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784" y="3429000"/>
            <a:ext cx="6830378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59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F9305-910B-2546-EE27-E02E89B0D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Junções</a:t>
            </a:r>
          </a:p>
        </p:txBody>
      </p:sp>
      <p:pic>
        <p:nvPicPr>
          <p:cNvPr id="1026" name="Picture 2" descr="INNER JOIN, OUTER JOIN, and FULL JOIN in SQL using Laravel | by Dimuth  Adithya | Medium">
            <a:extLst>
              <a:ext uri="{FF2B5EF4-FFF2-40B4-BE49-F238E27FC236}">
                <a16:creationId xmlns:a16="http://schemas.microsoft.com/office/drawing/2014/main" id="{6CF9BB1C-921F-9F85-74F8-C325BA0BD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049" y="1574665"/>
            <a:ext cx="8617902" cy="485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A928B7B-FF6B-3CEA-F807-92F2A526CED0}"/>
              </a:ext>
            </a:extLst>
          </p:cNvPr>
          <p:cNvSpPr txBox="1"/>
          <p:nvPr/>
        </p:nvSpPr>
        <p:spPr>
          <a:xfrm>
            <a:off x="1835632" y="6492155"/>
            <a:ext cx="85207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hlinkClick r:id="rId3"/>
              </a:rPr>
              <a:t>https://medium.com/@dimuthadithya/inner-join-outer-join-and-full-join-in-sql-using-laravel-67f2a4b36665</a:t>
            </a:r>
            <a:r>
              <a:rPr lang="pt-B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29558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895610-E3C9-51A5-2B57-E4E63910C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9022"/>
          </a:xfrm>
        </p:spPr>
        <p:txBody>
          <a:bodyPr>
            <a:normAutofit fontScale="90000"/>
          </a:bodyPr>
          <a:lstStyle/>
          <a:p>
            <a:r>
              <a:rPr lang="pt-BR" dirty="0"/>
              <a:t>Exercício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6DD86A4-BCFE-E1E4-FE0E-4A9E822EB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917047"/>
              </p:ext>
            </p:extLst>
          </p:nvPr>
        </p:nvGraphicFramePr>
        <p:xfrm>
          <a:off x="1276047" y="1210548"/>
          <a:ext cx="2209800" cy="1828800"/>
        </p:xfrm>
        <a:graphic>
          <a:graphicData uri="http://schemas.openxmlformats.org/drawingml/2006/table">
            <a:tbl>
              <a:tblPr/>
              <a:tblGrid>
                <a:gridCol w="582330">
                  <a:extLst>
                    <a:ext uri="{9D8B030D-6E8A-4147-A177-3AD203B41FA5}">
                      <a16:colId xmlns:a16="http://schemas.microsoft.com/office/drawing/2014/main" val="2588525570"/>
                    </a:ext>
                  </a:extLst>
                </a:gridCol>
                <a:gridCol w="1627470">
                  <a:extLst>
                    <a:ext uri="{9D8B030D-6E8A-4147-A177-3AD203B41FA5}">
                      <a16:colId xmlns:a16="http://schemas.microsoft.com/office/drawing/2014/main" val="27925380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536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383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Bruno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495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Carlos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846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Daniela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465278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27FA490B-3CE1-3BB7-1B31-A3B377DBB4B3}"/>
              </a:ext>
            </a:extLst>
          </p:cNvPr>
          <p:cNvSpPr txBox="1"/>
          <p:nvPr/>
        </p:nvSpPr>
        <p:spPr>
          <a:xfrm>
            <a:off x="1276047" y="841216"/>
            <a:ext cx="874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ALUNO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ADBA537-5ABB-84E8-DAF2-F7CA6F677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139866"/>
              </p:ext>
            </p:extLst>
          </p:nvPr>
        </p:nvGraphicFramePr>
        <p:xfrm>
          <a:off x="4303727" y="1210548"/>
          <a:ext cx="3388360" cy="1097280"/>
        </p:xfrm>
        <a:graphic>
          <a:graphicData uri="http://schemas.openxmlformats.org/drawingml/2006/table">
            <a:tbl>
              <a:tblPr/>
              <a:tblGrid>
                <a:gridCol w="1468120">
                  <a:extLst>
                    <a:ext uri="{9D8B030D-6E8A-4147-A177-3AD203B41FA5}">
                      <a16:colId xmlns:a16="http://schemas.microsoft.com/office/drawing/2014/main" val="357183927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78560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dirty="0" err="1"/>
                        <a:t>disciplina_id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nome_disciplina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99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Banco de Dados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308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Algoritmos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980811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72EFE4C7-8121-7C2F-919A-8B7D8A081B58}"/>
              </a:ext>
            </a:extLst>
          </p:cNvPr>
          <p:cNvSpPr txBox="1"/>
          <p:nvPr/>
        </p:nvSpPr>
        <p:spPr>
          <a:xfrm>
            <a:off x="4303727" y="841216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DISCIPLINA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984CE642-1B6E-E3DF-A4F7-4D68780EB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250932"/>
              </p:ext>
            </p:extLst>
          </p:nvPr>
        </p:nvGraphicFramePr>
        <p:xfrm>
          <a:off x="8336280" y="1210548"/>
          <a:ext cx="3017520" cy="1828800"/>
        </p:xfrm>
        <a:graphic>
          <a:graphicData uri="http://schemas.openxmlformats.org/drawingml/2006/table">
            <a:tbl>
              <a:tblPr/>
              <a:tblGrid>
                <a:gridCol w="871167">
                  <a:extLst>
                    <a:ext uri="{9D8B030D-6E8A-4147-A177-3AD203B41FA5}">
                      <a16:colId xmlns:a16="http://schemas.microsoft.com/office/drawing/2014/main" val="2485607560"/>
                    </a:ext>
                  </a:extLst>
                </a:gridCol>
                <a:gridCol w="2146353">
                  <a:extLst>
                    <a:ext uri="{9D8B030D-6E8A-4147-A177-3AD203B41FA5}">
                      <a16:colId xmlns:a16="http://schemas.microsoft.com/office/drawing/2014/main" val="2624645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disciplina_id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501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6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373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89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942301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9CD5A66E-E0A5-AB14-3D40-CA86BE2599A3}"/>
              </a:ext>
            </a:extLst>
          </p:cNvPr>
          <p:cNvSpPr txBox="1"/>
          <p:nvPr/>
        </p:nvSpPr>
        <p:spPr>
          <a:xfrm>
            <a:off x="8336280" y="841216"/>
            <a:ext cx="1322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MATRICULA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ADC6F0C-AE47-B61C-878F-8D4A48BD56E3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EAD066D-D4DA-6F13-C2C5-8F2FA65F260F}"/>
              </a:ext>
            </a:extLst>
          </p:cNvPr>
          <p:cNvSpPr txBox="1"/>
          <p:nvPr/>
        </p:nvSpPr>
        <p:spPr>
          <a:xfrm>
            <a:off x="356736" y="3503732"/>
            <a:ext cx="11478527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1) Liste os </a:t>
            </a:r>
            <a:r>
              <a:rPr lang="pt-BR" b="1" dirty="0"/>
              <a:t>RA dos alunos</a:t>
            </a:r>
            <a:r>
              <a:rPr lang="pt-BR" dirty="0"/>
              <a:t> matriculados na disciplina de código 10.</a:t>
            </a:r>
          </a:p>
          <a:p>
            <a:pPr>
              <a:spcBef>
                <a:spcPts val="1200"/>
              </a:spcBef>
            </a:pPr>
            <a:r>
              <a:rPr lang="pt-BR" dirty="0"/>
              <a:t>2) Projete o </a:t>
            </a:r>
            <a:r>
              <a:rPr lang="pt-BR" i="1" dirty="0"/>
              <a:t>nome</a:t>
            </a:r>
            <a:r>
              <a:rPr lang="pt-BR" dirty="0"/>
              <a:t> do aluno, </a:t>
            </a:r>
            <a:r>
              <a:rPr lang="pt-BR" dirty="0" err="1"/>
              <a:t>renomeando-o</a:t>
            </a:r>
            <a:r>
              <a:rPr lang="pt-BR" dirty="0"/>
              <a:t> para </a:t>
            </a:r>
            <a:r>
              <a:rPr lang="pt-BR" i="1" dirty="0" err="1"/>
              <a:t>nome_aluno</a:t>
            </a:r>
            <a:r>
              <a:rPr lang="pt-BR" i="1" dirty="0"/>
              <a:t> </a:t>
            </a:r>
            <a:r>
              <a:rPr lang="pt-BR" dirty="0"/>
              <a:t>e atribuindo à variável A</a:t>
            </a:r>
          </a:p>
          <a:p>
            <a:pPr>
              <a:spcBef>
                <a:spcPts val="1200"/>
              </a:spcBef>
            </a:pPr>
            <a:r>
              <a:rPr lang="pt-BR" dirty="0"/>
              <a:t>3) Liste os </a:t>
            </a:r>
            <a:r>
              <a:rPr lang="pt-BR" b="1" dirty="0"/>
              <a:t>nomes dos alunos e das disciplinas</a:t>
            </a:r>
            <a:r>
              <a:rPr lang="pt-BR" dirty="0"/>
              <a:t> em que estão matriculados.</a:t>
            </a:r>
          </a:p>
          <a:p>
            <a:pPr>
              <a:spcBef>
                <a:spcPts val="1200"/>
              </a:spcBef>
            </a:pPr>
            <a:r>
              <a:rPr lang="pt-BR" dirty="0"/>
              <a:t>4) Liste </a:t>
            </a:r>
            <a:r>
              <a:rPr lang="pt-BR" b="1" dirty="0"/>
              <a:t>todos os alunos</a:t>
            </a:r>
            <a:r>
              <a:rPr lang="pt-BR" dirty="0"/>
              <a:t>, incluindo aqueles que </a:t>
            </a:r>
            <a:r>
              <a:rPr lang="pt-BR" b="1" dirty="0"/>
              <a:t>não estão matriculados</a:t>
            </a:r>
            <a:r>
              <a:rPr lang="pt-BR" dirty="0"/>
              <a:t>, junto com o nome da disciplina (quando existir).</a:t>
            </a:r>
          </a:p>
          <a:p>
            <a:pPr>
              <a:spcBef>
                <a:spcPts val="1200"/>
              </a:spcBef>
            </a:pPr>
            <a:r>
              <a:rPr lang="pt-BR" dirty="0"/>
              <a:t>5) Explique a expressão: R ← </a:t>
            </a:r>
            <a:r>
              <a:rPr lang="el-GR" dirty="0"/>
              <a:t>ρ </a:t>
            </a:r>
            <a:r>
              <a:rPr lang="el-GR" baseline="-25000" dirty="0"/>
              <a:t>(</a:t>
            </a:r>
            <a:r>
              <a:rPr lang="pt-BR" baseline="-25000" dirty="0" err="1"/>
              <a:t>aluno_nome</a:t>
            </a:r>
            <a:r>
              <a:rPr lang="pt-BR" baseline="-25000" dirty="0"/>
              <a:t>, </a:t>
            </a:r>
            <a:r>
              <a:rPr lang="pt-BR" baseline="-25000" dirty="0" err="1"/>
              <a:t>disciplina_nome</a:t>
            </a:r>
            <a:r>
              <a:rPr lang="pt-BR" baseline="-25000" dirty="0"/>
              <a:t>)</a:t>
            </a:r>
            <a:r>
              <a:rPr lang="pt-BR" dirty="0"/>
              <a:t> (</a:t>
            </a:r>
            <a:r>
              <a:rPr lang="el-GR" dirty="0"/>
              <a:t>π </a:t>
            </a:r>
            <a:r>
              <a:rPr lang="pt-BR" baseline="-25000" dirty="0"/>
              <a:t>nome, </a:t>
            </a:r>
            <a:r>
              <a:rPr lang="pt-BR" baseline="-25000" dirty="0" err="1"/>
              <a:t>nome_disciplina</a:t>
            </a:r>
            <a:r>
              <a:rPr lang="pt-BR" dirty="0"/>
              <a:t> (ALUNO ⟕ MATRICULA ⟕ DISCIPLINA))</a:t>
            </a:r>
          </a:p>
        </p:txBody>
      </p:sp>
    </p:spTree>
    <p:extLst>
      <p:ext uri="{BB962C8B-B14F-4D97-AF65-F5344CB8AC3E}">
        <p14:creationId xmlns:p14="http://schemas.microsoft.com/office/powerpoint/2010/main" val="35695060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78262</TotalTime>
  <Words>1550</Words>
  <Application>Microsoft Office PowerPoint</Application>
  <PresentationFormat>Widescreen</PresentationFormat>
  <Paragraphs>306</Paragraphs>
  <Slides>52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62" baseType="lpstr">
      <vt:lpstr>Arial</vt:lpstr>
      <vt:lpstr>Calibri</vt:lpstr>
      <vt:lpstr>Calibri Light</vt:lpstr>
      <vt:lpstr>Google Sans</vt:lpstr>
      <vt:lpstr>Noto Sans Symbols</vt:lpstr>
      <vt:lpstr>Tahoma</vt:lpstr>
      <vt:lpstr>Times</vt:lpstr>
      <vt:lpstr>Verdana</vt:lpstr>
      <vt:lpstr>Wingdings</vt:lpstr>
      <vt:lpstr>Tema do Office</vt:lpstr>
      <vt:lpstr>Apresentação do PowerPoint</vt:lpstr>
      <vt:lpstr>Na aula anterior...</vt:lpstr>
      <vt:lpstr>Projeto lógico</vt:lpstr>
      <vt:lpstr>Agenda</vt:lpstr>
      <vt:lpstr>Relembrando...</vt:lpstr>
      <vt:lpstr>Álgebra relacional</vt:lpstr>
      <vt:lpstr>Álgebra relacional</vt:lpstr>
      <vt:lpstr>Álgebra relacional</vt:lpstr>
      <vt:lpstr>Álgebra relacional</vt:lpstr>
      <vt:lpstr>Agenda</vt:lpstr>
      <vt:lpstr>Operações relacionais unárias</vt:lpstr>
      <vt:lpstr>Seleção</vt:lpstr>
      <vt:lpstr>Seleção</vt:lpstr>
      <vt:lpstr>Seleção</vt:lpstr>
      <vt:lpstr>Seleção</vt:lpstr>
      <vt:lpstr>Seleção</vt:lpstr>
      <vt:lpstr>Seleção</vt:lpstr>
      <vt:lpstr>Projeção</vt:lpstr>
      <vt:lpstr>Projeção</vt:lpstr>
      <vt:lpstr>Projeção</vt:lpstr>
      <vt:lpstr>Projeção</vt:lpstr>
      <vt:lpstr>Projeção </vt:lpstr>
      <vt:lpstr>Projeção</vt:lpstr>
      <vt:lpstr>Agenda</vt:lpstr>
      <vt:lpstr>Assignment</vt:lpstr>
      <vt:lpstr>Assignment</vt:lpstr>
      <vt:lpstr>Rename</vt:lpstr>
      <vt:lpstr>Rename</vt:lpstr>
      <vt:lpstr>Pergunta</vt:lpstr>
      <vt:lpstr>Agenda</vt:lpstr>
      <vt:lpstr>Junção</vt:lpstr>
      <vt:lpstr>Junção</vt:lpstr>
      <vt:lpstr>Junção</vt:lpstr>
      <vt:lpstr>Junção</vt:lpstr>
      <vt:lpstr>Tipos de Junção</vt:lpstr>
      <vt:lpstr>Junção interna</vt:lpstr>
      <vt:lpstr>Junção interna – Theta Join</vt:lpstr>
      <vt:lpstr>Junção interna - Theta Join</vt:lpstr>
      <vt:lpstr>Junção interna – Equi-join</vt:lpstr>
      <vt:lpstr>Junção interna – Equi-join</vt:lpstr>
      <vt:lpstr>Junção interna - Natural</vt:lpstr>
      <vt:lpstr>Junção interna - Natural</vt:lpstr>
      <vt:lpstr>Junção interna</vt:lpstr>
      <vt:lpstr>Junções externas</vt:lpstr>
      <vt:lpstr>Junções externas</vt:lpstr>
      <vt:lpstr>Junções externas</vt:lpstr>
      <vt:lpstr>Junções externas</vt:lpstr>
      <vt:lpstr>Junções externas</vt:lpstr>
      <vt:lpstr>Junções externas</vt:lpstr>
      <vt:lpstr>Junções externas</vt:lpstr>
      <vt:lpstr>Junções</vt:lpstr>
      <vt:lpstr>Exercício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2379</cp:revision>
  <dcterms:created xsi:type="dcterms:W3CDTF">2024-08-08T20:58:28Z</dcterms:created>
  <dcterms:modified xsi:type="dcterms:W3CDTF">2026-04-22T23:30:12Z</dcterms:modified>
</cp:coreProperties>
</file>