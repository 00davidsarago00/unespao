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9"/>
  </p:notesMasterIdLst>
  <p:sldIdLst>
    <p:sldId id="256" r:id="rId2"/>
    <p:sldId id="936" r:id="rId3"/>
    <p:sldId id="1047" r:id="rId4"/>
    <p:sldId id="1048" r:id="rId5"/>
    <p:sldId id="929" r:id="rId6"/>
    <p:sldId id="382" r:id="rId7"/>
    <p:sldId id="1049" r:id="rId8"/>
    <p:sldId id="937" r:id="rId9"/>
    <p:sldId id="938" r:id="rId10"/>
    <p:sldId id="939" r:id="rId11"/>
    <p:sldId id="940" r:id="rId12"/>
    <p:sldId id="941" r:id="rId13"/>
    <p:sldId id="942" r:id="rId14"/>
    <p:sldId id="943" r:id="rId15"/>
    <p:sldId id="944" r:id="rId16"/>
    <p:sldId id="945" r:id="rId17"/>
    <p:sldId id="946" r:id="rId18"/>
    <p:sldId id="949" r:id="rId19"/>
    <p:sldId id="947" r:id="rId20"/>
    <p:sldId id="948" r:id="rId21"/>
    <p:sldId id="950" r:id="rId22"/>
    <p:sldId id="1050" r:id="rId23"/>
    <p:sldId id="953" r:id="rId24"/>
    <p:sldId id="954" r:id="rId25"/>
    <p:sldId id="955" r:id="rId26"/>
    <p:sldId id="974" r:id="rId27"/>
    <p:sldId id="1051" r:id="rId28"/>
    <p:sldId id="956" r:id="rId29"/>
    <p:sldId id="971" r:id="rId30"/>
    <p:sldId id="970" r:id="rId31"/>
    <p:sldId id="972" r:id="rId32"/>
    <p:sldId id="1056" r:id="rId33"/>
    <p:sldId id="1052" r:id="rId34"/>
    <p:sldId id="975" r:id="rId35"/>
    <p:sldId id="976" r:id="rId36"/>
    <p:sldId id="977" r:id="rId37"/>
    <p:sldId id="978" r:id="rId38"/>
    <p:sldId id="979" r:id="rId39"/>
    <p:sldId id="980" r:id="rId40"/>
    <p:sldId id="981" r:id="rId41"/>
    <p:sldId id="982" r:id="rId42"/>
    <p:sldId id="983" r:id="rId43"/>
    <p:sldId id="984" r:id="rId44"/>
    <p:sldId id="985" r:id="rId45"/>
    <p:sldId id="1053" r:id="rId46"/>
    <p:sldId id="957" r:id="rId47"/>
    <p:sldId id="973" r:id="rId48"/>
    <p:sldId id="958" r:id="rId49"/>
    <p:sldId id="962" r:id="rId50"/>
    <p:sldId id="959" r:id="rId51"/>
    <p:sldId id="960" r:id="rId52"/>
    <p:sldId id="961" r:id="rId53"/>
    <p:sldId id="963" r:id="rId54"/>
    <p:sldId id="965" r:id="rId55"/>
    <p:sldId id="966" r:id="rId56"/>
    <p:sldId id="967" r:id="rId57"/>
    <p:sldId id="968" r:id="rId58"/>
    <p:sldId id="969" r:id="rId59"/>
    <p:sldId id="986" r:id="rId60"/>
    <p:sldId id="987" r:id="rId61"/>
    <p:sldId id="988" r:id="rId62"/>
    <p:sldId id="989" r:id="rId63"/>
    <p:sldId id="991" r:id="rId64"/>
    <p:sldId id="992" r:id="rId65"/>
    <p:sldId id="1031" r:id="rId66"/>
    <p:sldId id="1054" r:id="rId67"/>
    <p:sldId id="1013" r:id="rId68"/>
    <p:sldId id="1014" r:id="rId69"/>
    <p:sldId id="1015" r:id="rId70"/>
    <p:sldId id="1016" r:id="rId71"/>
    <p:sldId id="1018" r:id="rId72"/>
    <p:sldId id="1019" r:id="rId73"/>
    <p:sldId id="1020" r:id="rId74"/>
    <p:sldId id="1021" r:id="rId75"/>
    <p:sldId id="1017" r:id="rId76"/>
    <p:sldId id="1025" r:id="rId77"/>
    <p:sldId id="1030" r:id="rId78"/>
    <p:sldId id="1029" r:id="rId79"/>
    <p:sldId id="1028" r:id="rId80"/>
    <p:sldId id="1027" r:id="rId81"/>
    <p:sldId id="317" r:id="rId82"/>
    <p:sldId id="1026" r:id="rId83"/>
    <p:sldId id="1022" r:id="rId84"/>
    <p:sldId id="1023" r:id="rId85"/>
    <p:sldId id="1032" r:id="rId86"/>
    <p:sldId id="1035" r:id="rId87"/>
    <p:sldId id="1036" r:id="rId88"/>
    <p:sldId id="1037" r:id="rId89"/>
    <p:sldId id="1038" r:id="rId90"/>
    <p:sldId id="1039" r:id="rId91"/>
    <p:sldId id="1041" r:id="rId92"/>
    <p:sldId id="1042" r:id="rId93"/>
    <p:sldId id="1043" r:id="rId94"/>
    <p:sldId id="1044" r:id="rId95"/>
    <p:sldId id="1045" r:id="rId96"/>
    <p:sldId id="1046" r:id="rId97"/>
    <p:sldId id="1034" r:id="rId98"/>
    <p:sldId id="1009" r:id="rId99"/>
    <p:sldId id="1055" r:id="rId100"/>
    <p:sldId id="1010" r:id="rId101"/>
    <p:sldId id="1011" r:id="rId102"/>
    <p:sldId id="1033" r:id="rId103"/>
    <p:sldId id="993" r:id="rId104"/>
    <p:sldId id="994" r:id="rId105"/>
    <p:sldId id="995" r:id="rId106"/>
    <p:sldId id="346" r:id="rId107"/>
    <p:sldId id="347" r:id="rId108"/>
    <p:sldId id="348" r:id="rId109"/>
    <p:sldId id="349" r:id="rId110"/>
    <p:sldId id="996" r:id="rId111"/>
    <p:sldId id="997" r:id="rId112"/>
    <p:sldId id="998" r:id="rId113"/>
    <p:sldId id="999" r:id="rId114"/>
    <p:sldId id="1000" r:id="rId115"/>
    <p:sldId id="1006" r:id="rId116"/>
    <p:sldId id="1007" r:id="rId117"/>
    <p:sldId id="674" r:id="rId1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936"/>
            <p14:sldId id="1047"/>
            <p14:sldId id="1048"/>
            <p14:sldId id="929"/>
            <p14:sldId id="382"/>
          </p14:sldIdLst>
        </p14:section>
        <p14:section name="Introdução" id="{14EFEFA0-C1A5-45D4-B781-AD9C2CA07C4B}">
          <p14:sldIdLst>
            <p14:sldId id="1049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946"/>
            <p14:sldId id="949"/>
            <p14:sldId id="947"/>
            <p14:sldId id="948"/>
            <p14:sldId id="950"/>
            <p14:sldId id="1050"/>
            <p14:sldId id="953"/>
            <p14:sldId id="954"/>
            <p14:sldId id="955"/>
            <p14:sldId id="974"/>
            <p14:sldId id="1051"/>
            <p14:sldId id="956"/>
            <p14:sldId id="971"/>
            <p14:sldId id="970"/>
            <p14:sldId id="972"/>
            <p14:sldId id="1056"/>
            <p14:sldId id="1052"/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5"/>
            <p14:sldId id="1053"/>
            <p14:sldId id="957"/>
            <p14:sldId id="973"/>
            <p14:sldId id="958"/>
            <p14:sldId id="962"/>
            <p14:sldId id="959"/>
            <p14:sldId id="960"/>
            <p14:sldId id="961"/>
            <p14:sldId id="963"/>
            <p14:sldId id="965"/>
            <p14:sldId id="966"/>
            <p14:sldId id="967"/>
            <p14:sldId id="968"/>
            <p14:sldId id="969"/>
            <p14:sldId id="986"/>
            <p14:sldId id="987"/>
            <p14:sldId id="988"/>
            <p14:sldId id="989"/>
            <p14:sldId id="991"/>
            <p14:sldId id="992"/>
            <p14:sldId id="1031"/>
            <p14:sldId id="1054"/>
            <p14:sldId id="1013"/>
            <p14:sldId id="1014"/>
            <p14:sldId id="1015"/>
            <p14:sldId id="1016"/>
            <p14:sldId id="1018"/>
            <p14:sldId id="1019"/>
            <p14:sldId id="1020"/>
            <p14:sldId id="1021"/>
            <p14:sldId id="1017"/>
            <p14:sldId id="1025"/>
            <p14:sldId id="1030"/>
            <p14:sldId id="1029"/>
            <p14:sldId id="1028"/>
            <p14:sldId id="1027"/>
            <p14:sldId id="317"/>
            <p14:sldId id="1026"/>
            <p14:sldId id="1022"/>
            <p14:sldId id="1023"/>
            <p14:sldId id="1032"/>
            <p14:sldId id="1035"/>
            <p14:sldId id="1036"/>
            <p14:sldId id="1037"/>
            <p14:sldId id="1038"/>
            <p14:sldId id="1039"/>
            <p14:sldId id="1041"/>
            <p14:sldId id="1042"/>
            <p14:sldId id="1043"/>
            <p14:sldId id="1044"/>
            <p14:sldId id="1045"/>
            <p14:sldId id="1046"/>
            <p14:sldId id="1034"/>
            <p14:sldId id="1009"/>
            <p14:sldId id="1055"/>
            <p14:sldId id="1010"/>
            <p14:sldId id="1011"/>
            <p14:sldId id="1033"/>
            <p14:sldId id="993"/>
            <p14:sldId id="994"/>
            <p14:sldId id="995"/>
            <p14:sldId id="346"/>
            <p14:sldId id="347"/>
            <p14:sldId id="348"/>
            <p14:sldId id="349"/>
            <p14:sldId id="996"/>
            <p14:sldId id="997"/>
            <p14:sldId id="998"/>
            <p14:sldId id="999"/>
            <p14:sldId id="1000"/>
            <p14:sldId id="1006"/>
            <p14:sldId id="1007"/>
          </p14:sldIdLst>
        </p14:section>
        <p14:section name="Refs" id="{F65D350F-258C-4860-9B11-97FB6D76D198}">
          <p14:sldIdLst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93" autoAdjust="0"/>
  </p:normalViewPr>
  <p:slideViewPr>
    <p:cSldViewPr snapToGrid="0">
      <p:cViewPr varScale="1">
        <p:scale>
          <a:sx n="68" d="100"/>
          <a:sy n="68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012D-927E-618B-F31D-9CF1C593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783F9F-E1E7-82A1-2AAF-6E720500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D099BD-2849-EDC7-B91F-B4389B130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93AA4E-E205-2F44-2800-D863ADBDB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44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BB95-5820-B214-EF9B-DDE26CCC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089CBF-D62B-2662-7D13-E7037F621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081A3A-C65D-4DAC-2273-88EF13E2E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DB2AB-DF7D-FB3A-F425-00A8DFE5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407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8EC9-88B8-84DD-1E18-E544EEA0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1EF550F-F4E5-CE27-5998-26DA25D37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43D0D0-C3AD-C545-3E4D-88CF779BC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A657CB-6210-34D6-1AA8-ED71DE26D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888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66004-C096-89CF-FCA4-B6E924EF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A6C8EC-3956-FFA7-C066-3483BAFFB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EB802B-45E1-C8FF-9DBE-73DE92378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B475E0-00B6-479C-4E7D-57BCBEB66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707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8D12-E551-2DFD-E0F3-3D41D24B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D1204-141B-0736-0D52-B743A5962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8694F8-C78E-930F-A712-20E383F89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FC43DE-DAC3-6FF3-0B48-6D546E48E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230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930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006E-AE36-760D-0166-1E98C0FB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4619DF-CB4F-51CE-5FE8-0D37C18AF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F26052-98BF-D3C8-FEF7-3BED50365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53A738-37DE-1521-7D37-341EE330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712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D926A-F0CE-62D5-572C-71257089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40CC9A-24A3-975B-F0D0-154BE0C33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87C647-530A-6FDC-BB74-743A38950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19CD86-FF23-2848-F508-26E3FBB0F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44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Contar fixando 2 por vez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173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1f4e0090bc0_0_2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1f4e0090bc0_0_2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2E225-824E-97FA-8E8E-88C0E776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753A88-05D4-ACEF-7B23-631D45052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54DC4C2-AB51-10CF-24EF-92B715686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BF3A44-C930-17E0-B3F3-FBFA4FDB9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0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DFD1-4594-91E8-229D-4FEA6721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26D23F-FF6A-EC76-7E52-B8E50A1A7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6E25B3-A3A1-976B-4A66-B1E108D60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17A637-5668-2F91-DFAB-4CC1FC129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97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684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8111-A5EE-0482-AF80-EA7D3150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B112AD-14ED-2BE2-D8AF-44A8242A0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89D89F-C050-FD1E-AA7D-3833487F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979962-E307-1367-F9BC-FABB40040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102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398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c70237794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c70237794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c702377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c702377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c70237794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c70237794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c70237794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c70237794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>
            <a:spLocks noGrp="1"/>
          </p:cNvSpPr>
          <p:nvPr>
            <p:ph type="body" idx="1"/>
          </p:nvPr>
        </p:nvSpPr>
        <p:spPr>
          <a:xfrm>
            <a:off x="2096800" y="5688067"/>
            <a:ext cx="79984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</a:lstStyle>
          <a:p>
            <a:endParaRPr/>
          </a:p>
        </p:txBody>
      </p:sp>
      <p:sp>
        <p:nvSpPr>
          <p:cNvPr id="278" name="Google Shape;278;p22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637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>
            <a:spLocks noGrp="1"/>
          </p:cNvSpPr>
          <p:nvPr>
            <p:ph type="title"/>
          </p:nvPr>
        </p:nvSpPr>
        <p:spPr>
          <a:xfrm>
            <a:off x="415600" y="582833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➔"/>
              <a:defRPr>
                <a:solidFill>
                  <a:schemeClr val="dk1"/>
                </a:solidFill>
              </a:defRPr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◆"/>
              <a:defRPr>
                <a:solidFill>
                  <a:schemeClr val="dk1"/>
                </a:solidFill>
              </a:defRPr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◆"/>
              <a:defRPr>
                <a:solidFill>
                  <a:schemeClr val="dk1"/>
                </a:solidFill>
              </a:defRPr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◆"/>
              <a:defRPr>
                <a:solidFill>
                  <a:schemeClr val="dk1"/>
                </a:solidFill>
              </a:defRPr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32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space.mit.edu/bitstream/handle/1721.1/47432/entityrelationshx00chen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.visual-paradigm.com/" TargetMode="External"/><Relationship Id="rId7" Type="http://schemas.openxmlformats.org/officeDocument/2006/relationships/hyperlink" Target="https://gitmind.com/app/" TargetMode="External"/><Relationship Id="rId2" Type="http://schemas.openxmlformats.org/officeDocument/2006/relationships/hyperlink" Target="https://www.figma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bdiagram.io/" TargetMode="External"/><Relationship Id="rId5" Type="http://schemas.openxmlformats.org/officeDocument/2006/relationships/hyperlink" Target="https://lucid.app/lucidchart" TargetMode="External"/><Relationship Id="rId4" Type="http://schemas.openxmlformats.org/officeDocument/2006/relationships/hyperlink" Target="https://app.diagrams.net/" TargetMode="Externa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spring2026/slides/01-relationalmodel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2</a:t>
            </a:r>
            <a:br>
              <a:rPr lang="pt-BR" dirty="0"/>
            </a:br>
            <a:r>
              <a:rPr lang="pt-BR" dirty="0"/>
              <a:t>Modelagem Conceitual usando Modelo Entidade-Relacionamento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605FE-D8CC-08BD-07F4-94EE82DDD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3D905D-A1F1-62DA-2557-247D20D7A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Microsserviços compartilhando SGBD </a:t>
            </a:r>
            <a:r>
              <a:rPr lang="pt-BR" dirty="0">
                <a:sym typeface="Wingdings" panose="05000000000000000000" pitchFamily="2" charset="2"/>
              </a:rPr>
              <a:t> SBD único, pois controla um único conjunto de arquivos de dados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Mesmo que se tenha N microsserviços, o SGBD é o mesmo -&gt; mesmo sistema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Minimundo é compartilhado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Catálogo único de metadados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Pode quebrar separação aplicação-dados (se um serviço alterar o </a:t>
            </a:r>
            <a:r>
              <a:rPr lang="pt-BR" i="1" dirty="0" err="1">
                <a:sym typeface="Wingdings" panose="05000000000000000000" pitchFamily="2" charset="2"/>
              </a:rPr>
              <a:t>schema</a:t>
            </a:r>
            <a:r>
              <a:rPr lang="pt-BR" dirty="0">
                <a:sym typeface="Wingdings" panose="05000000000000000000" pitchFamily="2" charset="2"/>
              </a:rPr>
              <a:t>, pode quebrar todos os outros serviços)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Microsserviços com </a:t>
            </a:r>
            <a:r>
              <a:rPr lang="pt-BR" dirty="0" err="1">
                <a:sym typeface="Wingdings" panose="05000000000000000000" pitchFamily="2" charset="2"/>
              </a:rPr>
              <a:t>SGBDs</a:t>
            </a:r>
            <a:r>
              <a:rPr lang="pt-BR" dirty="0">
                <a:sym typeface="Wingdings" panose="05000000000000000000" pitchFamily="2" charset="2"/>
              </a:rPr>
              <a:t> próprios  vários </a:t>
            </a:r>
            <a:r>
              <a:rPr lang="pt-BR" dirty="0" err="1">
                <a:sym typeface="Wingdings" panose="05000000000000000000" pitchFamily="2" charset="2"/>
              </a:rPr>
              <a:t>SBDs</a:t>
            </a:r>
            <a:endParaRPr lang="pt-BR" dirty="0">
              <a:sym typeface="Wingdings" panose="05000000000000000000" pitchFamily="2" charset="2"/>
            </a:endParaRPr>
          </a:p>
          <a:p>
            <a:pPr lvl="1"/>
            <a:r>
              <a:rPr lang="pt-BR" dirty="0">
                <a:sym typeface="Wingdings" panose="05000000000000000000" pitchFamily="2" charset="2"/>
              </a:rPr>
              <a:t>Cada serviço gerencia sua própria coleção de dados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Minimundo é limitado ao contexto daquele serviço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Independência de dados  alteração em um SGBD não influencia os outros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709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F3574-594A-88B0-CB80-2A395237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454CBB-69A7-CD2F-A7BA-A22A22A14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55" y="2311576"/>
            <a:ext cx="10597445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8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B91EB-C8B7-0983-7E98-FA38297A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da disciplina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2379589-CCDE-0FB9-AE22-119865766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011175"/>
              </p:ext>
            </p:extLst>
          </p:nvPr>
        </p:nvGraphicFramePr>
        <p:xfrm>
          <a:off x="1710267" y="1619851"/>
          <a:ext cx="8771466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6110">
                  <a:extLst>
                    <a:ext uri="{9D8B030D-6E8A-4147-A177-3AD203B41FA5}">
                      <a16:colId xmlns:a16="http://schemas.microsoft.com/office/drawing/2014/main" val="1655695673"/>
                    </a:ext>
                  </a:extLst>
                </a:gridCol>
                <a:gridCol w="7575356">
                  <a:extLst>
                    <a:ext uri="{9D8B030D-6E8A-4147-A177-3AD203B41FA5}">
                      <a16:colId xmlns:a16="http://schemas.microsoft.com/office/drawing/2014/main" val="101251106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Conteúdo planejado</a:t>
                      </a: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2045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04/mar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Apresentação da disciplina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2525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11/mar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-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53520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18/mar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intro SGBD + escolha de projeto de grupo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991932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25/mar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Modelagem Conceitual: Entidades e Atributos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04869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01/abr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Relacionamentos e Restrições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09339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08/abr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ER Avançado (generalização/especialização, hierarquia, agregação) + Projeto conceitual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71904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15/abr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Transição ER → Modelo Relacional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4920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22/abr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Modelo Relacional e Álgebra Relacional + Projeto lógico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00915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>
                          <a:effectLst/>
                        </a:rPr>
                        <a:t>29/abr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P1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72423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06/mai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Integridade e Regras de Negócio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22755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13/mai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Normalização + Projeto Físico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7083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20/mai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SQL Básico (DDL + DML + SELECT Simples)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78606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27/mai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SQL </a:t>
                      </a:r>
                      <a:r>
                        <a:rPr lang="en-US" sz="1600" u="none" strike="noStrike" dirty="0" err="1">
                          <a:effectLst/>
                        </a:rPr>
                        <a:t>Intermediário</a:t>
                      </a:r>
                      <a:r>
                        <a:rPr lang="en-US" sz="1600" u="none" strike="noStrike" dirty="0">
                          <a:effectLst/>
                        </a:rPr>
                        <a:t> (JOIN, GROUP BY, HAVING, aggregate functions)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0842488"/>
                  </a:ext>
                </a:extLst>
              </a:tr>
              <a:tr h="2405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03/jun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SQL Avançado (subconsultas, views, composição)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07663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>
                          <a:effectLst/>
                        </a:rPr>
                        <a:t>10/jun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P2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92593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>
                          <a:effectLst/>
                        </a:rPr>
                        <a:t>17/jun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Apresentação projeto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5496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solidFill>
                            <a:srgbClr val="FF0000"/>
                          </a:solidFill>
                          <a:effectLst/>
                        </a:rPr>
                        <a:t>24/jun</a:t>
                      </a:r>
                      <a:endParaRPr lang="pt-BR" sz="16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Jogo da Copa (Brasil x Escócia)</a:t>
                      </a:r>
                      <a:endParaRPr lang="pt-BR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09841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>
                          <a:effectLst/>
                        </a:rPr>
                        <a:t>01/jul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>
                          <a:effectLst/>
                        </a:rPr>
                        <a:t>P3 / Seminário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49450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>
                          <a:effectLst/>
                        </a:rPr>
                        <a:t>08/jul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Exame final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821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53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76AEF-EFFE-57F9-B228-E8A6B524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– Projeto de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0A5CAC-3E11-9346-080C-C66223032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Grupos de 4 alunos</a:t>
            </a:r>
          </a:p>
          <a:p>
            <a:r>
              <a:rPr lang="pt-BR" dirty="0"/>
              <a:t>Delimitar um minimundo para aplicação com Banco de dados</a:t>
            </a:r>
          </a:p>
          <a:p>
            <a:r>
              <a:rPr lang="pt-BR" dirty="0"/>
              <a:t>Postar descrição no </a:t>
            </a:r>
            <a:r>
              <a:rPr lang="pt-BR" i="1" dirty="0" err="1"/>
              <a:t>Classroom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1 por grupo, detalhando quem são os participantes</a:t>
            </a:r>
          </a:p>
          <a:p>
            <a:r>
              <a:rPr lang="pt-BR" dirty="0"/>
              <a:t>Trabalharemos com ele nas próximas aulas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678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Conceitos gerais sobre BD, SGBD, SBD e modelos de dados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E6AB-E006-69C1-28A1-2B01306D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C42BC-78D1-9D80-D485-4E19A6F4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D6B3A8-BBA8-8693-F308-41EE64DA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88E899-C8BF-4A94-AD51-1637FB0BFBC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14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9FC36-79A5-F147-2DF0-CEE0CC6A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FBD777-667B-266D-0FDE-8F5E583AA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Fase essencial no projeto e aplicações baseadas em bancos de dados</a:t>
            </a:r>
          </a:p>
          <a:p>
            <a:r>
              <a:rPr lang="pt-BR" dirty="0"/>
              <a:t>Aplicação baseada em banco de dados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Banco de dados + programas que implementam consultas e atualizações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Ex.: aplicação de BANCO que mantém o controle das contas dos clientes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Programas que atualizam esse banco de dados (depósitos, saques, fechamentos, etc.)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Interface gráfica com o usuário (GUI) usando formulários e menus para os usuários finais da aplicação – caixas e clientes, neste caso</a:t>
            </a:r>
          </a:p>
          <a:p>
            <a:pPr lvl="3"/>
            <a:endParaRPr lang="pt-BR" dirty="0"/>
          </a:p>
          <a:p>
            <a:pPr lvl="2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A59ECB-3319-2689-3FB2-66EA35DFEC80}"/>
              </a:ext>
            </a:extLst>
          </p:cNvPr>
          <p:cNvSpPr/>
          <p:nvPr/>
        </p:nvSpPr>
        <p:spPr>
          <a:xfrm>
            <a:off x="3392310" y="5508977"/>
            <a:ext cx="5407379" cy="10967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Programas de aplicação: </a:t>
            </a:r>
            <a:r>
              <a:rPr lang="pt-BR" sz="2400" dirty="0"/>
              <a:t>Objeto de estudo da 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295475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481FB-3BE4-3E56-1377-CC1FB7D9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012829-99A1-C821-488C-16BC8023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Concentraremos nas estruturas e restrições dos bancos de dados durante o projeto conceitual de um banco de dados</a:t>
            </a:r>
          </a:p>
          <a:p>
            <a:pPr>
              <a:spcBef>
                <a:spcPts val="2400"/>
              </a:spcBef>
            </a:pPr>
            <a:r>
              <a:rPr lang="pt-BR" dirty="0"/>
              <a:t>Modelo </a:t>
            </a:r>
            <a:r>
              <a:rPr lang="pt-BR" b="1" dirty="0"/>
              <a:t>Entidade-Relacionamento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Popular modelo de dados conceitual de alto nível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Maior parte das ferramentas de </a:t>
            </a:r>
            <a:r>
              <a:rPr lang="pt-BR" i="1" dirty="0"/>
              <a:t>projeto</a:t>
            </a:r>
            <a:r>
              <a:rPr lang="pt-BR" dirty="0"/>
              <a:t> de banco de dados usam este modelo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Similar ao Diagrama de Classes da UML</a:t>
            </a:r>
          </a:p>
          <a:p>
            <a:pPr lvl="2"/>
            <a:r>
              <a:rPr lang="pt-BR" dirty="0"/>
              <a:t>OO inclui operações sobre os dados</a:t>
            </a:r>
          </a:p>
        </p:txBody>
      </p:sp>
    </p:spTree>
    <p:extLst>
      <p:ext uri="{BB962C8B-B14F-4D97-AF65-F5344CB8AC3E}">
        <p14:creationId xmlns:p14="http://schemas.microsoft.com/office/powerpoint/2010/main" val="2717883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7CF77-B89C-AE23-94DE-6D9AEAE2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 dos dados</a:t>
            </a:r>
          </a:p>
        </p:txBody>
      </p:sp>
      <p:sp>
        <p:nvSpPr>
          <p:cNvPr id="4" name="Google Shape;308;p27">
            <a:extLst>
              <a:ext uri="{FF2B5EF4-FFF2-40B4-BE49-F238E27FC236}">
                <a16:creationId xmlns:a16="http://schemas.microsoft.com/office/drawing/2014/main" id="{F39A08E1-0277-EDC7-7AD6-DBB230B9F009}"/>
              </a:ext>
            </a:extLst>
          </p:cNvPr>
          <p:cNvSpPr txBox="1">
            <a:spLocks noGrp="1"/>
          </p:cNvSpPr>
          <p:nvPr/>
        </p:nvSpPr>
        <p:spPr>
          <a:xfrm>
            <a:off x="2861214" y="5932163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/>
              <a:t>Modelagem de dados: O ”Três Reinos” - Abstração</a:t>
            </a:r>
            <a:endParaRPr sz="1800" b="1"/>
          </a:p>
        </p:txBody>
      </p:sp>
      <p:pic>
        <p:nvPicPr>
          <p:cNvPr id="5" name="Google Shape;309;p27">
            <a:extLst>
              <a:ext uri="{FF2B5EF4-FFF2-40B4-BE49-F238E27FC236}">
                <a16:creationId xmlns:a16="http://schemas.microsoft.com/office/drawing/2014/main" id="{FB3CB11D-0F62-7ACB-3D6D-E9156F0204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6264" y="2710613"/>
            <a:ext cx="1531146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10;p27">
            <a:extLst>
              <a:ext uri="{FF2B5EF4-FFF2-40B4-BE49-F238E27FC236}">
                <a16:creationId xmlns:a16="http://schemas.microsoft.com/office/drawing/2014/main" id="{4F8C4F38-078F-4D29-3045-104A2DB08C67}"/>
              </a:ext>
            </a:extLst>
          </p:cNvPr>
          <p:cNvSpPr txBox="1"/>
          <p:nvPr/>
        </p:nvSpPr>
        <p:spPr>
          <a:xfrm>
            <a:off x="4979514" y="2187238"/>
            <a:ext cx="176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Percepção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11;p27">
            <a:extLst>
              <a:ext uri="{FF2B5EF4-FFF2-40B4-BE49-F238E27FC236}">
                <a16:creationId xmlns:a16="http://schemas.microsoft.com/office/drawing/2014/main" id="{CACC13AD-F678-020D-C49A-C0FD221C0CE9}"/>
              </a:ext>
            </a:extLst>
          </p:cNvPr>
          <p:cNvSpPr txBox="1"/>
          <p:nvPr/>
        </p:nvSpPr>
        <p:spPr>
          <a:xfrm>
            <a:off x="8185589" y="4897201"/>
            <a:ext cx="19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Modelagem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312;p27">
            <a:extLst>
              <a:ext uri="{FF2B5EF4-FFF2-40B4-BE49-F238E27FC236}">
                <a16:creationId xmlns:a16="http://schemas.microsoft.com/office/drawing/2014/main" id="{393D8D0F-7819-8DCB-B424-2058C17D1B8E}"/>
              </a:ext>
            </a:extLst>
          </p:cNvPr>
          <p:cNvSpPr txBox="1"/>
          <p:nvPr/>
        </p:nvSpPr>
        <p:spPr>
          <a:xfrm>
            <a:off x="1453314" y="5123763"/>
            <a:ext cx="259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Implementação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313;p27">
            <a:extLst>
              <a:ext uri="{FF2B5EF4-FFF2-40B4-BE49-F238E27FC236}">
                <a16:creationId xmlns:a16="http://schemas.microsoft.com/office/drawing/2014/main" id="{AA075D39-9084-35CC-8A85-FCA35AA27579}"/>
              </a:ext>
            </a:extLst>
          </p:cNvPr>
          <p:cNvSpPr txBox="1"/>
          <p:nvPr/>
        </p:nvSpPr>
        <p:spPr>
          <a:xfrm>
            <a:off x="1766039" y="2187263"/>
            <a:ext cx="137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Real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314;p27">
            <a:extLst>
              <a:ext uri="{FF2B5EF4-FFF2-40B4-BE49-F238E27FC236}">
                <a16:creationId xmlns:a16="http://schemas.microsoft.com/office/drawing/2014/main" id="{FFC6A308-162A-CE3D-87DD-4DE7CF3BCBF2}"/>
              </a:ext>
            </a:extLst>
          </p:cNvPr>
          <p:cNvSpPr txBox="1"/>
          <p:nvPr/>
        </p:nvSpPr>
        <p:spPr>
          <a:xfrm>
            <a:off x="7752391" y="2087688"/>
            <a:ext cx="23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Imaginário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315;p27">
            <a:extLst>
              <a:ext uri="{FF2B5EF4-FFF2-40B4-BE49-F238E27FC236}">
                <a16:creationId xmlns:a16="http://schemas.microsoft.com/office/drawing/2014/main" id="{53517F29-2ACC-A9D9-4255-5F0743C8FC19}"/>
              </a:ext>
            </a:extLst>
          </p:cNvPr>
          <p:cNvSpPr txBox="1"/>
          <p:nvPr/>
        </p:nvSpPr>
        <p:spPr>
          <a:xfrm>
            <a:off x="4315164" y="5585463"/>
            <a:ext cx="3090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Representação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316;p27">
            <a:extLst>
              <a:ext uri="{FF2B5EF4-FFF2-40B4-BE49-F238E27FC236}">
                <a16:creationId xmlns:a16="http://schemas.microsoft.com/office/drawing/2014/main" id="{B1EAD864-5575-F3D4-895C-A752FE980437}"/>
              </a:ext>
            </a:extLst>
          </p:cNvPr>
          <p:cNvSpPr/>
          <p:nvPr/>
        </p:nvSpPr>
        <p:spPr>
          <a:xfrm>
            <a:off x="7651314" y="2479438"/>
            <a:ext cx="2490000" cy="1437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" name="Google Shape;317;p27">
            <a:extLst>
              <a:ext uri="{FF2B5EF4-FFF2-40B4-BE49-F238E27FC236}">
                <a16:creationId xmlns:a16="http://schemas.microsoft.com/office/drawing/2014/main" id="{69AA6395-2F3F-7741-2125-3D4B83BCD7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072" y="2648963"/>
            <a:ext cx="3297091" cy="293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18;p27">
            <a:extLst>
              <a:ext uri="{FF2B5EF4-FFF2-40B4-BE49-F238E27FC236}">
                <a16:creationId xmlns:a16="http://schemas.microsoft.com/office/drawing/2014/main" id="{60067539-C231-5755-9B35-0B8AA5FBEA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9727" y="2626725"/>
            <a:ext cx="1134227" cy="1143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319;p27">
            <a:extLst>
              <a:ext uri="{FF2B5EF4-FFF2-40B4-BE49-F238E27FC236}">
                <a16:creationId xmlns:a16="http://schemas.microsoft.com/office/drawing/2014/main" id="{749FE1E9-D043-7E93-9553-F013D580CB9F}"/>
              </a:ext>
            </a:extLst>
          </p:cNvPr>
          <p:cNvCxnSpPr>
            <a:stCxn id="5" idx="0"/>
            <a:endCxn id="14" idx="0"/>
          </p:cNvCxnSpPr>
          <p:nvPr/>
        </p:nvCxnSpPr>
        <p:spPr>
          <a:xfrm rot="-5400000">
            <a:off x="5657337" y="-578887"/>
            <a:ext cx="84000" cy="6495000"/>
          </a:xfrm>
          <a:prstGeom prst="curvedConnector3">
            <a:avLst>
              <a:gd name="adj1" fmla="val 54773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0;p27">
            <a:extLst>
              <a:ext uri="{FF2B5EF4-FFF2-40B4-BE49-F238E27FC236}">
                <a16:creationId xmlns:a16="http://schemas.microsoft.com/office/drawing/2014/main" id="{D13D7BDE-DBE5-8E58-2339-0480CAD9851E}"/>
              </a:ext>
            </a:extLst>
          </p:cNvPr>
          <p:cNvCxnSpPr>
            <a:stCxn id="12" idx="1"/>
          </p:cNvCxnSpPr>
          <p:nvPr/>
        </p:nvCxnSpPr>
        <p:spPr>
          <a:xfrm rot="5400000">
            <a:off x="7613964" y="3827157"/>
            <a:ext cx="1194000" cy="13707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1;p27">
            <a:extLst>
              <a:ext uri="{FF2B5EF4-FFF2-40B4-BE49-F238E27FC236}">
                <a16:creationId xmlns:a16="http://schemas.microsoft.com/office/drawing/2014/main" id="{6BA13FA9-FD46-6B36-A1D0-6A286C6B29A0}"/>
              </a:ext>
            </a:extLst>
          </p:cNvPr>
          <p:cNvCxnSpPr>
            <a:endCxn id="5" idx="2"/>
          </p:cNvCxnSpPr>
          <p:nvPr/>
        </p:nvCxnSpPr>
        <p:spPr>
          <a:xfrm rot="10800000">
            <a:off x="2451837" y="4253663"/>
            <a:ext cx="1736100" cy="9819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22;p27">
            <a:extLst>
              <a:ext uri="{FF2B5EF4-FFF2-40B4-BE49-F238E27FC236}">
                <a16:creationId xmlns:a16="http://schemas.microsoft.com/office/drawing/2014/main" id="{6D8FCFD7-5928-47FF-24CA-8E6AD159C561}"/>
              </a:ext>
            </a:extLst>
          </p:cNvPr>
          <p:cNvSpPr txBox="1">
            <a:spLocks noGrp="1"/>
          </p:cNvSpPr>
          <p:nvPr/>
        </p:nvSpPr>
        <p:spPr>
          <a:xfrm>
            <a:off x="9686164" y="6421638"/>
            <a:ext cx="668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b="1"/>
          </a:p>
        </p:txBody>
      </p:sp>
    </p:spTree>
    <p:extLst>
      <p:ext uri="{BB962C8B-B14F-4D97-AF65-F5344CB8AC3E}">
        <p14:creationId xmlns:p14="http://schemas.microsoft.com/office/powerpoint/2010/main" val="216027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F9CDB-C511-23C4-CCDC-C631D38E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BD Relacional</a:t>
            </a:r>
          </a:p>
        </p:txBody>
      </p:sp>
      <p:sp>
        <p:nvSpPr>
          <p:cNvPr id="4" name="Google Shape;327;p28">
            <a:extLst>
              <a:ext uri="{FF2B5EF4-FFF2-40B4-BE49-F238E27FC236}">
                <a16:creationId xmlns:a16="http://schemas.microsoft.com/office/drawing/2014/main" id="{1FCAA350-63FC-E97B-98C6-40334572096E}"/>
              </a:ext>
            </a:extLst>
          </p:cNvPr>
          <p:cNvSpPr/>
          <p:nvPr/>
        </p:nvSpPr>
        <p:spPr>
          <a:xfrm>
            <a:off x="2121900" y="2262513"/>
            <a:ext cx="1725900" cy="1125000"/>
          </a:xfrm>
          <a:prstGeom prst="cloudCallout">
            <a:avLst>
              <a:gd name="adj1" fmla="val -20833"/>
              <a:gd name="adj2" fmla="val 62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Ideias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328;p28">
            <a:extLst>
              <a:ext uri="{FF2B5EF4-FFF2-40B4-BE49-F238E27FC236}">
                <a16:creationId xmlns:a16="http://schemas.microsoft.com/office/drawing/2014/main" id="{CAAAE882-394F-2121-342F-4B78E3D86F5E}"/>
              </a:ext>
            </a:extLst>
          </p:cNvPr>
          <p:cNvSpPr/>
          <p:nvPr/>
        </p:nvSpPr>
        <p:spPr>
          <a:xfrm>
            <a:off x="5275300" y="2529063"/>
            <a:ext cx="1800000" cy="5919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Modelo ER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329;p28">
            <a:extLst>
              <a:ext uri="{FF2B5EF4-FFF2-40B4-BE49-F238E27FC236}">
                <a16:creationId xmlns:a16="http://schemas.microsoft.com/office/drawing/2014/main" id="{A5384B65-59AA-18E3-FAE6-B1761269177A}"/>
              </a:ext>
            </a:extLst>
          </p:cNvPr>
          <p:cNvSpPr/>
          <p:nvPr/>
        </p:nvSpPr>
        <p:spPr>
          <a:xfrm>
            <a:off x="5275300" y="4104263"/>
            <a:ext cx="1800000" cy="720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Modelo Relacional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30;p28">
            <a:extLst>
              <a:ext uri="{FF2B5EF4-FFF2-40B4-BE49-F238E27FC236}">
                <a16:creationId xmlns:a16="http://schemas.microsoft.com/office/drawing/2014/main" id="{0FB5829D-2781-E44E-5DFB-B1018D9B9AD6}"/>
              </a:ext>
            </a:extLst>
          </p:cNvPr>
          <p:cNvSpPr/>
          <p:nvPr/>
        </p:nvSpPr>
        <p:spPr>
          <a:xfrm>
            <a:off x="8344175" y="4530213"/>
            <a:ext cx="1725900" cy="1486225"/>
          </a:xfrm>
          <a:prstGeom prst="flowChartMagneticDisk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SGBD Relacional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" name="Google Shape;331;p28">
            <a:extLst>
              <a:ext uri="{FF2B5EF4-FFF2-40B4-BE49-F238E27FC236}">
                <a16:creationId xmlns:a16="http://schemas.microsoft.com/office/drawing/2014/main" id="{3B253F75-3254-4B72-000A-AF9277AF5030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3846362" y="2825013"/>
            <a:ext cx="1428900" cy="600"/>
          </a:xfrm>
          <a:prstGeom prst="bentConnector3">
            <a:avLst>
              <a:gd name="adj1" fmla="val 49911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9" name="Google Shape;332;p28">
            <a:extLst>
              <a:ext uri="{FF2B5EF4-FFF2-40B4-BE49-F238E27FC236}">
                <a16:creationId xmlns:a16="http://schemas.microsoft.com/office/drawing/2014/main" id="{D8477C96-A7ED-2827-4B09-8D20DA181DE1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-5400000" flipH="1">
            <a:off x="5683900" y="3612363"/>
            <a:ext cx="983400" cy="600"/>
          </a:xfrm>
          <a:prstGeom prst="bentConnector3">
            <a:avLst>
              <a:gd name="adj1" fmla="val 49995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0" name="Google Shape;333;p28">
            <a:extLst>
              <a:ext uri="{FF2B5EF4-FFF2-40B4-BE49-F238E27FC236}">
                <a16:creationId xmlns:a16="http://schemas.microsoft.com/office/drawing/2014/main" id="{9807D7BC-DD2C-5A7A-851C-235F305EAF80}"/>
              </a:ext>
            </a:extLst>
          </p:cNvPr>
          <p:cNvCxnSpPr>
            <a:stCxn id="6" idx="2"/>
            <a:endCxn id="7" idx="2"/>
          </p:cNvCxnSpPr>
          <p:nvPr/>
        </p:nvCxnSpPr>
        <p:spPr>
          <a:xfrm rot="-5400000" flipH="1">
            <a:off x="7035550" y="3964613"/>
            <a:ext cx="448500" cy="21690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1" name="Google Shape;334;p28">
            <a:extLst>
              <a:ext uri="{FF2B5EF4-FFF2-40B4-BE49-F238E27FC236}">
                <a16:creationId xmlns:a16="http://schemas.microsoft.com/office/drawing/2014/main" id="{CEA792BC-ADA9-DD43-06D8-1578D071609D}"/>
              </a:ext>
            </a:extLst>
          </p:cNvPr>
          <p:cNvSpPr txBox="1">
            <a:spLocks noGrp="1"/>
          </p:cNvSpPr>
          <p:nvPr/>
        </p:nvSpPr>
        <p:spPr>
          <a:xfrm>
            <a:off x="3096600" y="5932163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➔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1"/>
              <a:t>Projeto de Banco de Dados Relacional</a:t>
            </a:r>
            <a:endParaRPr sz="1800" b="1"/>
          </a:p>
        </p:txBody>
      </p:sp>
    </p:spTree>
    <p:extLst>
      <p:ext uri="{BB962C8B-B14F-4D97-AF65-F5344CB8AC3E}">
        <p14:creationId xmlns:p14="http://schemas.microsoft.com/office/powerpoint/2010/main" val="105080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1707F-193E-0964-89EA-20C5179F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BD Relacional</a:t>
            </a:r>
          </a:p>
        </p:txBody>
      </p:sp>
      <p:pic>
        <p:nvPicPr>
          <p:cNvPr id="12" name="Google Shape;340;p29">
            <a:extLst>
              <a:ext uri="{FF2B5EF4-FFF2-40B4-BE49-F238E27FC236}">
                <a16:creationId xmlns:a16="http://schemas.microsoft.com/office/drawing/2014/main" id="{F60BC8B0-FEB4-59D7-64AB-7B7403EC5D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3831" y="3519432"/>
            <a:ext cx="4468025" cy="24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41;p29">
            <a:extLst>
              <a:ext uri="{FF2B5EF4-FFF2-40B4-BE49-F238E27FC236}">
                <a16:creationId xmlns:a16="http://schemas.microsoft.com/office/drawing/2014/main" id="{AD792F42-BCA2-60D8-1EFD-F49F005CCB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9118" y="1801370"/>
            <a:ext cx="3829050" cy="171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42;p29">
            <a:extLst>
              <a:ext uri="{FF2B5EF4-FFF2-40B4-BE49-F238E27FC236}">
                <a16:creationId xmlns:a16="http://schemas.microsoft.com/office/drawing/2014/main" id="{CFF11622-B17B-7B9D-06C5-CAF2A5C6D7D5}"/>
              </a:ext>
            </a:extLst>
          </p:cNvPr>
          <p:cNvSpPr/>
          <p:nvPr/>
        </p:nvSpPr>
        <p:spPr>
          <a:xfrm>
            <a:off x="3024581" y="1739757"/>
            <a:ext cx="1725900" cy="1125000"/>
          </a:xfrm>
          <a:prstGeom prst="cloudCallout">
            <a:avLst>
              <a:gd name="adj1" fmla="val -20833"/>
              <a:gd name="adj2" fmla="val 62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Ideias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5" name="Google Shape;344;p29">
            <a:extLst>
              <a:ext uri="{FF2B5EF4-FFF2-40B4-BE49-F238E27FC236}">
                <a16:creationId xmlns:a16="http://schemas.microsoft.com/office/drawing/2014/main" id="{B1AD0518-749B-F55A-BDA4-0F417FCFAB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5857" b="14207"/>
          <a:stretch/>
        </p:blipFill>
        <p:spPr>
          <a:xfrm>
            <a:off x="7384043" y="3924782"/>
            <a:ext cx="2479199" cy="200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345;p29">
            <a:extLst>
              <a:ext uri="{FF2B5EF4-FFF2-40B4-BE49-F238E27FC236}">
                <a16:creationId xmlns:a16="http://schemas.microsoft.com/office/drawing/2014/main" id="{4FF08FE1-93C4-9388-DF10-DF1795560333}"/>
              </a:ext>
            </a:extLst>
          </p:cNvPr>
          <p:cNvCxnSpPr>
            <a:stCxn id="14" idx="1"/>
            <a:endCxn id="12" idx="0"/>
          </p:cNvCxnSpPr>
          <p:nvPr/>
        </p:nvCxnSpPr>
        <p:spPr>
          <a:xfrm rot="-5400000" flipH="1">
            <a:off x="3559931" y="3191159"/>
            <a:ext cx="655800" cy="600"/>
          </a:xfrm>
          <a:prstGeom prst="bentConnector3">
            <a:avLst>
              <a:gd name="adj1" fmla="val 63201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46;p29">
            <a:extLst>
              <a:ext uri="{FF2B5EF4-FFF2-40B4-BE49-F238E27FC236}">
                <a16:creationId xmlns:a16="http://schemas.microsoft.com/office/drawing/2014/main" id="{261D5BAB-EE5F-B603-735E-8D7A7D9DA2E8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rot="10800000" flipH="1">
            <a:off x="6121855" y="2660420"/>
            <a:ext cx="587400" cy="2087400"/>
          </a:xfrm>
          <a:prstGeom prst="curvedConnector3">
            <a:avLst>
              <a:gd name="adj1" fmla="val 49988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47;p29">
            <a:extLst>
              <a:ext uri="{FF2B5EF4-FFF2-40B4-BE49-F238E27FC236}">
                <a16:creationId xmlns:a16="http://schemas.microsoft.com/office/drawing/2014/main" id="{69BCE885-63F5-3575-F36F-E1CF90ADC883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-5400000" flipH="1">
            <a:off x="8421293" y="3721792"/>
            <a:ext cx="405300" cy="600"/>
          </a:xfrm>
          <a:prstGeom prst="bentConnector3">
            <a:avLst>
              <a:gd name="adj1" fmla="val 50005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2119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C45A0-F7B5-6070-552B-0A88949B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5359D-D876-4566-5A94-38D9661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Por que modelar?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Melhor compreensão sobre a informação a ser armazenada e manipulada</a:t>
            </a:r>
          </a:p>
          <a:p>
            <a:pPr lvl="2"/>
            <a:r>
              <a:rPr lang="pt-BR" dirty="0"/>
              <a:t>Dados</a:t>
            </a:r>
          </a:p>
          <a:p>
            <a:pPr lvl="2"/>
            <a:r>
              <a:rPr lang="pt-BR" dirty="0"/>
              <a:t>Domínio do problema</a:t>
            </a:r>
          </a:p>
          <a:p>
            <a:pPr lvl="2"/>
            <a:r>
              <a:rPr lang="pt-BR" dirty="0"/>
              <a:t>Lógica do negócio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Estimativa de tempo e recursos necessários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Documentação</a:t>
            </a:r>
          </a:p>
          <a:p>
            <a:pPr lvl="2"/>
            <a:r>
              <a:rPr lang="pt-BR" dirty="0"/>
              <a:t>Facilita manutenção/evolução do sistema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Diálogo com o cliente</a:t>
            </a:r>
          </a:p>
          <a:p>
            <a:pPr lvl="2"/>
            <a:r>
              <a:rPr lang="pt-BR" dirty="0"/>
              <a:t>Resultado atende os requisitos</a:t>
            </a:r>
          </a:p>
        </p:txBody>
      </p:sp>
    </p:spTree>
    <p:extLst>
      <p:ext uri="{BB962C8B-B14F-4D97-AF65-F5344CB8AC3E}">
        <p14:creationId xmlns:p14="http://schemas.microsoft.com/office/powerpoint/2010/main" val="476506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F0B90-3913-D124-0F07-04DD21C6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419E26-8CF4-FECA-A2F6-EEBC8151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 se não modelar?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Tempo e recursos subestimados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Resultado não atende às necessidades das aplicações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Documentação limitada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Manutenção custosa</a:t>
            </a:r>
          </a:p>
          <a:p>
            <a:pPr>
              <a:spcBef>
                <a:spcPts val="2400"/>
              </a:spcBef>
            </a:pPr>
            <a:r>
              <a:rPr lang="pt-BR" dirty="0"/>
              <a:t>Projeto considerando estruturas de armazenamento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Considera limitações das estruturas escolhidas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Dificulta o diálogo com o usuário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Percepção da realidade vs. Aspecto da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383531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E76EC-63BA-502F-4A49-DD02E4EA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8A2AF2-E5C1-B75C-D946-6EDA48C09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dados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“</a:t>
            </a:r>
            <a:r>
              <a:rPr lang="pt-BR" i="1" dirty="0"/>
              <a:t>Definição abstrata, autônoma e lógica dos </a:t>
            </a:r>
            <a:r>
              <a:rPr lang="pt-BR" i="1" dirty="0">
                <a:solidFill>
                  <a:srgbClr val="FF0000"/>
                </a:solidFill>
              </a:rPr>
              <a:t>objetos</a:t>
            </a:r>
            <a:r>
              <a:rPr lang="pt-BR" i="1" dirty="0"/>
              <a:t>, </a:t>
            </a:r>
            <a:r>
              <a:rPr lang="pt-BR" i="1" dirty="0">
                <a:solidFill>
                  <a:schemeClr val="accent1"/>
                </a:solidFill>
              </a:rPr>
              <a:t>operadores</a:t>
            </a:r>
            <a:r>
              <a:rPr lang="pt-BR" i="1" dirty="0"/>
              <a:t> e outros elementos que, juntos, constituem a máquina abstrata com a qual os usuários interagem</a:t>
            </a:r>
            <a:r>
              <a:rPr lang="pt-BR" dirty="0"/>
              <a:t>”</a:t>
            </a:r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rgbClr val="FF0000"/>
                </a:solidFill>
              </a:rPr>
              <a:t>Objetos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estruturas de dados</a:t>
            </a:r>
          </a:p>
          <a:p>
            <a:pPr lvl="1"/>
            <a:r>
              <a:rPr lang="pt-BR" dirty="0">
                <a:solidFill>
                  <a:schemeClr val="accent1"/>
                </a:solidFill>
                <a:sym typeface="Wingdings" panose="05000000000000000000" pitchFamily="2" charset="2"/>
              </a:rPr>
              <a:t>Operadores</a:t>
            </a:r>
            <a:r>
              <a:rPr lang="pt-BR" dirty="0">
                <a:sym typeface="Wingdings" panose="05000000000000000000" pitchFamily="2" charset="2"/>
              </a:rPr>
              <a:t>  comportamento dos dados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463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23050-1C90-586E-E82D-BD8F41A5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D19A40-74A7-9F00-E562-756BAC53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/>
          <a:lstStyle/>
          <a:p>
            <a:r>
              <a:rPr lang="pt-BR" dirty="0"/>
              <a:t>Análise de requisitos</a:t>
            </a:r>
          </a:p>
          <a:p>
            <a:pPr lvl="1"/>
            <a:r>
              <a:rPr lang="pt-BR" dirty="0"/>
              <a:t>Entrevista com potenciais usuários para entender e documentar </a:t>
            </a:r>
            <a:r>
              <a:rPr lang="pt-BR" b="1" dirty="0"/>
              <a:t>requisitos de dados</a:t>
            </a:r>
          </a:p>
          <a:p>
            <a:pPr lvl="1">
              <a:spcBef>
                <a:spcPts val="1800"/>
              </a:spcBef>
            </a:pPr>
            <a:r>
              <a:rPr lang="pt-BR" u="sng" dirty="0"/>
              <a:t>Resultado</a:t>
            </a:r>
            <a:r>
              <a:rPr lang="pt-BR" dirty="0"/>
              <a:t>: conjunto escrito de requisitos, detalhados o máximo possível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É útil especificar também requisitos funcionais </a:t>
            </a:r>
            <a:r>
              <a:rPr lang="pt-BR" dirty="0">
                <a:sym typeface="Wingdings" panose="05000000000000000000" pitchFamily="2" charset="2"/>
              </a:rPr>
              <a:t> operações ou transações aplicadas no BD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DFD, diagrama de sequência, cenários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8FF88C-EB54-648E-F505-8DC4CF54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90311"/>
            <a:ext cx="5761045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1B0D3EE-57C3-B55B-7C42-8DDDC8A319BE}"/>
              </a:ext>
            </a:extLst>
          </p:cNvPr>
          <p:cNvSpPr/>
          <p:nvPr/>
        </p:nvSpPr>
        <p:spPr>
          <a:xfrm>
            <a:off x="9945510" y="1233488"/>
            <a:ext cx="1772357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55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27CD-680A-AD6F-9791-6D8775AE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686BB-8F37-9AC1-6BA3-C4724E43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A5F6DB-FE78-0904-B79A-097C044EA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Projeto conceitual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Criar um esquema conceitual, usando modelo de dados de alto-nível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Descrição concisa dos requisitos de dados e inclui descrição detalhada dos tipos de Entidades, Relacionamentos e Restrições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Usado para se comunicar e validar com usuários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Sem preocupação com detalhes de armazenamento ou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CCB4B3-940B-DC37-C0DE-C76BC173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90311"/>
            <a:ext cx="5761045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7CDB931-D502-2891-36D4-6E640C1DD859}"/>
              </a:ext>
            </a:extLst>
          </p:cNvPr>
          <p:cNvSpPr/>
          <p:nvPr/>
        </p:nvSpPr>
        <p:spPr>
          <a:xfrm>
            <a:off x="9731021" y="2384954"/>
            <a:ext cx="2178756" cy="7082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42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2F7C-023E-A4C3-3AB5-C4F9F7A4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0978B-C3B8-D848-0325-BA280D27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36F0C-316E-E4FB-F5F1-0FEC73558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66725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Projeto conceitual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Operações básicas do modelo de dados podem ser usadas para especificar consultas e operações identificadas durante a análise funcional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 serve para validar o esquema conceitual junto aos requisitos funcionais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Modificações podem ser introduzidas se alguns requisitos não são atendidos pelo </a:t>
            </a:r>
            <a:r>
              <a:rPr lang="pt-BR" i="1" dirty="0" err="1">
                <a:sym typeface="Wingdings" panose="05000000000000000000" pitchFamily="2" charset="2"/>
              </a:rPr>
              <a:t>schema</a:t>
            </a:r>
            <a:endParaRPr lang="pt-BR" i="1" dirty="0">
              <a:sym typeface="Wingdings" panose="05000000000000000000" pitchFamily="2" charset="2"/>
            </a:endParaRPr>
          </a:p>
          <a:p>
            <a:pPr lvl="1">
              <a:spcBef>
                <a:spcPts val="1800"/>
              </a:spcBef>
            </a:pPr>
            <a:r>
              <a:rPr lang="pt-BR" u="sng" dirty="0">
                <a:sym typeface="Wingdings" panose="05000000000000000000" pitchFamily="2" charset="2"/>
              </a:rPr>
              <a:t>Resultado</a:t>
            </a:r>
            <a:r>
              <a:rPr lang="pt-BR" dirty="0">
                <a:sym typeface="Wingdings" panose="05000000000000000000" pitchFamily="2" charset="2"/>
              </a:rPr>
              <a:t>: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modelo conceitual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7A273F-F37E-4340-5CDF-812B5063E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90311"/>
            <a:ext cx="5761045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33E0C72-6087-7291-8EB8-034761B19E7E}"/>
              </a:ext>
            </a:extLst>
          </p:cNvPr>
          <p:cNvSpPr/>
          <p:nvPr/>
        </p:nvSpPr>
        <p:spPr>
          <a:xfrm>
            <a:off x="9731021" y="2384954"/>
            <a:ext cx="2178756" cy="7082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82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7CE2-CA43-D16E-791B-E8131B70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CF34F-62CE-F117-A01E-12798B64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7280D-87E1-6AA9-12F9-4A5CC9519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/>
          <a:lstStyle/>
          <a:p>
            <a:r>
              <a:rPr lang="pt-BR" dirty="0"/>
              <a:t>Projeto lógico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Implementação do modelo conceitual em um SGBD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Maioria implementa um modelo (como o SQL) que transforma o design conceitual em modelo de implementação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Mapeamento automatizado</a:t>
            </a:r>
          </a:p>
          <a:p>
            <a:pPr lvl="1">
              <a:spcBef>
                <a:spcPts val="1800"/>
              </a:spcBef>
            </a:pPr>
            <a:r>
              <a:rPr lang="pt-BR" u="sng" dirty="0"/>
              <a:t>Resultado</a:t>
            </a:r>
            <a:r>
              <a:rPr lang="pt-BR" dirty="0"/>
              <a:t>: </a:t>
            </a:r>
            <a:r>
              <a:rPr lang="pt-BR" i="1" dirty="0" err="1"/>
              <a:t>schema</a:t>
            </a:r>
            <a:r>
              <a:rPr lang="pt-BR" i="1" dirty="0"/>
              <a:t> </a:t>
            </a:r>
            <a:r>
              <a:rPr lang="pt-BR" dirty="0"/>
              <a:t>do banco de dados na implementação do modelo de dados do SGBD escolhido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D529CA-C675-B55F-44EB-AC50700E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90311"/>
            <a:ext cx="5761045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B792783-951C-ACDC-2CC2-697282866A8D}"/>
              </a:ext>
            </a:extLst>
          </p:cNvPr>
          <p:cNvSpPr/>
          <p:nvPr/>
        </p:nvSpPr>
        <p:spPr>
          <a:xfrm>
            <a:off x="9742310" y="3611298"/>
            <a:ext cx="2178756" cy="7082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24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9DF92-7DA7-F2B9-9A3E-9816BD9EC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11D26-7845-9E04-051C-0CFA99E3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431BF3-10E4-C3E4-987F-F7C3E504F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/>
          <a:lstStyle/>
          <a:p>
            <a:r>
              <a:rPr lang="pt-BR" dirty="0"/>
              <a:t>Projeto físico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Especificação de implementação dos arquivos de dados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Estruturas de armazenamento interno, organização de arquivos, índices, caminhos de acesso e parâmetros do projeto físico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D1F5CD-E42A-EF77-E573-7E20C7B66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90311"/>
            <a:ext cx="5761045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3405F8-65D7-9D60-4204-B78BC6E2AC28}"/>
              </a:ext>
            </a:extLst>
          </p:cNvPr>
          <p:cNvSpPr/>
          <p:nvPr/>
        </p:nvSpPr>
        <p:spPr>
          <a:xfrm>
            <a:off x="9742310" y="4812066"/>
            <a:ext cx="2178756" cy="6066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90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F650-89F1-32A1-0666-0305806D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0C728-FEDE-6595-28F9-B77E7E41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ECD2FE-A8FF-79A4-2902-ABEE8E732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/>
          <a:lstStyle/>
          <a:p>
            <a:r>
              <a:rPr lang="pt-BR" dirty="0"/>
              <a:t>Programas de aplicação</a:t>
            </a:r>
          </a:p>
          <a:p>
            <a:pPr lvl="1"/>
            <a:r>
              <a:rPr lang="pt-BR" dirty="0"/>
              <a:t>Desenvolvidos em paralelo</a:t>
            </a:r>
          </a:p>
          <a:p>
            <a:pPr lvl="1"/>
            <a:r>
              <a:rPr lang="pt-BR" dirty="0"/>
              <a:t>Implementam as operações e transações no banco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5FA3B3-BAE6-BD70-A8DD-32DB6751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90311"/>
            <a:ext cx="5761045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A8C5268-AD5B-9893-DAEF-AD41C4092F49}"/>
              </a:ext>
            </a:extLst>
          </p:cNvPr>
          <p:cNvSpPr/>
          <p:nvPr/>
        </p:nvSpPr>
        <p:spPr>
          <a:xfrm>
            <a:off x="6331211" y="2057577"/>
            <a:ext cx="3049856" cy="42754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7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5E4B-8B7A-B1FB-345A-624C4BC6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BBB7B-59B2-FF60-9221-6F45CBF39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b="1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A9D15D-DC30-CAFE-C077-05F832F4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15B912-061D-71AB-BEB5-B6307538F97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56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ABB7E-99F9-A3A5-6D52-A4D83CEE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3A058-5FF8-4EED-CD74-F5980170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1101" cy="4351338"/>
          </a:xfrm>
        </p:spPr>
        <p:txBody>
          <a:bodyPr/>
          <a:lstStyle/>
          <a:p>
            <a:r>
              <a:rPr lang="pt-BR" dirty="0"/>
              <a:t>Criado por Peter Chen (1977)</a:t>
            </a:r>
          </a:p>
          <a:p>
            <a:pPr lvl="1"/>
            <a:r>
              <a:rPr lang="pt-BR" dirty="0"/>
              <a:t>“</a:t>
            </a:r>
            <a:r>
              <a:rPr lang="pt-BR" i="1" dirty="0"/>
              <a:t>The </a:t>
            </a:r>
            <a:r>
              <a:rPr lang="pt-BR" i="1" dirty="0" err="1"/>
              <a:t>entity-relationship</a:t>
            </a:r>
            <a:r>
              <a:rPr lang="pt-BR" i="1" dirty="0"/>
              <a:t> model: </a:t>
            </a:r>
            <a:r>
              <a:rPr lang="pt-BR" i="1" dirty="0" err="1"/>
              <a:t>towards</a:t>
            </a:r>
            <a:r>
              <a:rPr lang="pt-BR" i="1" dirty="0"/>
              <a:t> a </a:t>
            </a:r>
            <a:r>
              <a:rPr lang="pt-BR" i="1" dirty="0" err="1"/>
              <a:t>unified</a:t>
            </a:r>
            <a:r>
              <a:rPr lang="pt-BR" i="1" dirty="0"/>
              <a:t> </a:t>
            </a:r>
            <a:r>
              <a:rPr lang="pt-BR" i="1" dirty="0" err="1"/>
              <a:t>view</a:t>
            </a:r>
            <a:r>
              <a:rPr lang="pt-BR" i="1" dirty="0"/>
              <a:t> </a:t>
            </a:r>
            <a:r>
              <a:rPr lang="pt-BR" i="1" dirty="0" err="1"/>
              <a:t>of</a:t>
            </a:r>
            <a:r>
              <a:rPr lang="pt-BR" i="1" dirty="0"/>
              <a:t> data</a:t>
            </a:r>
            <a:r>
              <a:rPr lang="pt-BR" dirty="0"/>
              <a:t>”; ACM </a:t>
            </a:r>
            <a:r>
              <a:rPr lang="pt-BR" dirty="0" err="1"/>
              <a:t>Transactions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Database</a:t>
            </a:r>
            <a:r>
              <a:rPr lang="pt-BR" dirty="0"/>
              <a:t> Systems</a:t>
            </a:r>
          </a:p>
          <a:p>
            <a:pPr lvl="1"/>
            <a:endParaRPr lang="pt-BR" dirty="0"/>
          </a:p>
          <a:p>
            <a:r>
              <a:rPr lang="pt-BR" dirty="0"/>
              <a:t>Voltado para aspectos estáticos (informação) do Domínio da Aplicação</a:t>
            </a:r>
          </a:p>
          <a:p>
            <a:pPr lvl="1"/>
            <a:r>
              <a:rPr lang="pt-BR" dirty="0"/>
              <a:t>Modelagem semântica dos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FE17BB-1B46-22D3-BAE4-4925206F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301" y="1647560"/>
            <a:ext cx="3977192" cy="470746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3C99CDB-6F3B-0411-D356-AE4B933B97A0}"/>
              </a:ext>
            </a:extLst>
          </p:cNvPr>
          <p:cNvSpPr txBox="1"/>
          <p:nvPr/>
        </p:nvSpPr>
        <p:spPr>
          <a:xfrm>
            <a:off x="6773333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https://dspace.mit.edu/bitstream/handle/1721.1/47432/entityrelationshx00chen.pdf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1573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E4721-1874-F20F-6FA7-A7D2AF84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69A650-A1AB-E5DE-1FD0-E1B4A1C44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Muito popular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Simplicidade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Expressividade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Intuitivo </a:t>
            </a:r>
            <a:r>
              <a:rPr lang="pt-BR" dirty="0">
                <a:sym typeface="Wingdings" panose="05000000000000000000" pitchFamily="2" charset="2"/>
              </a:rPr>
              <a:t> representação gráfica da informação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Diagrama Entidade-Relacionamento (DER)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Agnóstico ao modelo de dados de BD e implementação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3337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26739-DD55-EA23-BF7F-F8666E53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48088A-AA10-B6F7-4641-A7A55F824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Descreve dados em termos de 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Entidades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Relacionamentos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Atributos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235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AF09F-59F8-FC77-C6C6-241A4B1A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108DA1-9950-450A-6FAF-9DB7E5FB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define um conjunto (limitado) de construtores sintáticos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Conjunto de Entidades (CE)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Conjunto de Relacionamentos (CR)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Atributos de Entidade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Atributos de Relacionamento</a:t>
            </a:r>
          </a:p>
        </p:txBody>
      </p:sp>
    </p:spTree>
    <p:extLst>
      <p:ext uri="{BB962C8B-B14F-4D97-AF65-F5344CB8AC3E}">
        <p14:creationId xmlns:p14="http://schemas.microsoft.com/office/powerpoint/2010/main" val="1869012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0EFD-2CD1-B150-58D4-5B1472AE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B85D6C-E104-E048-E75A-A439A1D0D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b="1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96CCB4-2022-9114-4A29-A0E3AF7B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B21E5C-D201-1EE8-16DD-B6AC0ACD6B3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262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FC4E0-F646-DAE1-3065-95544F26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A08232-EF3D-C57E-B00A-59332198A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Entidade: coisas, objetos, pessoas, entes, etc., do mundo real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Existência física: pessoa, carro, casa, empregado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Existência conceitual: empresa, cargo, curso universitário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46BFE54-AF00-59E0-CC0E-0AE8B884D6DF}"/>
              </a:ext>
            </a:extLst>
          </p:cNvPr>
          <p:cNvGrpSpPr/>
          <p:nvPr/>
        </p:nvGrpSpPr>
        <p:grpSpPr>
          <a:xfrm>
            <a:off x="3336494" y="3481495"/>
            <a:ext cx="5519012" cy="3376505"/>
            <a:chOff x="3194755" y="3429000"/>
            <a:chExt cx="5519012" cy="3376505"/>
          </a:xfrm>
        </p:grpSpPr>
        <p:pic>
          <p:nvPicPr>
            <p:cNvPr id="1026" name="Picture 2" descr="Banco de dados - Entidades e Atributos">
              <a:extLst>
                <a:ext uri="{FF2B5EF4-FFF2-40B4-BE49-F238E27FC236}">
                  <a16:creationId xmlns:a16="http://schemas.microsoft.com/office/drawing/2014/main" id="{DFC16F08-E37C-0316-02CD-C9EBF7590B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4755" y="3429000"/>
              <a:ext cx="5519012" cy="3104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073FE991-D4F2-9A75-6B41-1381F39EF649}"/>
                </a:ext>
              </a:extLst>
            </p:cNvPr>
            <p:cNvSpPr txBox="1"/>
            <p:nvPr/>
          </p:nvSpPr>
          <p:spPr>
            <a:xfrm>
              <a:off x="4267201" y="6528506"/>
              <a:ext cx="33640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https://www.youtube.com/watch?v=usbEgAGXi_4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8924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9B14-50DF-A89D-80A7-BB0B49B2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0C2CD-0045-D800-3776-3C705E16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5BDE06-4E46-6F68-FC8D-5AB844D18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0467" cy="4351338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BD contem grupo de entidades similares entre si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Compartilham os mesmos atributos, cada uma tendo seus valores respectivos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Tipo de entidade</a:t>
            </a:r>
            <a:r>
              <a:rPr lang="pt-BR" dirty="0"/>
              <a:t>: define uma coleção (conjunto)de entidades com os mesmos atributos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Descrita por seu nome e atributos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Descreve o </a:t>
            </a:r>
            <a:r>
              <a:rPr lang="pt-BR" b="1" i="1" dirty="0" err="1"/>
              <a:t>schema</a:t>
            </a:r>
            <a:r>
              <a:rPr lang="pt-BR" b="1" i="1" dirty="0"/>
              <a:t> </a:t>
            </a:r>
            <a:r>
              <a:rPr lang="pt-BR" dirty="0"/>
              <a:t>para um </a:t>
            </a:r>
            <a:r>
              <a:rPr lang="pt-BR" b="1" dirty="0"/>
              <a:t>conjunto de entidades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FB7F26-3A05-7179-42AE-C559F1552F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28"/>
          <a:stretch/>
        </p:blipFill>
        <p:spPr>
          <a:xfrm>
            <a:off x="5418667" y="2082261"/>
            <a:ext cx="6609754" cy="40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22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0D829-D5DF-DF39-3AD9-4F2B667C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D2B02E-BBB5-48A7-3E1F-A0C7C092C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/>
              <a:t>Entity Sets</a:t>
            </a:r>
          </a:p>
          <a:p>
            <a:pPr>
              <a:spcBef>
                <a:spcPts val="2400"/>
              </a:spcBef>
            </a:pPr>
            <a:r>
              <a:rPr lang="pt-BR" dirty="0"/>
              <a:t>Coleção de todas as entidades de um determinado tipo no banco de dados em determinado momento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Geralmente referida como o Tipo da Entidade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Porém, são conceitos diferentes!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Ex.: ALUNOS se refere tanto ao </a:t>
            </a:r>
            <a:r>
              <a:rPr lang="pt-BR" i="1" dirty="0"/>
              <a:t>tipo da entidade </a:t>
            </a:r>
            <a:r>
              <a:rPr lang="pt-BR" dirty="0"/>
              <a:t>bem como o conjunto atual de </a:t>
            </a:r>
            <a:r>
              <a:rPr lang="pt-BR" i="1" dirty="0"/>
              <a:t>todas as entidades de alunos</a:t>
            </a:r>
          </a:p>
        </p:txBody>
      </p:sp>
    </p:spTree>
    <p:extLst>
      <p:ext uri="{BB962C8B-B14F-4D97-AF65-F5344CB8AC3E}">
        <p14:creationId xmlns:p14="http://schemas.microsoft.com/office/powerpoint/2010/main" val="4097667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90A7F-595D-5956-92AA-85916CAB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12F5CC-C030-2114-FE1E-41EEFCDB8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MER não trata entidades individuais, apenas </a:t>
            </a:r>
            <a:r>
              <a:rPr lang="pt-BR" b="1" dirty="0"/>
              <a:t>Entity Sets</a:t>
            </a:r>
          </a:p>
          <a:p>
            <a:r>
              <a:rPr lang="pt-BR" dirty="0"/>
              <a:t>Notação DER: retângulo </a:t>
            </a:r>
          </a:p>
        </p:txBody>
      </p:sp>
      <p:sp>
        <p:nvSpPr>
          <p:cNvPr id="4" name="Google Shape;431;p41">
            <a:extLst>
              <a:ext uri="{FF2B5EF4-FFF2-40B4-BE49-F238E27FC236}">
                <a16:creationId xmlns:a16="http://schemas.microsoft.com/office/drawing/2014/main" id="{4E520BB7-A6CA-215C-9B5C-47D5C4AD8A95}"/>
              </a:ext>
            </a:extLst>
          </p:cNvPr>
          <p:cNvSpPr/>
          <p:nvPr/>
        </p:nvSpPr>
        <p:spPr>
          <a:xfrm>
            <a:off x="4964850" y="3811438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432;p41">
            <a:extLst>
              <a:ext uri="{FF2B5EF4-FFF2-40B4-BE49-F238E27FC236}">
                <a16:creationId xmlns:a16="http://schemas.microsoft.com/office/drawing/2014/main" id="{709D4093-8D71-647C-0D35-DD0DEF29D2E4}"/>
              </a:ext>
            </a:extLst>
          </p:cNvPr>
          <p:cNvSpPr/>
          <p:nvPr/>
        </p:nvSpPr>
        <p:spPr>
          <a:xfrm>
            <a:off x="7776005" y="3811438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433;p41">
            <a:extLst>
              <a:ext uri="{FF2B5EF4-FFF2-40B4-BE49-F238E27FC236}">
                <a16:creationId xmlns:a16="http://schemas.microsoft.com/office/drawing/2014/main" id="{6508931D-C04F-7ABB-13E5-E61498618F01}"/>
              </a:ext>
            </a:extLst>
          </p:cNvPr>
          <p:cNvSpPr/>
          <p:nvPr/>
        </p:nvSpPr>
        <p:spPr>
          <a:xfrm>
            <a:off x="2153695" y="3811438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275852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768BD-AB44-6CF0-D6F9-532E6525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sobre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908C7-4922-330C-6F6A-48B7F0F43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1133" cy="4351338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Entidade</a:t>
            </a:r>
            <a:r>
              <a:rPr lang="pt-BR" dirty="0"/>
              <a:t> (</a:t>
            </a:r>
            <a:r>
              <a:rPr lang="pt-BR" i="1" dirty="0"/>
              <a:t>Entity/</a:t>
            </a:r>
            <a:r>
              <a:rPr lang="pt-BR" i="1" dirty="0" err="1"/>
              <a:t>Instance</a:t>
            </a:r>
            <a:r>
              <a:rPr lang="pt-BR" dirty="0"/>
              <a:t>)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uma ocorrência única, um registro específico no mundo real, </a:t>
            </a:r>
            <a:r>
              <a:rPr lang="pt-BR" dirty="0" err="1"/>
              <a:t>ex</a:t>
            </a:r>
            <a:r>
              <a:rPr lang="pt-BR" dirty="0"/>
              <a:t>: o cliente com id 10 e nome "Ana".</a:t>
            </a:r>
          </a:p>
          <a:p>
            <a:pPr>
              <a:spcBef>
                <a:spcPts val="2400"/>
              </a:spcBef>
            </a:pPr>
            <a:r>
              <a:rPr lang="pt-BR" b="1" dirty="0"/>
              <a:t>Tipo de Entidade </a:t>
            </a:r>
            <a:r>
              <a:rPr lang="pt-BR" dirty="0"/>
              <a:t>(</a:t>
            </a:r>
            <a:r>
              <a:rPr lang="pt-BR" i="1" dirty="0"/>
              <a:t>Entity </a:t>
            </a:r>
            <a:r>
              <a:rPr lang="pt-BR" i="1" dirty="0" err="1"/>
              <a:t>Type</a:t>
            </a:r>
            <a:r>
              <a:rPr lang="pt-BR" i="1" dirty="0"/>
              <a:t>/</a:t>
            </a:r>
            <a:r>
              <a:rPr lang="pt-BR" i="1" dirty="0" err="1"/>
              <a:t>Class</a:t>
            </a:r>
            <a:r>
              <a:rPr lang="pt-BR" dirty="0"/>
              <a:t>)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categoria ou a estrutura (esquema) que compartilha os mesmos atributos, </a:t>
            </a:r>
            <a:r>
              <a:rPr lang="pt-BR" dirty="0" err="1"/>
              <a:t>ex</a:t>
            </a:r>
            <a:r>
              <a:rPr lang="pt-BR" dirty="0"/>
              <a:t>: CLIENTE(id, nome, </a:t>
            </a:r>
            <a:r>
              <a:rPr lang="pt-BR" dirty="0" err="1"/>
              <a:t>cpf</a:t>
            </a:r>
            <a:r>
              <a:rPr lang="pt-BR" dirty="0"/>
              <a:t>).</a:t>
            </a:r>
          </a:p>
          <a:p>
            <a:pPr>
              <a:spcBef>
                <a:spcPts val="2400"/>
              </a:spcBef>
            </a:pPr>
            <a:r>
              <a:rPr lang="pt-BR" b="1" dirty="0"/>
              <a:t>Conjunto de Entidade </a:t>
            </a:r>
            <a:r>
              <a:rPr lang="pt-BR" dirty="0"/>
              <a:t>(</a:t>
            </a:r>
            <a:r>
              <a:rPr lang="pt-BR" i="1" dirty="0"/>
              <a:t>Entity Set</a:t>
            </a:r>
            <a:r>
              <a:rPr lang="pt-BR" dirty="0"/>
              <a:t>)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coleção de todas as instâncias ativas daquele tipo em um determinado momento, </a:t>
            </a:r>
            <a:r>
              <a:rPr lang="pt-BR" dirty="0" err="1"/>
              <a:t>ex</a:t>
            </a:r>
            <a:r>
              <a:rPr lang="pt-BR" dirty="0"/>
              <a:t>: todos os clientes cadastrados hoje.</a:t>
            </a:r>
          </a:p>
          <a:p>
            <a:pPr>
              <a:spcBef>
                <a:spcPts val="2400"/>
              </a:spcBef>
            </a:pPr>
            <a:r>
              <a:rPr lang="pt-BR" b="1" dirty="0"/>
              <a:t>Nome da Entidade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rótulo utilizado para identificar o objeto na modelagem, geralmente um substantivo no singular, </a:t>
            </a:r>
            <a:r>
              <a:rPr lang="pt-BR" dirty="0" err="1"/>
              <a:t>ex</a:t>
            </a:r>
            <a:r>
              <a:rPr lang="pt-BR" dirty="0"/>
              <a:t>: "Pedido", "Fornecedor"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42DB4D-822A-381D-FE58-2A989AC34157}"/>
              </a:ext>
            </a:extLst>
          </p:cNvPr>
          <p:cNvSpPr/>
          <p:nvPr/>
        </p:nvSpPr>
        <p:spPr>
          <a:xfrm>
            <a:off x="8026399" y="2120988"/>
            <a:ext cx="3905956" cy="37606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400" b="1" dirty="0"/>
              <a:t>Tipo</a:t>
            </a:r>
            <a:r>
              <a:rPr lang="pt-BR" sz="2400" dirty="0"/>
              <a:t>: ALUNO (estrutura: Matrícula, Nome)</a:t>
            </a:r>
          </a:p>
          <a:p>
            <a:pPr marL="285750" indent="-285750" algn="ctr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Conjunto</a:t>
            </a:r>
            <a:r>
              <a:rPr lang="pt-BR" sz="2400" dirty="0"/>
              <a:t>: {Aluno1, Aluno2, Aluno3}</a:t>
            </a:r>
          </a:p>
          <a:p>
            <a:pPr marL="285750" indent="-285750" algn="ctr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Entidade</a:t>
            </a:r>
            <a:r>
              <a:rPr lang="pt-BR" sz="2400" dirty="0"/>
              <a:t>: Aluno("123", "Carlos")</a:t>
            </a:r>
          </a:p>
          <a:p>
            <a:pPr marL="285750" indent="-285750" algn="ctr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Nome</a:t>
            </a:r>
            <a:r>
              <a:rPr lang="pt-BR" sz="2400" dirty="0"/>
              <a:t>: ALUNO</a:t>
            </a:r>
          </a:p>
        </p:txBody>
      </p:sp>
    </p:spTree>
    <p:extLst>
      <p:ext uri="{BB962C8B-B14F-4D97-AF65-F5344CB8AC3E}">
        <p14:creationId xmlns:p14="http://schemas.microsoft.com/office/powerpoint/2010/main" val="3466312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F3B7-7E80-0D11-C468-3C095F4B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DA2182-8A58-FEEE-D68E-D06DAA5C1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b="1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8F7225-C9A8-EC66-DA5F-2406BD55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376E7D-4E36-D77B-140D-C0E9D0995F1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85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E7DF5-07E0-379C-65E0-82CC4A22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32FA3C-AC5F-7F17-27F7-67163411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Associação entre Entidades do mundo real</a:t>
            </a:r>
          </a:p>
          <a:p>
            <a:pPr>
              <a:spcBef>
                <a:spcPts val="2400"/>
              </a:spcBef>
            </a:pPr>
            <a:r>
              <a:rPr lang="pt-BR" dirty="0"/>
              <a:t>Conjunto de Relacionamentos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Relacionamentos entre Entidades dos mesmos Conjuntos de Entidades</a:t>
            </a:r>
          </a:p>
        </p:txBody>
      </p:sp>
      <p:sp>
        <p:nvSpPr>
          <p:cNvPr id="4" name="Google Shape;441;p42">
            <a:extLst>
              <a:ext uri="{FF2B5EF4-FFF2-40B4-BE49-F238E27FC236}">
                <a16:creationId xmlns:a16="http://schemas.microsoft.com/office/drawing/2014/main" id="{A0EC219B-0C65-2991-DB91-CF33E4156EB1}"/>
              </a:ext>
            </a:extLst>
          </p:cNvPr>
          <p:cNvSpPr/>
          <p:nvPr/>
        </p:nvSpPr>
        <p:spPr>
          <a:xfrm>
            <a:off x="1722808" y="4522639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442;p42">
            <a:extLst>
              <a:ext uri="{FF2B5EF4-FFF2-40B4-BE49-F238E27FC236}">
                <a16:creationId xmlns:a16="http://schemas.microsoft.com/office/drawing/2014/main" id="{621A82A1-9F5B-3278-7248-D4360A1E9F60}"/>
              </a:ext>
            </a:extLst>
          </p:cNvPr>
          <p:cNvSpPr/>
          <p:nvPr/>
        </p:nvSpPr>
        <p:spPr>
          <a:xfrm>
            <a:off x="7981113" y="4522639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443;p42">
            <a:extLst>
              <a:ext uri="{FF2B5EF4-FFF2-40B4-BE49-F238E27FC236}">
                <a16:creationId xmlns:a16="http://schemas.microsoft.com/office/drawing/2014/main" id="{024392F5-BC8E-8D11-46EB-B870FE53E99A}"/>
              </a:ext>
            </a:extLst>
          </p:cNvPr>
          <p:cNvSpPr/>
          <p:nvPr/>
        </p:nvSpPr>
        <p:spPr>
          <a:xfrm>
            <a:off x="3542178" y="4661164"/>
            <a:ext cx="289800" cy="138600"/>
          </a:xfrm>
          <a:prstGeom prst="ellipse">
            <a:avLst/>
          </a:prstGeom>
          <a:solidFill>
            <a:srgbClr val="61A31F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444;p42">
            <a:extLst>
              <a:ext uri="{FF2B5EF4-FFF2-40B4-BE49-F238E27FC236}">
                <a16:creationId xmlns:a16="http://schemas.microsoft.com/office/drawing/2014/main" id="{A8511C9F-0A77-650B-1764-09DE8040CB74}"/>
              </a:ext>
            </a:extLst>
          </p:cNvPr>
          <p:cNvSpPr/>
          <p:nvPr/>
        </p:nvSpPr>
        <p:spPr>
          <a:xfrm>
            <a:off x="3480478" y="4977289"/>
            <a:ext cx="289800" cy="138600"/>
          </a:xfrm>
          <a:prstGeom prst="ellipse">
            <a:avLst/>
          </a:prstGeom>
          <a:solidFill>
            <a:srgbClr val="61A31F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445;p42">
            <a:extLst>
              <a:ext uri="{FF2B5EF4-FFF2-40B4-BE49-F238E27FC236}">
                <a16:creationId xmlns:a16="http://schemas.microsoft.com/office/drawing/2014/main" id="{C0AA085E-2AA3-FEA7-5910-F2838C3A715B}"/>
              </a:ext>
            </a:extLst>
          </p:cNvPr>
          <p:cNvSpPr/>
          <p:nvPr/>
        </p:nvSpPr>
        <p:spPr>
          <a:xfrm>
            <a:off x="1970303" y="4661164"/>
            <a:ext cx="289800" cy="138600"/>
          </a:xfrm>
          <a:prstGeom prst="ellipse">
            <a:avLst/>
          </a:prstGeom>
          <a:solidFill>
            <a:srgbClr val="61A31F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446;p42">
            <a:extLst>
              <a:ext uri="{FF2B5EF4-FFF2-40B4-BE49-F238E27FC236}">
                <a16:creationId xmlns:a16="http://schemas.microsoft.com/office/drawing/2014/main" id="{0262215D-428A-6B88-E793-0EA97B547672}"/>
              </a:ext>
            </a:extLst>
          </p:cNvPr>
          <p:cNvSpPr/>
          <p:nvPr/>
        </p:nvSpPr>
        <p:spPr>
          <a:xfrm>
            <a:off x="8294278" y="4589389"/>
            <a:ext cx="289800" cy="138600"/>
          </a:xfrm>
          <a:prstGeom prst="ellipse">
            <a:avLst/>
          </a:prstGeom>
          <a:solidFill>
            <a:srgbClr val="61A31F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447;p42">
            <a:extLst>
              <a:ext uri="{FF2B5EF4-FFF2-40B4-BE49-F238E27FC236}">
                <a16:creationId xmlns:a16="http://schemas.microsoft.com/office/drawing/2014/main" id="{27204400-DEB2-B14B-06C8-E2E0F78BC093}"/>
              </a:ext>
            </a:extLst>
          </p:cNvPr>
          <p:cNvSpPr/>
          <p:nvPr/>
        </p:nvSpPr>
        <p:spPr>
          <a:xfrm>
            <a:off x="8182203" y="4977289"/>
            <a:ext cx="289800" cy="138600"/>
          </a:xfrm>
          <a:prstGeom prst="ellipse">
            <a:avLst/>
          </a:prstGeom>
          <a:solidFill>
            <a:srgbClr val="61A31F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448;p42">
            <a:extLst>
              <a:ext uri="{FF2B5EF4-FFF2-40B4-BE49-F238E27FC236}">
                <a16:creationId xmlns:a16="http://schemas.microsoft.com/office/drawing/2014/main" id="{9C1078C4-F76C-AF9E-9571-501810DB994E}"/>
              </a:ext>
            </a:extLst>
          </p:cNvPr>
          <p:cNvSpPr/>
          <p:nvPr/>
        </p:nvSpPr>
        <p:spPr>
          <a:xfrm>
            <a:off x="9808203" y="4977289"/>
            <a:ext cx="289800" cy="138600"/>
          </a:xfrm>
          <a:prstGeom prst="ellipse">
            <a:avLst/>
          </a:prstGeom>
          <a:solidFill>
            <a:srgbClr val="61A31F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Google Shape;449;p42">
            <a:extLst>
              <a:ext uri="{FF2B5EF4-FFF2-40B4-BE49-F238E27FC236}">
                <a16:creationId xmlns:a16="http://schemas.microsoft.com/office/drawing/2014/main" id="{CDEFBEBA-DB6C-A29C-DF11-FA16BAE6822B}"/>
              </a:ext>
            </a:extLst>
          </p:cNvPr>
          <p:cNvCxnSpPr>
            <a:stCxn id="6" idx="0"/>
            <a:endCxn id="9" idx="0"/>
          </p:cNvCxnSpPr>
          <p:nvPr/>
        </p:nvCxnSpPr>
        <p:spPr>
          <a:xfrm rot="-5400000">
            <a:off x="6027228" y="2249314"/>
            <a:ext cx="71700" cy="4752000"/>
          </a:xfrm>
          <a:prstGeom prst="curvedConnector3">
            <a:avLst>
              <a:gd name="adj1" fmla="val 43221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450;p42">
            <a:extLst>
              <a:ext uri="{FF2B5EF4-FFF2-40B4-BE49-F238E27FC236}">
                <a16:creationId xmlns:a16="http://schemas.microsoft.com/office/drawing/2014/main" id="{0B40E06C-D1D5-642C-E633-8F9A0A207848}"/>
              </a:ext>
            </a:extLst>
          </p:cNvPr>
          <p:cNvCxnSpPr>
            <a:stCxn id="7" idx="5"/>
            <a:endCxn id="10" idx="4"/>
          </p:cNvCxnSpPr>
          <p:nvPr/>
        </p:nvCxnSpPr>
        <p:spPr>
          <a:xfrm rot="-5400000" flipH="1">
            <a:off x="6017288" y="2806142"/>
            <a:ext cx="20400" cy="4599300"/>
          </a:xfrm>
          <a:prstGeom prst="curvedConnector3">
            <a:avLst>
              <a:gd name="adj1" fmla="val 126677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13030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CC374-94FE-6CF7-EEF9-24BD71F1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7F67F6-DB99-EF03-FFDF-4D62D24D8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Notação DER: losango</a:t>
            </a:r>
          </a:p>
        </p:txBody>
      </p:sp>
      <p:sp>
        <p:nvSpPr>
          <p:cNvPr id="4" name="Google Shape;458;p43">
            <a:extLst>
              <a:ext uri="{FF2B5EF4-FFF2-40B4-BE49-F238E27FC236}">
                <a16:creationId xmlns:a16="http://schemas.microsoft.com/office/drawing/2014/main" id="{53EE23F8-6DE0-B09B-52CB-B15720231CA0}"/>
              </a:ext>
            </a:extLst>
          </p:cNvPr>
          <p:cNvSpPr/>
          <p:nvPr/>
        </p:nvSpPr>
        <p:spPr>
          <a:xfrm>
            <a:off x="1583261" y="3792672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459;p43">
            <a:extLst>
              <a:ext uri="{FF2B5EF4-FFF2-40B4-BE49-F238E27FC236}">
                <a16:creationId xmlns:a16="http://schemas.microsoft.com/office/drawing/2014/main" id="{55255114-477F-7719-0708-0CE70941B08B}"/>
              </a:ext>
            </a:extLst>
          </p:cNvPr>
          <p:cNvSpPr/>
          <p:nvPr/>
        </p:nvSpPr>
        <p:spPr>
          <a:xfrm>
            <a:off x="7841566" y="289839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460;p43">
            <a:extLst>
              <a:ext uri="{FF2B5EF4-FFF2-40B4-BE49-F238E27FC236}">
                <a16:creationId xmlns:a16="http://schemas.microsoft.com/office/drawing/2014/main" id="{1B36C3EF-D370-004D-A1C0-A6DB5C0CE90A}"/>
              </a:ext>
            </a:extLst>
          </p:cNvPr>
          <p:cNvSpPr/>
          <p:nvPr/>
        </p:nvSpPr>
        <p:spPr>
          <a:xfrm>
            <a:off x="7841556" y="474174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461;p43">
            <a:extLst>
              <a:ext uri="{FF2B5EF4-FFF2-40B4-BE49-F238E27FC236}">
                <a16:creationId xmlns:a16="http://schemas.microsoft.com/office/drawing/2014/main" id="{52CCD20E-513E-CA36-794B-B3618646C7D4}"/>
              </a:ext>
            </a:extLst>
          </p:cNvPr>
          <p:cNvSpPr/>
          <p:nvPr/>
        </p:nvSpPr>
        <p:spPr>
          <a:xfrm>
            <a:off x="4485806" y="2709372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462;p43">
            <a:extLst>
              <a:ext uri="{FF2B5EF4-FFF2-40B4-BE49-F238E27FC236}">
                <a16:creationId xmlns:a16="http://schemas.microsoft.com/office/drawing/2014/main" id="{4294E823-FEFC-F030-F613-4EB72B47DAB6}"/>
              </a:ext>
            </a:extLst>
          </p:cNvPr>
          <p:cNvSpPr/>
          <p:nvPr/>
        </p:nvSpPr>
        <p:spPr>
          <a:xfrm>
            <a:off x="4485806" y="4540147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Trabalha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9" name="Google Shape;463;p43">
            <a:extLst>
              <a:ext uri="{FF2B5EF4-FFF2-40B4-BE49-F238E27FC236}">
                <a16:creationId xmlns:a16="http://schemas.microsoft.com/office/drawing/2014/main" id="{B027CE66-3D46-E225-FA1D-2B84B537D8D7}"/>
              </a:ext>
            </a:extLst>
          </p:cNvPr>
          <p:cNvCxnSpPr>
            <a:stCxn id="7" idx="1"/>
            <a:endCxn id="4" idx="3"/>
          </p:cNvCxnSpPr>
          <p:nvPr/>
        </p:nvCxnSpPr>
        <p:spPr>
          <a:xfrm flipH="1">
            <a:off x="3845606" y="3251022"/>
            <a:ext cx="640200" cy="881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464;p43">
            <a:extLst>
              <a:ext uri="{FF2B5EF4-FFF2-40B4-BE49-F238E27FC236}">
                <a16:creationId xmlns:a16="http://schemas.microsoft.com/office/drawing/2014/main" id="{62A196A4-9D41-8C0D-D144-1994E8EADCB9}"/>
              </a:ext>
            </a:extLst>
          </p:cNvPr>
          <p:cNvCxnSpPr>
            <a:stCxn id="8" idx="1"/>
            <a:endCxn id="4" idx="3"/>
          </p:cNvCxnSpPr>
          <p:nvPr/>
        </p:nvCxnSpPr>
        <p:spPr>
          <a:xfrm rot="10800000">
            <a:off x="3845606" y="4132597"/>
            <a:ext cx="640200" cy="94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465;p43">
            <a:extLst>
              <a:ext uri="{FF2B5EF4-FFF2-40B4-BE49-F238E27FC236}">
                <a16:creationId xmlns:a16="http://schemas.microsoft.com/office/drawing/2014/main" id="{85EA3B69-26A6-CE4C-D728-789CACE26774}"/>
              </a:ext>
            </a:extLst>
          </p:cNvPr>
          <p:cNvCxnSpPr>
            <a:stCxn id="6" idx="1"/>
            <a:endCxn id="8" idx="3"/>
          </p:cNvCxnSpPr>
          <p:nvPr/>
        </p:nvCxnSpPr>
        <p:spPr>
          <a:xfrm rot="10800000">
            <a:off x="6979656" y="5081797"/>
            <a:ext cx="861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466;p43">
            <a:extLst>
              <a:ext uri="{FF2B5EF4-FFF2-40B4-BE49-F238E27FC236}">
                <a16:creationId xmlns:a16="http://schemas.microsoft.com/office/drawing/2014/main" id="{3EAD8D57-4186-6CFA-8486-D1DA1EFB422D}"/>
              </a:ext>
            </a:extLst>
          </p:cNvPr>
          <p:cNvCxnSpPr>
            <a:stCxn id="5" idx="1"/>
            <a:endCxn id="7" idx="3"/>
          </p:cNvCxnSpPr>
          <p:nvPr/>
        </p:nvCxnSpPr>
        <p:spPr>
          <a:xfrm flipH="1">
            <a:off x="6979666" y="3238447"/>
            <a:ext cx="861900" cy="12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79810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0080-5FDA-D1CF-EDF4-E4B23CA0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B0347-BA95-6BDC-3675-34AEF0E9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74CC59-8C0D-8548-5EAB-DE062A6C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Múltiplos CR envolvendo os mesmos CE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Semânticas diferentes</a:t>
            </a:r>
          </a:p>
        </p:txBody>
      </p:sp>
      <p:sp>
        <p:nvSpPr>
          <p:cNvPr id="13" name="Google Shape;474;p44">
            <a:extLst>
              <a:ext uri="{FF2B5EF4-FFF2-40B4-BE49-F238E27FC236}">
                <a16:creationId xmlns:a16="http://schemas.microsoft.com/office/drawing/2014/main" id="{AF9E1F64-04C7-614A-D9BB-ED623AE76C79}"/>
              </a:ext>
            </a:extLst>
          </p:cNvPr>
          <p:cNvSpPr/>
          <p:nvPr/>
        </p:nvSpPr>
        <p:spPr>
          <a:xfrm>
            <a:off x="2103184" y="425400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475;p44">
            <a:extLst>
              <a:ext uri="{FF2B5EF4-FFF2-40B4-BE49-F238E27FC236}">
                <a16:creationId xmlns:a16="http://schemas.microsoft.com/office/drawing/2014/main" id="{438688D3-631F-DC90-3364-DD5C6276D825}"/>
              </a:ext>
            </a:extLst>
          </p:cNvPr>
          <p:cNvSpPr/>
          <p:nvPr/>
        </p:nvSpPr>
        <p:spPr>
          <a:xfrm>
            <a:off x="8210339" y="425400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476;p44">
            <a:extLst>
              <a:ext uri="{FF2B5EF4-FFF2-40B4-BE49-F238E27FC236}">
                <a16:creationId xmlns:a16="http://schemas.microsoft.com/office/drawing/2014/main" id="{55A4A8E2-7AE6-F3F4-40D1-C4911E30F607}"/>
              </a:ext>
            </a:extLst>
          </p:cNvPr>
          <p:cNvSpPr/>
          <p:nvPr/>
        </p:nvSpPr>
        <p:spPr>
          <a:xfrm>
            <a:off x="5116529" y="3429000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477;p44">
            <a:extLst>
              <a:ext uri="{FF2B5EF4-FFF2-40B4-BE49-F238E27FC236}">
                <a16:creationId xmlns:a16="http://schemas.microsoft.com/office/drawing/2014/main" id="{FCE9FD5C-DD16-3425-614D-E872EDBC5861}"/>
              </a:ext>
            </a:extLst>
          </p:cNvPr>
          <p:cNvSpPr/>
          <p:nvPr/>
        </p:nvSpPr>
        <p:spPr>
          <a:xfrm>
            <a:off x="5116529" y="4661550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Faz Prova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478;p44">
            <a:extLst>
              <a:ext uri="{FF2B5EF4-FFF2-40B4-BE49-F238E27FC236}">
                <a16:creationId xmlns:a16="http://schemas.microsoft.com/office/drawing/2014/main" id="{FF98AA7F-21B8-A732-A58A-8DA21C69624D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365629" y="3970650"/>
            <a:ext cx="750900" cy="62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479;p44">
            <a:extLst>
              <a:ext uri="{FF2B5EF4-FFF2-40B4-BE49-F238E27FC236}">
                <a16:creationId xmlns:a16="http://schemas.microsoft.com/office/drawing/2014/main" id="{03B7D0FF-77BC-52A6-77EB-5B6CF1749068}"/>
              </a:ext>
            </a:extLst>
          </p:cNvPr>
          <p:cNvCxnSpPr>
            <a:stCxn id="16" idx="1"/>
            <a:endCxn id="13" idx="3"/>
          </p:cNvCxnSpPr>
          <p:nvPr/>
        </p:nvCxnSpPr>
        <p:spPr>
          <a:xfrm rot="10800000">
            <a:off x="4365629" y="4594200"/>
            <a:ext cx="750900" cy="60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480;p44">
            <a:extLst>
              <a:ext uri="{FF2B5EF4-FFF2-40B4-BE49-F238E27FC236}">
                <a16:creationId xmlns:a16="http://schemas.microsoft.com/office/drawing/2014/main" id="{76836A79-138F-9B9B-6ADC-6AC37BA86A47}"/>
              </a:ext>
            </a:extLst>
          </p:cNvPr>
          <p:cNvCxnSpPr>
            <a:stCxn id="14" idx="1"/>
            <a:endCxn id="16" idx="3"/>
          </p:cNvCxnSpPr>
          <p:nvPr/>
        </p:nvCxnSpPr>
        <p:spPr>
          <a:xfrm flipH="1">
            <a:off x="7610339" y="4594050"/>
            <a:ext cx="600000" cy="60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481;p44">
            <a:extLst>
              <a:ext uri="{FF2B5EF4-FFF2-40B4-BE49-F238E27FC236}">
                <a16:creationId xmlns:a16="http://schemas.microsoft.com/office/drawing/2014/main" id="{D1EADABA-37BF-0832-E7B3-636B98874898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rot="10800000">
            <a:off x="7610339" y="3970650"/>
            <a:ext cx="600000" cy="62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16243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C9DE2-D314-92F0-1C3D-6D70F7DF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B7F6F1-BEA2-81E1-9EC7-BCBAD2244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CE que participa de um CR tem um PAPEL no CR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Indicação </a:t>
            </a:r>
            <a:r>
              <a:rPr lang="pt-BR" b="1" dirty="0"/>
              <a:t>opcional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facilita a compreensão</a:t>
            </a:r>
            <a:endParaRPr lang="pt-BR" dirty="0"/>
          </a:p>
        </p:txBody>
      </p:sp>
      <p:sp>
        <p:nvSpPr>
          <p:cNvPr id="4" name="Google Shape;489;p45">
            <a:extLst>
              <a:ext uri="{FF2B5EF4-FFF2-40B4-BE49-F238E27FC236}">
                <a16:creationId xmlns:a16="http://schemas.microsoft.com/office/drawing/2014/main" id="{52AF09FE-3E8B-8A8C-2A23-AE8E5BCFC7BF}"/>
              </a:ext>
            </a:extLst>
          </p:cNvPr>
          <p:cNvSpPr/>
          <p:nvPr/>
        </p:nvSpPr>
        <p:spPr>
          <a:xfrm>
            <a:off x="1809672" y="389490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490;p45">
            <a:extLst>
              <a:ext uri="{FF2B5EF4-FFF2-40B4-BE49-F238E27FC236}">
                <a16:creationId xmlns:a16="http://schemas.microsoft.com/office/drawing/2014/main" id="{2D703BB1-2063-8752-472D-C7377F72ECA0}"/>
              </a:ext>
            </a:extLst>
          </p:cNvPr>
          <p:cNvSpPr/>
          <p:nvPr/>
        </p:nvSpPr>
        <p:spPr>
          <a:xfrm>
            <a:off x="7916827" y="389490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491;p45">
            <a:extLst>
              <a:ext uri="{FF2B5EF4-FFF2-40B4-BE49-F238E27FC236}">
                <a16:creationId xmlns:a16="http://schemas.microsoft.com/office/drawing/2014/main" id="{0E7F1EC5-EFD8-6BE6-634F-0855ED15E0B8}"/>
              </a:ext>
            </a:extLst>
          </p:cNvPr>
          <p:cNvSpPr/>
          <p:nvPr/>
        </p:nvSpPr>
        <p:spPr>
          <a:xfrm>
            <a:off x="4823017" y="3693300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492;p45">
            <a:extLst>
              <a:ext uri="{FF2B5EF4-FFF2-40B4-BE49-F238E27FC236}">
                <a16:creationId xmlns:a16="http://schemas.microsoft.com/office/drawing/2014/main" id="{671F10A8-6411-2560-5922-A8338D99C3F3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4072117" y="4234950"/>
            <a:ext cx="750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493;p45">
            <a:extLst>
              <a:ext uri="{FF2B5EF4-FFF2-40B4-BE49-F238E27FC236}">
                <a16:creationId xmlns:a16="http://schemas.microsoft.com/office/drawing/2014/main" id="{F28F855E-CEEC-4C00-69F4-041EB623E48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316827" y="4234950"/>
            <a:ext cx="60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94;p45">
            <a:extLst>
              <a:ext uri="{FF2B5EF4-FFF2-40B4-BE49-F238E27FC236}">
                <a16:creationId xmlns:a16="http://schemas.microsoft.com/office/drawing/2014/main" id="{21B638A8-5A71-7B7C-3D60-6F547FDA1410}"/>
              </a:ext>
            </a:extLst>
          </p:cNvPr>
          <p:cNvSpPr txBox="1"/>
          <p:nvPr/>
        </p:nvSpPr>
        <p:spPr>
          <a:xfrm>
            <a:off x="3805267" y="3429000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495;p45">
            <a:extLst>
              <a:ext uri="{FF2B5EF4-FFF2-40B4-BE49-F238E27FC236}">
                <a16:creationId xmlns:a16="http://schemas.microsoft.com/office/drawing/2014/main" id="{C58905F5-76C4-C5F4-679A-1456F3799B4E}"/>
              </a:ext>
            </a:extLst>
          </p:cNvPr>
          <p:cNvSpPr txBox="1"/>
          <p:nvPr/>
        </p:nvSpPr>
        <p:spPr>
          <a:xfrm>
            <a:off x="6769467" y="3429000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É cursada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565299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5DD91-0C37-F0CF-92BE-269CEA25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EE49FD-FA2A-822B-F755-67A931B38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Indicação de papeis </a:t>
            </a:r>
            <a:r>
              <a:rPr lang="pt-BR" b="1" dirty="0"/>
              <a:t>deve</a:t>
            </a:r>
            <a:r>
              <a:rPr lang="pt-BR" dirty="0"/>
              <a:t> ser feita sempre que houver ambiguidade na interpretação do CR</a:t>
            </a:r>
          </a:p>
          <a:p>
            <a:pPr lvl="1"/>
            <a:r>
              <a:rPr lang="pt-BR" dirty="0"/>
              <a:t>Ex.:</a:t>
            </a:r>
          </a:p>
        </p:txBody>
      </p:sp>
      <p:sp>
        <p:nvSpPr>
          <p:cNvPr id="4" name="Google Shape;503;p46">
            <a:extLst>
              <a:ext uri="{FF2B5EF4-FFF2-40B4-BE49-F238E27FC236}">
                <a16:creationId xmlns:a16="http://schemas.microsoft.com/office/drawing/2014/main" id="{59FDD966-5C7D-0EC7-0DF1-5A54E504AA58}"/>
              </a:ext>
            </a:extLst>
          </p:cNvPr>
          <p:cNvSpPr/>
          <p:nvPr/>
        </p:nvSpPr>
        <p:spPr>
          <a:xfrm>
            <a:off x="1911272" y="4093661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504;p46">
            <a:extLst>
              <a:ext uri="{FF2B5EF4-FFF2-40B4-BE49-F238E27FC236}">
                <a16:creationId xmlns:a16="http://schemas.microsoft.com/office/drawing/2014/main" id="{43E22CAE-F264-A3E9-532E-F5407841E590}"/>
              </a:ext>
            </a:extLst>
          </p:cNvPr>
          <p:cNvSpPr/>
          <p:nvPr/>
        </p:nvSpPr>
        <p:spPr>
          <a:xfrm>
            <a:off x="8018427" y="4093661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Empresa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505;p46">
            <a:extLst>
              <a:ext uri="{FF2B5EF4-FFF2-40B4-BE49-F238E27FC236}">
                <a16:creationId xmlns:a16="http://schemas.microsoft.com/office/drawing/2014/main" id="{57A7F722-7DE7-B266-5C33-B7124F50DFF5}"/>
              </a:ext>
            </a:extLst>
          </p:cNvPr>
          <p:cNvSpPr/>
          <p:nvPr/>
        </p:nvSpPr>
        <p:spPr>
          <a:xfrm>
            <a:off x="4924617" y="3892061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Contrata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506;p46">
            <a:extLst>
              <a:ext uri="{FF2B5EF4-FFF2-40B4-BE49-F238E27FC236}">
                <a16:creationId xmlns:a16="http://schemas.microsoft.com/office/drawing/2014/main" id="{5B00F2C0-2402-FD01-1A53-2E13CD877B0A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4173717" y="4433711"/>
            <a:ext cx="750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07;p46">
            <a:extLst>
              <a:ext uri="{FF2B5EF4-FFF2-40B4-BE49-F238E27FC236}">
                <a16:creationId xmlns:a16="http://schemas.microsoft.com/office/drawing/2014/main" id="{DAE6F2F3-B27B-62BC-8362-1CF2F7B80FF4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418427" y="4433711"/>
            <a:ext cx="60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508;p46">
            <a:extLst>
              <a:ext uri="{FF2B5EF4-FFF2-40B4-BE49-F238E27FC236}">
                <a16:creationId xmlns:a16="http://schemas.microsoft.com/office/drawing/2014/main" id="{86AB0EBF-8442-AB20-571A-F16F05E92677}"/>
              </a:ext>
            </a:extLst>
          </p:cNvPr>
          <p:cNvSpPr txBox="1"/>
          <p:nvPr/>
        </p:nvSpPr>
        <p:spPr>
          <a:xfrm>
            <a:off x="3818667" y="3627761"/>
            <a:ext cx="1461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Contrata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509;p46">
            <a:extLst>
              <a:ext uri="{FF2B5EF4-FFF2-40B4-BE49-F238E27FC236}">
                <a16:creationId xmlns:a16="http://schemas.microsoft.com/office/drawing/2014/main" id="{CB74E77E-F820-CB26-BAF3-51991C0F51B8}"/>
              </a:ext>
            </a:extLst>
          </p:cNvPr>
          <p:cNvSpPr txBox="1"/>
          <p:nvPr/>
        </p:nvSpPr>
        <p:spPr>
          <a:xfrm>
            <a:off x="6542867" y="3627761"/>
            <a:ext cx="23511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Contratada por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510;p46">
            <a:extLst>
              <a:ext uri="{FF2B5EF4-FFF2-40B4-BE49-F238E27FC236}">
                <a16:creationId xmlns:a16="http://schemas.microsoft.com/office/drawing/2014/main" id="{CDACD96D-0EC7-F39D-7290-15A781752173}"/>
              </a:ext>
            </a:extLst>
          </p:cNvPr>
          <p:cNvSpPr txBox="1"/>
          <p:nvPr/>
        </p:nvSpPr>
        <p:spPr>
          <a:xfrm>
            <a:off x="3373617" y="4773761"/>
            <a:ext cx="23511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Contratada por</a:t>
            </a:r>
            <a:endParaRPr sz="2400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511;p46">
            <a:extLst>
              <a:ext uri="{FF2B5EF4-FFF2-40B4-BE49-F238E27FC236}">
                <a16:creationId xmlns:a16="http://schemas.microsoft.com/office/drawing/2014/main" id="{13180BCE-96C3-3F84-FF4B-16AA616EC5B4}"/>
              </a:ext>
            </a:extLst>
          </p:cNvPr>
          <p:cNvSpPr txBox="1"/>
          <p:nvPr/>
        </p:nvSpPr>
        <p:spPr>
          <a:xfrm>
            <a:off x="6987917" y="4773761"/>
            <a:ext cx="1461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Contrata</a:t>
            </a:r>
            <a:endParaRPr sz="2400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858558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9830-995B-5419-F243-7352A79D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8FD61-5EE9-E6E5-ED4B-3A0F7E01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F2881B-FE1E-DC57-83A1-006C3AACD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geral, </a:t>
            </a:r>
            <a:r>
              <a:rPr lang="pt-BR" dirty="0" err="1"/>
              <a:t>CEs</a:t>
            </a:r>
            <a:r>
              <a:rPr lang="pt-BR" dirty="0"/>
              <a:t> assumem papeis distintos em </a:t>
            </a:r>
            <a:r>
              <a:rPr lang="pt-BR" dirty="0" err="1"/>
              <a:t>CRs</a:t>
            </a:r>
            <a:r>
              <a:rPr lang="pt-BR" dirty="0"/>
              <a:t> distintos</a:t>
            </a:r>
          </a:p>
        </p:txBody>
      </p:sp>
      <p:sp>
        <p:nvSpPr>
          <p:cNvPr id="13" name="Google Shape;520;p47">
            <a:extLst>
              <a:ext uri="{FF2B5EF4-FFF2-40B4-BE49-F238E27FC236}">
                <a16:creationId xmlns:a16="http://schemas.microsoft.com/office/drawing/2014/main" id="{360E80BF-300B-52E1-88C0-56D3D6A4B964}"/>
              </a:ext>
            </a:extLst>
          </p:cNvPr>
          <p:cNvSpPr/>
          <p:nvPr/>
        </p:nvSpPr>
        <p:spPr>
          <a:xfrm>
            <a:off x="2137050" y="3920164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521;p47">
            <a:extLst>
              <a:ext uri="{FF2B5EF4-FFF2-40B4-BE49-F238E27FC236}">
                <a16:creationId xmlns:a16="http://schemas.microsoft.com/office/drawing/2014/main" id="{75CB099E-D0ED-012D-5001-00FDD6B3B61B}"/>
              </a:ext>
            </a:extLst>
          </p:cNvPr>
          <p:cNvSpPr/>
          <p:nvPr/>
        </p:nvSpPr>
        <p:spPr>
          <a:xfrm>
            <a:off x="8244205" y="3920164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522;p47">
            <a:extLst>
              <a:ext uri="{FF2B5EF4-FFF2-40B4-BE49-F238E27FC236}">
                <a16:creationId xmlns:a16="http://schemas.microsoft.com/office/drawing/2014/main" id="{7CD45FB6-5C1F-BD32-BBDE-F153DB930113}"/>
              </a:ext>
            </a:extLst>
          </p:cNvPr>
          <p:cNvSpPr/>
          <p:nvPr/>
        </p:nvSpPr>
        <p:spPr>
          <a:xfrm>
            <a:off x="5150395" y="3095164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523;p47">
            <a:extLst>
              <a:ext uri="{FF2B5EF4-FFF2-40B4-BE49-F238E27FC236}">
                <a16:creationId xmlns:a16="http://schemas.microsoft.com/office/drawing/2014/main" id="{2EF42645-86CB-C786-A68B-AD578F1935AF}"/>
              </a:ext>
            </a:extLst>
          </p:cNvPr>
          <p:cNvSpPr/>
          <p:nvPr/>
        </p:nvSpPr>
        <p:spPr>
          <a:xfrm>
            <a:off x="5150395" y="4327714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Conclui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524;p47">
            <a:extLst>
              <a:ext uri="{FF2B5EF4-FFF2-40B4-BE49-F238E27FC236}">
                <a16:creationId xmlns:a16="http://schemas.microsoft.com/office/drawing/2014/main" id="{038B4719-2301-996B-19B4-47960C761953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399495" y="3636814"/>
            <a:ext cx="750900" cy="62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25;p47">
            <a:extLst>
              <a:ext uri="{FF2B5EF4-FFF2-40B4-BE49-F238E27FC236}">
                <a16:creationId xmlns:a16="http://schemas.microsoft.com/office/drawing/2014/main" id="{82CC8015-E2E9-5443-015D-6CDA5FC476DA}"/>
              </a:ext>
            </a:extLst>
          </p:cNvPr>
          <p:cNvCxnSpPr>
            <a:stCxn id="16" idx="1"/>
            <a:endCxn id="13" idx="3"/>
          </p:cNvCxnSpPr>
          <p:nvPr/>
        </p:nvCxnSpPr>
        <p:spPr>
          <a:xfrm rot="10800000">
            <a:off x="4399495" y="4260364"/>
            <a:ext cx="750900" cy="60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526;p47">
            <a:extLst>
              <a:ext uri="{FF2B5EF4-FFF2-40B4-BE49-F238E27FC236}">
                <a16:creationId xmlns:a16="http://schemas.microsoft.com/office/drawing/2014/main" id="{7D7EC81B-DA67-3E18-3AA0-FAFC8181EE06}"/>
              </a:ext>
            </a:extLst>
          </p:cNvPr>
          <p:cNvCxnSpPr>
            <a:stCxn id="14" idx="1"/>
            <a:endCxn id="16" idx="3"/>
          </p:cNvCxnSpPr>
          <p:nvPr/>
        </p:nvCxnSpPr>
        <p:spPr>
          <a:xfrm flipH="1">
            <a:off x="7644205" y="4260214"/>
            <a:ext cx="600000" cy="60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527;p47">
            <a:extLst>
              <a:ext uri="{FF2B5EF4-FFF2-40B4-BE49-F238E27FC236}">
                <a16:creationId xmlns:a16="http://schemas.microsoft.com/office/drawing/2014/main" id="{9C67CEEF-BAD3-660F-E4F1-7213577CF197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rot="10800000">
            <a:off x="7644205" y="3636814"/>
            <a:ext cx="600000" cy="62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528;p47">
            <a:extLst>
              <a:ext uri="{FF2B5EF4-FFF2-40B4-BE49-F238E27FC236}">
                <a16:creationId xmlns:a16="http://schemas.microsoft.com/office/drawing/2014/main" id="{6CEED587-18D6-E52F-1DB5-2A9A81337CBE}"/>
              </a:ext>
            </a:extLst>
          </p:cNvPr>
          <p:cNvSpPr txBox="1"/>
          <p:nvPr/>
        </p:nvSpPr>
        <p:spPr>
          <a:xfrm>
            <a:off x="3779995" y="3212289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" name="Google Shape;529;p47">
            <a:extLst>
              <a:ext uri="{FF2B5EF4-FFF2-40B4-BE49-F238E27FC236}">
                <a16:creationId xmlns:a16="http://schemas.microsoft.com/office/drawing/2014/main" id="{AD068AEE-C60B-AFC6-CD7F-771310416A77}"/>
              </a:ext>
            </a:extLst>
          </p:cNvPr>
          <p:cNvSpPr txBox="1"/>
          <p:nvPr/>
        </p:nvSpPr>
        <p:spPr>
          <a:xfrm>
            <a:off x="7730095" y="3268264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É cursada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" name="Google Shape;530;p47">
            <a:extLst>
              <a:ext uri="{FF2B5EF4-FFF2-40B4-BE49-F238E27FC236}">
                <a16:creationId xmlns:a16="http://schemas.microsoft.com/office/drawing/2014/main" id="{5DF85913-683C-2216-603F-060460819EBD}"/>
              </a:ext>
            </a:extLst>
          </p:cNvPr>
          <p:cNvSpPr txBox="1"/>
          <p:nvPr/>
        </p:nvSpPr>
        <p:spPr>
          <a:xfrm>
            <a:off x="3779995" y="4786264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Conclui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" name="Google Shape;531;p47">
            <a:extLst>
              <a:ext uri="{FF2B5EF4-FFF2-40B4-BE49-F238E27FC236}">
                <a16:creationId xmlns:a16="http://schemas.microsoft.com/office/drawing/2014/main" id="{B42A42D4-E4E9-C725-28CD-8012279AF56A}"/>
              </a:ext>
            </a:extLst>
          </p:cNvPr>
          <p:cNvSpPr txBox="1"/>
          <p:nvPr/>
        </p:nvSpPr>
        <p:spPr>
          <a:xfrm>
            <a:off x="7730095" y="4869514"/>
            <a:ext cx="1866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É concluída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425306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229D5-8D10-0B6E-1D6E-C10D90F8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494EDC-FA59-7407-F685-229D03C03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Autorrelacionamento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Entidade pode desempenhar mais de um papel num mesmo CR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Em geral, as instâncias que definem um relacionamento são distintas</a:t>
            </a:r>
          </a:p>
        </p:txBody>
      </p:sp>
      <p:sp>
        <p:nvSpPr>
          <p:cNvPr id="4" name="Google Shape;539;p48">
            <a:extLst>
              <a:ext uri="{FF2B5EF4-FFF2-40B4-BE49-F238E27FC236}">
                <a16:creationId xmlns:a16="http://schemas.microsoft.com/office/drawing/2014/main" id="{C3E17159-F36C-E4B1-BE59-D3EBD71F1165}"/>
              </a:ext>
            </a:extLst>
          </p:cNvPr>
          <p:cNvSpPr/>
          <p:nvPr/>
        </p:nvSpPr>
        <p:spPr>
          <a:xfrm>
            <a:off x="7877744" y="4088819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540;p48">
            <a:extLst>
              <a:ext uri="{FF2B5EF4-FFF2-40B4-BE49-F238E27FC236}">
                <a16:creationId xmlns:a16="http://schemas.microsoft.com/office/drawing/2014/main" id="{849DC339-8FB8-1333-26C7-95848E3B710B}"/>
              </a:ext>
            </a:extLst>
          </p:cNvPr>
          <p:cNvSpPr/>
          <p:nvPr/>
        </p:nvSpPr>
        <p:spPr>
          <a:xfrm>
            <a:off x="1871334" y="3988019"/>
            <a:ext cx="2751300" cy="8817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Pré-requisito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" name="Google Shape;541;p48">
            <a:extLst>
              <a:ext uri="{FF2B5EF4-FFF2-40B4-BE49-F238E27FC236}">
                <a16:creationId xmlns:a16="http://schemas.microsoft.com/office/drawing/2014/main" id="{51F865E8-BC91-424E-178F-190F8EF2D930}"/>
              </a:ext>
            </a:extLst>
          </p:cNvPr>
          <p:cNvCxnSpPr>
            <a:stCxn id="4" idx="1"/>
            <a:endCxn id="5" idx="2"/>
          </p:cNvCxnSpPr>
          <p:nvPr/>
        </p:nvCxnSpPr>
        <p:spPr>
          <a:xfrm flipH="1">
            <a:off x="3246944" y="4428869"/>
            <a:ext cx="4630800" cy="441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42;p48">
            <a:extLst>
              <a:ext uri="{FF2B5EF4-FFF2-40B4-BE49-F238E27FC236}">
                <a16:creationId xmlns:a16="http://schemas.microsoft.com/office/drawing/2014/main" id="{FBF7D407-A846-305E-8E37-E68AE562DC48}"/>
              </a:ext>
            </a:extLst>
          </p:cNvPr>
          <p:cNvCxnSpPr>
            <a:stCxn id="4" idx="1"/>
            <a:endCxn id="5" idx="0"/>
          </p:cNvCxnSpPr>
          <p:nvPr/>
        </p:nvCxnSpPr>
        <p:spPr>
          <a:xfrm rot="10800000">
            <a:off x="3246944" y="3988169"/>
            <a:ext cx="4630800" cy="440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544;p48">
            <a:extLst>
              <a:ext uri="{FF2B5EF4-FFF2-40B4-BE49-F238E27FC236}">
                <a16:creationId xmlns:a16="http://schemas.microsoft.com/office/drawing/2014/main" id="{342DE42A-AF77-8D0D-B9CA-1DCEFD96ECFF}"/>
              </a:ext>
            </a:extLst>
          </p:cNvPr>
          <p:cNvSpPr txBox="1"/>
          <p:nvPr/>
        </p:nvSpPr>
        <p:spPr>
          <a:xfrm>
            <a:off x="5016684" y="3726619"/>
            <a:ext cx="29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Tem pré-requisito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528610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CB14B-1F9E-9B7D-59EB-C4E08264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F6D022-E3D0-1338-DA81-9BA45FDA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Restrição estrutural</a:t>
            </a:r>
          </a:p>
          <a:p>
            <a:pPr>
              <a:spcBef>
                <a:spcPts val="2400"/>
              </a:spcBef>
            </a:pPr>
            <a:r>
              <a:rPr lang="pt-BR" dirty="0"/>
              <a:t>Todo CR permite associar uma ou mais entidades de uma CE</a:t>
            </a:r>
            <a:r>
              <a:rPr lang="pt-BR" baseline="-25000" dirty="0"/>
              <a:t>1</a:t>
            </a:r>
            <a:r>
              <a:rPr lang="pt-BR" dirty="0"/>
              <a:t> a uma ou mais entidades de uma CE</a:t>
            </a:r>
            <a:r>
              <a:rPr lang="pt-BR" baseline="-25000" dirty="0"/>
              <a:t>2</a:t>
            </a:r>
          </a:p>
          <a:p>
            <a:pPr>
              <a:spcBef>
                <a:spcPts val="2400"/>
              </a:spcBef>
            </a:pPr>
            <a:r>
              <a:rPr lang="pt-BR" dirty="0"/>
              <a:t>Cardinalidade determina o número de relacionamentos (instâncias do CR) dos quais cada entidade pode participar</a:t>
            </a:r>
          </a:p>
        </p:txBody>
      </p:sp>
    </p:spTree>
    <p:extLst>
      <p:ext uri="{BB962C8B-B14F-4D97-AF65-F5344CB8AC3E}">
        <p14:creationId xmlns:p14="http://schemas.microsoft.com/office/powerpoint/2010/main" val="4231808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53BD3-3BBF-289A-2E60-7074B165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4" name="Google Shape;557;p50">
            <a:extLst>
              <a:ext uri="{FF2B5EF4-FFF2-40B4-BE49-F238E27FC236}">
                <a16:creationId xmlns:a16="http://schemas.microsoft.com/office/drawing/2014/main" id="{3956E360-BF45-785E-D0C8-B36271613ECB}"/>
              </a:ext>
            </a:extLst>
          </p:cNvPr>
          <p:cNvSpPr/>
          <p:nvPr/>
        </p:nvSpPr>
        <p:spPr>
          <a:xfrm>
            <a:off x="1967716" y="21590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558;p50">
            <a:extLst>
              <a:ext uri="{FF2B5EF4-FFF2-40B4-BE49-F238E27FC236}">
                <a16:creationId xmlns:a16="http://schemas.microsoft.com/office/drawing/2014/main" id="{DC3A48D8-6AD5-AB69-E397-8FEBFD8F8C50}"/>
              </a:ext>
            </a:extLst>
          </p:cNvPr>
          <p:cNvSpPr/>
          <p:nvPr/>
        </p:nvSpPr>
        <p:spPr>
          <a:xfrm>
            <a:off x="8074871" y="21590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559;p50">
            <a:extLst>
              <a:ext uri="{FF2B5EF4-FFF2-40B4-BE49-F238E27FC236}">
                <a16:creationId xmlns:a16="http://schemas.microsoft.com/office/drawing/2014/main" id="{5AB20C2D-0757-D309-A18B-476C5A9E859B}"/>
              </a:ext>
            </a:extLst>
          </p:cNvPr>
          <p:cNvSpPr/>
          <p:nvPr/>
        </p:nvSpPr>
        <p:spPr>
          <a:xfrm>
            <a:off x="4905486" y="1957475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560;p50">
            <a:extLst>
              <a:ext uri="{FF2B5EF4-FFF2-40B4-BE49-F238E27FC236}">
                <a16:creationId xmlns:a16="http://schemas.microsoft.com/office/drawing/2014/main" id="{A7923676-709C-C5BF-8569-597076F410A5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4229886" y="24991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61;p50">
            <a:extLst>
              <a:ext uri="{FF2B5EF4-FFF2-40B4-BE49-F238E27FC236}">
                <a16:creationId xmlns:a16="http://schemas.microsoft.com/office/drawing/2014/main" id="{013C54E0-A0FB-B7C7-F920-4CE258CA27C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399271" y="24991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562;p50">
            <a:extLst>
              <a:ext uri="{FF2B5EF4-FFF2-40B4-BE49-F238E27FC236}">
                <a16:creationId xmlns:a16="http://schemas.microsoft.com/office/drawing/2014/main" id="{0FBB2B34-0C44-26B9-02C5-A7252E7B05FE}"/>
              </a:ext>
            </a:extLst>
          </p:cNvPr>
          <p:cNvSpPr txBox="1"/>
          <p:nvPr/>
        </p:nvSpPr>
        <p:spPr>
          <a:xfrm>
            <a:off x="3925386" y="27133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563;p50">
            <a:extLst>
              <a:ext uri="{FF2B5EF4-FFF2-40B4-BE49-F238E27FC236}">
                <a16:creationId xmlns:a16="http://schemas.microsoft.com/office/drawing/2014/main" id="{99993A1C-4954-DACF-A2BF-2EA049231E1C}"/>
              </a:ext>
            </a:extLst>
          </p:cNvPr>
          <p:cNvSpPr txBox="1"/>
          <p:nvPr/>
        </p:nvSpPr>
        <p:spPr>
          <a:xfrm>
            <a:off x="6801536" y="2713375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É cursada</a:t>
            </a:r>
            <a:endParaRPr sz="2400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564;p50">
            <a:extLst>
              <a:ext uri="{FF2B5EF4-FFF2-40B4-BE49-F238E27FC236}">
                <a16:creationId xmlns:a16="http://schemas.microsoft.com/office/drawing/2014/main" id="{91ACD1AA-28E9-7B22-0D8E-9B87235D8EB6}"/>
              </a:ext>
            </a:extLst>
          </p:cNvPr>
          <p:cNvSpPr txBox="1"/>
          <p:nvPr/>
        </p:nvSpPr>
        <p:spPr>
          <a:xfrm>
            <a:off x="3925386" y="19574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565;p50">
            <a:extLst>
              <a:ext uri="{FF2B5EF4-FFF2-40B4-BE49-F238E27FC236}">
                <a16:creationId xmlns:a16="http://schemas.microsoft.com/office/drawing/2014/main" id="{45C44424-141E-0B03-D0B9-6243A6CB5DDD}"/>
              </a:ext>
            </a:extLst>
          </p:cNvPr>
          <p:cNvSpPr txBox="1"/>
          <p:nvPr/>
        </p:nvSpPr>
        <p:spPr>
          <a:xfrm>
            <a:off x="7006586" y="19574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566;p50">
            <a:extLst>
              <a:ext uri="{FF2B5EF4-FFF2-40B4-BE49-F238E27FC236}">
                <a16:creationId xmlns:a16="http://schemas.microsoft.com/office/drawing/2014/main" id="{67C3E219-043A-8393-FC57-86C398478E74}"/>
              </a:ext>
            </a:extLst>
          </p:cNvPr>
          <p:cNvSpPr txBox="1"/>
          <p:nvPr/>
        </p:nvSpPr>
        <p:spPr>
          <a:xfrm>
            <a:off x="4633536" y="3040775"/>
            <a:ext cx="3037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Muitos para Muitos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567;p50">
            <a:extLst>
              <a:ext uri="{FF2B5EF4-FFF2-40B4-BE49-F238E27FC236}">
                <a16:creationId xmlns:a16="http://schemas.microsoft.com/office/drawing/2014/main" id="{D46FBE2E-7ADA-896D-E6EA-EF8CE7678A87}"/>
              </a:ext>
            </a:extLst>
          </p:cNvPr>
          <p:cNvSpPr/>
          <p:nvPr/>
        </p:nvSpPr>
        <p:spPr>
          <a:xfrm>
            <a:off x="1967716" y="36708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568;p50">
            <a:extLst>
              <a:ext uri="{FF2B5EF4-FFF2-40B4-BE49-F238E27FC236}">
                <a16:creationId xmlns:a16="http://schemas.microsoft.com/office/drawing/2014/main" id="{3A9A72CE-5D78-8D7E-34F6-9D96DD15C0A5}"/>
              </a:ext>
            </a:extLst>
          </p:cNvPr>
          <p:cNvSpPr/>
          <p:nvPr/>
        </p:nvSpPr>
        <p:spPr>
          <a:xfrm>
            <a:off x="8074871" y="36708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569;p50">
            <a:extLst>
              <a:ext uri="{FF2B5EF4-FFF2-40B4-BE49-F238E27FC236}">
                <a16:creationId xmlns:a16="http://schemas.microsoft.com/office/drawing/2014/main" id="{92E9CA7C-C99A-ADB8-8C2D-C07AE9D816AB}"/>
              </a:ext>
            </a:extLst>
          </p:cNvPr>
          <p:cNvSpPr/>
          <p:nvPr/>
        </p:nvSpPr>
        <p:spPr>
          <a:xfrm>
            <a:off x="4905486" y="3469275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570;p50">
            <a:extLst>
              <a:ext uri="{FF2B5EF4-FFF2-40B4-BE49-F238E27FC236}">
                <a16:creationId xmlns:a16="http://schemas.microsoft.com/office/drawing/2014/main" id="{4C15E6DC-0C61-FBF9-CADE-B8F03258F94A}"/>
              </a:ext>
            </a:extLst>
          </p:cNvPr>
          <p:cNvCxnSpPr>
            <a:stCxn id="16" idx="1"/>
            <a:endCxn id="14" idx="3"/>
          </p:cNvCxnSpPr>
          <p:nvPr/>
        </p:nvCxnSpPr>
        <p:spPr>
          <a:xfrm rot="10800000">
            <a:off x="4229886" y="40109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71;p50">
            <a:extLst>
              <a:ext uri="{FF2B5EF4-FFF2-40B4-BE49-F238E27FC236}">
                <a16:creationId xmlns:a16="http://schemas.microsoft.com/office/drawing/2014/main" id="{211C6D88-B3FF-9CA0-4718-F65EC5ECCE83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rot="10800000">
            <a:off x="7399271" y="40109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572;p50">
            <a:extLst>
              <a:ext uri="{FF2B5EF4-FFF2-40B4-BE49-F238E27FC236}">
                <a16:creationId xmlns:a16="http://schemas.microsoft.com/office/drawing/2014/main" id="{F8B74153-E32C-194F-682E-98F4FDD6AA5C}"/>
              </a:ext>
            </a:extLst>
          </p:cNvPr>
          <p:cNvSpPr txBox="1"/>
          <p:nvPr/>
        </p:nvSpPr>
        <p:spPr>
          <a:xfrm>
            <a:off x="3925386" y="42251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" name="Google Shape;573;p50">
            <a:extLst>
              <a:ext uri="{FF2B5EF4-FFF2-40B4-BE49-F238E27FC236}">
                <a16:creationId xmlns:a16="http://schemas.microsoft.com/office/drawing/2014/main" id="{E0B3FA63-94C1-3DB4-F8D8-D0B0569136AF}"/>
              </a:ext>
            </a:extLst>
          </p:cNvPr>
          <p:cNvSpPr txBox="1"/>
          <p:nvPr/>
        </p:nvSpPr>
        <p:spPr>
          <a:xfrm>
            <a:off x="6801536" y="4225175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É chefiado</a:t>
            </a:r>
            <a:endParaRPr sz="2400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" name="Google Shape;574;p50">
            <a:extLst>
              <a:ext uri="{FF2B5EF4-FFF2-40B4-BE49-F238E27FC236}">
                <a16:creationId xmlns:a16="http://schemas.microsoft.com/office/drawing/2014/main" id="{7D5A0108-FADE-AD96-CF0D-F532E838C135}"/>
              </a:ext>
            </a:extLst>
          </p:cNvPr>
          <p:cNvSpPr txBox="1"/>
          <p:nvPr/>
        </p:nvSpPr>
        <p:spPr>
          <a:xfrm>
            <a:off x="3925386" y="34692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" name="Google Shape;575;p50">
            <a:extLst>
              <a:ext uri="{FF2B5EF4-FFF2-40B4-BE49-F238E27FC236}">
                <a16:creationId xmlns:a16="http://schemas.microsoft.com/office/drawing/2014/main" id="{8D379930-EDEC-785D-AD9F-F55B83ABD5AD}"/>
              </a:ext>
            </a:extLst>
          </p:cNvPr>
          <p:cNvSpPr txBox="1"/>
          <p:nvPr/>
        </p:nvSpPr>
        <p:spPr>
          <a:xfrm>
            <a:off x="7006586" y="34692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" name="Google Shape;576;p50">
            <a:extLst>
              <a:ext uri="{FF2B5EF4-FFF2-40B4-BE49-F238E27FC236}">
                <a16:creationId xmlns:a16="http://schemas.microsoft.com/office/drawing/2014/main" id="{44EF1CB6-1D9C-5837-4E52-50FADF38364D}"/>
              </a:ext>
            </a:extLst>
          </p:cNvPr>
          <p:cNvSpPr txBox="1"/>
          <p:nvPr/>
        </p:nvSpPr>
        <p:spPr>
          <a:xfrm>
            <a:off x="4633536" y="4552575"/>
            <a:ext cx="3037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Um para Um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" name="Google Shape;577;p50">
            <a:extLst>
              <a:ext uri="{FF2B5EF4-FFF2-40B4-BE49-F238E27FC236}">
                <a16:creationId xmlns:a16="http://schemas.microsoft.com/office/drawing/2014/main" id="{47B58287-C3BE-D00B-3BA8-450FA30E7B19}"/>
              </a:ext>
            </a:extLst>
          </p:cNvPr>
          <p:cNvSpPr/>
          <p:nvPr/>
        </p:nvSpPr>
        <p:spPr>
          <a:xfrm>
            <a:off x="1967716" y="51826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" name="Google Shape;578;p50">
            <a:extLst>
              <a:ext uri="{FF2B5EF4-FFF2-40B4-BE49-F238E27FC236}">
                <a16:creationId xmlns:a16="http://schemas.microsoft.com/office/drawing/2014/main" id="{7C5A6871-ED71-98E5-E2D8-73E03BA50109}"/>
              </a:ext>
            </a:extLst>
          </p:cNvPr>
          <p:cNvSpPr/>
          <p:nvPr/>
        </p:nvSpPr>
        <p:spPr>
          <a:xfrm>
            <a:off x="8074871" y="51826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579;p50">
            <a:extLst>
              <a:ext uri="{FF2B5EF4-FFF2-40B4-BE49-F238E27FC236}">
                <a16:creationId xmlns:a16="http://schemas.microsoft.com/office/drawing/2014/main" id="{A06FF376-FA88-37DB-AD10-5A019EA1FCA5}"/>
              </a:ext>
            </a:extLst>
          </p:cNvPr>
          <p:cNvSpPr/>
          <p:nvPr/>
        </p:nvSpPr>
        <p:spPr>
          <a:xfrm>
            <a:off x="4905486" y="4981075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Trabalha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7" name="Google Shape;580;p50">
            <a:extLst>
              <a:ext uri="{FF2B5EF4-FFF2-40B4-BE49-F238E27FC236}">
                <a16:creationId xmlns:a16="http://schemas.microsoft.com/office/drawing/2014/main" id="{C7807779-EE0A-B75D-5ABF-03E885415881}"/>
              </a:ext>
            </a:extLst>
          </p:cNvPr>
          <p:cNvCxnSpPr>
            <a:stCxn id="26" idx="1"/>
            <a:endCxn id="24" idx="3"/>
          </p:cNvCxnSpPr>
          <p:nvPr/>
        </p:nvCxnSpPr>
        <p:spPr>
          <a:xfrm rot="10800000">
            <a:off x="4229886" y="55227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581;p50">
            <a:extLst>
              <a:ext uri="{FF2B5EF4-FFF2-40B4-BE49-F238E27FC236}">
                <a16:creationId xmlns:a16="http://schemas.microsoft.com/office/drawing/2014/main" id="{058E8DBC-AB06-F9AD-4E6E-D6784F3F6D15}"/>
              </a:ext>
            </a:extLst>
          </p:cNvPr>
          <p:cNvCxnSpPr>
            <a:stCxn id="25" idx="1"/>
            <a:endCxn id="26" idx="3"/>
          </p:cNvCxnSpPr>
          <p:nvPr/>
        </p:nvCxnSpPr>
        <p:spPr>
          <a:xfrm rot="10800000">
            <a:off x="7399271" y="55227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582;p50">
            <a:extLst>
              <a:ext uri="{FF2B5EF4-FFF2-40B4-BE49-F238E27FC236}">
                <a16:creationId xmlns:a16="http://schemas.microsoft.com/office/drawing/2014/main" id="{DE516400-38B0-1FE2-5DA9-13A95C2FD71A}"/>
              </a:ext>
            </a:extLst>
          </p:cNvPr>
          <p:cNvSpPr txBox="1"/>
          <p:nvPr/>
        </p:nvSpPr>
        <p:spPr>
          <a:xfrm>
            <a:off x="3818436" y="5736975"/>
            <a:ext cx="14985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Trabalha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0" name="Google Shape;583;p50">
            <a:extLst>
              <a:ext uri="{FF2B5EF4-FFF2-40B4-BE49-F238E27FC236}">
                <a16:creationId xmlns:a16="http://schemas.microsoft.com/office/drawing/2014/main" id="{6D9C6037-EE3C-9937-DF22-4C6F3623D493}"/>
              </a:ext>
            </a:extLst>
          </p:cNvPr>
          <p:cNvSpPr txBox="1"/>
          <p:nvPr/>
        </p:nvSpPr>
        <p:spPr>
          <a:xfrm>
            <a:off x="6801536" y="5736975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2400" dirty="0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" name="Google Shape;584;p50">
            <a:extLst>
              <a:ext uri="{FF2B5EF4-FFF2-40B4-BE49-F238E27FC236}">
                <a16:creationId xmlns:a16="http://schemas.microsoft.com/office/drawing/2014/main" id="{987536E4-3E4C-79FC-B281-547C04201576}"/>
              </a:ext>
            </a:extLst>
          </p:cNvPr>
          <p:cNvSpPr txBox="1"/>
          <p:nvPr/>
        </p:nvSpPr>
        <p:spPr>
          <a:xfrm>
            <a:off x="3925386" y="49810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2" name="Google Shape;585;p50">
            <a:extLst>
              <a:ext uri="{FF2B5EF4-FFF2-40B4-BE49-F238E27FC236}">
                <a16:creationId xmlns:a16="http://schemas.microsoft.com/office/drawing/2014/main" id="{146F2BE5-082F-00D2-A1F6-402A0FD011FA}"/>
              </a:ext>
            </a:extLst>
          </p:cNvPr>
          <p:cNvSpPr txBox="1"/>
          <p:nvPr/>
        </p:nvSpPr>
        <p:spPr>
          <a:xfrm>
            <a:off x="7006586" y="49810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3" name="Google Shape;586;p50">
            <a:extLst>
              <a:ext uri="{FF2B5EF4-FFF2-40B4-BE49-F238E27FC236}">
                <a16:creationId xmlns:a16="http://schemas.microsoft.com/office/drawing/2014/main" id="{B26F31F9-8DA4-A85A-E52A-8314A39A50F5}"/>
              </a:ext>
            </a:extLst>
          </p:cNvPr>
          <p:cNvSpPr txBox="1"/>
          <p:nvPr/>
        </p:nvSpPr>
        <p:spPr>
          <a:xfrm>
            <a:off x="4633536" y="6026975"/>
            <a:ext cx="3037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Um para Muitos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03624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9" grpId="0"/>
      <p:bldP spid="30" grpId="0"/>
      <p:bldP spid="31" grpId="0"/>
      <p:bldP spid="32" grpId="0"/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49B7B-28C3-53A1-8949-71C4201E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Cardinalidades máxima e mínima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E77A44-8077-D416-144F-27C5C12FF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Indice se a participação das ocorrências de entidades no relacionamento é </a:t>
            </a:r>
            <a:r>
              <a:rPr lang="pt-BR" dirty="0">
                <a:solidFill>
                  <a:schemeClr val="accent1"/>
                </a:solidFill>
              </a:rPr>
              <a:t>obrigatória</a:t>
            </a:r>
            <a:r>
              <a:rPr lang="pt-BR" dirty="0"/>
              <a:t> ou </a:t>
            </a:r>
            <a:r>
              <a:rPr lang="pt-BR" dirty="0">
                <a:solidFill>
                  <a:srgbClr val="FF0000"/>
                </a:solidFill>
              </a:rPr>
              <a:t>opcional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Funcionário pode estar lotado em até 1 departamento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 Departamento obrigatoriamente tem até N funcionários lotados nele</a:t>
            </a:r>
          </a:p>
        </p:txBody>
      </p:sp>
      <p:sp>
        <p:nvSpPr>
          <p:cNvPr id="4" name="Google Shape;594;p51">
            <a:extLst>
              <a:ext uri="{FF2B5EF4-FFF2-40B4-BE49-F238E27FC236}">
                <a16:creationId xmlns:a16="http://schemas.microsoft.com/office/drawing/2014/main" id="{1E7A34D6-6A4F-7793-6D83-ECBD45451BCC}"/>
              </a:ext>
            </a:extLst>
          </p:cNvPr>
          <p:cNvSpPr/>
          <p:nvPr/>
        </p:nvSpPr>
        <p:spPr>
          <a:xfrm>
            <a:off x="1719361" y="4477484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595;p51">
            <a:extLst>
              <a:ext uri="{FF2B5EF4-FFF2-40B4-BE49-F238E27FC236}">
                <a16:creationId xmlns:a16="http://schemas.microsoft.com/office/drawing/2014/main" id="{2E402B56-67C8-693D-075D-FCC5BC8FE508}"/>
              </a:ext>
            </a:extLst>
          </p:cNvPr>
          <p:cNvSpPr/>
          <p:nvPr/>
        </p:nvSpPr>
        <p:spPr>
          <a:xfrm>
            <a:off x="7826516" y="4477484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596;p51">
            <a:extLst>
              <a:ext uri="{FF2B5EF4-FFF2-40B4-BE49-F238E27FC236}">
                <a16:creationId xmlns:a16="http://schemas.microsoft.com/office/drawing/2014/main" id="{001A2194-5929-08DF-B742-A0389C23D9E8}"/>
              </a:ext>
            </a:extLst>
          </p:cNvPr>
          <p:cNvSpPr/>
          <p:nvPr/>
        </p:nvSpPr>
        <p:spPr>
          <a:xfrm>
            <a:off x="4657131" y="4275884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Lotado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597;p51">
            <a:extLst>
              <a:ext uri="{FF2B5EF4-FFF2-40B4-BE49-F238E27FC236}">
                <a16:creationId xmlns:a16="http://schemas.microsoft.com/office/drawing/2014/main" id="{6CFB3E87-F2A2-F4E2-71F9-C8227B0180AD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3981531" y="4817534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98;p51">
            <a:extLst>
              <a:ext uri="{FF2B5EF4-FFF2-40B4-BE49-F238E27FC236}">
                <a16:creationId xmlns:a16="http://schemas.microsoft.com/office/drawing/2014/main" id="{AD31E3DF-AC22-4BC0-4A99-432286A1C86E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150916" y="4817534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599;p51">
            <a:extLst>
              <a:ext uri="{FF2B5EF4-FFF2-40B4-BE49-F238E27FC236}">
                <a16:creationId xmlns:a16="http://schemas.microsoft.com/office/drawing/2014/main" id="{21725A16-B8DD-A8BC-8B14-48A8B1DDFBD9}"/>
              </a:ext>
            </a:extLst>
          </p:cNvPr>
          <p:cNvSpPr txBox="1"/>
          <p:nvPr/>
        </p:nvSpPr>
        <p:spPr>
          <a:xfrm>
            <a:off x="3677031" y="4275884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(1,N)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600;p51">
            <a:extLst>
              <a:ext uri="{FF2B5EF4-FFF2-40B4-BE49-F238E27FC236}">
                <a16:creationId xmlns:a16="http://schemas.microsoft.com/office/drawing/2014/main" id="{D0F017FD-9280-EDE1-9920-0524D2A63247}"/>
              </a:ext>
            </a:extLst>
          </p:cNvPr>
          <p:cNvSpPr txBox="1"/>
          <p:nvPr/>
        </p:nvSpPr>
        <p:spPr>
          <a:xfrm>
            <a:off x="6758231" y="4275884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468440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C51D5-9896-CB92-68DA-8D0D9A4A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Cardinalidades máxima e mínima</a:t>
            </a:r>
          </a:p>
        </p:txBody>
      </p:sp>
      <p:sp>
        <p:nvSpPr>
          <p:cNvPr id="4" name="Google Shape;606;p52">
            <a:extLst>
              <a:ext uri="{FF2B5EF4-FFF2-40B4-BE49-F238E27FC236}">
                <a16:creationId xmlns:a16="http://schemas.microsoft.com/office/drawing/2014/main" id="{89CED284-8DEE-9518-A594-8C93562E8B56}"/>
              </a:ext>
            </a:extLst>
          </p:cNvPr>
          <p:cNvSpPr/>
          <p:nvPr/>
        </p:nvSpPr>
        <p:spPr>
          <a:xfrm>
            <a:off x="1640338" y="2130306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607;p52">
            <a:extLst>
              <a:ext uri="{FF2B5EF4-FFF2-40B4-BE49-F238E27FC236}">
                <a16:creationId xmlns:a16="http://schemas.microsoft.com/office/drawing/2014/main" id="{95BD62A4-B7DD-3311-A1B2-6E3E167978AB}"/>
              </a:ext>
            </a:extLst>
          </p:cNvPr>
          <p:cNvSpPr/>
          <p:nvPr/>
        </p:nvSpPr>
        <p:spPr>
          <a:xfrm>
            <a:off x="7747493" y="2130306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608;p52">
            <a:extLst>
              <a:ext uri="{FF2B5EF4-FFF2-40B4-BE49-F238E27FC236}">
                <a16:creationId xmlns:a16="http://schemas.microsoft.com/office/drawing/2014/main" id="{4CA62511-8F24-B4CD-F7F8-8CBA64526BCA}"/>
              </a:ext>
            </a:extLst>
          </p:cNvPr>
          <p:cNvSpPr/>
          <p:nvPr/>
        </p:nvSpPr>
        <p:spPr>
          <a:xfrm>
            <a:off x="4578108" y="1928706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Participa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609;p52">
            <a:extLst>
              <a:ext uri="{FF2B5EF4-FFF2-40B4-BE49-F238E27FC236}">
                <a16:creationId xmlns:a16="http://schemas.microsoft.com/office/drawing/2014/main" id="{B16AFE6A-65FF-8D4C-923F-03CB4F9B1E3D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3902508" y="2470356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610;p52">
            <a:extLst>
              <a:ext uri="{FF2B5EF4-FFF2-40B4-BE49-F238E27FC236}">
                <a16:creationId xmlns:a16="http://schemas.microsoft.com/office/drawing/2014/main" id="{D3662742-0245-D15F-2A8A-60FC0A4CE826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071893" y="2470356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611;p52">
            <a:extLst>
              <a:ext uri="{FF2B5EF4-FFF2-40B4-BE49-F238E27FC236}">
                <a16:creationId xmlns:a16="http://schemas.microsoft.com/office/drawing/2014/main" id="{A8426530-E6FD-46BD-E06A-7E5A96744055}"/>
              </a:ext>
            </a:extLst>
          </p:cNvPr>
          <p:cNvSpPr txBox="1"/>
          <p:nvPr/>
        </p:nvSpPr>
        <p:spPr>
          <a:xfrm>
            <a:off x="3736808" y="1928706"/>
            <a:ext cx="1145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(0,M)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612;p52">
            <a:extLst>
              <a:ext uri="{FF2B5EF4-FFF2-40B4-BE49-F238E27FC236}">
                <a16:creationId xmlns:a16="http://schemas.microsoft.com/office/drawing/2014/main" id="{4CEE2450-FDAF-AE30-F116-BB9AFA267B66}"/>
              </a:ext>
            </a:extLst>
          </p:cNvPr>
          <p:cNvSpPr txBox="1"/>
          <p:nvPr/>
        </p:nvSpPr>
        <p:spPr>
          <a:xfrm>
            <a:off x="6679208" y="1928706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(0,N)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613;p52">
            <a:extLst>
              <a:ext uri="{FF2B5EF4-FFF2-40B4-BE49-F238E27FC236}">
                <a16:creationId xmlns:a16="http://schemas.microsoft.com/office/drawing/2014/main" id="{DE5872B3-4372-7A3E-7816-AC633E9E3F84}"/>
              </a:ext>
            </a:extLst>
          </p:cNvPr>
          <p:cNvSpPr/>
          <p:nvPr/>
        </p:nvSpPr>
        <p:spPr>
          <a:xfrm>
            <a:off x="1640338" y="3642106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614;p52">
            <a:extLst>
              <a:ext uri="{FF2B5EF4-FFF2-40B4-BE49-F238E27FC236}">
                <a16:creationId xmlns:a16="http://schemas.microsoft.com/office/drawing/2014/main" id="{6C2523E0-9BBB-3242-65B0-5DDAAEC01D7D}"/>
              </a:ext>
            </a:extLst>
          </p:cNvPr>
          <p:cNvSpPr/>
          <p:nvPr/>
        </p:nvSpPr>
        <p:spPr>
          <a:xfrm>
            <a:off x="7747493" y="3642106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615;p52">
            <a:extLst>
              <a:ext uri="{FF2B5EF4-FFF2-40B4-BE49-F238E27FC236}">
                <a16:creationId xmlns:a16="http://schemas.microsoft.com/office/drawing/2014/main" id="{D9881CE3-35C8-433E-3A5F-E9C79B901BE0}"/>
              </a:ext>
            </a:extLst>
          </p:cNvPr>
          <p:cNvSpPr/>
          <p:nvPr/>
        </p:nvSpPr>
        <p:spPr>
          <a:xfrm>
            <a:off x="4578108" y="3440506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4" name="Google Shape;616;p52">
            <a:extLst>
              <a:ext uri="{FF2B5EF4-FFF2-40B4-BE49-F238E27FC236}">
                <a16:creationId xmlns:a16="http://schemas.microsoft.com/office/drawing/2014/main" id="{95D8C670-2023-28A6-39D8-B93C86862263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rot="10800000">
            <a:off x="3902508" y="3982156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617;p52">
            <a:extLst>
              <a:ext uri="{FF2B5EF4-FFF2-40B4-BE49-F238E27FC236}">
                <a16:creationId xmlns:a16="http://schemas.microsoft.com/office/drawing/2014/main" id="{6E923EE7-4A9C-0F68-909B-3690D5C6E462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rot="10800000">
            <a:off x="7071893" y="3982156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618;p52">
            <a:extLst>
              <a:ext uri="{FF2B5EF4-FFF2-40B4-BE49-F238E27FC236}">
                <a16:creationId xmlns:a16="http://schemas.microsoft.com/office/drawing/2014/main" id="{3832C9C8-DBE4-5789-3A86-A6C43E594DE7}"/>
              </a:ext>
            </a:extLst>
          </p:cNvPr>
          <p:cNvSpPr txBox="1"/>
          <p:nvPr/>
        </p:nvSpPr>
        <p:spPr>
          <a:xfrm>
            <a:off x="3598008" y="3440506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" name="Google Shape;619;p52">
            <a:extLst>
              <a:ext uri="{FF2B5EF4-FFF2-40B4-BE49-F238E27FC236}">
                <a16:creationId xmlns:a16="http://schemas.microsoft.com/office/drawing/2014/main" id="{C7A9EC98-3DDA-0086-3812-26DB11035BB3}"/>
              </a:ext>
            </a:extLst>
          </p:cNvPr>
          <p:cNvSpPr txBox="1"/>
          <p:nvPr/>
        </p:nvSpPr>
        <p:spPr>
          <a:xfrm>
            <a:off x="6679208" y="3440506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" name="Google Shape;620;p52">
            <a:extLst>
              <a:ext uri="{FF2B5EF4-FFF2-40B4-BE49-F238E27FC236}">
                <a16:creationId xmlns:a16="http://schemas.microsoft.com/office/drawing/2014/main" id="{6E685327-F892-6B0C-36E5-D36B2351255A}"/>
              </a:ext>
            </a:extLst>
          </p:cNvPr>
          <p:cNvSpPr/>
          <p:nvPr/>
        </p:nvSpPr>
        <p:spPr>
          <a:xfrm>
            <a:off x="1640338" y="5153906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" name="Google Shape;621;p52">
            <a:extLst>
              <a:ext uri="{FF2B5EF4-FFF2-40B4-BE49-F238E27FC236}">
                <a16:creationId xmlns:a16="http://schemas.microsoft.com/office/drawing/2014/main" id="{BA4AD157-7EFC-3B05-7A74-C0329EE82449}"/>
              </a:ext>
            </a:extLst>
          </p:cNvPr>
          <p:cNvSpPr/>
          <p:nvPr/>
        </p:nvSpPr>
        <p:spPr>
          <a:xfrm>
            <a:off x="7747493" y="5153906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" name="Google Shape;622;p52">
            <a:extLst>
              <a:ext uri="{FF2B5EF4-FFF2-40B4-BE49-F238E27FC236}">
                <a16:creationId xmlns:a16="http://schemas.microsoft.com/office/drawing/2014/main" id="{F4A0AF4C-F8F6-5348-0397-DE474365F41E}"/>
              </a:ext>
            </a:extLst>
          </p:cNvPr>
          <p:cNvSpPr/>
          <p:nvPr/>
        </p:nvSpPr>
        <p:spPr>
          <a:xfrm>
            <a:off x="4578108" y="4952306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Coordena</a:t>
            </a:r>
            <a:endParaRPr sz="2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1" name="Google Shape;623;p52">
            <a:extLst>
              <a:ext uri="{FF2B5EF4-FFF2-40B4-BE49-F238E27FC236}">
                <a16:creationId xmlns:a16="http://schemas.microsoft.com/office/drawing/2014/main" id="{0230A5A8-E08E-F7C0-10B1-E0218C5434B4}"/>
              </a:ext>
            </a:extLst>
          </p:cNvPr>
          <p:cNvCxnSpPr>
            <a:stCxn id="20" idx="1"/>
            <a:endCxn id="18" idx="3"/>
          </p:cNvCxnSpPr>
          <p:nvPr/>
        </p:nvCxnSpPr>
        <p:spPr>
          <a:xfrm rot="10800000">
            <a:off x="3902508" y="5493956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624;p52">
            <a:extLst>
              <a:ext uri="{FF2B5EF4-FFF2-40B4-BE49-F238E27FC236}">
                <a16:creationId xmlns:a16="http://schemas.microsoft.com/office/drawing/2014/main" id="{348B42B2-41D9-E63E-08CA-6C39623F9C5F}"/>
              </a:ext>
            </a:extLst>
          </p:cNvPr>
          <p:cNvCxnSpPr>
            <a:stCxn id="19" idx="1"/>
            <a:endCxn id="20" idx="3"/>
          </p:cNvCxnSpPr>
          <p:nvPr/>
        </p:nvCxnSpPr>
        <p:spPr>
          <a:xfrm rot="10800000">
            <a:off x="7071893" y="5493956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625;p52">
            <a:extLst>
              <a:ext uri="{FF2B5EF4-FFF2-40B4-BE49-F238E27FC236}">
                <a16:creationId xmlns:a16="http://schemas.microsoft.com/office/drawing/2014/main" id="{83757D65-28E3-EC77-5431-8E7C27A996AF}"/>
              </a:ext>
            </a:extLst>
          </p:cNvPr>
          <p:cNvSpPr txBox="1"/>
          <p:nvPr/>
        </p:nvSpPr>
        <p:spPr>
          <a:xfrm>
            <a:off x="3598008" y="4952306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(1,1)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" name="Google Shape;626;p52">
            <a:extLst>
              <a:ext uri="{FF2B5EF4-FFF2-40B4-BE49-F238E27FC236}">
                <a16:creationId xmlns:a16="http://schemas.microsoft.com/office/drawing/2014/main" id="{866C8083-4E7D-5AB8-D9F8-0DBDB8D3CFB1}"/>
              </a:ext>
            </a:extLst>
          </p:cNvPr>
          <p:cNvSpPr txBox="1"/>
          <p:nvPr/>
        </p:nvSpPr>
        <p:spPr>
          <a:xfrm>
            <a:off x="6679208" y="4952306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(0,2)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528370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7EE7-B8D6-C784-EAD2-CE689CC8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039E32-59E8-0BEB-3C2E-039410896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b="1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1E1E76-D405-7994-64D2-0902B7B6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37AB95D-6CDB-1F6E-D739-3BC892FF3BE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716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75690-B15D-D681-4D8B-B6E654A3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07AE28-483E-16B0-3355-14340D6D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Propriedade que descreve uma Entidade em algum aspecto</a:t>
            </a:r>
          </a:p>
          <a:p>
            <a:pPr lvl="1"/>
            <a:r>
              <a:rPr lang="pt-BR" dirty="0"/>
              <a:t>Exemplo: entidade Empregado pode ser descrita por seu: nome, idade, endereço e salário</a:t>
            </a:r>
          </a:p>
          <a:p>
            <a:pPr>
              <a:spcBef>
                <a:spcPts val="1800"/>
              </a:spcBef>
            </a:pPr>
            <a:r>
              <a:rPr lang="pt-BR" dirty="0"/>
              <a:t>Uma entidade particular terá valor para cada um de seus atributos (</a:t>
            </a:r>
            <a:r>
              <a:rPr lang="pt-BR" i="1" dirty="0"/>
              <a:t>instância de dados</a:t>
            </a:r>
            <a:r>
              <a:rPr lang="pt-BR" dirty="0"/>
              <a:t>)</a:t>
            </a:r>
          </a:p>
          <a:p>
            <a:pPr>
              <a:spcBef>
                <a:spcPts val="1800"/>
              </a:spcBef>
            </a:pPr>
            <a:r>
              <a:rPr lang="pt-BR" dirty="0"/>
              <a:t>Os valores dos atributos que descrevem cada entidade se tornam parte majoritária dos dados armazenados no BD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Além de metadados, índices, etc.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6AD84C-22F3-A454-3078-3391989B1450}"/>
              </a:ext>
            </a:extLst>
          </p:cNvPr>
          <p:cNvSpPr/>
          <p:nvPr/>
        </p:nvSpPr>
        <p:spPr>
          <a:xfrm>
            <a:off x="8274756" y="4901142"/>
            <a:ext cx="3533422" cy="15917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Um Entity Set sem atributos não tem significado para a modelagem!</a:t>
            </a:r>
          </a:p>
        </p:txBody>
      </p:sp>
    </p:spTree>
    <p:extLst>
      <p:ext uri="{BB962C8B-B14F-4D97-AF65-F5344CB8AC3E}">
        <p14:creationId xmlns:p14="http://schemas.microsoft.com/office/powerpoint/2010/main" val="169248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39844-675D-EE3A-0BA4-86E542F8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6CFAA-0BB1-B315-ECB3-0ACACC289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Notação MER: elipses ligadas ao Conjunto de Entidades</a:t>
            </a:r>
          </a:p>
        </p:txBody>
      </p:sp>
      <p:sp>
        <p:nvSpPr>
          <p:cNvPr id="4" name="Google Shape;641;p54">
            <a:extLst>
              <a:ext uri="{FF2B5EF4-FFF2-40B4-BE49-F238E27FC236}">
                <a16:creationId xmlns:a16="http://schemas.microsoft.com/office/drawing/2014/main" id="{D5FF2728-0F9B-E576-95F7-D96B2DA987BB}"/>
              </a:ext>
            </a:extLst>
          </p:cNvPr>
          <p:cNvSpPr/>
          <p:nvPr/>
        </p:nvSpPr>
        <p:spPr>
          <a:xfrm>
            <a:off x="2001583" y="317520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642;p54">
            <a:extLst>
              <a:ext uri="{FF2B5EF4-FFF2-40B4-BE49-F238E27FC236}">
                <a16:creationId xmlns:a16="http://schemas.microsoft.com/office/drawing/2014/main" id="{80D9BDB4-61D5-00B1-9397-F7DB2545840B}"/>
              </a:ext>
            </a:extLst>
          </p:cNvPr>
          <p:cNvSpPr/>
          <p:nvPr/>
        </p:nvSpPr>
        <p:spPr>
          <a:xfrm>
            <a:off x="8108738" y="317520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643;p54">
            <a:extLst>
              <a:ext uri="{FF2B5EF4-FFF2-40B4-BE49-F238E27FC236}">
                <a16:creationId xmlns:a16="http://schemas.microsoft.com/office/drawing/2014/main" id="{32FE9ED7-A073-29B3-9F8C-A7869A81B6A0}"/>
              </a:ext>
            </a:extLst>
          </p:cNvPr>
          <p:cNvSpPr/>
          <p:nvPr/>
        </p:nvSpPr>
        <p:spPr>
          <a:xfrm>
            <a:off x="5057828" y="2973607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644;p54">
            <a:extLst>
              <a:ext uri="{FF2B5EF4-FFF2-40B4-BE49-F238E27FC236}">
                <a16:creationId xmlns:a16="http://schemas.microsoft.com/office/drawing/2014/main" id="{9475C786-5F59-2380-6149-52C1CB4711D9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4264028" y="3515257"/>
            <a:ext cx="793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645;p54">
            <a:extLst>
              <a:ext uri="{FF2B5EF4-FFF2-40B4-BE49-F238E27FC236}">
                <a16:creationId xmlns:a16="http://schemas.microsoft.com/office/drawing/2014/main" id="{11B1BAA8-22C0-9D55-4A72-FF38E97CE757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551638" y="3515257"/>
            <a:ext cx="557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646;p54">
            <a:extLst>
              <a:ext uri="{FF2B5EF4-FFF2-40B4-BE49-F238E27FC236}">
                <a16:creationId xmlns:a16="http://schemas.microsoft.com/office/drawing/2014/main" id="{C477FA2A-34FA-600F-C5CF-091732F45BF4}"/>
              </a:ext>
            </a:extLst>
          </p:cNvPr>
          <p:cNvSpPr txBox="1"/>
          <p:nvPr/>
        </p:nvSpPr>
        <p:spPr>
          <a:xfrm>
            <a:off x="4018628" y="3049357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647;p54">
            <a:extLst>
              <a:ext uri="{FF2B5EF4-FFF2-40B4-BE49-F238E27FC236}">
                <a16:creationId xmlns:a16="http://schemas.microsoft.com/office/drawing/2014/main" id="{E049B139-5A91-0E00-10E9-17196457372E}"/>
              </a:ext>
            </a:extLst>
          </p:cNvPr>
          <p:cNvSpPr txBox="1"/>
          <p:nvPr/>
        </p:nvSpPr>
        <p:spPr>
          <a:xfrm>
            <a:off x="6982828" y="3049357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648;p54">
            <a:extLst>
              <a:ext uri="{FF2B5EF4-FFF2-40B4-BE49-F238E27FC236}">
                <a16:creationId xmlns:a16="http://schemas.microsoft.com/office/drawing/2014/main" id="{CD979B12-42A0-9170-D5F7-2D2F602FCD23}"/>
              </a:ext>
            </a:extLst>
          </p:cNvPr>
          <p:cNvSpPr/>
          <p:nvPr/>
        </p:nvSpPr>
        <p:spPr>
          <a:xfrm>
            <a:off x="2123978" y="408442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649;p54">
            <a:extLst>
              <a:ext uri="{FF2B5EF4-FFF2-40B4-BE49-F238E27FC236}">
                <a16:creationId xmlns:a16="http://schemas.microsoft.com/office/drawing/2014/main" id="{89A12511-3E4D-711C-8C3D-EAE669C2EA7F}"/>
              </a:ext>
            </a:extLst>
          </p:cNvPr>
          <p:cNvSpPr/>
          <p:nvPr/>
        </p:nvSpPr>
        <p:spPr>
          <a:xfrm>
            <a:off x="2123978" y="448975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" name="Google Shape;650;p54">
            <a:extLst>
              <a:ext uri="{FF2B5EF4-FFF2-40B4-BE49-F238E27FC236}">
                <a16:creationId xmlns:a16="http://schemas.microsoft.com/office/drawing/2014/main" id="{81FD8EE0-189F-5E4A-DD8E-1A11FF5DBC6D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rot="10800000">
            <a:off x="3132728" y="3855220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651;p54">
            <a:extLst>
              <a:ext uri="{FF2B5EF4-FFF2-40B4-BE49-F238E27FC236}">
                <a16:creationId xmlns:a16="http://schemas.microsoft.com/office/drawing/2014/main" id="{C2728D5D-D0C4-EDB6-8605-23252EF34C91}"/>
              </a:ext>
            </a:extLst>
          </p:cNvPr>
          <p:cNvSpPr/>
          <p:nvPr/>
        </p:nvSpPr>
        <p:spPr>
          <a:xfrm>
            <a:off x="8231128" y="408442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652;p54">
            <a:extLst>
              <a:ext uri="{FF2B5EF4-FFF2-40B4-BE49-F238E27FC236}">
                <a16:creationId xmlns:a16="http://schemas.microsoft.com/office/drawing/2014/main" id="{9BC63BF0-E585-A340-9755-9E0B2B567AB8}"/>
              </a:ext>
            </a:extLst>
          </p:cNvPr>
          <p:cNvSpPr/>
          <p:nvPr/>
        </p:nvSpPr>
        <p:spPr>
          <a:xfrm>
            <a:off x="8231128" y="448975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653;p54">
            <a:extLst>
              <a:ext uri="{FF2B5EF4-FFF2-40B4-BE49-F238E27FC236}">
                <a16:creationId xmlns:a16="http://schemas.microsoft.com/office/drawing/2014/main" id="{3916D26E-E4DA-F5C2-A189-23A620FB70F3}"/>
              </a:ext>
            </a:extLst>
          </p:cNvPr>
          <p:cNvSpPr/>
          <p:nvPr/>
        </p:nvSpPr>
        <p:spPr>
          <a:xfrm>
            <a:off x="8231128" y="4903382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No. Créditos</a:t>
            </a:r>
            <a:endParaRPr sz="17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654;p54">
            <a:extLst>
              <a:ext uri="{FF2B5EF4-FFF2-40B4-BE49-F238E27FC236}">
                <a16:creationId xmlns:a16="http://schemas.microsoft.com/office/drawing/2014/main" id="{67297766-9CCD-09E3-BB58-C13DEC9E3324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rot="10800000">
            <a:off x="9239878" y="3855220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84725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8FE52-2970-A43D-D31F-9FB9702F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 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6E9FA5-51B9-E136-BCEC-F3C381EC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2 entidades e os valores de seus atributos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AF6680-488B-418F-220B-A87F5F390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64" y="2863903"/>
            <a:ext cx="9609125" cy="290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926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C7BAF-87CF-ED65-8686-930AD105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32009-55FB-643E-3CCA-CA99A8BCF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Atômicos x compostos</a:t>
            </a:r>
          </a:p>
          <a:p>
            <a:r>
              <a:rPr lang="pt-BR" dirty="0"/>
              <a:t>Valor único x multivalorados</a:t>
            </a:r>
          </a:p>
          <a:p>
            <a:r>
              <a:rPr lang="pt-BR" dirty="0"/>
              <a:t>Armazenados x derivados</a:t>
            </a:r>
          </a:p>
          <a:p>
            <a:r>
              <a:rPr lang="pt-BR" dirty="0"/>
              <a:t>Valores NULL</a:t>
            </a:r>
          </a:p>
          <a:p>
            <a:r>
              <a:rPr lang="pt-BR" dirty="0"/>
              <a:t>Complexos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5638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C2361-E54B-DC25-3E4B-0D7400013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543BF3-4DFD-1FB6-DCCB-91D41240E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Simples (atômico)</a:t>
            </a:r>
          </a:p>
          <a:p>
            <a:pPr lvl="1"/>
            <a:r>
              <a:rPr lang="pt-BR" dirty="0"/>
              <a:t>Não dividido</a:t>
            </a:r>
          </a:p>
          <a:p>
            <a:pPr lvl="1"/>
            <a:r>
              <a:rPr lang="pt-BR" dirty="0"/>
              <a:t>Única parte</a:t>
            </a:r>
          </a:p>
          <a:p>
            <a:pPr>
              <a:spcBef>
                <a:spcPts val="2400"/>
              </a:spcBef>
            </a:pPr>
            <a:r>
              <a:rPr lang="pt-BR" dirty="0"/>
              <a:t>Composto</a:t>
            </a:r>
          </a:p>
          <a:p>
            <a:pPr lvl="1"/>
            <a:r>
              <a:rPr lang="pt-BR" dirty="0"/>
              <a:t>Dividido em partes</a:t>
            </a:r>
          </a:p>
          <a:p>
            <a:pPr lvl="1"/>
            <a:r>
              <a:rPr lang="pt-BR" dirty="0"/>
              <a:t>Possui subatributos</a:t>
            </a:r>
          </a:p>
        </p:txBody>
      </p:sp>
    </p:spTree>
    <p:extLst>
      <p:ext uri="{BB962C8B-B14F-4D97-AF65-F5344CB8AC3E}">
        <p14:creationId xmlns:p14="http://schemas.microsoft.com/office/powerpoint/2010/main" val="4249329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8AECE-F7B6-CCBF-BFEA-366BDFC5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 composto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48D515-2795-B587-6AD5-4F7FFE155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348" y="1825625"/>
            <a:ext cx="3274451" cy="4351338"/>
          </a:xfrm>
        </p:spPr>
        <p:txBody>
          <a:bodyPr/>
          <a:lstStyle/>
          <a:p>
            <a:r>
              <a:rPr lang="pt-BR" dirty="0"/>
              <a:t>Endereço </a:t>
            </a:r>
            <a:r>
              <a:rPr lang="pt-BR" dirty="0">
                <a:sym typeface="Wingdings" panose="05000000000000000000" pitchFamily="2" charset="2"/>
              </a:rPr>
              <a:t> composto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Rua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Número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CEP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Cidade</a:t>
            </a:r>
            <a:endParaRPr lang="pt-BR" dirty="0"/>
          </a:p>
        </p:txBody>
      </p:sp>
      <p:sp>
        <p:nvSpPr>
          <p:cNvPr id="4" name="Google Shape;752;p64">
            <a:extLst>
              <a:ext uri="{FF2B5EF4-FFF2-40B4-BE49-F238E27FC236}">
                <a16:creationId xmlns:a16="http://schemas.microsoft.com/office/drawing/2014/main" id="{55536A51-A1AF-279D-1118-64E8AF0FBD3E}"/>
              </a:ext>
            </a:extLst>
          </p:cNvPr>
          <p:cNvSpPr/>
          <p:nvPr/>
        </p:nvSpPr>
        <p:spPr>
          <a:xfrm>
            <a:off x="477629" y="258250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53;p64">
            <a:extLst>
              <a:ext uri="{FF2B5EF4-FFF2-40B4-BE49-F238E27FC236}">
                <a16:creationId xmlns:a16="http://schemas.microsoft.com/office/drawing/2014/main" id="{BD2BA3FC-5146-E7B2-3C8D-8717227EAC77}"/>
              </a:ext>
            </a:extLst>
          </p:cNvPr>
          <p:cNvSpPr/>
          <p:nvPr/>
        </p:nvSpPr>
        <p:spPr>
          <a:xfrm>
            <a:off x="600024" y="338074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754;p64">
            <a:extLst>
              <a:ext uri="{FF2B5EF4-FFF2-40B4-BE49-F238E27FC236}">
                <a16:creationId xmlns:a16="http://schemas.microsoft.com/office/drawing/2014/main" id="{E0F7521C-6FB4-76D9-D5B6-040FFACD215B}"/>
              </a:ext>
            </a:extLst>
          </p:cNvPr>
          <p:cNvSpPr/>
          <p:nvPr/>
        </p:nvSpPr>
        <p:spPr>
          <a:xfrm>
            <a:off x="600024" y="384156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755;p64">
            <a:extLst>
              <a:ext uri="{FF2B5EF4-FFF2-40B4-BE49-F238E27FC236}">
                <a16:creationId xmlns:a16="http://schemas.microsoft.com/office/drawing/2014/main" id="{A9D51E95-A687-552C-6C72-C4D3B7F00EBF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10800000">
            <a:off x="1608774" y="3262541"/>
            <a:ext cx="0" cy="118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8" name="Google Shape;756;p64">
            <a:extLst>
              <a:ext uri="{FF2B5EF4-FFF2-40B4-BE49-F238E27FC236}">
                <a16:creationId xmlns:a16="http://schemas.microsoft.com/office/drawing/2014/main" id="{BB925A0F-610D-0FE7-4AF6-ED9A186FA16F}"/>
              </a:ext>
            </a:extLst>
          </p:cNvPr>
          <p:cNvSpPr/>
          <p:nvPr/>
        </p:nvSpPr>
        <p:spPr>
          <a:xfrm>
            <a:off x="3640254" y="252080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757;p64">
            <a:extLst>
              <a:ext uri="{FF2B5EF4-FFF2-40B4-BE49-F238E27FC236}">
                <a16:creationId xmlns:a16="http://schemas.microsoft.com/office/drawing/2014/main" id="{C24E95EF-A7E5-BB7B-CBDE-18FB6B371AC3}"/>
              </a:ext>
            </a:extLst>
          </p:cNvPr>
          <p:cNvSpPr/>
          <p:nvPr/>
        </p:nvSpPr>
        <p:spPr>
          <a:xfrm>
            <a:off x="3762649" y="331904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758;p64">
            <a:extLst>
              <a:ext uri="{FF2B5EF4-FFF2-40B4-BE49-F238E27FC236}">
                <a16:creationId xmlns:a16="http://schemas.microsoft.com/office/drawing/2014/main" id="{D79C385D-18F0-B374-AF9E-14828AB976A8}"/>
              </a:ext>
            </a:extLst>
          </p:cNvPr>
          <p:cNvSpPr/>
          <p:nvPr/>
        </p:nvSpPr>
        <p:spPr>
          <a:xfrm>
            <a:off x="3762649" y="377986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" name="Google Shape;759;p64">
            <a:extLst>
              <a:ext uri="{FF2B5EF4-FFF2-40B4-BE49-F238E27FC236}">
                <a16:creationId xmlns:a16="http://schemas.microsoft.com/office/drawing/2014/main" id="{5CEAC1BB-9845-EE2A-A835-8FE7CF346284}"/>
              </a:ext>
            </a:extLst>
          </p:cNvPr>
          <p:cNvCxnSpPr>
            <a:stCxn id="9" idx="0"/>
            <a:endCxn id="8" idx="2"/>
          </p:cNvCxnSpPr>
          <p:nvPr/>
        </p:nvCxnSpPr>
        <p:spPr>
          <a:xfrm rot="10800000">
            <a:off x="4771399" y="3200841"/>
            <a:ext cx="0" cy="118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2" name="Google Shape;760;p64">
            <a:extLst>
              <a:ext uri="{FF2B5EF4-FFF2-40B4-BE49-F238E27FC236}">
                <a16:creationId xmlns:a16="http://schemas.microsoft.com/office/drawing/2014/main" id="{362411B0-D533-B303-A727-6E388C86A60D}"/>
              </a:ext>
            </a:extLst>
          </p:cNvPr>
          <p:cNvSpPr/>
          <p:nvPr/>
        </p:nvSpPr>
        <p:spPr>
          <a:xfrm>
            <a:off x="3762649" y="42406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Endereço</a:t>
            </a:r>
            <a:endParaRPr sz="23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762;p64">
            <a:extLst>
              <a:ext uri="{FF2B5EF4-FFF2-40B4-BE49-F238E27FC236}">
                <a16:creationId xmlns:a16="http://schemas.microsoft.com/office/drawing/2014/main" id="{D85C0DE3-3BBF-F7F9-EE90-0016543CFC1A}"/>
              </a:ext>
            </a:extLst>
          </p:cNvPr>
          <p:cNvSpPr/>
          <p:nvPr/>
        </p:nvSpPr>
        <p:spPr>
          <a:xfrm>
            <a:off x="6597649" y="3638003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Rua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763;p64">
            <a:extLst>
              <a:ext uri="{FF2B5EF4-FFF2-40B4-BE49-F238E27FC236}">
                <a16:creationId xmlns:a16="http://schemas.microsoft.com/office/drawing/2014/main" id="{80B4903E-65A4-9345-B1CA-EAD65D2DB279}"/>
              </a:ext>
            </a:extLst>
          </p:cNvPr>
          <p:cNvSpPr/>
          <p:nvPr/>
        </p:nvSpPr>
        <p:spPr>
          <a:xfrm>
            <a:off x="6597649" y="4060303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764;p64">
            <a:extLst>
              <a:ext uri="{FF2B5EF4-FFF2-40B4-BE49-F238E27FC236}">
                <a16:creationId xmlns:a16="http://schemas.microsoft.com/office/drawing/2014/main" id="{56FF4FEE-37E8-3E22-93CE-61FC2AB0A98A}"/>
              </a:ext>
            </a:extLst>
          </p:cNvPr>
          <p:cNvSpPr/>
          <p:nvPr/>
        </p:nvSpPr>
        <p:spPr>
          <a:xfrm>
            <a:off x="6597649" y="4489803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CEP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765;p64">
            <a:extLst>
              <a:ext uri="{FF2B5EF4-FFF2-40B4-BE49-F238E27FC236}">
                <a16:creationId xmlns:a16="http://schemas.microsoft.com/office/drawing/2014/main" id="{2DFC4335-96DA-1758-AB12-39B15CB37D63}"/>
              </a:ext>
            </a:extLst>
          </p:cNvPr>
          <p:cNvSpPr/>
          <p:nvPr/>
        </p:nvSpPr>
        <p:spPr>
          <a:xfrm>
            <a:off x="6597649" y="4882053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Cidade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766;p64">
            <a:extLst>
              <a:ext uri="{FF2B5EF4-FFF2-40B4-BE49-F238E27FC236}">
                <a16:creationId xmlns:a16="http://schemas.microsoft.com/office/drawing/2014/main" id="{EC466FD8-70BC-1A60-8A1D-7840636DEDD1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 rot="10800000" flipH="1">
            <a:off x="5780149" y="3896128"/>
            <a:ext cx="817500" cy="60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67;p64">
            <a:extLst>
              <a:ext uri="{FF2B5EF4-FFF2-40B4-BE49-F238E27FC236}">
                <a16:creationId xmlns:a16="http://schemas.microsoft.com/office/drawing/2014/main" id="{42E750F6-29F8-19AA-FD36-0E74709B5E80}"/>
              </a:ext>
            </a:extLst>
          </p:cNvPr>
          <p:cNvCxnSpPr>
            <a:stCxn id="12" idx="6"/>
            <a:endCxn id="14" idx="2"/>
          </p:cNvCxnSpPr>
          <p:nvPr/>
        </p:nvCxnSpPr>
        <p:spPr>
          <a:xfrm rot="10800000" flipH="1">
            <a:off x="5780149" y="4318528"/>
            <a:ext cx="817500" cy="18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68;p64">
            <a:extLst>
              <a:ext uri="{FF2B5EF4-FFF2-40B4-BE49-F238E27FC236}">
                <a16:creationId xmlns:a16="http://schemas.microsoft.com/office/drawing/2014/main" id="{40CA582B-274F-39EC-68D5-12B9A1D806C1}"/>
              </a:ext>
            </a:extLst>
          </p:cNvPr>
          <p:cNvCxnSpPr>
            <a:stCxn id="12" idx="6"/>
            <a:endCxn id="15" idx="2"/>
          </p:cNvCxnSpPr>
          <p:nvPr/>
        </p:nvCxnSpPr>
        <p:spPr>
          <a:xfrm>
            <a:off x="5780149" y="4498828"/>
            <a:ext cx="817500" cy="24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769;p64">
            <a:extLst>
              <a:ext uri="{FF2B5EF4-FFF2-40B4-BE49-F238E27FC236}">
                <a16:creationId xmlns:a16="http://schemas.microsoft.com/office/drawing/2014/main" id="{2C2DA067-D0AA-A877-E217-D627287C3C76}"/>
              </a:ext>
            </a:extLst>
          </p:cNvPr>
          <p:cNvCxnSpPr>
            <a:stCxn id="12" idx="6"/>
            <a:endCxn id="16" idx="2"/>
          </p:cNvCxnSpPr>
          <p:nvPr/>
        </p:nvCxnSpPr>
        <p:spPr>
          <a:xfrm>
            <a:off x="5780149" y="4498828"/>
            <a:ext cx="817500" cy="641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3282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61E09-E83B-2E16-A799-F0787DD2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 composto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296D4-E264-5A91-100C-F77163E2B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794" y="1825625"/>
            <a:ext cx="3651005" cy="4351338"/>
          </a:xfrm>
        </p:spPr>
        <p:txBody>
          <a:bodyPr/>
          <a:lstStyle/>
          <a:p>
            <a:r>
              <a:rPr lang="pt-BR" dirty="0"/>
              <a:t>Rua </a:t>
            </a:r>
            <a:r>
              <a:rPr lang="pt-BR" dirty="0">
                <a:sym typeface="Wingdings" panose="05000000000000000000" pitchFamily="2" charset="2"/>
              </a:rPr>
              <a:t> composto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Nome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Número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Complemento</a:t>
            </a:r>
          </a:p>
          <a:p>
            <a:pPr lvl="1"/>
            <a:endParaRPr lang="pt-BR" dirty="0"/>
          </a:p>
        </p:txBody>
      </p:sp>
      <p:sp>
        <p:nvSpPr>
          <p:cNvPr id="4" name="Google Shape;776;p65">
            <a:extLst>
              <a:ext uri="{FF2B5EF4-FFF2-40B4-BE49-F238E27FC236}">
                <a16:creationId xmlns:a16="http://schemas.microsoft.com/office/drawing/2014/main" id="{8AC260B5-35A6-701D-8F60-5DBF57C4422F}"/>
              </a:ext>
            </a:extLst>
          </p:cNvPr>
          <p:cNvSpPr/>
          <p:nvPr/>
        </p:nvSpPr>
        <p:spPr>
          <a:xfrm>
            <a:off x="838200" y="2592022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77;p65">
            <a:extLst>
              <a:ext uri="{FF2B5EF4-FFF2-40B4-BE49-F238E27FC236}">
                <a16:creationId xmlns:a16="http://schemas.microsoft.com/office/drawing/2014/main" id="{DA74DBCA-5F1D-8166-B003-F13FFB056C40}"/>
              </a:ext>
            </a:extLst>
          </p:cNvPr>
          <p:cNvSpPr/>
          <p:nvPr/>
        </p:nvSpPr>
        <p:spPr>
          <a:xfrm>
            <a:off x="960595" y="339026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778;p65">
            <a:extLst>
              <a:ext uri="{FF2B5EF4-FFF2-40B4-BE49-F238E27FC236}">
                <a16:creationId xmlns:a16="http://schemas.microsoft.com/office/drawing/2014/main" id="{3D54245D-3BD0-DBAC-5959-ABB6090CC6C3}"/>
              </a:ext>
            </a:extLst>
          </p:cNvPr>
          <p:cNvSpPr/>
          <p:nvPr/>
        </p:nvSpPr>
        <p:spPr>
          <a:xfrm>
            <a:off x="960595" y="385108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779;p65">
            <a:extLst>
              <a:ext uri="{FF2B5EF4-FFF2-40B4-BE49-F238E27FC236}">
                <a16:creationId xmlns:a16="http://schemas.microsoft.com/office/drawing/2014/main" id="{954E6B1A-8E73-43C6-98B0-F94CCA90C1E7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10800000">
            <a:off x="1969345" y="3272060"/>
            <a:ext cx="0" cy="118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80;p65">
            <a:extLst>
              <a:ext uri="{FF2B5EF4-FFF2-40B4-BE49-F238E27FC236}">
                <a16:creationId xmlns:a16="http://schemas.microsoft.com/office/drawing/2014/main" id="{043A7E89-A004-8782-A975-6A50C3AC1A8E}"/>
              </a:ext>
            </a:extLst>
          </p:cNvPr>
          <p:cNvSpPr/>
          <p:nvPr/>
        </p:nvSpPr>
        <p:spPr>
          <a:xfrm>
            <a:off x="960595" y="431189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Endereço</a:t>
            </a:r>
            <a:endParaRPr sz="23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782;p65">
            <a:extLst>
              <a:ext uri="{FF2B5EF4-FFF2-40B4-BE49-F238E27FC236}">
                <a16:creationId xmlns:a16="http://schemas.microsoft.com/office/drawing/2014/main" id="{39ED6C86-DB47-954B-6087-1D02C71C230F}"/>
              </a:ext>
            </a:extLst>
          </p:cNvPr>
          <p:cNvSpPr/>
          <p:nvPr/>
        </p:nvSpPr>
        <p:spPr>
          <a:xfrm>
            <a:off x="3795595" y="3903247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Rua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783;p65">
            <a:extLst>
              <a:ext uri="{FF2B5EF4-FFF2-40B4-BE49-F238E27FC236}">
                <a16:creationId xmlns:a16="http://schemas.microsoft.com/office/drawing/2014/main" id="{4862B066-D583-B114-60E8-AF48B2C35205}"/>
              </a:ext>
            </a:extLst>
          </p:cNvPr>
          <p:cNvSpPr/>
          <p:nvPr/>
        </p:nvSpPr>
        <p:spPr>
          <a:xfrm>
            <a:off x="3795595" y="4328272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CEP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784;p65">
            <a:extLst>
              <a:ext uri="{FF2B5EF4-FFF2-40B4-BE49-F238E27FC236}">
                <a16:creationId xmlns:a16="http://schemas.microsoft.com/office/drawing/2014/main" id="{9371BE0A-3B9B-611D-EB31-553F309093F0}"/>
              </a:ext>
            </a:extLst>
          </p:cNvPr>
          <p:cNvSpPr/>
          <p:nvPr/>
        </p:nvSpPr>
        <p:spPr>
          <a:xfrm>
            <a:off x="3795595" y="4720522"/>
            <a:ext cx="1481700" cy="516300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Cidade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Google Shape;785;p65">
            <a:extLst>
              <a:ext uri="{FF2B5EF4-FFF2-40B4-BE49-F238E27FC236}">
                <a16:creationId xmlns:a16="http://schemas.microsoft.com/office/drawing/2014/main" id="{E0225704-EA5B-70AF-DBB2-F37954DE26F2}"/>
              </a:ext>
            </a:extLst>
          </p:cNvPr>
          <p:cNvCxnSpPr>
            <a:stCxn id="8" idx="6"/>
            <a:endCxn id="9" idx="2"/>
          </p:cNvCxnSpPr>
          <p:nvPr/>
        </p:nvCxnSpPr>
        <p:spPr>
          <a:xfrm rot="10800000" flipH="1">
            <a:off x="2978095" y="4161447"/>
            <a:ext cx="817500" cy="408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786;p65">
            <a:extLst>
              <a:ext uri="{FF2B5EF4-FFF2-40B4-BE49-F238E27FC236}">
                <a16:creationId xmlns:a16="http://schemas.microsoft.com/office/drawing/2014/main" id="{E2A97601-5835-5167-7A49-555B8BE6FBC1}"/>
              </a:ext>
            </a:extLst>
          </p:cNvPr>
          <p:cNvCxnSpPr>
            <a:stCxn id="8" idx="6"/>
            <a:endCxn id="10" idx="2"/>
          </p:cNvCxnSpPr>
          <p:nvPr/>
        </p:nvCxnSpPr>
        <p:spPr>
          <a:xfrm>
            <a:off x="2978095" y="4570047"/>
            <a:ext cx="817500" cy="16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87;p65">
            <a:extLst>
              <a:ext uri="{FF2B5EF4-FFF2-40B4-BE49-F238E27FC236}">
                <a16:creationId xmlns:a16="http://schemas.microsoft.com/office/drawing/2014/main" id="{76695AD4-9766-E534-10D1-6CB67B5051A3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2978095" y="4570047"/>
            <a:ext cx="817500" cy="408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788;p65">
            <a:extLst>
              <a:ext uri="{FF2B5EF4-FFF2-40B4-BE49-F238E27FC236}">
                <a16:creationId xmlns:a16="http://schemas.microsoft.com/office/drawing/2014/main" id="{177F1953-10C2-F296-9F8F-42B5CA541183}"/>
              </a:ext>
            </a:extLst>
          </p:cNvPr>
          <p:cNvSpPr/>
          <p:nvPr/>
        </p:nvSpPr>
        <p:spPr>
          <a:xfrm>
            <a:off x="5749195" y="3489922"/>
            <a:ext cx="1481700" cy="516300"/>
          </a:xfrm>
          <a:prstGeom prst="ellipse">
            <a:avLst/>
          </a:prstGeom>
          <a:solidFill>
            <a:srgbClr val="CC4125"/>
          </a:solidFill>
          <a:ln w="9525" cap="flat" cmpd="sng">
            <a:solidFill>
              <a:srgbClr val="E6B8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789;p65">
            <a:extLst>
              <a:ext uri="{FF2B5EF4-FFF2-40B4-BE49-F238E27FC236}">
                <a16:creationId xmlns:a16="http://schemas.microsoft.com/office/drawing/2014/main" id="{377D2A95-FF7A-E1C8-52BF-30BF39A79761}"/>
              </a:ext>
            </a:extLst>
          </p:cNvPr>
          <p:cNvSpPr/>
          <p:nvPr/>
        </p:nvSpPr>
        <p:spPr>
          <a:xfrm>
            <a:off x="5749195" y="3900322"/>
            <a:ext cx="1481700" cy="516300"/>
          </a:xfrm>
          <a:prstGeom prst="ellipse">
            <a:avLst/>
          </a:prstGeom>
          <a:solidFill>
            <a:srgbClr val="CC4125"/>
          </a:solidFill>
          <a:ln w="9525" cap="flat" cmpd="sng">
            <a:solidFill>
              <a:srgbClr val="E6B8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" name="Google Shape;790;p65">
            <a:extLst>
              <a:ext uri="{FF2B5EF4-FFF2-40B4-BE49-F238E27FC236}">
                <a16:creationId xmlns:a16="http://schemas.microsoft.com/office/drawing/2014/main" id="{11422812-C42F-48FA-3A68-1F332C4D9B22}"/>
              </a:ext>
            </a:extLst>
          </p:cNvPr>
          <p:cNvSpPr/>
          <p:nvPr/>
        </p:nvSpPr>
        <p:spPr>
          <a:xfrm>
            <a:off x="5749195" y="4316572"/>
            <a:ext cx="1481700" cy="516300"/>
          </a:xfrm>
          <a:prstGeom prst="ellipse">
            <a:avLst/>
          </a:prstGeom>
          <a:solidFill>
            <a:srgbClr val="CC4125"/>
          </a:solidFill>
          <a:ln w="9525" cap="flat" cmpd="sng">
            <a:solidFill>
              <a:srgbClr val="E6B8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Compl.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" name="Google Shape;791;p65">
            <a:extLst>
              <a:ext uri="{FF2B5EF4-FFF2-40B4-BE49-F238E27FC236}">
                <a16:creationId xmlns:a16="http://schemas.microsoft.com/office/drawing/2014/main" id="{98D7C5FE-AF0F-212C-2B5E-C71B0E3CBFE4}"/>
              </a:ext>
            </a:extLst>
          </p:cNvPr>
          <p:cNvCxnSpPr>
            <a:stCxn id="9" idx="6"/>
            <a:endCxn id="15" idx="2"/>
          </p:cNvCxnSpPr>
          <p:nvPr/>
        </p:nvCxnSpPr>
        <p:spPr>
          <a:xfrm rot="10800000" flipH="1">
            <a:off x="5277295" y="3747997"/>
            <a:ext cx="471900" cy="41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92;p65">
            <a:extLst>
              <a:ext uri="{FF2B5EF4-FFF2-40B4-BE49-F238E27FC236}">
                <a16:creationId xmlns:a16="http://schemas.microsoft.com/office/drawing/2014/main" id="{D12E23C8-56A9-6CD0-99F2-4077FB7E04E6}"/>
              </a:ext>
            </a:extLst>
          </p:cNvPr>
          <p:cNvCxnSpPr>
            <a:stCxn id="9" idx="6"/>
            <a:endCxn id="16" idx="2"/>
          </p:cNvCxnSpPr>
          <p:nvPr/>
        </p:nvCxnSpPr>
        <p:spPr>
          <a:xfrm rot="10800000" flipH="1">
            <a:off x="5277295" y="4158397"/>
            <a:ext cx="471900" cy="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793;p65">
            <a:extLst>
              <a:ext uri="{FF2B5EF4-FFF2-40B4-BE49-F238E27FC236}">
                <a16:creationId xmlns:a16="http://schemas.microsoft.com/office/drawing/2014/main" id="{042BC8FB-B83D-5355-93C5-992D37B223B8}"/>
              </a:ext>
            </a:extLst>
          </p:cNvPr>
          <p:cNvCxnSpPr>
            <a:stCxn id="9" idx="6"/>
            <a:endCxn id="17" idx="2"/>
          </p:cNvCxnSpPr>
          <p:nvPr/>
        </p:nvCxnSpPr>
        <p:spPr>
          <a:xfrm>
            <a:off x="5277295" y="4161397"/>
            <a:ext cx="471900" cy="41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513493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898A8-7002-22F7-C1EE-8B72BAC7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Valores dos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A38D32-BA5E-936A-CDBE-D2EE60107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1267" cy="4351338"/>
          </a:xfrm>
        </p:spPr>
        <p:txBody>
          <a:bodyPr/>
          <a:lstStyle/>
          <a:p>
            <a:r>
              <a:rPr lang="pt-BR" dirty="0" err="1"/>
              <a:t>Monovalorado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Assume um único valor para uma entidade ou relacionamento</a:t>
            </a:r>
          </a:p>
          <a:p>
            <a:pPr>
              <a:spcBef>
                <a:spcPts val="2400"/>
              </a:spcBef>
            </a:pPr>
            <a:r>
              <a:rPr lang="pt-BR" dirty="0"/>
              <a:t>Multivalorado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Pode assumir mais de um valor (do mesmo tipo) para uma entidade ou relacionamento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Notação DER: elipse dupla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29AFA15C-4859-1F8C-FF5D-C52853C94A2C}"/>
              </a:ext>
            </a:extLst>
          </p:cNvPr>
          <p:cNvGrpSpPr/>
          <p:nvPr/>
        </p:nvGrpSpPr>
        <p:grpSpPr>
          <a:xfrm>
            <a:off x="7646521" y="1927839"/>
            <a:ext cx="2262300" cy="2618500"/>
            <a:chOff x="2718361" y="4061439"/>
            <a:chExt cx="2262300" cy="2618500"/>
          </a:xfrm>
        </p:grpSpPr>
        <p:sp>
          <p:nvSpPr>
            <p:cNvPr id="4" name="Google Shape;807;p67">
              <a:extLst>
                <a:ext uri="{FF2B5EF4-FFF2-40B4-BE49-F238E27FC236}">
                  <a16:creationId xmlns:a16="http://schemas.microsoft.com/office/drawing/2014/main" id="{431FD5EA-3612-FC9A-AF8B-ACFF6832011C}"/>
                </a:ext>
              </a:extLst>
            </p:cNvPr>
            <p:cNvSpPr/>
            <p:nvPr/>
          </p:nvSpPr>
          <p:spPr>
            <a:xfrm>
              <a:off x="2718361" y="4061439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Pessoa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808;p67">
              <a:extLst>
                <a:ext uri="{FF2B5EF4-FFF2-40B4-BE49-F238E27FC236}">
                  <a16:creationId xmlns:a16="http://schemas.microsoft.com/office/drawing/2014/main" id="{1776B684-ED92-8338-1446-8908359379FB}"/>
                </a:ext>
              </a:extLst>
            </p:cNvPr>
            <p:cNvSpPr/>
            <p:nvPr/>
          </p:nvSpPr>
          <p:spPr>
            <a:xfrm>
              <a:off x="2840756" y="4859677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bg1"/>
                  </a:solidFill>
                  <a:latin typeface="Play"/>
                  <a:ea typeface="Play"/>
                  <a:cs typeface="Play"/>
                  <a:sym typeface="Play"/>
                </a:rPr>
                <a:t>Nome</a:t>
              </a:r>
              <a:endParaRPr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6" name="Google Shape;809;p67">
              <a:extLst>
                <a:ext uri="{FF2B5EF4-FFF2-40B4-BE49-F238E27FC236}">
                  <a16:creationId xmlns:a16="http://schemas.microsoft.com/office/drawing/2014/main" id="{FBA7964E-70FB-B6BB-64F9-13E918FBD2E5}"/>
                </a:ext>
              </a:extLst>
            </p:cNvPr>
            <p:cNvCxnSpPr>
              <a:stCxn id="5" idx="0"/>
              <a:endCxn id="4" idx="2"/>
            </p:cNvCxnSpPr>
            <p:nvPr/>
          </p:nvCxnSpPr>
          <p:spPr>
            <a:xfrm rot="10800000">
              <a:off x="3849506" y="4741477"/>
              <a:ext cx="0" cy="118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811;p67">
              <a:extLst>
                <a:ext uri="{FF2B5EF4-FFF2-40B4-BE49-F238E27FC236}">
                  <a16:creationId xmlns:a16="http://schemas.microsoft.com/office/drawing/2014/main" id="{03CD548A-DDB9-F266-68EF-EFFD28298E6F}"/>
                </a:ext>
              </a:extLst>
            </p:cNvPr>
            <p:cNvSpPr/>
            <p:nvPr/>
          </p:nvSpPr>
          <p:spPr>
            <a:xfrm>
              <a:off x="2840756" y="5285814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bg1"/>
                  </a:solidFill>
                  <a:latin typeface="Play"/>
                  <a:ea typeface="Play"/>
                  <a:cs typeface="Play"/>
                  <a:sym typeface="Play"/>
                </a:rPr>
                <a:t>CPF</a:t>
              </a:r>
              <a:endParaRPr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" name="Google Shape;812;p67">
              <a:extLst>
                <a:ext uri="{FF2B5EF4-FFF2-40B4-BE49-F238E27FC236}">
                  <a16:creationId xmlns:a16="http://schemas.microsoft.com/office/drawing/2014/main" id="{AE0BC5C8-9FD8-13D0-0FC8-34E6AE8017D8}"/>
                </a:ext>
              </a:extLst>
            </p:cNvPr>
            <p:cNvSpPr/>
            <p:nvPr/>
          </p:nvSpPr>
          <p:spPr>
            <a:xfrm>
              <a:off x="2840756" y="5708377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solidFill>
                    <a:schemeClr val="bg1"/>
                  </a:solidFill>
                  <a:latin typeface="Play"/>
                  <a:ea typeface="Play"/>
                  <a:cs typeface="Play"/>
                  <a:sym typeface="Play"/>
                </a:rPr>
                <a:t>Nro Serviço Médico</a:t>
              </a:r>
              <a:endParaRPr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9" name="Google Shape;813;p67">
              <a:extLst>
                <a:ext uri="{FF2B5EF4-FFF2-40B4-BE49-F238E27FC236}">
                  <a16:creationId xmlns:a16="http://schemas.microsoft.com/office/drawing/2014/main" id="{93555FAC-7E26-9426-A517-FD49C992C130}"/>
                </a:ext>
              </a:extLst>
            </p:cNvPr>
            <p:cNvGrpSpPr/>
            <p:nvPr/>
          </p:nvGrpSpPr>
          <p:grpSpPr>
            <a:xfrm>
              <a:off x="2840756" y="6163639"/>
              <a:ext cx="2017500" cy="516300"/>
              <a:chOff x="5749350" y="2658875"/>
              <a:chExt cx="2017500" cy="516300"/>
            </a:xfrm>
          </p:grpSpPr>
          <p:sp>
            <p:nvSpPr>
              <p:cNvPr id="10" name="Google Shape;814;p67">
                <a:extLst>
                  <a:ext uri="{FF2B5EF4-FFF2-40B4-BE49-F238E27FC236}">
                    <a16:creationId xmlns:a16="http://schemas.microsoft.com/office/drawing/2014/main" id="{77940B47-0182-4C9A-7568-74B35BC7122F}"/>
                  </a:ext>
                </a:extLst>
              </p:cNvPr>
              <p:cNvSpPr/>
              <p:nvPr/>
            </p:nvSpPr>
            <p:spPr>
              <a:xfrm>
                <a:off x="5749350" y="2658875"/>
                <a:ext cx="2017500" cy="516300"/>
              </a:xfrm>
              <a:prstGeom prst="ellipse">
                <a:avLst/>
              </a:prstGeom>
              <a:solidFill>
                <a:srgbClr val="674EA7"/>
              </a:solidFill>
              <a:ln w="19050" cap="flat" cmpd="sng">
                <a:solidFill>
                  <a:srgbClr val="B4A7D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3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11" name="Google Shape;815;p67">
                <a:extLst>
                  <a:ext uri="{FF2B5EF4-FFF2-40B4-BE49-F238E27FC236}">
                    <a16:creationId xmlns:a16="http://schemas.microsoft.com/office/drawing/2014/main" id="{BE656625-817C-FCB9-A3FE-C86EEAE14625}"/>
                  </a:ext>
                </a:extLst>
              </p:cNvPr>
              <p:cNvSpPr/>
              <p:nvPr/>
            </p:nvSpPr>
            <p:spPr>
              <a:xfrm>
                <a:off x="5801550" y="2695475"/>
                <a:ext cx="1913100" cy="443100"/>
              </a:xfrm>
              <a:prstGeom prst="ellipse">
                <a:avLst/>
              </a:prstGeom>
              <a:solidFill>
                <a:srgbClr val="674EA7"/>
              </a:solidFill>
              <a:ln w="19050" cap="flat" cmpd="sng">
                <a:solidFill>
                  <a:srgbClr val="B4A7D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300">
                    <a:solidFill>
                      <a:schemeClr val="bg1"/>
                    </a:solidFill>
                    <a:latin typeface="Play"/>
                    <a:ea typeface="Play"/>
                    <a:cs typeface="Play"/>
                    <a:sym typeface="Play"/>
                  </a:rPr>
                  <a:t>Alergia</a:t>
                </a:r>
                <a:endParaRPr sz="2300">
                  <a:solidFill>
                    <a:schemeClr val="bg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</p:grp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19F7870A-93C4-8912-35B5-AC03EF0F5FBF}"/>
              </a:ext>
            </a:extLst>
          </p:cNvPr>
          <p:cNvSpPr txBox="1">
            <a:spLocks/>
          </p:cNvSpPr>
          <p:nvPr/>
        </p:nvSpPr>
        <p:spPr>
          <a:xfrm>
            <a:off x="7052545" y="5118366"/>
            <a:ext cx="4301255" cy="64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Alergia </a:t>
            </a:r>
            <a:r>
              <a:rPr lang="pt-BR" dirty="0">
                <a:sym typeface="Wingdings" panose="05000000000000000000" pitchFamily="2" charset="2"/>
              </a:rPr>
              <a:t> multivalorado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268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57FC0-E93A-A3F3-3BE4-C0C824BB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Origem dos 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FE7DF7-A1AE-7919-1436-BD85408FB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Armazenado</a:t>
            </a:r>
          </a:p>
          <a:p>
            <a:pPr lvl="1"/>
            <a:r>
              <a:rPr lang="pt-BR" dirty="0"/>
              <a:t>Valor é armazenado diretamente no banco de dados</a:t>
            </a:r>
          </a:p>
          <a:p>
            <a:pPr>
              <a:spcBef>
                <a:spcPts val="2400"/>
              </a:spcBef>
            </a:pPr>
            <a:r>
              <a:rPr lang="pt-BR" dirty="0"/>
              <a:t>Derivado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Valor pode ser obtido a partir de:</a:t>
            </a:r>
          </a:p>
          <a:p>
            <a:pPr lvl="2"/>
            <a:r>
              <a:rPr lang="pt-BR" dirty="0"/>
              <a:t>Valores de outros atributos ou entidades</a:t>
            </a:r>
          </a:p>
          <a:p>
            <a:pPr lvl="2"/>
            <a:r>
              <a:rPr lang="pt-BR" dirty="0"/>
              <a:t>Informação obtida a partir de seus relacionamentos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Notação: atributo envolvido com linhas tracejada</a:t>
            </a:r>
          </a:p>
        </p:txBody>
      </p:sp>
    </p:spTree>
    <p:extLst>
      <p:ext uri="{BB962C8B-B14F-4D97-AF65-F5344CB8AC3E}">
        <p14:creationId xmlns:p14="http://schemas.microsoft.com/office/powerpoint/2010/main" val="1051023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73323-8D0F-C145-B6CF-0AD2B1A1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Origem dos 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8C854-2D0F-C7A8-02D4-A46A26BBC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66" y="1825625"/>
            <a:ext cx="3903133" cy="4351338"/>
          </a:xfrm>
        </p:spPr>
        <p:txBody>
          <a:bodyPr/>
          <a:lstStyle/>
          <a:p>
            <a:r>
              <a:rPr lang="pt-BR" dirty="0"/>
              <a:t>Idade </a:t>
            </a:r>
            <a:r>
              <a:rPr lang="pt-BR" dirty="0">
                <a:sym typeface="Wingdings" panose="05000000000000000000" pitchFamily="2" charset="2"/>
              </a:rPr>
              <a:t> derivado da própria entidade</a:t>
            </a:r>
            <a:endParaRPr lang="pt-BR" dirty="0"/>
          </a:p>
        </p:txBody>
      </p:sp>
      <p:sp>
        <p:nvSpPr>
          <p:cNvPr id="4" name="Google Shape;829;p69">
            <a:extLst>
              <a:ext uri="{FF2B5EF4-FFF2-40B4-BE49-F238E27FC236}">
                <a16:creationId xmlns:a16="http://schemas.microsoft.com/office/drawing/2014/main" id="{DA565599-0A1C-9DEC-B17B-F8DD7E776120}"/>
              </a:ext>
            </a:extLst>
          </p:cNvPr>
          <p:cNvSpPr/>
          <p:nvPr/>
        </p:nvSpPr>
        <p:spPr>
          <a:xfrm>
            <a:off x="838200" y="209814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30;p69">
            <a:extLst>
              <a:ext uri="{FF2B5EF4-FFF2-40B4-BE49-F238E27FC236}">
                <a16:creationId xmlns:a16="http://schemas.microsoft.com/office/drawing/2014/main" id="{A76E9B85-065C-FB37-B39A-0661F3DE95D7}"/>
              </a:ext>
            </a:extLst>
          </p:cNvPr>
          <p:cNvSpPr/>
          <p:nvPr/>
        </p:nvSpPr>
        <p:spPr>
          <a:xfrm>
            <a:off x="960595" y="28963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" name="Google Shape;831;p69">
            <a:extLst>
              <a:ext uri="{FF2B5EF4-FFF2-40B4-BE49-F238E27FC236}">
                <a16:creationId xmlns:a16="http://schemas.microsoft.com/office/drawing/2014/main" id="{FDE5F578-9CFB-4373-EF89-947A8F171DC6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10800000">
            <a:off x="1969345" y="2778178"/>
            <a:ext cx="0" cy="118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7" name="Google Shape;833;p69">
            <a:extLst>
              <a:ext uri="{FF2B5EF4-FFF2-40B4-BE49-F238E27FC236}">
                <a16:creationId xmlns:a16="http://schemas.microsoft.com/office/drawing/2014/main" id="{DEF5B106-EDD2-6E98-E7BF-E8F537835CEE}"/>
              </a:ext>
            </a:extLst>
          </p:cNvPr>
          <p:cNvSpPr/>
          <p:nvPr/>
        </p:nvSpPr>
        <p:spPr>
          <a:xfrm>
            <a:off x="960595" y="332251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CPF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834;p69">
            <a:extLst>
              <a:ext uri="{FF2B5EF4-FFF2-40B4-BE49-F238E27FC236}">
                <a16:creationId xmlns:a16="http://schemas.microsoft.com/office/drawing/2014/main" id="{9DC9AAD7-738F-79E8-FA79-B81DA82DFF75}"/>
              </a:ext>
            </a:extLst>
          </p:cNvPr>
          <p:cNvSpPr/>
          <p:nvPr/>
        </p:nvSpPr>
        <p:spPr>
          <a:xfrm>
            <a:off x="960595" y="37450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Data Nascimento</a:t>
            </a:r>
            <a:endParaRPr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835;p69">
            <a:extLst>
              <a:ext uri="{FF2B5EF4-FFF2-40B4-BE49-F238E27FC236}">
                <a16:creationId xmlns:a16="http://schemas.microsoft.com/office/drawing/2014/main" id="{4B40BB17-9A33-A639-25E6-8383566DA694}"/>
              </a:ext>
            </a:extLst>
          </p:cNvPr>
          <p:cNvSpPr/>
          <p:nvPr/>
        </p:nvSpPr>
        <p:spPr>
          <a:xfrm>
            <a:off x="4501711" y="209814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836;p69">
            <a:extLst>
              <a:ext uri="{FF2B5EF4-FFF2-40B4-BE49-F238E27FC236}">
                <a16:creationId xmlns:a16="http://schemas.microsoft.com/office/drawing/2014/main" id="{5B846289-FAA9-4207-A310-0A8F09FBF764}"/>
              </a:ext>
            </a:extLst>
          </p:cNvPr>
          <p:cNvSpPr/>
          <p:nvPr/>
        </p:nvSpPr>
        <p:spPr>
          <a:xfrm>
            <a:off x="4624106" y="28963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837;p69">
            <a:extLst>
              <a:ext uri="{FF2B5EF4-FFF2-40B4-BE49-F238E27FC236}">
                <a16:creationId xmlns:a16="http://schemas.microsoft.com/office/drawing/2014/main" id="{A5EB066C-CDF2-8E12-5F58-09C5658566FD}"/>
              </a:ext>
            </a:extLst>
          </p:cNvPr>
          <p:cNvSpPr/>
          <p:nvPr/>
        </p:nvSpPr>
        <p:spPr>
          <a:xfrm>
            <a:off x="4624106" y="332251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CPF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838;p69">
            <a:extLst>
              <a:ext uri="{FF2B5EF4-FFF2-40B4-BE49-F238E27FC236}">
                <a16:creationId xmlns:a16="http://schemas.microsoft.com/office/drawing/2014/main" id="{4F7A5675-FE7F-7182-321E-C9EA91AEC076}"/>
              </a:ext>
            </a:extLst>
          </p:cNvPr>
          <p:cNvSpPr/>
          <p:nvPr/>
        </p:nvSpPr>
        <p:spPr>
          <a:xfrm>
            <a:off x="4624106" y="37450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Data Nascimento</a:t>
            </a:r>
            <a:endParaRPr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839;p69">
            <a:extLst>
              <a:ext uri="{FF2B5EF4-FFF2-40B4-BE49-F238E27FC236}">
                <a16:creationId xmlns:a16="http://schemas.microsoft.com/office/drawing/2014/main" id="{CF18291C-5F9A-C4B4-4E85-2A789980FC4F}"/>
              </a:ext>
            </a:extLst>
          </p:cNvPr>
          <p:cNvSpPr/>
          <p:nvPr/>
        </p:nvSpPr>
        <p:spPr>
          <a:xfrm>
            <a:off x="4624106" y="4198403"/>
            <a:ext cx="2017500" cy="516300"/>
          </a:xfrm>
          <a:prstGeom prst="ellipse">
            <a:avLst/>
          </a:prstGeom>
          <a:solidFill>
            <a:srgbClr val="674EA7"/>
          </a:solidFill>
          <a:ln w="381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Idade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660393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AB4E8-DC33-D0C8-8154-3D05410B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Origem dos 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134393-A8DA-1B72-567B-FA59D13E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0491" y="1825625"/>
            <a:ext cx="3341509" cy="4351338"/>
          </a:xfrm>
        </p:spPr>
        <p:txBody>
          <a:bodyPr/>
          <a:lstStyle/>
          <a:p>
            <a:r>
              <a:rPr lang="pt-BR" dirty="0" err="1"/>
              <a:t>Nro</a:t>
            </a:r>
            <a:r>
              <a:rPr lang="pt-BR" dirty="0"/>
              <a:t> disciplinas </a:t>
            </a:r>
            <a:r>
              <a:rPr lang="pt-BR" dirty="0">
                <a:sym typeface="Wingdings" panose="05000000000000000000" pitchFamily="2" charset="2"/>
              </a:rPr>
              <a:t> derivado de relacionamento</a:t>
            </a:r>
            <a:endParaRPr lang="pt-BR" dirty="0"/>
          </a:p>
        </p:txBody>
      </p:sp>
      <p:sp>
        <p:nvSpPr>
          <p:cNvPr id="4" name="Google Shape;846;p70">
            <a:extLst>
              <a:ext uri="{FF2B5EF4-FFF2-40B4-BE49-F238E27FC236}">
                <a16:creationId xmlns:a16="http://schemas.microsoft.com/office/drawing/2014/main" id="{A50E72F7-28A7-558D-A011-7A991BD64E6A}"/>
              </a:ext>
            </a:extLst>
          </p:cNvPr>
          <p:cNvSpPr/>
          <p:nvPr/>
        </p:nvSpPr>
        <p:spPr>
          <a:xfrm>
            <a:off x="356492" y="2405628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47;p70">
            <a:extLst>
              <a:ext uri="{FF2B5EF4-FFF2-40B4-BE49-F238E27FC236}">
                <a16:creationId xmlns:a16="http://schemas.microsoft.com/office/drawing/2014/main" id="{C7C01EB9-E7F6-3F33-9E6F-2D627FFD9C85}"/>
              </a:ext>
            </a:extLst>
          </p:cNvPr>
          <p:cNvSpPr/>
          <p:nvPr/>
        </p:nvSpPr>
        <p:spPr>
          <a:xfrm>
            <a:off x="6463647" y="2405628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848;p70">
            <a:extLst>
              <a:ext uri="{FF2B5EF4-FFF2-40B4-BE49-F238E27FC236}">
                <a16:creationId xmlns:a16="http://schemas.microsoft.com/office/drawing/2014/main" id="{DA2A1FA3-F8B2-10C7-452C-F83856835236}"/>
              </a:ext>
            </a:extLst>
          </p:cNvPr>
          <p:cNvSpPr/>
          <p:nvPr/>
        </p:nvSpPr>
        <p:spPr>
          <a:xfrm>
            <a:off x="3412737" y="2204028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849;p70">
            <a:extLst>
              <a:ext uri="{FF2B5EF4-FFF2-40B4-BE49-F238E27FC236}">
                <a16:creationId xmlns:a16="http://schemas.microsoft.com/office/drawing/2014/main" id="{4C845907-DBAF-132F-3CED-4A76344CFCD8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2618937" y="2745678"/>
            <a:ext cx="793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850;p70">
            <a:extLst>
              <a:ext uri="{FF2B5EF4-FFF2-40B4-BE49-F238E27FC236}">
                <a16:creationId xmlns:a16="http://schemas.microsoft.com/office/drawing/2014/main" id="{0E8288AA-F0A8-D854-5C23-34A0AE396F2B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5906547" y="2745678"/>
            <a:ext cx="557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851;p70">
            <a:extLst>
              <a:ext uri="{FF2B5EF4-FFF2-40B4-BE49-F238E27FC236}">
                <a16:creationId xmlns:a16="http://schemas.microsoft.com/office/drawing/2014/main" id="{E5E5B1F1-5ABF-97C6-114D-B8D00C185195}"/>
              </a:ext>
            </a:extLst>
          </p:cNvPr>
          <p:cNvSpPr txBox="1"/>
          <p:nvPr/>
        </p:nvSpPr>
        <p:spPr>
          <a:xfrm>
            <a:off x="2373537" y="2279778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852;p70">
            <a:extLst>
              <a:ext uri="{FF2B5EF4-FFF2-40B4-BE49-F238E27FC236}">
                <a16:creationId xmlns:a16="http://schemas.microsoft.com/office/drawing/2014/main" id="{327E2956-289D-A633-3128-E0863686A88C}"/>
              </a:ext>
            </a:extLst>
          </p:cNvPr>
          <p:cNvSpPr txBox="1"/>
          <p:nvPr/>
        </p:nvSpPr>
        <p:spPr>
          <a:xfrm>
            <a:off x="5337737" y="2279778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853;p70">
            <a:extLst>
              <a:ext uri="{FF2B5EF4-FFF2-40B4-BE49-F238E27FC236}">
                <a16:creationId xmlns:a16="http://schemas.microsoft.com/office/drawing/2014/main" id="{F209ADBB-A363-5A7F-8C1A-2368F171C3E9}"/>
              </a:ext>
            </a:extLst>
          </p:cNvPr>
          <p:cNvSpPr/>
          <p:nvPr/>
        </p:nvSpPr>
        <p:spPr>
          <a:xfrm>
            <a:off x="478887" y="331484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854;p70">
            <a:extLst>
              <a:ext uri="{FF2B5EF4-FFF2-40B4-BE49-F238E27FC236}">
                <a16:creationId xmlns:a16="http://schemas.microsoft.com/office/drawing/2014/main" id="{0F70E8C3-3BD8-0FA6-2626-5859B56A49D8}"/>
              </a:ext>
            </a:extLst>
          </p:cNvPr>
          <p:cNvSpPr/>
          <p:nvPr/>
        </p:nvSpPr>
        <p:spPr>
          <a:xfrm>
            <a:off x="478887" y="37201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" name="Google Shape;855;p70">
            <a:extLst>
              <a:ext uri="{FF2B5EF4-FFF2-40B4-BE49-F238E27FC236}">
                <a16:creationId xmlns:a16="http://schemas.microsoft.com/office/drawing/2014/main" id="{E4C4FE9D-11CC-AFFC-4F76-5B402721F4B6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rot="10800000">
            <a:off x="1487637" y="3085640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856;p70">
            <a:extLst>
              <a:ext uri="{FF2B5EF4-FFF2-40B4-BE49-F238E27FC236}">
                <a16:creationId xmlns:a16="http://schemas.microsoft.com/office/drawing/2014/main" id="{544F88CF-07D5-958E-6813-AB074E9B892E}"/>
              </a:ext>
            </a:extLst>
          </p:cNvPr>
          <p:cNvSpPr/>
          <p:nvPr/>
        </p:nvSpPr>
        <p:spPr>
          <a:xfrm>
            <a:off x="6586037" y="331484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857;p70">
            <a:extLst>
              <a:ext uri="{FF2B5EF4-FFF2-40B4-BE49-F238E27FC236}">
                <a16:creationId xmlns:a16="http://schemas.microsoft.com/office/drawing/2014/main" id="{CAFA6055-9634-67E9-0EBA-D54F5E0EECA8}"/>
              </a:ext>
            </a:extLst>
          </p:cNvPr>
          <p:cNvSpPr/>
          <p:nvPr/>
        </p:nvSpPr>
        <p:spPr>
          <a:xfrm>
            <a:off x="6586037" y="372017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858;p70">
            <a:extLst>
              <a:ext uri="{FF2B5EF4-FFF2-40B4-BE49-F238E27FC236}">
                <a16:creationId xmlns:a16="http://schemas.microsoft.com/office/drawing/2014/main" id="{BEC9CCB2-245E-6A11-CADD-3A5C034513DC}"/>
              </a:ext>
            </a:extLst>
          </p:cNvPr>
          <p:cNvSpPr/>
          <p:nvPr/>
        </p:nvSpPr>
        <p:spPr>
          <a:xfrm>
            <a:off x="6586037" y="413380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Nro. Créditos</a:t>
            </a:r>
            <a:endParaRPr sz="16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859;p70">
            <a:extLst>
              <a:ext uri="{FF2B5EF4-FFF2-40B4-BE49-F238E27FC236}">
                <a16:creationId xmlns:a16="http://schemas.microsoft.com/office/drawing/2014/main" id="{0B23DA83-99C1-5184-3BAC-3530F0613205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rot="10800000">
            <a:off x="7594787" y="3085640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860;p70">
            <a:extLst>
              <a:ext uri="{FF2B5EF4-FFF2-40B4-BE49-F238E27FC236}">
                <a16:creationId xmlns:a16="http://schemas.microsoft.com/office/drawing/2014/main" id="{C2F68C1F-9E9D-E043-A02C-F75B3C627822}"/>
              </a:ext>
            </a:extLst>
          </p:cNvPr>
          <p:cNvSpPr/>
          <p:nvPr/>
        </p:nvSpPr>
        <p:spPr>
          <a:xfrm>
            <a:off x="478887" y="4133803"/>
            <a:ext cx="2017500" cy="516300"/>
          </a:xfrm>
          <a:prstGeom prst="ellipse">
            <a:avLst/>
          </a:prstGeom>
          <a:solidFill>
            <a:srgbClr val="674EA7"/>
          </a:solidFill>
          <a:ln w="381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1600">
                <a:solidFill>
                  <a:schemeClr val="bg1"/>
                </a:solidFill>
                <a:latin typeface="Play"/>
                <a:sym typeface="Play"/>
              </a:rPr>
              <a:t>Nro. Disciplinas</a:t>
            </a:r>
            <a:endParaRPr sz="1600">
              <a:solidFill>
                <a:schemeClr val="bg1"/>
              </a:solidFill>
              <a:latin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580953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159AF-4C8A-6BA9-7220-F6271BB8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Valores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9D585C-6E1C-69DF-48C1-405B4CEC1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certos casos, a Entidade não tem um valor específico para um atributo</a:t>
            </a:r>
          </a:p>
          <a:p>
            <a:pPr lvl="1"/>
            <a:r>
              <a:rPr lang="pt-BR" dirty="0"/>
              <a:t>Ex.: Complemento do endereço</a:t>
            </a:r>
          </a:p>
          <a:p>
            <a:pPr>
              <a:spcBef>
                <a:spcPts val="2400"/>
              </a:spcBef>
            </a:pPr>
            <a:r>
              <a:rPr lang="pt-BR" dirty="0"/>
              <a:t>Valor especial (NULL)</a:t>
            </a:r>
          </a:p>
          <a:p>
            <a:pPr>
              <a:spcBef>
                <a:spcPts val="2400"/>
              </a:spcBef>
            </a:pPr>
            <a:r>
              <a:rPr lang="pt-BR" dirty="0"/>
              <a:t>Casos de aplicação </a:t>
            </a:r>
          </a:p>
          <a:p>
            <a:pPr lvl="1"/>
            <a:r>
              <a:rPr lang="pt-BR" dirty="0"/>
              <a:t>Não aplicável: Complemento</a:t>
            </a:r>
          </a:p>
          <a:p>
            <a:pPr lvl="1"/>
            <a:r>
              <a:rPr lang="pt-BR" dirty="0"/>
              <a:t>Faltante: Altura de uma pessoa</a:t>
            </a:r>
          </a:p>
          <a:p>
            <a:pPr lvl="1"/>
            <a:r>
              <a:rPr lang="pt-BR" dirty="0"/>
              <a:t>Não conhecido: Telefone residencial</a:t>
            </a:r>
          </a:p>
        </p:txBody>
      </p:sp>
    </p:spTree>
    <p:extLst>
      <p:ext uri="{BB962C8B-B14F-4D97-AF65-F5344CB8AC3E}">
        <p14:creationId xmlns:p14="http://schemas.microsoft.com/office/powerpoint/2010/main" val="42514382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07143-10C2-D2C3-612A-AE300F64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 complexos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764F40-47A3-7AF2-D56E-60D6C592B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5616" cy="4351338"/>
          </a:xfrm>
        </p:spPr>
        <p:txBody>
          <a:bodyPr/>
          <a:lstStyle/>
          <a:p>
            <a:r>
              <a:rPr lang="pt-BR" dirty="0"/>
              <a:t>Aninhamento de atributos multivalorados e compostos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pessoa pode ter mais que uma residência e cada residência tem um único endereço e múltiplos telefones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75E19E8-5775-6E97-5C0E-A342BD1B3E02}"/>
              </a:ext>
            </a:extLst>
          </p:cNvPr>
          <p:cNvSpPr txBox="1"/>
          <p:nvPr/>
        </p:nvSpPr>
        <p:spPr>
          <a:xfrm>
            <a:off x="6371900" y="3947733"/>
            <a:ext cx="12681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Telefone da</a:t>
            </a:r>
          </a:p>
          <a:p>
            <a:r>
              <a:rPr lang="pt-BR" dirty="0"/>
              <a:t>Residência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89CD168-251A-EBC8-17A4-8F764C1B5E81}"/>
              </a:ext>
            </a:extLst>
          </p:cNvPr>
          <p:cNvSpPr txBox="1"/>
          <p:nvPr/>
        </p:nvSpPr>
        <p:spPr>
          <a:xfrm>
            <a:off x="8009466" y="3236426"/>
            <a:ext cx="1066189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Telefone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F5CCC6-1793-913E-22D3-743560BB9A29}"/>
              </a:ext>
            </a:extLst>
          </p:cNvPr>
          <p:cNvSpPr txBox="1"/>
          <p:nvPr/>
        </p:nvSpPr>
        <p:spPr>
          <a:xfrm>
            <a:off x="9460089" y="2832465"/>
            <a:ext cx="158588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Código da área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1F747F2-36A0-BE0B-865B-B30EEFCEE433}"/>
              </a:ext>
            </a:extLst>
          </p:cNvPr>
          <p:cNvSpPr txBox="1"/>
          <p:nvPr/>
        </p:nvSpPr>
        <p:spPr>
          <a:xfrm>
            <a:off x="9449428" y="3321297"/>
            <a:ext cx="95359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Número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E800BFE-81BA-DA90-8DCA-2BAE439CD68F}"/>
              </a:ext>
            </a:extLst>
          </p:cNvPr>
          <p:cNvSpPr txBox="1"/>
          <p:nvPr/>
        </p:nvSpPr>
        <p:spPr>
          <a:xfrm>
            <a:off x="8009467" y="4831893"/>
            <a:ext cx="1066189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Endereço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14FD08F-C2A7-C472-7A6C-AABAD0108DB1}"/>
              </a:ext>
            </a:extLst>
          </p:cNvPr>
          <p:cNvSpPr txBox="1"/>
          <p:nvPr/>
        </p:nvSpPr>
        <p:spPr>
          <a:xfrm>
            <a:off x="9740732" y="4166327"/>
            <a:ext cx="54213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Rua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90B3967-03CD-732F-D1FA-CC46386668BF}"/>
              </a:ext>
            </a:extLst>
          </p:cNvPr>
          <p:cNvSpPr txBox="1"/>
          <p:nvPr/>
        </p:nvSpPr>
        <p:spPr>
          <a:xfrm>
            <a:off x="9740732" y="4688553"/>
            <a:ext cx="83067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Cidade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D6F8C75-5579-58A6-181B-3AFF7D820B6A}"/>
              </a:ext>
            </a:extLst>
          </p:cNvPr>
          <p:cNvSpPr txBox="1"/>
          <p:nvPr/>
        </p:nvSpPr>
        <p:spPr>
          <a:xfrm>
            <a:off x="9740732" y="5210779"/>
            <a:ext cx="81246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Estado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BFE2D1F-C850-9AE3-E54F-BC8DE7DA5726}"/>
              </a:ext>
            </a:extLst>
          </p:cNvPr>
          <p:cNvSpPr txBox="1"/>
          <p:nvPr/>
        </p:nvSpPr>
        <p:spPr>
          <a:xfrm>
            <a:off x="9740732" y="5689997"/>
            <a:ext cx="53893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CEP</a:t>
            </a:r>
          </a:p>
        </p:txBody>
      </p: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3119B28E-F96C-0119-F5B6-6034DA4A8A9C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 flipV="1">
            <a:off x="7640004" y="3421092"/>
            <a:ext cx="369462" cy="84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5BFE3779-AD97-689E-286E-232F2CDDA48C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>
            <a:off x="7640004" y="4270899"/>
            <a:ext cx="369463" cy="745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FD682CBF-55F6-3FE1-8867-26C23C785802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9075655" y="3017131"/>
            <a:ext cx="384434" cy="403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497FF603-649D-9D92-C9A0-06F3BEBE6126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9075655" y="3421092"/>
            <a:ext cx="373773" cy="8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CD80E0D4-2949-1FC3-C194-5EB591805C90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 flipV="1">
            <a:off x="9075656" y="4350993"/>
            <a:ext cx="665076" cy="66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7E449882-45FB-94E3-233C-D9D4BD7E6E3C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 flipV="1">
            <a:off x="9075656" y="4873219"/>
            <a:ext cx="665076" cy="143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08A3D206-0C4B-4C8A-C4FE-26ED7BBBBB0F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>
            <a:off x="9075656" y="5016559"/>
            <a:ext cx="665076" cy="378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2839AA94-2A78-129C-1D20-4FB94DA6F70B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9075656" y="5016559"/>
            <a:ext cx="665076" cy="85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EBDA79D-F13D-B35D-E8CB-1511BCFADDDA}"/>
              </a:ext>
            </a:extLst>
          </p:cNvPr>
          <p:cNvSpPr txBox="1"/>
          <p:nvPr/>
        </p:nvSpPr>
        <p:spPr>
          <a:xfrm>
            <a:off x="8093376" y="3293777"/>
            <a:ext cx="910778" cy="276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Telefone</a:t>
            </a:r>
          </a:p>
        </p:txBody>
      </p:sp>
    </p:spTree>
    <p:extLst>
      <p:ext uri="{BB962C8B-B14F-4D97-AF65-F5344CB8AC3E}">
        <p14:creationId xmlns:p14="http://schemas.microsoft.com/office/powerpoint/2010/main" val="3608608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15ED0-9108-C605-B5B2-33C7F144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Unicidade -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123E27-D02B-B872-294F-DFDF94F71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Restrição de unicidade</a:t>
            </a:r>
          </a:p>
          <a:p>
            <a:pPr lvl="1"/>
            <a:r>
              <a:rPr lang="pt-BR" dirty="0"/>
              <a:t>Todo conjunto de entidades (</a:t>
            </a:r>
            <a:r>
              <a:rPr lang="pt-BR" i="1" dirty="0"/>
              <a:t>Entity Set</a:t>
            </a:r>
            <a:r>
              <a:rPr lang="pt-BR" dirty="0"/>
              <a:t>) </a:t>
            </a:r>
            <a:r>
              <a:rPr lang="pt-BR" b="1" dirty="0"/>
              <a:t>deve ter </a:t>
            </a:r>
            <a:r>
              <a:rPr lang="pt-BR" dirty="0"/>
              <a:t>um </a:t>
            </a:r>
            <a:r>
              <a:rPr lang="pt-BR" u="sng" dirty="0"/>
              <a:t>atributo </a:t>
            </a:r>
            <a:r>
              <a:rPr lang="pt-BR" dirty="0"/>
              <a:t>(ou conjunto de atributos) cujo </a:t>
            </a:r>
            <a:r>
              <a:rPr lang="pt-BR" b="1" dirty="0"/>
              <a:t>valor </a:t>
            </a:r>
            <a:r>
              <a:rPr lang="pt-BR" dirty="0"/>
              <a:t>(ou conjunto de valores) identifique univocamente </a:t>
            </a:r>
            <a:r>
              <a:rPr lang="pt-BR" dirty="0">
                <a:sym typeface="Wingdings" panose="05000000000000000000" pitchFamily="2" charset="2"/>
              </a:rPr>
              <a:t> CHAVE</a:t>
            </a:r>
          </a:p>
          <a:p>
            <a:pPr lvl="1"/>
            <a:endParaRPr lang="pt-BR" u="sng" dirty="0">
              <a:sym typeface="Wingdings" panose="05000000000000000000" pitchFamily="2" charset="2"/>
            </a:endParaRPr>
          </a:p>
          <a:p>
            <a:r>
              <a:rPr lang="pt-BR" dirty="0"/>
              <a:t>Principal (não o único) meio de consulta a uma Entidade</a:t>
            </a:r>
          </a:p>
          <a:p>
            <a:pPr lvl="1"/>
            <a:r>
              <a:rPr lang="pt-BR" dirty="0"/>
              <a:t>Outros possíveis atributos identificadores (outras chaves) podem ser anotados separadamente, para efeito de documentação ou para o projeto lógico</a:t>
            </a:r>
          </a:p>
        </p:txBody>
      </p:sp>
    </p:spTree>
    <p:extLst>
      <p:ext uri="{BB962C8B-B14F-4D97-AF65-F5344CB8AC3E}">
        <p14:creationId xmlns:p14="http://schemas.microsoft.com/office/powerpoint/2010/main" val="21088758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DB98-DD66-8DB3-96B7-4C346131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01125-8B27-2BC2-D6D2-0FCC0108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Unicidade -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E632BA-FCC7-56FC-738D-96D032611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Chave simples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Somente 1 atributo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Notação DER: grifar texto do atributo chave</a:t>
            </a:r>
          </a:p>
          <a:p>
            <a:pPr lvl="1"/>
            <a:endParaRPr lang="pt-BR" dirty="0"/>
          </a:p>
        </p:txBody>
      </p:sp>
      <p:sp>
        <p:nvSpPr>
          <p:cNvPr id="4" name="Google Shape;713;p60">
            <a:extLst>
              <a:ext uri="{FF2B5EF4-FFF2-40B4-BE49-F238E27FC236}">
                <a16:creationId xmlns:a16="http://schemas.microsoft.com/office/drawing/2014/main" id="{08D8E8D1-DA85-DB26-72E5-77E52683D8D4}"/>
              </a:ext>
            </a:extLst>
          </p:cNvPr>
          <p:cNvSpPr/>
          <p:nvPr/>
        </p:nvSpPr>
        <p:spPr>
          <a:xfrm>
            <a:off x="8319810" y="2025204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4;p60">
            <a:extLst>
              <a:ext uri="{FF2B5EF4-FFF2-40B4-BE49-F238E27FC236}">
                <a16:creationId xmlns:a16="http://schemas.microsoft.com/office/drawing/2014/main" id="{2A1B4459-E93A-F8DB-A126-D60FB03B6F64}"/>
              </a:ext>
            </a:extLst>
          </p:cNvPr>
          <p:cNvSpPr/>
          <p:nvPr/>
        </p:nvSpPr>
        <p:spPr>
          <a:xfrm>
            <a:off x="8442205" y="293441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715;p60">
            <a:extLst>
              <a:ext uri="{FF2B5EF4-FFF2-40B4-BE49-F238E27FC236}">
                <a16:creationId xmlns:a16="http://schemas.microsoft.com/office/drawing/2014/main" id="{A1AE1743-FE9E-C99F-666F-07BF253C2F23}"/>
              </a:ext>
            </a:extLst>
          </p:cNvPr>
          <p:cNvSpPr/>
          <p:nvPr/>
        </p:nvSpPr>
        <p:spPr>
          <a:xfrm>
            <a:off x="8442205" y="333975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716;p60">
            <a:extLst>
              <a:ext uri="{FF2B5EF4-FFF2-40B4-BE49-F238E27FC236}">
                <a16:creationId xmlns:a16="http://schemas.microsoft.com/office/drawing/2014/main" id="{FA3C1D13-AA2A-1B30-9CAE-5FA6155F4160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10800000">
            <a:off x="9450955" y="2705217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17;p60">
            <a:extLst>
              <a:ext uri="{FF2B5EF4-FFF2-40B4-BE49-F238E27FC236}">
                <a16:creationId xmlns:a16="http://schemas.microsoft.com/office/drawing/2014/main" id="{E614D096-218A-F345-819B-D749F33B13DC}"/>
              </a:ext>
            </a:extLst>
          </p:cNvPr>
          <p:cNvSpPr/>
          <p:nvPr/>
        </p:nvSpPr>
        <p:spPr>
          <a:xfrm>
            <a:off x="8442205" y="3780629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CPF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718;p60">
            <a:extLst>
              <a:ext uri="{FF2B5EF4-FFF2-40B4-BE49-F238E27FC236}">
                <a16:creationId xmlns:a16="http://schemas.microsoft.com/office/drawing/2014/main" id="{70B20497-72A6-FE5F-AE92-48D477C52420}"/>
              </a:ext>
            </a:extLst>
          </p:cNvPr>
          <p:cNvSpPr/>
          <p:nvPr/>
        </p:nvSpPr>
        <p:spPr>
          <a:xfrm>
            <a:off x="7389803" y="4626829"/>
            <a:ext cx="319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Anotação Complementar:</a:t>
            </a:r>
            <a:b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CPF também é identificador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0899733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9986-7F6D-EE65-52F6-D9CBA3CA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ABF5F-251E-791B-1018-51136867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Unicidade -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B1DC1B-58C9-EAD2-4982-AB036972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Chave composta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Entidade precisa de um conjunto de atributos para identificação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COMBINAÇÃO dos valores de todos esses atributos define a chave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Valores dos atributos são armazenados separadamente</a:t>
            </a:r>
          </a:p>
        </p:txBody>
      </p:sp>
    </p:spTree>
    <p:extLst>
      <p:ext uri="{BB962C8B-B14F-4D97-AF65-F5344CB8AC3E}">
        <p14:creationId xmlns:p14="http://schemas.microsoft.com/office/powerpoint/2010/main" val="742802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329C-6379-805C-773A-DCE3B395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86958-D3A2-A205-AAE8-9B6F13E7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Unicidade -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C8411B-1328-A9B9-319B-12052FE78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8733" cy="4351338"/>
          </a:xfrm>
        </p:spPr>
        <p:txBody>
          <a:bodyPr/>
          <a:lstStyle/>
          <a:p>
            <a:r>
              <a:rPr lang="pt-BR" dirty="0"/>
              <a:t>Chave composta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Notação DER: todos os atributos da chave grifados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MER permite somente 1 chave (simples ou composta) por Entidade</a:t>
            </a:r>
          </a:p>
        </p:txBody>
      </p:sp>
      <p:sp>
        <p:nvSpPr>
          <p:cNvPr id="4" name="Google Shape;733;p62">
            <a:extLst>
              <a:ext uri="{FF2B5EF4-FFF2-40B4-BE49-F238E27FC236}">
                <a16:creationId xmlns:a16="http://schemas.microsoft.com/office/drawing/2014/main" id="{3B286AF6-AEE0-C812-0C1B-077C1C3FE064}"/>
              </a:ext>
            </a:extLst>
          </p:cNvPr>
          <p:cNvSpPr/>
          <p:nvPr/>
        </p:nvSpPr>
        <p:spPr>
          <a:xfrm>
            <a:off x="7877384" y="182562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Sala de Aula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34;p62">
            <a:extLst>
              <a:ext uri="{FF2B5EF4-FFF2-40B4-BE49-F238E27FC236}">
                <a16:creationId xmlns:a16="http://schemas.microsoft.com/office/drawing/2014/main" id="{237D4793-4C51-03A0-9FB2-DE79AD1F62CC}"/>
              </a:ext>
            </a:extLst>
          </p:cNvPr>
          <p:cNvSpPr/>
          <p:nvPr/>
        </p:nvSpPr>
        <p:spPr>
          <a:xfrm>
            <a:off x="7999779" y="262386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Campus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735;p62">
            <a:extLst>
              <a:ext uri="{FF2B5EF4-FFF2-40B4-BE49-F238E27FC236}">
                <a16:creationId xmlns:a16="http://schemas.microsoft.com/office/drawing/2014/main" id="{2CE5D586-ED10-E90E-D26A-044829747580}"/>
              </a:ext>
            </a:extLst>
          </p:cNvPr>
          <p:cNvSpPr/>
          <p:nvPr/>
        </p:nvSpPr>
        <p:spPr>
          <a:xfrm>
            <a:off x="7999779" y="308468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Bloco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736;p62">
            <a:extLst>
              <a:ext uri="{FF2B5EF4-FFF2-40B4-BE49-F238E27FC236}">
                <a16:creationId xmlns:a16="http://schemas.microsoft.com/office/drawing/2014/main" id="{CA162B7B-A924-6FE4-CD2C-80681E6369C7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10800000">
            <a:off x="9008529" y="2505663"/>
            <a:ext cx="0" cy="118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7;p62">
            <a:extLst>
              <a:ext uri="{FF2B5EF4-FFF2-40B4-BE49-F238E27FC236}">
                <a16:creationId xmlns:a16="http://schemas.microsoft.com/office/drawing/2014/main" id="{405C499A-E0D7-5D92-9713-F03EB7701C71}"/>
              </a:ext>
            </a:extLst>
          </p:cNvPr>
          <p:cNvSpPr/>
          <p:nvPr/>
        </p:nvSpPr>
        <p:spPr>
          <a:xfrm>
            <a:off x="7999779" y="354550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738;p62">
            <a:extLst>
              <a:ext uri="{FF2B5EF4-FFF2-40B4-BE49-F238E27FC236}">
                <a16:creationId xmlns:a16="http://schemas.microsoft.com/office/drawing/2014/main" id="{E73D0038-1507-781B-61AE-D59080E2D6BE}"/>
              </a:ext>
            </a:extLst>
          </p:cNvPr>
          <p:cNvSpPr/>
          <p:nvPr/>
        </p:nvSpPr>
        <p:spPr>
          <a:xfrm>
            <a:off x="7999779" y="399882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Capacidade</a:t>
            </a:r>
            <a:endParaRPr sz="18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5264082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27A18-C145-A315-9433-AFEE4E2E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DDCFB0-C8CB-EB24-E7BF-2B510DF3C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F5485C-0303-A78F-AB2B-419F2E0A9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8" y="0"/>
            <a:ext cx="12141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849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FAC87-C86D-C867-DFA0-8F562B03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877;p72">
            <a:extLst>
              <a:ext uri="{FF2B5EF4-FFF2-40B4-BE49-F238E27FC236}">
                <a16:creationId xmlns:a16="http://schemas.microsoft.com/office/drawing/2014/main" id="{392E9368-600B-F85E-F7AF-3D950662C93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93989" y="-3338"/>
            <a:ext cx="9604022" cy="686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57DA03E-06B9-8947-6DCB-EFF581DE43B4}"/>
              </a:ext>
            </a:extLst>
          </p:cNvPr>
          <p:cNvSpPr/>
          <p:nvPr/>
        </p:nvSpPr>
        <p:spPr>
          <a:xfrm>
            <a:off x="8988778" y="1240984"/>
            <a:ext cx="1728611" cy="15804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Solução parcial</a:t>
            </a:r>
          </a:p>
        </p:txBody>
      </p:sp>
    </p:spTree>
    <p:extLst>
      <p:ext uri="{BB962C8B-B14F-4D97-AF65-F5344CB8AC3E}">
        <p14:creationId xmlns:p14="http://schemas.microsoft.com/office/powerpoint/2010/main" val="3435454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8844-B216-30F3-F79F-F2786CE0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389AF-6AFC-668B-C888-1CB1864C1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b="1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82B3CA-112F-5B80-13A5-CC22F4BF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0C29CDB-1293-3676-DC5D-EE58103DB4A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5193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0E899-11F3-B69A-F519-215996D6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5C218-ECCF-AD25-E21B-F04B9D260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b="1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9A65C2-BDA5-2C87-D05E-27A8DC01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94783D9-2D49-F31B-B947-6B624A68388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81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A10B6-CF46-04ED-D3CC-87844BF1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6BBEA-1530-BA9D-393B-4BA3CB06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 sentido guardar as disciplinas de um curso que não existe mais?</a:t>
            </a:r>
          </a:p>
          <a:p>
            <a:r>
              <a:rPr lang="pt-BR" dirty="0"/>
              <a:t>Uma disciplina pode existir sem estar associada a um curso?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C18239A-5680-2BD1-C0B2-C94FA9EFB646}"/>
              </a:ext>
            </a:extLst>
          </p:cNvPr>
          <p:cNvGrpSpPr/>
          <p:nvPr/>
        </p:nvGrpSpPr>
        <p:grpSpPr>
          <a:xfrm>
            <a:off x="1911273" y="3622622"/>
            <a:ext cx="8369455" cy="1599600"/>
            <a:chOff x="1741939" y="3622622"/>
            <a:chExt cx="8369455" cy="1599600"/>
          </a:xfrm>
        </p:grpSpPr>
        <p:sp>
          <p:nvSpPr>
            <p:cNvPr id="4" name="Google Shape;884;p73">
              <a:extLst>
                <a:ext uri="{FF2B5EF4-FFF2-40B4-BE49-F238E27FC236}">
                  <a16:creationId xmlns:a16="http://schemas.microsoft.com/office/drawing/2014/main" id="{DA8D56E5-1546-C878-2132-2D23AB05647C}"/>
                </a:ext>
              </a:extLst>
            </p:cNvPr>
            <p:cNvSpPr/>
            <p:nvPr/>
          </p:nvSpPr>
          <p:spPr>
            <a:xfrm>
              <a:off x="1741939" y="3824222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dirty="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Curso</a:t>
              </a:r>
              <a:endParaRPr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885;p73">
              <a:extLst>
                <a:ext uri="{FF2B5EF4-FFF2-40B4-BE49-F238E27FC236}">
                  <a16:creationId xmlns:a16="http://schemas.microsoft.com/office/drawing/2014/main" id="{DD6F5F1F-4F9B-FC8D-D4C8-EB8D50D59803}"/>
                </a:ext>
              </a:extLst>
            </p:cNvPr>
            <p:cNvSpPr/>
            <p:nvPr/>
          </p:nvSpPr>
          <p:spPr>
            <a:xfrm>
              <a:off x="7849094" y="3824222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886;p73">
              <a:extLst>
                <a:ext uri="{FF2B5EF4-FFF2-40B4-BE49-F238E27FC236}">
                  <a16:creationId xmlns:a16="http://schemas.microsoft.com/office/drawing/2014/main" id="{AC3A9468-EC89-F332-4AD5-A25098B4BAA7}"/>
                </a:ext>
              </a:extLst>
            </p:cNvPr>
            <p:cNvSpPr/>
            <p:nvPr/>
          </p:nvSpPr>
          <p:spPr>
            <a:xfrm>
              <a:off x="4679709" y="3622622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887;p73">
              <a:extLst>
                <a:ext uri="{FF2B5EF4-FFF2-40B4-BE49-F238E27FC236}">
                  <a16:creationId xmlns:a16="http://schemas.microsoft.com/office/drawing/2014/main" id="{961585C4-B5C8-D648-B6F4-1A1D0FE1261A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4004109" y="4164272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888;p73">
              <a:extLst>
                <a:ext uri="{FF2B5EF4-FFF2-40B4-BE49-F238E27FC236}">
                  <a16:creationId xmlns:a16="http://schemas.microsoft.com/office/drawing/2014/main" id="{45FE42C2-1D1A-576D-262E-864CE834F84B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173494" y="4164272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889;p73">
              <a:extLst>
                <a:ext uri="{FF2B5EF4-FFF2-40B4-BE49-F238E27FC236}">
                  <a16:creationId xmlns:a16="http://schemas.microsoft.com/office/drawing/2014/main" id="{50578888-3566-3A6E-F49F-AEFD402AE88F}"/>
                </a:ext>
              </a:extLst>
            </p:cNvPr>
            <p:cNvSpPr txBox="1"/>
            <p:nvPr/>
          </p:nvSpPr>
          <p:spPr>
            <a:xfrm>
              <a:off x="3699609" y="3622622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890;p73">
              <a:extLst>
                <a:ext uri="{FF2B5EF4-FFF2-40B4-BE49-F238E27FC236}">
                  <a16:creationId xmlns:a16="http://schemas.microsoft.com/office/drawing/2014/main" id="{8A76CFEC-57EB-542B-ADCF-D43296B3B193}"/>
                </a:ext>
              </a:extLst>
            </p:cNvPr>
            <p:cNvSpPr txBox="1"/>
            <p:nvPr/>
          </p:nvSpPr>
          <p:spPr>
            <a:xfrm>
              <a:off x="6780809" y="3622622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891;p73">
              <a:extLst>
                <a:ext uri="{FF2B5EF4-FFF2-40B4-BE49-F238E27FC236}">
                  <a16:creationId xmlns:a16="http://schemas.microsoft.com/office/drawing/2014/main" id="{5A22F312-0BD8-ADF4-AB1A-28CED840E045}"/>
                </a:ext>
              </a:extLst>
            </p:cNvPr>
            <p:cNvSpPr/>
            <p:nvPr/>
          </p:nvSpPr>
          <p:spPr>
            <a:xfrm>
              <a:off x="1864334" y="4705922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Código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892;p73">
              <a:extLst>
                <a:ext uri="{FF2B5EF4-FFF2-40B4-BE49-F238E27FC236}">
                  <a16:creationId xmlns:a16="http://schemas.microsoft.com/office/drawing/2014/main" id="{EE0F172F-7834-40C0-7C6D-3F7D5D100C3E}"/>
                </a:ext>
              </a:extLst>
            </p:cNvPr>
            <p:cNvSpPr/>
            <p:nvPr/>
          </p:nvSpPr>
          <p:spPr>
            <a:xfrm>
              <a:off x="7971484" y="4705922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3" name="Google Shape;893;p73">
              <a:extLst>
                <a:ext uri="{FF2B5EF4-FFF2-40B4-BE49-F238E27FC236}">
                  <a16:creationId xmlns:a16="http://schemas.microsoft.com/office/drawing/2014/main" id="{1E26EF22-5D8C-4CF4-417B-95A53FA343AC}"/>
                </a:ext>
              </a:extLst>
            </p:cNvPr>
            <p:cNvCxnSpPr>
              <a:stCxn id="11" idx="0"/>
              <a:endCxn id="4" idx="2"/>
            </p:cNvCxnSpPr>
            <p:nvPr/>
          </p:nvCxnSpPr>
          <p:spPr>
            <a:xfrm rot="10800000">
              <a:off x="2873084" y="4504322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894;p73">
              <a:extLst>
                <a:ext uri="{FF2B5EF4-FFF2-40B4-BE49-F238E27FC236}">
                  <a16:creationId xmlns:a16="http://schemas.microsoft.com/office/drawing/2014/main" id="{CBA1D85A-F8E4-DABE-2373-EDB8E837469A}"/>
                </a:ext>
              </a:extLst>
            </p:cNvPr>
            <p:cNvCxnSpPr>
              <a:stCxn id="12" idx="0"/>
              <a:endCxn id="5" idx="2"/>
            </p:cNvCxnSpPr>
            <p:nvPr/>
          </p:nvCxnSpPr>
          <p:spPr>
            <a:xfrm rot="10800000">
              <a:off x="8980234" y="4504322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41522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6611F-7E19-8F13-3A89-96D19939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A6ECB3-16B3-35FC-496F-0CF9DE17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toda entidade Disciplina deve estar associada a pelo menos um Curso</a:t>
            </a:r>
          </a:p>
          <a:p>
            <a:endParaRPr lang="pt-BR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2070DA4-3AAD-FA41-8B09-66EBE4F54316}"/>
              </a:ext>
            </a:extLst>
          </p:cNvPr>
          <p:cNvGrpSpPr/>
          <p:nvPr/>
        </p:nvGrpSpPr>
        <p:grpSpPr>
          <a:xfrm>
            <a:off x="1911273" y="3622515"/>
            <a:ext cx="8369455" cy="1874388"/>
            <a:chOff x="1708070" y="3272556"/>
            <a:chExt cx="8369455" cy="1874388"/>
          </a:xfrm>
        </p:grpSpPr>
        <p:sp>
          <p:nvSpPr>
            <p:cNvPr id="4" name="Google Shape;902;p74">
              <a:extLst>
                <a:ext uri="{FF2B5EF4-FFF2-40B4-BE49-F238E27FC236}">
                  <a16:creationId xmlns:a16="http://schemas.microsoft.com/office/drawing/2014/main" id="{788D1AD2-8991-76AD-6BA5-7B3C6A0D3294}"/>
                </a:ext>
              </a:extLst>
            </p:cNvPr>
            <p:cNvSpPr/>
            <p:nvPr/>
          </p:nvSpPr>
          <p:spPr>
            <a:xfrm>
              <a:off x="1708070" y="3474156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Curso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903;p74">
              <a:extLst>
                <a:ext uri="{FF2B5EF4-FFF2-40B4-BE49-F238E27FC236}">
                  <a16:creationId xmlns:a16="http://schemas.microsoft.com/office/drawing/2014/main" id="{C113160E-5CFA-3951-84DB-EB2D97C48A71}"/>
                </a:ext>
              </a:extLst>
            </p:cNvPr>
            <p:cNvSpPr/>
            <p:nvPr/>
          </p:nvSpPr>
          <p:spPr>
            <a:xfrm>
              <a:off x="7815225" y="3474156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904;p74">
              <a:extLst>
                <a:ext uri="{FF2B5EF4-FFF2-40B4-BE49-F238E27FC236}">
                  <a16:creationId xmlns:a16="http://schemas.microsoft.com/office/drawing/2014/main" id="{DFCBDDB7-C4B3-4502-8908-B540CC43FBB7}"/>
                </a:ext>
              </a:extLst>
            </p:cNvPr>
            <p:cNvSpPr/>
            <p:nvPr/>
          </p:nvSpPr>
          <p:spPr>
            <a:xfrm>
              <a:off x="4645840" y="3272556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905;p74">
              <a:extLst>
                <a:ext uri="{FF2B5EF4-FFF2-40B4-BE49-F238E27FC236}">
                  <a16:creationId xmlns:a16="http://schemas.microsoft.com/office/drawing/2014/main" id="{C5E17BE4-362A-3BC7-1E68-0809DB30ECE5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3970240" y="3814206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06;p74">
              <a:extLst>
                <a:ext uri="{FF2B5EF4-FFF2-40B4-BE49-F238E27FC236}">
                  <a16:creationId xmlns:a16="http://schemas.microsoft.com/office/drawing/2014/main" id="{0953E54B-08BA-8982-94AF-4BDB9D06267C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139625" y="3814206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66675" dir="5400000" algn="bl" rotWithShape="0">
                <a:schemeClr val="dk1"/>
              </a:outerShdw>
            </a:effectLst>
          </p:spPr>
        </p:cxnSp>
        <p:sp>
          <p:nvSpPr>
            <p:cNvPr id="9" name="Google Shape;907;p74">
              <a:extLst>
                <a:ext uri="{FF2B5EF4-FFF2-40B4-BE49-F238E27FC236}">
                  <a16:creationId xmlns:a16="http://schemas.microsoft.com/office/drawing/2014/main" id="{D2CA36E2-052B-F48A-095A-1CD93B78BB05}"/>
                </a:ext>
              </a:extLst>
            </p:cNvPr>
            <p:cNvSpPr txBox="1"/>
            <p:nvPr/>
          </p:nvSpPr>
          <p:spPr>
            <a:xfrm>
              <a:off x="3665740" y="3272556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908;p74">
              <a:extLst>
                <a:ext uri="{FF2B5EF4-FFF2-40B4-BE49-F238E27FC236}">
                  <a16:creationId xmlns:a16="http://schemas.microsoft.com/office/drawing/2014/main" id="{5CB36087-B533-E54E-BC63-ED1B0E1EE185}"/>
                </a:ext>
              </a:extLst>
            </p:cNvPr>
            <p:cNvSpPr txBox="1"/>
            <p:nvPr/>
          </p:nvSpPr>
          <p:spPr>
            <a:xfrm>
              <a:off x="6746940" y="3272556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909;p74">
              <a:extLst>
                <a:ext uri="{FF2B5EF4-FFF2-40B4-BE49-F238E27FC236}">
                  <a16:creationId xmlns:a16="http://schemas.microsoft.com/office/drawing/2014/main" id="{6E430D34-D0EC-C3B7-0316-DA594DF9E66C}"/>
                </a:ext>
              </a:extLst>
            </p:cNvPr>
            <p:cNvSpPr/>
            <p:nvPr/>
          </p:nvSpPr>
          <p:spPr>
            <a:xfrm>
              <a:off x="1830465" y="4355856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Código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910;p74">
              <a:extLst>
                <a:ext uri="{FF2B5EF4-FFF2-40B4-BE49-F238E27FC236}">
                  <a16:creationId xmlns:a16="http://schemas.microsoft.com/office/drawing/2014/main" id="{0EABDACE-1B57-785F-763E-C7A77AC85ED5}"/>
                </a:ext>
              </a:extLst>
            </p:cNvPr>
            <p:cNvSpPr/>
            <p:nvPr/>
          </p:nvSpPr>
          <p:spPr>
            <a:xfrm>
              <a:off x="7937615" y="4355856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3" name="Google Shape;911;p74">
              <a:extLst>
                <a:ext uri="{FF2B5EF4-FFF2-40B4-BE49-F238E27FC236}">
                  <a16:creationId xmlns:a16="http://schemas.microsoft.com/office/drawing/2014/main" id="{073BBCB4-A9F5-8C0E-4C22-D010D3E73648}"/>
                </a:ext>
              </a:extLst>
            </p:cNvPr>
            <p:cNvCxnSpPr>
              <a:stCxn id="11" idx="0"/>
              <a:endCxn id="4" idx="2"/>
            </p:cNvCxnSpPr>
            <p:nvPr/>
          </p:nvCxnSpPr>
          <p:spPr>
            <a:xfrm rot="10800000">
              <a:off x="2839215" y="4154256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12;p74">
              <a:extLst>
                <a:ext uri="{FF2B5EF4-FFF2-40B4-BE49-F238E27FC236}">
                  <a16:creationId xmlns:a16="http://schemas.microsoft.com/office/drawing/2014/main" id="{F8231334-BEA1-5D50-341B-168680F3D7F8}"/>
                </a:ext>
              </a:extLst>
            </p:cNvPr>
            <p:cNvCxnSpPr>
              <a:stCxn id="12" idx="0"/>
              <a:endCxn id="5" idx="2"/>
            </p:cNvCxnSpPr>
            <p:nvPr/>
          </p:nvCxnSpPr>
          <p:spPr>
            <a:xfrm rot="10800000">
              <a:off x="8946365" y="4154256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913;p74">
              <a:extLst>
                <a:ext uri="{FF2B5EF4-FFF2-40B4-BE49-F238E27FC236}">
                  <a16:creationId xmlns:a16="http://schemas.microsoft.com/office/drawing/2014/main" id="{92F32F70-0777-5761-6BEA-17BC7064CEC9}"/>
                </a:ext>
              </a:extLst>
            </p:cNvPr>
            <p:cNvSpPr txBox="1"/>
            <p:nvPr/>
          </p:nvSpPr>
          <p:spPr>
            <a:xfrm>
              <a:off x="4407515" y="4355844"/>
              <a:ext cx="34077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98EC43"/>
                  </a:solidFill>
                  <a:latin typeface="Play"/>
                  <a:ea typeface="Play"/>
                  <a:cs typeface="Play"/>
                  <a:sym typeface="Play"/>
                </a:rPr>
                <a:t>Participação Total</a:t>
              </a: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 de </a:t>
              </a:r>
              <a:r>
                <a:rPr lang="pt-BR" sz="24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 </a:t>
              </a: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em </a:t>
              </a:r>
              <a:r>
                <a:rPr lang="pt-BR" sz="24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6" name="Google Shape;914;p74">
              <a:extLst>
                <a:ext uri="{FF2B5EF4-FFF2-40B4-BE49-F238E27FC236}">
                  <a16:creationId xmlns:a16="http://schemas.microsoft.com/office/drawing/2014/main" id="{AEC39DBA-D49D-B75D-0882-C50EBAB0412F}"/>
                </a:ext>
              </a:extLst>
            </p:cNvPr>
            <p:cNvCxnSpPr/>
            <p:nvPr/>
          </p:nvCxnSpPr>
          <p:spPr>
            <a:xfrm rot="5400000">
              <a:off x="6984890" y="4047181"/>
              <a:ext cx="491100" cy="4533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221128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7BBDE-C67E-8CAC-21A6-7CAEE802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Restrição de Participação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D2E320-7543-B755-B585-7137E1F16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Restrição de Participação – Restrição Estrutural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Participação Total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Participação Parcial</a:t>
            </a:r>
          </a:p>
        </p:txBody>
      </p:sp>
    </p:spTree>
    <p:extLst>
      <p:ext uri="{BB962C8B-B14F-4D97-AF65-F5344CB8AC3E}">
        <p14:creationId xmlns:p14="http://schemas.microsoft.com/office/powerpoint/2010/main" val="23864494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EBEDD-77F4-DC10-41EA-C4E6E75C9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Restrição de Participação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1515D-4AED-0E5A-2894-085E27E9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Participação </a:t>
            </a:r>
            <a:r>
              <a:rPr lang="pt-BR" b="1" dirty="0"/>
              <a:t>Total</a:t>
            </a:r>
            <a:r>
              <a:rPr lang="pt-BR" dirty="0"/>
              <a:t> ou </a:t>
            </a:r>
            <a:r>
              <a:rPr lang="pt-BR" i="1" dirty="0"/>
              <a:t>Dependência Existencial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Toda Entidade de um CE deve participar, obrigatoriamente, de ao menos um relacionamento do CR com Participação Total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Uma Entidade só existe se estiver associada a outra entidade por meio de um relacionamento do CR com Participação Total</a:t>
            </a:r>
          </a:p>
        </p:txBody>
      </p:sp>
    </p:spTree>
    <p:extLst>
      <p:ext uri="{BB962C8B-B14F-4D97-AF65-F5344CB8AC3E}">
        <p14:creationId xmlns:p14="http://schemas.microsoft.com/office/powerpoint/2010/main" val="29325453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1F7E-8966-5EF4-1D1C-F69B41481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97424-B74C-268A-FA7A-D6DB6CE1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Restrição de Participação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A9233F-0DFA-AA07-94FD-FB85447D6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Ex.: toda Entidade (instância) </a:t>
            </a:r>
            <a:r>
              <a:rPr lang="pt-BR" b="1" dirty="0"/>
              <a:t>Disciplina</a:t>
            </a:r>
            <a:r>
              <a:rPr lang="pt-BR" dirty="0"/>
              <a:t> </a:t>
            </a:r>
            <a:r>
              <a:rPr lang="pt-BR" u="sng" dirty="0"/>
              <a:t>deve</a:t>
            </a:r>
            <a:r>
              <a:rPr lang="pt-BR" dirty="0"/>
              <a:t> participar de um relacionamento </a:t>
            </a:r>
            <a:r>
              <a:rPr lang="pt-BR" b="1" dirty="0"/>
              <a:t>Possui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Deve estar associada a uma Entidade </a:t>
            </a:r>
            <a:r>
              <a:rPr lang="pt-BR" b="1" dirty="0"/>
              <a:t>Curso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Notação DER: linha dupla conectando o CE ao CR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B0AEE61D-56C2-1284-E536-B480E4998275}"/>
              </a:ext>
            </a:extLst>
          </p:cNvPr>
          <p:cNvGrpSpPr/>
          <p:nvPr/>
        </p:nvGrpSpPr>
        <p:grpSpPr>
          <a:xfrm>
            <a:off x="1911273" y="4061184"/>
            <a:ext cx="8369455" cy="1874388"/>
            <a:chOff x="1911272" y="2491806"/>
            <a:chExt cx="8369455" cy="1874388"/>
          </a:xfrm>
        </p:grpSpPr>
        <p:sp>
          <p:nvSpPr>
            <p:cNvPr id="15" name="Google Shape;936;p77">
              <a:extLst>
                <a:ext uri="{FF2B5EF4-FFF2-40B4-BE49-F238E27FC236}">
                  <a16:creationId xmlns:a16="http://schemas.microsoft.com/office/drawing/2014/main" id="{3D9504AC-10A0-CA8E-C9CF-A3FB5952197E}"/>
                </a:ext>
              </a:extLst>
            </p:cNvPr>
            <p:cNvSpPr/>
            <p:nvPr/>
          </p:nvSpPr>
          <p:spPr>
            <a:xfrm>
              <a:off x="1911272" y="2693406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dirty="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Curso</a:t>
              </a:r>
              <a:endParaRPr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" name="Google Shape;937;p77">
              <a:extLst>
                <a:ext uri="{FF2B5EF4-FFF2-40B4-BE49-F238E27FC236}">
                  <a16:creationId xmlns:a16="http://schemas.microsoft.com/office/drawing/2014/main" id="{ED739478-F465-AF48-5D34-D71A7C7EA4CB}"/>
                </a:ext>
              </a:extLst>
            </p:cNvPr>
            <p:cNvSpPr/>
            <p:nvPr/>
          </p:nvSpPr>
          <p:spPr>
            <a:xfrm>
              <a:off x="8018427" y="2693406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" name="Google Shape;938;p77">
              <a:extLst>
                <a:ext uri="{FF2B5EF4-FFF2-40B4-BE49-F238E27FC236}">
                  <a16:creationId xmlns:a16="http://schemas.microsoft.com/office/drawing/2014/main" id="{9A09E28A-691B-E5F9-C64C-D1C572693E3B}"/>
                </a:ext>
              </a:extLst>
            </p:cNvPr>
            <p:cNvSpPr/>
            <p:nvPr/>
          </p:nvSpPr>
          <p:spPr>
            <a:xfrm>
              <a:off x="4849042" y="2491806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8" name="Google Shape;939;p77">
              <a:extLst>
                <a:ext uri="{FF2B5EF4-FFF2-40B4-BE49-F238E27FC236}">
                  <a16:creationId xmlns:a16="http://schemas.microsoft.com/office/drawing/2014/main" id="{BB1111F6-A07C-668A-7F18-A7A0A7B07688}"/>
                </a:ext>
              </a:extLst>
            </p:cNvPr>
            <p:cNvCxnSpPr>
              <a:stCxn id="17" idx="1"/>
              <a:endCxn id="15" idx="3"/>
            </p:cNvCxnSpPr>
            <p:nvPr/>
          </p:nvCxnSpPr>
          <p:spPr>
            <a:xfrm rot="10800000">
              <a:off x="4173442" y="3033456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40;p77">
              <a:extLst>
                <a:ext uri="{FF2B5EF4-FFF2-40B4-BE49-F238E27FC236}">
                  <a16:creationId xmlns:a16="http://schemas.microsoft.com/office/drawing/2014/main" id="{E728BA19-AE23-2DF4-E610-4FEC4B4ECDD8}"/>
                </a:ext>
              </a:extLst>
            </p:cNvPr>
            <p:cNvCxnSpPr>
              <a:stCxn id="16" idx="1"/>
              <a:endCxn id="17" idx="3"/>
            </p:cNvCxnSpPr>
            <p:nvPr/>
          </p:nvCxnSpPr>
          <p:spPr>
            <a:xfrm rot="10800000">
              <a:off x="7342827" y="3033456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66675" dir="5400000" algn="bl" rotWithShape="0">
                <a:schemeClr val="dk1"/>
              </a:outerShdw>
            </a:effectLst>
          </p:spPr>
        </p:cxnSp>
        <p:sp>
          <p:nvSpPr>
            <p:cNvPr id="20" name="Google Shape;941;p77">
              <a:extLst>
                <a:ext uri="{FF2B5EF4-FFF2-40B4-BE49-F238E27FC236}">
                  <a16:creationId xmlns:a16="http://schemas.microsoft.com/office/drawing/2014/main" id="{0B660B4F-593C-DCD3-BA83-48FFAD4C7DE9}"/>
                </a:ext>
              </a:extLst>
            </p:cNvPr>
            <p:cNvSpPr txBox="1"/>
            <p:nvPr/>
          </p:nvSpPr>
          <p:spPr>
            <a:xfrm>
              <a:off x="3868942" y="2491806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" name="Google Shape;942;p77">
              <a:extLst>
                <a:ext uri="{FF2B5EF4-FFF2-40B4-BE49-F238E27FC236}">
                  <a16:creationId xmlns:a16="http://schemas.microsoft.com/office/drawing/2014/main" id="{D5522299-070F-C433-F4CC-095AF49F04A7}"/>
                </a:ext>
              </a:extLst>
            </p:cNvPr>
            <p:cNvSpPr txBox="1"/>
            <p:nvPr/>
          </p:nvSpPr>
          <p:spPr>
            <a:xfrm>
              <a:off x="6950142" y="2491806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2" name="Google Shape;943;p77">
              <a:extLst>
                <a:ext uri="{FF2B5EF4-FFF2-40B4-BE49-F238E27FC236}">
                  <a16:creationId xmlns:a16="http://schemas.microsoft.com/office/drawing/2014/main" id="{B801355F-BF49-898A-4B86-EC31783CBAEA}"/>
                </a:ext>
              </a:extLst>
            </p:cNvPr>
            <p:cNvSpPr/>
            <p:nvPr/>
          </p:nvSpPr>
          <p:spPr>
            <a:xfrm>
              <a:off x="2033667" y="3575106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Código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3" name="Google Shape;944;p77">
              <a:extLst>
                <a:ext uri="{FF2B5EF4-FFF2-40B4-BE49-F238E27FC236}">
                  <a16:creationId xmlns:a16="http://schemas.microsoft.com/office/drawing/2014/main" id="{02E522EB-BDFD-226D-F0E7-D14F8B04913D}"/>
                </a:ext>
              </a:extLst>
            </p:cNvPr>
            <p:cNvSpPr/>
            <p:nvPr/>
          </p:nvSpPr>
          <p:spPr>
            <a:xfrm>
              <a:off x="8140817" y="3575106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24" name="Google Shape;945;p77">
              <a:extLst>
                <a:ext uri="{FF2B5EF4-FFF2-40B4-BE49-F238E27FC236}">
                  <a16:creationId xmlns:a16="http://schemas.microsoft.com/office/drawing/2014/main" id="{595240D7-3AD8-4B45-B172-EA7AE7BA4127}"/>
                </a:ext>
              </a:extLst>
            </p:cNvPr>
            <p:cNvCxnSpPr>
              <a:stCxn id="22" idx="0"/>
              <a:endCxn id="15" idx="2"/>
            </p:cNvCxnSpPr>
            <p:nvPr/>
          </p:nvCxnSpPr>
          <p:spPr>
            <a:xfrm rot="10800000">
              <a:off x="3042417" y="3373506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946;p77">
              <a:extLst>
                <a:ext uri="{FF2B5EF4-FFF2-40B4-BE49-F238E27FC236}">
                  <a16:creationId xmlns:a16="http://schemas.microsoft.com/office/drawing/2014/main" id="{21422413-1FDB-7F0C-2BF7-ED945BCBB628}"/>
                </a:ext>
              </a:extLst>
            </p:cNvPr>
            <p:cNvCxnSpPr>
              <a:stCxn id="23" idx="0"/>
              <a:endCxn id="16" idx="2"/>
            </p:cNvCxnSpPr>
            <p:nvPr/>
          </p:nvCxnSpPr>
          <p:spPr>
            <a:xfrm rot="10800000">
              <a:off x="9149567" y="3373506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947;p77">
              <a:extLst>
                <a:ext uri="{FF2B5EF4-FFF2-40B4-BE49-F238E27FC236}">
                  <a16:creationId xmlns:a16="http://schemas.microsoft.com/office/drawing/2014/main" id="{AFBB296B-873C-B5B3-6C2D-A04D40259495}"/>
                </a:ext>
              </a:extLst>
            </p:cNvPr>
            <p:cNvSpPr txBox="1"/>
            <p:nvPr/>
          </p:nvSpPr>
          <p:spPr>
            <a:xfrm>
              <a:off x="4610717" y="3575094"/>
              <a:ext cx="34077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98EC43"/>
                  </a:solidFill>
                  <a:latin typeface="Play"/>
                  <a:ea typeface="Play"/>
                  <a:cs typeface="Play"/>
                  <a:sym typeface="Play"/>
                </a:rPr>
                <a:t>Participação Total</a:t>
              </a: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 de </a:t>
              </a:r>
              <a:r>
                <a:rPr lang="pt-BR" sz="24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 </a:t>
              </a: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em </a:t>
              </a:r>
              <a:r>
                <a:rPr lang="pt-BR" sz="24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27" name="Google Shape;948;p77">
              <a:extLst>
                <a:ext uri="{FF2B5EF4-FFF2-40B4-BE49-F238E27FC236}">
                  <a16:creationId xmlns:a16="http://schemas.microsoft.com/office/drawing/2014/main" id="{E6BA0B1A-C657-3599-AB34-E0185DD85659}"/>
                </a:ext>
              </a:extLst>
            </p:cNvPr>
            <p:cNvCxnSpPr/>
            <p:nvPr/>
          </p:nvCxnSpPr>
          <p:spPr>
            <a:xfrm rot="5400000">
              <a:off x="7188092" y="3266431"/>
              <a:ext cx="491100" cy="4533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383272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8CB2-BF5C-E26F-8248-31FA6283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61C3A-97B2-BB8A-BD9A-9AE57A28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Restrição de Participação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61A446-B243-7254-6BFB-FDD532D0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Participação Parcial</a:t>
            </a:r>
          </a:p>
          <a:p>
            <a:pPr lvl="1"/>
            <a:r>
              <a:rPr lang="pt-BR" dirty="0"/>
              <a:t>Nem todas as entidades de um CE participam do CR</a:t>
            </a:r>
          </a:p>
          <a:p>
            <a:r>
              <a:rPr lang="pt-BR" dirty="0"/>
              <a:t>Uma Entidade pode existir sem estar associada a outra</a:t>
            </a:r>
          </a:p>
          <a:p>
            <a:r>
              <a:rPr lang="pt-BR" dirty="0"/>
              <a:t>Notação DER: linha simples conectado o CE ao CR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1B46725-E5BF-0A2E-FE2D-C87B118BF39E}"/>
              </a:ext>
            </a:extLst>
          </p:cNvPr>
          <p:cNvGrpSpPr/>
          <p:nvPr/>
        </p:nvGrpSpPr>
        <p:grpSpPr>
          <a:xfrm>
            <a:off x="1911273" y="4060961"/>
            <a:ext cx="8369455" cy="1874388"/>
            <a:chOff x="2012872" y="4027094"/>
            <a:chExt cx="8369455" cy="1874388"/>
          </a:xfrm>
        </p:grpSpPr>
        <p:sp>
          <p:nvSpPr>
            <p:cNvPr id="4" name="Google Shape;956;p78">
              <a:extLst>
                <a:ext uri="{FF2B5EF4-FFF2-40B4-BE49-F238E27FC236}">
                  <a16:creationId xmlns:a16="http://schemas.microsoft.com/office/drawing/2014/main" id="{B979CC88-8FF8-999D-6C24-BBDAB110E08F}"/>
                </a:ext>
              </a:extLst>
            </p:cNvPr>
            <p:cNvSpPr/>
            <p:nvPr/>
          </p:nvSpPr>
          <p:spPr>
            <a:xfrm>
              <a:off x="2012872" y="4228694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Aluno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957;p78">
              <a:extLst>
                <a:ext uri="{FF2B5EF4-FFF2-40B4-BE49-F238E27FC236}">
                  <a16:creationId xmlns:a16="http://schemas.microsoft.com/office/drawing/2014/main" id="{3F3CB634-F6BA-E585-796E-D14DC378CED2}"/>
                </a:ext>
              </a:extLst>
            </p:cNvPr>
            <p:cNvSpPr/>
            <p:nvPr/>
          </p:nvSpPr>
          <p:spPr>
            <a:xfrm>
              <a:off x="8120027" y="4228694"/>
              <a:ext cx="2262300" cy="6801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958;p78">
              <a:extLst>
                <a:ext uri="{FF2B5EF4-FFF2-40B4-BE49-F238E27FC236}">
                  <a16:creationId xmlns:a16="http://schemas.microsoft.com/office/drawing/2014/main" id="{FADF24DB-A563-AD2A-B1A1-91FCEECC145D}"/>
                </a:ext>
              </a:extLst>
            </p:cNvPr>
            <p:cNvSpPr/>
            <p:nvPr/>
          </p:nvSpPr>
          <p:spPr>
            <a:xfrm>
              <a:off x="4950642" y="4027094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3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2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959;p78">
              <a:extLst>
                <a:ext uri="{FF2B5EF4-FFF2-40B4-BE49-F238E27FC236}">
                  <a16:creationId xmlns:a16="http://schemas.microsoft.com/office/drawing/2014/main" id="{85644E04-A26A-FDAE-3A0B-C26A10085F08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4275042" y="4568744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60;p78">
              <a:extLst>
                <a:ext uri="{FF2B5EF4-FFF2-40B4-BE49-F238E27FC236}">
                  <a16:creationId xmlns:a16="http://schemas.microsoft.com/office/drawing/2014/main" id="{E28E08FE-8AC5-7656-99BC-3E5FE8A29F66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444427" y="4568744"/>
              <a:ext cx="675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961;p78">
              <a:extLst>
                <a:ext uri="{FF2B5EF4-FFF2-40B4-BE49-F238E27FC236}">
                  <a16:creationId xmlns:a16="http://schemas.microsoft.com/office/drawing/2014/main" id="{70FB3D91-3265-33F9-4D31-FF4141F6F518}"/>
                </a:ext>
              </a:extLst>
            </p:cNvPr>
            <p:cNvSpPr txBox="1"/>
            <p:nvPr/>
          </p:nvSpPr>
          <p:spPr>
            <a:xfrm>
              <a:off x="3970542" y="4027094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962;p78">
              <a:extLst>
                <a:ext uri="{FF2B5EF4-FFF2-40B4-BE49-F238E27FC236}">
                  <a16:creationId xmlns:a16="http://schemas.microsoft.com/office/drawing/2014/main" id="{D8B774BC-576C-8CB1-EDDD-3CB0F87DFC56}"/>
                </a:ext>
              </a:extLst>
            </p:cNvPr>
            <p:cNvSpPr txBox="1"/>
            <p:nvPr/>
          </p:nvSpPr>
          <p:spPr>
            <a:xfrm>
              <a:off x="7051742" y="4027094"/>
              <a:ext cx="12846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M</a:t>
              </a:r>
              <a:endParaRPr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963;p78">
              <a:extLst>
                <a:ext uri="{FF2B5EF4-FFF2-40B4-BE49-F238E27FC236}">
                  <a16:creationId xmlns:a16="http://schemas.microsoft.com/office/drawing/2014/main" id="{372D15EA-7B5F-3082-F179-041562A13541}"/>
                </a:ext>
              </a:extLst>
            </p:cNvPr>
            <p:cNvSpPr/>
            <p:nvPr/>
          </p:nvSpPr>
          <p:spPr>
            <a:xfrm>
              <a:off x="2135267" y="5110394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RA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964;p78">
              <a:extLst>
                <a:ext uri="{FF2B5EF4-FFF2-40B4-BE49-F238E27FC236}">
                  <a16:creationId xmlns:a16="http://schemas.microsoft.com/office/drawing/2014/main" id="{1EB56F42-06C4-9653-A49C-8CE6F051B801}"/>
                </a:ext>
              </a:extLst>
            </p:cNvPr>
            <p:cNvSpPr/>
            <p:nvPr/>
          </p:nvSpPr>
          <p:spPr>
            <a:xfrm>
              <a:off x="8242417" y="5110394"/>
              <a:ext cx="2017500" cy="5163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3" name="Google Shape;965;p78">
              <a:extLst>
                <a:ext uri="{FF2B5EF4-FFF2-40B4-BE49-F238E27FC236}">
                  <a16:creationId xmlns:a16="http://schemas.microsoft.com/office/drawing/2014/main" id="{383EDF98-6950-11F2-83B3-C99696097054}"/>
                </a:ext>
              </a:extLst>
            </p:cNvPr>
            <p:cNvCxnSpPr>
              <a:stCxn id="11" idx="0"/>
              <a:endCxn id="4" idx="2"/>
            </p:cNvCxnSpPr>
            <p:nvPr/>
          </p:nvCxnSpPr>
          <p:spPr>
            <a:xfrm rot="10800000">
              <a:off x="3144017" y="4908794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66;p78">
              <a:extLst>
                <a:ext uri="{FF2B5EF4-FFF2-40B4-BE49-F238E27FC236}">
                  <a16:creationId xmlns:a16="http://schemas.microsoft.com/office/drawing/2014/main" id="{59ADE535-B861-3B8C-4191-5705084EF633}"/>
                </a:ext>
              </a:extLst>
            </p:cNvPr>
            <p:cNvCxnSpPr>
              <a:stCxn id="12" idx="0"/>
              <a:endCxn id="5" idx="2"/>
            </p:cNvCxnSpPr>
            <p:nvPr/>
          </p:nvCxnSpPr>
          <p:spPr>
            <a:xfrm rot="10800000">
              <a:off x="9251167" y="4908794"/>
              <a:ext cx="0" cy="20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967;p78">
              <a:extLst>
                <a:ext uri="{FF2B5EF4-FFF2-40B4-BE49-F238E27FC236}">
                  <a16:creationId xmlns:a16="http://schemas.microsoft.com/office/drawing/2014/main" id="{38C32C08-D1BD-8C32-3F92-732232EC051C}"/>
                </a:ext>
              </a:extLst>
            </p:cNvPr>
            <p:cNvSpPr txBox="1"/>
            <p:nvPr/>
          </p:nvSpPr>
          <p:spPr>
            <a:xfrm>
              <a:off x="4712317" y="5110382"/>
              <a:ext cx="34077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98EC43"/>
                  </a:solidFill>
                  <a:latin typeface="Play"/>
                  <a:ea typeface="Play"/>
                  <a:cs typeface="Play"/>
                  <a:sym typeface="Play"/>
                </a:rPr>
                <a:t>Participação Parcial </a:t>
              </a: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de </a:t>
              </a:r>
              <a:r>
                <a:rPr lang="pt-BR" sz="24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Aluno </a:t>
              </a:r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em </a:t>
              </a:r>
              <a:r>
                <a:rPr lang="pt-BR" sz="24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6" name="Google Shape;968;p78">
              <a:extLst>
                <a:ext uri="{FF2B5EF4-FFF2-40B4-BE49-F238E27FC236}">
                  <a16:creationId xmlns:a16="http://schemas.microsoft.com/office/drawing/2014/main" id="{5A5B1876-AD58-5DC0-BBF0-40008BCFD61B}"/>
                </a:ext>
              </a:extLst>
            </p:cNvPr>
            <p:cNvCxnSpPr/>
            <p:nvPr/>
          </p:nvCxnSpPr>
          <p:spPr>
            <a:xfrm rot="-5400000" flipH="1">
              <a:off x="4575317" y="4770244"/>
              <a:ext cx="591900" cy="4407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174283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4B01-7FCF-03BF-E83A-768EFAE0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107CD-4CBC-C932-0123-14D58EC8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Grau do 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51C9A4-B718-6B6A-37D9-A8C8689A1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Conjunto de Relacionamentos (CR) pode envolver dois ou mais Conjuntos de Entidades (CE)</a:t>
            </a:r>
          </a:p>
          <a:p>
            <a:endParaRPr lang="pt-BR" dirty="0"/>
          </a:p>
          <a:p>
            <a:r>
              <a:rPr lang="pt-BR" dirty="0"/>
              <a:t>Grau do CE é o número de </a:t>
            </a:r>
            <a:r>
              <a:rPr lang="pt-BR" dirty="0" err="1"/>
              <a:t>CEs</a:t>
            </a:r>
            <a:r>
              <a:rPr lang="pt-BR" dirty="0"/>
              <a:t> envolvidos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Dois CE </a:t>
            </a:r>
            <a:r>
              <a:rPr lang="pt-BR" dirty="0">
                <a:sym typeface="Wingdings" panose="05000000000000000000" pitchFamily="2" charset="2"/>
              </a:rPr>
              <a:t> Binário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Três CE  Ternário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3579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80DD3-5FEC-EBD1-A366-6EAE89D9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Grau do Conjunto de Relacionamentos</a:t>
            </a:r>
          </a:p>
        </p:txBody>
      </p:sp>
      <p:sp>
        <p:nvSpPr>
          <p:cNvPr id="4" name="Google Shape;981;p80">
            <a:extLst>
              <a:ext uri="{FF2B5EF4-FFF2-40B4-BE49-F238E27FC236}">
                <a16:creationId xmlns:a16="http://schemas.microsoft.com/office/drawing/2014/main" id="{7BB98AE5-F0B7-9BE7-5581-A5F37C9649F1}"/>
              </a:ext>
            </a:extLst>
          </p:cNvPr>
          <p:cNvSpPr txBox="1">
            <a:spLocks noGrp="1"/>
          </p:cNvSpPr>
          <p:nvPr/>
        </p:nvSpPr>
        <p:spPr>
          <a:xfrm>
            <a:off x="2836947" y="6420612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MER - Conjuntos de Relacionamentos - Grau</a:t>
            </a:r>
            <a:endParaRPr/>
          </a:p>
        </p:txBody>
      </p:sp>
      <p:sp>
        <p:nvSpPr>
          <p:cNvPr id="5" name="Google Shape;982;p80">
            <a:extLst>
              <a:ext uri="{FF2B5EF4-FFF2-40B4-BE49-F238E27FC236}">
                <a16:creationId xmlns:a16="http://schemas.microsoft.com/office/drawing/2014/main" id="{CEF03BD4-AB1C-0A09-730C-AA000E3ACD45}"/>
              </a:ext>
            </a:extLst>
          </p:cNvPr>
          <p:cNvSpPr/>
          <p:nvPr/>
        </p:nvSpPr>
        <p:spPr>
          <a:xfrm>
            <a:off x="1651627" y="444070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Aluno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3;p80">
            <a:extLst>
              <a:ext uri="{FF2B5EF4-FFF2-40B4-BE49-F238E27FC236}">
                <a16:creationId xmlns:a16="http://schemas.microsoft.com/office/drawing/2014/main" id="{C906C649-34EB-CE32-2C2F-50DCB0E190BC}"/>
              </a:ext>
            </a:extLst>
          </p:cNvPr>
          <p:cNvSpPr/>
          <p:nvPr/>
        </p:nvSpPr>
        <p:spPr>
          <a:xfrm>
            <a:off x="7758782" y="444070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84;p80">
            <a:extLst>
              <a:ext uri="{FF2B5EF4-FFF2-40B4-BE49-F238E27FC236}">
                <a16:creationId xmlns:a16="http://schemas.microsoft.com/office/drawing/2014/main" id="{F9F2396C-36C5-41EB-253F-46512154A98B}"/>
              </a:ext>
            </a:extLst>
          </p:cNvPr>
          <p:cNvSpPr/>
          <p:nvPr/>
        </p:nvSpPr>
        <p:spPr>
          <a:xfrm>
            <a:off x="4589397" y="4239087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Monitora</a:t>
            </a:r>
            <a:endParaRPr sz="2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" name="Google Shape;985;p80">
            <a:extLst>
              <a:ext uri="{FF2B5EF4-FFF2-40B4-BE49-F238E27FC236}">
                <a16:creationId xmlns:a16="http://schemas.microsoft.com/office/drawing/2014/main" id="{F6197E3B-BFE9-3B07-BB51-C02CC926B831}"/>
              </a:ext>
            </a:extLst>
          </p:cNvPr>
          <p:cNvCxnSpPr>
            <a:stCxn id="7" idx="1"/>
            <a:endCxn id="5" idx="3"/>
          </p:cNvCxnSpPr>
          <p:nvPr/>
        </p:nvCxnSpPr>
        <p:spPr>
          <a:xfrm rot="10800000">
            <a:off x="3913797" y="4780737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986;p80">
            <a:extLst>
              <a:ext uri="{FF2B5EF4-FFF2-40B4-BE49-F238E27FC236}">
                <a16:creationId xmlns:a16="http://schemas.microsoft.com/office/drawing/2014/main" id="{4D185B5C-2313-4A28-8C98-DAF94108577D}"/>
              </a:ext>
            </a:extLst>
          </p:cNvPr>
          <p:cNvCxnSpPr>
            <a:stCxn id="6" idx="1"/>
            <a:endCxn id="7" idx="3"/>
          </p:cNvCxnSpPr>
          <p:nvPr/>
        </p:nvCxnSpPr>
        <p:spPr>
          <a:xfrm rot="10800000">
            <a:off x="7083182" y="4780750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987;p80">
            <a:extLst>
              <a:ext uri="{FF2B5EF4-FFF2-40B4-BE49-F238E27FC236}">
                <a16:creationId xmlns:a16="http://schemas.microsoft.com/office/drawing/2014/main" id="{9282C544-9175-5378-761F-01AD819C562F}"/>
              </a:ext>
            </a:extLst>
          </p:cNvPr>
          <p:cNvSpPr txBox="1"/>
          <p:nvPr/>
        </p:nvSpPr>
        <p:spPr>
          <a:xfrm>
            <a:off x="3609297" y="4239100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988;p80">
            <a:extLst>
              <a:ext uri="{FF2B5EF4-FFF2-40B4-BE49-F238E27FC236}">
                <a16:creationId xmlns:a16="http://schemas.microsoft.com/office/drawing/2014/main" id="{14C21772-A37B-E292-A411-0BD1D857D51D}"/>
              </a:ext>
            </a:extLst>
          </p:cNvPr>
          <p:cNvSpPr txBox="1"/>
          <p:nvPr/>
        </p:nvSpPr>
        <p:spPr>
          <a:xfrm>
            <a:off x="6690497" y="4239100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989;p80">
            <a:extLst>
              <a:ext uri="{FF2B5EF4-FFF2-40B4-BE49-F238E27FC236}">
                <a16:creationId xmlns:a16="http://schemas.microsoft.com/office/drawing/2014/main" id="{670D0ADF-2E55-BA35-4C83-EA04609372D9}"/>
              </a:ext>
            </a:extLst>
          </p:cNvPr>
          <p:cNvSpPr/>
          <p:nvPr/>
        </p:nvSpPr>
        <p:spPr>
          <a:xfrm>
            <a:off x="1774022" y="532240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990;p80">
            <a:extLst>
              <a:ext uri="{FF2B5EF4-FFF2-40B4-BE49-F238E27FC236}">
                <a16:creationId xmlns:a16="http://schemas.microsoft.com/office/drawing/2014/main" id="{EC6CEF0C-DD7F-6650-5212-03A54DF2F3AA}"/>
              </a:ext>
            </a:extLst>
          </p:cNvPr>
          <p:cNvSpPr/>
          <p:nvPr/>
        </p:nvSpPr>
        <p:spPr>
          <a:xfrm>
            <a:off x="7881172" y="532240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24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4" name="Google Shape;991;p80">
            <a:extLst>
              <a:ext uri="{FF2B5EF4-FFF2-40B4-BE49-F238E27FC236}">
                <a16:creationId xmlns:a16="http://schemas.microsoft.com/office/drawing/2014/main" id="{006AD6E0-5083-B273-A413-CC1E43359E04}"/>
              </a:ext>
            </a:extLst>
          </p:cNvPr>
          <p:cNvCxnSpPr>
            <a:stCxn id="13" idx="0"/>
            <a:endCxn id="6" idx="2"/>
          </p:cNvCxnSpPr>
          <p:nvPr/>
        </p:nvCxnSpPr>
        <p:spPr>
          <a:xfrm rot="10800000">
            <a:off x="8889922" y="5120800"/>
            <a:ext cx="0" cy="201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992;p80">
            <a:extLst>
              <a:ext uri="{FF2B5EF4-FFF2-40B4-BE49-F238E27FC236}">
                <a16:creationId xmlns:a16="http://schemas.microsoft.com/office/drawing/2014/main" id="{CD6CD83A-DAB8-BABC-D22F-27CF20682B93}"/>
              </a:ext>
            </a:extLst>
          </p:cNvPr>
          <p:cNvSpPr/>
          <p:nvPr/>
        </p:nvSpPr>
        <p:spPr>
          <a:xfrm>
            <a:off x="1651627" y="1928739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993;p80">
            <a:extLst>
              <a:ext uri="{FF2B5EF4-FFF2-40B4-BE49-F238E27FC236}">
                <a16:creationId xmlns:a16="http://schemas.microsoft.com/office/drawing/2014/main" id="{1CE1133C-A4C9-F52D-283D-65FD901D94C9}"/>
              </a:ext>
            </a:extLst>
          </p:cNvPr>
          <p:cNvSpPr/>
          <p:nvPr/>
        </p:nvSpPr>
        <p:spPr>
          <a:xfrm>
            <a:off x="7758782" y="1928739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" name="Google Shape;994;p80">
            <a:extLst>
              <a:ext uri="{FF2B5EF4-FFF2-40B4-BE49-F238E27FC236}">
                <a16:creationId xmlns:a16="http://schemas.microsoft.com/office/drawing/2014/main" id="{3FE6B32F-25CB-D00B-759E-61D586D89370}"/>
              </a:ext>
            </a:extLst>
          </p:cNvPr>
          <p:cNvSpPr/>
          <p:nvPr/>
        </p:nvSpPr>
        <p:spPr>
          <a:xfrm>
            <a:off x="4589397" y="1727139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" name="Google Shape;995;p80">
            <a:extLst>
              <a:ext uri="{FF2B5EF4-FFF2-40B4-BE49-F238E27FC236}">
                <a16:creationId xmlns:a16="http://schemas.microsoft.com/office/drawing/2014/main" id="{9AF7EFFD-5A33-FF52-BA7B-C0F3EADC9BAA}"/>
              </a:ext>
            </a:extLst>
          </p:cNvPr>
          <p:cNvCxnSpPr>
            <a:stCxn id="17" idx="1"/>
            <a:endCxn id="15" idx="3"/>
          </p:cNvCxnSpPr>
          <p:nvPr/>
        </p:nvCxnSpPr>
        <p:spPr>
          <a:xfrm rot="10800000">
            <a:off x="3913797" y="2268789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996;p80">
            <a:extLst>
              <a:ext uri="{FF2B5EF4-FFF2-40B4-BE49-F238E27FC236}">
                <a16:creationId xmlns:a16="http://schemas.microsoft.com/office/drawing/2014/main" id="{30B387B0-2FC1-D304-5FEF-03FD9F5CCE69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rot="10800000">
            <a:off x="7083182" y="2268789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997;p80">
            <a:extLst>
              <a:ext uri="{FF2B5EF4-FFF2-40B4-BE49-F238E27FC236}">
                <a16:creationId xmlns:a16="http://schemas.microsoft.com/office/drawing/2014/main" id="{D822B0A1-2B99-1D4B-0630-7C52064D878A}"/>
              </a:ext>
            </a:extLst>
          </p:cNvPr>
          <p:cNvSpPr txBox="1"/>
          <p:nvPr/>
        </p:nvSpPr>
        <p:spPr>
          <a:xfrm>
            <a:off x="3668672" y="1802889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" name="Google Shape;998;p80">
            <a:extLst>
              <a:ext uri="{FF2B5EF4-FFF2-40B4-BE49-F238E27FC236}">
                <a16:creationId xmlns:a16="http://schemas.microsoft.com/office/drawing/2014/main" id="{9F41EE7A-A54A-5492-0352-568F5A391210}"/>
              </a:ext>
            </a:extLst>
          </p:cNvPr>
          <p:cNvSpPr txBox="1"/>
          <p:nvPr/>
        </p:nvSpPr>
        <p:spPr>
          <a:xfrm>
            <a:off x="6632872" y="1802889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" name="Google Shape;999;p80">
            <a:extLst>
              <a:ext uri="{FF2B5EF4-FFF2-40B4-BE49-F238E27FC236}">
                <a16:creationId xmlns:a16="http://schemas.microsoft.com/office/drawing/2014/main" id="{046A7E9E-3316-5C56-4E5F-CA28D1686105}"/>
              </a:ext>
            </a:extLst>
          </p:cNvPr>
          <p:cNvSpPr/>
          <p:nvPr/>
        </p:nvSpPr>
        <p:spPr>
          <a:xfrm>
            <a:off x="1774022" y="2818089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3" name="Google Shape;1000;p80">
            <a:extLst>
              <a:ext uri="{FF2B5EF4-FFF2-40B4-BE49-F238E27FC236}">
                <a16:creationId xmlns:a16="http://schemas.microsoft.com/office/drawing/2014/main" id="{04E00433-4C30-1B55-897A-21D9330BE589}"/>
              </a:ext>
            </a:extLst>
          </p:cNvPr>
          <p:cNvCxnSpPr>
            <a:endCxn id="15" idx="2"/>
          </p:cNvCxnSpPr>
          <p:nvPr/>
        </p:nvCxnSpPr>
        <p:spPr>
          <a:xfrm rot="10800000">
            <a:off x="2782777" y="2608839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002;p80">
            <a:extLst>
              <a:ext uri="{FF2B5EF4-FFF2-40B4-BE49-F238E27FC236}">
                <a16:creationId xmlns:a16="http://schemas.microsoft.com/office/drawing/2014/main" id="{BF228A14-8C42-4D8C-D035-2E7BBB3EB1AC}"/>
              </a:ext>
            </a:extLst>
          </p:cNvPr>
          <p:cNvSpPr/>
          <p:nvPr/>
        </p:nvSpPr>
        <p:spPr>
          <a:xfrm>
            <a:off x="7881172" y="283795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24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5" name="Google Shape;1003;p80">
            <a:extLst>
              <a:ext uri="{FF2B5EF4-FFF2-40B4-BE49-F238E27FC236}">
                <a16:creationId xmlns:a16="http://schemas.microsoft.com/office/drawing/2014/main" id="{C5B0312A-AA48-6527-DF85-DD6D61A72F28}"/>
              </a:ext>
            </a:extLst>
          </p:cNvPr>
          <p:cNvCxnSpPr>
            <a:stCxn id="24" idx="0"/>
            <a:endCxn id="16" idx="2"/>
          </p:cNvCxnSpPr>
          <p:nvPr/>
        </p:nvCxnSpPr>
        <p:spPr>
          <a:xfrm rot="10800000">
            <a:off x="8889922" y="2608751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1004;p80">
            <a:extLst>
              <a:ext uri="{FF2B5EF4-FFF2-40B4-BE49-F238E27FC236}">
                <a16:creationId xmlns:a16="http://schemas.microsoft.com/office/drawing/2014/main" id="{AE0A6A48-9934-7641-FEFE-5D847D7D141B}"/>
              </a:ext>
            </a:extLst>
          </p:cNvPr>
          <p:cNvCxnSpPr>
            <a:stCxn id="12" idx="0"/>
            <a:endCxn id="5" idx="2"/>
          </p:cNvCxnSpPr>
          <p:nvPr/>
        </p:nvCxnSpPr>
        <p:spPr>
          <a:xfrm rot="10800000">
            <a:off x="2782772" y="5120800"/>
            <a:ext cx="0" cy="201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1005;p80">
            <a:extLst>
              <a:ext uri="{FF2B5EF4-FFF2-40B4-BE49-F238E27FC236}">
                <a16:creationId xmlns:a16="http://schemas.microsoft.com/office/drawing/2014/main" id="{56A90855-58D8-03E4-4EC5-6A748BE164DF}"/>
              </a:ext>
            </a:extLst>
          </p:cNvPr>
          <p:cNvSpPr/>
          <p:nvPr/>
        </p:nvSpPr>
        <p:spPr>
          <a:xfrm>
            <a:off x="4705202" y="585522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Professor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8" name="Google Shape;1006;p80">
            <a:extLst>
              <a:ext uri="{FF2B5EF4-FFF2-40B4-BE49-F238E27FC236}">
                <a16:creationId xmlns:a16="http://schemas.microsoft.com/office/drawing/2014/main" id="{0629E39C-6DB8-17D2-7095-25BC527EF532}"/>
              </a:ext>
            </a:extLst>
          </p:cNvPr>
          <p:cNvCxnSpPr>
            <a:stCxn id="27" idx="0"/>
            <a:endCxn id="7" idx="2"/>
          </p:cNvCxnSpPr>
          <p:nvPr/>
        </p:nvCxnSpPr>
        <p:spPr>
          <a:xfrm rot="10800000">
            <a:off x="5836352" y="5322425"/>
            <a:ext cx="0" cy="532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1007;p80">
            <a:extLst>
              <a:ext uri="{FF2B5EF4-FFF2-40B4-BE49-F238E27FC236}">
                <a16:creationId xmlns:a16="http://schemas.microsoft.com/office/drawing/2014/main" id="{165D1D90-5D02-D01F-5F83-AAB9BA4F7632}"/>
              </a:ext>
            </a:extLst>
          </p:cNvPr>
          <p:cNvSpPr txBox="1"/>
          <p:nvPr/>
        </p:nvSpPr>
        <p:spPr>
          <a:xfrm>
            <a:off x="4646247" y="2756276"/>
            <a:ext cx="2380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Binário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0" name="Google Shape;1008;p80">
            <a:extLst>
              <a:ext uri="{FF2B5EF4-FFF2-40B4-BE49-F238E27FC236}">
                <a16:creationId xmlns:a16="http://schemas.microsoft.com/office/drawing/2014/main" id="{04BC41E2-05E9-A617-B9EB-1212F8BE0318}"/>
              </a:ext>
            </a:extLst>
          </p:cNvPr>
          <p:cNvSpPr txBox="1"/>
          <p:nvPr/>
        </p:nvSpPr>
        <p:spPr>
          <a:xfrm>
            <a:off x="7640872" y="6080662"/>
            <a:ext cx="2380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Ternário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" name="Google Shape;1009;p80">
            <a:extLst>
              <a:ext uri="{FF2B5EF4-FFF2-40B4-BE49-F238E27FC236}">
                <a16:creationId xmlns:a16="http://schemas.microsoft.com/office/drawing/2014/main" id="{1F166012-2E99-DFE9-EB6A-1D176A7A5B04}"/>
              </a:ext>
            </a:extLst>
          </p:cNvPr>
          <p:cNvSpPr txBox="1"/>
          <p:nvPr/>
        </p:nvSpPr>
        <p:spPr>
          <a:xfrm>
            <a:off x="5810272" y="5329862"/>
            <a:ext cx="1830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auxiliado por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2" name="Google Shape;1010;p80">
            <a:extLst>
              <a:ext uri="{FF2B5EF4-FFF2-40B4-BE49-F238E27FC236}">
                <a16:creationId xmlns:a16="http://schemas.microsoft.com/office/drawing/2014/main" id="{9D7F5C83-6C5B-8711-79D4-44F15C81D9B8}"/>
              </a:ext>
            </a:extLst>
          </p:cNvPr>
          <p:cNvSpPr txBox="1"/>
          <p:nvPr/>
        </p:nvSpPr>
        <p:spPr>
          <a:xfrm>
            <a:off x="6144497" y="3272564"/>
            <a:ext cx="1830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 monitor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3" name="Google Shape;1011;p80">
            <a:extLst>
              <a:ext uri="{FF2B5EF4-FFF2-40B4-BE49-F238E27FC236}">
                <a16:creationId xmlns:a16="http://schemas.microsoft.com/office/drawing/2014/main" id="{CC21BE12-CB43-BB29-BE43-954A87773D73}"/>
              </a:ext>
            </a:extLst>
          </p:cNvPr>
          <p:cNvSpPr txBox="1"/>
          <p:nvPr/>
        </p:nvSpPr>
        <p:spPr>
          <a:xfrm>
            <a:off x="3609297" y="3272564"/>
            <a:ext cx="1830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monitor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4" name="Google Shape;1012;p80">
            <a:extLst>
              <a:ext uri="{FF2B5EF4-FFF2-40B4-BE49-F238E27FC236}">
                <a16:creationId xmlns:a16="http://schemas.microsoft.com/office/drawing/2014/main" id="{DF04615E-2E6A-227D-31EB-971C237775DD}"/>
              </a:ext>
            </a:extLst>
          </p:cNvPr>
          <p:cNvSpPr txBox="1"/>
          <p:nvPr/>
        </p:nvSpPr>
        <p:spPr>
          <a:xfrm>
            <a:off x="4893897" y="5236050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04522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10" grpId="0"/>
      <p:bldP spid="11" grpId="0"/>
      <p:bldP spid="12" grpId="0" animBg="1"/>
      <p:bldP spid="13" grpId="0" animBg="1"/>
      <p:bldP spid="27" grpId="0" animBg="1"/>
      <p:bldP spid="30" grpId="0"/>
      <p:bldP spid="31" grpId="0"/>
      <p:bldP spid="3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E2247-F48B-EF53-F1F7-59AC1178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– Cardinalidade do CR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6FBA4C-7831-F355-CE3D-6A480EBC6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Cardinalidades possíveis para Ternários: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1:1:1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1:1:N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1:N:P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N:M:P</a:t>
            </a:r>
          </a:p>
        </p:txBody>
      </p:sp>
    </p:spTree>
    <p:extLst>
      <p:ext uri="{BB962C8B-B14F-4D97-AF65-F5344CB8AC3E}">
        <p14:creationId xmlns:p14="http://schemas.microsoft.com/office/powerpoint/2010/main" val="4824540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09FF5-F19C-6FEA-ED3E-565F46C7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 - 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00C12-C598-0433-1E5C-9A489C76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</a:t>
            </a:r>
            <a:r>
              <a:rPr lang="pt-BR" b="1" dirty="0"/>
              <a:t>um </a:t>
            </a:r>
            <a:r>
              <a:rPr lang="pt-BR" dirty="0"/>
              <a:t>Professor e </a:t>
            </a:r>
            <a:r>
              <a:rPr lang="pt-BR" b="1" dirty="0"/>
              <a:t>uma </a:t>
            </a:r>
            <a:r>
              <a:rPr lang="pt-BR" dirty="0"/>
              <a:t>Disciplina, pode existir </a:t>
            </a:r>
            <a:r>
              <a:rPr lang="pt-BR" b="1" dirty="0"/>
              <a:t>mais de um</a:t>
            </a:r>
            <a:r>
              <a:rPr lang="pt-BR" dirty="0"/>
              <a:t> aluno monitor que a monitora</a:t>
            </a:r>
          </a:p>
          <a:p>
            <a:endParaRPr lang="pt-BR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C81D5B8-5B86-C4D8-2CA5-D557FE3020FB}"/>
              </a:ext>
            </a:extLst>
          </p:cNvPr>
          <p:cNvGrpSpPr/>
          <p:nvPr/>
        </p:nvGrpSpPr>
        <p:grpSpPr>
          <a:xfrm>
            <a:off x="516373" y="3047843"/>
            <a:ext cx="11159274" cy="3393949"/>
            <a:chOff x="516373" y="2697884"/>
            <a:chExt cx="11159274" cy="3393949"/>
          </a:xfrm>
        </p:grpSpPr>
        <p:sp>
          <p:nvSpPr>
            <p:cNvPr id="4" name="Google Shape;1027;p82">
              <a:extLst>
                <a:ext uri="{FF2B5EF4-FFF2-40B4-BE49-F238E27FC236}">
                  <a16:creationId xmlns:a16="http://schemas.microsoft.com/office/drawing/2014/main" id="{6E87AF91-8A19-8E7B-009F-C08DFC7643A9}"/>
                </a:ext>
              </a:extLst>
            </p:cNvPr>
            <p:cNvSpPr/>
            <p:nvPr/>
          </p:nvSpPr>
          <p:spPr>
            <a:xfrm>
              <a:off x="516373" y="32168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Aluno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1028;p82">
              <a:extLst>
                <a:ext uri="{FF2B5EF4-FFF2-40B4-BE49-F238E27FC236}">
                  <a16:creationId xmlns:a16="http://schemas.microsoft.com/office/drawing/2014/main" id="{E73C45A8-5B63-969B-7D04-363394325C7E}"/>
                </a:ext>
              </a:extLst>
            </p:cNvPr>
            <p:cNvSpPr/>
            <p:nvPr/>
          </p:nvSpPr>
          <p:spPr>
            <a:xfrm>
              <a:off x="8659247" y="32168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1029;p82">
              <a:extLst>
                <a:ext uri="{FF2B5EF4-FFF2-40B4-BE49-F238E27FC236}">
                  <a16:creationId xmlns:a16="http://schemas.microsoft.com/office/drawing/2014/main" id="{1A83BB8F-1621-DFF3-A61B-59BFEBBB9EAD}"/>
                </a:ext>
              </a:extLst>
            </p:cNvPr>
            <p:cNvSpPr/>
            <p:nvPr/>
          </p:nvSpPr>
          <p:spPr>
            <a:xfrm>
              <a:off x="4433400" y="2948000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1030;p82">
              <a:extLst>
                <a:ext uri="{FF2B5EF4-FFF2-40B4-BE49-F238E27FC236}">
                  <a16:creationId xmlns:a16="http://schemas.microsoft.com/office/drawing/2014/main" id="{E0C54E8D-DF68-B482-587B-622DA82B0794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3532600" y="3670200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031;p82">
              <a:extLst>
                <a:ext uri="{FF2B5EF4-FFF2-40B4-BE49-F238E27FC236}">
                  <a16:creationId xmlns:a16="http://schemas.microsoft.com/office/drawing/2014/main" id="{8ED59ED8-97BB-ECEC-B49A-EBC379DB7D8F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758447" y="3670217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032;p82">
              <a:extLst>
                <a:ext uri="{FF2B5EF4-FFF2-40B4-BE49-F238E27FC236}">
                  <a16:creationId xmlns:a16="http://schemas.microsoft.com/office/drawing/2014/main" id="{439E8BDD-657D-3AC4-7CB8-369E4A727BD1}"/>
                </a:ext>
              </a:extLst>
            </p:cNvPr>
            <p:cNvSpPr txBox="1"/>
            <p:nvPr/>
          </p:nvSpPr>
          <p:spPr>
            <a:xfrm>
              <a:off x="3126600" y="2948017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1033;p82">
              <a:extLst>
                <a:ext uri="{FF2B5EF4-FFF2-40B4-BE49-F238E27FC236}">
                  <a16:creationId xmlns:a16="http://schemas.microsoft.com/office/drawing/2014/main" id="{EF88BBA7-5627-54EE-8F0A-E099036371E5}"/>
                </a:ext>
              </a:extLst>
            </p:cNvPr>
            <p:cNvSpPr/>
            <p:nvPr/>
          </p:nvSpPr>
          <p:spPr>
            <a:xfrm>
              <a:off x="679567" y="4392417"/>
              <a:ext cx="2690000" cy="6884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RA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1034;p82">
              <a:extLst>
                <a:ext uri="{FF2B5EF4-FFF2-40B4-BE49-F238E27FC236}">
                  <a16:creationId xmlns:a16="http://schemas.microsoft.com/office/drawing/2014/main" id="{2702D8A1-9A8C-A7A3-1E44-23678C689054}"/>
                </a:ext>
              </a:extLst>
            </p:cNvPr>
            <p:cNvSpPr/>
            <p:nvPr/>
          </p:nvSpPr>
          <p:spPr>
            <a:xfrm>
              <a:off x="8822433" y="4392417"/>
              <a:ext cx="2690000" cy="6884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2" name="Google Shape;1035;p82">
              <a:extLst>
                <a:ext uri="{FF2B5EF4-FFF2-40B4-BE49-F238E27FC236}">
                  <a16:creationId xmlns:a16="http://schemas.microsoft.com/office/drawing/2014/main" id="{64DC481A-0546-5DEA-82C7-1AA6AEBA4E3E}"/>
                </a:ext>
              </a:extLst>
            </p:cNvPr>
            <p:cNvCxnSpPr>
              <a:stCxn id="11" idx="0"/>
              <a:endCxn id="5" idx="2"/>
            </p:cNvCxnSpPr>
            <p:nvPr/>
          </p:nvCxnSpPr>
          <p:spPr>
            <a:xfrm rot="10800000">
              <a:off x="10167433" y="4123617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036;p82">
              <a:extLst>
                <a:ext uri="{FF2B5EF4-FFF2-40B4-BE49-F238E27FC236}">
                  <a16:creationId xmlns:a16="http://schemas.microsoft.com/office/drawing/2014/main" id="{A2FD8F88-959D-A648-B9CD-5D30B7972C76}"/>
                </a:ext>
              </a:extLst>
            </p:cNvPr>
            <p:cNvCxnSpPr>
              <a:stCxn id="10" idx="0"/>
              <a:endCxn id="4" idx="2"/>
            </p:cNvCxnSpPr>
            <p:nvPr/>
          </p:nvCxnSpPr>
          <p:spPr>
            <a:xfrm rot="10800000">
              <a:off x="2024567" y="4123617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037;p82">
              <a:extLst>
                <a:ext uri="{FF2B5EF4-FFF2-40B4-BE49-F238E27FC236}">
                  <a16:creationId xmlns:a16="http://schemas.microsoft.com/office/drawing/2014/main" id="{42CC1255-929B-BDA7-3D45-B3F2F01620FD}"/>
                </a:ext>
              </a:extLst>
            </p:cNvPr>
            <p:cNvSpPr/>
            <p:nvPr/>
          </p:nvSpPr>
          <p:spPr>
            <a:xfrm>
              <a:off x="4587807" y="5102851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Professor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5" name="Google Shape;1038;p82">
              <a:extLst>
                <a:ext uri="{FF2B5EF4-FFF2-40B4-BE49-F238E27FC236}">
                  <a16:creationId xmlns:a16="http://schemas.microsoft.com/office/drawing/2014/main" id="{D2DC15DC-1923-4246-6C9E-E9DC00C596AE}"/>
                </a:ext>
              </a:extLst>
            </p:cNvPr>
            <p:cNvCxnSpPr>
              <a:stCxn id="14" idx="0"/>
              <a:endCxn id="6" idx="2"/>
            </p:cNvCxnSpPr>
            <p:nvPr/>
          </p:nvCxnSpPr>
          <p:spPr>
            <a:xfrm rot="10800000">
              <a:off x="6096007" y="4392451"/>
              <a:ext cx="0" cy="710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039;p82">
              <a:extLst>
                <a:ext uri="{FF2B5EF4-FFF2-40B4-BE49-F238E27FC236}">
                  <a16:creationId xmlns:a16="http://schemas.microsoft.com/office/drawing/2014/main" id="{8F1BF5E4-A938-D7D6-4BCB-0DB9EF81CB7A}"/>
                </a:ext>
              </a:extLst>
            </p:cNvPr>
            <p:cNvSpPr txBox="1"/>
            <p:nvPr/>
          </p:nvSpPr>
          <p:spPr>
            <a:xfrm>
              <a:off x="8502033" y="5403433"/>
              <a:ext cx="3173600" cy="6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Ternário</a:t>
              </a:r>
              <a:endParaRPr sz="32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" name="Google Shape;1040;p82">
              <a:extLst>
                <a:ext uri="{FF2B5EF4-FFF2-40B4-BE49-F238E27FC236}">
                  <a16:creationId xmlns:a16="http://schemas.microsoft.com/office/drawing/2014/main" id="{D319D30D-09C2-CA59-EE9F-23802BD84384}"/>
                </a:ext>
              </a:extLst>
            </p:cNvPr>
            <p:cNvSpPr txBox="1"/>
            <p:nvPr/>
          </p:nvSpPr>
          <p:spPr>
            <a:xfrm>
              <a:off x="6061233" y="4402367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É auxiliado por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" name="Google Shape;1041;p82">
              <a:extLst>
                <a:ext uri="{FF2B5EF4-FFF2-40B4-BE49-F238E27FC236}">
                  <a16:creationId xmlns:a16="http://schemas.microsoft.com/office/drawing/2014/main" id="{49A59A76-DB77-31DF-864A-6991BA114F2D}"/>
                </a:ext>
              </a:extLst>
            </p:cNvPr>
            <p:cNvSpPr txBox="1"/>
            <p:nvPr/>
          </p:nvSpPr>
          <p:spPr>
            <a:xfrm>
              <a:off x="6506867" y="2697884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Tem monitor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" name="Google Shape;1042;p82">
              <a:extLst>
                <a:ext uri="{FF2B5EF4-FFF2-40B4-BE49-F238E27FC236}">
                  <a16:creationId xmlns:a16="http://schemas.microsoft.com/office/drawing/2014/main" id="{B2298ECC-80A8-42E9-0377-692F47C122B7}"/>
                </a:ext>
              </a:extLst>
            </p:cNvPr>
            <p:cNvSpPr txBox="1"/>
            <p:nvPr/>
          </p:nvSpPr>
          <p:spPr>
            <a:xfrm>
              <a:off x="3126600" y="2697884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É monitor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20" name="Google Shape;1043;p82">
              <a:extLst>
                <a:ext uri="{FF2B5EF4-FFF2-40B4-BE49-F238E27FC236}">
                  <a16:creationId xmlns:a16="http://schemas.microsoft.com/office/drawing/2014/main" id="{3EFBC724-5419-B970-70D7-1B774A48F52F}"/>
                </a:ext>
              </a:extLst>
            </p:cNvPr>
            <p:cNvCxnSpPr>
              <a:stCxn id="9" idx="2"/>
            </p:cNvCxnSpPr>
            <p:nvPr/>
          </p:nvCxnSpPr>
          <p:spPr>
            <a:xfrm rot="-5400000" flipH="1">
              <a:off x="6335400" y="1216817"/>
              <a:ext cx="451200" cy="5156000"/>
            </a:xfrm>
            <a:prstGeom prst="curvedConnector2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044;p82">
              <a:extLst>
                <a:ext uri="{FF2B5EF4-FFF2-40B4-BE49-F238E27FC236}">
                  <a16:creationId xmlns:a16="http://schemas.microsoft.com/office/drawing/2014/main" id="{ED32DB78-0911-94DD-BED1-C8F3DD2EEC6A}"/>
                </a:ext>
              </a:extLst>
            </p:cNvPr>
            <p:cNvCxnSpPr>
              <a:stCxn id="9" idx="2"/>
            </p:cNvCxnSpPr>
            <p:nvPr/>
          </p:nvCxnSpPr>
          <p:spPr>
            <a:xfrm rot="-5400000" flipH="1">
              <a:off x="3757600" y="3794617"/>
              <a:ext cx="1710800" cy="12600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7040534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317F-F58E-358A-F6EF-D2043939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 - 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8F9F3E-47C8-F877-FEAB-1B4485B1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</a:t>
            </a:r>
            <a:r>
              <a:rPr lang="pt-BR" b="1" dirty="0"/>
              <a:t>um </a:t>
            </a:r>
            <a:r>
              <a:rPr lang="pt-BR" dirty="0"/>
              <a:t>Professor e </a:t>
            </a:r>
            <a:r>
              <a:rPr lang="pt-BR" b="1" dirty="0"/>
              <a:t>um </a:t>
            </a:r>
            <a:r>
              <a:rPr lang="pt-BR" dirty="0"/>
              <a:t>Aluno monitor, existe </a:t>
            </a:r>
            <a:r>
              <a:rPr lang="pt-BR" b="1" dirty="0"/>
              <a:t>no máximo uma</a:t>
            </a:r>
            <a:r>
              <a:rPr lang="pt-BR" dirty="0"/>
              <a:t> disciplina que esse aluno monitora</a:t>
            </a:r>
          </a:p>
          <a:p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20EDC3F-BE7E-038E-4BD2-7F3C928D7433}"/>
              </a:ext>
            </a:extLst>
          </p:cNvPr>
          <p:cNvGrpSpPr/>
          <p:nvPr/>
        </p:nvGrpSpPr>
        <p:grpSpPr>
          <a:xfrm>
            <a:off x="516373" y="3047843"/>
            <a:ext cx="11159274" cy="3393949"/>
            <a:chOff x="516373" y="2697884"/>
            <a:chExt cx="11159274" cy="3393949"/>
          </a:xfrm>
        </p:grpSpPr>
        <p:sp>
          <p:nvSpPr>
            <p:cNvPr id="4" name="Google Shape;1052;p83">
              <a:extLst>
                <a:ext uri="{FF2B5EF4-FFF2-40B4-BE49-F238E27FC236}">
                  <a16:creationId xmlns:a16="http://schemas.microsoft.com/office/drawing/2014/main" id="{AD387A85-94D3-BDA5-5F67-CA16DDDC06E7}"/>
                </a:ext>
              </a:extLst>
            </p:cNvPr>
            <p:cNvSpPr/>
            <p:nvPr/>
          </p:nvSpPr>
          <p:spPr>
            <a:xfrm>
              <a:off x="516373" y="32168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Aluno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1053;p83">
              <a:extLst>
                <a:ext uri="{FF2B5EF4-FFF2-40B4-BE49-F238E27FC236}">
                  <a16:creationId xmlns:a16="http://schemas.microsoft.com/office/drawing/2014/main" id="{AF2440D0-5EB0-A66B-048F-741EBB77939C}"/>
                </a:ext>
              </a:extLst>
            </p:cNvPr>
            <p:cNvSpPr/>
            <p:nvPr/>
          </p:nvSpPr>
          <p:spPr>
            <a:xfrm>
              <a:off x="8659247" y="32168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1054;p83">
              <a:extLst>
                <a:ext uri="{FF2B5EF4-FFF2-40B4-BE49-F238E27FC236}">
                  <a16:creationId xmlns:a16="http://schemas.microsoft.com/office/drawing/2014/main" id="{0E73AD3D-9754-0587-A851-856FBBFF3D22}"/>
                </a:ext>
              </a:extLst>
            </p:cNvPr>
            <p:cNvSpPr/>
            <p:nvPr/>
          </p:nvSpPr>
          <p:spPr>
            <a:xfrm>
              <a:off x="4433400" y="2948000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1055;p83">
              <a:extLst>
                <a:ext uri="{FF2B5EF4-FFF2-40B4-BE49-F238E27FC236}">
                  <a16:creationId xmlns:a16="http://schemas.microsoft.com/office/drawing/2014/main" id="{AFFB80D4-AD9F-FFA4-B4CB-103F38CCBD37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3532600" y="3670200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056;p83">
              <a:extLst>
                <a:ext uri="{FF2B5EF4-FFF2-40B4-BE49-F238E27FC236}">
                  <a16:creationId xmlns:a16="http://schemas.microsoft.com/office/drawing/2014/main" id="{3A11493F-9E23-4DFB-C021-943256073878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758447" y="3670217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057;p83">
              <a:extLst>
                <a:ext uri="{FF2B5EF4-FFF2-40B4-BE49-F238E27FC236}">
                  <a16:creationId xmlns:a16="http://schemas.microsoft.com/office/drawing/2014/main" id="{2B341861-6A6D-0ECB-B539-CD16D6A822F8}"/>
                </a:ext>
              </a:extLst>
            </p:cNvPr>
            <p:cNvSpPr txBox="1"/>
            <p:nvPr/>
          </p:nvSpPr>
          <p:spPr>
            <a:xfrm>
              <a:off x="3126600" y="2948017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1058;p83">
              <a:extLst>
                <a:ext uri="{FF2B5EF4-FFF2-40B4-BE49-F238E27FC236}">
                  <a16:creationId xmlns:a16="http://schemas.microsoft.com/office/drawing/2014/main" id="{25CA2C72-5199-AA17-895F-228BA042FBFB}"/>
                </a:ext>
              </a:extLst>
            </p:cNvPr>
            <p:cNvSpPr/>
            <p:nvPr/>
          </p:nvSpPr>
          <p:spPr>
            <a:xfrm>
              <a:off x="679567" y="4392417"/>
              <a:ext cx="2690000" cy="6884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RA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1059;p83">
              <a:extLst>
                <a:ext uri="{FF2B5EF4-FFF2-40B4-BE49-F238E27FC236}">
                  <a16:creationId xmlns:a16="http://schemas.microsoft.com/office/drawing/2014/main" id="{26120EA3-B20F-E525-88CD-270758070796}"/>
                </a:ext>
              </a:extLst>
            </p:cNvPr>
            <p:cNvSpPr/>
            <p:nvPr/>
          </p:nvSpPr>
          <p:spPr>
            <a:xfrm>
              <a:off x="8822433" y="4392417"/>
              <a:ext cx="2690000" cy="6884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2" name="Google Shape;1060;p83">
              <a:extLst>
                <a:ext uri="{FF2B5EF4-FFF2-40B4-BE49-F238E27FC236}">
                  <a16:creationId xmlns:a16="http://schemas.microsoft.com/office/drawing/2014/main" id="{21DE4705-01FE-B3F4-75C5-63992FC46181}"/>
                </a:ext>
              </a:extLst>
            </p:cNvPr>
            <p:cNvCxnSpPr>
              <a:stCxn id="11" idx="0"/>
              <a:endCxn id="5" idx="2"/>
            </p:cNvCxnSpPr>
            <p:nvPr/>
          </p:nvCxnSpPr>
          <p:spPr>
            <a:xfrm rot="10800000">
              <a:off x="10167433" y="4123617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061;p83">
              <a:extLst>
                <a:ext uri="{FF2B5EF4-FFF2-40B4-BE49-F238E27FC236}">
                  <a16:creationId xmlns:a16="http://schemas.microsoft.com/office/drawing/2014/main" id="{2AD98A5C-0B17-1312-323C-E4C16BCB3DDE}"/>
                </a:ext>
              </a:extLst>
            </p:cNvPr>
            <p:cNvCxnSpPr>
              <a:stCxn id="10" idx="0"/>
              <a:endCxn id="4" idx="2"/>
            </p:cNvCxnSpPr>
            <p:nvPr/>
          </p:nvCxnSpPr>
          <p:spPr>
            <a:xfrm rot="10800000">
              <a:off x="2024567" y="4123617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062;p83">
              <a:extLst>
                <a:ext uri="{FF2B5EF4-FFF2-40B4-BE49-F238E27FC236}">
                  <a16:creationId xmlns:a16="http://schemas.microsoft.com/office/drawing/2014/main" id="{7F42A8A9-B919-14D6-803A-B7EB085E9F18}"/>
                </a:ext>
              </a:extLst>
            </p:cNvPr>
            <p:cNvSpPr/>
            <p:nvPr/>
          </p:nvSpPr>
          <p:spPr>
            <a:xfrm>
              <a:off x="4587807" y="5102851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Professor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5" name="Google Shape;1063;p83">
              <a:extLst>
                <a:ext uri="{FF2B5EF4-FFF2-40B4-BE49-F238E27FC236}">
                  <a16:creationId xmlns:a16="http://schemas.microsoft.com/office/drawing/2014/main" id="{1D03A01A-82B4-34C3-5B24-4A7BCD697F85}"/>
                </a:ext>
              </a:extLst>
            </p:cNvPr>
            <p:cNvCxnSpPr>
              <a:stCxn id="14" idx="0"/>
              <a:endCxn id="6" idx="2"/>
            </p:cNvCxnSpPr>
            <p:nvPr/>
          </p:nvCxnSpPr>
          <p:spPr>
            <a:xfrm rot="10800000">
              <a:off x="6096007" y="4392451"/>
              <a:ext cx="0" cy="710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064;p83">
              <a:extLst>
                <a:ext uri="{FF2B5EF4-FFF2-40B4-BE49-F238E27FC236}">
                  <a16:creationId xmlns:a16="http://schemas.microsoft.com/office/drawing/2014/main" id="{F9AA9DBF-B570-1C3E-543D-46D0345F50D2}"/>
                </a:ext>
              </a:extLst>
            </p:cNvPr>
            <p:cNvSpPr txBox="1"/>
            <p:nvPr/>
          </p:nvSpPr>
          <p:spPr>
            <a:xfrm>
              <a:off x="8502033" y="5403433"/>
              <a:ext cx="3173600" cy="6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Ternário</a:t>
              </a:r>
              <a:endParaRPr sz="32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" name="Google Shape;1065;p83">
              <a:extLst>
                <a:ext uri="{FF2B5EF4-FFF2-40B4-BE49-F238E27FC236}">
                  <a16:creationId xmlns:a16="http://schemas.microsoft.com/office/drawing/2014/main" id="{4331B2A0-CB01-C854-4FF1-46C35ED63926}"/>
                </a:ext>
              </a:extLst>
            </p:cNvPr>
            <p:cNvSpPr txBox="1"/>
            <p:nvPr/>
          </p:nvSpPr>
          <p:spPr>
            <a:xfrm>
              <a:off x="6061233" y="4402367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É auxiliado por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" name="Google Shape;1066;p83">
              <a:extLst>
                <a:ext uri="{FF2B5EF4-FFF2-40B4-BE49-F238E27FC236}">
                  <a16:creationId xmlns:a16="http://schemas.microsoft.com/office/drawing/2014/main" id="{4EECD776-1859-8020-83A4-3B0D1B1A13F9}"/>
                </a:ext>
              </a:extLst>
            </p:cNvPr>
            <p:cNvSpPr txBox="1"/>
            <p:nvPr/>
          </p:nvSpPr>
          <p:spPr>
            <a:xfrm>
              <a:off x="6506867" y="2697884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Tem monitor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" name="Google Shape;1067;p83">
              <a:extLst>
                <a:ext uri="{FF2B5EF4-FFF2-40B4-BE49-F238E27FC236}">
                  <a16:creationId xmlns:a16="http://schemas.microsoft.com/office/drawing/2014/main" id="{776C7214-54E6-D604-9BBA-B6D943893383}"/>
                </a:ext>
              </a:extLst>
            </p:cNvPr>
            <p:cNvSpPr txBox="1"/>
            <p:nvPr/>
          </p:nvSpPr>
          <p:spPr>
            <a:xfrm>
              <a:off x="3126600" y="2697884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É monitor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20" name="Google Shape;1068;p83">
              <a:extLst>
                <a:ext uri="{FF2B5EF4-FFF2-40B4-BE49-F238E27FC236}">
                  <a16:creationId xmlns:a16="http://schemas.microsoft.com/office/drawing/2014/main" id="{B69CBBE1-7519-9F11-A48D-3F93254294C8}"/>
                </a:ext>
              </a:extLst>
            </p:cNvPr>
            <p:cNvCxnSpPr>
              <a:endCxn id="22" idx="2"/>
            </p:cNvCxnSpPr>
            <p:nvPr/>
          </p:nvCxnSpPr>
          <p:spPr>
            <a:xfrm rot="10800000" flipH="1">
              <a:off x="3227633" y="3535251"/>
              <a:ext cx="4981200" cy="317200"/>
            </a:xfrm>
            <a:prstGeom prst="curvedConnector2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070;p83">
              <a:extLst>
                <a:ext uri="{FF2B5EF4-FFF2-40B4-BE49-F238E27FC236}">
                  <a16:creationId xmlns:a16="http://schemas.microsoft.com/office/drawing/2014/main" id="{F57D347A-DC49-7A6B-15B6-25A8FF2EFAB2}"/>
                </a:ext>
              </a:extLst>
            </p:cNvPr>
            <p:cNvCxnSpPr>
              <a:stCxn id="22" idx="2"/>
            </p:cNvCxnSpPr>
            <p:nvPr/>
          </p:nvCxnSpPr>
          <p:spPr>
            <a:xfrm rot="5400000">
              <a:off x="6575633" y="4184051"/>
              <a:ext cx="2282000" cy="9844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1069;p83">
              <a:extLst>
                <a:ext uri="{FF2B5EF4-FFF2-40B4-BE49-F238E27FC236}">
                  <a16:creationId xmlns:a16="http://schemas.microsoft.com/office/drawing/2014/main" id="{49E85886-CAC6-8364-86BB-63817889D171}"/>
                </a:ext>
              </a:extLst>
            </p:cNvPr>
            <p:cNvSpPr txBox="1"/>
            <p:nvPr/>
          </p:nvSpPr>
          <p:spPr>
            <a:xfrm>
              <a:off x="7352433" y="2914051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63151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F30B6-F98E-0B82-1203-08E2FD32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 - 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2163F2-1BE0-3BAB-CD8B-E59DC59E8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</a:t>
            </a:r>
            <a:r>
              <a:rPr lang="pt-BR" b="1" dirty="0"/>
              <a:t>uma </a:t>
            </a:r>
            <a:r>
              <a:rPr lang="pt-BR" dirty="0"/>
              <a:t>Disciplina e </a:t>
            </a:r>
            <a:r>
              <a:rPr lang="pt-BR" b="1" dirty="0"/>
              <a:t>um </a:t>
            </a:r>
            <a:r>
              <a:rPr lang="pt-BR" dirty="0"/>
              <a:t>Aluno monitor, </a:t>
            </a:r>
            <a:r>
              <a:rPr lang="pt-BR" b="1" dirty="0"/>
              <a:t>mais de um</a:t>
            </a:r>
            <a:r>
              <a:rPr lang="pt-BR" dirty="0"/>
              <a:t> professor pode ser responsável</a:t>
            </a:r>
          </a:p>
          <a:p>
            <a:endParaRPr lang="pt-BR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36992FE-38AA-7452-B45D-8FBBF7C47598}"/>
              </a:ext>
            </a:extLst>
          </p:cNvPr>
          <p:cNvGrpSpPr/>
          <p:nvPr/>
        </p:nvGrpSpPr>
        <p:grpSpPr>
          <a:xfrm>
            <a:off x="516373" y="3264010"/>
            <a:ext cx="11159274" cy="3177782"/>
            <a:chOff x="516373" y="2914051"/>
            <a:chExt cx="11159274" cy="3177782"/>
          </a:xfrm>
        </p:grpSpPr>
        <p:sp>
          <p:nvSpPr>
            <p:cNvPr id="4" name="Google Shape;1078;p84">
              <a:extLst>
                <a:ext uri="{FF2B5EF4-FFF2-40B4-BE49-F238E27FC236}">
                  <a16:creationId xmlns:a16="http://schemas.microsoft.com/office/drawing/2014/main" id="{67EE00A3-5E8B-2ECC-BEE3-032CA8C9580D}"/>
                </a:ext>
              </a:extLst>
            </p:cNvPr>
            <p:cNvSpPr/>
            <p:nvPr/>
          </p:nvSpPr>
          <p:spPr>
            <a:xfrm>
              <a:off x="516373" y="32168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Aluno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1079;p84">
              <a:extLst>
                <a:ext uri="{FF2B5EF4-FFF2-40B4-BE49-F238E27FC236}">
                  <a16:creationId xmlns:a16="http://schemas.microsoft.com/office/drawing/2014/main" id="{FA6F0423-E48B-6BF4-7115-17692A5C228D}"/>
                </a:ext>
              </a:extLst>
            </p:cNvPr>
            <p:cNvSpPr/>
            <p:nvPr/>
          </p:nvSpPr>
          <p:spPr>
            <a:xfrm>
              <a:off x="8659247" y="32168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1080;p84">
              <a:extLst>
                <a:ext uri="{FF2B5EF4-FFF2-40B4-BE49-F238E27FC236}">
                  <a16:creationId xmlns:a16="http://schemas.microsoft.com/office/drawing/2014/main" id="{0D21EF6C-A50C-0B4B-C204-DB674AEC723E}"/>
                </a:ext>
              </a:extLst>
            </p:cNvPr>
            <p:cNvSpPr/>
            <p:nvPr/>
          </p:nvSpPr>
          <p:spPr>
            <a:xfrm>
              <a:off x="4433400" y="2948000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1081;p84">
              <a:extLst>
                <a:ext uri="{FF2B5EF4-FFF2-40B4-BE49-F238E27FC236}">
                  <a16:creationId xmlns:a16="http://schemas.microsoft.com/office/drawing/2014/main" id="{CCFD97F6-6103-FDF9-A161-7DE595921D97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3532600" y="3670200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082;p84">
              <a:extLst>
                <a:ext uri="{FF2B5EF4-FFF2-40B4-BE49-F238E27FC236}">
                  <a16:creationId xmlns:a16="http://schemas.microsoft.com/office/drawing/2014/main" id="{89F47C9A-C436-D91D-BC29-2D0882F3DAAA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758447" y="3670217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083;p84">
              <a:extLst>
                <a:ext uri="{FF2B5EF4-FFF2-40B4-BE49-F238E27FC236}">
                  <a16:creationId xmlns:a16="http://schemas.microsoft.com/office/drawing/2014/main" id="{33920EC4-D1B5-0D42-663C-FFE453CB2F19}"/>
                </a:ext>
              </a:extLst>
            </p:cNvPr>
            <p:cNvSpPr txBox="1"/>
            <p:nvPr/>
          </p:nvSpPr>
          <p:spPr>
            <a:xfrm>
              <a:off x="3126600" y="2948017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1084;p84">
              <a:extLst>
                <a:ext uri="{FF2B5EF4-FFF2-40B4-BE49-F238E27FC236}">
                  <a16:creationId xmlns:a16="http://schemas.microsoft.com/office/drawing/2014/main" id="{A886D15B-B45C-6DBA-6E94-E3ADA3ABCC1D}"/>
                </a:ext>
              </a:extLst>
            </p:cNvPr>
            <p:cNvSpPr/>
            <p:nvPr/>
          </p:nvSpPr>
          <p:spPr>
            <a:xfrm>
              <a:off x="679567" y="4392417"/>
              <a:ext cx="2690000" cy="6884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RA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1085;p84">
              <a:extLst>
                <a:ext uri="{FF2B5EF4-FFF2-40B4-BE49-F238E27FC236}">
                  <a16:creationId xmlns:a16="http://schemas.microsoft.com/office/drawing/2014/main" id="{D5019178-77B0-AEE8-9584-451281035EF1}"/>
                </a:ext>
              </a:extLst>
            </p:cNvPr>
            <p:cNvSpPr/>
            <p:nvPr/>
          </p:nvSpPr>
          <p:spPr>
            <a:xfrm>
              <a:off x="8822433" y="4392417"/>
              <a:ext cx="2690000" cy="688400"/>
            </a:xfrm>
            <a:prstGeom prst="ellipse">
              <a:avLst/>
            </a:prstGeom>
            <a:solidFill>
              <a:srgbClr val="674EA7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2" name="Google Shape;1086;p84">
              <a:extLst>
                <a:ext uri="{FF2B5EF4-FFF2-40B4-BE49-F238E27FC236}">
                  <a16:creationId xmlns:a16="http://schemas.microsoft.com/office/drawing/2014/main" id="{2B6DBAC9-0E1A-B9A1-EDD1-57A5E4E39DB9}"/>
                </a:ext>
              </a:extLst>
            </p:cNvPr>
            <p:cNvCxnSpPr>
              <a:stCxn id="11" idx="0"/>
              <a:endCxn id="5" idx="2"/>
            </p:cNvCxnSpPr>
            <p:nvPr/>
          </p:nvCxnSpPr>
          <p:spPr>
            <a:xfrm rot="10800000">
              <a:off x="10167433" y="4123617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087;p84">
              <a:extLst>
                <a:ext uri="{FF2B5EF4-FFF2-40B4-BE49-F238E27FC236}">
                  <a16:creationId xmlns:a16="http://schemas.microsoft.com/office/drawing/2014/main" id="{2EB96982-E625-760E-405B-8669FDB10030}"/>
                </a:ext>
              </a:extLst>
            </p:cNvPr>
            <p:cNvCxnSpPr>
              <a:stCxn id="10" idx="0"/>
              <a:endCxn id="4" idx="2"/>
            </p:cNvCxnSpPr>
            <p:nvPr/>
          </p:nvCxnSpPr>
          <p:spPr>
            <a:xfrm rot="10800000">
              <a:off x="2024567" y="4123617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088;p84">
              <a:extLst>
                <a:ext uri="{FF2B5EF4-FFF2-40B4-BE49-F238E27FC236}">
                  <a16:creationId xmlns:a16="http://schemas.microsoft.com/office/drawing/2014/main" id="{5881E71E-8875-0DBF-BB40-4117F55458FD}"/>
                </a:ext>
              </a:extLst>
            </p:cNvPr>
            <p:cNvSpPr/>
            <p:nvPr/>
          </p:nvSpPr>
          <p:spPr>
            <a:xfrm>
              <a:off x="4587807" y="5102851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Professor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5" name="Google Shape;1089;p84">
              <a:extLst>
                <a:ext uri="{FF2B5EF4-FFF2-40B4-BE49-F238E27FC236}">
                  <a16:creationId xmlns:a16="http://schemas.microsoft.com/office/drawing/2014/main" id="{8EFD29FF-9209-597E-581F-014FABDD18E2}"/>
                </a:ext>
              </a:extLst>
            </p:cNvPr>
            <p:cNvCxnSpPr>
              <a:stCxn id="14" idx="0"/>
              <a:endCxn id="6" idx="2"/>
            </p:cNvCxnSpPr>
            <p:nvPr/>
          </p:nvCxnSpPr>
          <p:spPr>
            <a:xfrm rot="10800000">
              <a:off x="6096007" y="4392451"/>
              <a:ext cx="0" cy="710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090;p84">
              <a:extLst>
                <a:ext uri="{FF2B5EF4-FFF2-40B4-BE49-F238E27FC236}">
                  <a16:creationId xmlns:a16="http://schemas.microsoft.com/office/drawing/2014/main" id="{84D4C4C6-0AA6-CFDC-3722-D79B62620D73}"/>
                </a:ext>
              </a:extLst>
            </p:cNvPr>
            <p:cNvSpPr txBox="1"/>
            <p:nvPr/>
          </p:nvSpPr>
          <p:spPr>
            <a:xfrm>
              <a:off x="8502033" y="5403433"/>
              <a:ext cx="3173600" cy="6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Ternário</a:t>
              </a:r>
              <a:endParaRPr sz="32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" name="Google Shape;1091;p84">
              <a:extLst>
                <a:ext uri="{FF2B5EF4-FFF2-40B4-BE49-F238E27FC236}">
                  <a16:creationId xmlns:a16="http://schemas.microsoft.com/office/drawing/2014/main" id="{7041EAC9-C3C6-E6BA-1428-28C22698508D}"/>
                </a:ext>
              </a:extLst>
            </p:cNvPr>
            <p:cNvSpPr txBox="1"/>
            <p:nvPr/>
          </p:nvSpPr>
          <p:spPr>
            <a:xfrm>
              <a:off x="6061233" y="4402367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É auxiliado por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8" name="Google Shape;1094;p84">
              <a:extLst>
                <a:ext uri="{FF2B5EF4-FFF2-40B4-BE49-F238E27FC236}">
                  <a16:creationId xmlns:a16="http://schemas.microsoft.com/office/drawing/2014/main" id="{6508289F-F2BA-8BF2-FB6B-D9A2ADE1BF5B}"/>
                </a:ext>
              </a:extLst>
            </p:cNvPr>
            <p:cNvCxnSpPr/>
            <p:nvPr/>
          </p:nvCxnSpPr>
          <p:spPr>
            <a:xfrm>
              <a:off x="3227433" y="3852251"/>
              <a:ext cx="2250400" cy="8904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095;p84">
              <a:extLst>
                <a:ext uri="{FF2B5EF4-FFF2-40B4-BE49-F238E27FC236}">
                  <a16:creationId xmlns:a16="http://schemas.microsoft.com/office/drawing/2014/main" id="{F9529D10-ACDF-A551-61A0-9478DD7C205A}"/>
                </a:ext>
              </a:extLst>
            </p:cNvPr>
            <p:cNvCxnSpPr>
              <a:endCxn id="21" idx="0"/>
            </p:cNvCxnSpPr>
            <p:nvPr/>
          </p:nvCxnSpPr>
          <p:spPr>
            <a:xfrm flipH="1">
              <a:off x="5718233" y="3784851"/>
              <a:ext cx="3404000" cy="580800"/>
            </a:xfrm>
            <a:prstGeom prst="curvedConnector2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1097;p84">
              <a:extLst>
                <a:ext uri="{FF2B5EF4-FFF2-40B4-BE49-F238E27FC236}">
                  <a16:creationId xmlns:a16="http://schemas.microsoft.com/office/drawing/2014/main" id="{3BCE30E3-52CB-FC07-0130-8A9B5E592D87}"/>
                </a:ext>
              </a:extLst>
            </p:cNvPr>
            <p:cNvSpPr txBox="1"/>
            <p:nvPr/>
          </p:nvSpPr>
          <p:spPr>
            <a:xfrm>
              <a:off x="7352433" y="2914051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" name="Google Shape;1096;p84">
              <a:extLst>
                <a:ext uri="{FF2B5EF4-FFF2-40B4-BE49-F238E27FC236}">
                  <a16:creationId xmlns:a16="http://schemas.microsoft.com/office/drawing/2014/main" id="{4B40FDDE-2E47-C0EF-BDC0-71E7B5C27F13}"/>
                </a:ext>
              </a:extLst>
            </p:cNvPr>
            <p:cNvSpPr txBox="1"/>
            <p:nvPr/>
          </p:nvSpPr>
          <p:spPr>
            <a:xfrm>
              <a:off x="4861833" y="4365651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8972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8782A-4B07-7E11-CE50-59857B72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C5759A-0EE5-90F6-1A98-A210B01F8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Mesmo Conjunto de Entidades com vários papéis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dirty="0"/>
              <a:t>Ex.: Empresa (vendedora) negocia Produtos com outra Empresa (compradora)</a:t>
            </a:r>
          </a:p>
          <a:p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411B236-526C-6579-0167-ADB6051C37C8}"/>
              </a:ext>
            </a:extLst>
          </p:cNvPr>
          <p:cNvGrpSpPr/>
          <p:nvPr/>
        </p:nvGrpSpPr>
        <p:grpSpPr>
          <a:xfrm>
            <a:off x="516373" y="3737551"/>
            <a:ext cx="11159274" cy="2149200"/>
            <a:chOff x="516373" y="3737551"/>
            <a:chExt cx="11159274" cy="2149200"/>
          </a:xfrm>
        </p:grpSpPr>
        <p:sp>
          <p:nvSpPr>
            <p:cNvPr id="4" name="Google Shape;1105;p85">
              <a:extLst>
                <a:ext uri="{FF2B5EF4-FFF2-40B4-BE49-F238E27FC236}">
                  <a16:creationId xmlns:a16="http://schemas.microsoft.com/office/drawing/2014/main" id="{FC18087D-D53A-0944-CBCF-331640782123}"/>
                </a:ext>
              </a:extLst>
            </p:cNvPr>
            <p:cNvSpPr/>
            <p:nvPr/>
          </p:nvSpPr>
          <p:spPr>
            <a:xfrm>
              <a:off x="516373" y="4358751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Produto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1106;p85">
              <a:extLst>
                <a:ext uri="{FF2B5EF4-FFF2-40B4-BE49-F238E27FC236}">
                  <a16:creationId xmlns:a16="http://schemas.microsoft.com/office/drawing/2014/main" id="{BE91C062-92E3-934C-B126-0AC8B41085D5}"/>
                </a:ext>
              </a:extLst>
            </p:cNvPr>
            <p:cNvSpPr/>
            <p:nvPr/>
          </p:nvSpPr>
          <p:spPr>
            <a:xfrm>
              <a:off x="8659247" y="4358751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Empresa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1107;p85">
              <a:extLst>
                <a:ext uri="{FF2B5EF4-FFF2-40B4-BE49-F238E27FC236}">
                  <a16:creationId xmlns:a16="http://schemas.microsoft.com/office/drawing/2014/main" id="{3DE6A979-AF7E-4BF4-10C4-C28AD7953AC1}"/>
                </a:ext>
              </a:extLst>
            </p:cNvPr>
            <p:cNvSpPr/>
            <p:nvPr/>
          </p:nvSpPr>
          <p:spPr>
            <a:xfrm>
              <a:off x="4433400" y="4089933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Negocia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1108;p85">
              <a:extLst>
                <a:ext uri="{FF2B5EF4-FFF2-40B4-BE49-F238E27FC236}">
                  <a16:creationId xmlns:a16="http://schemas.microsoft.com/office/drawing/2014/main" id="{61DE57FE-869A-AACD-9801-F3D19442842E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3532600" y="4812133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109;p85">
              <a:extLst>
                <a:ext uri="{FF2B5EF4-FFF2-40B4-BE49-F238E27FC236}">
                  <a16:creationId xmlns:a16="http://schemas.microsoft.com/office/drawing/2014/main" id="{FB148D12-0390-F028-C1FF-13102373AE5A}"/>
                </a:ext>
              </a:extLst>
            </p:cNvPr>
            <p:cNvCxnSpPr>
              <a:stCxn id="5" idx="1"/>
              <a:endCxn id="6" idx="0"/>
            </p:cNvCxnSpPr>
            <p:nvPr/>
          </p:nvCxnSpPr>
          <p:spPr>
            <a:xfrm rot="10800000">
              <a:off x="6096047" y="4089751"/>
              <a:ext cx="2563200" cy="722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110;p85">
              <a:extLst>
                <a:ext uri="{FF2B5EF4-FFF2-40B4-BE49-F238E27FC236}">
                  <a16:creationId xmlns:a16="http://schemas.microsoft.com/office/drawing/2014/main" id="{9168FAD4-DDE9-CC70-49EF-D0C43ECC8883}"/>
                </a:ext>
              </a:extLst>
            </p:cNvPr>
            <p:cNvSpPr txBox="1"/>
            <p:nvPr/>
          </p:nvSpPr>
          <p:spPr>
            <a:xfrm>
              <a:off x="3126600" y="4089951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P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1111;p85">
              <a:extLst>
                <a:ext uri="{FF2B5EF4-FFF2-40B4-BE49-F238E27FC236}">
                  <a16:creationId xmlns:a16="http://schemas.microsoft.com/office/drawing/2014/main" id="{8368C34A-D707-57CD-3931-B73735B3D06B}"/>
                </a:ext>
              </a:extLst>
            </p:cNvPr>
            <p:cNvSpPr txBox="1"/>
            <p:nvPr/>
          </p:nvSpPr>
          <p:spPr>
            <a:xfrm>
              <a:off x="6305333" y="3737551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Compra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1112;p85">
              <a:extLst>
                <a:ext uri="{FF2B5EF4-FFF2-40B4-BE49-F238E27FC236}">
                  <a16:creationId xmlns:a16="http://schemas.microsoft.com/office/drawing/2014/main" id="{5A1FF502-0384-A923-D9C4-DD6D6B28C77D}"/>
                </a:ext>
              </a:extLst>
            </p:cNvPr>
            <p:cNvSpPr txBox="1"/>
            <p:nvPr/>
          </p:nvSpPr>
          <p:spPr>
            <a:xfrm>
              <a:off x="3126600" y="3839817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Vendido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1113;p85">
              <a:extLst>
                <a:ext uri="{FF2B5EF4-FFF2-40B4-BE49-F238E27FC236}">
                  <a16:creationId xmlns:a16="http://schemas.microsoft.com/office/drawing/2014/main" id="{96CDF8BA-BE12-4EB8-64F8-B956D162F207}"/>
                </a:ext>
              </a:extLst>
            </p:cNvPr>
            <p:cNvSpPr txBox="1"/>
            <p:nvPr/>
          </p:nvSpPr>
          <p:spPr>
            <a:xfrm>
              <a:off x="7352433" y="4055984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3" name="Google Shape;1114;p85">
              <a:extLst>
                <a:ext uri="{FF2B5EF4-FFF2-40B4-BE49-F238E27FC236}">
                  <a16:creationId xmlns:a16="http://schemas.microsoft.com/office/drawing/2014/main" id="{67C91CB7-14C6-4AD7-F2B7-A257BF8A6D6C}"/>
                </a:ext>
              </a:extLst>
            </p:cNvPr>
            <p:cNvCxnSpPr>
              <a:stCxn id="5" idx="1"/>
              <a:endCxn id="6" idx="2"/>
            </p:cNvCxnSpPr>
            <p:nvPr/>
          </p:nvCxnSpPr>
          <p:spPr>
            <a:xfrm flipH="1">
              <a:off x="6096047" y="4812151"/>
              <a:ext cx="2563200" cy="722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115;p85">
              <a:extLst>
                <a:ext uri="{FF2B5EF4-FFF2-40B4-BE49-F238E27FC236}">
                  <a16:creationId xmlns:a16="http://schemas.microsoft.com/office/drawing/2014/main" id="{47812D1F-2132-B92E-820B-43BB523063E3}"/>
                </a:ext>
              </a:extLst>
            </p:cNvPr>
            <p:cNvSpPr txBox="1"/>
            <p:nvPr/>
          </p:nvSpPr>
          <p:spPr>
            <a:xfrm>
              <a:off x="7352433" y="4913117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M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" name="Google Shape;1116;p85">
              <a:extLst>
                <a:ext uri="{FF2B5EF4-FFF2-40B4-BE49-F238E27FC236}">
                  <a16:creationId xmlns:a16="http://schemas.microsoft.com/office/drawing/2014/main" id="{06F0C0EA-1193-84F9-5FB3-5BE04C6771DF}"/>
                </a:ext>
              </a:extLst>
            </p:cNvPr>
            <p:cNvSpPr txBox="1"/>
            <p:nvPr/>
          </p:nvSpPr>
          <p:spPr>
            <a:xfrm>
              <a:off x="6305333" y="5265551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Vende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55622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12FD-12E9-13A3-4777-4CFE9C53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505A6A-416D-B138-B909-1EC7AA430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Empresa (Assessora) Promove a Venda de uma outra Empresa (Vendida) para uma terceira Empresa (Compradora)</a:t>
            </a:r>
          </a:p>
          <a:p>
            <a:endParaRPr lang="pt-BR" dirty="0"/>
          </a:p>
        </p:txBody>
      </p:sp>
      <p:sp>
        <p:nvSpPr>
          <p:cNvPr id="4" name="Google Shape;1124;p86">
            <a:extLst>
              <a:ext uri="{FF2B5EF4-FFF2-40B4-BE49-F238E27FC236}">
                <a16:creationId xmlns:a16="http://schemas.microsoft.com/office/drawing/2014/main" id="{E2306935-F47A-C474-5D6B-3AD42479511D}"/>
              </a:ext>
            </a:extLst>
          </p:cNvPr>
          <p:cNvSpPr/>
          <p:nvPr/>
        </p:nvSpPr>
        <p:spPr>
          <a:xfrm>
            <a:off x="8659247" y="4358751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Empresa</a:t>
            </a:r>
            <a:endParaRPr sz="32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125;p86">
            <a:extLst>
              <a:ext uri="{FF2B5EF4-FFF2-40B4-BE49-F238E27FC236}">
                <a16:creationId xmlns:a16="http://schemas.microsoft.com/office/drawing/2014/main" id="{56140FAB-2AF0-B3BD-D519-64A55961459C}"/>
              </a:ext>
            </a:extLst>
          </p:cNvPr>
          <p:cNvSpPr/>
          <p:nvPr/>
        </p:nvSpPr>
        <p:spPr>
          <a:xfrm>
            <a:off x="1007567" y="4089967"/>
            <a:ext cx="3325200" cy="14444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Promove Venda</a:t>
            </a:r>
            <a:endParaRPr sz="3067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126;p86">
            <a:extLst>
              <a:ext uri="{FF2B5EF4-FFF2-40B4-BE49-F238E27FC236}">
                <a16:creationId xmlns:a16="http://schemas.microsoft.com/office/drawing/2014/main" id="{A80A466D-A94D-F767-BF0F-BBC2E6E55E4B}"/>
              </a:ext>
            </a:extLst>
          </p:cNvPr>
          <p:cNvSpPr txBox="1"/>
          <p:nvPr/>
        </p:nvSpPr>
        <p:spPr>
          <a:xfrm>
            <a:off x="5275600" y="4190884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Compra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1127;p86">
            <a:extLst>
              <a:ext uri="{FF2B5EF4-FFF2-40B4-BE49-F238E27FC236}">
                <a16:creationId xmlns:a16="http://schemas.microsoft.com/office/drawing/2014/main" id="{51F9A924-13F3-365B-512A-7CC177D42BFD}"/>
              </a:ext>
            </a:extLst>
          </p:cNvPr>
          <p:cNvSpPr txBox="1"/>
          <p:nvPr/>
        </p:nvSpPr>
        <p:spPr>
          <a:xfrm>
            <a:off x="6495967" y="4117200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1128;p86">
            <a:extLst>
              <a:ext uri="{FF2B5EF4-FFF2-40B4-BE49-F238E27FC236}">
                <a16:creationId xmlns:a16="http://schemas.microsoft.com/office/drawing/2014/main" id="{2DE4206E-2627-73E2-E1B2-65254A542DDA}"/>
              </a:ext>
            </a:extLst>
          </p:cNvPr>
          <p:cNvSpPr txBox="1"/>
          <p:nvPr/>
        </p:nvSpPr>
        <p:spPr>
          <a:xfrm>
            <a:off x="6946433" y="5118184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1129;p86">
            <a:extLst>
              <a:ext uri="{FF2B5EF4-FFF2-40B4-BE49-F238E27FC236}">
                <a16:creationId xmlns:a16="http://schemas.microsoft.com/office/drawing/2014/main" id="{A4C1673E-9F37-E2B7-0C47-3B0CCE3EB4A6}"/>
              </a:ext>
            </a:extLst>
          </p:cNvPr>
          <p:cNvSpPr txBox="1"/>
          <p:nvPr/>
        </p:nvSpPr>
        <p:spPr>
          <a:xfrm>
            <a:off x="5198367" y="5250033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Assessora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0" name="Google Shape;1130;p86">
            <a:extLst>
              <a:ext uri="{FF2B5EF4-FFF2-40B4-BE49-F238E27FC236}">
                <a16:creationId xmlns:a16="http://schemas.microsoft.com/office/drawing/2014/main" id="{DB3F9BDD-A777-6AC1-0828-4607C8D10A38}"/>
              </a:ext>
            </a:extLst>
          </p:cNvPr>
          <p:cNvCxnSpPr>
            <a:stCxn id="4" idx="1"/>
            <a:endCxn id="5" idx="3"/>
          </p:cNvCxnSpPr>
          <p:nvPr/>
        </p:nvCxnSpPr>
        <p:spPr>
          <a:xfrm rot="10800000">
            <a:off x="4332847" y="4812151"/>
            <a:ext cx="4326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31;p86">
            <a:extLst>
              <a:ext uri="{FF2B5EF4-FFF2-40B4-BE49-F238E27FC236}">
                <a16:creationId xmlns:a16="http://schemas.microsoft.com/office/drawing/2014/main" id="{18F2724A-E804-6F82-8DFE-6ABF42319B2C}"/>
              </a:ext>
            </a:extLst>
          </p:cNvPr>
          <p:cNvCxnSpPr>
            <a:stCxn id="5" idx="2"/>
            <a:endCxn id="4" idx="2"/>
          </p:cNvCxnSpPr>
          <p:nvPr/>
        </p:nvCxnSpPr>
        <p:spPr>
          <a:xfrm rot="-5400000">
            <a:off x="6284367" y="1651367"/>
            <a:ext cx="268800" cy="7497200"/>
          </a:xfrm>
          <a:prstGeom prst="curvedConnector3">
            <a:avLst>
              <a:gd name="adj1" fmla="val -11811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132;p86">
            <a:extLst>
              <a:ext uri="{FF2B5EF4-FFF2-40B4-BE49-F238E27FC236}">
                <a16:creationId xmlns:a16="http://schemas.microsoft.com/office/drawing/2014/main" id="{AA6F7D9D-D4A4-A524-958B-1AEFDC1470D5}"/>
              </a:ext>
            </a:extLst>
          </p:cNvPr>
          <p:cNvCxnSpPr>
            <a:stCxn id="5" idx="0"/>
            <a:endCxn id="4" idx="0"/>
          </p:cNvCxnSpPr>
          <p:nvPr/>
        </p:nvCxnSpPr>
        <p:spPr>
          <a:xfrm rot="-5400000" flipH="1">
            <a:off x="6284367" y="475767"/>
            <a:ext cx="268800" cy="7497200"/>
          </a:xfrm>
          <a:prstGeom prst="curvedConnector3">
            <a:avLst>
              <a:gd name="adj1" fmla="val -11811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133;p86">
            <a:extLst>
              <a:ext uri="{FF2B5EF4-FFF2-40B4-BE49-F238E27FC236}">
                <a16:creationId xmlns:a16="http://schemas.microsoft.com/office/drawing/2014/main" id="{5F212D5A-C717-64B0-0073-6FF1F0E67204}"/>
              </a:ext>
            </a:extLst>
          </p:cNvPr>
          <p:cNvSpPr txBox="1"/>
          <p:nvPr/>
        </p:nvSpPr>
        <p:spPr>
          <a:xfrm>
            <a:off x="5566717" y="3116184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vendida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1134;p86">
            <a:extLst>
              <a:ext uri="{FF2B5EF4-FFF2-40B4-BE49-F238E27FC236}">
                <a16:creationId xmlns:a16="http://schemas.microsoft.com/office/drawing/2014/main" id="{2F553890-1B92-916D-534C-3DF7211C8571}"/>
              </a:ext>
            </a:extLst>
          </p:cNvPr>
          <p:cNvSpPr txBox="1"/>
          <p:nvPr/>
        </p:nvSpPr>
        <p:spPr>
          <a:xfrm>
            <a:off x="7063984" y="3116200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P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5888683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7"/>
          <p:cNvSpPr txBox="1">
            <a:spLocks noGrp="1"/>
          </p:cNvSpPr>
          <p:nvPr>
            <p:ph type="title"/>
          </p:nvPr>
        </p:nvSpPr>
        <p:spPr>
          <a:xfrm>
            <a:off x="415600" y="582833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pt-BR" dirty="0"/>
              <a:t>MER - Relacionamento Ternário - Cardinalidade</a:t>
            </a:r>
            <a:endParaRPr dirty="0"/>
          </a:p>
        </p:txBody>
      </p:sp>
      <p:sp>
        <p:nvSpPr>
          <p:cNvPr id="1141" name="Google Shape;1141;p8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OBS:  todo CR tem significado semântico.</a:t>
            </a:r>
            <a:endParaRPr dirty="0"/>
          </a:p>
          <a:p>
            <a:pPr lvl="1">
              <a:spcBef>
                <a:spcPts val="1800"/>
              </a:spcBef>
            </a:pPr>
            <a:r>
              <a:rPr lang="pt-BR" dirty="0"/>
              <a:t>O CR </a:t>
            </a:r>
            <a:r>
              <a:rPr lang="pt-BR" b="1" dirty="0"/>
              <a:t>Monitora</a:t>
            </a:r>
            <a:r>
              <a:rPr lang="pt-BR" dirty="0"/>
              <a:t> incorpora a ideia que professor ministra disciplina com o auxílio de um aluno monitor</a:t>
            </a:r>
            <a:endParaRPr dirty="0"/>
          </a:p>
          <a:p>
            <a:pPr lvl="1">
              <a:spcBef>
                <a:spcPts val="1800"/>
              </a:spcBef>
            </a:pPr>
            <a:r>
              <a:rPr lang="pt-BR" dirty="0"/>
              <a:t>CR </a:t>
            </a:r>
            <a:r>
              <a:rPr lang="pt-BR" b="1" dirty="0"/>
              <a:t>Cria</a:t>
            </a:r>
            <a:r>
              <a:rPr lang="pt-BR" dirty="0"/>
              <a:t> representa quem criou cada disciplina</a:t>
            </a:r>
            <a:endParaRPr dirty="0"/>
          </a:p>
        </p:txBody>
      </p:sp>
      <p:sp>
        <p:nvSpPr>
          <p:cNvPr id="1142" name="Google Shape;1142;p87"/>
          <p:cNvSpPr/>
          <p:nvPr/>
        </p:nvSpPr>
        <p:spPr>
          <a:xfrm>
            <a:off x="633852" y="4203264"/>
            <a:ext cx="2308000" cy="694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Aluno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43" name="Google Shape;1143;p87"/>
          <p:cNvSpPr/>
          <p:nvPr/>
        </p:nvSpPr>
        <p:spPr>
          <a:xfrm>
            <a:off x="9250123" y="4203264"/>
            <a:ext cx="2308000" cy="694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44" name="Google Shape;1144;p87"/>
          <p:cNvSpPr/>
          <p:nvPr/>
        </p:nvSpPr>
        <p:spPr>
          <a:xfrm>
            <a:off x="4823805" y="3997577"/>
            <a:ext cx="2544400" cy="11052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Monitora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45" name="Google Shape;1145;p87"/>
          <p:cNvCxnSpPr>
            <a:stCxn id="1144" idx="1"/>
            <a:endCxn id="1142" idx="3"/>
          </p:cNvCxnSpPr>
          <p:nvPr/>
        </p:nvCxnSpPr>
        <p:spPr>
          <a:xfrm rot="10800000">
            <a:off x="2941805" y="4550177"/>
            <a:ext cx="188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87"/>
          <p:cNvCxnSpPr>
            <a:stCxn id="1143" idx="1"/>
            <a:endCxn id="1144" idx="3"/>
          </p:cNvCxnSpPr>
          <p:nvPr/>
        </p:nvCxnSpPr>
        <p:spPr>
          <a:xfrm rot="10800000">
            <a:off x="7368123" y="4550264"/>
            <a:ext cx="188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7" name="Google Shape;1147;p87"/>
          <p:cNvSpPr/>
          <p:nvPr/>
        </p:nvSpPr>
        <p:spPr>
          <a:xfrm>
            <a:off x="4941951" y="5646373"/>
            <a:ext cx="2308000" cy="694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Professor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48" name="Google Shape;1148;p87"/>
          <p:cNvCxnSpPr>
            <a:stCxn id="1147" idx="0"/>
            <a:endCxn id="1144" idx="2"/>
          </p:cNvCxnSpPr>
          <p:nvPr/>
        </p:nvCxnSpPr>
        <p:spPr>
          <a:xfrm rot="10800000">
            <a:off x="6095951" y="5102773"/>
            <a:ext cx="0" cy="54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9" name="Google Shape;1149;p87"/>
          <p:cNvSpPr txBox="1"/>
          <p:nvPr/>
        </p:nvSpPr>
        <p:spPr>
          <a:xfrm>
            <a:off x="3655203" y="5004351"/>
            <a:ext cx="2440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auxiliado por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0" name="Google Shape;1150;p87"/>
          <p:cNvSpPr txBox="1"/>
          <p:nvPr/>
        </p:nvSpPr>
        <p:spPr>
          <a:xfrm>
            <a:off x="6942133" y="3929067"/>
            <a:ext cx="2308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 monitor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1" name="Google Shape;1151;p87"/>
          <p:cNvSpPr txBox="1"/>
          <p:nvPr/>
        </p:nvSpPr>
        <p:spPr>
          <a:xfrm>
            <a:off x="2941800" y="3997551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monitor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2" name="Google Shape;1152;p87"/>
          <p:cNvSpPr/>
          <p:nvPr/>
        </p:nvSpPr>
        <p:spPr>
          <a:xfrm>
            <a:off x="9131939" y="5440777"/>
            <a:ext cx="2544400" cy="11052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Cria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53" name="Google Shape;1153;p87"/>
          <p:cNvCxnSpPr>
            <a:stCxn id="1152" idx="1"/>
            <a:endCxn id="1147" idx="3"/>
          </p:cNvCxnSpPr>
          <p:nvPr/>
        </p:nvCxnSpPr>
        <p:spPr>
          <a:xfrm rot="10800000">
            <a:off x="7249939" y="5993377"/>
            <a:ext cx="188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4" name="Google Shape;1154;p87"/>
          <p:cNvCxnSpPr>
            <a:stCxn id="1152" idx="0"/>
            <a:endCxn id="1143" idx="2"/>
          </p:cNvCxnSpPr>
          <p:nvPr/>
        </p:nvCxnSpPr>
        <p:spPr>
          <a:xfrm rot="10800000">
            <a:off x="10404139" y="4897177"/>
            <a:ext cx="0" cy="54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5" name="Google Shape;1155;p87"/>
          <p:cNvSpPr txBox="1"/>
          <p:nvPr/>
        </p:nvSpPr>
        <p:spPr>
          <a:xfrm>
            <a:off x="8096133" y="4858367"/>
            <a:ext cx="2308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Criada por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6" name="Google Shape;1156;p87"/>
          <p:cNvSpPr txBox="1"/>
          <p:nvPr/>
        </p:nvSpPr>
        <p:spPr>
          <a:xfrm>
            <a:off x="7036933" y="5924767"/>
            <a:ext cx="2308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Cria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7" name="Google Shape;1157;p87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pt-BR"/>
              <a:pPr/>
              <a:t>81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02E50-7B9F-E53D-103E-2EBA6515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 - 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5D0129-6931-E01A-40EA-B34DE9158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OBS:  todo CR tem significado semântico.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CR </a:t>
            </a:r>
            <a:r>
              <a:rPr lang="pt-BR" b="1" dirty="0"/>
              <a:t>Monitora</a:t>
            </a:r>
            <a:r>
              <a:rPr lang="pt-BR" dirty="0"/>
              <a:t> incorpora a ideia que professor ministra disciplina com o auxílio de um aluno monitor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 </a:t>
            </a:r>
            <a:r>
              <a:rPr lang="pt-BR" b="1" dirty="0"/>
              <a:t>Cria</a:t>
            </a:r>
            <a:r>
              <a:rPr lang="pt-BR" dirty="0"/>
              <a:t> representa quem criou cada disciplina</a:t>
            </a:r>
          </a:p>
          <a:p>
            <a:endParaRPr lang="pt-BR" dirty="0"/>
          </a:p>
        </p:txBody>
      </p:sp>
      <p:sp>
        <p:nvSpPr>
          <p:cNvPr id="4" name="Google Shape;1142;p87">
            <a:extLst>
              <a:ext uri="{FF2B5EF4-FFF2-40B4-BE49-F238E27FC236}">
                <a16:creationId xmlns:a16="http://schemas.microsoft.com/office/drawing/2014/main" id="{238D4709-B8F6-50C2-9294-159DBD33E4CF}"/>
              </a:ext>
            </a:extLst>
          </p:cNvPr>
          <p:cNvSpPr/>
          <p:nvPr/>
        </p:nvSpPr>
        <p:spPr>
          <a:xfrm>
            <a:off x="633852" y="4203264"/>
            <a:ext cx="2308000" cy="694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Aluno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143;p87">
            <a:extLst>
              <a:ext uri="{FF2B5EF4-FFF2-40B4-BE49-F238E27FC236}">
                <a16:creationId xmlns:a16="http://schemas.microsoft.com/office/drawing/2014/main" id="{CC72C4C4-A40F-9F49-0135-43242290D6DE}"/>
              </a:ext>
            </a:extLst>
          </p:cNvPr>
          <p:cNvSpPr/>
          <p:nvPr/>
        </p:nvSpPr>
        <p:spPr>
          <a:xfrm>
            <a:off x="9250123" y="4203264"/>
            <a:ext cx="2308000" cy="694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144;p87">
            <a:extLst>
              <a:ext uri="{FF2B5EF4-FFF2-40B4-BE49-F238E27FC236}">
                <a16:creationId xmlns:a16="http://schemas.microsoft.com/office/drawing/2014/main" id="{D45F102E-AF9A-D794-DF7E-642C601B84DE}"/>
              </a:ext>
            </a:extLst>
          </p:cNvPr>
          <p:cNvSpPr/>
          <p:nvPr/>
        </p:nvSpPr>
        <p:spPr>
          <a:xfrm>
            <a:off x="4823805" y="3997577"/>
            <a:ext cx="2544400" cy="11052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Monitora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145;p87">
            <a:extLst>
              <a:ext uri="{FF2B5EF4-FFF2-40B4-BE49-F238E27FC236}">
                <a16:creationId xmlns:a16="http://schemas.microsoft.com/office/drawing/2014/main" id="{3865E105-96F8-C3D9-D3C3-3C7B437A8098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2941805" y="4550177"/>
            <a:ext cx="188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146;p87">
            <a:extLst>
              <a:ext uri="{FF2B5EF4-FFF2-40B4-BE49-F238E27FC236}">
                <a16:creationId xmlns:a16="http://schemas.microsoft.com/office/drawing/2014/main" id="{EA99B8AE-9C61-F4F4-3BFA-B62748693A01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368123" y="4550264"/>
            <a:ext cx="188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147;p87">
            <a:extLst>
              <a:ext uri="{FF2B5EF4-FFF2-40B4-BE49-F238E27FC236}">
                <a16:creationId xmlns:a16="http://schemas.microsoft.com/office/drawing/2014/main" id="{20DFE332-9061-835E-ED45-0C540054220F}"/>
              </a:ext>
            </a:extLst>
          </p:cNvPr>
          <p:cNvSpPr/>
          <p:nvPr/>
        </p:nvSpPr>
        <p:spPr>
          <a:xfrm>
            <a:off x="4941951" y="5646373"/>
            <a:ext cx="2308000" cy="694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Professor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0" name="Google Shape;1148;p87">
            <a:extLst>
              <a:ext uri="{FF2B5EF4-FFF2-40B4-BE49-F238E27FC236}">
                <a16:creationId xmlns:a16="http://schemas.microsoft.com/office/drawing/2014/main" id="{72D4E4B7-F838-CD5B-BF96-A99CBC189A3D}"/>
              </a:ext>
            </a:extLst>
          </p:cNvPr>
          <p:cNvCxnSpPr>
            <a:stCxn id="9" idx="0"/>
            <a:endCxn id="6" idx="2"/>
          </p:cNvCxnSpPr>
          <p:nvPr/>
        </p:nvCxnSpPr>
        <p:spPr>
          <a:xfrm rot="10800000">
            <a:off x="6095951" y="5102773"/>
            <a:ext cx="0" cy="54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49;p87">
            <a:extLst>
              <a:ext uri="{FF2B5EF4-FFF2-40B4-BE49-F238E27FC236}">
                <a16:creationId xmlns:a16="http://schemas.microsoft.com/office/drawing/2014/main" id="{B92FCE74-5504-CD41-27E8-1C7D991C4C2E}"/>
              </a:ext>
            </a:extLst>
          </p:cNvPr>
          <p:cNvSpPr txBox="1"/>
          <p:nvPr/>
        </p:nvSpPr>
        <p:spPr>
          <a:xfrm>
            <a:off x="3655203" y="5004351"/>
            <a:ext cx="2440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auxiliado por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1150;p87">
            <a:extLst>
              <a:ext uri="{FF2B5EF4-FFF2-40B4-BE49-F238E27FC236}">
                <a16:creationId xmlns:a16="http://schemas.microsoft.com/office/drawing/2014/main" id="{3F6CE0F5-2B3B-174E-B0F5-C8733EB08868}"/>
              </a:ext>
            </a:extLst>
          </p:cNvPr>
          <p:cNvSpPr txBox="1"/>
          <p:nvPr/>
        </p:nvSpPr>
        <p:spPr>
          <a:xfrm>
            <a:off x="6942133" y="3929067"/>
            <a:ext cx="2308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 monitor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1151;p87">
            <a:extLst>
              <a:ext uri="{FF2B5EF4-FFF2-40B4-BE49-F238E27FC236}">
                <a16:creationId xmlns:a16="http://schemas.microsoft.com/office/drawing/2014/main" id="{A4E88072-EF9B-8826-1D22-C228C8FAE3C9}"/>
              </a:ext>
            </a:extLst>
          </p:cNvPr>
          <p:cNvSpPr txBox="1"/>
          <p:nvPr/>
        </p:nvSpPr>
        <p:spPr>
          <a:xfrm>
            <a:off x="2941800" y="3997551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monitor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1152;p87">
            <a:extLst>
              <a:ext uri="{FF2B5EF4-FFF2-40B4-BE49-F238E27FC236}">
                <a16:creationId xmlns:a16="http://schemas.microsoft.com/office/drawing/2014/main" id="{3F598108-316B-0D9C-147D-8C5AB8245651}"/>
              </a:ext>
            </a:extLst>
          </p:cNvPr>
          <p:cNvSpPr/>
          <p:nvPr/>
        </p:nvSpPr>
        <p:spPr>
          <a:xfrm>
            <a:off x="9131939" y="5440777"/>
            <a:ext cx="2544400" cy="11052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Cria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5" name="Google Shape;1153;p87">
            <a:extLst>
              <a:ext uri="{FF2B5EF4-FFF2-40B4-BE49-F238E27FC236}">
                <a16:creationId xmlns:a16="http://schemas.microsoft.com/office/drawing/2014/main" id="{628D9623-155C-0BD4-2120-7E62D563182D}"/>
              </a:ext>
            </a:extLst>
          </p:cNvPr>
          <p:cNvCxnSpPr>
            <a:stCxn id="14" idx="1"/>
            <a:endCxn id="9" idx="3"/>
          </p:cNvCxnSpPr>
          <p:nvPr/>
        </p:nvCxnSpPr>
        <p:spPr>
          <a:xfrm rot="10800000">
            <a:off x="7249939" y="5993377"/>
            <a:ext cx="188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154;p87">
            <a:extLst>
              <a:ext uri="{FF2B5EF4-FFF2-40B4-BE49-F238E27FC236}">
                <a16:creationId xmlns:a16="http://schemas.microsoft.com/office/drawing/2014/main" id="{C3640585-22B3-75DC-CFC9-4A84573036E0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rot="10800000">
            <a:off x="10404139" y="4897177"/>
            <a:ext cx="0" cy="54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155;p87">
            <a:extLst>
              <a:ext uri="{FF2B5EF4-FFF2-40B4-BE49-F238E27FC236}">
                <a16:creationId xmlns:a16="http://schemas.microsoft.com/office/drawing/2014/main" id="{3A6362A3-46A9-F2A2-6DAA-431DB6C97A95}"/>
              </a:ext>
            </a:extLst>
          </p:cNvPr>
          <p:cNvSpPr txBox="1"/>
          <p:nvPr/>
        </p:nvSpPr>
        <p:spPr>
          <a:xfrm>
            <a:off x="8096133" y="4858367"/>
            <a:ext cx="2308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Criada por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" name="Google Shape;1156;p87">
            <a:extLst>
              <a:ext uri="{FF2B5EF4-FFF2-40B4-BE49-F238E27FC236}">
                <a16:creationId xmlns:a16="http://schemas.microsoft.com/office/drawing/2014/main" id="{A0C65585-3F4A-E212-D70A-B7982C6BB27C}"/>
              </a:ext>
            </a:extLst>
          </p:cNvPr>
          <p:cNvSpPr txBox="1"/>
          <p:nvPr/>
        </p:nvSpPr>
        <p:spPr>
          <a:xfrm>
            <a:off x="7036933" y="5924767"/>
            <a:ext cx="2308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Cria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8660308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4C74D-B1FB-882F-479F-63B0F3C0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E87E9F-0311-21D2-50F1-E61A8FC98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como responder: Aluno A auxilia Professor P em qual Disciplina?</a:t>
            </a:r>
          </a:p>
          <a:p>
            <a:endParaRPr lang="pt-BR" dirty="0"/>
          </a:p>
        </p:txBody>
      </p:sp>
      <p:sp>
        <p:nvSpPr>
          <p:cNvPr id="4" name="Google Shape;1171;p89">
            <a:extLst>
              <a:ext uri="{FF2B5EF4-FFF2-40B4-BE49-F238E27FC236}">
                <a16:creationId xmlns:a16="http://schemas.microsoft.com/office/drawing/2014/main" id="{45275841-0BAA-0133-1C50-A49D78DBB9D6}"/>
              </a:ext>
            </a:extLst>
          </p:cNvPr>
          <p:cNvSpPr/>
          <p:nvPr/>
        </p:nvSpPr>
        <p:spPr>
          <a:xfrm>
            <a:off x="516373" y="3443298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Aluno</a:t>
            </a:r>
            <a:endParaRPr sz="32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172;p89">
            <a:extLst>
              <a:ext uri="{FF2B5EF4-FFF2-40B4-BE49-F238E27FC236}">
                <a16:creationId xmlns:a16="http://schemas.microsoft.com/office/drawing/2014/main" id="{96BBCB2C-05B1-C8C7-5C6C-D32883EFE47E}"/>
              </a:ext>
            </a:extLst>
          </p:cNvPr>
          <p:cNvSpPr/>
          <p:nvPr/>
        </p:nvSpPr>
        <p:spPr>
          <a:xfrm>
            <a:off x="8659247" y="3443298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173;p89">
            <a:extLst>
              <a:ext uri="{FF2B5EF4-FFF2-40B4-BE49-F238E27FC236}">
                <a16:creationId xmlns:a16="http://schemas.microsoft.com/office/drawing/2014/main" id="{7BBDC1E6-4682-2C47-1D09-59345E550539}"/>
              </a:ext>
            </a:extLst>
          </p:cNvPr>
          <p:cNvSpPr/>
          <p:nvPr/>
        </p:nvSpPr>
        <p:spPr>
          <a:xfrm>
            <a:off x="4433400" y="3174481"/>
            <a:ext cx="3325200" cy="14444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Monitora</a:t>
            </a:r>
            <a:endParaRPr sz="3067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174;p89">
            <a:extLst>
              <a:ext uri="{FF2B5EF4-FFF2-40B4-BE49-F238E27FC236}">
                <a16:creationId xmlns:a16="http://schemas.microsoft.com/office/drawing/2014/main" id="{D56E3EB2-7B16-1297-BF3A-B27257B68501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3532600" y="3896681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175;p89">
            <a:extLst>
              <a:ext uri="{FF2B5EF4-FFF2-40B4-BE49-F238E27FC236}">
                <a16:creationId xmlns:a16="http://schemas.microsoft.com/office/drawing/2014/main" id="{B61239EF-41D0-4C08-CFED-B73CFEC05070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758447" y="3896698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176;p89">
            <a:extLst>
              <a:ext uri="{FF2B5EF4-FFF2-40B4-BE49-F238E27FC236}">
                <a16:creationId xmlns:a16="http://schemas.microsoft.com/office/drawing/2014/main" id="{0DAFEB30-EBBC-266B-7430-581AD4B250E0}"/>
              </a:ext>
            </a:extLst>
          </p:cNvPr>
          <p:cNvSpPr txBox="1"/>
          <p:nvPr/>
        </p:nvSpPr>
        <p:spPr>
          <a:xfrm>
            <a:off x="3126600" y="3174498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177;p89">
            <a:extLst>
              <a:ext uri="{FF2B5EF4-FFF2-40B4-BE49-F238E27FC236}">
                <a16:creationId xmlns:a16="http://schemas.microsoft.com/office/drawing/2014/main" id="{65430B60-DB6C-01F3-8F36-FABF2538033C}"/>
              </a:ext>
            </a:extLst>
          </p:cNvPr>
          <p:cNvSpPr txBox="1"/>
          <p:nvPr/>
        </p:nvSpPr>
        <p:spPr>
          <a:xfrm>
            <a:off x="7234867" y="3174498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178;p89">
            <a:extLst>
              <a:ext uri="{FF2B5EF4-FFF2-40B4-BE49-F238E27FC236}">
                <a16:creationId xmlns:a16="http://schemas.microsoft.com/office/drawing/2014/main" id="{516FE1FC-A456-BB8F-B3BD-537D6B0E55F3}"/>
              </a:ext>
            </a:extLst>
          </p:cNvPr>
          <p:cNvSpPr/>
          <p:nvPr/>
        </p:nvSpPr>
        <p:spPr>
          <a:xfrm>
            <a:off x="679567" y="4618898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1179;p89">
            <a:extLst>
              <a:ext uri="{FF2B5EF4-FFF2-40B4-BE49-F238E27FC236}">
                <a16:creationId xmlns:a16="http://schemas.microsoft.com/office/drawing/2014/main" id="{4FFE4E55-49AC-3865-D4B3-B1B3D85399FF}"/>
              </a:ext>
            </a:extLst>
          </p:cNvPr>
          <p:cNvSpPr/>
          <p:nvPr/>
        </p:nvSpPr>
        <p:spPr>
          <a:xfrm>
            <a:off x="8822433" y="4618898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" name="Google Shape;1180;p89">
            <a:extLst>
              <a:ext uri="{FF2B5EF4-FFF2-40B4-BE49-F238E27FC236}">
                <a16:creationId xmlns:a16="http://schemas.microsoft.com/office/drawing/2014/main" id="{89EC5DA3-5F7D-5374-48B7-0EBBCC8E51E7}"/>
              </a:ext>
            </a:extLst>
          </p:cNvPr>
          <p:cNvCxnSpPr>
            <a:stCxn id="12" idx="0"/>
            <a:endCxn id="5" idx="2"/>
          </p:cNvCxnSpPr>
          <p:nvPr/>
        </p:nvCxnSpPr>
        <p:spPr>
          <a:xfrm rot="10800000">
            <a:off x="10167433" y="4350098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181;p89">
            <a:extLst>
              <a:ext uri="{FF2B5EF4-FFF2-40B4-BE49-F238E27FC236}">
                <a16:creationId xmlns:a16="http://schemas.microsoft.com/office/drawing/2014/main" id="{1BDF41DD-297F-6C3A-121C-A95A74A9B852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rot="10800000">
            <a:off x="2024567" y="4350098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182;p89">
            <a:extLst>
              <a:ext uri="{FF2B5EF4-FFF2-40B4-BE49-F238E27FC236}">
                <a16:creationId xmlns:a16="http://schemas.microsoft.com/office/drawing/2014/main" id="{858249B7-0042-31D8-F2B3-F53986964DAE}"/>
              </a:ext>
            </a:extLst>
          </p:cNvPr>
          <p:cNvSpPr/>
          <p:nvPr/>
        </p:nvSpPr>
        <p:spPr>
          <a:xfrm>
            <a:off x="4587807" y="5329331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Professor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6" name="Google Shape;1183;p89">
            <a:extLst>
              <a:ext uri="{FF2B5EF4-FFF2-40B4-BE49-F238E27FC236}">
                <a16:creationId xmlns:a16="http://schemas.microsoft.com/office/drawing/2014/main" id="{917B0211-7838-4644-30D6-243DD69FF244}"/>
              </a:ext>
            </a:extLst>
          </p:cNvPr>
          <p:cNvCxnSpPr>
            <a:stCxn id="15" idx="0"/>
            <a:endCxn id="6" idx="2"/>
          </p:cNvCxnSpPr>
          <p:nvPr/>
        </p:nvCxnSpPr>
        <p:spPr>
          <a:xfrm rot="10800000">
            <a:off x="6096007" y="4618931"/>
            <a:ext cx="0" cy="710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184;p89">
            <a:extLst>
              <a:ext uri="{FF2B5EF4-FFF2-40B4-BE49-F238E27FC236}">
                <a16:creationId xmlns:a16="http://schemas.microsoft.com/office/drawing/2014/main" id="{BA71944E-DE5F-BBE7-0C33-20FE736317E0}"/>
              </a:ext>
            </a:extLst>
          </p:cNvPr>
          <p:cNvSpPr txBox="1"/>
          <p:nvPr/>
        </p:nvSpPr>
        <p:spPr>
          <a:xfrm>
            <a:off x="6061233" y="4628847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auxiliado por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" name="Google Shape;1185;p89">
            <a:extLst>
              <a:ext uri="{FF2B5EF4-FFF2-40B4-BE49-F238E27FC236}">
                <a16:creationId xmlns:a16="http://schemas.microsoft.com/office/drawing/2014/main" id="{C1C373BB-2518-800E-1D7D-879C96929D85}"/>
              </a:ext>
            </a:extLst>
          </p:cNvPr>
          <p:cNvSpPr txBox="1"/>
          <p:nvPr/>
        </p:nvSpPr>
        <p:spPr>
          <a:xfrm>
            <a:off x="6506867" y="2924365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 monitor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" name="Google Shape;1186;p89">
            <a:extLst>
              <a:ext uri="{FF2B5EF4-FFF2-40B4-BE49-F238E27FC236}">
                <a16:creationId xmlns:a16="http://schemas.microsoft.com/office/drawing/2014/main" id="{7B122FE7-B24D-8F62-AFF8-E72711405860}"/>
              </a:ext>
            </a:extLst>
          </p:cNvPr>
          <p:cNvSpPr txBox="1"/>
          <p:nvPr/>
        </p:nvSpPr>
        <p:spPr>
          <a:xfrm>
            <a:off x="3126600" y="2924365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É monitor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" name="Google Shape;1187;p89">
            <a:extLst>
              <a:ext uri="{FF2B5EF4-FFF2-40B4-BE49-F238E27FC236}">
                <a16:creationId xmlns:a16="http://schemas.microsoft.com/office/drawing/2014/main" id="{B8FC3F23-7B50-238A-06FE-68E29AB66166}"/>
              </a:ext>
            </a:extLst>
          </p:cNvPr>
          <p:cNvSpPr txBox="1"/>
          <p:nvPr/>
        </p:nvSpPr>
        <p:spPr>
          <a:xfrm>
            <a:off x="4839400" y="4503765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2720625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416C2-D5E4-5E9C-E115-B6E1CEF0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Relacionamento Ternário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A263F0-1D52-8F7A-9FB6-E80193F7E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como responder: Aluno A auxilia Professor P em qual Disciplina?</a:t>
            </a:r>
          </a:p>
          <a:p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FC6F254-5902-9583-5187-D11A3F31AD0A}"/>
              </a:ext>
            </a:extLst>
          </p:cNvPr>
          <p:cNvGrpSpPr/>
          <p:nvPr/>
        </p:nvGrpSpPr>
        <p:grpSpPr>
          <a:xfrm>
            <a:off x="361967" y="2695317"/>
            <a:ext cx="11468066" cy="3749382"/>
            <a:chOff x="361967" y="2695317"/>
            <a:chExt cx="11468066" cy="3749382"/>
          </a:xfrm>
        </p:grpSpPr>
        <p:sp>
          <p:nvSpPr>
            <p:cNvPr id="4" name="Google Shape;1195;p90">
              <a:extLst>
                <a:ext uri="{FF2B5EF4-FFF2-40B4-BE49-F238E27FC236}">
                  <a16:creationId xmlns:a16="http://schemas.microsoft.com/office/drawing/2014/main" id="{1F5FB086-2A7F-E122-3646-F55805390785}"/>
                </a:ext>
              </a:extLst>
            </p:cNvPr>
            <p:cNvSpPr/>
            <p:nvPr/>
          </p:nvSpPr>
          <p:spPr>
            <a:xfrm>
              <a:off x="516373" y="3048184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Aluno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" name="Google Shape;1196;p90">
              <a:extLst>
                <a:ext uri="{FF2B5EF4-FFF2-40B4-BE49-F238E27FC236}">
                  <a16:creationId xmlns:a16="http://schemas.microsoft.com/office/drawing/2014/main" id="{972D1B93-7518-9D3F-4C72-047F25A69F1A}"/>
                </a:ext>
              </a:extLst>
            </p:cNvPr>
            <p:cNvSpPr/>
            <p:nvPr/>
          </p:nvSpPr>
          <p:spPr>
            <a:xfrm>
              <a:off x="8659247" y="3048184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" name="Google Shape;1197;p90">
              <a:extLst>
                <a:ext uri="{FF2B5EF4-FFF2-40B4-BE49-F238E27FC236}">
                  <a16:creationId xmlns:a16="http://schemas.microsoft.com/office/drawing/2014/main" id="{8D6FEE35-1744-A1D4-689A-41E266FCA3BC}"/>
                </a:ext>
              </a:extLst>
            </p:cNvPr>
            <p:cNvSpPr/>
            <p:nvPr/>
          </p:nvSpPr>
          <p:spPr>
            <a:xfrm>
              <a:off x="4433400" y="2779367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7" name="Google Shape;1198;p90">
              <a:extLst>
                <a:ext uri="{FF2B5EF4-FFF2-40B4-BE49-F238E27FC236}">
                  <a16:creationId xmlns:a16="http://schemas.microsoft.com/office/drawing/2014/main" id="{1A4B6756-18AA-92A3-C919-E5D71A050A07}"/>
                </a:ext>
              </a:extLst>
            </p:cNvPr>
            <p:cNvCxnSpPr>
              <a:stCxn id="6" idx="1"/>
              <a:endCxn id="4" idx="3"/>
            </p:cNvCxnSpPr>
            <p:nvPr/>
          </p:nvCxnSpPr>
          <p:spPr>
            <a:xfrm rot="10800000">
              <a:off x="3532600" y="3501567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199;p90">
              <a:extLst>
                <a:ext uri="{FF2B5EF4-FFF2-40B4-BE49-F238E27FC236}">
                  <a16:creationId xmlns:a16="http://schemas.microsoft.com/office/drawing/2014/main" id="{DB15F2F9-D25A-524F-0845-F9F471CEB113}"/>
                </a:ext>
              </a:extLst>
            </p:cNvPr>
            <p:cNvCxnSpPr>
              <a:stCxn id="5" idx="1"/>
              <a:endCxn id="6" idx="3"/>
            </p:cNvCxnSpPr>
            <p:nvPr/>
          </p:nvCxnSpPr>
          <p:spPr>
            <a:xfrm rot="10800000">
              <a:off x="7758447" y="3501584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200;p90">
              <a:extLst>
                <a:ext uri="{FF2B5EF4-FFF2-40B4-BE49-F238E27FC236}">
                  <a16:creationId xmlns:a16="http://schemas.microsoft.com/office/drawing/2014/main" id="{785D1315-2D57-D1F4-F773-A49BCA01C3D4}"/>
                </a:ext>
              </a:extLst>
            </p:cNvPr>
            <p:cNvCxnSpPr>
              <a:stCxn id="14" idx="0"/>
              <a:endCxn id="4" idx="2"/>
            </p:cNvCxnSpPr>
            <p:nvPr/>
          </p:nvCxnSpPr>
          <p:spPr>
            <a:xfrm rot="10800000">
              <a:off x="2024567" y="3955033"/>
              <a:ext cx="0" cy="710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1202;p90">
              <a:extLst>
                <a:ext uri="{FF2B5EF4-FFF2-40B4-BE49-F238E27FC236}">
                  <a16:creationId xmlns:a16="http://schemas.microsoft.com/office/drawing/2014/main" id="{C3B56059-4148-2B9D-F761-BB7CBCB0B84A}"/>
                </a:ext>
              </a:extLst>
            </p:cNvPr>
            <p:cNvSpPr/>
            <p:nvPr/>
          </p:nvSpPr>
          <p:spPr>
            <a:xfrm>
              <a:off x="4587807" y="4934217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Professor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" name="Google Shape;1203;p90">
              <a:extLst>
                <a:ext uri="{FF2B5EF4-FFF2-40B4-BE49-F238E27FC236}">
                  <a16:creationId xmlns:a16="http://schemas.microsoft.com/office/drawing/2014/main" id="{6AC70A61-6E63-86A4-5961-0F7CFA8D8150}"/>
                </a:ext>
              </a:extLst>
            </p:cNvPr>
            <p:cNvSpPr txBox="1"/>
            <p:nvPr/>
          </p:nvSpPr>
          <p:spPr>
            <a:xfrm>
              <a:off x="2450667" y="5656700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Auxiliado por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1204;p90">
              <a:extLst>
                <a:ext uri="{FF2B5EF4-FFF2-40B4-BE49-F238E27FC236}">
                  <a16:creationId xmlns:a16="http://schemas.microsoft.com/office/drawing/2014/main" id="{CC69F79C-71C9-A4AB-75EF-5E0C1FBF4731}"/>
                </a:ext>
              </a:extLst>
            </p:cNvPr>
            <p:cNvSpPr txBox="1"/>
            <p:nvPr/>
          </p:nvSpPr>
          <p:spPr>
            <a:xfrm>
              <a:off x="6540433" y="2695317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Monitorada por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" name="Google Shape;1205;p90">
              <a:extLst>
                <a:ext uri="{FF2B5EF4-FFF2-40B4-BE49-F238E27FC236}">
                  <a16:creationId xmlns:a16="http://schemas.microsoft.com/office/drawing/2014/main" id="{89226C78-F3EF-D935-5CF5-E3D2AA11F812}"/>
                </a:ext>
              </a:extLst>
            </p:cNvPr>
            <p:cNvSpPr txBox="1"/>
            <p:nvPr/>
          </p:nvSpPr>
          <p:spPr>
            <a:xfrm>
              <a:off x="3109833" y="2695317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Monitora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" name="Google Shape;1201;p90">
              <a:extLst>
                <a:ext uri="{FF2B5EF4-FFF2-40B4-BE49-F238E27FC236}">
                  <a16:creationId xmlns:a16="http://schemas.microsoft.com/office/drawing/2014/main" id="{9012B43A-376E-2B18-A8DF-265A1FC55961}"/>
                </a:ext>
              </a:extLst>
            </p:cNvPr>
            <p:cNvSpPr/>
            <p:nvPr/>
          </p:nvSpPr>
          <p:spPr>
            <a:xfrm>
              <a:off x="361967" y="4665433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Auxilia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5" name="Google Shape;1206;p90">
              <a:extLst>
                <a:ext uri="{FF2B5EF4-FFF2-40B4-BE49-F238E27FC236}">
                  <a16:creationId xmlns:a16="http://schemas.microsoft.com/office/drawing/2014/main" id="{4CA55E36-8B32-1C22-E654-69BC8B4E3D4A}"/>
                </a:ext>
              </a:extLst>
            </p:cNvPr>
            <p:cNvCxnSpPr>
              <a:stCxn id="14" idx="3"/>
              <a:endCxn id="10" idx="1"/>
            </p:cNvCxnSpPr>
            <p:nvPr/>
          </p:nvCxnSpPr>
          <p:spPr>
            <a:xfrm>
              <a:off x="3687167" y="5387633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207;p90">
              <a:extLst>
                <a:ext uri="{FF2B5EF4-FFF2-40B4-BE49-F238E27FC236}">
                  <a16:creationId xmlns:a16="http://schemas.microsoft.com/office/drawing/2014/main" id="{20526F89-7A9E-C285-F91E-7388AB0D9893}"/>
                </a:ext>
              </a:extLst>
            </p:cNvPr>
            <p:cNvSpPr/>
            <p:nvPr/>
          </p:nvSpPr>
          <p:spPr>
            <a:xfrm>
              <a:off x="8504833" y="4665433"/>
              <a:ext cx="3325200" cy="1444400"/>
            </a:xfrm>
            <a:prstGeom prst="diamond">
              <a:avLst/>
            </a:prstGeom>
            <a:solidFill>
              <a:srgbClr val="61A31F"/>
            </a:solidFill>
            <a:ln w="952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067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Ministra</a:t>
              </a:r>
              <a:endParaRPr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17" name="Google Shape;1208;p90">
              <a:extLst>
                <a:ext uri="{FF2B5EF4-FFF2-40B4-BE49-F238E27FC236}">
                  <a16:creationId xmlns:a16="http://schemas.microsoft.com/office/drawing/2014/main" id="{07FA640D-CE61-9099-BBDA-11A34FA6CEA6}"/>
                </a:ext>
              </a:extLst>
            </p:cNvPr>
            <p:cNvCxnSpPr>
              <a:stCxn id="10" idx="3"/>
              <a:endCxn id="16" idx="1"/>
            </p:cNvCxnSpPr>
            <p:nvPr/>
          </p:nvCxnSpPr>
          <p:spPr>
            <a:xfrm>
              <a:off x="7604207" y="5387617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209;p90">
              <a:extLst>
                <a:ext uri="{FF2B5EF4-FFF2-40B4-BE49-F238E27FC236}">
                  <a16:creationId xmlns:a16="http://schemas.microsoft.com/office/drawing/2014/main" id="{308D5176-760D-9BD2-1B93-37F3ECB1C966}"/>
                </a:ext>
              </a:extLst>
            </p:cNvPr>
            <p:cNvCxnSpPr>
              <a:stCxn id="5" idx="2"/>
              <a:endCxn id="16" idx="0"/>
            </p:cNvCxnSpPr>
            <p:nvPr/>
          </p:nvCxnSpPr>
          <p:spPr>
            <a:xfrm>
              <a:off x="10167447" y="3954984"/>
              <a:ext cx="0" cy="710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210;p90">
              <a:extLst>
                <a:ext uri="{FF2B5EF4-FFF2-40B4-BE49-F238E27FC236}">
                  <a16:creationId xmlns:a16="http://schemas.microsoft.com/office/drawing/2014/main" id="{B4B65F1C-8F53-B479-540B-248DE5855A99}"/>
                </a:ext>
              </a:extLst>
            </p:cNvPr>
            <p:cNvSpPr txBox="1"/>
            <p:nvPr/>
          </p:nvSpPr>
          <p:spPr>
            <a:xfrm>
              <a:off x="7604200" y="3999600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Ministrada por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" name="Google Shape;1211;p90">
              <a:extLst>
                <a:ext uri="{FF2B5EF4-FFF2-40B4-BE49-F238E27FC236}">
                  <a16:creationId xmlns:a16="http://schemas.microsoft.com/office/drawing/2014/main" id="{F91EF3D2-3FC7-165D-DA27-366FA9F77AE5}"/>
                </a:ext>
              </a:extLst>
            </p:cNvPr>
            <p:cNvSpPr txBox="1"/>
            <p:nvPr/>
          </p:nvSpPr>
          <p:spPr>
            <a:xfrm>
              <a:off x="2024567" y="3999600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Auxilia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" name="Google Shape;1212;p90">
              <a:extLst>
                <a:ext uri="{FF2B5EF4-FFF2-40B4-BE49-F238E27FC236}">
                  <a16:creationId xmlns:a16="http://schemas.microsoft.com/office/drawing/2014/main" id="{85859524-F2EF-5C7B-FEBD-64F951219C5D}"/>
                </a:ext>
              </a:extLst>
            </p:cNvPr>
            <p:cNvSpPr txBox="1"/>
            <p:nvPr/>
          </p:nvSpPr>
          <p:spPr>
            <a:xfrm>
              <a:off x="7507133" y="5656700"/>
              <a:ext cx="2440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24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Ministra</a:t>
              </a:r>
              <a:endPara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1C6867D2-163E-074B-785F-1F0FEC221ED6}"/>
                </a:ext>
              </a:extLst>
            </p:cNvPr>
            <p:cNvSpPr/>
            <p:nvPr/>
          </p:nvSpPr>
          <p:spPr>
            <a:xfrm>
              <a:off x="7687506" y="4607758"/>
              <a:ext cx="3055533" cy="183694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400" dirty="0"/>
                <a:t>Ciclos são complicados</a:t>
              </a:r>
            </a:p>
            <a:p>
              <a:pPr algn="ctr"/>
              <a:r>
                <a:rPr lang="pt-BR" sz="2400" dirty="0"/>
                <a:t>(veremos depois)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05751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B5CC-F08B-1985-74FD-ABCF9300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3EA47F-1CCA-2040-802D-D45E7E704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b="1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45A887-C177-14BC-D8E2-B943F7C1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D02215-A58F-27FA-2D92-37391D92071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9989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7A952-F65F-D7C3-2FA5-1BF2B734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Conjunto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35E168-C1B6-0AC7-1ED1-16AEA29B6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identificar uma turma de uma disciplina na </a:t>
            </a:r>
            <a:r>
              <a:rPr lang="pt-BR" b="1" dirty="0"/>
              <a:t>semântica </a:t>
            </a:r>
            <a:r>
              <a:rPr lang="pt-BR" dirty="0"/>
              <a:t>do domínio de aplicação?</a:t>
            </a:r>
          </a:p>
          <a:p>
            <a:endParaRPr lang="pt-BR" dirty="0"/>
          </a:p>
        </p:txBody>
      </p:sp>
      <p:sp>
        <p:nvSpPr>
          <p:cNvPr id="4" name="Google Shape;1226;p92">
            <a:extLst>
              <a:ext uri="{FF2B5EF4-FFF2-40B4-BE49-F238E27FC236}">
                <a16:creationId xmlns:a16="http://schemas.microsoft.com/office/drawing/2014/main" id="{9CC07B3D-5475-AE6E-4FF9-39710FCDDF13}"/>
              </a:ext>
            </a:extLst>
          </p:cNvPr>
          <p:cNvSpPr/>
          <p:nvPr/>
        </p:nvSpPr>
        <p:spPr>
          <a:xfrm>
            <a:off x="516373" y="3882015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Turma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227;p92">
            <a:extLst>
              <a:ext uri="{FF2B5EF4-FFF2-40B4-BE49-F238E27FC236}">
                <a16:creationId xmlns:a16="http://schemas.microsoft.com/office/drawing/2014/main" id="{11439F75-FEF6-D5AB-343E-3527D5DD6291}"/>
              </a:ext>
            </a:extLst>
          </p:cNvPr>
          <p:cNvSpPr/>
          <p:nvPr/>
        </p:nvSpPr>
        <p:spPr>
          <a:xfrm>
            <a:off x="8659247" y="3882015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228;p92">
            <a:extLst>
              <a:ext uri="{FF2B5EF4-FFF2-40B4-BE49-F238E27FC236}">
                <a16:creationId xmlns:a16="http://schemas.microsoft.com/office/drawing/2014/main" id="{6BA5D80F-16D1-75E5-2175-A454AF1459D5}"/>
              </a:ext>
            </a:extLst>
          </p:cNvPr>
          <p:cNvSpPr/>
          <p:nvPr/>
        </p:nvSpPr>
        <p:spPr>
          <a:xfrm>
            <a:off x="4433400" y="3613215"/>
            <a:ext cx="3325200" cy="14444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229;p92">
            <a:extLst>
              <a:ext uri="{FF2B5EF4-FFF2-40B4-BE49-F238E27FC236}">
                <a16:creationId xmlns:a16="http://schemas.microsoft.com/office/drawing/2014/main" id="{E51EA155-2C61-2DFF-7089-FD7D2186DF1D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3532600" y="4335415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dist="66675" dir="5400000" algn="bl" rotWithShape="0">
              <a:schemeClr val="dk1"/>
            </a:outerShdw>
          </a:effectLst>
        </p:spPr>
      </p:cxnSp>
      <p:cxnSp>
        <p:nvCxnSpPr>
          <p:cNvPr id="8" name="Google Shape;1230;p92">
            <a:extLst>
              <a:ext uri="{FF2B5EF4-FFF2-40B4-BE49-F238E27FC236}">
                <a16:creationId xmlns:a16="http://schemas.microsoft.com/office/drawing/2014/main" id="{12EA9B55-F322-46EF-960D-6DBC15226C96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758447" y="4335415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231;p92">
            <a:extLst>
              <a:ext uri="{FF2B5EF4-FFF2-40B4-BE49-F238E27FC236}">
                <a16:creationId xmlns:a16="http://schemas.microsoft.com/office/drawing/2014/main" id="{93EF7C66-E7E1-0401-8D44-C8EAA60A3AB0}"/>
              </a:ext>
            </a:extLst>
          </p:cNvPr>
          <p:cNvSpPr txBox="1"/>
          <p:nvPr/>
        </p:nvSpPr>
        <p:spPr>
          <a:xfrm>
            <a:off x="3126600" y="3613215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232;p92">
            <a:extLst>
              <a:ext uri="{FF2B5EF4-FFF2-40B4-BE49-F238E27FC236}">
                <a16:creationId xmlns:a16="http://schemas.microsoft.com/office/drawing/2014/main" id="{797CCA26-3F2D-1B4D-EB25-C26DA90C3502}"/>
              </a:ext>
            </a:extLst>
          </p:cNvPr>
          <p:cNvSpPr txBox="1"/>
          <p:nvPr/>
        </p:nvSpPr>
        <p:spPr>
          <a:xfrm>
            <a:off x="7234867" y="3613215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233;p92">
            <a:extLst>
              <a:ext uri="{FF2B5EF4-FFF2-40B4-BE49-F238E27FC236}">
                <a16:creationId xmlns:a16="http://schemas.microsoft.com/office/drawing/2014/main" id="{C4E55779-5B33-0D50-8367-0C72599325E1}"/>
              </a:ext>
            </a:extLst>
          </p:cNvPr>
          <p:cNvSpPr/>
          <p:nvPr/>
        </p:nvSpPr>
        <p:spPr>
          <a:xfrm>
            <a:off x="8822433" y="5057615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Google Shape;1234;p92">
            <a:extLst>
              <a:ext uri="{FF2B5EF4-FFF2-40B4-BE49-F238E27FC236}">
                <a16:creationId xmlns:a16="http://schemas.microsoft.com/office/drawing/2014/main" id="{2F7DDC8F-A696-5E94-42AB-898B64C79363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rot="10800000">
            <a:off x="10167433" y="4788815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069926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4C4DB-A6D9-3AF7-53FC-CAF964F6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C5DE3A-553F-E8B1-D165-3FBC1E0A0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Turma é identificada por meio da Disciplina à qual está associada</a:t>
            </a:r>
          </a:p>
          <a:p>
            <a:r>
              <a:rPr lang="pt-BR" dirty="0"/>
              <a:t>Entidade Fraca</a:t>
            </a:r>
          </a:p>
          <a:p>
            <a:endParaRPr lang="pt-BR" dirty="0"/>
          </a:p>
        </p:txBody>
      </p:sp>
      <p:sp>
        <p:nvSpPr>
          <p:cNvPr id="4" name="Google Shape;1242;p93">
            <a:extLst>
              <a:ext uri="{FF2B5EF4-FFF2-40B4-BE49-F238E27FC236}">
                <a16:creationId xmlns:a16="http://schemas.microsoft.com/office/drawing/2014/main" id="{66EBC128-8083-D333-1C2D-7794FEB1E9FC}"/>
              </a:ext>
            </a:extLst>
          </p:cNvPr>
          <p:cNvSpPr/>
          <p:nvPr/>
        </p:nvSpPr>
        <p:spPr>
          <a:xfrm>
            <a:off x="516373" y="3887967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Turma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243;p93">
            <a:extLst>
              <a:ext uri="{FF2B5EF4-FFF2-40B4-BE49-F238E27FC236}">
                <a16:creationId xmlns:a16="http://schemas.microsoft.com/office/drawing/2014/main" id="{A45AD05F-C43E-F8AC-BC1B-E7E2834296DC}"/>
              </a:ext>
            </a:extLst>
          </p:cNvPr>
          <p:cNvSpPr/>
          <p:nvPr/>
        </p:nvSpPr>
        <p:spPr>
          <a:xfrm>
            <a:off x="8659247" y="3887967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244;p93">
            <a:extLst>
              <a:ext uri="{FF2B5EF4-FFF2-40B4-BE49-F238E27FC236}">
                <a16:creationId xmlns:a16="http://schemas.microsoft.com/office/drawing/2014/main" id="{D6DF03AC-0816-C204-8FFC-0CFD854FF15F}"/>
              </a:ext>
            </a:extLst>
          </p:cNvPr>
          <p:cNvSpPr/>
          <p:nvPr/>
        </p:nvSpPr>
        <p:spPr>
          <a:xfrm>
            <a:off x="4433400" y="3619167"/>
            <a:ext cx="3325200" cy="14444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245;p93">
            <a:extLst>
              <a:ext uri="{FF2B5EF4-FFF2-40B4-BE49-F238E27FC236}">
                <a16:creationId xmlns:a16="http://schemas.microsoft.com/office/drawing/2014/main" id="{7F81DED8-66B9-5DFC-79D0-12D2A7036569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3532600" y="4341367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dist="66675" dir="5400000" algn="bl" rotWithShape="0">
              <a:schemeClr val="dk1"/>
            </a:outerShdw>
          </a:effectLst>
        </p:spPr>
      </p:cxnSp>
      <p:cxnSp>
        <p:nvCxnSpPr>
          <p:cNvPr id="8" name="Google Shape;1246;p93">
            <a:extLst>
              <a:ext uri="{FF2B5EF4-FFF2-40B4-BE49-F238E27FC236}">
                <a16:creationId xmlns:a16="http://schemas.microsoft.com/office/drawing/2014/main" id="{35C7CFBF-1667-64EA-A39A-C7FC05A80D11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758447" y="4341367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247;p93">
            <a:extLst>
              <a:ext uri="{FF2B5EF4-FFF2-40B4-BE49-F238E27FC236}">
                <a16:creationId xmlns:a16="http://schemas.microsoft.com/office/drawing/2014/main" id="{FA6C336C-B2DA-BBDB-7916-32D6C1CD1C98}"/>
              </a:ext>
            </a:extLst>
          </p:cNvPr>
          <p:cNvSpPr txBox="1"/>
          <p:nvPr/>
        </p:nvSpPr>
        <p:spPr>
          <a:xfrm>
            <a:off x="3126600" y="3619167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248;p93">
            <a:extLst>
              <a:ext uri="{FF2B5EF4-FFF2-40B4-BE49-F238E27FC236}">
                <a16:creationId xmlns:a16="http://schemas.microsoft.com/office/drawing/2014/main" id="{9B6C87D2-758E-5374-28B7-745020C64CB8}"/>
              </a:ext>
            </a:extLst>
          </p:cNvPr>
          <p:cNvSpPr txBox="1"/>
          <p:nvPr/>
        </p:nvSpPr>
        <p:spPr>
          <a:xfrm>
            <a:off x="7234867" y="3619167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249;p93">
            <a:extLst>
              <a:ext uri="{FF2B5EF4-FFF2-40B4-BE49-F238E27FC236}">
                <a16:creationId xmlns:a16="http://schemas.microsoft.com/office/drawing/2014/main" id="{E6C69AE1-B7A4-62C9-B695-F71DE6C2EB82}"/>
              </a:ext>
            </a:extLst>
          </p:cNvPr>
          <p:cNvSpPr/>
          <p:nvPr/>
        </p:nvSpPr>
        <p:spPr>
          <a:xfrm>
            <a:off x="8822433" y="5063567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Google Shape;1250;p93">
            <a:extLst>
              <a:ext uri="{FF2B5EF4-FFF2-40B4-BE49-F238E27FC236}">
                <a16:creationId xmlns:a16="http://schemas.microsoft.com/office/drawing/2014/main" id="{AA039BF4-E602-D4A1-399A-64994A1D357A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rot="10800000">
            <a:off x="10167433" y="4794767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683685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D07EC-9ACC-2A9E-D47F-AC4C39D3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011C45-8AE5-008D-50DF-63AFC304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8EC43"/>
              </a:buClr>
            </a:pPr>
            <a:r>
              <a:rPr lang="pt-BR" b="1" dirty="0"/>
              <a:t>Entidade Fraca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Não tem atributos que possam identificá-la univocamente na </a:t>
            </a:r>
            <a:r>
              <a:rPr lang="pt-BR" dirty="0">
                <a:solidFill>
                  <a:srgbClr val="FF0000"/>
                </a:solidFill>
              </a:rPr>
              <a:t>semântica </a:t>
            </a:r>
            <a:r>
              <a:rPr lang="pt-BR" dirty="0"/>
              <a:t>do domínio de aplicação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Não tem chave (semântica) própria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Sua </a:t>
            </a:r>
            <a:r>
              <a:rPr lang="pt-BR" dirty="0">
                <a:solidFill>
                  <a:srgbClr val="FF0000"/>
                </a:solidFill>
              </a:rPr>
              <a:t>identificação</a:t>
            </a:r>
            <a:r>
              <a:rPr lang="pt-BR" dirty="0"/>
              <a:t> depende de um relacionamento com uma entidade de outro CE (chamada de </a:t>
            </a:r>
            <a:r>
              <a:rPr lang="pt-BR" b="1" dirty="0" err="1"/>
              <a:t>owner</a:t>
            </a:r>
            <a:r>
              <a:rPr lang="pt-BR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57437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2B7D5-5BC5-EDC1-013D-3A0DC721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FEF8AC-7EE4-4AF2-1092-A4B322ADA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Notação DER: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Entidade Fraca: traço duplo no retângulo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 Identificador: traço duplo no losango </a:t>
            </a:r>
          </a:p>
          <a:p>
            <a:endParaRPr lang="pt-BR" dirty="0"/>
          </a:p>
        </p:txBody>
      </p:sp>
      <p:sp>
        <p:nvSpPr>
          <p:cNvPr id="4" name="Google Shape;1264;p95">
            <a:extLst>
              <a:ext uri="{FF2B5EF4-FFF2-40B4-BE49-F238E27FC236}">
                <a16:creationId xmlns:a16="http://schemas.microsoft.com/office/drawing/2014/main" id="{E99A1D8A-A92B-8FBB-B76C-FC7FD400845B}"/>
              </a:ext>
            </a:extLst>
          </p:cNvPr>
          <p:cNvSpPr/>
          <p:nvPr/>
        </p:nvSpPr>
        <p:spPr>
          <a:xfrm>
            <a:off x="516373" y="3887967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266;p95">
            <a:extLst>
              <a:ext uri="{FF2B5EF4-FFF2-40B4-BE49-F238E27FC236}">
                <a16:creationId xmlns:a16="http://schemas.microsoft.com/office/drawing/2014/main" id="{D7B401D5-4CE5-7E06-DE19-B11CF28FB22F}"/>
              </a:ext>
            </a:extLst>
          </p:cNvPr>
          <p:cNvSpPr/>
          <p:nvPr/>
        </p:nvSpPr>
        <p:spPr>
          <a:xfrm>
            <a:off x="583967" y="3959633"/>
            <a:ext cx="2881200" cy="763600"/>
          </a:xfrm>
          <a:prstGeom prst="rect">
            <a:avLst/>
          </a:prstGeom>
          <a:ln w="1905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Turma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267;p95">
            <a:extLst>
              <a:ext uri="{FF2B5EF4-FFF2-40B4-BE49-F238E27FC236}">
                <a16:creationId xmlns:a16="http://schemas.microsoft.com/office/drawing/2014/main" id="{58BEA1BB-D7CD-4D05-E080-4969F24AB564}"/>
              </a:ext>
            </a:extLst>
          </p:cNvPr>
          <p:cNvSpPr/>
          <p:nvPr/>
        </p:nvSpPr>
        <p:spPr>
          <a:xfrm>
            <a:off x="8659247" y="3887967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" name="Google Shape;1268;p95">
            <a:extLst>
              <a:ext uri="{FF2B5EF4-FFF2-40B4-BE49-F238E27FC236}">
                <a16:creationId xmlns:a16="http://schemas.microsoft.com/office/drawing/2014/main" id="{80D4B2EB-F9B6-64B2-DC6F-19579AEA6A8A}"/>
              </a:ext>
            </a:extLst>
          </p:cNvPr>
          <p:cNvGrpSpPr/>
          <p:nvPr/>
        </p:nvGrpSpPr>
        <p:grpSpPr>
          <a:xfrm>
            <a:off x="4433400" y="3619233"/>
            <a:ext cx="3325200" cy="1444400"/>
            <a:chOff x="3325050" y="2714425"/>
            <a:chExt cx="2493900" cy="1083300"/>
          </a:xfrm>
        </p:grpSpPr>
        <p:sp>
          <p:nvSpPr>
            <p:cNvPr id="8" name="Google Shape;1269;p95">
              <a:extLst>
                <a:ext uri="{FF2B5EF4-FFF2-40B4-BE49-F238E27FC236}">
                  <a16:creationId xmlns:a16="http://schemas.microsoft.com/office/drawing/2014/main" id="{0435B078-0C2E-058D-CB7C-8D3DFA2A0755}"/>
                </a:ext>
              </a:extLst>
            </p:cNvPr>
            <p:cNvSpPr/>
            <p:nvPr/>
          </p:nvSpPr>
          <p:spPr>
            <a:xfrm>
              <a:off x="3325050" y="2714425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19050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" name="Google Shape;1270;p95">
              <a:extLst>
                <a:ext uri="{FF2B5EF4-FFF2-40B4-BE49-F238E27FC236}">
                  <a16:creationId xmlns:a16="http://schemas.microsoft.com/office/drawing/2014/main" id="{384DCA62-8C09-64A2-D012-1DD29E0A6956}"/>
                </a:ext>
              </a:extLst>
            </p:cNvPr>
            <p:cNvSpPr/>
            <p:nvPr/>
          </p:nvSpPr>
          <p:spPr>
            <a:xfrm>
              <a:off x="3440788" y="2764825"/>
              <a:ext cx="2262300" cy="982500"/>
            </a:xfrm>
            <a:prstGeom prst="diamond">
              <a:avLst/>
            </a:prstGeom>
            <a:solidFill>
              <a:srgbClr val="61A31F"/>
            </a:solidFill>
            <a:ln w="19050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cxnSp>
        <p:nvCxnSpPr>
          <p:cNvPr id="10" name="Google Shape;1271;p95">
            <a:extLst>
              <a:ext uri="{FF2B5EF4-FFF2-40B4-BE49-F238E27FC236}">
                <a16:creationId xmlns:a16="http://schemas.microsoft.com/office/drawing/2014/main" id="{EF7F2B04-1FC5-73CA-7E38-82CD7280D8AE}"/>
              </a:ext>
            </a:extLst>
          </p:cNvPr>
          <p:cNvCxnSpPr>
            <a:stCxn id="8" idx="1"/>
            <a:endCxn id="4" idx="3"/>
          </p:cNvCxnSpPr>
          <p:nvPr/>
        </p:nvCxnSpPr>
        <p:spPr>
          <a:xfrm rot="10800000">
            <a:off x="3532600" y="4341433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dist="66675" dir="5400000" algn="bl" rotWithShape="0">
              <a:schemeClr val="dk1"/>
            </a:outerShdw>
          </a:effectLst>
        </p:spPr>
      </p:cxnSp>
      <p:cxnSp>
        <p:nvCxnSpPr>
          <p:cNvPr id="11" name="Google Shape;1272;p95">
            <a:extLst>
              <a:ext uri="{FF2B5EF4-FFF2-40B4-BE49-F238E27FC236}">
                <a16:creationId xmlns:a16="http://schemas.microsoft.com/office/drawing/2014/main" id="{A313AEF8-E3F3-038C-BFD6-9500B2B255A0}"/>
              </a:ext>
            </a:extLst>
          </p:cNvPr>
          <p:cNvCxnSpPr>
            <a:stCxn id="6" idx="1"/>
            <a:endCxn id="8" idx="3"/>
          </p:cNvCxnSpPr>
          <p:nvPr/>
        </p:nvCxnSpPr>
        <p:spPr>
          <a:xfrm rot="10800000">
            <a:off x="7758447" y="4341367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73;p95">
            <a:extLst>
              <a:ext uri="{FF2B5EF4-FFF2-40B4-BE49-F238E27FC236}">
                <a16:creationId xmlns:a16="http://schemas.microsoft.com/office/drawing/2014/main" id="{F9012E91-DA3C-AAE1-E1F2-C3BECC167BA3}"/>
              </a:ext>
            </a:extLst>
          </p:cNvPr>
          <p:cNvSpPr txBox="1"/>
          <p:nvPr/>
        </p:nvSpPr>
        <p:spPr>
          <a:xfrm>
            <a:off x="3126600" y="3619167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1274;p95">
            <a:extLst>
              <a:ext uri="{FF2B5EF4-FFF2-40B4-BE49-F238E27FC236}">
                <a16:creationId xmlns:a16="http://schemas.microsoft.com/office/drawing/2014/main" id="{AFEE60F2-B37C-80B5-F402-3ED593A7D232}"/>
              </a:ext>
            </a:extLst>
          </p:cNvPr>
          <p:cNvSpPr txBox="1"/>
          <p:nvPr/>
        </p:nvSpPr>
        <p:spPr>
          <a:xfrm>
            <a:off x="7234867" y="3619167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1275;p95">
            <a:extLst>
              <a:ext uri="{FF2B5EF4-FFF2-40B4-BE49-F238E27FC236}">
                <a16:creationId xmlns:a16="http://schemas.microsoft.com/office/drawing/2014/main" id="{ADBA1C20-E243-936A-A72B-1CF697E9DE2C}"/>
              </a:ext>
            </a:extLst>
          </p:cNvPr>
          <p:cNvSpPr/>
          <p:nvPr/>
        </p:nvSpPr>
        <p:spPr>
          <a:xfrm>
            <a:off x="8822433" y="5063567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5" name="Google Shape;1276;p95">
            <a:extLst>
              <a:ext uri="{FF2B5EF4-FFF2-40B4-BE49-F238E27FC236}">
                <a16:creationId xmlns:a16="http://schemas.microsoft.com/office/drawing/2014/main" id="{347F5286-61D3-ABB5-5B06-AADE545CB274}"/>
              </a:ext>
            </a:extLst>
          </p:cNvPr>
          <p:cNvCxnSpPr>
            <a:stCxn id="14" idx="0"/>
            <a:endCxn id="6" idx="2"/>
          </p:cNvCxnSpPr>
          <p:nvPr/>
        </p:nvCxnSpPr>
        <p:spPr>
          <a:xfrm rot="10800000">
            <a:off x="10167433" y="4794767"/>
            <a:ext cx="0" cy="2688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6" name="Google Shape;1277;p95">
            <a:extLst>
              <a:ext uri="{FF2B5EF4-FFF2-40B4-BE49-F238E27FC236}">
                <a16:creationId xmlns:a16="http://schemas.microsoft.com/office/drawing/2014/main" id="{CA52802A-AC3E-08F1-7400-F48EC29777B3}"/>
              </a:ext>
            </a:extLst>
          </p:cNvPr>
          <p:cNvSpPr txBox="1"/>
          <p:nvPr/>
        </p:nvSpPr>
        <p:spPr>
          <a:xfrm>
            <a:off x="804167" y="5097167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latin typeface="Play"/>
                <a:ea typeface="Play"/>
                <a:cs typeface="Play"/>
                <a:sym typeface="Play"/>
              </a:rPr>
              <a:t>Entidade Fraca</a:t>
            </a:r>
            <a:endParaRPr sz="24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" name="Google Shape;1278;p95">
            <a:extLst>
              <a:ext uri="{FF2B5EF4-FFF2-40B4-BE49-F238E27FC236}">
                <a16:creationId xmlns:a16="http://schemas.microsoft.com/office/drawing/2014/main" id="{08D9A3B2-2A45-972A-CBA9-A7A9518FEA55}"/>
              </a:ext>
            </a:extLst>
          </p:cNvPr>
          <p:cNvSpPr txBox="1"/>
          <p:nvPr/>
        </p:nvSpPr>
        <p:spPr>
          <a:xfrm>
            <a:off x="4735700" y="5097167"/>
            <a:ext cx="25960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latin typeface="Play"/>
                <a:ea typeface="Play"/>
                <a:cs typeface="Play"/>
                <a:sym typeface="Play"/>
              </a:rPr>
              <a:t>Relacionamento Identificador</a:t>
            </a:r>
            <a:endParaRPr sz="240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8188029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D9E6F-54FE-7537-E55E-56CDF122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1D5AA3-759B-D691-4531-D49EBD9E1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Conjunto de Entidades Fracas: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Possui </a:t>
            </a:r>
            <a:r>
              <a:rPr lang="pt-BR" b="1" dirty="0"/>
              <a:t>participação total </a:t>
            </a:r>
            <a:r>
              <a:rPr lang="pt-BR" dirty="0"/>
              <a:t>no CR (chamado de </a:t>
            </a:r>
            <a:r>
              <a:rPr lang="pt-BR" dirty="0">
                <a:solidFill>
                  <a:srgbClr val="FF0000"/>
                </a:solidFill>
              </a:rPr>
              <a:t>CR identificador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cardinalidade do CR é </a:t>
            </a:r>
            <a:r>
              <a:rPr lang="pt-BR" dirty="0">
                <a:solidFill>
                  <a:srgbClr val="FF0000"/>
                </a:solidFill>
              </a:rPr>
              <a:t>1:N</a:t>
            </a:r>
            <a:r>
              <a:rPr lang="pt-BR" dirty="0"/>
              <a:t> ou </a:t>
            </a:r>
            <a:r>
              <a:rPr lang="pt-BR" dirty="0">
                <a:solidFill>
                  <a:srgbClr val="FF0000"/>
                </a:solidFill>
              </a:rPr>
              <a:t>1:1</a:t>
            </a:r>
          </a:p>
          <a:p>
            <a:endParaRPr lang="pt-BR" dirty="0"/>
          </a:p>
          <a:p>
            <a:pPr>
              <a:buClr>
                <a:srgbClr val="98EC43"/>
              </a:buClr>
            </a:pPr>
            <a:r>
              <a:rPr lang="pt-BR" b="1" dirty="0"/>
              <a:t>Chave Parcial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 ou mais atributos de um </a:t>
            </a:r>
            <a:r>
              <a:rPr lang="pt-BR" dirty="0" err="1"/>
              <a:t>CEs</a:t>
            </a:r>
            <a:r>
              <a:rPr lang="pt-BR" dirty="0"/>
              <a:t> Fracas que podem, </a:t>
            </a:r>
            <a:r>
              <a:rPr lang="pt-BR" dirty="0">
                <a:solidFill>
                  <a:srgbClr val="FF0000"/>
                </a:solidFill>
              </a:rPr>
              <a:t>junto com a chave do </a:t>
            </a:r>
            <a:r>
              <a:rPr lang="pt-BR" dirty="0" err="1">
                <a:solidFill>
                  <a:srgbClr val="FF0000"/>
                </a:solidFill>
              </a:rPr>
              <a:t>owner</a:t>
            </a:r>
            <a:r>
              <a:rPr lang="pt-BR" dirty="0"/>
              <a:t>, identificar as entidades fracas 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 1:N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Ex</a:t>
            </a:r>
            <a:r>
              <a:rPr lang="pt-BR" dirty="0"/>
              <a:t>: Id. de Turma: (chave composta) Sigla + </a:t>
            </a:r>
            <a:r>
              <a:rPr lang="pt-BR" dirty="0" err="1"/>
              <a:t>Nro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82272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6BE45-E9C6-27F7-71FA-FAA8A090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5E8182-0053-9438-6D19-D9533636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Chave Parcial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Notação DER: traço pontilhado</a:t>
            </a:r>
          </a:p>
          <a:p>
            <a:endParaRPr lang="pt-BR" dirty="0"/>
          </a:p>
        </p:txBody>
      </p:sp>
      <p:sp>
        <p:nvSpPr>
          <p:cNvPr id="4" name="Google Shape;1300;p98">
            <a:extLst>
              <a:ext uri="{FF2B5EF4-FFF2-40B4-BE49-F238E27FC236}">
                <a16:creationId xmlns:a16="http://schemas.microsoft.com/office/drawing/2014/main" id="{CEAEE857-836F-A95B-F324-2B799C9FE624}"/>
              </a:ext>
            </a:extLst>
          </p:cNvPr>
          <p:cNvSpPr/>
          <p:nvPr/>
        </p:nvSpPr>
        <p:spPr>
          <a:xfrm>
            <a:off x="516373" y="3887967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302;p98">
            <a:extLst>
              <a:ext uri="{FF2B5EF4-FFF2-40B4-BE49-F238E27FC236}">
                <a16:creationId xmlns:a16="http://schemas.microsoft.com/office/drawing/2014/main" id="{9B86A6C9-186E-60D3-C9E3-A9FE43B6EA18}"/>
              </a:ext>
            </a:extLst>
          </p:cNvPr>
          <p:cNvSpPr/>
          <p:nvPr/>
        </p:nvSpPr>
        <p:spPr>
          <a:xfrm>
            <a:off x="583967" y="3959633"/>
            <a:ext cx="2881200" cy="763600"/>
          </a:xfrm>
          <a:prstGeom prst="rect">
            <a:avLst/>
          </a:prstGeom>
          <a:ln w="1905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Turma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303;p98">
            <a:extLst>
              <a:ext uri="{FF2B5EF4-FFF2-40B4-BE49-F238E27FC236}">
                <a16:creationId xmlns:a16="http://schemas.microsoft.com/office/drawing/2014/main" id="{35B79656-4F73-1DB6-85EC-DFF9A21ADF17}"/>
              </a:ext>
            </a:extLst>
          </p:cNvPr>
          <p:cNvSpPr/>
          <p:nvPr/>
        </p:nvSpPr>
        <p:spPr>
          <a:xfrm>
            <a:off x="8659247" y="3887967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" name="Google Shape;1304;p98">
            <a:extLst>
              <a:ext uri="{FF2B5EF4-FFF2-40B4-BE49-F238E27FC236}">
                <a16:creationId xmlns:a16="http://schemas.microsoft.com/office/drawing/2014/main" id="{3667E586-4510-AB65-F1D8-A339283D6136}"/>
              </a:ext>
            </a:extLst>
          </p:cNvPr>
          <p:cNvGrpSpPr/>
          <p:nvPr/>
        </p:nvGrpSpPr>
        <p:grpSpPr>
          <a:xfrm>
            <a:off x="4433400" y="3619233"/>
            <a:ext cx="3325200" cy="1444400"/>
            <a:chOff x="3325050" y="2714425"/>
            <a:chExt cx="2493900" cy="1083300"/>
          </a:xfrm>
        </p:grpSpPr>
        <p:sp>
          <p:nvSpPr>
            <p:cNvPr id="8" name="Google Shape;1305;p98">
              <a:extLst>
                <a:ext uri="{FF2B5EF4-FFF2-40B4-BE49-F238E27FC236}">
                  <a16:creationId xmlns:a16="http://schemas.microsoft.com/office/drawing/2014/main" id="{6066B61E-7E53-E1FC-BA2E-0409BAAED1B7}"/>
                </a:ext>
              </a:extLst>
            </p:cNvPr>
            <p:cNvSpPr/>
            <p:nvPr/>
          </p:nvSpPr>
          <p:spPr>
            <a:xfrm>
              <a:off x="3325050" y="2714425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19050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" name="Google Shape;1306;p98">
              <a:extLst>
                <a:ext uri="{FF2B5EF4-FFF2-40B4-BE49-F238E27FC236}">
                  <a16:creationId xmlns:a16="http://schemas.microsoft.com/office/drawing/2014/main" id="{D3D1B725-764E-C3D6-B5E2-B65F7834AF2B}"/>
                </a:ext>
              </a:extLst>
            </p:cNvPr>
            <p:cNvSpPr/>
            <p:nvPr/>
          </p:nvSpPr>
          <p:spPr>
            <a:xfrm>
              <a:off x="3440788" y="2764825"/>
              <a:ext cx="2262300" cy="982500"/>
            </a:xfrm>
            <a:prstGeom prst="diamond">
              <a:avLst/>
            </a:prstGeom>
            <a:solidFill>
              <a:srgbClr val="61A31F"/>
            </a:solidFill>
            <a:ln w="19050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cxnSp>
        <p:nvCxnSpPr>
          <p:cNvPr id="10" name="Google Shape;1307;p98">
            <a:extLst>
              <a:ext uri="{FF2B5EF4-FFF2-40B4-BE49-F238E27FC236}">
                <a16:creationId xmlns:a16="http://schemas.microsoft.com/office/drawing/2014/main" id="{59FF0E37-2E57-5E7E-19E1-E59F68354CE3}"/>
              </a:ext>
            </a:extLst>
          </p:cNvPr>
          <p:cNvCxnSpPr>
            <a:stCxn id="8" idx="1"/>
            <a:endCxn id="4" idx="3"/>
          </p:cNvCxnSpPr>
          <p:nvPr/>
        </p:nvCxnSpPr>
        <p:spPr>
          <a:xfrm rot="10800000">
            <a:off x="3532600" y="4341433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dist="66675" dir="5400000" algn="bl" rotWithShape="0">
              <a:schemeClr val="dk1"/>
            </a:outerShdw>
          </a:effectLst>
        </p:spPr>
      </p:cxnSp>
      <p:cxnSp>
        <p:nvCxnSpPr>
          <p:cNvPr id="11" name="Google Shape;1308;p98">
            <a:extLst>
              <a:ext uri="{FF2B5EF4-FFF2-40B4-BE49-F238E27FC236}">
                <a16:creationId xmlns:a16="http://schemas.microsoft.com/office/drawing/2014/main" id="{6709618E-DEE7-92E2-C917-76F584E4B9F0}"/>
              </a:ext>
            </a:extLst>
          </p:cNvPr>
          <p:cNvCxnSpPr>
            <a:stCxn id="6" idx="1"/>
            <a:endCxn id="8" idx="3"/>
          </p:cNvCxnSpPr>
          <p:nvPr/>
        </p:nvCxnSpPr>
        <p:spPr>
          <a:xfrm rot="10800000">
            <a:off x="7758447" y="4341367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309;p98">
            <a:extLst>
              <a:ext uri="{FF2B5EF4-FFF2-40B4-BE49-F238E27FC236}">
                <a16:creationId xmlns:a16="http://schemas.microsoft.com/office/drawing/2014/main" id="{0373486A-C68D-D1E1-1761-E1F47B523D16}"/>
              </a:ext>
            </a:extLst>
          </p:cNvPr>
          <p:cNvSpPr txBox="1"/>
          <p:nvPr/>
        </p:nvSpPr>
        <p:spPr>
          <a:xfrm>
            <a:off x="3126600" y="3619167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1310;p98">
            <a:extLst>
              <a:ext uri="{FF2B5EF4-FFF2-40B4-BE49-F238E27FC236}">
                <a16:creationId xmlns:a16="http://schemas.microsoft.com/office/drawing/2014/main" id="{E81DA6DC-6B71-B928-9E19-E52F1089D060}"/>
              </a:ext>
            </a:extLst>
          </p:cNvPr>
          <p:cNvSpPr txBox="1"/>
          <p:nvPr/>
        </p:nvSpPr>
        <p:spPr>
          <a:xfrm>
            <a:off x="7234867" y="3619167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1311;p98">
            <a:extLst>
              <a:ext uri="{FF2B5EF4-FFF2-40B4-BE49-F238E27FC236}">
                <a16:creationId xmlns:a16="http://schemas.microsoft.com/office/drawing/2014/main" id="{EB34F671-6469-3DC4-56BC-89F1AEABD76D}"/>
              </a:ext>
            </a:extLst>
          </p:cNvPr>
          <p:cNvSpPr/>
          <p:nvPr/>
        </p:nvSpPr>
        <p:spPr>
          <a:xfrm>
            <a:off x="8822433" y="5063567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5" name="Google Shape;1312;p98">
            <a:extLst>
              <a:ext uri="{FF2B5EF4-FFF2-40B4-BE49-F238E27FC236}">
                <a16:creationId xmlns:a16="http://schemas.microsoft.com/office/drawing/2014/main" id="{391A63A9-A671-0637-F27F-B164322E84FE}"/>
              </a:ext>
            </a:extLst>
          </p:cNvPr>
          <p:cNvCxnSpPr>
            <a:stCxn id="14" idx="0"/>
            <a:endCxn id="6" idx="2"/>
          </p:cNvCxnSpPr>
          <p:nvPr/>
        </p:nvCxnSpPr>
        <p:spPr>
          <a:xfrm rot="10800000">
            <a:off x="10167433" y="4794767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13;p98">
            <a:extLst>
              <a:ext uri="{FF2B5EF4-FFF2-40B4-BE49-F238E27FC236}">
                <a16:creationId xmlns:a16="http://schemas.microsoft.com/office/drawing/2014/main" id="{A310475C-06BE-0A43-A138-75FD99FBBC5E}"/>
              </a:ext>
            </a:extLst>
          </p:cNvPr>
          <p:cNvSpPr/>
          <p:nvPr/>
        </p:nvSpPr>
        <p:spPr>
          <a:xfrm>
            <a:off x="679567" y="5169733"/>
            <a:ext cx="2690000" cy="6884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1314;p98">
            <a:extLst>
              <a:ext uri="{FF2B5EF4-FFF2-40B4-BE49-F238E27FC236}">
                <a16:creationId xmlns:a16="http://schemas.microsoft.com/office/drawing/2014/main" id="{27C20068-0B64-1F11-49C2-056BB8E01628}"/>
              </a:ext>
            </a:extLst>
          </p:cNvPr>
          <p:cNvCxnSpPr>
            <a:stCxn id="16" idx="0"/>
            <a:endCxn id="4" idx="2"/>
          </p:cNvCxnSpPr>
          <p:nvPr/>
        </p:nvCxnSpPr>
        <p:spPr>
          <a:xfrm rot="10800000">
            <a:off x="2024567" y="4794933"/>
            <a:ext cx="0" cy="37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315;p98">
            <a:extLst>
              <a:ext uri="{FF2B5EF4-FFF2-40B4-BE49-F238E27FC236}">
                <a16:creationId xmlns:a16="http://schemas.microsoft.com/office/drawing/2014/main" id="{8F618068-FA65-C9F4-AEE0-0853EE6BF1F6}"/>
              </a:ext>
            </a:extLst>
          </p:cNvPr>
          <p:cNvCxnSpPr/>
          <p:nvPr/>
        </p:nvCxnSpPr>
        <p:spPr>
          <a:xfrm>
            <a:off x="1275367" y="5751967"/>
            <a:ext cx="149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Google Shape;1316;p98">
            <a:extLst>
              <a:ext uri="{FF2B5EF4-FFF2-40B4-BE49-F238E27FC236}">
                <a16:creationId xmlns:a16="http://schemas.microsoft.com/office/drawing/2014/main" id="{947F54BD-383C-2E11-537E-5C6AD08B0FAF}"/>
              </a:ext>
            </a:extLst>
          </p:cNvPr>
          <p:cNvSpPr txBox="1"/>
          <p:nvPr/>
        </p:nvSpPr>
        <p:spPr>
          <a:xfrm>
            <a:off x="3532600" y="5253833"/>
            <a:ext cx="2440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Chave Parcial</a:t>
            </a:r>
            <a:endParaRPr sz="2400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1564402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91498-A1FE-E6C3-2662-C418EABE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000FF-FD61-5C14-D36E-8AB2520F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Observação: o conceito de entidade fraca é mais ligado à semântica do domínio da aplicação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Poderíamos incluir um ID único em turma, mas semanticamente, no contexto da aplicação, não é relevante…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A turma acaba sendo identificada por meio da disciplina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16557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72AED-8345-3B9A-4CB0-F49AA60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BF6B22-8AE3-B88C-CF9A-083E6EA9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Existe alguma coisa no mundo real que só faz sentido </a:t>
            </a:r>
            <a:r>
              <a:rPr lang="pt-BR" i="1" dirty="0"/>
              <a:t>dentro de outra coisa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Se sim, provavelmente você está diante de uma entidade fraca.</a:t>
            </a:r>
          </a:p>
          <a:p>
            <a:pPr lvl="1"/>
            <a:endParaRPr lang="pt-BR" dirty="0"/>
          </a:p>
          <a:p>
            <a:r>
              <a:rPr lang="pt-BR" b="1" dirty="0"/>
              <a:t>Exemplo</a:t>
            </a:r>
            <a:r>
              <a:rPr lang="pt-BR" dirty="0"/>
              <a:t>: Apartamento e Prédio</a:t>
            </a:r>
          </a:p>
          <a:p>
            <a:r>
              <a:rPr lang="pt-BR" dirty="0"/>
              <a:t>Imagine o seguinte cenário:</a:t>
            </a:r>
          </a:p>
          <a:p>
            <a:pPr lvl="1"/>
            <a:r>
              <a:rPr lang="pt-BR" dirty="0"/>
              <a:t>Um Prédio possui vários Apartamentos</a:t>
            </a:r>
          </a:p>
          <a:p>
            <a:pPr lvl="1"/>
            <a:r>
              <a:rPr lang="pt-BR" dirty="0"/>
              <a:t>O número do apartamento (</a:t>
            </a:r>
            <a:r>
              <a:rPr lang="pt-BR" dirty="0" err="1"/>
              <a:t>ex</a:t>
            </a:r>
            <a:r>
              <a:rPr lang="pt-BR" dirty="0"/>
              <a:t>: 101, 102) se repete em diferentes prédios</a:t>
            </a:r>
          </a:p>
          <a:p>
            <a:pPr lvl="1"/>
            <a:r>
              <a:rPr lang="pt-BR" dirty="0"/>
              <a:t>Problema:</a:t>
            </a:r>
          </a:p>
          <a:p>
            <a:pPr lvl="2"/>
            <a:r>
              <a:rPr lang="pt-BR" dirty="0"/>
              <a:t>Atributo </a:t>
            </a:r>
            <a:r>
              <a:rPr lang="pt-BR" i="1" dirty="0" err="1"/>
              <a:t>numero_apto</a:t>
            </a:r>
            <a:r>
              <a:rPr lang="pt-BR" i="1" dirty="0"/>
              <a:t> </a:t>
            </a:r>
            <a:r>
              <a:rPr lang="pt-BR" dirty="0"/>
              <a:t>sozinho não identifica unicamente um apartamento no sistema inteiro</a:t>
            </a:r>
          </a:p>
          <a:p>
            <a:pPr lvl="1"/>
            <a:r>
              <a:rPr lang="pt-BR" dirty="0"/>
              <a:t>Modelagem:</a:t>
            </a:r>
          </a:p>
          <a:p>
            <a:pPr lvl="2"/>
            <a:r>
              <a:rPr lang="pt-BR" dirty="0"/>
              <a:t>Entidade forte: Prédio (tem identificador próprio, como </a:t>
            </a:r>
            <a:r>
              <a:rPr lang="pt-BR" dirty="0" err="1"/>
              <a:t>id_predio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Entidade fraca: Apartamento</a:t>
            </a:r>
          </a:p>
          <a:p>
            <a:pPr lvl="2"/>
            <a:r>
              <a:rPr lang="pt-BR" dirty="0"/>
              <a:t>Chave parcial: </a:t>
            </a:r>
            <a:r>
              <a:rPr lang="pt-BR" i="1" dirty="0" err="1"/>
              <a:t>numero_apto</a:t>
            </a:r>
            <a:endParaRPr lang="pt-BR" i="1" dirty="0"/>
          </a:p>
          <a:p>
            <a:pPr lvl="1"/>
            <a:r>
              <a:rPr lang="pt-BR" dirty="0"/>
              <a:t>Identificação completa: (</a:t>
            </a:r>
            <a:r>
              <a:rPr lang="pt-BR" dirty="0" err="1"/>
              <a:t>id_predio</a:t>
            </a:r>
            <a:r>
              <a:rPr lang="pt-BR" dirty="0"/>
              <a:t> + </a:t>
            </a:r>
            <a:r>
              <a:rPr lang="pt-BR" dirty="0" err="1"/>
              <a:t>numero_apto</a:t>
            </a:r>
            <a:r>
              <a:rPr lang="pt-BR" dirty="0"/>
              <a:t>)</a:t>
            </a:r>
          </a:p>
          <a:p>
            <a:r>
              <a:rPr lang="pt-BR" dirty="0"/>
              <a:t>Ou seja: o apartamento só é único dentro de um prédio</a:t>
            </a:r>
          </a:p>
        </p:txBody>
      </p:sp>
    </p:spTree>
    <p:extLst>
      <p:ext uri="{BB962C8B-B14F-4D97-AF65-F5344CB8AC3E}">
        <p14:creationId xmlns:p14="http://schemas.microsoft.com/office/powerpoint/2010/main" val="40877868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8C593-1BFC-6A2E-E575-78A506D7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1F7BC-725C-6A74-C016-C577ADC42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modelar como Entidade Fraca?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Quando for relevante manter a unicidade das instâncias do CE Fraca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Quando a entidade fraca participar de outros relacionamentos além daquele que a identifica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Quando tiver muitos atributos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58384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32C88-B7F3-89B9-4119-48699E6A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grpSp>
        <p:nvGrpSpPr>
          <p:cNvPr id="4" name="Google Shape;1344;p102">
            <a:extLst>
              <a:ext uri="{FF2B5EF4-FFF2-40B4-BE49-F238E27FC236}">
                <a16:creationId xmlns:a16="http://schemas.microsoft.com/office/drawing/2014/main" id="{5A487C9B-FDC8-9B8E-69F4-4208A057CD52}"/>
              </a:ext>
            </a:extLst>
          </p:cNvPr>
          <p:cNvGrpSpPr/>
          <p:nvPr/>
        </p:nvGrpSpPr>
        <p:grpSpPr>
          <a:xfrm>
            <a:off x="505084" y="2094425"/>
            <a:ext cx="3016400" cy="906800"/>
            <a:chOff x="387280" y="1404575"/>
            <a:chExt cx="2262300" cy="680100"/>
          </a:xfrm>
        </p:grpSpPr>
        <p:sp>
          <p:nvSpPr>
            <p:cNvPr id="5" name="Google Shape;1345;p102">
              <a:extLst>
                <a:ext uri="{FF2B5EF4-FFF2-40B4-BE49-F238E27FC236}">
                  <a16:creationId xmlns:a16="http://schemas.microsoft.com/office/drawing/2014/main" id="{D4DA2046-192F-8944-3E8D-2C3D9B6FF70A}"/>
                </a:ext>
              </a:extLst>
            </p:cNvPr>
            <p:cNvSpPr/>
            <p:nvPr/>
          </p:nvSpPr>
          <p:spPr>
            <a:xfrm>
              <a:off x="387280" y="1404575"/>
              <a:ext cx="2262300" cy="68010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200">
                <a:solidFill>
                  <a:schemeClr val="dk1"/>
                </a:solidFill>
                <a:latin typeface="Play"/>
                <a:sym typeface="Play"/>
              </a:endParaRPr>
            </a:p>
          </p:txBody>
        </p:sp>
        <p:sp>
          <p:nvSpPr>
            <p:cNvPr id="6" name="Google Shape;1346;p102">
              <a:extLst>
                <a:ext uri="{FF2B5EF4-FFF2-40B4-BE49-F238E27FC236}">
                  <a16:creationId xmlns:a16="http://schemas.microsoft.com/office/drawing/2014/main" id="{1B54D12C-FCF5-CF72-A5A3-0E41AEF60A7A}"/>
                </a:ext>
              </a:extLst>
            </p:cNvPr>
            <p:cNvSpPr/>
            <p:nvPr/>
          </p:nvSpPr>
          <p:spPr>
            <a:xfrm>
              <a:off x="437975" y="1458325"/>
              <a:ext cx="2160900" cy="57270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sym typeface="Play"/>
                </a:rPr>
                <a:t>Turma</a:t>
              </a:r>
              <a:endParaRPr sz="3200">
                <a:solidFill>
                  <a:schemeClr val="dk1"/>
                </a:solidFill>
                <a:latin typeface="Play"/>
                <a:sym typeface="Play"/>
              </a:endParaRPr>
            </a:p>
          </p:txBody>
        </p:sp>
      </p:grpSp>
      <p:sp>
        <p:nvSpPr>
          <p:cNvPr id="7" name="Google Shape;1347;p102">
            <a:extLst>
              <a:ext uri="{FF2B5EF4-FFF2-40B4-BE49-F238E27FC236}">
                <a16:creationId xmlns:a16="http://schemas.microsoft.com/office/drawing/2014/main" id="{7D3CE2B8-BFBE-6479-0E8E-639226E6D5D0}"/>
              </a:ext>
            </a:extLst>
          </p:cNvPr>
          <p:cNvSpPr/>
          <p:nvPr/>
        </p:nvSpPr>
        <p:spPr>
          <a:xfrm>
            <a:off x="8647958" y="2094425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" name="Google Shape;1348;p102">
            <a:extLst>
              <a:ext uri="{FF2B5EF4-FFF2-40B4-BE49-F238E27FC236}">
                <a16:creationId xmlns:a16="http://schemas.microsoft.com/office/drawing/2014/main" id="{2DDAEA73-BFE0-3CBA-A585-F1E4F6B171C9}"/>
              </a:ext>
            </a:extLst>
          </p:cNvPr>
          <p:cNvGrpSpPr/>
          <p:nvPr/>
        </p:nvGrpSpPr>
        <p:grpSpPr>
          <a:xfrm>
            <a:off x="4422111" y="1825691"/>
            <a:ext cx="3325200" cy="1444400"/>
            <a:chOff x="3325050" y="2714425"/>
            <a:chExt cx="2493900" cy="1083300"/>
          </a:xfrm>
        </p:grpSpPr>
        <p:sp>
          <p:nvSpPr>
            <p:cNvPr id="9" name="Google Shape;1349;p102">
              <a:extLst>
                <a:ext uri="{FF2B5EF4-FFF2-40B4-BE49-F238E27FC236}">
                  <a16:creationId xmlns:a16="http://schemas.microsoft.com/office/drawing/2014/main" id="{5D925BEA-44B9-AF76-E7FC-A3BD3CAC3365}"/>
                </a:ext>
              </a:extLst>
            </p:cNvPr>
            <p:cNvSpPr/>
            <p:nvPr/>
          </p:nvSpPr>
          <p:spPr>
            <a:xfrm>
              <a:off x="3325050" y="2714425"/>
              <a:ext cx="2493900" cy="1083300"/>
            </a:xfrm>
            <a:prstGeom prst="diamond">
              <a:avLst/>
            </a:prstGeom>
            <a:solidFill>
              <a:srgbClr val="61A31F"/>
            </a:solidFill>
            <a:ln w="2857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" name="Google Shape;1350;p102">
              <a:extLst>
                <a:ext uri="{FF2B5EF4-FFF2-40B4-BE49-F238E27FC236}">
                  <a16:creationId xmlns:a16="http://schemas.microsoft.com/office/drawing/2014/main" id="{2909E947-D356-EABE-4844-D9FD28E0D6C8}"/>
                </a:ext>
              </a:extLst>
            </p:cNvPr>
            <p:cNvSpPr/>
            <p:nvPr/>
          </p:nvSpPr>
          <p:spPr>
            <a:xfrm>
              <a:off x="3440788" y="2764825"/>
              <a:ext cx="2262300" cy="982500"/>
            </a:xfrm>
            <a:prstGeom prst="diamond">
              <a:avLst/>
            </a:prstGeom>
            <a:solidFill>
              <a:srgbClr val="61A31F"/>
            </a:solidFill>
            <a:ln w="28575" cap="flat" cmpd="sng">
              <a:solidFill>
                <a:srgbClr val="98EC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Possui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cxnSp>
        <p:nvCxnSpPr>
          <p:cNvPr id="11" name="Google Shape;1351;p102">
            <a:extLst>
              <a:ext uri="{FF2B5EF4-FFF2-40B4-BE49-F238E27FC236}">
                <a16:creationId xmlns:a16="http://schemas.microsoft.com/office/drawing/2014/main" id="{3BF1A13E-469A-F7A0-3073-ADE5267F02BC}"/>
              </a:ext>
            </a:extLst>
          </p:cNvPr>
          <p:cNvCxnSpPr>
            <a:stCxn id="9" idx="1"/>
            <a:endCxn id="5" idx="3"/>
          </p:cNvCxnSpPr>
          <p:nvPr/>
        </p:nvCxnSpPr>
        <p:spPr>
          <a:xfrm rot="10800000">
            <a:off x="3521311" y="2547891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dist="66675" dir="5400000" algn="bl" rotWithShape="0">
              <a:schemeClr val="dk1"/>
            </a:outerShdw>
          </a:effectLst>
        </p:spPr>
      </p:cxnSp>
      <p:cxnSp>
        <p:nvCxnSpPr>
          <p:cNvPr id="12" name="Google Shape;1352;p102">
            <a:extLst>
              <a:ext uri="{FF2B5EF4-FFF2-40B4-BE49-F238E27FC236}">
                <a16:creationId xmlns:a16="http://schemas.microsoft.com/office/drawing/2014/main" id="{E8DF60E3-1525-7BAE-3B7B-F3CE57CB1E51}"/>
              </a:ext>
            </a:extLst>
          </p:cNvPr>
          <p:cNvCxnSpPr>
            <a:stCxn id="7" idx="1"/>
            <a:endCxn id="9" idx="3"/>
          </p:cNvCxnSpPr>
          <p:nvPr/>
        </p:nvCxnSpPr>
        <p:spPr>
          <a:xfrm rot="10800000">
            <a:off x="7747158" y="2547825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353;p102">
            <a:extLst>
              <a:ext uri="{FF2B5EF4-FFF2-40B4-BE49-F238E27FC236}">
                <a16:creationId xmlns:a16="http://schemas.microsoft.com/office/drawing/2014/main" id="{14A5C652-A633-54F5-BEE1-980595B3069B}"/>
              </a:ext>
            </a:extLst>
          </p:cNvPr>
          <p:cNvSpPr txBox="1"/>
          <p:nvPr/>
        </p:nvSpPr>
        <p:spPr>
          <a:xfrm>
            <a:off x="3115311" y="1825625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1354;p102">
            <a:extLst>
              <a:ext uri="{FF2B5EF4-FFF2-40B4-BE49-F238E27FC236}">
                <a16:creationId xmlns:a16="http://schemas.microsoft.com/office/drawing/2014/main" id="{E4262F01-7348-0201-89D0-2D46B5CC6298}"/>
              </a:ext>
            </a:extLst>
          </p:cNvPr>
          <p:cNvSpPr txBox="1"/>
          <p:nvPr/>
        </p:nvSpPr>
        <p:spPr>
          <a:xfrm>
            <a:off x="7223578" y="1825625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1355;p102">
            <a:extLst>
              <a:ext uri="{FF2B5EF4-FFF2-40B4-BE49-F238E27FC236}">
                <a16:creationId xmlns:a16="http://schemas.microsoft.com/office/drawing/2014/main" id="{99F2D966-E554-3DD7-4AB0-CFFECC9BD180}"/>
              </a:ext>
            </a:extLst>
          </p:cNvPr>
          <p:cNvSpPr/>
          <p:nvPr/>
        </p:nvSpPr>
        <p:spPr>
          <a:xfrm>
            <a:off x="8811144" y="3270025"/>
            <a:ext cx="2690000" cy="688400"/>
          </a:xfrm>
          <a:prstGeom prst="ellipse">
            <a:avLst/>
          </a:prstGeom>
          <a:solidFill>
            <a:srgbClr val="674EA7"/>
          </a:solidFill>
          <a:ln w="2857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6" name="Google Shape;1356;p102">
            <a:extLst>
              <a:ext uri="{FF2B5EF4-FFF2-40B4-BE49-F238E27FC236}">
                <a16:creationId xmlns:a16="http://schemas.microsoft.com/office/drawing/2014/main" id="{989E302C-60C1-0676-6D2F-852CD49EEDA0}"/>
              </a:ext>
            </a:extLst>
          </p:cNvPr>
          <p:cNvCxnSpPr>
            <a:stCxn id="15" idx="0"/>
            <a:endCxn id="7" idx="2"/>
          </p:cNvCxnSpPr>
          <p:nvPr/>
        </p:nvCxnSpPr>
        <p:spPr>
          <a:xfrm rot="10800000">
            <a:off x="10156144" y="3001225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357;p102">
            <a:extLst>
              <a:ext uri="{FF2B5EF4-FFF2-40B4-BE49-F238E27FC236}">
                <a16:creationId xmlns:a16="http://schemas.microsoft.com/office/drawing/2014/main" id="{DE883883-23B7-1862-76D8-27531477833B}"/>
              </a:ext>
            </a:extLst>
          </p:cNvPr>
          <p:cNvSpPr/>
          <p:nvPr/>
        </p:nvSpPr>
        <p:spPr>
          <a:xfrm>
            <a:off x="668278" y="3376191"/>
            <a:ext cx="2690000" cy="688400"/>
          </a:xfrm>
          <a:prstGeom prst="ellipse">
            <a:avLst/>
          </a:prstGeom>
          <a:solidFill>
            <a:srgbClr val="674EA7"/>
          </a:solidFill>
          <a:ln w="2857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" name="Google Shape;1358;p102">
            <a:extLst>
              <a:ext uri="{FF2B5EF4-FFF2-40B4-BE49-F238E27FC236}">
                <a16:creationId xmlns:a16="http://schemas.microsoft.com/office/drawing/2014/main" id="{3808CD93-9F6A-058A-E497-F8FA83A93F21}"/>
              </a:ext>
            </a:extLst>
          </p:cNvPr>
          <p:cNvCxnSpPr>
            <a:stCxn id="17" idx="0"/>
            <a:endCxn id="5" idx="2"/>
          </p:cNvCxnSpPr>
          <p:nvPr/>
        </p:nvCxnSpPr>
        <p:spPr>
          <a:xfrm rot="10800000">
            <a:off x="2013278" y="3001391"/>
            <a:ext cx="0" cy="37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359;p102">
            <a:extLst>
              <a:ext uri="{FF2B5EF4-FFF2-40B4-BE49-F238E27FC236}">
                <a16:creationId xmlns:a16="http://schemas.microsoft.com/office/drawing/2014/main" id="{3C65E4AD-2216-15F0-B040-CC26900C9D7D}"/>
              </a:ext>
            </a:extLst>
          </p:cNvPr>
          <p:cNvCxnSpPr/>
          <p:nvPr/>
        </p:nvCxnSpPr>
        <p:spPr>
          <a:xfrm>
            <a:off x="1264078" y="3958425"/>
            <a:ext cx="149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Google Shape;1360;p102">
            <a:extLst>
              <a:ext uri="{FF2B5EF4-FFF2-40B4-BE49-F238E27FC236}">
                <a16:creationId xmlns:a16="http://schemas.microsoft.com/office/drawing/2014/main" id="{A6636A51-50FB-1B37-589B-252EE45164C2}"/>
              </a:ext>
            </a:extLst>
          </p:cNvPr>
          <p:cNvSpPr txBox="1"/>
          <p:nvPr/>
        </p:nvSpPr>
        <p:spPr>
          <a:xfrm>
            <a:off x="792878" y="5106025"/>
            <a:ext cx="2440800" cy="9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400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Atributo derivado</a:t>
            </a:r>
            <a:endParaRPr sz="2400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" name="Google Shape;1361;p102">
            <a:extLst>
              <a:ext uri="{FF2B5EF4-FFF2-40B4-BE49-F238E27FC236}">
                <a16:creationId xmlns:a16="http://schemas.microsoft.com/office/drawing/2014/main" id="{5EDA6023-D8F1-38CA-D65F-5C7212751347}"/>
              </a:ext>
            </a:extLst>
          </p:cNvPr>
          <p:cNvSpPr/>
          <p:nvPr/>
        </p:nvSpPr>
        <p:spPr>
          <a:xfrm>
            <a:off x="668278" y="4064591"/>
            <a:ext cx="2690000" cy="688400"/>
          </a:xfrm>
          <a:prstGeom prst="ellipse">
            <a:avLst/>
          </a:prstGeom>
          <a:solidFill>
            <a:srgbClr val="674EA7"/>
          </a:solidFill>
          <a:ln w="28575" cap="flat" cmpd="sng">
            <a:solidFill>
              <a:srgbClr val="B4A7D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Nro Alunos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" name="Google Shape;1362;p102">
            <a:extLst>
              <a:ext uri="{FF2B5EF4-FFF2-40B4-BE49-F238E27FC236}">
                <a16:creationId xmlns:a16="http://schemas.microsoft.com/office/drawing/2014/main" id="{63AF47B4-5137-0B3B-7696-4016E560B613}"/>
              </a:ext>
            </a:extLst>
          </p:cNvPr>
          <p:cNvSpPr/>
          <p:nvPr/>
        </p:nvSpPr>
        <p:spPr>
          <a:xfrm>
            <a:off x="4422111" y="4064591"/>
            <a:ext cx="3325200" cy="1444400"/>
          </a:xfrm>
          <a:prstGeom prst="diamond">
            <a:avLst/>
          </a:prstGeom>
          <a:solidFill>
            <a:srgbClr val="61A31F"/>
          </a:solidFill>
          <a:ln w="2857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ctr" anchorCtr="0">
            <a:noAutofit/>
          </a:bodyPr>
          <a:lstStyle/>
          <a:p>
            <a:pPr algn="ctr"/>
            <a:r>
              <a:rPr lang="pt-BR" sz="3067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Matrícula</a:t>
            </a:r>
            <a:endParaRPr sz="3067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3" name="Google Shape;1363;p102">
            <a:extLst>
              <a:ext uri="{FF2B5EF4-FFF2-40B4-BE49-F238E27FC236}">
                <a16:creationId xmlns:a16="http://schemas.microsoft.com/office/drawing/2014/main" id="{0CDC0482-05EF-D8C3-8EDA-7F2E84784861}"/>
              </a:ext>
            </a:extLst>
          </p:cNvPr>
          <p:cNvCxnSpPr>
            <a:stCxn id="22" idx="1"/>
            <a:endCxn id="5" idx="3"/>
          </p:cNvCxnSpPr>
          <p:nvPr/>
        </p:nvCxnSpPr>
        <p:spPr>
          <a:xfrm rot="10800000">
            <a:off x="3521311" y="2547991"/>
            <a:ext cx="900800" cy="223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364;p102">
            <a:extLst>
              <a:ext uri="{FF2B5EF4-FFF2-40B4-BE49-F238E27FC236}">
                <a16:creationId xmlns:a16="http://schemas.microsoft.com/office/drawing/2014/main" id="{90B61709-6A0C-84C9-EBA9-EADE31999821}"/>
              </a:ext>
            </a:extLst>
          </p:cNvPr>
          <p:cNvSpPr txBox="1"/>
          <p:nvPr/>
        </p:nvSpPr>
        <p:spPr>
          <a:xfrm>
            <a:off x="3453878" y="3303625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" name="Google Shape;1365;p102">
            <a:extLst>
              <a:ext uri="{FF2B5EF4-FFF2-40B4-BE49-F238E27FC236}">
                <a16:creationId xmlns:a16="http://schemas.microsoft.com/office/drawing/2014/main" id="{0799EDA0-FD84-5C33-3528-0AE7E921085A}"/>
              </a:ext>
            </a:extLst>
          </p:cNvPr>
          <p:cNvSpPr/>
          <p:nvPr/>
        </p:nvSpPr>
        <p:spPr>
          <a:xfrm>
            <a:off x="8647944" y="4333391"/>
            <a:ext cx="3016400" cy="906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Aluno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6" name="Google Shape;1366;p102">
            <a:extLst>
              <a:ext uri="{FF2B5EF4-FFF2-40B4-BE49-F238E27FC236}">
                <a16:creationId xmlns:a16="http://schemas.microsoft.com/office/drawing/2014/main" id="{AB5270F1-B68F-95BC-C6CA-CE2DCC08E090}"/>
              </a:ext>
            </a:extLst>
          </p:cNvPr>
          <p:cNvCxnSpPr>
            <a:stCxn id="25" idx="1"/>
            <a:endCxn id="22" idx="3"/>
          </p:cNvCxnSpPr>
          <p:nvPr/>
        </p:nvCxnSpPr>
        <p:spPr>
          <a:xfrm rot="10800000">
            <a:off x="7747144" y="4786791"/>
            <a:ext cx="900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dist="66675" dir="5400000" algn="bl" rotWithShape="0">
              <a:schemeClr val="dk1"/>
            </a:outerShdw>
          </a:effectLst>
        </p:spPr>
      </p:cxnSp>
      <p:sp>
        <p:nvSpPr>
          <p:cNvPr id="27" name="Google Shape;1367;p102">
            <a:extLst>
              <a:ext uri="{FF2B5EF4-FFF2-40B4-BE49-F238E27FC236}">
                <a16:creationId xmlns:a16="http://schemas.microsoft.com/office/drawing/2014/main" id="{E015C082-277C-384A-C6C9-7F0DA406A7F5}"/>
              </a:ext>
            </a:extLst>
          </p:cNvPr>
          <p:cNvSpPr txBox="1"/>
          <p:nvPr/>
        </p:nvSpPr>
        <p:spPr>
          <a:xfrm>
            <a:off x="7223578" y="4887791"/>
            <a:ext cx="1712800" cy="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32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" name="Google Shape;1368;p102">
            <a:extLst>
              <a:ext uri="{FF2B5EF4-FFF2-40B4-BE49-F238E27FC236}">
                <a16:creationId xmlns:a16="http://schemas.microsoft.com/office/drawing/2014/main" id="{ED4A5F89-6B68-CD9E-C370-54884653D82F}"/>
              </a:ext>
            </a:extLst>
          </p:cNvPr>
          <p:cNvSpPr/>
          <p:nvPr/>
        </p:nvSpPr>
        <p:spPr>
          <a:xfrm>
            <a:off x="8811144" y="5508991"/>
            <a:ext cx="2690000" cy="688400"/>
          </a:xfrm>
          <a:prstGeom prst="ellipse">
            <a:avLst/>
          </a:prstGeom>
          <a:solidFill>
            <a:srgbClr val="674EA7"/>
          </a:solidFill>
          <a:ln w="2857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3200" u="sng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9" name="Google Shape;1369;p102">
            <a:extLst>
              <a:ext uri="{FF2B5EF4-FFF2-40B4-BE49-F238E27FC236}">
                <a16:creationId xmlns:a16="http://schemas.microsoft.com/office/drawing/2014/main" id="{38B2E44D-68C2-BBAE-DDA8-67FF7115C1E2}"/>
              </a:ext>
            </a:extLst>
          </p:cNvPr>
          <p:cNvCxnSpPr>
            <a:stCxn id="28" idx="0"/>
            <a:endCxn id="25" idx="2"/>
          </p:cNvCxnSpPr>
          <p:nvPr/>
        </p:nvCxnSpPr>
        <p:spPr>
          <a:xfrm rot="10800000">
            <a:off x="10156144" y="5240191"/>
            <a:ext cx="0" cy="2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3842334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80137-623E-17BD-A698-39694C1C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- Entidade Fraca</a:t>
            </a:r>
          </a:p>
        </p:txBody>
      </p: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CCE09374-4280-C2DA-E3D7-C42E705F28B7}"/>
              </a:ext>
            </a:extLst>
          </p:cNvPr>
          <p:cNvGrpSpPr/>
          <p:nvPr/>
        </p:nvGrpSpPr>
        <p:grpSpPr>
          <a:xfrm>
            <a:off x="516373" y="1617369"/>
            <a:ext cx="11159274" cy="4959400"/>
            <a:chOff x="516373" y="1346433"/>
            <a:chExt cx="11159274" cy="4959400"/>
          </a:xfrm>
        </p:grpSpPr>
        <p:grpSp>
          <p:nvGrpSpPr>
            <p:cNvPr id="74" name="Google Shape;1376;p103">
              <a:extLst>
                <a:ext uri="{FF2B5EF4-FFF2-40B4-BE49-F238E27FC236}">
                  <a16:creationId xmlns:a16="http://schemas.microsoft.com/office/drawing/2014/main" id="{B17F8712-85A6-DDAC-8F38-03F585C11DED}"/>
                </a:ext>
              </a:extLst>
            </p:cNvPr>
            <p:cNvGrpSpPr/>
            <p:nvPr/>
          </p:nvGrpSpPr>
          <p:grpSpPr>
            <a:xfrm>
              <a:off x="516373" y="1615233"/>
              <a:ext cx="3016400" cy="906800"/>
              <a:chOff x="387280" y="1404575"/>
              <a:chExt cx="2262300" cy="680100"/>
            </a:xfrm>
          </p:grpSpPr>
          <p:sp>
            <p:nvSpPr>
              <p:cNvPr id="75" name="Google Shape;1377;p103">
                <a:extLst>
                  <a:ext uri="{FF2B5EF4-FFF2-40B4-BE49-F238E27FC236}">
                    <a16:creationId xmlns:a16="http://schemas.microsoft.com/office/drawing/2014/main" id="{A15F3075-EADF-7643-E925-CAA551B6E11A}"/>
                  </a:ext>
                </a:extLst>
              </p:cNvPr>
              <p:cNvSpPr/>
              <p:nvPr/>
            </p:nvSpPr>
            <p:spPr>
              <a:xfrm>
                <a:off x="387280" y="1404575"/>
                <a:ext cx="2262300" cy="6801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76" name="Google Shape;1378;p103">
                <a:extLst>
                  <a:ext uri="{FF2B5EF4-FFF2-40B4-BE49-F238E27FC236}">
                    <a16:creationId xmlns:a16="http://schemas.microsoft.com/office/drawing/2014/main" id="{0FB8831C-DD86-5C9D-A22D-C4C7A6EA4E46}"/>
                  </a:ext>
                </a:extLst>
              </p:cNvPr>
              <p:cNvSpPr/>
              <p:nvPr/>
            </p:nvSpPr>
            <p:spPr>
              <a:xfrm>
                <a:off x="437975" y="1458325"/>
                <a:ext cx="2160900" cy="572700"/>
              </a:xfrm>
              <a:prstGeom prst="rect">
                <a:avLst/>
              </a:prstGeom>
              <a:ln w="19050"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pt-BR" sz="3200" dirty="0">
                    <a:solidFill>
                      <a:schemeClr val="dk1"/>
                    </a:solidFill>
                    <a:latin typeface="Play"/>
                    <a:sym typeface="Play"/>
                  </a:rPr>
                  <a:t>Turma</a:t>
                </a:r>
                <a:endParaRPr sz="3200" dirty="0">
                  <a:solidFill>
                    <a:schemeClr val="dk1"/>
                  </a:solidFill>
                  <a:latin typeface="Play"/>
                  <a:sym typeface="Play"/>
                </a:endParaRPr>
              </a:p>
            </p:txBody>
          </p:sp>
        </p:grpSp>
        <p:sp>
          <p:nvSpPr>
            <p:cNvPr id="77" name="Google Shape;1379;p103">
              <a:extLst>
                <a:ext uri="{FF2B5EF4-FFF2-40B4-BE49-F238E27FC236}">
                  <a16:creationId xmlns:a16="http://schemas.microsoft.com/office/drawing/2014/main" id="{1772A27F-D678-8EB4-6E28-62FB822BAC76}"/>
                </a:ext>
              </a:extLst>
            </p:cNvPr>
            <p:cNvSpPr/>
            <p:nvPr/>
          </p:nvSpPr>
          <p:spPr>
            <a:xfrm>
              <a:off x="8659247" y="1615233"/>
              <a:ext cx="3016400" cy="906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Disciplina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78" name="Google Shape;1380;p103">
              <a:extLst>
                <a:ext uri="{FF2B5EF4-FFF2-40B4-BE49-F238E27FC236}">
                  <a16:creationId xmlns:a16="http://schemas.microsoft.com/office/drawing/2014/main" id="{635B3A15-06D0-24D6-8A0F-052E4545D5FE}"/>
                </a:ext>
              </a:extLst>
            </p:cNvPr>
            <p:cNvGrpSpPr/>
            <p:nvPr/>
          </p:nvGrpSpPr>
          <p:grpSpPr>
            <a:xfrm>
              <a:off x="4433400" y="1346500"/>
              <a:ext cx="3325200" cy="1444400"/>
              <a:chOff x="3325050" y="2714425"/>
              <a:chExt cx="2493900" cy="1083300"/>
            </a:xfrm>
          </p:grpSpPr>
          <p:sp>
            <p:nvSpPr>
              <p:cNvPr id="79" name="Google Shape;1381;p103">
                <a:extLst>
                  <a:ext uri="{FF2B5EF4-FFF2-40B4-BE49-F238E27FC236}">
                    <a16:creationId xmlns:a16="http://schemas.microsoft.com/office/drawing/2014/main" id="{DD0BBD51-AC07-CCC7-A461-6DB6015C918B}"/>
                  </a:ext>
                </a:extLst>
              </p:cNvPr>
              <p:cNvSpPr/>
              <p:nvPr/>
            </p:nvSpPr>
            <p:spPr>
              <a:xfrm>
                <a:off x="3325050" y="2714425"/>
                <a:ext cx="2493900" cy="1083300"/>
              </a:xfrm>
              <a:prstGeom prst="diamond">
                <a:avLst/>
              </a:prstGeom>
              <a:solidFill>
                <a:srgbClr val="61A31F"/>
              </a:solidFill>
              <a:ln w="28575" cap="flat" cmpd="sng">
                <a:solidFill>
                  <a:srgbClr val="98EC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121900" rIns="0" bIns="121900" anchor="ctr" anchorCtr="0">
                <a:noAutofit/>
              </a:bodyPr>
              <a:lstStyle/>
              <a:p>
                <a:pPr algn="ctr"/>
                <a:endParaRPr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80" name="Google Shape;1382;p103">
                <a:extLst>
                  <a:ext uri="{FF2B5EF4-FFF2-40B4-BE49-F238E27FC236}">
                    <a16:creationId xmlns:a16="http://schemas.microsoft.com/office/drawing/2014/main" id="{FD2EAF67-0B93-DD8E-3D42-A684566990B5}"/>
                  </a:ext>
                </a:extLst>
              </p:cNvPr>
              <p:cNvSpPr/>
              <p:nvPr/>
            </p:nvSpPr>
            <p:spPr>
              <a:xfrm>
                <a:off x="3440788" y="2764825"/>
                <a:ext cx="2262300" cy="982500"/>
              </a:xfrm>
              <a:prstGeom prst="diamond">
                <a:avLst/>
              </a:prstGeom>
              <a:solidFill>
                <a:srgbClr val="61A31F"/>
              </a:solidFill>
              <a:ln w="28575" cap="flat" cmpd="sng">
                <a:solidFill>
                  <a:srgbClr val="98EC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121900" rIns="0" bIns="121900" anchor="ctr" anchorCtr="0">
                <a:noAutofit/>
              </a:bodyPr>
              <a:lstStyle/>
              <a:p>
                <a:pPr algn="ctr"/>
                <a:r>
                  <a:rPr lang="pt-BR" sz="3200">
                    <a:solidFill>
                      <a:schemeClr val="dk1"/>
                    </a:solidFill>
                    <a:latin typeface="Play"/>
                    <a:ea typeface="Play"/>
                    <a:cs typeface="Play"/>
                    <a:sym typeface="Play"/>
                  </a:rPr>
                  <a:t>Possui</a:t>
                </a:r>
                <a:endParaRPr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cxnSp>
          <p:nvCxnSpPr>
            <p:cNvPr id="81" name="Google Shape;1383;p103">
              <a:extLst>
                <a:ext uri="{FF2B5EF4-FFF2-40B4-BE49-F238E27FC236}">
                  <a16:creationId xmlns:a16="http://schemas.microsoft.com/office/drawing/2014/main" id="{5B8411E5-7E3B-1834-E0D4-770991FC5040}"/>
                </a:ext>
              </a:extLst>
            </p:cNvPr>
            <p:cNvCxnSpPr>
              <a:stCxn id="79" idx="1"/>
              <a:endCxn id="75" idx="3"/>
            </p:cNvCxnSpPr>
            <p:nvPr/>
          </p:nvCxnSpPr>
          <p:spPr>
            <a:xfrm rot="10800000">
              <a:off x="3532600" y="2068700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66675" dir="5400000" algn="bl" rotWithShape="0">
                <a:schemeClr val="dk1"/>
              </a:outerShdw>
            </a:effectLst>
          </p:spPr>
        </p:cxnSp>
        <p:cxnSp>
          <p:nvCxnSpPr>
            <p:cNvPr id="82" name="Google Shape;1384;p103">
              <a:extLst>
                <a:ext uri="{FF2B5EF4-FFF2-40B4-BE49-F238E27FC236}">
                  <a16:creationId xmlns:a16="http://schemas.microsoft.com/office/drawing/2014/main" id="{4D4F392D-E461-2CAD-28F9-D147B26B444C}"/>
                </a:ext>
              </a:extLst>
            </p:cNvPr>
            <p:cNvCxnSpPr>
              <a:stCxn id="77" idx="1"/>
              <a:endCxn id="79" idx="3"/>
            </p:cNvCxnSpPr>
            <p:nvPr/>
          </p:nvCxnSpPr>
          <p:spPr>
            <a:xfrm rot="10800000">
              <a:off x="7758447" y="2068633"/>
              <a:ext cx="900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1385;p103">
              <a:extLst>
                <a:ext uri="{FF2B5EF4-FFF2-40B4-BE49-F238E27FC236}">
                  <a16:creationId xmlns:a16="http://schemas.microsoft.com/office/drawing/2014/main" id="{77AA9BBF-A9B2-5AC0-3136-FBBF16895874}"/>
                </a:ext>
              </a:extLst>
            </p:cNvPr>
            <p:cNvSpPr txBox="1"/>
            <p:nvPr/>
          </p:nvSpPr>
          <p:spPr>
            <a:xfrm>
              <a:off x="3126600" y="1346433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4" name="Google Shape;1386;p103">
              <a:extLst>
                <a:ext uri="{FF2B5EF4-FFF2-40B4-BE49-F238E27FC236}">
                  <a16:creationId xmlns:a16="http://schemas.microsoft.com/office/drawing/2014/main" id="{DBB3F124-1EA7-4918-7E6C-F53F00D4E490}"/>
                </a:ext>
              </a:extLst>
            </p:cNvPr>
            <p:cNvSpPr txBox="1"/>
            <p:nvPr/>
          </p:nvSpPr>
          <p:spPr>
            <a:xfrm>
              <a:off x="7234867" y="1346433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5" name="Google Shape;1387;p103">
              <a:extLst>
                <a:ext uri="{FF2B5EF4-FFF2-40B4-BE49-F238E27FC236}">
                  <a16:creationId xmlns:a16="http://schemas.microsoft.com/office/drawing/2014/main" id="{01DA6486-5FA6-781F-B691-56882EA9D4A7}"/>
                </a:ext>
              </a:extLst>
            </p:cNvPr>
            <p:cNvSpPr/>
            <p:nvPr/>
          </p:nvSpPr>
          <p:spPr>
            <a:xfrm>
              <a:off x="8822433" y="2790833"/>
              <a:ext cx="2690000" cy="688400"/>
            </a:xfrm>
            <a:prstGeom prst="ellipse">
              <a:avLst/>
            </a:prstGeom>
            <a:solidFill>
              <a:srgbClr val="674EA7"/>
            </a:solidFill>
            <a:ln w="2857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 u="sng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Sigla</a:t>
              </a:r>
              <a:endParaRPr sz="3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86" name="Google Shape;1388;p103">
              <a:extLst>
                <a:ext uri="{FF2B5EF4-FFF2-40B4-BE49-F238E27FC236}">
                  <a16:creationId xmlns:a16="http://schemas.microsoft.com/office/drawing/2014/main" id="{A5298626-12B9-A47B-BFA4-5560D40A15EE}"/>
                </a:ext>
              </a:extLst>
            </p:cNvPr>
            <p:cNvCxnSpPr>
              <a:stCxn id="85" idx="0"/>
              <a:endCxn id="77" idx="2"/>
            </p:cNvCxnSpPr>
            <p:nvPr/>
          </p:nvCxnSpPr>
          <p:spPr>
            <a:xfrm rot="10800000">
              <a:off x="10167433" y="2522033"/>
              <a:ext cx="0" cy="26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" name="Google Shape;1389;p103">
              <a:extLst>
                <a:ext uri="{FF2B5EF4-FFF2-40B4-BE49-F238E27FC236}">
                  <a16:creationId xmlns:a16="http://schemas.microsoft.com/office/drawing/2014/main" id="{8D356588-0D52-EB0D-9C7C-110626570A90}"/>
                </a:ext>
              </a:extLst>
            </p:cNvPr>
            <p:cNvSpPr/>
            <p:nvPr/>
          </p:nvSpPr>
          <p:spPr>
            <a:xfrm>
              <a:off x="679567" y="2897000"/>
              <a:ext cx="2690000" cy="688400"/>
            </a:xfrm>
            <a:prstGeom prst="ellipse">
              <a:avLst/>
            </a:prstGeom>
            <a:solidFill>
              <a:srgbClr val="674EA7"/>
            </a:solidFill>
            <a:ln w="2857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Número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88" name="Google Shape;1390;p103">
              <a:extLst>
                <a:ext uri="{FF2B5EF4-FFF2-40B4-BE49-F238E27FC236}">
                  <a16:creationId xmlns:a16="http://schemas.microsoft.com/office/drawing/2014/main" id="{E0DFE5D0-2EE1-B4B9-EA8A-FECD9A9BB25F}"/>
                </a:ext>
              </a:extLst>
            </p:cNvPr>
            <p:cNvCxnSpPr>
              <a:stCxn id="87" idx="0"/>
              <a:endCxn id="75" idx="2"/>
            </p:cNvCxnSpPr>
            <p:nvPr/>
          </p:nvCxnSpPr>
          <p:spPr>
            <a:xfrm rot="10800000">
              <a:off x="2024567" y="2522200"/>
              <a:ext cx="0" cy="374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1391;p103">
              <a:extLst>
                <a:ext uri="{FF2B5EF4-FFF2-40B4-BE49-F238E27FC236}">
                  <a16:creationId xmlns:a16="http://schemas.microsoft.com/office/drawing/2014/main" id="{E41C3A6A-DF76-7E85-C5BD-E86D77D02C2C}"/>
                </a:ext>
              </a:extLst>
            </p:cNvPr>
            <p:cNvCxnSpPr/>
            <p:nvPr/>
          </p:nvCxnSpPr>
          <p:spPr>
            <a:xfrm>
              <a:off x="1275367" y="3479233"/>
              <a:ext cx="14984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1392;p103">
              <a:extLst>
                <a:ext uri="{FF2B5EF4-FFF2-40B4-BE49-F238E27FC236}">
                  <a16:creationId xmlns:a16="http://schemas.microsoft.com/office/drawing/2014/main" id="{75B1A64A-C182-A2C3-7A65-077CC14A5FBC}"/>
                </a:ext>
              </a:extLst>
            </p:cNvPr>
            <p:cNvCxnSpPr>
              <a:stCxn id="97" idx="1"/>
              <a:endCxn id="75" idx="3"/>
            </p:cNvCxnSpPr>
            <p:nvPr/>
          </p:nvCxnSpPr>
          <p:spPr>
            <a:xfrm rot="10800000">
              <a:off x="3532600" y="2068800"/>
              <a:ext cx="900800" cy="223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" name="Google Shape;1394;p103">
              <a:extLst>
                <a:ext uri="{FF2B5EF4-FFF2-40B4-BE49-F238E27FC236}">
                  <a16:creationId xmlns:a16="http://schemas.microsoft.com/office/drawing/2014/main" id="{923BA682-1960-71BB-B080-066FB88D9C6F}"/>
                </a:ext>
              </a:extLst>
            </p:cNvPr>
            <p:cNvSpPr txBox="1"/>
            <p:nvPr/>
          </p:nvSpPr>
          <p:spPr>
            <a:xfrm>
              <a:off x="3465167" y="2824433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92" name="Google Shape;1395;p103">
              <a:extLst>
                <a:ext uri="{FF2B5EF4-FFF2-40B4-BE49-F238E27FC236}">
                  <a16:creationId xmlns:a16="http://schemas.microsoft.com/office/drawing/2014/main" id="{EAEBD753-6154-23A6-B6CE-736B4B1122DD}"/>
                </a:ext>
              </a:extLst>
            </p:cNvPr>
            <p:cNvCxnSpPr>
              <a:stCxn id="100" idx="1"/>
              <a:endCxn id="97" idx="3"/>
            </p:cNvCxnSpPr>
            <p:nvPr/>
          </p:nvCxnSpPr>
          <p:spPr>
            <a:xfrm rot="10800000">
              <a:off x="7758440" y="4307600"/>
              <a:ext cx="737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66675" dir="5400000" algn="bl" rotWithShape="0">
                <a:schemeClr val="dk1"/>
              </a:outerShdw>
            </a:effectLst>
          </p:spPr>
        </p:cxnSp>
        <p:sp>
          <p:nvSpPr>
            <p:cNvPr id="93" name="Google Shape;1397;p103">
              <a:extLst>
                <a:ext uri="{FF2B5EF4-FFF2-40B4-BE49-F238E27FC236}">
                  <a16:creationId xmlns:a16="http://schemas.microsoft.com/office/drawing/2014/main" id="{D2DCD560-2815-977D-B29F-A1AD15A2E267}"/>
                </a:ext>
              </a:extLst>
            </p:cNvPr>
            <p:cNvSpPr txBox="1"/>
            <p:nvPr/>
          </p:nvSpPr>
          <p:spPr>
            <a:xfrm>
              <a:off x="7234867" y="4408600"/>
              <a:ext cx="1712800" cy="62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pt-BR" sz="3200">
                  <a:solidFill>
                    <a:srgbClr val="FF0000"/>
                  </a:solidFill>
                  <a:latin typeface="Play"/>
                  <a:ea typeface="Play"/>
                  <a:cs typeface="Play"/>
                  <a:sym typeface="Play"/>
                </a:rPr>
                <a:t>N</a:t>
              </a:r>
              <a:endParaRPr sz="32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4" name="Google Shape;1398;p103">
              <a:extLst>
                <a:ext uri="{FF2B5EF4-FFF2-40B4-BE49-F238E27FC236}">
                  <a16:creationId xmlns:a16="http://schemas.microsoft.com/office/drawing/2014/main" id="{1AAC4BED-7599-5695-8DA8-21F6DB9B19A7}"/>
                </a:ext>
              </a:extLst>
            </p:cNvPr>
            <p:cNvSpPr/>
            <p:nvPr/>
          </p:nvSpPr>
          <p:spPr>
            <a:xfrm>
              <a:off x="8659233" y="5029800"/>
              <a:ext cx="2690000" cy="688400"/>
            </a:xfrm>
            <a:prstGeom prst="ellipse">
              <a:avLst/>
            </a:prstGeom>
            <a:solidFill>
              <a:srgbClr val="674EA7"/>
            </a:solidFill>
            <a:ln w="2857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Data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cxnSp>
          <p:nvCxnSpPr>
            <p:cNvPr id="95" name="Google Shape;1399;p103">
              <a:extLst>
                <a:ext uri="{FF2B5EF4-FFF2-40B4-BE49-F238E27FC236}">
                  <a16:creationId xmlns:a16="http://schemas.microsoft.com/office/drawing/2014/main" id="{DE557B53-69AA-9DBF-6498-74A1B2610BCC}"/>
                </a:ext>
              </a:extLst>
            </p:cNvPr>
            <p:cNvCxnSpPr>
              <a:stCxn id="94" idx="0"/>
              <a:endCxn id="100" idx="2"/>
            </p:cNvCxnSpPr>
            <p:nvPr/>
          </p:nvCxnSpPr>
          <p:spPr>
            <a:xfrm rot="10800000">
              <a:off x="10004233" y="4761000"/>
              <a:ext cx="0" cy="2688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grpSp>
          <p:nvGrpSpPr>
            <p:cNvPr id="96" name="Google Shape;1400;p103">
              <a:extLst>
                <a:ext uri="{FF2B5EF4-FFF2-40B4-BE49-F238E27FC236}">
                  <a16:creationId xmlns:a16="http://schemas.microsoft.com/office/drawing/2014/main" id="{EB053961-7A9D-C772-F2BD-ADEF0302ED12}"/>
                </a:ext>
              </a:extLst>
            </p:cNvPr>
            <p:cNvGrpSpPr/>
            <p:nvPr/>
          </p:nvGrpSpPr>
          <p:grpSpPr>
            <a:xfrm>
              <a:off x="4433400" y="3585400"/>
              <a:ext cx="3325200" cy="1444400"/>
              <a:chOff x="3325050" y="2714425"/>
              <a:chExt cx="2493900" cy="1083300"/>
            </a:xfrm>
          </p:grpSpPr>
          <p:sp>
            <p:nvSpPr>
              <p:cNvPr id="97" name="Google Shape;1393;p103">
                <a:extLst>
                  <a:ext uri="{FF2B5EF4-FFF2-40B4-BE49-F238E27FC236}">
                    <a16:creationId xmlns:a16="http://schemas.microsoft.com/office/drawing/2014/main" id="{CE4E4D90-A675-21C3-2F4D-46F9B03289CB}"/>
                  </a:ext>
                </a:extLst>
              </p:cNvPr>
              <p:cNvSpPr/>
              <p:nvPr/>
            </p:nvSpPr>
            <p:spPr>
              <a:xfrm>
                <a:off x="3325050" y="2714425"/>
                <a:ext cx="2493900" cy="1083300"/>
              </a:xfrm>
              <a:prstGeom prst="diamond">
                <a:avLst/>
              </a:prstGeom>
              <a:solidFill>
                <a:srgbClr val="61A31F"/>
              </a:solidFill>
              <a:ln w="28575" cap="flat" cmpd="sng">
                <a:solidFill>
                  <a:srgbClr val="98EC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121900" rIns="0" bIns="121900" anchor="ctr" anchorCtr="0">
                <a:noAutofit/>
              </a:bodyPr>
              <a:lstStyle/>
              <a:p>
                <a:pPr algn="ctr"/>
                <a:endParaRPr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98" name="Google Shape;1401;p103">
                <a:extLst>
                  <a:ext uri="{FF2B5EF4-FFF2-40B4-BE49-F238E27FC236}">
                    <a16:creationId xmlns:a16="http://schemas.microsoft.com/office/drawing/2014/main" id="{9CEE9409-1BF4-3017-8FC7-8D404F3A1085}"/>
                  </a:ext>
                </a:extLst>
              </p:cNvPr>
              <p:cNvSpPr/>
              <p:nvPr/>
            </p:nvSpPr>
            <p:spPr>
              <a:xfrm>
                <a:off x="3440788" y="2764825"/>
                <a:ext cx="2262300" cy="982500"/>
              </a:xfrm>
              <a:prstGeom prst="diamond">
                <a:avLst/>
              </a:prstGeom>
              <a:solidFill>
                <a:srgbClr val="61A31F"/>
              </a:solidFill>
              <a:ln w="28575" cap="flat" cmpd="sng">
                <a:solidFill>
                  <a:srgbClr val="98EC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121900" rIns="0" bIns="121900" anchor="ctr" anchorCtr="0">
                <a:noAutofit/>
              </a:bodyPr>
              <a:lstStyle/>
              <a:p>
                <a:pPr algn="ctr"/>
                <a:r>
                  <a:rPr lang="pt-BR" sz="3200">
                    <a:solidFill>
                      <a:schemeClr val="dk1"/>
                    </a:solidFill>
                    <a:latin typeface="Play"/>
                    <a:ea typeface="Play"/>
                    <a:cs typeface="Play"/>
                    <a:sym typeface="Play"/>
                  </a:rPr>
                  <a:t>Possui</a:t>
                </a:r>
                <a:endParaRPr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grpSp>
          <p:nvGrpSpPr>
            <p:cNvPr id="99" name="Google Shape;1402;p103">
              <a:extLst>
                <a:ext uri="{FF2B5EF4-FFF2-40B4-BE49-F238E27FC236}">
                  <a16:creationId xmlns:a16="http://schemas.microsoft.com/office/drawing/2014/main" id="{AF45EEC5-30EF-3306-5F47-B2DC2CFEDC0D}"/>
                </a:ext>
              </a:extLst>
            </p:cNvPr>
            <p:cNvGrpSpPr/>
            <p:nvPr/>
          </p:nvGrpSpPr>
          <p:grpSpPr>
            <a:xfrm>
              <a:off x="8496040" y="3854200"/>
              <a:ext cx="3016400" cy="906800"/>
              <a:chOff x="387280" y="1404575"/>
              <a:chExt cx="2262300" cy="680100"/>
            </a:xfrm>
          </p:grpSpPr>
          <p:sp>
            <p:nvSpPr>
              <p:cNvPr id="100" name="Google Shape;1396;p103">
                <a:extLst>
                  <a:ext uri="{FF2B5EF4-FFF2-40B4-BE49-F238E27FC236}">
                    <a16:creationId xmlns:a16="http://schemas.microsoft.com/office/drawing/2014/main" id="{1D2FA0AB-7325-04C1-0302-2DAE8359D49B}"/>
                  </a:ext>
                </a:extLst>
              </p:cNvPr>
              <p:cNvSpPr/>
              <p:nvPr/>
            </p:nvSpPr>
            <p:spPr>
              <a:xfrm>
                <a:off x="387280" y="1404575"/>
                <a:ext cx="2262300" cy="680100"/>
              </a:xfrm>
              <a:prstGeom prst="rect">
                <a:avLst/>
              </a:prstGeom>
              <a:ln w="19050"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latin typeface="Play"/>
                  <a:sym typeface="Play"/>
                </a:endParaRPr>
              </a:p>
            </p:txBody>
          </p:sp>
          <p:sp>
            <p:nvSpPr>
              <p:cNvPr id="101" name="Google Shape;1403;p103">
                <a:extLst>
                  <a:ext uri="{FF2B5EF4-FFF2-40B4-BE49-F238E27FC236}">
                    <a16:creationId xmlns:a16="http://schemas.microsoft.com/office/drawing/2014/main" id="{DEDD4D7B-763B-AA7F-B497-BC40695F81C6}"/>
                  </a:ext>
                </a:extLst>
              </p:cNvPr>
              <p:cNvSpPr/>
              <p:nvPr/>
            </p:nvSpPr>
            <p:spPr>
              <a:xfrm>
                <a:off x="437975" y="1458325"/>
                <a:ext cx="2160900" cy="572700"/>
              </a:xfrm>
              <a:prstGeom prst="rect">
                <a:avLst/>
              </a:prstGeom>
              <a:ln w="19050"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pt-BR" sz="3200">
                    <a:latin typeface="Play"/>
                    <a:sym typeface="Play"/>
                  </a:rPr>
                  <a:t>Aula</a:t>
                </a:r>
                <a:endParaRPr sz="3200">
                  <a:latin typeface="Play"/>
                  <a:sym typeface="Play"/>
                </a:endParaRPr>
              </a:p>
            </p:txBody>
          </p:sp>
        </p:grpSp>
        <p:sp>
          <p:nvSpPr>
            <p:cNvPr id="102" name="Google Shape;1404;p103">
              <a:extLst>
                <a:ext uri="{FF2B5EF4-FFF2-40B4-BE49-F238E27FC236}">
                  <a16:creationId xmlns:a16="http://schemas.microsoft.com/office/drawing/2014/main" id="{ECB55165-9EDF-D15E-0887-E73D652276D4}"/>
                </a:ext>
              </a:extLst>
            </p:cNvPr>
            <p:cNvSpPr/>
            <p:nvPr/>
          </p:nvSpPr>
          <p:spPr>
            <a:xfrm>
              <a:off x="8659233" y="5617433"/>
              <a:ext cx="2690000" cy="688400"/>
            </a:xfrm>
            <a:prstGeom prst="ellipse">
              <a:avLst/>
            </a:prstGeom>
            <a:solidFill>
              <a:srgbClr val="674EA7"/>
            </a:solidFill>
            <a:ln w="2857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pt-BR"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Hora</a:t>
              </a:r>
              <a:endParaRPr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103" name="Google Shape;1405;p103">
              <a:extLst>
                <a:ext uri="{FF2B5EF4-FFF2-40B4-BE49-F238E27FC236}">
                  <a16:creationId xmlns:a16="http://schemas.microsoft.com/office/drawing/2014/main" id="{8F877816-CF3B-601C-08F8-07D6E23CF31A}"/>
                </a:ext>
              </a:extLst>
            </p:cNvPr>
            <p:cNvGrpSpPr/>
            <p:nvPr/>
          </p:nvGrpSpPr>
          <p:grpSpPr>
            <a:xfrm>
              <a:off x="5806033" y="5617433"/>
              <a:ext cx="2690000" cy="688400"/>
              <a:chOff x="4354525" y="4213075"/>
              <a:chExt cx="2017500" cy="516300"/>
            </a:xfrm>
          </p:grpSpPr>
          <p:sp>
            <p:nvSpPr>
              <p:cNvPr id="104" name="Google Shape;1406;p103">
                <a:extLst>
                  <a:ext uri="{FF2B5EF4-FFF2-40B4-BE49-F238E27FC236}">
                    <a16:creationId xmlns:a16="http://schemas.microsoft.com/office/drawing/2014/main" id="{89CACADD-09EE-F388-28E2-1D10AEF0372C}"/>
                  </a:ext>
                </a:extLst>
              </p:cNvPr>
              <p:cNvSpPr/>
              <p:nvPr/>
            </p:nvSpPr>
            <p:spPr>
              <a:xfrm>
                <a:off x="4354525" y="4213075"/>
                <a:ext cx="2017500" cy="516300"/>
              </a:xfrm>
              <a:prstGeom prst="ellipse">
                <a:avLst/>
              </a:prstGeom>
              <a:solidFill>
                <a:srgbClr val="674EA7"/>
              </a:solidFill>
              <a:ln w="28575" cap="flat" cmpd="sng">
                <a:solidFill>
                  <a:srgbClr val="B4A7D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105" name="Google Shape;1407;p103">
                <a:extLst>
                  <a:ext uri="{FF2B5EF4-FFF2-40B4-BE49-F238E27FC236}">
                    <a16:creationId xmlns:a16="http://schemas.microsoft.com/office/drawing/2014/main" id="{F855BDBF-7611-97AA-37A6-DFB374A596EE}"/>
                  </a:ext>
                </a:extLst>
              </p:cNvPr>
              <p:cNvSpPr/>
              <p:nvPr/>
            </p:nvSpPr>
            <p:spPr>
              <a:xfrm>
                <a:off x="4447225" y="4238275"/>
                <a:ext cx="1832100" cy="465900"/>
              </a:xfrm>
              <a:prstGeom prst="ellipse">
                <a:avLst/>
              </a:prstGeom>
              <a:solidFill>
                <a:srgbClr val="674EA7"/>
              </a:solidFill>
              <a:ln w="28575" cap="flat" cmpd="sng">
                <a:solidFill>
                  <a:srgbClr val="B4A7D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pt-BR" sz="2933">
                    <a:solidFill>
                      <a:schemeClr val="dk1"/>
                    </a:solidFill>
                    <a:latin typeface="Play"/>
                    <a:ea typeface="Play"/>
                    <a:cs typeface="Play"/>
                    <a:sym typeface="Play"/>
                  </a:rPr>
                  <a:t>Assunto</a:t>
                </a:r>
                <a:endParaRPr sz="2933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cxnSp>
          <p:nvCxnSpPr>
            <p:cNvPr id="106" name="Google Shape;1408;p103">
              <a:extLst>
                <a:ext uri="{FF2B5EF4-FFF2-40B4-BE49-F238E27FC236}">
                  <a16:creationId xmlns:a16="http://schemas.microsoft.com/office/drawing/2014/main" id="{E1516F87-E39C-F11C-B376-6C325CB90F15}"/>
                </a:ext>
              </a:extLst>
            </p:cNvPr>
            <p:cNvCxnSpPr>
              <a:stCxn id="105" idx="0"/>
              <a:endCxn id="100" idx="2"/>
            </p:cNvCxnSpPr>
            <p:nvPr/>
          </p:nvCxnSpPr>
          <p:spPr>
            <a:xfrm rot="10800000" flipH="1">
              <a:off x="7151033" y="4761033"/>
              <a:ext cx="2853200" cy="890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409;p103">
              <a:extLst>
                <a:ext uri="{FF2B5EF4-FFF2-40B4-BE49-F238E27FC236}">
                  <a16:creationId xmlns:a16="http://schemas.microsoft.com/office/drawing/2014/main" id="{7122A928-3D62-C35F-F683-E8A862C6B05B}"/>
                </a:ext>
              </a:extLst>
            </p:cNvPr>
            <p:cNvCxnSpPr/>
            <p:nvPr/>
          </p:nvCxnSpPr>
          <p:spPr>
            <a:xfrm>
              <a:off x="9398433" y="5546500"/>
              <a:ext cx="1211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410;p103">
              <a:extLst>
                <a:ext uri="{FF2B5EF4-FFF2-40B4-BE49-F238E27FC236}">
                  <a16:creationId xmlns:a16="http://schemas.microsoft.com/office/drawing/2014/main" id="{91DE5D8F-AD47-3356-FC29-43070DDE8178}"/>
                </a:ext>
              </a:extLst>
            </p:cNvPr>
            <p:cNvCxnSpPr/>
            <p:nvPr/>
          </p:nvCxnSpPr>
          <p:spPr>
            <a:xfrm>
              <a:off x="9398433" y="6169533"/>
              <a:ext cx="1211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198743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891F-A957-B45B-6DD0-DDC7A867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06B088-AC63-1D8F-4018-682F652DC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b="1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5ED7FD-5561-F32B-AF73-BD7069A0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0F411D-1F9E-9CEF-620E-9E744884CA5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5261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ACC35-92E0-13FC-8F80-48B532F4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 de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DABDEA-0544-2D0C-DE5C-2BBBDB06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Nomenclatura dos construtos do </a:t>
            </a:r>
            <a:r>
              <a:rPr lang="pt-BR" i="1" dirty="0" err="1"/>
              <a:t>schema</a:t>
            </a:r>
            <a:endParaRPr lang="pt-BR" i="1" dirty="0"/>
          </a:p>
          <a:p>
            <a:pPr lvl="1">
              <a:spcBef>
                <a:spcPts val="1800"/>
              </a:spcBef>
            </a:pPr>
            <a:r>
              <a:rPr lang="pt-BR" dirty="0"/>
              <a:t>Procure usar nomes simples e diretos, com significado relacionado ao que está sendo modelado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Nome das entidades no </a:t>
            </a:r>
            <a:r>
              <a:rPr lang="pt-BR" b="1" dirty="0"/>
              <a:t>singular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DER: nomes de entidades e relacionamentos em caixa alta, papeis em caixa baixa e atributos capitalizados</a:t>
            </a:r>
          </a:p>
        </p:txBody>
      </p:sp>
    </p:spTree>
    <p:extLst>
      <p:ext uri="{BB962C8B-B14F-4D97-AF65-F5344CB8AC3E}">
        <p14:creationId xmlns:p14="http://schemas.microsoft.com/office/powerpoint/2010/main" val="256181318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A644-B0DE-2AF3-39DD-1D48A21F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34AF8-B9E3-84C0-2316-91959AA3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 de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1B6D6-AA8F-C86D-5B15-B4449772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dirty="0"/>
              <a:t>Dada uma descrição narrativa, mapeie: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Substantivos </a:t>
            </a:r>
            <a:r>
              <a:rPr lang="pt-BR" dirty="0">
                <a:sym typeface="Wingdings" panose="05000000000000000000" pitchFamily="2" charset="2"/>
              </a:rPr>
              <a:t> nomes dos tipos de entidades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OU substantivos adicionais que descrevem a entidade  atributos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Verbos  nomes dos tipos de relacionamentos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Nomenclatura de relacionamentos binários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Organizar leitura da esquerda pra direita e do topo para baixo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2213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39F5E-DD22-99C6-80F7-D60CCE27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Escolhas do projeto para Modelagem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E197F8-D026-04F9-66BD-45AF2E2AF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Ás vezes é difícil decidir se um conceito do minimundo deve ser modelado como Tipo de Entidade, Atributo ou Tipo de Relacionamento</a:t>
            </a:r>
          </a:p>
          <a:p>
            <a:pPr>
              <a:spcBef>
                <a:spcPts val="2400"/>
              </a:spcBef>
            </a:pPr>
            <a:r>
              <a:rPr lang="pt-BR" dirty="0"/>
              <a:t>Processo de </a:t>
            </a:r>
            <a:r>
              <a:rPr lang="pt-BR" i="1" dirty="0"/>
              <a:t>design </a:t>
            </a:r>
            <a:r>
              <a:rPr lang="pt-BR" dirty="0"/>
              <a:t>do </a:t>
            </a:r>
            <a:r>
              <a:rPr lang="pt-BR" i="1" dirty="0" err="1"/>
              <a:t>schema</a:t>
            </a:r>
            <a:r>
              <a:rPr lang="pt-BR" i="1" dirty="0"/>
              <a:t> </a:t>
            </a:r>
            <a:r>
              <a:rPr lang="pt-BR" dirty="0"/>
              <a:t>deve ser iterativo, sendo refinado até atender aos requisitos de dados e funcionais</a:t>
            </a:r>
          </a:p>
        </p:txBody>
      </p:sp>
    </p:spTree>
    <p:extLst>
      <p:ext uri="{BB962C8B-B14F-4D97-AF65-F5344CB8AC3E}">
        <p14:creationId xmlns:p14="http://schemas.microsoft.com/office/powerpoint/2010/main" val="35883517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0C3C6-C955-350C-3418-9FDF974E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CE791-F7F3-6D8F-B994-ECB46B56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Escolhas do projeto para Modelagem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11249-1D2C-7CE5-E6B2-8F284B1AD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conceito pode ser modelado inicialmente como Atributo e então refinado para Relacionamento se ele se referenciar a um outro Tipo de Entidade</a:t>
            </a:r>
          </a:p>
          <a:p>
            <a:pPr>
              <a:spcBef>
                <a:spcPts val="2400"/>
              </a:spcBef>
            </a:pPr>
            <a:r>
              <a:rPr lang="pt-BR" dirty="0"/>
              <a:t>Caso um atributo existe em diversos Tipos de Entidades, ele pode ser promovido para um Tipo de Entidade independente</a:t>
            </a:r>
          </a:p>
          <a:p>
            <a:pPr>
              <a:spcBef>
                <a:spcPts val="2400"/>
              </a:spcBef>
            </a:pPr>
            <a:r>
              <a:rPr lang="pt-BR" dirty="0"/>
              <a:t>O inverso também é possível – caso um Tipo de Entidade contenha apenas um atributo e seja relacionado a somente uma Entidade, ele pode ser reduzido a um Atributo</a:t>
            </a:r>
          </a:p>
        </p:txBody>
      </p:sp>
    </p:spTree>
    <p:extLst>
      <p:ext uri="{BB962C8B-B14F-4D97-AF65-F5344CB8AC3E}">
        <p14:creationId xmlns:p14="http://schemas.microsoft.com/office/powerpoint/2010/main" val="229862806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4BB6-7843-81DB-C6F8-D2D748E5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69A22B-EA49-7DEF-E910-20773F0C7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b="1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59C649-FDE9-E2DF-95A3-26220109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1D71D2-A116-7B8F-A0ED-3E0C3D2ACA6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9107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2E7C1-159D-BB88-A0D7-CC31E9E7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Notação de Chen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F911D2-7C31-F11F-5E4B-1D88F523D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1424;p105">
            <a:extLst>
              <a:ext uri="{FF2B5EF4-FFF2-40B4-BE49-F238E27FC236}">
                <a16:creationId xmlns:a16="http://schemas.microsoft.com/office/drawing/2014/main" id="{63452D54-570D-9800-B727-9C7B2CCE81C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7726" y="1517349"/>
            <a:ext cx="5401879" cy="525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31;p106">
            <a:extLst>
              <a:ext uri="{FF2B5EF4-FFF2-40B4-BE49-F238E27FC236}">
                <a16:creationId xmlns:a16="http://schemas.microsoft.com/office/drawing/2014/main" id="{88339495-FD4F-AF6B-A55B-E6A9BD7C50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0078" y="1517349"/>
            <a:ext cx="4992365" cy="5262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074909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4D049-498A-C6D9-3B5C-790B122C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Notação James Martin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876481-0E37-7039-FBA2-B6F8C7507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Notação de Peter Chen é interessante e bastante expressiva, porém para grandes modelos torna-se sensivelmente confuso</a:t>
            </a:r>
          </a:p>
          <a:p>
            <a:pPr lvl="1"/>
            <a:r>
              <a:rPr lang="pt-BR" dirty="0"/>
              <a:t>Muitos cruzamentos complicam a leitura</a:t>
            </a:r>
          </a:p>
          <a:p>
            <a:pPr lvl="1"/>
            <a:endParaRPr lang="pt-BR" dirty="0"/>
          </a:p>
          <a:p>
            <a:r>
              <a:rPr lang="pt-BR" dirty="0"/>
              <a:t>Ferramentas CASE utilizam notação da Engenharia de Informações de ou notação de James Martin</a:t>
            </a:r>
          </a:p>
        </p:txBody>
      </p:sp>
    </p:spTree>
    <p:extLst>
      <p:ext uri="{BB962C8B-B14F-4D97-AF65-F5344CB8AC3E}">
        <p14:creationId xmlns:p14="http://schemas.microsoft.com/office/powerpoint/2010/main" val="19278883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02089-9399-6462-D4D0-10DE268F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 de notações</a:t>
            </a:r>
          </a:p>
        </p:txBody>
      </p:sp>
      <p:pic>
        <p:nvPicPr>
          <p:cNvPr id="4" name="Google Shape;1458;p110">
            <a:extLst>
              <a:ext uri="{FF2B5EF4-FFF2-40B4-BE49-F238E27FC236}">
                <a16:creationId xmlns:a16="http://schemas.microsoft.com/office/drawing/2014/main" id="{FCCA07AB-CAFF-DF9D-2E31-4606F6F52F4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6030" y="1825624"/>
            <a:ext cx="7990770" cy="48044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671544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16"/>
          <p:cNvSpPr txBox="1">
            <a:spLocks noGrp="1"/>
          </p:cNvSpPr>
          <p:nvPr>
            <p:ph type="body" idx="1"/>
          </p:nvPr>
        </p:nvSpPr>
        <p:spPr>
          <a:xfrm>
            <a:off x="494933" y="3102600"/>
            <a:ext cx="5730000" cy="6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/>
              <a:t>Revisão da Notação de Martin (Pé de corvo)</a:t>
            </a:r>
            <a:endParaRPr/>
          </a:p>
        </p:txBody>
      </p:sp>
      <p:pic>
        <p:nvPicPr>
          <p:cNvPr id="1634" name="Google Shape;1634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0433" y="597900"/>
            <a:ext cx="4617400" cy="56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16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pt-BR"/>
              <a:pPr/>
              <a:t>106</a:t>
            </a:fld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17"/>
          <p:cNvSpPr txBox="1">
            <a:spLocks noGrp="1"/>
          </p:cNvSpPr>
          <p:nvPr>
            <p:ph type="body" idx="1"/>
          </p:nvPr>
        </p:nvSpPr>
        <p:spPr>
          <a:xfrm>
            <a:off x="494933" y="3102600"/>
            <a:ext cx="4943200" cy="6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/>
              <a:t>Revisão da Notação de Martin (Pé de corvo)</a:t>
            </a:r>
            <a:endParaRPr/>
          </a:p>
        </p:txBody>
      </p:sp>
      <p:pic>
        <p:nvPicPr>
          <p:cNvPr id="1641" name="Google Shape;1641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8234" y="1520351"/>
            <a:ext cx="6159100" cy="38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117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pt-BR"/>
              <a:pPr/>
              <a:t>107</a:t>
            </a:fld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18"/>
          <p:cNvSpPr txBox="1">
            <a:spLocks noGrp="1"/>
          </p:cNvSpPr>
          <p:nvPr>
            <p:ph type="body" idx="1"/>
          </p:nvPr>
        </p:nvSpPr>
        <p:spPr>
          <a:xfrm>
            <a:off x="494933" y="3102600"/>
            <a:ext cx="4281200" cy="6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/>
              <a:t>Revisão da Notação de Martin (Pé de corvo)</a:t>
            </a:r>
            <a:endParaRPr/>
          </a:p>
        </p:txBody>
      </p:sp>
      <p:pic>
        <p:nvPicPr>
          <p:cNvPr id="1648" name="Google Shape;1648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934" y="707467"/>
            <a:ext cx="7009668" cy="54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118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pt-BR"/>
              <a:pPr/>
              <a:t>108</a:t>
            </a:fld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19"/>
          <p:cNvSpPr txBox="1">
            <a:spLocks noGrp="1"/>
          </p:cNvSpPr>
          <p:nvPr>
            <p:ph type="body" idx="1"/>
          </p:nvPr>
        </p:nvSpPr>
        <p:spPr>
          <a:xfrm>
            <a:off x="2917200" y="5416400"/>
            <a:ext cx="6357600" cy="6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/>
              <a:t>Revisão da Notação de Martin (Pé de corvo)</a:t>
            </a:r>
            <a:endParaRPr/>
          </a:p>
        </p:txBody>
      </p:sp>
      <p:pic>
        <p:nvPicPr>
          <p:cNvPr id="1655" name="Google Shape;1655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151" y="2565400"/>
            <a:ext cx="9283700" cy="17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19"/>
          <p:cNvSpPr txBox="1">
            <a:spLocks noGrp="1"/>
          </p:cNvSpPr>
          <p:nvPr>
            <p:ph type="sldNum" idx="12"/>
          </p:nvPr>
        </p:nvSpPr>
        <p:spPr>
          <a:xfrm>
            <a:off x="11196733" y="6340700"/>
            <a:ext cx="891600" cy="4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pt-BR"/>
              <a:pPr/>
              <a:t>109</a:t>
            </a:fld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C190D-27BB-14E5-3DF1-8FBE5AE9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DER – Notação de Chen</a:t>
            </a:r>
          </a:p>
        </p:txBody>
      </p:sp>
      <p:sp>
        <p:nvSpPr>
          <p:cNvPr id="34" name="Google Shape;1464;p111">
            <a:extLst>
              <a:ext uri="{FF2B5EF4-FFF2-40B4-BE49-F238E27FC236}">
                <a16:creationId xmlns:a16="http://schemas.microsoft.com/office/drawing/2014/main" id="{43185D1C-8850-AE01-0FA5-B93B1FDA9541}"/>
              </a:ext>
            </a:extLst>
          </p:cNvPr>
          <p:cNvSpPr/>
          <p:nvPr/>
        </p:nvSpPr>
        <p:spPr>
          <a:xfrm>
            <a:off x="1708072" y="21590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5" name="Google Shape;1465;p111">
            <a:extLst>
              <a:ext uri="{FF2B5EF4-FFF2-40B4-BE49-F238E27FC236}">
                <a16:creationId xmlns:a16="http://schemas.microsoft.com/office/drawing/2014/main" id="{59B63EE5-C37F-6095-E234-2703774BEDD3}"/>
              </a:ext>
            </a:extLst>
          </p:cNvPr>
          <p:cNvSpPr/>
          <p:nvPr/>
        </p:nvSpPr>
        <p:spPr>
          <a:xfrm>
            <a:off x="7815227" y="21590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" name="Google Shape;1466;p111">
            <a:extLst>
              <a:ext uri="{FF2B5EF4-FFF2-40B4-BE49-F238E27FC236}">
                <a16:creationId xmlns:a16="http://schemas.microsoft.com/office/drawing/2014/main" id="{9824B5BA-B760-5814-999B-530913C76DC3}"/>
              </a:ext>
            </a:extLst>
          </p:cNvPr>
          <p:cNvSpPr/>
          <p:nvPr/>
        </p:nvSpPr>
        <p:spPr>
          <a:xfrm>
            <a:off x="4645842" y="1957475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7" name="Google Shape;1467;p111">
            <a:extLst>
              <a:ext uri="{FF2B5EF4-FFF2-40B4-BE49-F238E27FC236}">
                <a16:creationId xmlns:a16="http://schemas.microsoft.com/office/drawing/2014/main" id="{99E0CAAE-72AC-D159-40C3-FB85B0E9D289}"/>
              </a:ext>
            </a:extLst>
          </p:cNvPr>
          <p:cNvCxnSpPr>
            <a:stCxn id="36" idx="1"/>
            <a:endCxn id="34" idx="3"/>
          </p:cNvCxnSpPr>
          <p:nvPr/>
        </p:nvCxnSpPr>
        <p:spPr>
          <a:xfrm rot="10800000">
            <a:off x="3970242" y="24991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1468;p111">
            <a:extLst>
              <a:ext uri="{FF2B5EF4-FFF2-40B4-BE49-F238E27FC236}">
                <a16:creationId xmlns:a16="http://schemas.microsoft.com/office/drawing/2014/main" id="{4BB8A6B3-70A6-2786-3554-79BB8CD2E7CA}"/>
              </a:ext>
            </a:extLst>
          </p:cNvPr>
          <p:cNvCxnSpPr>
            <a:stCxn id="35" idx="1"/>
            <a:endCxn id="36" idx="3"/>
          </p:cNvCxnSpPr>
          <p:nvPr/>
        </p:nvCxnSpPr>
        <p:spPr>
          <a:xfrm rot="10800000">
            <a:off x="7139627" y="24991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1469;p111">
            <a:extLst>
              <a:ext uri="{FF2B5EF4-FFF2-40B4-BE49-F238E27FC236}">
                <a16:creationId xmlns:a16="http://schemas.microsoft.com/office/drawing/2014/main" id="{BD06E62D-05F9-A039-6687-1D58FD7F8116}"/>
              </a:ext>
            </a:extLst>
          </p:cNvPr>
          <p:cNvSpPr txBox="1"/>
          <p:nvPr/>
        </p:nvSpPr>
        <p:spPr>
          <a:xfrm>
            <a:off x="3665742" y="27133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0" name="Google Shape;1470;p111">
            <a:extLst>
              <a:ext uri="{FF2B5EF4-FFF2-40B4-BE49-F238E27FC236}">
                <a16:creationId xmlns:a16="http://schemas.microsoft.com/office/drawing/2014/main" id="{0689D781-AFD5-AC40-B378-497DAD7F5977}"/>
              </a:ext>
            </a:extLst>
          </p:cNvPr>
          <p:cNvSpPr txBox="1"/>
          <p:nvPr/>
        </p:nvSpPr>
        <p:spPr>
          <a:xfrm>
            <a:off x="6541892" y="2713375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É cursada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1" name="Google Shape;1471;p111">
            <a:extLst>
              <a:ext uri="{FF2B5EF4-FFF2-40B4-BE49-F238E27FC236}">
                <a16:creationId xmlns:a16="http://schemas.microsoft.com/office/drawing/2014/main" id="{2D3F5EF2-DAD5-252A-4C93-0AEFF5FE8721}"/>
              </a:ext>
            </a:extLst>
          </p:cNvPr>
          <p:cNvSpPr txBox="1"/>
          <p:nvPr/>
        </p:nvSpPr>
        <p:spPr>
          <a:xfrm>
            <a:off x="3665742" y="19574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" name="Google Shape;1472;p111">
            <a:extLst>
              <a:ext uri="{FF2B5EF4-FFF2-40B4-BE49-F238E27FC236}">
                <a16:creationId xmlns:a16="http://schemas.microsoft.com/office/drawing/2014/main" id="{7546E4B3-98D1-C575-7CED-084FAB8420AB}"/>
              </a:ext>
            </a:extLst>
          </p:cNvPr>
          <p:cNvSpPr txBox="1"/>
          <p:nvPr/>
        </p:nvSpPr>
        <p:spPr>
          <a:xfrm>
            <a:off x="6746942" y="19574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" name="Google Shape;1473;p111">
            <a:extLst>
              <a:ext uri="{FF2B5EF4-FFF2-40B4-BE49-F238E27FC236}">
                <a16:creationId xmlns:a16="http://schemas.microsoft.com/office/drawing/2014/main" id="{C4780741-CB34-F32A-07D1-E527E304AE3F}"/>
              </a:ext>
            </a:extLst>
          </p:cNvPr>
          <p:cNvSpPr txBox="1"/>
          <p:nvPr/>
        </p:nvSpPr>
        <p:spPr>
          <a:xfrm>
            <a:off x="4373892" y="3040775"/>
            <a:ext cx="3037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Muitos para Muitos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" name="Google Shape;1474;p111">
            <a:extLst>
              <a:ext uri="{FF2B5EF4-FFF2-40B4-BE49-F238E27FC236}">
                <a16:creationId xmlns:a16="http://schemas.microsoft.com/office/drawing/2014/main" id="{A7F87A2F-DD1B-6C4B-F621-F28AA9577121}"/>
              </a:ext>
            </a:extLst>
          </p:cNvPr>
          <p:cNvSpPr/>
          <p:nvPr/>
        </p:nvSpPr>
        <p:spPr>
          <a:xfrm>
            <a:off x="1708072" y="36708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" name="Google Shape;1475;p111">
            <a:extLst>
              <a:ext uri="{FF2B5EF4-FFF2-40B4-BE49-F238E27FC236}">
                <a16:creationId xmlns:a16="http://schemas.microsoft.com/office/drawing/2014/main" id="{E37D4766-E4BE-B2B4-AE63-54CF4F688406}"/>
              </a:ext>
            </a:extLst>
          </p:cNvPr>
          <p:cNvSpPr/>
          <p:nvPr/>
        </p:nvSpPr>
        <p:spPr>
          <a:xfrm>
            <a:off x="7815227" y="36708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" name="Google Shape;1476;p111">
            <a:extLst>
              <a:ext uri="{FF2B5EF4-FFF2-40B4-BE49-F238E27FC236}">
                <a16:creationId xmlns:a16="http://schemas.microsoft.com/office/drawing/2014/main" id="{F1B94E02-DD2A-471F-BC85-09FA1F05E5A1}"/>
              </a:ext>
            </a:extLst>
          </p:cNvPr>
          <p:cNvSpPr/>
          <p:nvPr/>
        </p:nvSpPr>
        <p:spPr>
          <a:xfrm>
            <a:off x="4645842" y="3469275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47" name="Google Shape;1477;p111">
            <a:extLst>
              <a:ext uri="{FF2B5EF4-FFF2-40B4-BE49-F238E27FC236}">
                <a16:creationId xmlns:a16="http://schemas.microsoft.com/office/drawing/2014/main" id="{A6C269F2-7322-4218-7793-35EC199654BB}"/>
              </a:ext>
            </a:extLst>
          </p:cNvPr>
          <p:cNvCxnSpPr>
            <a:stCxn id="46" idx="1"/>
            <a:endCxn id="44" idx="3"/>
          </p:cNvCxnSpPr>
          <p:nvPr/>
        </p:nvCxnSpPr>
        <p:spPr>
          <a:xfrm rot="10800000">
            <a:off x="3970242" y="40109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1478;p111">
            <a:extLst>
              <a:ext uri="{FF2B5EF4-FFF2-40B4-BE49-F238E27FC236}">
                <a16:creationId xmlns:a16="http://schemas.microsoft.com/office/drawing/2014/main" id="{16F218E7-7F63-6547-D103-C312C4EE33BB}"/>
              </a:ext>
            </a:extLst>
          </p:cNvPr>
          <p:cNvCxnSpPr>
            <a:stCxn id="45" idx="1"/>
            <a:endCxn id="46" idx="3"/>
          </p:cNvCxnSpPr>
          <p:nvPr/>
        </p:nvCxnSpPr>
        <p:spPr>
          <a:xfrm rot="10800000">
            <a:off x="7139627" y="40109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1479;p111">
            <a:extLst>
              <a:ext uri="{FF2B5EF4-FFF2-40B4-BE49-F238E27FC236}">
                <a16:creationId xmlns:a16="http://schemas.microsoft.com/office/drawing/2014/main" id="{96BAEA3C-4DB1-5056-8B0E-03E156C9181E}"/>
              </a:ext>
            </a:extLst>
          </p:cNvPr>
          <p:cNvSpPr txBox="1"/>
          <p:nvPr/>
        </p:nvSpPr>
        <p:spPr>
          <a:xfrm>
            <a:off x="3665742" y="42251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0" name="Google Shape;1480;p111">
            <a:extLst>
              <a:ext uri="{FF2B5EF4-FFF2-40B4-BE49-F238E27FC236}">
                <a16:creationId xmlns:a16="http://schemas.microsoft.com/office/drawing/2014/main" id="{9EC68F7B-224A-2767-C06A-8EC8CD1DE161}"/>
              </a:ext>
            </a:extLst>
          </p:cNvPr>
          <p:cNvSpPr txBox="1"/>
          <p:nvPr/>
        </p:nvSpPr>
        <p:spPr>
          <a:xfrm>
            <a:off x="6541892" y="4225175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É chefiado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" name="Google Shape;1481;p111">
            <a:extLst>
              <a:ext uri="{FF2B5EF4-FFF2-40B4-BE49-F238E27FC236}">
                <a16:creationId xmlns:a16="http://schemas.microsoft.com/office/drawing/2014/main" id="{7C489575-58F0-30BF-F0C7-343946638D04}"/>
              </a:ext>
            </a:extLst>
          </p:cNvPr>
          <p:cNvSpPr txBox="1"/>
          <p:nvPr/>
        </p:nvSpPr>
        <p:spPr>
          <a:xfrm>
            <a:off x="3665742" y="34692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2" name="Google Shape;1482;p111">
            <a:extLst>
              <a:ext uri="{FF2B5EF4-FFF2-40B4-BE49-F238E27FC236}">
                <a16:creationId xmlns:a16="http://schemas.microsoft.com/office/drawing/2014/main" id="{17EE8BCF-483D-3440-C413-425CC680E1F6}"/>
              </a:ext>
            </a:extLst>
          </p:cNvPr>
          <p:cNvSpPr txBox="1"/>
          <p:nvPr/>
        </p:nvSpPr>
        <p:spPr>
          <a:xfrm>
            <a:off x="6746942" y="34692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" name="Google Shape;1483;p111">
            <a:extLst>
              <a:ext uri="{FF2B5EF4-FFF2-40B4-BE49-F238E27FC236}">
                <a16:creationId xmlns:a16="http://schemas.microsoft.com/office/drawing/2014/main" id="{9EEB8ED9-FF6B-416A-C26E-C07D01F75D67}"/>
              </a:ext>
            </a:extLst>
          </p:cNvPr>
          <p:cNvSpPr txBox="1"/>
          <p:nvPr/>
        </p:nvSpPr>
        <p:spPr>
          <a:xfrm>
            <a:off x="4373892" y="4552575"/>
            <a:ext cx="3037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Um para Um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4" name="Google Shape;1484;p111">
            <a:extLst>
              <a:ext uri="{FF2B5EF4-FFF2-40B4-BE49-F238E27FC236}">
                <a16:creationId xmlns:a16="http://schemas.microsoft.com/office/drawing/2014/main" id="{BEF2DF4B-2AB4-069F-02C0-344E93AB415D}"/>
              </a:ext>
            </a:extLst>
          </p:cNvPr>
          <p:cNvSpPr/>
          <p:nvPr/>
        </p:nvSpPr>
        <p:spPr>
          <a:xfrm>
            <a:off x="1708072" y="51826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5" name="Google Shape;1485;p111">
            <a:extLst>
              <a:ext uri="{FF2B5EF4-FFF2-40B4-BE49-F238E27FC236}">
                <a16:creationId xmlns:a16="http://schemas.microsoft.com/office/drawing/2014/main" id="{C8C91468-4B1E-5B94-CB16-0C9467665F1E}"/>
              </a:ext>
            </a:extLst>
          </p:cNvPr>
          <p:cNvSpPr/>
          <p:nvPr/>
        </p:nvSpPr>
        <p:spPr>
          <a:xfrm>
            <a:off x="7815227" y="5182675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6" name="Google Shape;1486;p111">
            <a:extLst>
              <a:ext uri="{FF2B5EF4-FFF2-40B4-BE49-F238E27FC236}">
                <a16:creationId xmlns:a16="http://schemas.microsoft.com/office/drawing/2014/main" id="{9734A50A-437D-0F09-27E5-F3F767E970E4}"/>
              </a:ext>
            </a:extLst>
          </p:cNvPr>
          <p:cNvSpPr/>
          <p:nvPr/>
        </p:nvSpPr>
        <p:spPr>
          <a:xfrm>
            <a:off x="4645842" y="4981075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Trabalha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57" name="Google Shape;1487;p111">
            <a:extLst>
              <a:ext uri="{FF2B5EF4-FFF2-40B4-BE49-F238E27FC236}">
                <a16:creationId xmlns:a16="http://schemas.microsoft.com/office/drawing/2014/main" id="{41DF15FF-B3BA-4178-E926-FCF7149A384C}"/>
              </a:ext>
            </a:extLst>
          </p:cNvPr>
          <p:cNvCxnSpPr>
            <a:stCxn id="56" idx="1"/>
            <a:endCxn id="54" idx="3"/>
          </p:cNvCxnSpPr>
          <p:nvPr/>
        </p:nvCxnSpPr>
        <p:spPr>
          <a:xfrm rot="10800000">
            <a:off x="3970242" y="55227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1488;p111">
            <a:extLst>
              <a:ext uri="{FF2B5EF4-FFF2-40B4-BE49-F238E27FC236}">
                <a16:creationId xmlns:a16="http://schemas.microsoft.com/office/drawing/2014/main" id="{6ACF930C-3D59-23FB-845C-C0A5BF67BFB3}"/>
              </a:ext>
            </a:extLst>
          </p:cNvPr>
          <p:cNvCxnSpPr>
            <a:stCxn id="55" idx="1"/>
            <a:endCxn id="56" idx="3"/>
          </p:cNvCxnSpPr>
          <p:nvPr/>
        </p:nvCxnSpPr>
        <p:spPr>
          <a:xfrm rot="10800000">
            <a:off x="7139627" y="5522725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1489;p111">
            <a:extLst>
              <a:ext uri="{FF2B5EF4-FFF2-40B4-BE49-F238E27FC236}">
                <a16:creationId xmlns:a16="http://schemas.microsoft.com/office/drawing/2014/main" id="{6BBEB571-1122-5BEF-2940-B5D7A5553763}"/>
              </a:ext>
            </a:extLst>
          </p:cNvPr>
          <p:cNvSpPr txBox="1"/>
          <p:nvPr/>
        </p:nvSpPr>
        <p:spPr>
          <a:xfrm>
            <a:off x="3558792" y="5736975"/>
            <a:ext cx="14985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Trabalha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0" name="Google Shape;1490;p111">
            <a:extLst>
              <a:ext uri="{FF2B5EF4-FFF2-40B4-BE49-F238E27FC236}">
                <a16:creationId xmlns:a16="http://schemas.microsoft.com/office/drawing/2014/main" id="{3E1F89FB-6C7D-1908-40FC-9408CDC32D9D}"/>
              </a:ext>
            </a:extLst>
          </p:cNvPr>
          <p:cNvSpPr txBox="1"/>
          <p:nvPr/>
        </p:nvSpPr>
        <p:spPr>
          <a:xfrm>
            <a:off x="6541892" y="5736975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1" name="Google Shape;1491;p111">
            <a:extLst>
              <a:ext uri="{FF2B5EF4-FFF2-40B4-BE49-F238E27FC236}">
                <a16:creationId xmlns:a16="http://schemas.microsoft.com/office/drawing/2014/main" id="{EA239E8B-A655-6E45-000A-37B402EA2BBF}"/>
              </a:ext>
            </a:extLst>
          </p:cNvPr>
          <p:cNvSpPr txBox="1"/>
          <p:nvPr/>
        </p:nvSpPr>
        <p:spPr>
          <a:xfrm>
            <a:off x="3665742" y="49810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2" name="Google Shape;1492;p111">
            <a:extLst>
              <a:ext uri="{FF2B5EF4-FFF2-40B4-BE49-F238E27FC236}">
                <a16:creationId xmlns:a16="http://schemas.microsoft.com/office/drawing/2014/main" id="{F9325D23-EA49-B1B8-BFAA-185A64DDC8B5}"/>
              </a:ext>
            </a:extLst>
          </p:cNvPr>
          <p:cNvSpPr txBox="1"/>
          <p:nvPr/>
        </p:nvSpPr>
        <p:spPr>
          <a:xfrm>
            <a:off x="6746942" y="498107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3" name="Google Shape;1493;p111">
            <a:extLst>
              <a:ext uri="{FF2B5EF4-FFF2-40B4-BE49-F238E27FC236}">
                <a16:creationId xmlns:a16="http://schemas.microsoft.com/office/drawing/2014/main" id="{BE3D3362-1AA8-C116-3F59-4208FFDF6B9F}"/>
              </a:ext>
            </a:extLst>
          </p:cNvPr>
          <p:cNvSpPr txBox="1"/>
          <p:nvPr/>
        </p:nvSpPr>
        <p:spPr>
          <a:xfrm>
            <a:off x="4373892" y="6026975"/>
            <a:ext cx="3037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Um para Muitos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66710005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BA8C9-7BC5-2EC2-0EC4-59A4F9D65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DER – Notação de Chen</a:t>
            </a:r>
          </a:p>
        </p:txBody>
      </p:sp>
      <p:sp>
        <p:nvSpPr>
          <p:cNvPr id="4" name="Google Shape;1499;p112">
            <a:extLst>
              <a:ext uri="{FF2B5EF4-FFF2-40B4-BE49-F238E27FC236}">
                <a16:creationId xmlns:a16="http://schemas.microsoft.com/office/drawing/2014/main" id="{0320F9CD-A48F-B352-3E45-49DADDAF3C4A}"/>
              </a:ext>
            </a:extLst>
          </p:cNvPr>
          <p:cNvSpPr/>
          <p:nvPr/>
        </p:nvSpPr>
        <p:spPr>
          <a:xfrm>
            <a:off x="1730650" y="216269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500;p112">
            <a:extLst>
              <a:ext uri="{FF2B5EF4-FFF2-40B4-BE49-F238E27FC236}">
                <a16:creationId xmlns:a16="http://schemas.microsoft.com/office/drawing/2014/main" id="{03D48A82-C975-291B-3DE9-A7CEF901CBFD}"/>
              </a:ext>
            </a:extLst>
          </p:cNvPr>
          <p:cNvSpPr/>
          <p:nvPr/>
        </p:nvSpPr>
        <p:spPr>
          <a:xfrm>
            <a:off x="7837805" y="216269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501;p112">
            <a:extLst>
              <a:ext uri="{FF2B5EF4-FFF2-40B4-BE49-F238E27FC236}">
                <a16:creationId xmlns:a16="http://schemas.microsoft.com/office/drawing/2014/main" id="{DBC45654-37A0-AFC6-7711-CFB7D9BADC45}"/>
              </a:ext>
            </a:extLst>
          </p:cNvPr>
          <p:cNvSpPr/>
          <p:nvPr/>
        </p:nvSpPr>
        <p:spPr>
          <a:xfrm>
            <a:off x="4668420" y="1961093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Participa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502;p112">
            <a:extLst>
              <a:ext uri="{FF2B5EF4-FFF2-40B4-BE49-F238E27FC236}">
                <a16:creationId xmlns:a16="http://schemas.microsoft.com/office/drawing/2014/main" id="{5BCEB64A-60EE-E294-E14A-4D9959756ADF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3992820" y="2502743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503;p112">
            <a:extLst>
              <a:ext uri="{FF2B5EF4-FFF2-40B4-BE49-F238E27FC236}">
                <a16:creationId xmlns:a16="http://schemas.microsoft.com/office/drawing/2014/main" id="{3926D14C-5E99-3603-4071-479679FD64E9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162205" y="2502743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504;p112">
            <a:extLst>
              <a:ext uri="{FF2B5EF4-FFF2-40B4-BE49-F238E27FC236}">
                <a16:creationId xmlns:a16="http://schemas.microsoft.com/office/drawing/2014/main" id="{514F948E-2FDC-4AE9-877A-527C3E555674}"/>
              </a:ext>
            </a:extLst>
          </p:cNvPr>
          <p:cNvSpPr txBox="1"/>
          <p:nvPr/>
        </p:nvSpPr>
        <p:spPr>
          <a:xfrm>
            <a:off x="3827120" y="1961093"/>
            <a:ext cx="1145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(0,M)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505;p112">
            <a:extLst>
              <a:ext uri="{FF2B5EF4-FFF2-40B4-BE49-F238E27FC236}">
                <a16:creationId xmlns:a16="http://schemas.microsoft.com/office/drawing/2014/main" id="{D3FBD62B-AD20-5317-594C-EA39F8858283}"/>
              </a:ext>
            </a:extLst>
          </p:cNvPr>
          <p:cNvSpPr txBox="1"/>
          <p:nvPr/>
        </p:nvSpPr>
        <p:spPr>
          <a:xfrm>
            <a:off x="6769520" y="196109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(0,N)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506;p112">
            <a:extLst>
              <a:ext uri="{FF2B5EF4-FFF2-40B4-BE49-F238E27FC236}">
                <a16:creationId xmlns:a16="http://schemas.microsoft.com/office/drawing/2014/main" id="{7DD708EC-598E-64AF-4B08-D5EABA136DCE}"/>
              </a:ext>
            </a:extLst>
          </p:cNvPr>
          <p:cNvSpPr/>
          <p:nvPr/>
        </p:nvSpPr>
        <p:spPr>
          <a:xfrm>
            <a:off x="1730650" y="367449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1507;p112">
            <a:extLst>
              <a:ext uri="{FF2B5EF4-FFF2-40B4-BE49-F238E27FC236}">
                <a16:creationId xmlns:a16="http://schemas.microsoft.com/office/drawing/2014/main" id="{86BEF355-E8E0-D5F6-3D0D-4C5B3C73C411}"/>
              </a:ext>
            </a:extLst>
          </p:cNvPr>
          <p:cNvSpPr/>
          <p:nvPr/>
        </p:nvSpPr>
        <p:spPr>
          <a:xfrm>
            <a:off x="7837805" y="367449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1508;p112">
            <a:extLst>
              <a:ext uri="{FF2B5EF4-FFF2-40B4-BE49-F238E27FC236}">
                <a16:creationId xmlns:a16="http://schemas.microsoft.com/office/drawing/2014/main" id="{4E40409D-133B-1A9E-4920-7318BD5594FF}"/>
              </a:ext>
            </a:extLst>
          </p:cNvPr>
          <p:cNvSpPr/>
          <p:nvPr/>
        </p:nvSpPr>
        <p:spPr>
          <a:xfrm>
            <a:off x="4668420" y="3472893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4" name="Google Shape;1509;p112">
            <a:extLst>
              <a:ext uri="{FF2B5EF4-FFF2-40B4-BE49-F238E27FC236}">
                <a16:creationId xmlns:a16="http://schemas.microsoft.com/office/drawing/2014/main" id="{D521F601-511F-13FC-75F0-0D33940DBD4D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rot="10800000">
            <a:off x="3992820" y="4014543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510;p112">
            <a:extLst>
              <a:ext uri="{FF2B5EF4-FFF2-40B4-BE49-F238E27FC236}">
                <a16:creationId xmlns:a16="http://schemas.microsoft.com/office/drawing/2014/main" id="{3915A3EC-4CF1-2813-EC51-32CF6423E42A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rot="10800000">
            <a:off x="7162205" y="4014543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511;p112">
            <a:extLst>
              <a:ext uri="{FF2B5EF4-FFF2-40B4-BE49-F238E27FC236}">
                <a16:creationId xmlns:a16="http://schemas.microsoft.com/office/drawing/2014/main" id="{73925F38-362E-3698-4B76-7FA40D84A66A}"/>
              </a:ext>
            </a:extLst>
          </p:cNvPr>
          <p:cNvSpPr txBox="1"/>
          <p:nvPr/>
        </p:nvSpPr>
        <p:spPr>
          <a:xfrm>
            <a:off x="3688320" y="347289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" name="Google Shape;1512;p112">
            <a:extLst>
              <a:ext uri="{FF2B5EF4-FFF2-40B4-BE49-F238E27FC236}">
                <a16:creationId xmlns:a16="http://schemas.microsoft.com/office/drawing/2014/main" id="{0D3ACD36-E778-1A3F-8010-55F66034FC6F}"/>
              </a:ext>
            </a:extLst>
          </p:cNvPr>
          <p:cNvSpPr txBox="1"/>
          <p:nvPr/>
        </p:nvSpPr>
        <p:spPr>
          <a:xfrm>
            <a:off x="6769520" y="347289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" name="Google Shape;1513;p112">
            <a:extLst>
              <a:ext uri="{FF2B5EF4-FFF2-40B4-BE49-F238E27FC236}">
                <a16:creationId xmlns:a16="http://schemas.microsoft.com/office/drawing/2014/main" id="{9C46FAFC-D84F-352B-54A1-7FB5A5A8ACC4}"/>
              </a:ext>
            </a:extLst>
          </p:cNvPr>
          <p:cNvSpPr/>
          <p:nvPr/>
        </p:nvSpPr>
        <p:spPr>
          <a:xfrm>
            <a:off x="1730650" y="518629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" name="Google Shape;1514;p112">
            <a:extLst>
              <a:ext uri="{FF2B5EF4-FFF2-40B4-BE49-F238E27FC236}">
                <a16:creationId xmlns:a16="http://schemas.microsoft.com/office/drawing/2014/main" id="{37B7A8DD-2F19-6735-F077-109C62A75B0F}"/>
              </a:ext>
            </a:extLst>
          </p:cNvPr>
          <p:cNvSpPr/>
          <p:nvPr/>
        </p:nvSpPr>
        <p:spPr>
          <a:xfrm>
            <a:off x="7837805" y="518629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" name="Google Shape;1515;p112">
            <a:extLst>
              <a:ext uri="{FF2B5EF4-FFF2-40B4-BE49-F238E27FC236}">
                <a16:creationId xmlns:a16="http://schemas.microsoft.com/office/drawing/2014/main" id="{B6ACE8F3-4995-AAE8-B6F8-10DA39858689}"/>
              </a:ext>
            </a:extLst>
          </p:cNvPr>
          <p:cNvSpPr/>
          <p:nvPr/>
        </p:nvSpPr>
        <p:spPr>
          <a:xfrm>
            <a:off x="4668420" y="4984693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Coordena</a:t>
            </a:r>
            <a:endParaRPr sz="2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1" name="Google Shape;1516;p112">
            <a:extLst>
              <a:ext uri="{FF2B5EF4-FFF2-40B4-BE49-F238E27FC236}">
                <a16:creationId xmlns:a16="http://schemas.microsoft.com/office/drawing/2014/main" id="{10C02A64-4D8A-4513-EE83-ACAB224E485A}"/>
              </a:ext>
            </a:extLst>
          </p:cNvPr>
          <p:cNvCxnSpPr>
            <a:stCxn id="20" idx="1"/>
            <a:endCxn id="18" idx="3"/>
          </p:cNvCxnSpPr>
          <p:nvPr/>
        </p:nvCxnSpPr>
        <p:spPr>
          <a:xfrm rot="10800000">
            <a:off x="3992820" y="5526343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517;p112">
            <a:extLst>
              <a:ext uri="{FF2B5EF4-FFF2-40B4-BE49-F238E27FC236}">
                <a16:creationId xmlns:a16="http://schemas.microsoft.com/office/drawing/2014/main" id="{3BBDD48F-DEF0-9FB5-5869-82502B64ECE8}"/>
              </a:ext>
            </a:extLst>
          </p:cNvPr>
          <p:cNvCxnSpPr>
            <a:stCxn id="19" idx="1"/>
            <a:endCxn id="20" idx="3"/>
          </p:cNvCxnSpPr>
          <p:nvPr/>
        </p:nvCxnSpPr>
        <p:spPr>
          <a:xfrm rot="10800000">
            <a:off x="7162205" y="5526343"/>
            <a:ext cx="67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1518;p112">
            <a:extLst>
              <a:ext uri="{FF2B5EF4-FFF2-40B4-BE49-F238E27FC236}">
                <a16:creationId xmlns:a16="http://schemas.microsoft.com/office/drawing/2014/main" id="{C0BE9575-2F08-3F97-90DC-D41A965F553C}"/>
              </a:ext>
            </a:extLst>
          </p:cNvPr>
          <p:cNvSpPr txBox="1"/>
          <p:nvPr/>
        </p:nvSpPr>
        <p:spPr>
          <a:xfrm>
            <a:off x="3688320" y="498469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(1,1)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" name="Google Shape;1519;p112">
            <a:extLst>
              <a:ext uri="{FF2B5EF4-FFF2-40B4-BE49-F238E27FC236}">
                <a16:creationId xmlns:a16="http://schemas.microsoft.com/office/drawing/2014/main" id="{FE57658B-8493-F64A-EDFB-2D32CEBBC002}"/>
              </a:ext>
            </a:extLst>
          </p:cNvPr>
          <p:cNvSpPr txBox="1"/>
          <p:nvPr/>
        </p:nvSpPr>
        <p:spPr>
          <a:xfrm>
            <a:off x="6769520" y="498469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(0,2)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5254177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0DBD0-DF2A-6117-722F-7028C390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DER – Notação James Martin</a:t>
            </a:r>
          </a:p>
        </p:txBody>
      </p:sp>
      <p:sp>
        <p:nvSpPr>
          <p:cNvPr id="4" name="Google Shape;1525;p113">
            <a:extLst>
              <a:ext uri="{FF2B5EF4-FFF2-40B4-BE49-F238E27FC236}">
                <a16:creationId xmlns:a16="http://schemas.microsoft.com/office/drawing/2014/main" id="{57A3CE40-21D3-8D91-9A88-6A36BA52C8C9}"/>
              </a:ext>
            </a:extLst>
          </p:cNvPr>
          <p:cNvSpPr/>
          <p:nvPr/>
        </p:nvSpPr>
        <p:spPr>
          <a:xfrm>
            <a:off x="1769915" y="201451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526;p113">
            <a:extLst>
              <a:ext uri="{FF2B5EF4-FFF2-40B4-BE49-F238E27FC236}">
                <a16:creationId xmlns:a16="http://schemas.microsoft.com/office/drawing/2014/main" id="{EFD0FE25-4D67-305F-D222-4959D21A1693}"/>
              </a:ext>
            </a:extLst>
          </p:cNvPr>
          <p:cNvSpPr/>
          <p:nvPr/>
        </p:nvSpPr>
        <p:spPr>
          <a:xfrm>
            <a:off x="7854820" y="201451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" name="Google Shape;1527;p113">
            <a:extLst>
              <a:ext uri="{FF2B5EF4-FFF2-40B4-BE49-F238E27FC236}">
                <a16:creationId xmlns:a16="http://schemas.microsoft.com/office/drawing/2014/main" id="{44E5EDDA-7E34-096F-C327-8132B87C6D0D}"/>
              </a:ext>
            </a:extLst>
          </p:cNvPr>
          <p:cNvCxnSpPr>
            <a:stCxn id="5" idx="1"/>
            <a:endCxn id="4" idx="3"/>
          </p:cNvCxnSpPr>
          <p:nvPr/>
        </p:nvCxnSpPr>
        <p:spPr>
          <a:xfrm rot="10800000">
            <a:off x="4032220" y="2354567"/>
            <a:ext cx="38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528;p113">
            <a:extLst>
              <a:ext uri="{FF2B5EF4-FFF2-40B4-BE49-F238E27FC236}">
                <a16:creationId xmlns:a16="http://schemas.microsoft.com/office/drawing/2014/main" id="{0A1CEA91-0A25-913B-5946-646385E4D7EB}"/>
              </a:ext>
            </a:extLst>
          </p:cNvPr>
          <p:cNvSpPr/>
          <p:nvPr/>
        </p:nvSpPr>
        <p:spPr>
          <a:xfrm>
            <a:off x="1758790" y="2940442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1529;p113">
            <a:extLst>
              <a:ext uri="{FF2B5EF4-FFF2-40B4-BE49-F238E27FC236}">
                <a16:creationId xmlns:a16="http://schemas.microsoft.com/office/drawing/2014/main" id="{2EAAF501-3A53-8736-A496-30132070F5D1}"/>
              </a:ext>
            </a:extLst>
          </p:cNvPr>
          <p:cNvSpPr/>
          <p:nvPr/>
        </p:nvSpPr>
        <p:spPr>
          <a:xfrm>
            <a:off x="7843695" y="2940442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9" name="Google Shape;1530;p113">
            <a:extLst>
              <a:ext uri="{FF2B5EF4-FFF2-40B4-BE49-F238E27FC236}">
                <a16:creationId xmlns:a16="http://schemas.microsoft.com/office/drawing/2014/main" id="{7A0C3652-0BF4-9064-7B0A-FF9C77B18C9E}"/>
              </a:ext>
            </a:extLst>
          </p:cNvPr>
          <p:cNvCxnSpPr>
            <a:stCxn id="8" idx="1"/>
            <a:endCxn id="7" idx="3"/>
          </p:cNvCxnSpPr>
          <p:nvPr/>
        </p:nvCxnSpPr>
        <p:spPr>
          <a:xfrm rot="10800000">
            <a:off x="4021095" y="3280492"/>
            <a:ext cx="38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1531;p113">
            <a:extLst>
              <a:ext uri="{FF2B5EF4-FFF2-40B4-BE49-F238E27FC236}">
                <a16:creationId xmlns:a16="http://schemas.microsoft.com/office/drawing/2014/main" id="{BA5190D5-48ED-B9B5-7CAC-8141A93650C1}"/>
              </a:ext>
            </a:extLst>
          </p:cNvPr>
          <p:cNvSpPr/>
          <p:nvPr/>
        </p:nvSpPr>
        <p:spPr>
          <a:xfrm>
            <a:off x="1769915" y="503811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532;p113">
            <a:extLst>
              <a:ext uri="{FF2B5EF4-FFF2-40B4-BE49-F238E27FC236}">
                <a16:creationId xmlns:a16="http://schemas.microsoft.com/office/drawing/2014/main" id="{C55A73A3-F5E3-76DB-342B-821B2EF94EC5}"/>
              </a:ext>
            </a:extLst>
          </p:cNvPr>
          <p:cNvSpPr/>
          <p:nvPr/>
        </p:nvSpPr>
        <p:spPr>
          <a:xfrm>
            <a:off x="7854820" y="5038117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Google Shape;1533;p113">
            <a:extLst>
              <a:ext uri="{FF2B5EF4-FFF2-40B4-BE49-F238E27FC236}">
                <a16:creationId xmlns:a16="http://schemas.microsoft.com/office/drawing/2014/main" id="{066B6B63-3E09-D443-20EC-ED30E687B180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rot="10800000">
            <a:off x="4032220" y="5378167"/>
            <a:ext cx="38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534;p113">
            <a:extLst>
              <a:ext uri="{FF2B5EF4-FFF2-40B4-BE49-F238E27FC236}">
                <a16:creationId xmlns:a16="http://schemas.microsoft.com/office/drawing/2014/main" id="{4DF5C3C6-B631-2EF8-62AF-7D51CDB46BBD}"/>
              </a:ext>
            </a:extLst>
          </p:cNvPr>
          <p:cNvCxnSpPr/>
          <p:nvPr/>
        </p:nvCxnSpPr>
        <p:spPr>
          <a:xfrm flipH="1">
            <a:off x="7598110" y="2192042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535;p113">
            <a:extLst>
              <a:ext uri="{FF2B5EF4-FFF2-40B4-BE49-F238E27FC236}">
                <a16:creationId xmlns:a16="http://schemas.microsoft.com/office/drawing/2014/main" id="{A9711054-D59C-8DA8-8949-7F0F78B3807C}"/>
              </a:ext>
            </a:extLst>
          </p:cNvPr>
          <p:cNvCxnSpPr/>
          <p:nvPr/>
        </p:nvCxnSpPr>
        <p:spPr>
          <a:xfrm rot="10800000">
            <a:off x="7638135" y="2366217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536;p113">
            <a:extLst>
              <a:ext uri="{FF2B5EF4-FFF2-40B4-BE49-F238E27FC236}">
                <a16:creationId xmlns:a16="http://schemas.microsoft.com/office/drawing/2014/main" id="{2687E55F-D060-6B2E-4623-FCD86117C2EE}"/>
              </a:ext>
            </a:extLst>
          </p:cNvPr>
          <p:cNvCxnSpPr/>
          <p:nvPr/>
        </p:nvCxnSpPr>
        <p:spPr>
          <a:xfrm>
            <a:off x="4032210" y="2193830"/>
            <a:ext cx="267900" cy="1743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6" name="Google Shape;1537;p113">
            <a:extLst>
              <a:ext uri="{FF2B5EF4-FFF2-40B4-BE49-F238E27FC236}">
                <a16:creationId xmlns:a16="http://schemas.microsoft.com/office/drawing/2014/main" id="{3A919E83-E131-E64B-26DA-899BA469C3AC}"/>
              </a:ext>
            </a:extLst>
          </p:cNvPr>
          <p:cNvCxnSpPr/>
          <p:nvPr/>
        </p:nvCxnSpPr>
        <p:spPr>
          <a:xfrm rot="10800000" flipH="1">
            <a:off x="4045585" y="2368005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538;p113">
            <a:extLst>
              <a:ext uri="{FF2B5EF4-FFF2-40B4-BE49-F238E27FC236}">
                <a16:creationId xmlns:a16="http://schemas.microsoft.com/office/drawing/2014/main" id="{D24429C2-37CE-D9D1-5BBF-23CE0A2E5CC6}"/>
              </a:ext>
            </a:extLst>
          </p:cNvPr>
          <p:cNvSpPr/>
          <p:nvPr/>
        </p:nvSpPr>
        <p:spPr>
          <a:xfrm>
            <a:off x="4300110" y="2220617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" name="Google Shape;1539;p113">
            <a:extLst>
              <a:ext uri="{FF2B5EF4-FFF2-40B4-BE49-F238E27FC236}">
                <a16:creationId xmlns:a16="http://schemas.microsoft.com/office/drawing/2014/main" id="{86B958AB-0C56-5391-ADFE-CAE29D37359C}"/>
              </a:ext>
            </a:extLst>
          </p:cNvPr>
          <p:cNvSpPr/>
          <p:nvPr/>
        </p:nvSpPr>
        <p:spPr>
          <a:xfrm>
            <a:off x="7368060" y="2220617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" name="Google Shape;1540;p113">
            <a:extLst>
              <a:ext uri="{FF2B5EF4-FFF2-40B4-BE49-F238E27FC236}">
                <a16:creationId xmlns:a16="http://schemas.microsoft.com/office/drawing/2014/main" id="{AADAE355-4BFB-F612-1147-325ADA90C0C1}"/>
              </a:ext>
            </a:extLst>
          </p:cNvPr>
          <p:cNvSpPr/>
          <p:nvPr/>
        </p:nvSpPr>
        <p:spPr>
          <a:xfrm>
            <a:off x="4288985" y="3146542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" name="Google Shape;1541;p113">
            <a:extLst>
              <a:ext uri="{FF2B5EF4-FFF2-40B4-BE49-F238E27FC236}">
                <a16:creationId xmlns:a16="http://schemas.microsoft.com/office/drawing/2014/main" id="{8396C9E9-3605-B851-F5CA-BA37E8649C00}"/>
              </a:ext>
            </a:extLst>
          </p:cNvPr>
          <p:cNvSpPr/>
          <p:nvPr/>
        </p:nvSpPr>
        <p:spPr>
          <a:xfrm>
            <a:off x="7356935" y="3146542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1" name="Google Shape;1542;p113">
            <a:extLst>
              <a:ext uri="{FF2B5EF4-FFF2-40B4-BE49-F238E27FC236}">
                <a16:creationId xmlns:a16="http://schemas.microsoft.com/office/drawing/2014/main" id="{E44F443E-B7F5-8E21-8FFA-CD21BD16DDE0}"/>
              </a:ext>
            </a:extLst>
          </p:cNvPr>
          <p:cNvCxnSpPr/>
          <p:nvPr/>
        </p:nvCxnSpPr>
        <p:spPr>
          <a:xfrm rot="10800000">
            <a:off x="4141710" y="3066142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543;p113">
            <a:extLst>
              <a:ext uri="{FF2B5EF4-FFF2-40B4-BE49-F238E27FC236}">
                <a16:creationId xmlns:a16="http://schemas.microsoft.com/office/drawing/2014/main" id="{D2FF90FB-9967-E639-DE4C-2D990F4E049A}"/>
              </a:ext>
            </a:extLst>
          </p:cNvPr>
          <p:cNvCxnSpPr/>
          <p:nvPr/>
        </p:nvCxnSpPr>
        <p:spPr>
          <a:xfrm rot="10800000">
            <a:off x="7720935" y="3066142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544;p113">
            <a:extLst>
              <a:ext uri="{FF2B5EF4-FFF2-40B4-BE49-F238E27FC236}">
                <a16:creationId xmlns:a16="http://schemas.microsoft.com/office/drawing/2014/main" id="{823651CD-4DD3-67EA-853D-7DF54AC8A7F8}"/>
              </a:ext>
            </a:extLst>
          </p:cNvPr>
          <p:cNvCxnSpPr/>
          <p:nvPr/>
        </p:nvCxnSpPr>
        <p:spPr>
          <a:xfrm rot="10800000">
            <a:off x="4166160" y="5163817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545;p113">
            <a:extLst>
              <a:ext uri="{FF2B5EF4-FFF2-40B4-BE49-F238E27FC236}">
                <a16:creationId xmlns:a16="http://schemas.microsoft.com/office/drawing/2014/main" id="{F8FE3C68-EA0B-5FDC-26E3-F6C8BF8ED501}"/>
              </a:ext>
            </a:extLst>
          </p:cNvPr>
          <p:cNvCxnSpPr/>
          <p:nvPr/>
        </p:nvCxnSpPr>
        <p:spPr>
          <a:xfrm rot="10800000">
            <a:off x="4300110" y="5163817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1546;p113">
            <a:extLst>
              <a:ext uri="{FF2B5EF4-FFF2-40B4-BE49-F238E27FC236}">
                <a16:creationId xmlns:a16="http://schemas.microsoft.com/office/drawing/2014/main" id="{559AC418-35A5-A352-17F3-C9B29EE0DD50}"/>
              </a:ext>
            </a:extLst>
          </p:cNvPr>
          <p:cNvSpPr/>
          <p:nvPr/>
        </p:nvSpPr>
        <p:spPr>
          <a:xfrm>
            <a:off x="7368060" y="5244217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6" name="Google Shape;1547;p113">
            <a:extLst>
              <a:ext uri="{FF2B5EF4-FFF2-40B4-BE49-F238E27FC236}">
                <a16:creationId xmlns:a16="http://schemas.microsoft.com/office/drawing/2014/main" id="{C4D1C982-6D62-4E7A-1099-BF563B846D78}"/>
              </a:ext>
            </a:extLst>
          </p:cNvPr>
          <p:cNvCxnSpPr/>
          <p:nvPr/>
        </p:nvCxnSpPr>
        <p:spPr>
          <a:xfrm flipH="1">
            <a:off x="7598110" y="5219217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1548;p113">
            <a:extLst>
              <a:ext uri="{FF2B5EF4-FFF2-40B4-BE49-F238E27FC236}">
                <a16:creationId xmlns:a16="http://schemas.microsoft.com/office/drawing/2014/main" id="{96790058-3D16-4F0B-12CF-698C3827D4C1}"/>
              </a:ext>
            </a:extLst>
          </p:cNvPr>
          <p:cNvCxnSpPr/>
          <p:nvPr/>
        </p:nvCxnSpPr>
        <p:spPr>
          <a:xfrm rot="10800000">
            <a:off x="7638135" y="5393392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1549;p113">
            <a:extLst>
              <a:ext uri="{FF2B5EF4-FFF2-40B4-BE49-F238E27FC236}">
                <a16:creationId xmlns:a16="http://schemas.microsoft.com/office/drawing/2014/main" id="{BE983EDF-9B98-A6C7-3972-1BAE28E047C3}"/>
              </a:ext>
            </a:extLst>
          </p:cNvPr>
          <p:cNvSpPr txBox="1"/>
          <p:nvPr/>
        </p:nvSpPr>
        <p:spPr>
          <a:xfrm>
            <a:off x="6859710" y="5555905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(0,2)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" name="Google Shape;1550;p113">
            <a:extLst>
              <a:ext uri="{FF2B5EF4-FFF2-40B4-BE49-F238E27FC236}">
                <a16:creationId xmlns:a16="http://schemas.microsoft.com/office/drawing/2014/main" id="{89157F54-57F5-AEB4-3F5F-2B774402B130}"/>
              </a:ext>
            </a:extLst>
          </p:cNvPr>
          <p:cNvSpPr/>
          <p:nvPr/>
        </p:nvSpPr>
        <p:spPr>
          <a:xfrm>
            <a:off x="1758790" y="388623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Funcionário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0" name="Google Shape;1551;p113">
            <a:extLst>
              <a:ext uri="{FF2B5EF4-FFF2-40B4-BE49-F238E27FC236}">
                <a16:creationId xmlns:a16="http://schemas.microsoft.com/office/drawing/2014/main" id="{BB312BF1-902E-BDEF-31F1-8C3ADAC5A6EF}"/>
              </a:ext>
            </a:extLst>
          </p:cNvPr>
          <p:cNvSpPr/>
          <p:nvPr/>
        </p:nvSpPr>
        <p:spPr>
          <a:xfrm>
            <a:off x="7843695" y="3886230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Departamento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1" name="Google Shape;1552;p113">
            <a:extLst>
              <a:ext uri="{FF2B5EF4-FFF2-40B4-BE49-F238E27FC236}">
                <a16:creationId xmlns:a16="http://schemas.microsoft.com/office/drawing/2014/main" id="{44A0844E-BCE0-D1E9-D5D5-A23A458E0ACB}"/>
              </a:ext>
            </a:extLst>
          </p:cNvPr>
          <p:cNvCxnSpPr>
            <a:stCxn id="30" idx="1"/>
            <a:endCxn id="29" idx="3"/>
          </p:cNvCxnSpPr>
          <p:nvPr/>
        </p:nvCxnSpPr>
        <p:spPr>
          <a:xfrm rot="10800000">
            <a:off x="4021095" y="4226280"/>
            <a:ext cx="38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553;p113">
            <a:extLst>
              <a:ext uri="{FF2B5EF4-FFF2-40B4-BE49-F238E27FC236}">
                <a16:creationId xmlns:a16="http://schemas.microsoft.com/office/drawing/2014/main" id="{F5359EF5-8E71-9EF3-4C25-3FBA1B56BFAA}"/>
              </a:ext>
            </a:extLst>
          </p:cNvPr>
          <p:cNvCxnSpPr/>
          <p:nvPr/>
        </p:nvCxnSpPr>
        <p:spPr>
          <a:xfrm rot="10800000">
            <a:off x="4374910" y="4011930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1554;p113">
            <a:extLst>
              <a:ext uri="{FF2B5EF4-FFF2-40B4-BE49-F238E27FC236}">
                <a16:creationId xmlns:a16="http://schemas.microsoft.com/office/drawing/2014/main" id="{2B0930F1-DFBA-1F0B-4BDD-58F7B75A8F2F}"/>
              </a:ext>
            </a:extLst>
          </p:cNvPr>
          <p:cNvCxnSpPr/>
          <p:nvPr/>
        </p:nvCxnSpPr>
        <p:spPr>
          <a:xfrm rot="10800000">
            <a:off x="7720935" y="4011930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1555;p113">
            <a:extLst>
              <a:ext uri="{FF2B5EF4-FFF2-40B4-BE49-F238E27FC236}">
                <a16:creationId xmlns:a16="http://schemas.microsoft.com/office/drawing/2014/main" id="{0285ABB0-BDCE-13A3-ED85-8734727BB2F9}"/>
              </a:ext>
            </a:extLst>
          </p:cNvPr>
          <p:cNvSpPr txBox="1"/>
          <p:nvPr/>
        </p:nvSpPr>
        <p:spPr>
          <a:xfrm>
            <a:off x="5120685" y="1754717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Participa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5" name="Google Shape;1556;p113">
            <a:extLst>
              <a:ext uri="{FF2B5EF4-FFF2-40B4-BE49-F238E27FC236}">
                <a16:creationId xmlns:a16="http://schemas.microsoft.com/office/drawing/2014/main" id="{48AA643A-7F7A-F483-34B6-2077A2624619}"/>
              </a:ext>
            </a:extLst>
          </p:cNvPr>
          <p:cNvSpPr txBox="1"/>
          <p:nvPr/>
        </p:nvSpPr>
        <p:spPr>
          <a:xfrm>
            <a:off x="5109560" y="2694617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Chefia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" name="Google Shape;1557;p113">
            <a:extLst>
              <a:ext uri="{FF2B5EF4-FFF2-40B4-BE49-F238E27FC236}">
                <a16:creationId xmlns:a16="http://schemas.microsoft.com/office/drawing/2014/main" id="{41761CC5-62C1-70C1-1614-5A00D6D319D3}"/>
              </a:ext>
            </a:extLst>
          </p:cNvPr>
          <p:cNvSpPr txBox="1"/>
          <p:nvPr/>
        </p:nvSpPr>
        <p:spPr>
          <a:xfrm>
            <a:off x="5101760" y="4912267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Coordena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7" name="Google Shape;1558;p113">
            <a:extLst>
              <a:ext uri="{FF2B5EF4-FFF2-40B4-BE49-F238E27FC236}">
                <a16:creationId xmlns:a16="http://schemas.microsoft.com/office/drawing/2014/main" id="{AB47F12E-4A3E-B3A8-3124-3A90CCA8F842}"/>
              </a:ext>
            </a:extLst>
          </p:cNvPr>
          <p:cNvSpPr txBox="1"/>
          <p:nvPr/>
        </p:nvSpPr>
        <p:spPr>
          <a:xfrm>
            <a:off x="5109560" y="3803442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Trabalha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8" name="Google Shape;1559;p113">
            <a:extLst>
              <a:ext uri="{FF2B5EF4-FFF2-40B4-BE49-F238E27FC236}">
                <a16:creationId xmlns:a16="http://schemas.microsoft.com/office/drawing/2014/main" id="{3B842523-AAE8-3D15-2BB8-A63D88C18ED9}"/>
              </a:ext>
            </a:extLst>
          </p:cNvPr>
          <p:cNvCxnSpPr/>
          <p:nvPr/>
        </p:nvCxnSpPr>
        <p:spPr>
          <a:xfrm rot="10800000">
            <a:off x="7438360" y="4011942"/>
            <a:ext cx="0" cy="42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1560;p113">
            <a:extLst>
              <a:ext uri="{FF2B5EF4-FFF2-40B4-BE49-F238E27FC236}">
                <a16:creationId xmlns:a16="http://schemas.microsoft.com/office/drawing/2014/main" id="{392DC767-95BA-CF0F-867D-9810DBA194D2}"/>
              </a:ext>
            </a:extLst>
          </p:cNvPr>
          <p:cNvCxnSpPr/>
          <p:nvPr/>
        </p:nvCxnSpPr>
        <p:spPr>
          <a:xfrm>
            <a:off x="4007748" y="4061405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1561;p113">
            <a:extLst>
              <a:ext uri="{FF2B5EF4-FFF2-40B4-BE49-F238E27FC236}">
                <a16:creationId xmlns:a16="http://schemas.microsoft.com/office/drawing/2014/main" id="{3643F0F6-5D88-B27C-2479-5E3102337F98}"/>
              </a:ext>
            </a:extLst>
          </p:cNvPr>
          <p:cNvCxnSpPr/>
          <p:nvPr/>
        </p:nvCxnSpPr>
        <p:spPr>
          <a:xfrm rot="10800000" flipH="1">
            <a:off x="4021123" y="4235580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0194146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7D589-3D41-507E-B49A-5D63E98E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 entre notações</a:t>
            </a:r>
          </a:p>
        </p:txBody>
      </p:sp>
      <p:sp>
        <p:nvSpPr>
          <p:cNvPr id="4" name="Google Shape;1567;p114">
            <a:extLst>
              <a:ext uri="{FF2B5EF4-FFF2-40B4-BE49-F238E27FC236}">
                <a16:creationId xmlns:a16="http://schemas.microsoft.com/office/drawing/2014/main" id="{17D0BA01-1B34-F28C-2A75-21FAC3BBA3AC}"/>
              </a:ext>
            </a:extLst>
          </p:cNvPr>
          <p:cNvSpPr/>
          <p:nvPr/>
        </p:nvSpPr>
        <p:spPr>
          <a:xfrm>
            <a:off x="1843538" y="199423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568;p114">
            <a:extLst>
              <a:ext uri="{FF2B5EF4-FFF2-40B4-BE49-F238E27FC236}">
                <a16:creationId xmlns:a16="http://schemas.microsoft.com/office/drawing/2014/main" id="{EC148C30-6E3F-649E-D4BE-E1F80E5F3528}"/>
              </a:ext>
            </a:extLst>
          </p:cNvPr>
          <p:cNvSpPr/>
          <p:nvPr/>
        </p:nvSpPr>
        <p:spPr>
          <a:xfrm>
            <a:off x="7950693" y="199423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569;p114">
            <a:extLst>
              <a:ext uri="{FF2B5EF4-FFF2-40B4-BE49-F238E27FC236}">
                <a16:creationId xmlns:a16="http://schemas.microsoft.com/office/drawing/2014/main" id="{5D67502A-DFDF-59A4-2E42-1ECB88439E7D}"/>
              </a:ext>
            </a:extLst>
          </p:cNvPr>
          <p:cNvSpPr/>
          <p:nvPr/>
        </p:nvSpPr>
        <p:spPr>
          <a:xfrm>
            <a:off x="4899783" y="1792633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570;p114">
            <a:extLst>
              <a:ext uri="{FF2B5EF4-FFF2-40B4-BE49-F238E27FC236}">
                <a16:creationId xmlns:a16="http://schemas.microsoft.com/office/drawing/2014/main" id="{14D05166-2380-6105-663A-B648D8DDF3B6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4105983" y="2334283"/>
            <a:ext cx="793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571;p114">
            <a:extLst>
              <a:ext uri="{FF2B5EF4-FFF2-40B4-BE49-F238E27FC236}">
                <a16:creationId xmlns:a16="http://schemas.microsoft.com/office/drawing/2014/main" id="{78E87B38-70B9-9C99-D1F4-532535E0E688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393593" y="2334283"/>
            <a:ext cx="557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572;p114">
            <a:extLst>
              <a:ext uri="{FF2B5EF4-FFF2-40B4-BE49-F238E27FC236}">
                <a16:creationId xmlns:a16="http://schemas.microsoft.com/office/drawing/2014/main" id="{F139DCA1-444B-E84E-70E1-1C768A6E02DD}"/>
              </a:ext>
            </a:extLst>
          </p:cNvPr>
          <p:cNvSpPr txBox="1"/>
          <p:nvPr/>
        </p:nvSpPr>
        <p:spPr>
          <a:xfrm>
            <a:off x="3860583" y="186838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573;p114">
            <a:extLst>
              <a:ext uri="{FF2B5EF4-FFF2-40B4-BE49-F238E27FC236}">
                <a16:creationId xmlns:a16="http://schemas.microsoft.com/office/drawing/2014/main" id="{B49DDBF1-31A1-1D6B-E8B1-B308E0492ABA}"/>
              </a:ext>
            </a:extLst>
          </p:cNvPr>
          <p:cNvSpPr txBox="1"/>
          <p:nvPr/>
        </p:nvSpPr>
        <p:spPr>
          <a:xfrm>
            <a:off x="6824783" y="1868383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574;p114">
            <a:extLst>
              <a:ext uri="{FF2B5EF4-FFF2-40B4-BE49-F238E27FC236}">
                <a16:creationId xmlns:a16="http://schemas.microsoft.com/office/drawing/2014/main" id="{CBF305EE-B92F-0E36-07CF-0701BB998D63}"/>
              </a:ext>
            </a:extLst>
          </p:cNvPr>
          <p:cNvSpPr/>
          <p:nvPr/>
        </p:nvSpPr>
        <p:spPr>
          <a:xfrm>
            <a:off x="1965933" y="290344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1575;p114">
            <a:extLst>
              <a:ext uri="{FF2B5EF4-FFF2-40B4-BE49-F238E27FC236}">
                <a16:creationId xmlns:a16="http://schemas.microsoft.com/office/drawing/2014/main" id="{F6936932-913F-0F8B-F8A8-6ABAA8137933}"/>
              </a:ext>
            </a:extLst>
          </p:cNvPr>
          <p:cNvSpPr/>
          <p:nvPr/>
        </p:nvSpPr>
        <p:spPr>
          <a:xfrm>
            <a:off x="1965933" y="330878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" name="Google Shape;1576;p114">
            <a:extLst>
              <a:ext uri="{FF2B5EF4-FFF2-40B4-BE49-F238E27FC236}">
                <a16:creationId xmlns:a16="http://schemas.microsoft.com/office/drawing/2014/main" id="{AB69DE93-6166-21D0-7A37-22E8E5BC3D89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rot="10800000">
            <a:off x="2974683" y="2674246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577;p114">
            <a:extLst>
              <a:ext uri="{FF2B5EF4-FFF2-40B4-BE49-F238E27FC236}">
                <a16:creationId xmlns:a16="http://schemas.microsoft.com/office/drawing/2014/main" id="{A80FEE86-6603-4FC0-9ABE-B21FF4B241F1}"/>
              </a:ext>
            </a:extLst>
          </p:cNvPr>
          <p:cNvSpPr/>
          <p:nvPr/>
        </p:nvSpPr>
        <p:spPr>
          <a:xfrm>
            <a:off x="8073083" y="290344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2400" u="sng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1578;p114">
            <a:extLst>
              <a:ext uri="{FF2B5EF4-FFF2-40B4-BE49-F238E27FC236}">
                <a16:creationId xmlns:a16="http://schemas.microsoft.com/office/drawing/2014/main" id="{07A88265-872E-5B56-DA81-687AC6600EB6}"/>
              </a:ext>
            </a:extLst>
          </p:cNvPr>
          <p:cNvSpPr/>
          <p:nvPr/>
        </p:nvSpPr>
        <p:spPr>
          <a:xfrm>
            <a:off x="8073083" y="330878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1579;p114">
            <a:extLst>
              <a:ext uri="{FF2B5EF4-FFF2-40B4-BE49-F238E27FC236}">
                <a16:creationId xmlns:a16="http://schemas.microsoft.com/office/drawing/2014/main" id="{4210D45A-0CEF-9BCC-428C-E0E68AD173CD}"/>
              </a:ext>
            </a:extLst>
          </p:cNvPr>
          <p:cNvSpPr/>
          <p:nvPr/>
        </p:nvSpPr>
        <p:spPr>
          <a:xfrm>
            <a:off x="8073083" y="372240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No. Créditos</a:t>
            </a:r>
            <a:endParaRPr sz="17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1580;p114">
            <a:extLst>
              <a:ext uri="{FF2B5EF4-FFF2-40B4-BE49-F238E27FC236}">
                <a16:creationId xmlns:a16="http://schemas.microsoft.com/office/drawing/2014/main" id="{1FA9B76D-5F4C-D8F2-1FC6-FBC25345E85E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rot="10800000">
            <a:off x="9081833" y="2674246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581;p114">
            <a:extLst>
              <a:ext uri="{FF2B5EF4-FFF2-40B4-BE49-F238E27FC236}">
                <a16:creationId xmlns:a16="http://schemas.microsoft.com/office/drawing/2014/main" id="{0775ED7D-1F0B-95B0-9F4A-3AFBEB3FC180}"/>
              </a:ext>
            </a:extLst>
          </p:cNvPr>
          <p:cNvSpPr/>
          <p:nvPr/>
        </p:nvSpPr>
        <p:spPr>
          <a:xfrm>
            <a:off x="5137983" y="330877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Nota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9" name="Google Shape;1582;p114">
            <a:extLst>
              <a:ext uri="{FF2B5EF4-FFF2-40B4-BE49-F238E27FC236}">
                <a16:creationId xmlns:a16="http://schemas.microsoft.com/office/drawing/2014/main" id="{FAA0474E-4373-AA1B-B5EB-E65942B0A840}"/>
              </a:ext>
            </a:extLst>
          </p:cNvPr>
          <p:cNvCxnSpPr>
            <a:stCxn id="18" idx="0"/>
            <a:endCxn id="6" idx="2"/>
          </p:cNvCxnSpPr>
          <p:nvPr/>
        </p:nvCxnSpPr>
        <p:spPr>
          <a:xfrm rot="10800000">
            <a:off x="6146733" y="2875871"/>
            <a:ext cx="0" cy="432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583;p114">
            <a:extLst>
              <a:ext uri="{FF2B5EF4-FFF2-40B4-BE49-F238E27FC236}">
                <a16:creationId xmlns:a16="http://schemas.microsoft.com/office/drawing/2014/main" id="{72EA003B-49D3-6EAC-334C-3B6D128307A0}"/>
              </a:ext>
            </a:extLst>
          </p:cNvPr>
          <p:cNvCxnSpPr/>
          <p:nvPr/>
        </p:nvCxnSpPr>
        <p:spPr>
          <a:xfrm rot="10800000">
            <a:off x="4116968" y="5399693"/>
            <a:ext cx="38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586;p114">
            <a:extLst>
              <a:ext uri="{FF2B5EF4-FFF2-40B4-BE49-F238E27FC236}">
                <a16:creationId xmlns:a16="http://schemas.microsoft.com/office/drawing/2014/main" id="{22E3E985-64D8-D0AE-34C2-B35C8881A47E}"/>
              </a:ext>
            </a:extLst>
          </p:cNvPr>
          <p:cNvCxnSpPr/>
          <p:nvPr/>
        </p:nvCxnSpPr>
        <p:spPr>
          <a:xfrm flipH="1">
            <a:off x="7682858" y="5237168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587;p114">
            <a:extLst>
              <a:ext uri="{FF2B5EF4-FFF2-40B4-BE49-F238E27FC236}">
                <a16:creationId xmlns:a16="http://schemas.microsoft.com/office/drawing/2014/main" id="{B3B4FE49-3C55-5831-00EE-B968FEA580E4}"/>
              </a:ext>
            </a:extLst>
          </p:cNvPr>
          <p:cNvCxnSpPr/>
          <p:nvPr/>
        </p:nvCxnSpPr>
        <p:spPr>
          <a:xfrm rot="10800000">
            <a:off x="7722883" y="5411343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588;p114">
            <a:extLst>
              <a:ext uri="{FF2B5EF4-FFF2-40B4-BE49-F238E27FC236}">
                <a16:creationId xmlns:a16="http://schemas.microsoft.com/office/drawing/2014/main" id="{1053564F-D2A4-2527-1C54-A158A0206559}"/>
              </a:ext>
            </a:extLst>
          </p:cNvPr>
          <p:cNvCxnSpPr/>
          <p:nvPr/>
        </p:nvCxnSpPr>
        <p:spPr>
          <a:xfrm>
            <a:off x="4116958" y="5238956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589;p114">
            <a:extLst>
              <a:ext uri="{FF2B5EF4-FFF2-40B4-BE49-F238E27FC236}">
                <a16:creationId xmlns:a16="http://schemas.microsoft.com/office/drawing/2014/main" id="{F375B716-D268-5C7C-65F2-6F57029530A1}"/>
              </a:ext>
            </a:extLst>
          </p:cNvPr>
          <p:cNvCxnSpPr/>
          <p:nvPr/>
        </p:nvCxnSpPr>
        <p:spPr>
          <a:xfrm rot="10800000" flipH="1">
            <a:off x="4130333" y="5413131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1590;p114">
            <a:extLst>
              <a:ext uri="{FF2B5EF4-FFF2-40B4-BE49-F238E27FC236}">
                <a16:creationId xmlns:a16="http://schemas.microsoft.com/office/drawing/2014/main" id="{77E64303-18D2-2D67-B782-BECE43BA5E63}"/>
              </a:ext>
            </a:extLst>
          </p:cNvPr>
          <p:cNvSpPr/>
          <p:nvPr/>
        </p:nvSpPr>
        <p:spPr>
          <a:xfrm>
            <a:off x="4384858" y="5265743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1591;p114">
            <a:extLst>
              <a:ext uri="{FF2B5EF4-FFF2-40B4-BE49-F238E27FC236}">
                <a16:creationId xmlns:a16="http://schemas.microsoft.com/office/drawing/2014/main" id="{CB86586C-30DB-4BA8-E63B-CF74E9F1B83F}"/>
              </a:ext>
            </a:extLst>
          </p:cNvPr>
          <p:cNvSpPr/>
          <p:nvPr/>
        </p:nvSpPr>
        <p:spPr>
          <a:xfrm>
            <a:off x="7452808" y="5265743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" name="Google Shape;1592;p114">
            <a:extLst>
              <a:ext uri="{FF2B5EF4-FFF2-40B4-BE49-F238E27FC236}">
                <a16:creationId xmlns:a16="http://schemas.microsoft.com/office/drawing/2014/main" id="{05B1308F-7F30-C437-BBD2-F83BFB5B9026}"/>
              </a:ext>
            </a:extLst>
          </p:cNvPr>
          <p:cNvSpPr txBox="1"/>
          <p:nvPr/>
        </p:nvSpPr>
        <p:spPr>
          <a:xfrm>
            <a:off x="5205433" y="4799843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8" name="table">
            <a:extLst>
              <a:ext uri="{FF2B5EF4-FFF2-40B4-BE49-F238E27FC236}">
                <a16:creationId xmlns:a16="http://schemas.microsoft.com/office/drawing/2014/main" id="{53FF9AEE-149F-8BA4-7D27-408DCCEA1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08" y="4799268"/>
            <a:ext cx="2017500" cy="1371510"/>
          </a:xfrm>
          <a:prstGeom prst="rect">
            <a:avLst/>
          </a:prstGeom>
        </p:spPr>
      </p:pic>
      <p:pic>
        <p:nvPicPr>
          <p:cNvPr id="29" name="table">
            <a:extLst>
              <a:ext uri="{FF2B5EF4-FFF2-40B4-BE49-F238E27FC236}">
                <a16:creationId xmlns:a16="http://schemas.microsoft.com/office/drawing/2014/main" id="{657F38CC-7B46-BB96-86DE-F360E8A3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558" y="4799843"/>
            <a:ext cx="2017500" cy="18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21CA6-37DB-0B96-B61B-F4A552E1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Google Shape;1600;p115">
            <a:extLst>
              <a:ext uri="{FF2B5EF4-FFF2-40B4-BE49-F238E27FC236}">
                <a16:creationId xmlns:a16="http://schemas.microsoft.com/office/drawing/2014/main" id="{5326C4A5-5B9A-4590-651D-6BAA9E996DA7}"/>
              </a:ext>
            </a:extLst>
          </p:cNvPr>
          <p:cNvSpPr/>
          <p:nvPr/>
        </p:nvSpPr>
        <p:spPr>
          <a:xfrm>
            <a:off x="1843539" y="199423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Pessoa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1601;p115">
            <a:extLst>
              <a:ext uri="{FF2B5EF4-FFF2-40B4-BE49-F238E27FC236}">
                <a16:creationId xmlns:a16="http://schemas.microsoft.com/office/drawing/2014/main" id="{C7F365FB-3A2A-83FC-3567-0A1EC19783F7}"/>
              </a:ext>
            </a:extLst>
          </p:cNvPr>
          <p:cNvSpPr/>
          <p:nvPr/>
        </p:nvSpPr>
        <p:spPr>
          <a:xfrm>
            <a:off x="7950694" y="1994233"/>
            <a:ext cx="2262300" cy="680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Disciplina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1602;p115">
            <a:extLst>
              <a:ext uri="{FF2B5EF4-FFF2-40B4-BE49-F238E27FC236}">
                <a16:creationId xmlns:a16="http://schemas.microsoft.com/office/drawing/2014/main" id="{0AFF0599-BED1-EFC1-8AD8-A05BF74BF395}"/>
              </a:ext>
            </a:extLst>
          </p:cNvPr>
          <p:cNvSpPr/>
          <p:nvPr/>
        </p:nvSpPr>
        <p:spPr>
          <a:xfrm>
            <a:off x="4899784" y="1792633"/>
            <a:ext cx="2493900" cy="108330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1603;p115">
            <a:extLst>
              <a:ext uri="{FF2B5EF4-FFF2-40B4-BE49-F238E27FC236}">
                <a16:creationId xmlns:a16="http://schemas.microsoft.com/office/drawing/2014/main" id="{66ABAE55-2CF2-CD0A-5857-C73DA236DCAE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>
            <a:off x="4105984" y="2334283"/>
            <a:ext cx="793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604;p115">
            <a:extLst>
              <a:ext uri="{FF2B5EF4-FFF2-40B4-BE49-F238E27FC236}">
                <a16:creationId xmlns:a16="http://schemas.microsoft.com/office/drawing/2014/main" id="{ECC86D30-40DA-2670-3CB6-D6D383BE4EA4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393594" y="2334283"/>
            <a:ext cx="557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05;p115">
            <a:extLst>
              <a:ext uri="{FF2B5EF4-FFF2-40B4-BE49-F238E27FC236}">
                <a16:creationId xmlns:a16="http://schemas.microsoft.com/office/drawing/2014/main" id="{8F2AB9F5-A949-B6B2-5D29-A0BCB95287A6}"/>
              </a:ext>
            </a:extLst>
          </p:cNvPr>
          <p:cNvSpPr txBox="1"/>
          <p:nvPr/>
        </p:nvSpPr>
        <p:spPr>
          <a:xfrm>
            <a:off x="3860584" y="1868383"/>
            <a:ext cx="1284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606;p115">
            <a:extLst>
              <a:ext uri="{FF2B5EF4-FFF2-40B4-BE49-F238E27FC236}">
                <a16:creationId xmlns:a16="http://schemas.microsoft.com/office/drawing/2014/main" id="{70559D28-4A52-F2A8-1FE5-BEC4A291A2CD}"/>
              </a:ext>
            </a:extLst>
          </p:cNvPr>
          <p:cNvSpPr txBox="1"/>
          <p:nvPr/>
        </p:nvSpPr>
        <p:spPr>
          <a:xfrm>
            <a:off x="6824784" y="1868383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endParaRPr sz="2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1607;p115">
            <a:extLst>
              <a:ext uri="{FF2B5EF4-FFF2-40B4-BE49-F238E27FC236}">
                <a16:creationId xmlns:a16="http://schemas.microsoft.com/office/drawing/2014/main" id="{4BF67DF2-4B87-366B-FDF6-DCCACE869DED}"/>
              </a:ext>
            </a:extLst>
          </p:cNvPr>
          <p:cNvSpPr/>
          <p:nvPr/>
        </p:nvSpPr>
        <p:spPr>
          <a:xfrm>
            <a:off x="1965934" y="290344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1608;p115">
            <a:extLst>
              <a:ext uri="{FF2B5EF4-FFF2-40B4-BE49-F238E27FC236}">
                <a16:creationId xmlns:a16="http://schemas.microsoft.com/office/drawing/2014/main" id="{D9650F3F-C633-99C3-0F39-30CDD3064ADA}"/>
              </a:ext>
            </a:extLst>
          </p:cNvPr>
          <p:cNvSpPr/>
          <p:nvPr/>
        </p:nvSpPr>
        <p:spPr>
          <a:xfrm>
            <a:off x="1965934" y="330878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" name="Google Shape;1609;p115">
            <a:extLst>
              <a:ext uri="{FF2B5EF4-FFF2-40B4-BE49-F238E27FC236}">
                <a16:creationId xmlns:a16="http://schemas.microsoft.com/office/drawing/2014/main" id="{956B5785-362D-30C6-14CD-396EF6D2ABA2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rot="10800000">
            <a:off x="2974684" y="2674246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610;p115">
            <a:extLst>
              <a:ext uri="{FF2B5EF4-FFF2-40B4-BE49-F238E27FC236}">
                <a16:creationId xmlns:a16="http://schemas.microsoft.com/office/drawing/2014/main" id="{8F29383C-D46D-D1C3-72D4-76FC88A56D75}"/>
              </a:ext>
            </a:extLst>
          </p:cNvPr>
          <p:cNvSpPr/>
          <p:nvPr/>
        </p:nvSpPr>
        <p:spPr>
          <a:xfrm>
            <a:off x="8073084" y="290344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Sigla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1611;p115">
            <a:extLst>
              <a:ext uri="{FF2B5EF4-FFF2-40B4-BE49-F238E27FC236}">
                <a16:creationId xmlns:a16="http://schemas.microsoft.com/office/drawing/2014/main" id="{E68D9826-3477-EEF2-AD2A-AF1EC6F9B227}"/>
              </a:ext>
            </a:extLst>
          </p:cNvPr>
          <p:cNvSpPr/>
          <p:nvPr/>
        </p:nvSpPr>
        <p:spPr>
          <a:xfrm>
            <a:off x="8073084" y="330878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1612;p115">
            <a:extLst>
              <a:ext uri="{FF2B5EF4-FFF2-40B4-BE49-F238E27FC236}">
                <a16:creationId xmlns:a16="http://schemas.microsoft.com/office/drawing/2014/main" id="{61C90373-ACA8-F204-4807-758712368371}"/>
              </a:ext>
            </a:extLst>
          </p:cNvPr>
          <p:cNvSpPr/>
          <p:nvPr/>
        </p:nvSpPr>
        <p:spPr>
          <a:xfrm>
            <a:off x="8073084" y="372240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No. Créditos</a:t>
            </a:r>
            <a:endParaRPr sz="17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" name="Google Shape;1613;p115">
            <a:extLst>
              <a:ext uri="{FF2B5EF4-FFF2-40B4-BE49-F238E27FC236}">
                <a16:creationId xmlns:a16="http://schemas.microsoft.com/office/drawing/2014/main" id="{E14C8421-93E9-0B49-C57D-860272019F0E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rot="10800000">
            <a:off x="9081834" y="2674246"/>
            <a:ext cx="0" cy="2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614;p115">
            <a:extLst>
              <a:ext uri="{FF2B5EF4-FFF2-40B4-BE49-F238E27FC236}">
                <a16:creationId xmlns:a16="http://schemas.microsoft.com/office/drawing/2014/main" id="{FF80CC9B-C286-1139-4BCA-C762813D22A8}"/>
              </a:ext>
            </a:extLst>
          </p:cNvPr>
          <p:cNvSpPr/>
          <p:nvPr/>
        </p:nvSpPr>
        <p:spPr>
          <a:xfrm>
            <a:off x="5137984" y="330877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Nota</a:t>
            </a:r>
            <a:endParaRPr sz="240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9" name="Google Shape;1615;p115">
            <a:extLst>
              <a:ext uri="{FF2B5EF4-FFF2-40B4-BE49-F238E27FC236}">
                <a16:creationId xmlns:a16="http://schemas.microsoft.com/office/drawing/2014/main" id="{5AB3D9FB-73F6-645D-C5AB-E317DB22D394}"/>
              </a:ext>
            </a:extLst>
          </p:cNvPr>
          <p:cNvCxnSpPr>
            <a:stCxn id="18" idx="0"/>
            <a:endCxn id="6" idx="2"/>
          </p:cNvCxnSpPr>
          <p:nvPr/>
        </p:nvCxnSpPr>
        <p:spPr>
          <a:xfrm rot="10800000">
            <a:off x="6146734" y="2875871"/>
            <a:ext cx="0" cy="432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16;p115">
            <a:extLst>
              <a:ext uri="{FF2B5EF4-FFF2-40B4-BE49-F238E27FC236}">
                <a16:creationId xmlns:a16="http://schemas.microsoft.com/office/drawing/2014/main" id="{0C909A32-45C8-061C-8E87-8AB366EBB2DF}"/>
              </a:ext>
            </a:extLst>
          </p:cNvPr>
          <p:cNvCxnSpPr/>
          <p:nvPr/>
        </p:nvCxnSpPr>
        <p:spPr>
          <a:xfrm rot="10800000">
            <a:off x="4116969" y="5309381"/>
            <a:ext cx="38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19;p115">
            <a:extLst>
              <a:ext uri="{FF2B5EF4-FFF2-40B4-BE49-F238E27FC236}">
                <a16:creationId xmlns:a16="http://schemas.microsoft.com/office/drawing/2014/main" id="{0F636CE0-0863-39E4-FD5D-11214695DB0E}"/>
              </a:ext>
            </a:extLst>
          </p:cNvPr>
          <p:cNvCxnSpPr/>
          <p:nvPr/>
        </p:nvCxnSpPr>
        <p:spPr>
          <a:xfrm flipH="1">
            <a:off x="7682859" y="5146856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20;p115">
            <a:extLst>
              <a:ext uri="{FF2B5EF4-FFF2-40B4-BE49-F238E27FC236}">
                <a16:creationId xmlns:a16="http://schemas.microsoft.com/office/drawing/2014/main" id="{1EF40674-72C7-AE51-D25F-F010AD761A87}"/>
              </a:ext>
            </a:extLst>
          </p:cNvPr>
          <p:cNvCxnSpPr/>
          <p:nvPr/>
        </p:nvCxnSpPr>
        <p:spPr>
          <a:xfrm rot="10800000">
            <a:off x="7722884" y="5321031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21;p115">
            <a:extLst>
              <a:ext uri="{FF2B5EF4-FFF2-40B4-BE49-F238E27FC236}">
                <a16:creationId xmlns:a16="http://schemas.microsoft.com/office/drawing/2014/main" id="{8F5EAF6F-3EBB-3620-7B2B-A5D4E5CB3C5C}"/>
              </a:ext>
            </a:extLst>
          </p:cNvPr>
          <p:cNvCxnSpPr/>
          <p:nvPr/>
        </p:nvCxnSpPr>
        <p:spPr>
          <a:xfrm>
            <a:off x="4116959" y="5148644"/>
            <a:ext cx="267900" cy="17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622;p115">
            <a:extLst>
              <a:ext uri="{FF2B5EF4-FFF2-40B4-BE49-F238E27FC236}">
                <a16:creationId xmlns:a16="http://schemas.microsoft.com/office/drawing/2014/main" id="{AA7FFDAA-1504-A2F6-8D6A-29DBC55F2586}"/>
              </a:ext>
            </a:extLst>
          </p:cNvPr>
          <p:cNvCxnSpPr/>
          <p:nvPr/>
        </p:nvCxnSpPr>
        <p:spPr>
          <a:xfrm rot="10800000" flipH="1">
            <a:off x="4130334" y="5322819"/>
            <a:ext cx="214500" cy="14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1623;p115">
            <a:extLst>
              <a:ext uri="{FF2B5EF4-FFF2-40B4-BE49-F238E27FC236}">
                <a16:creationId xmlns:a16="http://schemas.microsoft.com/office/drawing/2014/main" id="{BA22799C-71AD-CBCB-DD0E-E4C02AC7E1D4}"/>
              </a:ext>
            </a:extLst>
          </p:cNvPr>
          <p:cNvSpPr/>
          <p:nvPr/>
        </p:nvSpPr>
        <p:spPr>
          <a:xfrm>
            <a:off x="4384859" y="5175431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1624;p115">
            <a:extLst>
              <a:ext uri="{FF2B5EF4-FFF2-40B4-BE49-F238E27FC236}">
                <a16:creationId xmlns:a16="http://schemas.microsoft.com/office/drawing/2014/main" id="{4DB5C7BC-8CF6-F4BB-DA1B-A2FE090BBCB3}"/>
              </a:ext>
            </a:extLst>
          </p:cNvPr>
          <p:cNvSpPr/>
          <p:nvPr/>
        </p:nvSpPr>
        <p:spPr>
          <a:xfrm>
            <a:off x="7452809" y="5175431"/>
            <a:ext cx="267900" cy="2679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" name="Google Shape;1625;p115">
            <a:extLst>
              <a:ext uri="{FF2B5EF4-FFF2-40B4-BE49-F238E27FC236}">
                <a16:creationId xmlns:a16="http://schemas.microsoft.com/office/drawing/2014/main" id="{BF61FC5C-7F5D-2FC8-D20E-3D498FF23CB4}"/>
              </a:ext>
            </a:extLst>
          </p:cNvPr>
          <p:cNvSpPr txBox="1"/>
          <p:nvPr/>
        </p:nvSpPr>
        <p:spPr>
          <a:xfrm>
            <a:off x="5205434" y="4709531"/>
            <a:ext cx="169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FC5E8"/>
                </a:solidFill>
                <a:latin typeface="Play"/>
                <a:ea typeface="Play"/>
                <a:cs typeface="Play"/>
                <a:sym typeface="Play"/>
              </a:rPr>
              <a:t>Cursa</a:t>
            </a:r>
            <a:endParaRPr sz="2400">
              <a:solidFill>
                <a:srgbClr val="9FC5E8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8" name="table">
            <a:extLst>
              <a:ext uri="{FF2B5EF4-FFF2-40B4-BE49-F238E27FC236}">
                <a16:creationId xmlns:a16="http://schemas.microsoft.com/office/drawing/2014/main" id="{318CD214-AC86-2BEB-D3D0-0069B831C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09" y="4708956"/>
            <a:ext cx="2017500" cy="1371510"/>
          </a:xfrm>
          <a:prstGeom prst="rect">
            <a:avLst/>
          </a:prstGeom>
        </p:spPr>
      </p:pic>
      <p:pic>
        <p:nvPicPr>
          <p:cNvPr id="29" name="table">
            <a:extLst>
              <a:ext uri="{FF2B5EF4-FFF2-40B4-BE49-F238E27FC236}">
                <a16:creationId xmlns:a16="http://schemas.microsoft.com/office/drawing/2014/main" id="{C83CE469-94C1-8AFD-C705-9F8F6D0B1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559" y="4709531"/>
            <a:ext cx="2273425" cy="18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43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C6FAE-83ED-7B21-36CE-84C9F0D0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Notação UML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8DF6E-984D-C0CD-5691-026F596D4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2356" y="1825625"/>
            <a:ext cx="4501444" cy="4351338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pt-BR" dirty="0"/>
              <a:t>Classe </a:t>
            </a:r>
            <a:r>
              <a:rPr lang="pt-BR" dirty="0">
                <a:sym typeface="Wingdings" panose="05000000000000000000" pitchFamily="2" charset="2"/>
              </a:rPr>
              <a:t> Tipo de Entidade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Nome da classe  Nome da Entidade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Atributos  Atributos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Operações  não existe no DER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Associações  Relacionamentos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591075-36E2-88B3-5B0C-63A19E073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62053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3227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0E19-C584-7908-6E15-B877F7320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332D6C-936C-23C7-0D56-A1E102F7F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pt-BR" sz="2200" dirty="0"/>
              <a:t>Notação de Chen:</a:t>
            </a: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◆"/>
            </a:pPr>
            <a:r>
              <a:rPr lang="pt-BR" sz="2200" u="sng" dirty="0">
                <a:solidFill>
                  <a:schemeClr val="hlink"/>
                </a:solidFill>
                <a:hlinkClick r:id="rId2"/>
              </a:rPr>
              <a:t>https://www.figma.com/</a:t>
            </a:r>
            <a:endParaRPr lang="pt-BR"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◆"/>
            </a:pPr>
            <a:r>
              <a:rPr lang="pt-BR" sz="2200" u="sng" dirty="0">
                <a:solidFill>
                  <a:schemeClr val="hlink"/>
                </a:solidFill>
                <a:hlinkClick r:id="rId3"/>
              </a:rPr>
              <a:t>https://online.visual-paradigm.com/</a:t>
            </a:r>
            <a:endParaRPr lang="pt-BR" sz="2200" dirty="0"/>
          </a:p>
          <a:p>
            <a:pPr marL="457200" lvl="0" indent="-368300" algn="l" rtl="0">
              <a:spcBef>
                <a:spcPts val="1800"/>
              </a:spcBef>
              <a:spcAft>
                <a:spcPts val="0"/>
              </a:spcAft>
              <a:buSzPts val="2200"/>
              <a:buChar char="➔"/>
            </a:pPr>
            <a:r>
              <a:rPr lang="pt-BR" sz="2200" dirty="0"/>
              <a:t>Notação de Martin:</a:t>
            </a: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◆"/>
            </a:pPr>
            <a:r>
              <a:rPr lang="pt-BR" sz="2200" u="sng" dirty="0">
                <a:solidFill>
                  <a:schemeClr val="hlink"/>
                </a:solidFill>
                <a:hlinkClick r:id="rId4"/>
              </a:rPr>
              <a:t>https://app.diagrams.net/</a:t>
            </a:r>
            <a:endParaRPr lang="pt-BR"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◆"/>
            </a:pPr>
            <a:r>
              <a:rPr lang="pt-BR" sz="22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https://lucid.app/lucidchart</a:t>
            </a:r>
            <a:endParaRPr lang="pt-BR"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◆"/>
            </a:pPr>
            <a:r>
              <a:rPr lang="pt-BR" sz="2200" u="sng" dirty="0">
                <a:solidFill>
                  <a:schemeClr val="hlink"/>
                </a:solidFill>
                <a:hlinkClick r:id="rId6"/>
              </a:rPr>
              <a:t>https://dbdiagram.io/</a:t>
            </a:r>
            <a:endParaRPr lang="pt-BR"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◆"/>
            </a:pPr>
            <a:r>
              <a:rPr lang="pt-BR" sz="2200" u="sng" dirty="0">
                <a:solidFill>
                  <a:schemeClr val="hlink"/>
                </a:solidFill>
                <a:hlinkClick r:id="rId7"/>
              </a:rPr>
              <a:t>https://gitmind.com/app/</a:t>
            </a:r>
            <a:endParaRPr lang="pt-BR" sz="2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838587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3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70639</TotalTime>
  <Words>4458</Words>
  <Application>Microsoft Office PowerPoint</Application>
  <PresentationFormat>Widescreen</PresentationFormat>
  <Paragraphs>1111</Paragraphs>
  <Slides>117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117</vt:i4>
      </vt:variant>
    </vt:vector>
  </HeadingPairs>
  <TitlesOfParts>
    <vt:vector size="125" baseType="lpstr">
      <vt:lpstr>Aptos Narrow</vt:lpstr>
      <vt:lpstr>Arial</vt:lpstr>
      <vt:lpstr>Calibri</vt:lpstr>
      <vt:lpstr>Calibri Light</vt:lpstr>
      <vt:lpstr>DejaVuSans</vt:lpstr>
      <vt:lpstr>Play</vt:lpstr>
      <vt:lpstr>Wingdings</vt:lpstr>
      <vt:lpstr>Tema do Office</vt:lpstr>
      <vt:lpstr>Apresentação do PowerPoint</vt:lpstr>
      <vt:lpstr>Apresentação do PowerPoint</vt:lpstr>
      <vt:lpstr>Avaliação</vt:lpstr>
      <vt:lpstr>Planejamento da disciplina</vt:lpstr>
      <vt:lpstr>Atividade – Projeto de BD</vt:lpstr>
      <vt:lpstr>Na aula anterior, vimos...</vt:lpstr>
      <vt:lpstr>Agenda</vt:lpstr>
      <vt:lpstr>Modelagem conceitual</vt:lpstr>
      <vt:lpstr>Modelagem conceitual</vt:lpstr>
      <vt:lpstr>Abstração dos dados</vt:lpstr>
      <vt:lpstr>Projeto de BD Relacional</vt:lpstr>
      <vt:lpstr>Projeto de BD Relacional</vt:lpstr>
      <vt:lpstr>Motivação</vt:lpstr>
      <vt:lpstr>Motivação</vt:lpstr>
      <vt:lpstr>Motivação</vt:lpstr>
      <vt:lpstr>Processo de projeto de BD</vt:lpstr>
      <vt:lpstr>Processo de projeto de BD</vt:lpstr>
      <vt:lpstr>Processo de projeto de BD</vt:lpstr>
      <vt:lpstr>Processo de projeto de BD</vt:lpstr>
      <vt:lpstr>Processo de projeto de BD</vt:lpstr>
      <vt:lpstr>Processo de projeto de BD</vt:lpstr>
      <vt:lpstr>Agenda</vt:lpstr>
      <vt:lpstr>Modelo Entidade-Relacionamento</vt:lpstr>
      <vt:lpstr>Modelo Entidade-Relacionamento</vt:lpstr>
      <vt:lpstr>Modelo Entidade-Relacionamento</vt:lpstr>
      <vt:lpstr>Modelo Entidade-Relacionamento</vt:lpstr>
      <vt:lpstr>Agenda</vt:lpstr>
      <vt:lpstr>Entidades</vt:lpstr>
      <vt:lpstr>Entidades</vt:lpstr>
      <vt:lpstr>Conjunto de Entidades</vt:lpstr>
      <vt:lpstr>Conjunto de Entidades</vt:lpstr>
      <vt:lpstr>Conceitos sobre Entidades</vt:lpstr>
      <vt:lpstr>Agenda</vt:lpstr>
      <vt:lpstr>Conjunto de Relacionamentos</vt:lpstr>
      <vt:lpstr>Conjunto de Relacionamentos</vt:lpstr>
      <vt:lpstr>Conjunto de Relacionamentos</vt:lpstr>
      <vt:lpstr>Conjunto de Relacionamentos</vt:lpstr>
      <vt:lpstr>Conjunto de Relacionamentos</vt:lpstr>
      <vt:lpstr>Conjunto de Relacionamentos</vt:lpstr>
      <vt:lpstr>Conjunto de Relacionamentos</vt:lpstr>
      <vt:lpstr>Cardinalidade</vt:lpstr>
      <vt:lpstr>Cardinalidade</vt:lpstr>
      <vt:lpstr>Cardinalidades máxima e mínima</vt:lpstr>
      <vt:lpstr>Cardinalidades máxima e mínima</vt:lpstr>
      <vt:lpstr>Agenda</vt:lpstr>
      <vt:lpstr>Atributos</vt:lpstr>
      <vt:lpstr>Atributos</vt:lpstr>
      <vt:lpstr>Entidades e atributos</vt:lpstr>
      <vt:lpstr>Tipos de atributos</vt:lpstr>
      <vt:lpstr>Tipos de atributos</vt:lpstr>
      <vt:lpstr>Atributo composto</vt:lpstr>
      <vt:lpstr>Atributo composto</vt:lpstr>
      <vt:lpstr>Valores dos atributos</vt:lpstr>
      <vt:lpstr>Origem dos valores</vt:lpstr>
      <vt:lpstr>Origem dos valores</vt:lpstr>
      <vt:lpstr>Origem dos valores</vt:lpstr>
      <vt:lpstr>Valores NULL</vt:lpstr>
      <vt:lpstr>Atributos complexos</vt:lpstr>
      <vt:lpstr>Restrição de Unicidade - Chave</vt:lpstr>
      <vt:lpstr>Restrição de Unicidade - Chave</vt:lpstr>
      <vt:lpstr>Restrição de Unicidade - Chave</vt:lpstr>
      <vt:lpstr>Restrição de Unicidade - Chave</vt:lpstr>
      <vt:lpstr>Apresentação do PowerPoint</vt:lpstr>
      <vt:lpstr>Apresentação do PowerPoint</vt:lpstr>
      <vt:lpstr>Agenda</vt:lpstr>
      <vt:lpstr>Agenda</vt:lpstr>
      <vt:lpstr>Conjunto de Relacionamentos</vt:lpstr>
      <vt:lpstr>Conjunto de Relacionamentos</vt:lpstr>
      <vt:lpstr>MER – Restrição de Participação</vt:lpstr>
      <vt:lpstr>MER – Restrição de Participação</vt:lpstr>
      <vt:lpstr>MER – Restrição de Participação</vt:lpstr>
      <vt:lpstr>MER – Restrição de Participação</vt:lpstr>
      <vt:lpstr>MER – Grau do Conjunto de Relacionamentos</vt:lpstr>
      <vt:lpstr>MER – Grau do Conjunto de Relacionamentos</vt:lpstr>
      <vt:lpstr>MER – Cardinalidade do CR</vt:lpstr>
      <vt:lpstr>MER - Relacionamento Ternário - Cardinalidade</vt:lpstr>
      <vt:lpstr>MER - Relacionamento Ternário - Cardinalidade</vt:lpstr>
      <vt:lpstr>MER - Relacionamento Ternário - Cardinalidade</vt:lpstr>
      <vt:lpstr>MER - Relacionamento Ternário</vt:lpstr>
      <vt:lpstr>MER - Relacionamento Ternário</vt:lpstr>
      <vt:lpstr>MER - Relacionamento Ternário - Cardinalidade</vt:lpstr>
      <vt:lpstr>MER - Relacionamento Ternário - Cardinalidade</vt:lpstr>
      <vt:lpstr>MER - Relacionamento Ternário</vt:lpstr>
      <vt:lpstr>MER - Relacionamento Ternário</vt:lpstr>
      <vt:lpstr>Agenda</vt:lpstr>
      <vt:lpstr>MER - Conjunto de Relacionamentos</vt:lpstr>
      <vt:lpstr>MER - Entidade Fraca</vt:lpstr>
      <vt:lpstr>MER - Entidade Fraca</vt:lpstr>
      <vt:lpstr>MER - Entidade Fraca</vt:lpstr>
      <vt:lpstr>MER - Entidade Fraca</vt:lpstr>
      <vt:lpstr>MER - Entidade Fraca</vt:lpstr>
      <vt:lpstr>MER - Entidade Fraca</vt:lpstr>
      <vt:lpstr>MER - Entidade Fraca</vt:lpstr>
      <vt:lpstr>MER - Entidade Fraca</vt:lpstr>
      <vt:lpstr>MER - Entidade Fraca</vt:lpstr>
      <vt:lpstr>MER - Entidade Fraca</vt:lpstr>
      <vt:lpstr>Agenda</vt:lpstr>
      <vt:lpstr>Boas práticas de modelagem</vt:lpstr>
      <vt:lpstr>Boas práticas de modelagem</vt:lpstr>
      <vt:lpstr>Escolhas do projeto para Modelagem Conceitual</vt:lpstr>
      <vt:lpstr>Escolhas do projeto para Modelagem Conceitual</vt:lpstr>
      <vt:lpstr>Agenda</vt:lpstr>
      <vt:lpstr>Notação de Chen</vt:lpstr>
      <vt:lpstr>Notação James Martin</vt:lpstr>
      <vt:lpstr>Comparação de notações</vt:lpstr>
      <vt:lpstr>Apresentação do PowerPoint</vt:lpstr>
      <vt:lpstr>Apresentação do PowerPoint</vt:lpstr>
      <vt:lpstr>Apresentação do PowerPoint</vt:lpstr>
      <vt:lpstr>Apresentação do PowerPoint</vt:lpstr>
      <vt:lpstr>DER – Notação de Chen</vt:lpstr>
      <vt:lpstr>DER – Notação de Chen</vt:lpstr>
      <vt:lpstr>DER – Notação James Martin</vt:lpstr>
      <vt:lpstr>Comparação entre notações</vt:lpstr>
      <vt:lpstr>Apresentação do PowerPoint</vt:lpstr>
      <vt:lpstr>Notação UML</vt:lpstr>
      <vt:lpstr>Ferramentas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1850</cp:revision>
  <dcterms:created xsi:type="dcterms:W3CDTF">2024-08-08T20:58:28Z</dcterms:created>
  <dcterms:modified xsi:type="dcterms:W3CDTF">2026-03-26T20:42:06Z</dcterms:modified>
</cp:coreProperties>
</file>