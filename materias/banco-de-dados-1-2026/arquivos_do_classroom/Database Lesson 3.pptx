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382" r:id="rId3"/>
    <p:sldId id="1081" r:id="rId4"/>
    <p:sldId id="1110" r:id="rId5"/>
    <p:sldId id="939" r:id="rId6"/>
    <p:sldId id="940" r:id="rId7"/>
    <p:sldId id="941" r:id="rId8"/>
    <p:sldId id="942" r:id="rId9"/>
    <p:sldId id="945" r:id="rId10"/>
    <p:sldId id="1054" r:id="rId11"/>
    <p:sldId id="1055" r:id="rId12"/>
    <p:sldId id="1056" r:id="rId13"/>
    <p:sldId id="1082" r:id="rId14"/>
    <p:sldId id="1060" r:id="rId15"/>
    <p:sldId id="1061" r:id="rId16"/>
    <p:sldId id="1051" r:id="rId17"/>
    <p:sldId id="1111" r:id="rId18"/>
    <p:sldId id="1064" r:id="rId19"/>
    <p:sldId id="1066" r:id="rId20"/>
    <p:sldId id="1065" r:id="rId21"/>
    <p:sldId id="1067" r:id="rId22"/>
    <p:sldId id="1068" r:id="rId23"/>
    <p:sldId id="1069" r:id="rId24"/>
    <p:sldId id="1070" r:id="rId25"/>
    <p:sldId id="1071" r:id="rId26"/>
    <p:sldId id="1072" r:id="rId27"/>
    <p:sldId id="1073" r:id="rId28"/>
    <p:sldId id="1074" r:id="rId29"/>
    <p:sldId id="1075" r:id="rId30"/>
    <p:sldId id="1076" r:id="rId31"/>
    <p:sldId id="1077" r:id="rId32"/>
    <p:sldId id="1078" r:id="rId33"/>
    <p:sldId id="1114" r:id="rId34"/>
    <p:sldId id="1079" r:id="rId35"/>
    <p:sldId id="1112" r:id="rId36"/>
    <p:sldId id="1080" r:id="rId37"/>
    <p:sldId id="1089" r:id="rId38"/>
    <p:sldId id="1085" r:id="rId39"/>
    <p:sldId id="1113" r:id="rId40"/>
    <p:sldId id="1086" r:id="rId41"/>
    <p:sldId id="1087" r:id="rId42"/>
    <p:sldId id="1088" r:id="rId43"/>
    <p:sldId id="1092" r:id="rId44"/>
    <p:sldId id="1090" r:id="rId45"/>
    <p:sldId id="1093" r:id="rId46"/>
    <p:sldId id="1096" r:id="rId47"/>
    <p:sldId id="1094" r:id="rId48"/>
    <p:sldId id="1091" r:id="rId49"/>
    <p:sldId id="1097" r:id="rId50"/>
    <p:sldId id="1098" r:id="rId51"/>
    <p:sldId id="1099" r:id="rId52"/>
    <p:sldId id="1100" r:id="rId53"/>
    <p:sldId id="1101" r:id="rId54"/>
    <p:sldId id="1102" r:id="rId55"/>
    <p:sldId id="1103" r:id="rId56"/>
    <p:sldId id="1105" r:id="rId57"/>
    <p:sldId id="1104" r:id="rId58"/>
    <p:sldId id="1106" r:id="rId59"/>
    <p:sldId id="1107" r:id="rId60"/>
    <p:sldId id="1108" r:id="rId61"/>
    <p:sldId id="1109" r:id="rId62"/>
    <p:sldId id="674" r:id="rId6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âmbulo" id="{4EC86D00-4420-4C6F-BCD1-3E1D9C03789E}">
          <p14:sldIdLst>
            <p14:sldId id="256"/>
            <p14:sldId id="382"/>
            <p14:sldId id="1081"/>
          </p14:sldIdLst>
        </p14:section>
        <p14:section name="Introdução" id="{14EFEFA0-C1A5-45D4-B781-AD9C2CA07C4B}">
          <p14:sldIdLst>
            <p14:sldId id="1110"/>
            <p14:sldId id="939"/>
            <p14:sldId id="940"/>
            <p14:sldId id="941"/>
            <p14:sldId id="942"/>
            <p14:sldId id="945"/>
            <p14:sldId id="1054"/>
            <p14:sldId id="1055"/>
            <p14:sldId id="1056"/>
          </p14:sldIdLst>
        </p14:section>
        <p14:section name="MER Estendido" id="{CA471486-148F-4C1F-B187-725726D4BFD3}">
          <p14:sldIdLst>
            <p14:sldId id="1082"/>
            <p14:sldId id="1060"/>
            <p14:sldId id="1061"/>
            <p14:sldId id="1051"/>
          </p14:sldIdLst>
        </p14:section>
        <p14:section name="Agregação" id="{63A7865A-984D-48F2-AA0B-547A86E07A05}">
          <p14:sldIdLst>
            <p14:sldId id="1111"/>
            <p14:sldId id="1064"/>
            <p14:sldId id="1066"/>
            <p14:sldId id="1065"/>
            <p14:sldId id="1067"/>
            <p14:sldId id="1068"/>
            <p14:sldId id="1069"/>
            <p14:sldId id="1070"/>
            <p14:sldId id="1071"/>
            <p14:sldId id="1072"/>
            <p14:sldId id="1073"/>
            <p14:sldId id="1074"/>
            <p14:sldId id="1075"/>
            <p14:sldId id="1076"/>
            <p14:sldId id="1077"/>
            <p14:sldId id="1078"/>
            <p14:sldId id="1114"/>
            <p14:sldId id="1079"/>
          </p14:sldIdLst>
        </p14:section>
        <p14:section name="Generalização" id="{512D70EB-F439-44A4-92E8-55BFA66C9C07}">
          <p14:sldIdLst>
            <p14:sldId id="1112"/>
            <p14:sldId id="1080"/>
            <p14:sldId id="1089"/>
            <p14:sldId id="1085"/>
            <p14:sldId id="1113"/>
            <p14:sldId id="1086"/>
            <p14:sldId id="1087"/>
            <p14:sldId id="1088"/>
            <p14:sldId id="1092"/>
            <p14:sldId id="1090"/>
            <p14:sldId id="1093"/>
            <p14:sldId id="1096"/>
            <p14:sldId id="1094"/>
            <p14:sldId id="1091"/>
            <p14:sldId id="1097"/>
            <p14:sldId id="1098"/>
            <p14:sldId id="1099"/>
            <p14:sldId id="1100"/>
            <p14:sldId id="1101"/>
            <p14:sldId id="1102"/>
            <p14:sldId id="1103"/>
            <p14:sldId id="1105"/>
            <p14:sldId id="1104"/>
            <p14:sldId id="1106"/>
            <p14:sldId id="1107"/>
            <p14:sldId id="1108"/>
            <p14:sldId id="1109"/>
          </p14:sldIdLst>
        </p14:section>
        <p14:section name="Refs" id="{F65D350F-258C-4860-9B11-97FB6D76D198}">
          <p14:sldIdLst>
            <p14:sldId id="6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1C75"/>
    <a:srgbClr val="674EA7"/>
    <a:srgbClr val="E1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393" autoAdjust="0"/>
  </p:normalViewPr>
  <p:slideViewPr>
    <p:cSldViewPr snapToGrid="0">
      <p:cViewPr varScale="1">
        <p:scale>
          <a:sx n="68" d="100"/>
          <a:sy n="68" d="100"/>
        </p:scale>
        <p:origin x="6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0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012D-927E-618B-F31D-9CF1C593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783F9F-E1E7-82A1-2AAF-6E7205005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D099BD-2849-EDC7-B91F-B4389B130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93AA4E-E205-2F44-2800-D863ADBDB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44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C1F7-4DB4-88B8-7C26-3F8A456D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53B9C8-08AC-68A0-2881-99F07265E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BF85E8-D449-C20D-638A-2F98AD12C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492266-AAD5-EA3F-13AB-822E36603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269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958D-E9AA-AC51-CC1F-9F2D52E3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6C7CB07-D7D9-9FCB-FA56-F75A6EA5A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AB39D31-D868-627F-3A9E-AA8895A87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86BE30-684C-CF4A-F2DC-023E2F137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07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A9DA6-8E31-32AA-699C-0388E2DF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99AD836-426A-99B0-B7A0-3E9B0B0AC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32DA05-656F-61DB-159A-86E4CD945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C26FF0-26DC-5B6E-ED71-663ED6EB4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2331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Consulta pode ser um novo CE? Sim, se: i) for relevante para a semântica do objetivo da aplicação; </a:t>
            </a:r>
            <a:r>
              <a:rPr lang="pt-BR" dirty="0" err="1"/>
              <a:t>ii</a:t>
            </a:r>
            <a:r>
              <a:rPr lang="pt-BR" dirty="0"/>
              <a:t>) existir atributos para ela e </a:t>
            </a:r>
            <a:r>
              <a:rPr lang="pt-BR" dirty="0" err="1"/>
              <a:t>iii</a:t>
            </a:r>
            <a:r>
              <a:rPr lang="pt-BR" dirty="0"/>
              <a:t>) outros CE se relacionarem a ela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44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FC214-1C17-6DE9-FB78-879350B6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E378F0E-FBE9-42D8-DEF2-52C1ED4A0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27DF5ED-D366-B4A4-D07F-54CC62DE1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DFB79F-2A7F-01C0-5476-0D02AEFEC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4771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https://www.drawdb.app/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C15A9F-51BE-835B-BCD8-3FE41794173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3855" y="17653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1.png"/><Relationship Id="rId7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15445.courses.cs.cmu.edu/spring2026/slides/01-relationalmodel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3</a:t>
            </a:r>
          </a:p>
          <a:p>
            <a:r>
              <a:rPr lang="pt-BR" dirty="0"/>
              <a:t>Modelo Entidade-Relacionamento Estendido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1800" dirty="0">
                <a:hlinkClick r:id="rId3"/>
              </a:rPr>
              <a:t>bruno.penteado@unesp.br</a:t>
            </a: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AA60B-667A-3B1E-5026-7006A72F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anterior, vimos...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EAEA1F-22A4-D565-FC85-BCE67302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Conceitos gerais sobre BD, SGBD, SBD e modelos de dados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Modelagem conceitual usando Modelo Entidade-Relacionamento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188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DE6AB-E006-69C1-28A1-2B01306D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CC42BC-78D1-9D80-D485-4E19A6F46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Modelagem conceitual</a:t>
            </a:r>
          </a:p>
          <a:p>
            <a:r>
              <a:rPr lang="pt-BR" dirty="0"/>
              <a:t>Modelo Entidade-Relacionamento</a:t>
            </a:r>
          </a:p>
          <a:p>
            <a:pPr lvl="1"/>
            <a:r>
              <a:rPr lang="pt-BR" dirty="0"/>
              <a:t>Entidades</a:t>
            </a:r>
          </a:p>
          <a:p>
            <a:pPr lvl="1"/>
            <a:r>
              <a:rPr lang="pt-BR" dirty="0"/>
              <a:t>Relacionamentos</a:t>
            </a:r>
          </a:p>
          <a:p>
            <a:pPr lvl="1"/>
            <a:r>
              <a:rPr lang="pt-BR" dirty="0"/>
              <a:t>Atributos</a:t>
            </a:r>
          </a:p>
          <a:p>
            <a:pPr lvl="1"/>
            <a:r>
              <a:rPr lang="pt-BR" dirty="0"/>
              <a:t>Restrições, Grau, Cardinalidade de Relacionamentos</a:t>
            </a:r>
          </a:p>
          <a:p>
            <a:pPr lvl="1"/>
            <a:r>
              <a:rPr lang="pt-BR" dirty="0"/>
              <a:t>Entidades fracas</a:t>
            </a:r>
          </a:p>
          <a:p>
            <a:r>
              <a:rPr lang="pt-BR" dirty="0"/>
              <a:t>Boas práticas de modelagem E-R</a:t>
            </a:r>
          </a:p>
          <a:p>
            <a:r>
              <a:rPr lang="pt-BR" dirty="0"/>
              <a:t>Notações de Diagramas de Entidade-Relacionamento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D6B3A8-BBA8-8693-F308-41EE64DA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última aula...</a:t>
            </a:r>
          </a:p>
        </p:txBody>
      </p:sp>
    </p:spTree>
    <p:extLst>
      <p:ext uri="{BB962C8B-B14F-4D97-AF65-F5344CB8AC3E}">
        <p14:creationId xmlns:p14="http://schemas.microsoft.com/office/powerpoint/2010/main" val="470621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C4F4-08BA-9CB3-278E-FE1CECDC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42D60B-B79E-5A3F-04EB-7AA90BF0C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Recapitulando</a:t>
            </a:r>
          </a:p>
          <a:p>
            <a:pPr>
              <a:spcBef>
                <a:spcPts val="1800"/>
              </a:spcBef>
            </a:pPr>
            <a:r>
              <a:rPr lang="pt-BR" dirty="0"/>
              <a:t>Modelo MER Estendido (EER ou 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  <a:p>
            <a:pPr>
              <a:spcBef>
                <a:spcPts val="1800"/>
              </a:spcBef>
            </a:pPr>
            <a:r>
              <a:rPr lang="pt-BR" dirty="0"/>
              <a:t>Agregação</a:t>
            </a:r>
          </a:p>
          <a:p>
            <a:pPr lvl="1"/>
            <a:r>
              <a:rPr lang="pt-BR" dirty="0"/>
              <a:t>Definição</a:t>
            </a:r>
          </a:p>
          <a:p>
            <a:pPr lvl="1"/>
            <a:r>
              <a:rPr lang="pt-BR" dirty="0"/>
              <a:t>Componentes</a:t>
            </a:r>
          </a:p>
          <a:p>
            <a:pPr lvl="1"/>
            <a:r>
              <a:rPr lang="pt-BR" dirty="0"/>
              <a:t>Quando utilizar</a:t>
            </a:r>
          </a:p>
          <a:p>
            <a:pPr>
              <a:spcBef>
                <a:spcPts val="1800"/>
              </a:spcBef>
            </a:pPr>
            <a:r>
              <a:rPr lang="pt-BR" dirty="0"/>
              <a:t>Generalização/Especialização</a:t>
            </a:r>
          </a:p>
          <a:p>
            <a:pPr lvl="1"/>
            <a:r>
              <a:rPr lang="pt-BR" dirty="0"/>
              <a:t>Definição</a:t>
            </a:r>
          </a:p>
          <a:p>
            <a:pPr lvl="1"/>
            <a:r>
              <a:rPr lang="pt-BR" dirty="0"/>
              <a:t>Herança</a:t>
            </a:r>
          </a:p>
          <a:p>
            <a:pPr lvl="1"/>
            <a:r>
              <a:rPr lang="pt-BR" dirty="0"/>
              <a:t>Restrições de especialização</a:t>
            </a:r>
          </a:p>
          <a:p>
            <a:pPr lvl="1"/>
            <a:r>
              <a:rPr lang="pt-BR" dirty="0"/>
              <a:t>Múltiplos níveis </a:t>
            </a:r>
          </a:p>
          <a:p>
            <a:pPr lvl="1"/>
            <a:r>
              <a:rPr lang="pt-BR" dirty="0"/>
              <a:t>Quando utilizar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682D57-6369-E819-79EF-8BC5D7AA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B61095-3DB5-957E-2B4C-792F937ECC8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111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7CF77-B89C-AE23-94DE-6D9AEAE2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Abstração dos dados</a:t>
            </a:r>
          </a:p>
        </p:txBody>
      </p:sp>
      <p:sp>
        <p:nvSpPr>
          <p:cNvPr id="4" name="Google Shape;308;p27">
            <a:extLst>
              <a:ext uri="{FF2B5EF4-FFF2-40B4-BE49-F238E27FC236}">
                <a16:creationId xmlns:a16="http://schemas.microsoft.com/office/drawing/2014/main" id="{F39A08E1-0277-EDC7-7AD6-DBB230B9F009}"/>
              </a:ext>
            </a:extLst>
          </p:cNvPr>
          <p:cNvSpPr txBox="1">
            <a:spLocks noGrp="1"/>
          </p:cNvSpPr>
          <p:nvPr/>
        </p:nvSpPr>
        <p:spPr>
          <a:xfrm>
            <a:off x="2861214" y="5932163"/>
            <a:ext cx="59988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/>
              <a:t>Modelagem de dados: O ”Três Reinos” - Abstração</a:t>
            </a:r>
            <a:endParaRPr sz="1800" b="1"/>
          </a:p>
        </p:txBody>
      </p:sp>
      <p:pic>
        <p:nvPicPr>
          <p:cNvPr id="5" name="Google Shape;309;p27">
            <a:extLst>
              <a:ext uri="{FF2B5EF4-FFF2-40B4-BE49-F238E27FC236}">
                <a16:creationId xmlns:a16="http://schemas.microsoft.com/office/drawing/2014/main" id="{FB3CB11D-0F62-7ACB-3D6D-E9156F0204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6264" y="2710613"/>
            <a:ext cx="1531146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10;p27">
            <a:extLst>
              <a:ext uri="{FF2B5EF4-FFF2-40B4-BE49-F238E27FC236}">
                <a16:creationId xmlns:a16="http://schemas.microsoft.com/office/drawing/2014/main" id="{4F8C4F38-078F-4D29-3045-104A2DB08C67}"/>
              </a:ext>
            </a:extLst>
          </p:cNvPr>
          <p:cNvSpPr txBox="1"/>
          <p:nvPr/>
        </p:nvSpPr>
        <p:spPr>
          <a:xfrm>
            <a:off x="4979514" y="2187238"/>
            <a:ext cx="176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Percepção</a:t>
            </a:r>
            <a:endParaRPr sz="24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311;p27">
            <a:extLst>
              <a:ext uri="{FF2B5EF4-FFF2-40B4-BE49-F238E27FC236}">
                <a16:creationId xmlns:a16="http://schemas.microsoft.com/office/drawing/2014/main" id="{CACC13AD-F678-020D-C49A-C0FD221C0CE9}"/>
              </a:ext>
            </a:extLst>
          </p:cNvPr>
          <p:cNvSpPr txBox="1"/>
          <p:nvPr/>
        </p:nvSpPr>
        <p:spPr>
          <a:xfrm>
            <a:off x="8185589" y="4897201"/>
            <a:ext cx="195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Modelagem</a:t>
            </a:r>
            <a:endParaRPr sz="24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312;p27">
            <a:extLst>
              <a:ext uri="{FF2B5EF4-FFF2-40B4-BE49-F238E27FC236}">
                <a16:creationId xmlns:a16="http://schemas.microsoft.com/office/drawing/2014/main" id="{393D8D0F-7819-8DCB-B424-2058C17D1B8E}"/>
              </a:ext>
            </a:extLst>
          </p:cNvPr>
          <p:cNvSpPr txBox="1"/>
          <p:nvPr/>
        </p:nvSpPr>
        <p:spPr>
          <a:xfrm>
            <a:off x="1453314" y="5123763"/>
            <a:ext cx="259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Implementação</a:t>
            </a:r>
            <a:endParaRPr sz="24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313;p27">
            <a:extLst>
              <a:ext uri="{FF2B5EF4-FFF2-40B4-BE49-F238E27FC236}">
                <a16:creationId xmlns:a16="http://schemas.microsoft.com/office/drawing/2014/main" id="{AA075D39-9084-35CC-8A85-FCA35AA27579}"/>
              </a:ext>
            </a:extLst>
          </p:cNvPr>
          <p:cNvSpPr txBox="1"/>
          <p:nvPr/>
        </p:nvSpPr>
        <p:spPr>
          <a:xfrm>
            <a:off x="1766039" y="2187263"/>
            <a:ext cx="137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Real</a:t>
            </a:r>
            <a:endParaRPr sz="2400" b="1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314;p27">
            <a:extLst>
              <a:ext uri="{FF2B5EF4-FFF2-40B4-BE49-F238E27FC236}">
                <a16:creationId xmlns:a16="http://schemas.microsoft.com/office/drawing/2014/main" id="{FFC6A308-162A-CE3D-87DD-4DE7CF3BCBF2}"/>
              </a:ext>
            </a:extLst>
          </p:cNvPr>
          <p:cNvSpPr txBox="1"/>
          <p:nvPr/>
        </p:nvSpPr>
        <p:spPr>
          <a:xfrm>
            <a:off x="7752391" y="2087688"/>
            <a:ext cx="238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Imaginário</a:t>
            </a:r>
            <a:endParaRPr sz="2400" b="1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315;p27">
            <a:extLst>
              <a:ext uri="{FF2B5EF4-FFF2-40B4-BE49-F238E27FC236}">
                <a16:creationId xmlns:a16="http://schemas.microsoft.com/office/drawing/2014/main" id="{53517F29-2ACC-A9D9-4255-5F0743C8FC19}"/>
              </a:ext>
            </a:extLst>
          </p:cNvPr>
          <p:cNvSpPr txBox="1"/>
          <p:nvPr/>
        </p:nvSpPr>
        <p:spPr>
          <a:xfrm>
            <a:off x="4315164" y="5585463"/>
            <a:ext cx="30909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Representação</a:t>
            </a:r>
            <a:endParaRPr sz="2400" b="1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316;p27">
            <a:extLst>
              <a:ext uri="{FF2B5EF4-FFF2-40B4-BE49-F238E27FC236}">
                <a16:creationId xmlns:a16="http://schemas.microsoft.com/office/drawing/2014/main" id="{B1EAD864-5575-F3D4-895C-A752FE980437}"/>
              </a:ext>
            </a:extLst>
          </p:cNvPr>
          <p:cNvSpPr/>
          <p:nvPr/>
        </p:nvSpPr>
        <p:spPr>
          <a:xfrm>
            <a:off x="7651314" y="2479438"/>
            <a:ext cx="2490000" cy="14376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rgbClr val="66666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3" name="Google Shape;317;p27">
            <a:extLst>
              <a:ext uri="{FF2B5EF4-FFF2-40B4-BE49-F238E27FC236}">
                <a16:creationId xmlns:a16="http://schemas.microsoft.com/office/drawing/2014/main" id="{69AA6395-2F3F-7741-2125-3D4B83BCD77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2072" y="2648963"/>
            <a:ext cx="3297091" cy="293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18;p27">
            <a:extLst>
              <a:ext uri="{FF2B5EF4-FFF2-40B4-BE49-F238E27FC236}">
                <a16:creationId xmlns:a16="http://schemas.microsoft.com/office/drawing/2014/main" id="{60067539-C231-5755-9B35-0B8AA5FBEA2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9727" y="2626725"/>
            <a:ext cx="1134227" cy="1143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319;p27">
            <a:extLst>
              <a:ext uri="{FF2B5EF4-FFF2-40B4-BE49-F238E27FC236}">
                <a16:creationId xmlns:a16="http://schemas.microsoft.com/office/drawing/2014/main" id="{749FE1E9-D043-7E93-9553-F013D580CB9F}"/>
              </a:ext>
            </a:extLst>
          </p:cNvPr>
          <p:cNvCxnSpPr>
            <a:stCxn id="5" idx="0"/>
            <a:endCxn id="14" idx="0"/>
          </p:cNvCxnSpPr>
          <p:nvPr/>
        </p:nvCxnSpPr>
        <p:spPr>
          <a:xfrm rot="-5400000">
            <a:off x="5657337" y="-578887"/>
            <a:ext cx="84000" cy="6495000"/>
          </a:xfrm>
          <a:prstGeom prst="curvedConnector3">
            <a:avLst>
              <a:gd name="adj1" fmla="val 547738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320;p27">
            <a:extLst>
              <a:ext uri="{FF2B5EF4-FFF2-40B4-BE49-F238E27FC236}">
                <a16:creationId xmlns:a16="http://schemas.microsoft.com/office/drawing/2014/main" id="{D13D7BDE-DBE5-8E58-2339-0480CAD9851E}"/>
              </a:ext>
            </a:extLst>
          </p:cNvPr>
          <p:cNvCxnSpPr>
            <a:stCxn id="12" idx="1"/>
          </p:cNvCxnSpPr>
          <p:nvPr/>
        </p:nvCxnSpPr>
        <p:spPr>
          <a:xfrm rot="5400000">
            <a:off x="7613964" y="3827157"/>
            <a:ext cx="1194000" cy="13707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21;p27">
            <a:extLst>
              <a:ext uri="{FF2B5EF4-FFF2-40B4-BE49-F238E27FC236}">
                <a16:creationId xmlns:a16="http://schemas.microsoft.com/office/drawing/2014/main" id="{6BA13FA9-FD46-6B36-A1D0-6A286C6B29A0}"/>
              </a:ext>
            </a:extLst>
          </p:cNvPr>
          <p:cNvCxnSpPr>
            <a:endCxn id="5" idx="2"/>
          </p:cNvCxnSpPr>
          <p:nvPr/>
        </p:nvCxnSpPr>
        <p:spPr>
          <a:xfrm rot="10800000">
            <a:off x="2451837" y="4253663"/>
            <a:ext cx="1736100" cy="9819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322;p27">
            <a:extLst>
              <a:ext uri="{FF2B5EF4-FFF2-40B4-BE49-F238E27FC236}">
                <a16:creationId xmlns:a16="http://schemas.microsoft.com/office/drawing/2014/main" id="{6D8FCFD7-5928-47FF-24CA-8E6AD159C561}"/>
              </a:ext>
            </a:extLst>
          </p:cNvPr>
          <p:cNvSpPr txBox="1">
            <a:spLocks noGrp="1"/>
          </p:cNvSpPr>
          <p:nvPr/>
        </p:nvSpPr>
        <p:spPr>
          <a:xfrm>
            <a:off x="9686164" y="6421638"/>
            <a:ext cx="668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b="1"/>
          </a:p>
        </p:txBody>
      </p:sp>
    </p:spTree>
    <p:extLst>
      <p:ext uri="{BB962C8B-B14F-4D97-AF65-F5344CB8AC3E}">
        <p14:creationId xmlns:p14="http://schemas.microsoft.com/office/powerpoint/2010/main" val="216027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F9CDB-C511-23C4-CCDC-C631D38E4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de BD Relacional</a:t>
            </a:r>
          </a:p>
        </p:txBody>
      </p:sp>
      <p:sp>
        <p:nvSpPr>
          <p:cNvPr id="4" name="Google Shape;327;p28">
            <a:extLst>
              <a:ext uri="{FF2B5EF4-FFF2-40B4-BE49-F238E27FC236}">
                <a16:creationId xmlns:a16="http://schemas.microsoft.com/office/drawing/2014/main" id="{1FCAA350-63FC-E97B-98C6-40334572096E}"/>
              </a:ext>
            </a:extLst>
          </p:cNvPr>
          <p:cNvSpPr/>
          <p:nvPr/>
        </p:nvSpPr>
        <p:spPr>
          <a:xfrm>
            <a:off x="2121900" y="2262513"/>
            <a:ext cx="1725900" cy="1125000"/>
          </a:xfrm>
          <a:prstGeom prst="cloudCallout">
            <a:avLst>
              <a:gd name="adj1" fmla="val -20833"/>
              <a:gd name="adj2" fmla="val 62500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Ideias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328;p28">
            <a:extLst>
              <a:ext uri="{FF2B5EF4-FFF2-40B4-BE49-F238E27FC236}">
                <a16:creationId xmlns:a16="http://schemas.microsoft.com/office/drawing/2014/main" id="{CAAAE882-394F-2121-342F-4B78E3D86F5E}"/>
              </a:ext>
            </a:extLst>
          </p:cNvPr>
          <p:cNvSpPr/>
          <p:nvPr/>
        </p:nvSpPr>
        <p:spPr>
          <a:xfrm>
            <a:off x="5275300" y="2529063"/>
            <a:ext cx="1800000" cy="5919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Modelo ER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329;p28">
            <a:extLst>
              <a:ext uri="{FF2B5EF4-FFF2-40B4-BE49-F238E27FC236}">
                <a16:creationId xmlns:a16="http://schemas.microsoft.com/office/drawing/2014/main" id="{A5384B65-59AA-18E3-FAE6-B1761269177A}"/>
              </a:ext>
            </a:extLst>
          </p:cNvPr>
          <p:cNvSpPr/>
          <p:nvPr/>
        </p:nvSpPr>
        <p:spPr>
          <a:xfrm>
            <a:off x="5275300" y="4104263"/>
            <a:ext cx="1800000" cy="7206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Modelo Relacional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330;p28">
            <a:extLst>
              <a:ext uri="{FF2B5EF4-FFF2-40B4-BE49-F238E27FC236}">
                <a16:creationId xmlns:a16="http://schemas.microsoft.com/office/drawing/2014/main" id="{0FB5829D-2781-E44E-5DFB-B1018D9B9AD6}"/>
              </a:ext>
            </a:extLst>
          </p:cNvPr>
          <p:cNvSpPr/>
          <p:nvPr/>
        </p:nvSpPr>
        <p:spPr>
          <a:xfrm>
            <a:off x="8344175" y="4530213"/>
            <a:ext cx="1725900" cy="1486225"/>
          </a:xfrm>
          <a:prstGeom prst="flowChartMagneticDisk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SGBD Relacional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8" name="Google Shape;331;p28">
            <a:extLst>
              <a:ext uri="{FF2B5EF4-FFF2-40B4-BE49-F238E27FC236}">
                <a16:creationId xmlns:a16="http://schemas.microsoft.com/office/drawing/2014/main" id="{3B253F75-3254-4B72-000A-AF9277AF5030}"/>
              </a:ext>
            </a:extLst>
          </p:cNvPr>
          <p:cNvCxnSpPr>
            <a:stCxn id="4" idx="2"/>
            <a:endCxn id="5" idx="1"/>
          </p:cNvCxnSpPr>
          <p:nvPr/>
        </p:nvCxnSpPr>
        <p:spPr>
          <a:xfrm>
            <a:off x="3846362" y="2825013"/>
            <a:ext cx="1428900" cy="600"/>
          </a:xfrm>
          <a:prstGeom prst="bentConnector3">
            <a:avLst>
              <a:gd name="adj1" fmla="val 49911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9" name="Google Shape;332;p28">
            <a:extLst>
              <a:ext uri="{FF2B5EF4-FFF2-40B4-BE49-F238E27FC236}">
                <a16:creationId xmlns:a16="http://schemas.microsoft.com/office/drawing/2014/main" id="{D8477C96-A7ED-2827-4B09-8D20DA181DE1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-5400000" flipH="1">
            <a:off x="5683900" y="3612363"/>
            <a:ext cx="983400" cy="600"/>
          </a:xfrm>
          <a:prstGeom prst="bentConnector3">
            <a:avLst>
              <a:gd name="adj1" fmla="val 49995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10" name="Google Shape;333;p28">
            <a:extLst>
              <a:ext uri="{FF2B5EF4-FFF2-40B4-BE49-F238E27FC236}">
                <a16:creationId xmlns:a16="http://schemas.microsoft.com/office/drawing/2014/main" id="{9807D7BC-DD2C-5A7A-851C-235F305EAF80}"/>
              </a:ext>
            </a:extLst>
          </p:cNvPr>
          <p:cNvCxnSpPr>
            <a:stCxn id="6" idx="2"/>
            <a:endCxn id="7" idx="2"/>
          </p:cNvCxnSpPr>
          <p:nvPr/>
        </p:nvCxnSpPr>
        <p:spPr>
          <a:xfrm rot="-5400000" flipH="1">
            <a:off x="7035550" y="3964613"/>
            <a:ext cx="448500" cy="2169000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1" name="Google Shape;334;p28">
            <a:extLst>
              <a:ext uri="{FF2B5EF4-FFF2-40B4-BE49-F238E27FC236}">
                <a16:creationId xmlns:a16="http://schemas.microsoft.com/office/drawing/2014/main" id="{CEA792BC-ADA9-DD43-06D8-1578D071609D}"/>
              </a:ext>
            </a:extLst>
          </p:cNvPr>
          <p:cNvSpPr txBox="1">
            <a:spLocks noGrp="1"/>
          </p:cNvSpPr>
          <p:nvPr/>
        </p:nvSpPr>
        <p:spPr>
          <a:xfrm>
            <a:off x="3096600" y="5932163"/>
            <a:ext cx="59988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➔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800" b="1"/>
              <a:t>Projeto de Banco de Dados Relacional</a:t>
            </a:r>
            <a:endParaRPr sz="1800" b="1"/>
          </a:p>
        </p:txBody>
      </p:sp>
    </p:spTree>
    <p:extLst>
      <p:ext uri="{BB962C8B-B14F-4D97-AF65-F5344CB8AC3E}">
        <p14:creationId xmlns:p14="http://schemas.microsoft.com/office/powerpoint/2010/main" val="105080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1707F-193E-0964-89EA-20C5179FC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de BD Relacional</a:t>
            </a:r>
          </a:p>
        </p:txBody>
      </p:sp>
      <p:pic>
        <p:nvPicPr>
          <p:cNvPr id="12" name="Google Shape;340;p29">
            <a:extLst>
              <a:ext uri="{FF2B5EF4-FFF2-40B4-BE49-F238E27FC236}">
                <a16:creationId xmlns:a16="http://schemas.microsoft.com/office/drawing/2014/main" id="{F60BC8B0-FEB4-59D7-64AB-7B7403EC5D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53831" y="3519432"/>
            <a:ext cx="4468025" cy="24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41;p29">
            <a:extLst>
              <a:ext uri="{FF2B5EF4-FFF2-40B4-BE49-F238E27FC236}">
                <a16:creationId xmlns:a16="http://schemas.microsoft.com/office/drawing/2014/main" id="{AD792F42-BCA2-60D8-1EFD-F49F005CCB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9118" y="1801370"/>
            <a:ext cx="3829050" cy="171807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42;p29">
            <a:extLst>
              <a:ext uri="{FF2B5EF4-FFF2-40B4-BE49-F238E27FC236}">
                <a16:creationId xmlns:a16="http://schemas.microsoft.com/office/drawing/2014/main" id="{CFF11622-B17B-7B9D-06C5-CAF2A5C6D7D5}"/>
              </a:ext>
            </a:extLst>
          </p:cNvPr>
          <p:cNvSpPr/>
          <p:nvPr/>
        </p:nvSpPr>
        <p:spPr>
          <a:xfrm>
            <a:off x="3024581" y="1739757"/>
            <a:ext cx="1725900" cy="1125000"/>
          </a:xfrm>
          <a:prstGeom prst="cloudCallout">
            <a:avLst>
              <a:gd name="adj1" fmla="val -20833"/>
              <a:gd name="adj2" fmla="val 62500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Ideias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5" name="Google Shape;344;p29">
            <a:extLst>
              <a:ext uri="{FF2B5EF4-FFF2-40B4-BE49-F238E27FC236}">
                <a16:creationId xmlns:a16="http://schemas.microsoft.com/office/drawing/2014/main" id="{B1AD0518-749B-F55A-BDA4-0F417FCFAB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55857" b="14207"/>
          <a:stretch/>
        </p:blipFill>
        <p:spPr>
          <a:xfrm>
            <a:off x="7384043" y="3924782"/>
            <a:ext cx="2479199" cy="2001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345;p29">
            <a:extLst>
              <a:ext uri="{FF2B5EF4-FFF2-40B4-BE49-F238E27FC236}">
                <a16:creationId xmlns:a16="http://schemas.microsoft.com/office/drawing/2014/main" id="{4FF08FE1-93C4-9388-DF10-DF1795560333}"/>
              </a:ext>
            </a:extLst>
          </p:cNvPr>
          <p:cNvCxnSpPr>
            <a:stCxn id="14" idx="1"/>
            <a:endCxn id="12" idx="0"/>
          </p:cNvCxnSpPr>
          <p:nvPr/>
        </p:nvCxnSpPr>
        <p:spPr>
          <a:xfrm rot="-5400000" flipH="1">
            <a:off x="3559931" y="3191159"/>
            <a:ext cx="655800" cy="600"/>
          </a:xfrm>
          <a:prstGeom prst="bentConnector3">
            <a:avLst>
              <a:gd name="adj1" fmla="val 63201"/>
            </a:avLst>
          </a:prstGeom>
          <a:noFill/>
          <a:ln w="38100" cap="flat" cmpd="sng">
            <a:solidFill>
              <a:srgbClr val="98EC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46;p29">
            <a:extLst>
              <a:ext uri="{FF2B5EF4-FFF2-40B4-BE49-F238E27FC236}">
                <a16:creationId xmlns:a16="http://schemas.microsoft.com/office/drawing/2014/main" id="{261D5BAB-EE5F-B603-735E-8D7A7D9DA2E8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rot="10800000" flipH="1">
            <a:off x="6121855" y="2660420"/>
            <a:ext cx="587400" cy="2087400"/>
          </a:xfrm>
          <a:prstGeom prst="curvedConnector3">
            <a:avLst>
              <a:gd name="adj1" fmla="val 49988"/>
            </a:avLst>
          </a:prstGeom>
          <a:noFill/>
          <a:ln w="38100" cap="flat" cmpd="sng">
            <a:solidFill>
              <a:srgbClr val="98EC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47;p29">
            <a:extLst>
              <a:ext uri="{FF2B5EF4-FFF2-40B4-BE49-F238E27FC236}">
                <a16:creationId xmlns:a16="http://schemas.microsoft.com/office/drawing/2014/main" id="{69BCE885-63F5-3575-F36F-E1CF90ADC883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rot="-5400000" flipH="1">
            <a:off x="8421293" y="3721792"/>
            <a:ext cx="405300" cy="600"/>
          </a:xfrm>
          <a:prstGeom prst="bentConnector3">
            <a:avLst>
              <a:gd name="adj1" fmla="val 50005"/>
            </a:avLst>
          </a:prstGeom>
          <a:noFill/>
          <a:ln w="38100" cap="flat" cmpd="sng">
            <a:solidFill>
              <a:srgbClr val="98EC43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21196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C45A0-F7B5-6070-552B-0A88949B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D5359D-D876-4566-5A94-38D96613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Por que modelar?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Melhor compreensão sobre a informação a ser armazenada e manipulada</a:t>
            </a:r>
          </a:p>
          <a:p>
            <a:pPr lvl="2"/>
            <a:r>
              <a:rPr lang="pt-BR" dirty="0"/>
              <a:t>Dados</a:t>
            </a:r>
          </a:p>
          <a:p>
            <a:pPr lvl="2"/>
            <a:r>
              <a:rPr lang="pt-BR" dirty="0"/>
              <a:t>Domínio do problema</a:t>
            </a:r>
          </a:p>
          <a:p>
            <a:pPr lvl="2"/>
            <a:r>
              <a:rPr lang="pt-BR" dirty="0"/>
              <a:t>Lógica do negócio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Estimativa de tempo e recursos necessários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Documentação</a:t>
            </a:r>
          </a:p>
          <a:p>
            <a:pPr lvl="2"/>
            <a:r>
              <a:rPr lang="pt-BR" dirty="0"/>
              <a:t>Facilita manutenção/evolução do sistema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Diálogo com o cliente</a:t>
            </a:r>
          </a:p>
          <a:p>
            <a:pPr lvl="2"/>
            <a:r>
              <a:rPr lang="pt-BR" dirty="0"/>
              <a:t>Resultado atende os requisitos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368D643-19DE-002C-8431-651787452A93}"/>
              </a:ext>
            </a:extLst>
          </p:cNvPr>
          <p:cNvSpPr/>
          <p:nvPr/>
        </p:nvSpPr>
        <p:spPr>
          <a:xfrm>
            <a:off x="7213599" y="3046588"/>
            <a:ext cx="4312356" cy="326531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Modelar</a:t>
            </a:r>
            <a:r>
              <a:rPr lang="pt-BR" sz="2800" dirty="0"/>
              <a:t> não é desenhar caixas e linhas — é tomar decisões sobre </a:t>
            </a:r>
            <a:r>
              <a:rPr lang="pt-BR" sz="2800" b="1" dirty="0"/>
              <a:t>como representar o mundo </a:t>
            </a:r>
            <a:r>
              <a:rPr lang="pt-BR" sz="2800" b="1"/>
              <a:t>real </a:t>
            </a:r>
            <a:r>
              <a:rPr lang="pt-BR" sz="2800"/>
              <a:t>para </a:t>
            </a:r>
            <a:r>
              <a:rPr lang="pt-BR" sz="2800" dirty="0"/>
              <a:t>uma determinada </a:t>
            </a:r>
            <a:r>
              <a:rPr lang="pt-BR" sz="2800" b="1" dirty="0"/>
              <a:t>finalidade</a:t>
            </a:r>
          </a:p>
        </p:txBody>
      </p:sp>
    </p:spTree>
    <p:extLst>
      <p:ext uri="{BB962C8B-B14F-4D97-AF65-F5344CB8AC3E}">
        <p14:creationId xmlns:p14="http://schemas.microsoft.com/office/powerpoint/2010/main" val="476506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23050-1C90-586E-E82D-BD8F41A5C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Processo de projeto de BD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D19A40-74A7-9F00-E562-756BAC53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3010" cy="4351338"/>
          </a:xfrm>
        </p:spPr>
        <p:txBody>
          <a:bodyPr/>
          <a:lstStyle/>
          <a:p>
            <a:r>
              <a:rPr lang="pt-BR" dirty="0"/>
              <a:t>Análise de requisitos</a:t>
            </a:r>
          </a:p>
          <a:p>
            <a:r>
              <a:rPr lang="pt-BR" dirty="0"/>
              <a:t>Projeto conceitual</a:t>
            </a:r>
          </a:p>
          <a:p>
            <a:r>
              <a:rPr lang="pt-BR" dirty="0"/>
              <a:t>Projeto Lógico</a:t>
            </a:r>
          </a:p>
          <a:p>
            <a:r>
              <a:rPr lang="pt-BR" dirty="0"/>
              <a:t>Projeto físico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98FF88C-EB54-648E-F505-8DC4CF54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210" y="0"/>
            <a:ext cx="5761045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1B0D3EE-57C3-B55B-7C42-8DDDC8A319BE}"/>
              </a:ext>
            </a:extLst>
          </p:cNvPr>
          <p:cNvSpPr/>
          <p:nvPr/>
        </p:nvSpPr>
        <p:spPr>
          <a:xfrm>
            <a:off x="9945510" y="2348088"/>
            <a:ext cx="1772357" cy="11966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55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86EE1-BB45-910E-2109-D7CFF5424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56CEE3-F69A-22C6-A510-8EC86AD75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954307-4641-DEF9-CB5D-829612F3A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93684"/>
            <a:ext cx="10515599" cy="667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25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40735-5437-3C7D-D38E-AEC620292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D57B77-9B65-633D-1A62-FC28A4736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D0A98B-86D2-6698-C967-FF1A8E36F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3" y="35601"/>
            <a:ext cx="11842044" cy="681111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69BF87C-CA13-DA56-9657-DC6AF7E058BE}"/>
              </a:ext>
            </a:extLst>
          </p:cNvPr>
          <p:cNvSpPr txBox="1"/>
          <p:nvPr/>
        </p:nvSpPr>
        <p:spPr>
          <a:xfrm rot="16200000">
            <a:off x="-1074280" y="3058279"/>
            <a:ext cx="2848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Exercício MER Básico</a:t>
            </a:r>
          </a:p>
        </p:txBody>
      </p:sp>
    </p:spTree>
    <p:extLst>
      <p:ext uri="{BB962C8B-B14F-4D97-AF65-F5344CB8AC3E}">
        <p14:creationId xmlns:p14="http://schemas.microsoft.com/office/powerpoint/2010/main" val="1578265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433C7214-38E7-859D-70A8-A2A1BFACB637}"/>
              </a:ext>
            </a:extLst>
          </p:cNvPr>
          <p:cNvCxnSpPr>
            <a:cxnSpLocks/>
            <a:stCxn id="6" idx="1"/>
            <a:endCxn id="74" idx="0"/>
          </p:cNvCxnSpPr>
          <p:nvPr/>
        </p:nvCxnSpPr>
        <p:spPr>
          <a:xfrm flipH="1">
            <a:off x="996521" y="3790244"/>
            <a:ext cx="143658" cy="8921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Conector reto 110">
            <a:extLst>
              <a:ext uri="{FF2B5EF4-FFF2-40B4-BE49-F238E27FC236}">
                <a16:creationId xmlns:a16="http://schemas.microsoft.com/office/drawing/2014/main" id="{598B73D4-7C1C-AE46-C1A0-5C8D7D323313}"/>
              </a:ext>
            </a:extLst>
          </p:cNvPr>
          <p:cNvCxnSpPr>
            <a:cxnSpLocks/>
            <a:stCxn id="71" idx="5"/>
            <a:endCxn id="5" idx="3"/>
          </p:cNvCxnSpPr>
          <p:nvPr/>
        </p:nvCxnSpPr>
        <p:spPr>
          <a:xfrm flipH="1">
            <a:off x="11300178" y="2490116"/>
            <a:ext cx="612955" cy="1178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ector reto 104">
            <a:extLst>
              <a:ext uri="{FF2B5EF4-FFF2-40B4-BE49-F238E27FC236}">
                <a16:creationId xmlns:a16="http://schemas.microsoft.com/office/drawing/2014/main" id="{6C7CE22F-4E81-FA92-23D2-7D16D3448545}"/>
              </a:ext>
            </a:extLst>
          </p:cNvPr>
          <p:cNvCxnSpPr>
            <a:cxnSpLocks/>
            <a:stCxn id="7" idx="2"/>
            <a:endCxn id="76" idx="0"/>
          </p:cNvCxnSpPr>
          <p:nvPr/>
        </p:nvCxnSpPr>
        <p:spPr>
          <a:xfrm>
            <a:off x="5340475" y="5631426"/>
            <a:ext cx="453676" cy="559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4FE003B9-DB0B-AFB5-54C3-73F1534D41FA}"/>
              </a:ext>
            </a:extLst>
          </p:cNvPr>
          <p:cNvCxnSpPr>
            <a:cxnSpLocks/>
            <a:stCxn id="66" idx="3"/>
            <a:endCxn id="4" idx="0"/>
          </p:cNvCxnSpPr>
          <p:nvPr/>
        </p:nvCxnSpPr>
        <p:spPr>
          <a:xfrm flipH="1">
            <a:off x="5350929" y="844632"/>
            <a:ext cx="110793" cy="1006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7CEDEFAF-4B06-34EF-C5E3-78303540675E}"/>
              </a:ext>
            </a:extLst>
          </p:cNvPr>
          <p:cNvCxnSpPr>
            <a:cxnSpLocks/>
            <a:stCxn id="53" idx="4"/>
            <a:endCxn id="4" idx="0"/>
          </p:cNvCxnSpPr>
          <p:nvPr/>
        </p:nvCxnSpPr>
        <p:spPr>
          <a:xfrm>
            <a:off x="4690991" y="620961"/>
            <a:ext cx="659938" cy="12304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9D8326A1-6737-D4A7-F013-D77A6D8D7A16}"/>
              </a:ext>
            </a:extLst>
          </p:cNvPr>
          <p:cNvCxnSpPr>
            <a:cxnSpLocks/>
            <a:stCxn id="54" idx="4"/>
            <a:endCxn id="4" idx="0"/>
          </p:cNvCxnSpPr>
          <p:nvPr/>
        </p:nvCxnSpPr>
        <p:spPr>
          <a:xfrm>
            <a:off x="4030434" y="1087884"/>
            <a:ext cx="1320495" cy="7634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6A3B7599-49F9-EFA5-0842-87D17F8B3526}"/>
              </a:ext>
            </a:extLst>
          </p:cNvPr>
          <p:cNvSpPr/>
          <p:nvPr/>
        </p:nvSpPr>
        <p:spPr>
          <a:xfrm>
            <a:off x="4526840" y="1851378"/>
            <a:ext cx="1648177" cy="7224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/>
              <a:t>FILME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33F62CA-7130-EC7C-5F36-5F3FBCF7A239}"/>
              </a:ext>
            </a:extLst>
          </p:cNvPr>
          <p:cNvSpPr/>
          <p:nvPr/>
        </p:nvSpPr>
        <p:spPr>
          <a:xfrm>
            <a:off x="8799689" y="3307644"/>
            <a:ext cx="2500489" cy="7224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/>
              <a:t>PRODUTORA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BC03F56-6E2B-5713-2EA6-33380AD445BF}"/>
              </a:ext>
            </a:extLst>
          </p:cNvPr>
          <p:cNvSpPr/>
          <p:nvPr/>
        </p:nvSpPr>
        <p:spPr>
          <a:xfrm>
            <a:off x="1140179" y="3429000"/>
            <a:ext cx="2500489" cy="7224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/>
              <a:t>DIRETOR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09ED696-B295-BFA8-4049-958AD417CED8}"/>
              </a:ext>
            </a:extLst>
          </p:cNvPr>
          <p:cNvSpPr/>
          <p:nvPr/>
        </p:nvSpPr>
        <p:spPr>
          <a:xfrm>
            <a:off x="4090230" y="4908938"/>
            <a:ext cx="2500489" cy="7224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/>
              <a:t>ATOR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222989B-D33C-B5E7-2B73-9C1A2A398565}"/>
              </a:ext>
            </a:extLst>
          </p:cNvPr>
          <p:cNvSpPr/>
          <p:nvPr/>
        </p:nvSpPr>
        <p:spPr>
          <a:xfrm>
            <a:off x="8745406" y="6026373"/>
            <a:ext cx="3301999" cy="7224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FRASE_MEMORAVEL</a:t>
            </a:r>
          </a:p>
        </p:txBody>
      </p:sp>
      <p:sp>
        <p:nvSpPr>
          <p:cNvPr id="9" name="Google Shape;1476;p111">
            <a:extLst>
              <a:ext uri="{FF2B5EF4-FFF2-40B4-BE49-F238E27FC236}">
                <a16:creationId xmlns:a16="http://schemas.microsoft.com/office/drawing/2014/main" id="{4937A6FE-F057-ED90-165F-2216CCEA3BA5}"/>
              </a:ext>
            </a:extLst>
          </p:cNvPr>
          <p:cNvSpPr/>
          <p:nvPr/>
        </p:nvSpPr>
        <p:spPr>
          <a:xfrm>
            <a:off x="7561000" y="1773727"/>
            <a:ext cx="2048469" cy="889814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Produz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E16BFC37-C0E0-2F78-284F-C035C3DC6565}"/>
              </a:ext>
            </a:extLst>
          </p:cNvPr>
          <p:cNvCxnSpPr>
            <a:stCxn id="5" idx="0"/>
            <a:endCxn id="9" idx="3"/>
          </p:cNvCxnSpPr>
          <p:nvPr/>
        </p:nvCxnSpPr>
        <p:spPr>
          <a:xfrm rot="16200000" flipV="1">
            <a:off x="9285197" y="2542906"/>
            <a:ext cx="1089010" cy="440465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99EBFCDA-8EFE-2792-0E48-ED31AAAF4037}"/>
              </a:ext>
            </a:extLst>
          </p:cNvPr>
          <p:cNvCxnSpPr>
            <a:cxnSpLocks/>
            <a:stCxn id="9" idx="1"/>
            <a:endCxn id="4" idx="3"/>
          </p:cNvCxnSpPr>
          <p:nvPr/>
        </p:nvCxnSpPr>
        <p:spPr>
          <a:xfrm rot="10800000">
            <a:off x="6175018" y="2212622"/>
            <a:ext cx="1385983" cy="601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Google Shape;1476;p111">
            <a:extLst>
              <a:ext uri="{FF2B5EF4-FFF2-40B4-BE49-F238E27FC236}">
                <a16:creationId xmlns:a16="http://schemas.microsoft.com/office/drawing/2014/main" id="{CDB57DB2-F36D-735B-35D8-CA9FE740A1FA}"/>
              </a:ext>
            </a:extLst>
          </p:cNvPr>
          <p:cNvSpPr/>
          <p:nvPr/>
        </p:nvSpPr>
        <p:spPr>
          <a:xfrm>
            <a:off x="6908801" y="4050698"/>
            <a:ext cx="2048469" cy="889814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Tem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DBBF7906-3164-9050-CB95-B9278B015217}"/>
              </a:ext>
            </a:extLst>
          </p:cNvPr>
          <p:cNvCxnSpPr>
            <a:cxnSpLocks/>
            <a:stCxn id="8" idx="0"/>
            <a:endCxn id="16" idx="3"/>
          </p:cNvCxnSpPr>
          <p:nvPr/>
        </p:nvCxnSpPr>
        <p:spPr>
          <a:xfrm rot="16200000" flipV="1">
            <a:off x="8911454" y="4541421"/>
            <a:ext cx="1530768" cy="143913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F3844BAD-BB67-5513-D562-2B362559EC60}"/>
              </a:ext>
            </a:extLst>
          </p:cNvPr>
          <p:cNvCxnSpPr>
            <a:cxnSpLocks/>
            <a:stCxn id="16" idx="1"/>
            <a:endCxn id="4" idx="3"/>
          </p:cNvCxnSpPr>
          <p:nvPr/>
        </p:nvCxnSpPr>
        <p:spPr>
          <a:xfrm rot="10800000">
            <a:off x="6175017" y="2212623"/>
            <a:ext cx="733784" cy="228298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Google Shape;1476;p111">
            <a:extLst>
              <a:ext uri="{FF2B5EF4-FFF2-40B4-BE49-F238E27FC236}">
                <a16:creationId xmlns:a16="http://schemas.microsoft.com/office/drawing/2014/main" id="{7DD78ED9-37E3-022D-B568-99FC85A31DDA}"/>
              </a:ext>
            </a:extLst>
          </p:cNvPr>
          <p:cNvSpPr/>
          <p:nvPr/>
        </p:nvSpPr>
        <p:spPr>
          <a:xfrm>
            <a:off x="4321964" y="3347663"/>
            <a:ext cx="2048469" cy="889814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Atua em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9" name="Google Shape;1476;p111">
            <a:extLst>
              <a:ext uri="{FF2B5EF4-FFF2-40B4-BE49-F238E27FC236}">
                <a16:creationId xmlns:a16="http://schemas.microsoft.com/office/drawing/2014/main" id="{6E745D8C-0CEA-9BF3-F090-87968E7F3A75}"/>
              </a:ext>
            </a:extLst>
          </p:cNvPr>
          <p:cNvSpPr/>
          <p:nvPr/>
        </p:nvSpPr>
        <p:spPr>
          <a:xfrm>
            <a:off x="1364761" y="1765376"/>
            <a:ext cx="2048469" cy="889814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Dirige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31" name="Conector: Angulado 30">
            <a:extLst>
              <a:ext uri="{FF2B5EF4-FFF2-40B4-BE49-F238E27FC236}">
                <a16:creationId xmlns:a16="http://schemas.microsoft.com/office/drawing/2014/main" id="{B571929C-8613-35CF-20DD-88ABD9DB4ECD}"/>
              </a:ext>
            </a:extLst>
          </p:cNvPr>
          <p:cNvCxnSpPr>
            <a:cxnSpLocks/>
            <a:stCxn id="27" idx="0"/>
            <a:endCxn id="4" idx="2"/>
          </p:cNvCxnSpPr>
          <p:nvPr/>
        </p:nvCxnSpPr>
        <p:spPr>
          <a:xfrm rot="5400000" flipH="1" flipV="1">
            <a:off x="4961666" y="2958400"/>
            <a:ext cx="773797" cy="47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4B802CA3-108B-5430-9688-E96BCA341028}"/>
              </a:ext>
            </a:extLst>
          </p:cNvPr>
          <p:cNvCxnSpPr>
            <a:cxnSpLocks/>
            <a:stCxn id="27" idx="2"/>
            <a:endCxn id="7" idx="0"/>
          </p:cNvCxnSpPr>
          <p:nvPr/>
        </p:nvCxnSpPr>
        <p:spPr>
          <a:xfrm rot="5400000">
            <a:off x="5007607" y="4570345"/>
            <a:ext cx="671461" cy="57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E5BB605A-F68E-675A-4B3D-D576FAEF356A}"/>
              </a:ext>
            </a:extLst>
          </p:cNvPr>
          <p:cNvCxnSpPr>
            <a:cxnSpLocks/>
            <a:stCxn id="6" idx="3"/>
            <a:endCxn id="27" idx="1"/>
          </p:cNvCxnSpPr>
          <p:nvPr/>
        </p:nvCxnSpPr>
        <p:spPr>
          <a:xfrm>
            <a:off x="3640668" y="3790244"/>
            <a:ext cx="681296" cy="23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0D8DB8B7-016E-F0D3-C396-A6A6B2484725}"/>
              </a:ext>
            </a:extLst>
          </p:cNvPr>
          <p:cNvCxnSpPr>
            <a:cxnSpLocks/>
            <a:stCxn id="29" idx="2"/>
            <a:endCxn id="6" idx="0"/>
          </p:cNvCxnSpPr>
          <p:nvPr/>
        </p:nvCxnSpPr>
        <p:spPr>
          <a:xfrm rot="16200000" flipH="1">
            <a:off x="2002805" y="3041381"/>
            <a:ext cx="773810" cy="142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FAAE1FBF-8D81-A537-D599-B19A8AAC5B4A}"/>
              </a:ext>
            </a:extLst>
          </p:cNvPr>
          <p:cNvCxnSpPr>
            <a:cxnSpLocks/>
            <a:stCxn id="29" idx="3"/>
            <a:endCxn id="4" idx="1"/>
          </p:cNvCxnSpPr>
          <p:nvPr/>
        </p:nvCxnSpPr>
        <p:spPr>
          <a:xfrm>
            <a:off x="3413230" y="2210283"/>
            <a:ext cx="1113610" cy="233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Google Shape;1574;p114">
            <a:extLst>
              <a:ext uri="{FF2B5EF4-FFF2-40B4-BE49-F238E27FC236}">
                <a16:creationId xmlns:a16="http://schemas.microsoft.com/office/drawing/2014/main" id="{A169AEE0-2884-9FE8-936C-00EF844BBE09}"/>
              </a:ext>
            </a:extLst>
          </p:cNvPr>
          <p:cNvSpPr/>
          <p:nvPr/>
        </p:nvSpPr>
        <p:spPr>
          <a:xfrm>
            <a:off x="3682241" y="104661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u="sng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Título</a:t>
            </a:r>
            <a:endParaRPr sz="20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4" name="Google Shape;1574;p114">
            <a:extLst>
              <a:ext uri="{FF2B5EF4-FFF2-40B4-BE49-F238E27FC236}">
                <a16:creationId xmlns:a16="http://schemas.microsoft.com/office/drawing/2014/main" id="{22C30EA6-1DB1-A149-59F8-FC64900B2E90}"/>
              </a:ext>
            </a:extLst>
          </p:cNvPr>
          <p:cNvSpPr/>
          <p:nvPr/>
        </p:nvSpPr>
        <p:spPr>
          <a:xfrm>
            <a:off x="3021684" y="571584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Ano_lancamento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5" name="Google Shape;1574;p114">
            <a:extLst>
              <a:ext uri="{FF2B5EF4-FFF2-40B4-BE49-F238E27FC236}">
                <a16:creationId xmlns:a16="http://schemas.microsoft.com/office/drawing/2014/main" id="{7EB37112-25AE-C31B-161E-433F12301D60}"/>
              </a:ext>
            </a:extLst>
          </p:cNvPr>
          <p:cNvSpPr/>
          <p:nvPr/>
        </p:nvSpPr>
        <p:spPr>
          <a:xfrm>
            <a:off x="3348805" y="1055897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Duracao_min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A5AF444A-1B7A-4DFB-3CB2-2D809153E108}"/>
              </a:ext>
            </a:extLst>
          </p:cNvPr>
          <p:cNvSpPr txBox="1"/>
          <p:nvPr/>
        </p:nvSpPr>
        <p:spPr>
          <a:xfrm>
            <a:off x="10061218" y="2964832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(1, 1)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05ABF58-2EDF-2CC9-C0F1-F86777E9CD28}"/>
              </a:ext>
            </a:extLst>
          </p:cNvPr>
          <p:cNvSpPr txBox="1"/>
          <p:nvPr/>
        </p:nvSpPr>
        <p:spPr>
          <a:xfrm>
            <a:off x="6788660" y="1842020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(1, N)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AFA6AC5-1313-E226-DCCE-BFEDB18BD98E}"/>
              </a:ext>
            </a:extLst>
          </p:cNvPr>
          <p:cNvSpPr txBox="1"/>
          <p:nvPr/>
        </p:nvSpPr>
        <p:spPr>
          <a:xfrm>
            <a:off x="5430757" y="2595500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(1,N)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AB82C248-354E-B6D5-699C-2D3FB9BF4A5B}"/>
              </a:ext>
            </a:extLst>
          </p:cNvPr>
          <p:cNvSpPr txBox="1"/>
          <p:nvPr/>
        </p:nvSpPr>
        <p:spPr>
          <a:xfrm>
            <a:off x="5321027" y="447120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(1,M)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DF50C395-14A6-C2B3-3173-6A34C95808DD}"/>
              </a:ext>
            </a:extLst>
          </p:cNvPr>
          <p:cNvSpPr txBox="1"/>
          <p:nvPr/>
        </p:nvSpPr>
        <p:spPr>
          <a:xfrm>
            <a:off x="3902693" y="1842020"/>
            <a:ext cx="90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(1,N)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1646EF7B-4D81-B17E-4D06-5BEEEA641001}"/>
              </a:ext>
            </a:extLst>
          </p:cNvPr>
          <p:cNvSpPr txBox="1"/>
          <p:nvPr/>
        </p:nvSpPr>
        <p:spPr>
          <a:xfrm>
            <a:off x="1585992" y="307700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(1,M)</a:t>
            </a:r>
          </a:p>
        </p:txBody>
      </p:sp>
      <p:sp>
        <p:nvSpPr>
          <p:cNvPr id="66" name="Google Shape;1574;p114">
            <a:extLst>
              <a:ext uri="{FF2B5EF4-FFF2-40B4-BE49-F238E27FC236}">
                <a16:creationId xmlns:a16="http://schemas.microsoft.com/office/drawing/2014/main" id="{02173327-B7C7-2BE7-ADA7-868487E05789}"/>
              </a:ext>
            </a:extLst>
          </p:cNvPr>
          <p:cNvSpPr/>
          <p:nvPr/>
        </p:nvSpPr>
        <p:spPr>
          <a:xfrm>
            <a:off x="5166266" y="403942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Resumo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7" name="Google Shape;1574;p114">
            <a:extLst>
              <a:ext uri="{FF2B5EF4-FFF2-40B4-BE49-F238E27FC236}">
                <a16:creationId xmlns:a16="http://schemas.microsoft.com/office/drawing/2014/main" id="{D72B8054-C324-172A-595F-29CB4FCD40A5}"/>
              </a:ext>
            </a:extLst>
          </p:cNvPr>
          <p:cNvSpPr/>
          <p:nvPr/>
        </p:nvSpPr>
        <p:spPr>
          <a:xfrm>
            <a:off x="5338504" y="851932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Gênero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AE7C86DF-FAF2-E081-B01E-9A6824F447A2}"/>
              </a:ext>
            </a:extLst>
          </p:cNvPr>
          <p:cNvSpPr txBox="1"/>
          <p:nvPr/>
        </p:nvSpPr>
        <p:spPr>
          <a:xfrm>
            <a:off x="6573100" y="229028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(1,1)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1838C3B1-2400-376B-4A37-D37CFD927F35}"/>
              </a:ext>
            </a:extLst>
          </p:cNvPr>
          <p:cNvSpPr txBox="1"/>
          <p:nvPr/>
        </p:nvSpPr>
        <p:spPr>
          <a:xfrm>
            <a:off x="10315937" y="5583557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(0, N)</a:t>
            </a:r>
          </a:p>
        </p:txBody>
      </p:sp>
      <p:sp>
        <p:nvSpPr>
          <p:cNvPr id="70" name="Google Shape;1574;p114">
            <a:extLst>
              <a:ext uri="{FF2B5EF4-FFF2-40B4-BE49-F238E27FC236}">
                <a16:creationId xmlns:a16="http://schemas.microsoft.com/office/drawing/2014/main" id="{02B331AE-B7C1-5139-354E-E6E4BE5C13C2}"/>
              </a:ext>
            </a:extLst>
          </p:cNvPr>
          <p:cNvSpPr/>
          <p:nvPr/>
        </p:nvSpPr>
        <p:spPr>
          <a:xfrm>
            <a:off x="5464625" y="880768"/>
            <a:ext cx="1764297" cy="451503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Gênero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" name="Google Shape;1574;p114">
            <a:extLst>
              <a:ext uri="{FF2B5EF4-FFF2-40B4-BE49-F238E27FC236}">
                <a16:creationId xmlns:a16="http://schemas.microsoft.com/office/drawing/2014/main" id="{E7EA18B2-1600-3512-461D-34678B1F84E9}"/>
              </a:ext>
            </a:extLst>
          </p:cNvPr>
          <p:cNvSpPr/>
          <p:nvPr/>
        </p:nvSpPr>
        <p:spPr>
          <a:xfrm>
            <a:off x="10191089" y="2049426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2" name="Google Shape;1574;p114">
            <a:extLst>
              <a:ext uri="{FF2B5EF4-FFF2-40B4-BE49-F238E27FC236}">
                <a16:creationId xmlns:a16="http://schemas.microsoft.com/office/drawing/2014/main" id="{3B52CCBF-7C4F-8C12-6525-8016FB8A0233}"/>
              </a:ext>
            </a:extLst>
          </p:cNvPr>
          <p:cNvSpPr/>
          <p:nvPr/>
        </p:nvSpPr>
        <p:spPr>
          <a:xfrm>
            <a:off x="10193283" y="2493567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Endereço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3" name="Google Shape;1574;p114">
            <a:extLst>
              <a:ext uri="{FF2B5EF4-FFF2-40B4-BE49-F238E27FC236}">
                <a16:creationId xmlns:a16="http://schemas.microsoft.com/office/drawing/2014/main" id="{85BA9C3D-845D-0B56-EAC0-41B3A8FFE082}"/>
              </a:ext>
            </a:extLst>
          </p:cNvPr>
          <p:cNvSpPr/>
          <p:nvPr/>
        </p:nvSpPr>
        <p:spPr>
          <a:xfrm>
            <a:off x="-34807" y="4259387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4" name="Google Shape;1574;p114">
            <a:extLst>
              <a:ext uri="{FF2B5EF4-FFF2-40B4-BE49-F238E27FC236}">
                <a16:creationId xmlns:a16="http://schemas.microsoft.com/office/drawing/2014/main" id="{C70DDB6D-3316-7802-6B72-714DDD84E150}"/>
              </a:ext>
            </a:extLst>
          </p:cNvPr>
          <p:cNvSpPr/>
          <p:nvPr/>
        </p:nvSpPr>
        <p:spPr>
          <a:xfrm>
            <a:off x="-12229" y="4682362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Dt_nascimento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5" name="Google Shape;1574;p114">
            <a:extLst>
              <a:ext uri="{FF2B5EF4-FFF2-40B4-BE49-F238E27FC236}">
                <a16:creationId xmlns:a16="http://schemas.microsoft.com/office/drawing/2014/main" id="{63C5078F-2DF6-4B9E-DEB6-FF23D0ECC241}"/>
              </a:ext>
            </a:extLst>
          </p:cNvPr>
          <p:cNvSpPr/>
          <p:nvPr/>
        </p:nvSpPr>
        <p:spPr>
          <a:xfrm>
            <a:off x="4785401" y="5768223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6" name="Google Shape;1574;p114">
            <a:extLst>
              <a:ext uri="{FF2B5EF4-FFF2-40B4-BE49-F238E27FC236}">
                <a16:creationId xmlns:a16="http://schemas.microsoft.com/office/drawing/2014/main" id="{F692DD46-A846-30E7-3C36-4B91A37888A2}"/>
              </a:ext>
            </a:extLst>
          </p:cNvPr>
          <p:cNvSpPr/>
          <p:nvPr/>
        </p:nvSpPr>
        <p:spPr>
          <a:xfrm>
            <a:off x="4785401" y="619119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Dt_nascimento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82" name="Conector reto 81">
            <a:extLst>
              <a:ext uri="{FF2B5EF4-FFF2-40B4-BE49-F238E27FC236}">
                <a16:creationId xmlns:a16="http://schemas.microsoft.com/office/drawing/2014/main" id="{045F7626-9F7C-8633-E83E-777B734D754C}"/>
              </a:ext>
            </a:extLst>
          </p:cNvPr>
          <p:cNvCxnSpPr>
            <a:stCxn id="55" idx="4"/>
            <a:endCxn id="4" idx="0"/>
          </p:cNvCxnSpPr>
          <p:nvPr/>
        </p:nvCxnSpPr>
        <p:spPr>
          <a:xfrm>
            <a:off x="4357555" y="1572197"/>
            <a:ext cx="993374" cy="2791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ector reto 98">
            <a:extLst>
              <a:ext uri="{FF2B5EF4-FFF2-40B4-BE49-F238E27FC236}">
                <a16:creationId xmlns:a16="http://schemas.microsoft.com/office/drawing/2014/main" id="{BA278A9A-11D4-1CE5-38D6-449FF8937BC7}"/>
              </a:ext>
            </a:extLst>
          </p:cNvPr>
          <p:cNvCxnSpPr>
            <a:cxnSpLocks/>
            <a:stCxn id="70" idx="4"/>
            <a:endCxn id="4" idx="0"/>
          </p:cNvCxnSpPr>
          <p:nvPr/>
        </p:nvCxnSpPr>
        <p:spPr>
          <a:xfrm flipH="1">
            <a:off x="5350929" y="1332271"/>
            <a:ext cx="995845" cy="5191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5D2EE90F-AEFB-A867-9899-862B2C032C9C}"/>
              </a:ext>
            </a:extLst>
          </p:cNvPr>
          <p:cNvCxnSpPr>
            <a:cxnSpLocks/>
            <a:stCxn id="7" idx="2"/>
            <a:endCxn id="75" idx="0"/>
          </p:cNvCxnSpPr>
          <p:nvPr/>
        </p:nvCxnSpPr>
        <p:spPr>
          <a:xfrm>
            <a:off x="5340475" y="5631426"/>
            <a:ext cx="453676" cy="1367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Conector reto 107">
            <a:extLst>
              <a:ext uri="{FF2B5EF4-FFF2-40B4-BE49-F238E27FC236}">
                <a16:creationId xmlns:a16="http://schemas.microsoft.com/office/drawing/2014/main" id="{EFC00283-6712-04CA-7756-AA7062B0E246}"/>
              </a:ext>
            </a:extLst>
          </p:cNvPr>
          <p:cNvCxnSpPr>
            <a:cxnSpLocks/>
            <a:stCxn id="72" idx="5"/>
            <a:endCxn id="5" idx="3"/>
          </p:cNvCxnSpPr>
          <p:nvPr/>
        </p:nvCxnSpPr>
        <p:spPr>
          <a:xfrm flipH="1">
            <a:off x="11300178" y="2934257"/>
            <a:ext cx="615149" cy="7346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Conector reto 114">
            <a:extLst>
              <a:ext uri="{FF2B5EF4-FFF2-40B4-BE49-F238E27FC236}">
                <a16:creationId xmlns:a16="http://schemas.microsoft.com/office/drawing/2014/main" id="{3C865A9E-60D7-B6CD-A04A-0172592E5CC9}"/>
              </a:ext>
            </a:extLst>
          </p:cNvPr>
          <p:cNvCxnSpPr>
            <a:cxnSpLocks/>
            <a:stCxn id="6" idx="1"/>
            <a:endCxn id="73" idx="0"/>
          </p:cNvCxnSpPr>
          <p:nvPr/>
        </p:nvCxnSpPr>
        <p:spPr>
          <a:xfrm flipH="1">
            <a:off x="973943" y="3790244"/>
            <a:ext cx="166236" cy="4691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Google Shape;1476;p111">
            <a:extLst>
              <a:ext uri="{FF2B5EF4-FFF2-40B4-BE49-F238E27FC236}">
                <a16:creationId xmlns:a16="http://schemas.microsoft.com/office/drawing/2014/main" id="{AC9C56DE-14F6-AF6F-4F18-26D4465A292B}"/>
              </a:ext>
            </a:extLst>
          </p:cNvPr>
          <p:cNvSpPr/>
          <p:nvPr/>
        </p:nvSpPr>
        <p:spPr>
          <a:xfrm>
            <a:off x="7044396" y="5021498"/>
            <a:ext cx="2048469" cy="889814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Profere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24" name="Conector: Angulado 123">
            <a:extLst>
              <a:ext uri="{FF2B5EF4-FFF2-40B4-BE49-F238E27FC236}">
                <a16:creationId xmlns:a16="http://schemas.microsoft.com/office/drawing/2014/main" id="{05846B50-B0E3-84A5-4956-0080B3F3FAA9}"/>
              </a:ext>
            </a:extLst>
          </p:cNvPr>
          <p:cNvCxnSpPr>
            <a:cxnSpLocks/>
            <a:stCxn id="8" idx="0"/>
            <a:endCxn id="122" idx="3"/>
          </p:cNvCxnSpPr>
          <p:nvPr/>
        </p:nvCxnSpPr>
        <p:spPr>
          <a:xfrm rot="16200000" flipV="1">
            <a:off x="9464652" y="5094618"/>
            <a:ext cx="559968" cy="1303541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Conector: Angulado 126">
            <a:extLst>
              <a:ext uri="{FF2B5EF4-FFF2-40B4-BE49-F238E27FC236}">
                <a16:creationId xmlns:a16="http://schemas.microsoft.com/office/drawing/2014/main" id="{5B2D5B62-A262-2030-A22D-F80EE4EE03C0}"/>
              </a:ext>
            </a:extLst>
          </p:cNvPr>
          <p:cNvCxnSpPr>
            <a:cxnSpLocks/>
            <a:stCxn id="122" idx="1"/>
            <a:endCxn id="7" idx="3"/>
          </p:cNvCxnSpPr>
          <p:nvPr/>
        </p:nvCxnSpPr>
        <p:spPr>
          <a:xfrm rot="10800000">
            <a:off x="6590720" y="5270183"/>
            <a:ext cx="453677" cy="19622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Google Shape;1574;p114">
            <a:extLst>
              <a:ext uri="{FF2B5EF4-FFF2-40B4-BE49-F238E27FC236}">
                <a16:creationId xmlns:a16="http://schemas.microsoft.com/office/drawing/2014/main" id="{E65BC127-42BB-59E3-86BD-9B92CB13801B}"/>
              </a:ext>
            </a:extLst>
          </p:cNvPr>
          <p:cNvSpPr/>
          <p:nvPr/>
        </p:nvSpPr>
        <p:spPr>
          <a:xfrm>
            <a:off x="3430142" y="2825033"/>
            <a:ext cx="1379174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Papel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31" name="Conector reto 130">
            <a:extLst>
              <a:ext uri="{FF2B5EF4-FFF2-40B4-BE49-F238E27FC236}">
                <a16:creationId xmlns:a16="http://schemas.microsoft.com/office/drawing/2014/main" id="{86BD4994-6E9B-0611-442E-F7995D0CBC2D}"/>
              </a:ext>
            </a:extLst>
          </p:cNvPr>
          <p:cNvCxnSpPr>
            <a:cxnSpLocks/>
            <a:endCxn id="130" idx="5"/>
          </p:cNvCxnSpPr>
          <p:nvPr/>
        </p:nvCxnSpPr>
        <p:spPr>
          <a:xfrm flipH="1" flipV="1">
            <a:off x="4607341" y="3265723"/>
            <a:ext cx="296697" cy="2509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DDA009-90A4-3DA1-7722-55B5D8F204A2}"/>
              </a:ext>
            </a:extLst>
          </p:cNvPr>
          <p:cNvSpPr txBox="1"/>
          <p:nvPr/>
        </p:nvSpPr>
        <p:spPr>
          <a:xfrm>
            <a:off x="6607851" y="4920498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(1, 1)</a:t>
            </a:r>
          </a:p>
        </p:txBody>
      </p:sp>
    </p:spTree>
    <p:extLst>
      <p:ext uri="{BB962C8B-B14F-4D97-AF65-F5344CB8AC3E}">
        <p14:creationId xmlns:p14="http://schemas.microsoft.com/office/powerpoint/2010/main" val="2237334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BEC34-A2D0-4418-97A0-BBB1EFFB4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FBC513-A1D6-67FE-E89A-E710E883D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Recapitulando</a:t>
            </a:r>
          </a:p>
          <a:p>
            <a:pPr>
              <a:spcBef>
                <a:spcPts val="1800"/>
              </a:spcBef>
            </a:pPr>
            <a:r>
              <a:rPr lang="pt-BR" b="1" dirty="0"/>
              <a:t>Modelo MER Estendido (EER ou MER-</a:t>
            </a:r>
            <a:r>
              <a:rPr lang="pt-BR" b="1" dirty="0" err="1"/>
              <a:t>Ex</a:t>
            </a:r>
            <a:r>
              <a:rPr lang="pt-BR" b="1" dirty="0"/>
              <a:t>)</a:t>
            </a:r>
          </a:p>
          <a:p>
            <a:pPr>
              <a:spcBef>
                <a:spcPts val="1800"/>
              </a:spcBef>
            </a:pPr>
            <a:r>
              <a:rPr lang="pt-BR" dirty="0"/>
              <a:t>Agregação</a:t>
            </a:r>
          </a:p>
          <a:p>
            <a:pPr lvl="1"/>
            <a:r>
              <a:rPr lang="pt-BR" dirty="0"/>
              <a:t>Definição</a:t>
            </a:r>
          </a:p>
          <a:p>
            <a:pPr lvl="1"/>
            <a:r>
              <a:rPr lang="pt-BR" dirty="0"/>
              <a:t>Componentes</a:t>
            </a:r>
          </a:p>
          <a:p>
            <a:pPr lvl="1"/>
            <a:r>
              <a:rPr lang="pt-BR" dirty="0"/>
              <a:t>Quando utilizar</a:t>
            </a:r>
          </a:p>
          <a:p>
            <a:pPr>
              <a:spcBef>
                <a:spcPts val="1800"/>
              </a:spcBef>
            </a:pPr>
            <a:r>
              <a:rPr lang="pt-BR" dirty="0"/>
              <a:t>Generalização/Especialização</a:t>
            </a:r>
          </a:p>
          <a:p>
            <a:pPr lvl="1"/>
            <a:r>
              <a:rPr lang="pt-BR" dirty="0"/>
              <a:t>Definição</a:t>
            </a:r>
          </a:p>
          <a:p>
            <a:pPr lvl="1"/>
            <a:r>
              <a:rPr lang="pt-BR" dirty="0"/>
              <a:t>Herança</a:t>
            </a:r>
          </a:p>
          <a:p>
            <a:pPr lvl="1"/>
            <a:r>
              <a:rPr lang="pt-BR" dirty="0"/>
              <a:t>Restrições de especialização</a:t>
            </a:r>
          </a:p>
          <a:p>
            <a:pPr lvl="1"/>
            <a:r>
              <a:rPr lang="pt-BR" dirty="0"/>
              <a:t>Múltiplos níveis </a:t>
            </a:r>
          </a:p>
          <a:p>
            <a:pPr lvl="1"/>
            <a:r>
              <a:rPr lang="pt-BR" dirty="0"/>
              <a:t>Quando utilizar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69146E-A298-9CF4-7301-F7FBCCCDA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DCC34FD-8E4D-3E43-7FA6-E613594BDF6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159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4DC37-0CB1-24BE-3E93-58CEBB906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Estendido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D1ADB9-6FBD-2654-8ADB-F7A7CC191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ER de </a:t>
            </a:r>
            <a:r>
              <a:rPr lang="pt-BR" i="1" dirty="0"/>
              <a:t>Chen</a:t>
            </a:r>
            <a:r>
              <a:rPr lang="pt-BR" dirty="0"/>
              <a:t> da aula anterior são suficientes para representar </a:t>
            </a:r>
            <a:r>
              <a:rPr lang="pt-BR" i="1" dirty="0" err="1"/>
              <a:t>schemas</a:t>
            </a:r>
            <a:r>
              <a:rPr lang="pt-BR" dirty="0"/>
              <a:t> de bancos de dados para muitas aplicações de negócio</a:t>
            </a:r>
          </a:p>
          <a:p>
            <a:pPr>
              <a:spcBef>
                <a:spcPts val="2400"/>
              </a:spcBef>
            </a:pPr>
            <a:r>
              <a:rPr lang="pt-BR" dirty="0"/>
              <a:t>Entretanto, desde os anos 70, foi percebido que </a:t>
            </a:r>
            <a:r>
              <a:rPr lang="pt-BR" b="1" dirty="0"/>
              <a:t>certas propriedades dos dados e restrições não eram adequadamente representados</a:t>
            </a:r>
          </a:p>
        </p:txBody>
      </p:sp>
      <p:pic>
        <p:nvPicPr>
          <p:cNvPr id="1026" name="Picture 2" descr="Software CAD para programadores CAM | OPEN MIND">
            <a:extLst>
              <a:ext uri="{FF2B5EF4-FFF2-40B4-BE49-F238E27FC236}">
                <a16:creationId xmlns:a16="http://schemas.microsoft.com/office/drawing/2014/main" id="{BB368819-F6CA-18FC-AC40-7A85428ED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66" y="4050420"/>
            <a:ext cx="3533601" cy="190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S (Geographic Information System)">
            <a:extLst>
              <a:ext uri="{FF2B5EF4-FFF2-40B4-BE49-F238E27FC236}">
                <a16:creationId xmlns:a16="http://schemas.microsoft.com/office/drawing/2014/main" id="{C6B622F8-50CB-D4D1-40C1-830974F7A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801" y="4050420"/>
            <a:ext cx="2967965" cy="262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elecommunications network | Benefits, Types &amp; Components | Britannica">
            <a:extLst>
              <a:ext uri="{FF2B5EF4-FFF2-40B4-BE49-F238E27FC236}">
                <a16:creationId xmlns:a16="http://schemas.microsoft.com/office/drawing/2014/main" id="{71205C71-F4CE-06BF-6F3C-0323C5CA1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617" y="4055077"/>
            <a:ext cx="3837517" cy="2302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A313683-3A12-2005-8B90-A98FEB457A69}"/>
              </a:ext>
            </a:extLst>
          </p:cNvPr>
          <p:cNvSpPr txBox="1"/>
          <p:nvPr/>
        </p:nvSpPr>
        <p:spPr>
          <a:xfrm>
            <a:off x="1478844" y="6265335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CAD/CAM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CF92158-7BB1-DAB7-3D46-27ADAABB5F43}"/>
              </a:ext>
            </a:extLst>
          </p:cNvPr>
          <p:cNvSpPr txBox="1"/>
          <p:nvPr/>
        </p:nvSpPr>
        <p:spPr>
          <a:xfrm>
            <a:off x="5621584" y="6603889"/>
            <a:ext cx="46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SIG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AF481E-42D1-C346-CCF6-6FBE29F61557}"/>
              </a:ext>
            </a:extLst>
          </p:cNvPr>
          <p:cNvSpPr txBox="1"/>
          <p:nvPr/>
        </p:nvSpPr>
        <p:spPr>
          <a:xfrm>
            <a:off x="8989799" y="6402509"/>
            <a:ext cx="1723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Telecomunicações</a:t>
            </a:r>
          </a:p>
        </p:txBody>
      </p:sp>
    </p:spTree>
    <p:extLst>
      <p:ext uri="{BB962C8B-B14F-4D97-AF65-F5344CB8AC3E}">
        <p14:creationId xmlns:p14="http://schemas.microsoft.com/office/powerpoint/2010/main" val="2146931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7C7D6-752A-563E-0906-D0D9846B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Estendido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781707-D287-BA08-B32D-C66E959AF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4600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Desenvolvimento de conceitos semânticos adicionais de modelagem de dados</a:t>
            </a:r>
          </a:p>
          <a:p>
            <a:pPr lvl="1"/>
            <a:r>
              <a:rPr lang="pt-BR" dirty="0"/>
              <a:t>Representação do conhecimento (IA)</a:t>
            </a:r>
          </a:p>
          <a:p>
            <a:pPr lvl="1"/>
            <a:r>
              <a:rPr lang="pt-BR" dirty="0"/>
              <a:t>Modelagem de objetos (ES)</a:t>
            </a:r>
          </a:p>
          <a:p>
            <a:pPr lvl="1"/>
            <a:endParaRPr lang="pt-BR" dirty="0"/>
          </a:p>
          <a:p>
            <a:r>
              <a:rPr lang="pt-BR" dirty="0"/>
              <a:t>Necessidade de novas características para </a:t>
            </a:r>
            <a:r>
              <a:rPr lang="pt-BR" b="1" dirty="0"/>
              <a:t>modelos semânticos de dados </a:t>
            </a:r>
            <a:r>
              <a:rPr lang="pt-BR" dirty="0"/>
              <a:t>e como encaixá-los no Modelo ER</a:t>
            </a:r>
          </a:p>
          <a:p>
            <a:endParaRPr lang="pt-BR" dirty="0"/>
          </a:p>
        </p:txBody>
      </p:sp>
      <p:pic>
        <p:nvPicPr>
          <p:cNvPr id="3076" name="Picture 4" descr="Ontologia para Desenvolvedores | Bazar do Conhecimento">
            <a:extLst>
              <a:ext uri="{FF2B5EF4-FFF2-40B4-BE49-F238E27FC236}">
                <a16:creationId xmlns:a16="http://schemas.microsoft.com/office/drawing/2014/main" id="{F97628B2-643E-39C1-2AE6-8AD368458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733" y="2068513"/>
            <a:ext cx="2379028" cy="2717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3080" name="Picture 8" descr="Object Model for Car Rental Company Example">
            <a:extLst>
              <a:ext uri="{FF2B5EF4-FFF2-40B4-BE49-F238E27FC236}">
                <a16:creationId xmlns:a16="http://schemas.microsoft.com/office/drawing/2014/main" id="{AA87AF37-B482-8324-5C9A-0C19AF57B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695" y="2068513"/>
            <a:ext cx="3406757" cy="2627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34266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3A7C1-1F11-75D4-5B78-8F3CAA76C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 Estendido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7AE1F-55A0-161B-5F36-39CA5CDAC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3359" cy="4351338"/>
          </a:xfrm>
        </p:spPr>
        <p:txBody>
          <a:bodyPr/>
          <a:lstStyle/>
          <a:p>
            <a:r>
              <a:rPr lang="pt-BR" dirty="0"/>
              <a:t>Surge o </a:t>
            </a:r>
            <a:r>
              <a:rPr lang="pt-BR" b="1" dirty="0"/>
              <a:t>MER Estendido (EER ou MER-EX)</a:t>
            </a:r>
          </a:p>
          <a:p>
            <a:pPr>
              <a:spcBef>
                <a:spcPts val="2400"/>
              </a:spcBef>
            </a:pPr>
            <a:r>
              <a:rPr lang="pt-BR" dirty="0"/>
              <a:t>Melhorar as capacidades representativas do MER básico</a:t>
            </a:r>
          </a:p>
          <a:p>
            <a:pPr>
              <a:spcBef>
                <a:spcPts val="2400"/>
              </a:spcBef>
            </a:pPr>
            <a:r>
              <a:rPr lang="pt-BR" dirty="0"/>
              <a:t>Este modelo implementa casos de:</a:t>
            </a:r>
          </a:p>
          <a:p>
            <a:pPr lvl="1"/>
            <a:r>
              <a:rPr lang="pt-BR" dirty="0"/>
              <a:t>Generalização/Especialização</a:t>
            </a:r>
          </a:p>
          <a:p>
            <a:pPr lvl="1"/>
            <a:r>
              <a:rPr lang="pt-BR" dirty="0"/>
              <a:t>Agregação</a:t>
            </a:r>
          </a:p>
        </p:txBody>
      </p:sp>
      <p:pic>
        <p:nvPicPr>
          <p:cNvPr id="2050" name="Picture 2" descr="Modelo Entidade Relacionamento Estendido – eduardovitor">
            <a:extLst>
              <a:ext uri="{FF2B5EF4-FFF2-40B4-BE49-F238E27FC236}">
                <a16:creationId xmlns:a16="http://schemas.microsoft.com/office/drawing/2014/main" id="{160DA939-A15A-0B77-B619-5A89EE66B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559" y="1825625"/>
            <a:ext cx="490537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154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CA7F4-2A5A-3552-DD06-603A75BB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FBBD56-741F-6B06-865B-9690720F4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Recapitulando</a:t>
            </a:r>
          </a:p>
          <a:p>
            <a:pPr>
              <a:spcBef>
                <a:spcPts val="1800"/>
              </a:spcBef>
            </a:pPr>
            <a:r>
              <a:rPr lang="pt-BR" dirty="0"/>
              <a:t>Modelo MER Estendido (EER ou 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  <a:p>
            <a:pPr>
              <a:spcBef>
                <a:spcPts val="1800"/>
              </a:spcBef>
            </a:pPr>
            <a:r>
              <a:rPr lang="pt-BR" b="1" dirty="0"/>
              <a:t>Agregação</a:t>
            </a:r>
          </a:p>
          <a:p>
            <a:pPr lvl="1"/>
            <a:r>
              <a:rPr lang="pt-BR" dirty="0"/>
              <a:t>Definição</a:t>
            </a:r>
          </a:p>
          <a:p>
            <a:pPr lvl="1"/>
            <a:r>
              <a:rPr lang="pt-BR" dirty="0"/>
              <a:t>Componentes</a:t>
            </a:r>
          </a:p>
          <a:p>
            <a:pPr lvl="1"/>
            <a:r>
              <a:rPr lang="pt-BR" dirty="0"/>
              <a:t>Quando utilizar</a:t>
            </a:r>
          </a:p>
          <a:p>
            <a:pPr>
              <a:spcBef>
                <a:spcPts val="1800"/>
              </a:spcBef>
            </a:pPr>
            <a:r>
              <a:rPr lang="pt-BR" dirty="0"/>
              <a:t>Generalização/Especialização</a:t>
            </a:r>
          </a:p>
          <a:p>
            <a:pPr lvl="1"/>
            <a:r>
              <a:rPr lang="pt-BR" dirty="0"/>
              <a:t>Definição</a:t>
            </a:r>
          </a:p>
          <a:p>
            <a:pPr lvl="1"/>
            <a:r>
              <a:rPr lang="pt-BR" dirty="0"/>
              <a:t>Herança</a:t>
            </a:r>
          </a:p>
          <a:p>
            <a:pPr lvl="1"/>
            <a:r>
              <a:rPr lang="pt-BR" dirty="0"/>
              <a:t>Restrições de especialização</a:t>
            </a:r>
          </a:p>
          <a:p>
            <a:pPr lvl="1"/>
            <a:r>
              <a:rPr lang="pt-BR" dirty="0"/>
              <a:t>Múltiplos níveis </a:t>
            </a:r>
          </a:p>
          <a:p>
            <a:pPr lvl="1"/>
            <a:r>
              <a:rPr lang="pt-BR" dirty="0"/>
              <a:t>Quando utilizar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6114A8-BD2A-4D21-E20E-82B33C8B9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24699E3-B107-8343-FFBC-950748E9D37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965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3CF6E-D7EC-9599-9536-2A13DA0B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F97AA0-8CC8-93D1-7C32-8F74D621F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Conceito geral: construção de objetos compostos a partir de objetos componentes 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IDEIA: associar elementos de modelagem para criar outros elementos, que representam essa associação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Novos relacionamentos a partir de relacionamentos existentes</a:t>
            </a:r>
          </a:p>
        </p:txBody>
      </p:sp>
    </p:spTree>
    <p:extLst>
      <p:ext uri="{BB962C8B-B14F-4D97-AF65-F5344CB8AC3E}">
        <p14:creationId xmlns:p14="http://schemas.microsoft.com/office/powerpoint/2010/main" val="16177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DA11B-5EFD-552A-D841-68055ED05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4666119-391C-5EC5-1668-63B08CD45215}"/>
              </a:ext>
            </a:extLst>
          </p:cNvPr>
          <p:cNvSpPr txBox="1"/>
          <p:nvPr/>
        </p:nvSpPr>
        <p:spPr>
          <a:xfrm>
            <a:off x="3048000" y="32471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491FAFB-82D2-DA5A-E246-E8D0B5EF8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64" y="1705448"/>
            <a:ext cx="8849960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19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51A7F-DC38-2943-1EE7-4B1D4999B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B38B6D-4D5B-C816-BC69-BCA97E60A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Agregando atributos a CE (Conjunto de Entidades)</a:t>
            </a:r>
          </a:p>
          <a:p>
            <a:pPr lvl="1"/>
            <a:r>
              <a:rPr lang="pt-BR" dirty="0"/>
              <a:t>Agregamos os valores dos atributos de um objeto para formar um novo objeto</a:t>
            </a:r>
          </a:p>
          <a:p>
            <a:pPr lvl="1"/>
            <a:endParaRPr lang="pt-BR" dirty="0"/>
          </a:p>
          <a:p>
            <a:r>
              <a:rPr lang="pt-BR" dirty="0"/>
              <a:t>Agregando CE e CR (Conjunto de Relacionamentos)</a:t>
            </a:r>
          </a:p>
          <a:p>
            <a:pPr lvl="1"/>
            <a:r>
              <a:rPr lang="pt-BR" dirty="0"/>
              <a:t>Possibilidade de combinar objetos que são relacionados por uma instância de relacionamento específica em um nível de agregação de nível mais alto</a:t>
            </a:r>
          </a:p>
        </p:txBody>
      </p:sp>
    </p:spTree>
    <p:extLst>
      <p:ext uri="{BB962C8B-B14F-4D97-AF65-F5344CB8AC3E}">
        <p14:creationId xmlns:p14="http://schemas.microsoft.com/office/powerpoint/2010/main" val="2990558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A224C-E1CB-CEF3-676B-A4252AFE1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F2FD5C-13CD-2829-A753-629E9086C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Ex.: parte de um MER para uma aplicação de Consultório Médico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Médico atende Paciente por meio de uma Consulta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Como modelar </a:t>
            </a:r>
            <a:r>
              <a:rPr lang="pt-BR" b="1" i="1" dirty="0"/>
              <a:t>cada consulta</a:t>
            </a:r>
            <a:r>
              <a:rPr lang="pt-BR" dirty="0"/>
              <a:t>?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96D58E9-B9E8-ABC4-4B00-022F699DC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84" y="3620911"/>
            <a:ext cx="11107700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5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5B51B-E202-5D4C-A432-240A86BB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5FEF6C-1DA8-362F-E02B-6670BA3DA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semântica desta aplicação, a ideia de </a:t>
            </a:r>
            <a:r>
              <a:rPr lang="pt-BR" b="1" dirty="0">
                <a:solidFill>
                  <a:srgbClr val="FF0000"/>
                </a:solidFill>
              </a:rPr>
              <a:t>CONSULTA</a:t>
            </a:r>
            <a:r>
              <a:rPr lang="pt-BR" dirty="0"/>
              <a:t> é relevante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Compor uma entidade </a:t>
            </a:r>
            <a:r>
              <a:rPr lang="pt-BR" dirty="0">
                <a:solidFill>
                  <a:srgbClr val="FF0000"/>
                </a:solidFill>
              </a:rPr>
              <a:t>Consulta</a:t>
            </a:r>
            <a:r>
              <a:rPr lang="pt-BR" dirty="0"/>
              <a:t> a partir de um relacionamento entre uma entidade </a:t>
            </a:r>
            <a:r>
              <a:rPr lang="pt-BR" dirty="0">
                <a:solidFill>
                  <a:srgbClr val="FF0000"/>
                </a:solidFill>
              </a:rPr>
              <a:t>Paciente</a:t>
            </a:r>
            <a:r>
              <a:rPr lang="pt-BR" dirty="0"/>
              <a:t> e uma entidade </a:t>
            </a:r>
            <a:r>
              <a:rPr lang="pt-BR" dirty="0">
                <a:solidFill>
                  <a:srgbClr val="FF0000"/>
                </a:solidFill>
              </a:rPr>
              <a:t>Médico</a:t>
            </a:r>
            <a:r>
              <a:rPr lang="pt-BR" dirty="0"/>
              <a:t>, com uma </a:t>
            </a:r>
            <a:r>
              <a:rPr lang="pt-BR" b="1" dirty="0"/>
              <a:t>Data</a:t>
            </a:r>
            <a:r>
              <a:rPr lang="pt-BR" dirty="0"/>
              <a:t> específica</a:t>
            </a:r>
          </a:p>
          <a:p>
            <a:pPr lvl="1">
              <a:spcBef>
                <a:spcPts val="1800"/>
              </a:spcBef>
            </a:pPr>
            <a:endParaRPr lang="pt-BR" dirty="0"/>
          </a:p>
          <a:p>
            <a:pPr>
              <a:spcBef>
                <a:spcPts val="1800"/>
              </a:spcBef>
            </a:pPr>
            <a:r>
              <a:rPr lang="pt-BR" dirty="0"/>
              <a:t>Com </a:t>
            </a:r>
            <a:r>
              <a:rPr lang="pt-BR" u="sng" dirty="0"/>
              <a:t>CPF</a:t>
            </a:r>
            <a:r>
              <a:rPr lang="pt-BR" dirty="0"/>
              <a:t>, </a:t>
            </a:r>
            <a:r>
              <a:rPr lang="pt-BR" u="sng" dirty="0"/>
              <a:t>CRM</a:t>
            </a:r>
            <a:r>
              <a:rPr lang="pt-BR" dirty="0"/>
              <a:t> e </a:t>
            </a:r>
            <a:r>
              <a:rPr lang="pt-BR" u="sng" dirty="0"/>
              <a:t>Data</a:t>
            </a:r>
            <a:r>
              <a:rPr lang="pt-BR" dirty="0"/>
              <a:t> seria possível identificar cada consulta univocamente</a:t>
            </a:r>
          </a:p>
          <a:p>
            <a:pPr>
              <a:spcBef>
                <a:spcPts val="1800"/>
              </a:spcBef>
            </a:pPr>
            <a:endParaRPr lang="pt-BR" dirty="0"/>
          </a:p>
          <a:p>
            <a:pPr>
              <a:spcBef>
                <a:spcPts val="1800"/>
              </a:spcBef>
            </a:pPr>
            <a:r>
              <a:rPr lang="pt-BR" dirty="0"/>
              <a:t>Como representar?</a:t>
            </a:r>
          </a:p>
        </p:txBody>
      </p:sp>
    </p:spTree>
    <p:extLst>
      <p:ext uri="{BB962C8B-B14F-4D97-AF65-F5344CB8AC3E}">
        <p14:creationId xmlns:p14="http://schemas.microsoft.com/office/powerpoint/2010/main" val="2320473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59E0-C241-1B94-AFCE-E0D2D858D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0EFA5-94AC-8DB6-D511-D79643244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F2267A-E405-06B5-ED61-B92C20F97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modelar a consulta?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1AF9BD-8AC3-3088-B6CB-3B4F27ADB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97" y="2529947"/>
            <a:ext cx="11326806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85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526AA-9FB9-0341-89A2-31ADB216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D6BE8-73F0-B669-0EB9-84521835A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560025-5321-4CF5-BBC6-0AE2DC97C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10DBE9-DE0A-8A23-A147-197C1953D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89" y="1512527"/>
            <a:ext cx="10315222" cy="527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36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6511A-7765-4014-AB50-C9BE916F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57592-0F90-F010-C940-53C2A3E31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2333D8-1F02-83C1-48A5-C5A565A23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Chave da Consulta composta por: </a:t>
            </a:r>
            <a:r>
              <a:rPr lang="pt-BR" u="sng" dirty="0"/>
              <a:t>CPF</a:t>
            </a:r>
            <a:r>
              <a:rPr lang="pt-BR" dirty="0"/>
              <a:t>, </a:t>
            </a:r>
            <a:r>
              <a:rPr lang="pt-BR" u="sng" dirty="0"/>
              <a:t>CRM</a:t>
            </a:r>
            <a:r>
              <a:rPr lang="pt-BR" dirty="0"/>
              <a:t> e </a:t>
            </a:r>
            <a:r>
              <a:rPr lang="pt-BR" u="sng" dirty="0"/>
              <a:t>Data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FC154E-540B-5AB8-8F80-F6E48D159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70" y="2813186"/>
            <a:ext cx="11403016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32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9798A-556F-8EC7-9154-5D412264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21B9E-1604-0216-6D20-3D1E9E063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AD57A0-A489-C783-F545-73B02947A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F97062-3EB9-8C92-1B52-6259F92CD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32" y="1690688"/>
            <a:ext cx="10279335" cy="492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29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5D8F-ED60-0168-FA3D-A7872E4B8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33F55-A454-D142-72CC-0D127DED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EB270E-2DC4-E160-78AF-D8606B25C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Ex</a:t>
            </a:r>
            <a:r>
              <a:rPr lang="pt-BR" dirty="0"/>
              <a:t>: DER de aplicação para Pós-graduação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Restrição semântica: o Título sob o qual é realizada uma orientação é </a:t>
            </a:r>
            <a:r>
              <a:rPr lang="pt-BR" b="1" dirty="0"/>
              <a:t>único</a:t>
            </a:r>
            <a:r>
              <a:rPr lang="pt-BR" dirty="0"/>
              <a:t> para todo o sistema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Um atributo do relacionamento poderia identifica-lo univocamente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4B572AE3-5503-249E-894D-5B2206C6156A}"/>
              </a:ext>
            </a:extLst>
          </p:cNvPr>
          <p:cNvGrpSpPr/>
          <p:nvPr/>
        </p:nvGrpSpPr>
        <p:grpSpPr>
          <a:xfrm>
            <a:off x="838200" y="3923449"/>
            <a:ext cx="10515600" cy="2569426"/>
            <a:chOff x="1178315" y="3742474"/>
            <a:chExt cx="9564435" cy="2074799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C851422-0FC2-9363-0457-5AECE062E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8315" y="3750060"/>
              <a:ext cx="9564435" cy="2067213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910ED8A3-F78D-F8BA-B912-B83ABDC71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8315" y="3742474"/>
              <a:ext cx="2467996" cy="1296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8359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E2204-FD67-BDA9-43A9-49BC17786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A130C-F6E5-A15F-1D48-502DC31E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F4A5CE-27ED-7948-AFAB-7BE61A4DC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Ex</a:t>
            </a:r>
            <a:r>
              <a:rPr lang="pt-BR" dirty="0"/>
              <a:t>: DER de aplicação para Pós-graduação</a:t>
            </a:r>
          </a:p>
          <a:p>
            <a:pPr lvl="1"/>
            <a:r>
              <a:rPr lang="pt-BR" dirty="0"/>
              <a:t>Como modelar uma bolsa para o Projeto da orientação?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38ADC8-A3B3-F5D5-8AA0-EA58CFFE0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43" y="2712508"/>
            <a:ext cx="9405313" cy="413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65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3A45A-955D-63DC-0B19-5D4A360BD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7D470-F018-2501-A815-04E573FCA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4AABCF-7F8D-C374-F314-3695D41C5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Ex</a:t>
            </a:r>
            <a:r>
              <a:rPr lang="pt-BR" dirty="0"/>
              <a:t>: Consulta também poderia ser identificada por um Número de Registro, além de CPF, CRM e Data</a:t>
            </a:r>
          </a:p>
          <a:p>
            <a:pPr lvl="1"/>
            <a:r>
              <a:rPr lang="pt-BR" dirty="0"/>
              <a:t>Neste caso, </a:t>
            </a:r>
            <a:r>
              <a:rPr lang="pt-BR" b="1" dirty="0"/>
              <a:t>um deles </a:t>
            </a:r>
            <a:r>
              <a:rPr lang="pt-BR" dirty="0"/>
              <a:t>deve ser escolhido como chave principal</a:t>
            </a:r>
          </a:p>
          <a:p>
            <a:endParaRPr lang="pt-BR" dirty="0"/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E065FCE1-EC20-7399-1A31-E2C70F829F6C}"/>
              </a:ext>
            </a:extLst>
          </p:cNvPr>
          <p:cNvGrpSpPr/>
          <p:nvPr/>
        </p:nvGrpSpPr>
        <p:grpSpPr>
          <a:xfrm>
            <a:off x="492566" y="3361266"/>
            <a:ext cx="11364911" cy="3372321"/>
            <a:chOff x="492566" y="3429000"/>
            <a:chExt cx="11364911" cy="3372321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F09F8395-8364-FC37-7684-61DB3945177E}"/>
                </a:ext>
              </a:extLst>
            </p:cNvPr>
            <p:cNvGrpSpPr/>
            <p:nvPr/>
          </p:nvGrpSpPr>
          <p:grpSpPr>
            <a:xfrm>
              <a:off x="492566" y="3429000"/>
              <a:ext cx="11364911" cy="3372321"/>
              <a:chOff x="492566" y="3429000"/>
              <a:chExt cx="11364911" cy="3372321"/>
            </a:xfrm>
          </p:grpSpPr>
          <p:grpSp>
            <p:nvGrpSpPr>
              <p:cNvPr id="14" name="Agrupar 13">
                <a:extLst>
                  <a:ext uri="{FF2B5EF4-FFF2-40B4-BE49-F238E27FC236}">
                    <a16:creationId xmlns:a16="http://schemas.microsoft.com/office/drawing/2014/main" id="{CC1E3E36-ED13-57DB-6FE6-561CAB338F5B}"/>
                  </a:ext>
                </a:extLst>
              </p:cNvPr>
              <p:cNvGrpSpPr/>
              <p:nvPr/>
            </p:nvGrpSpPr>
            <p:grpSpPr>
              <a:xfrm>
                <a:off x="492566" y="3429000"/>
                <a:ext cx="11364911" cy="3372321"/>
                <a:chOff x="492566" y="3429000"/>
                <a:chExt cx="11364911" cy="3372321"/>
              </a:xfrm>
            </p:grpSpPr>
            <p:grpSp>
              <p:nvGrpSpPr>
                <p:cNvPr id="11" name="Agrupar 10">
                  <a:extLst>
                    <a:ext uri="{FF2B5EF4-FFF2-40B4-BE49-F238E27FC236}">
                      <a16:creationId xmlns:a16="http://schemas.microsoft.com/office/drawing/2014/main" id="{1A9EDAEF-206B-7648-9A05-AB08A11EE2D5}"/>
                    </a:ext>
                  </a:extLst>
                </p:cNvPr>
                <p:cNvGrpSpPr/>
                <p:nvPr/>
              </p:nvGrpSpPr>
              <p:grpSpPr>
                <a:xfrm>
                  <a:off x="492566" y="3429000"/>
                  <a:ext cx="11364911" cy="3372321"/>
                  <a:chOff x="492566" y="3429000"/>
                  <a:chExt cx="11364911" cy="3372321"/>
                </a:xfrm>
              </p:grpSpPr>
              <p:grpSp>
                <p:nvGrpSpPr>
                  <p:cNvPr id="8" name="Agrupar 7">
                    <a:extLst>
                      <a:ext uri="{FF2B5EF4-FFF2-40B4-BE49-F238E27FC236}">
                        <a16:creationId xmlns:a16="http://schemas.microsoft.com/office/drawing/2014/main" id="{F3C4DF9D-63E0-9BD6-AAEC-8EE89DE533E3}"/>
                      </a:ext>
                    </a:extLst>
                  </p:cNvPr>
                  <p:cNvGrpSpPr/>
                  <p:nvPr/>
                </p:nvGrpSpPr>
                <p:grpSpPr>
                  <a:xfrm>
                    <a:off x="492566" y="3429000"/>
                    <a:ext cx="11364911" cy="3372321"/>
                    <a:chOff x="492566" y="3429000"/>
                    <a:chExt cx="11364911" cy="3372321"/>
                  </a:xfrm>
                </p:grpSpPr>
                <p:pic>
                  <p:nvPicPr>
                    <p:cNvPr id="5" name="Imagem 4">
                      <a:extLst>
                        <a:ext uri="{FF2B5EF4-FFF2-40B4-BE49-F238E27FC236}">
                          <a16:creationId xmlns:a16="http://schemas.microsoft.com/office/drawing/2014/main" id="{CC72846A-79C1-2F59-D495-FB54772A82C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492566" y="3429000"/>
                      <a:ext cx="11364911" cy="3372321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" name="Imagem 6">
                      <a:extLst>
                        <a:ext uri="{FF2B5EF4-FFF2-40B4-BE49-F238E27FC236}">
                          <a16:creationId xmlns:a16="http://schemas.microsoft.com/office/drawing/2014/main" id="{1BD6362D-E58D-520A-7925-947C85F5695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4075289" y="5573501"/>
                      <a:ext cx="3575790" cy="122781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0" name="Imagem 9">
                    <a:extLst>
                      <a:ext uri="{FF2B5EF4-FFF2-40B4-BE49-F238E27FC236}">
                        <a16:creationId xmlns:a16="http://schemas.microsoft.com/office/drawing/2014/main" id="{97FFF036-AB19-CA8D-4D87-4A6A9BCC93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7651079" y="6626578"/>
                    <a:ext cx="628738" cy="13512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3" name="Imagem 12">
                  <a:extLst>
                    <a:ext uri="{FF2B5EF4-FFF2-40B4-BE49-F238E27FC236}">
                      <a16:creationId xmlns:a16="http://schemas.microsoft.com/office/drawing/2014/main" id="{BF01875F-E876-35DB-AE44-0D9B045974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2566" y="6227683"/>
                  <a:ext cx="442135" cy="571580"/>
                </a:xfrm>
                <a:prstGeom prst="rect">
                  <a:avLst/>
                </a:prstGeom>
              </p:spPr>
            </p:pic>
          </p:grpSp>
          <p:pic>
            <p:nvPicPr>
              <p:cNvPr id="15" name="Imagem 14">
                <a:extLst>
                  <a:ext uri="{FF2B5EF4-FFF2-40B4-BE49-F238E27FC236}">
                    <a16:creationId xmlns:a16="http://schemas.microsoft.com/office/drawing/2014/main" id="{0F099A0F-5C44-038F-717F-9D09E9D16E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3855" y="4583267"/>
                <a:ext cx="74313" cy="1117622"/>
              </a:xfrm>
              <a:prstGeom prst="rect">
                <a:avLst/>
              </a:prstGeom>
            </p:spPr>
          </p:pic>
        </p:grp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6C118981-8A75-A700-E689-5C54870A9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6356" y="3439819"/>
              <a:ext cx="10311225" cy="457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8127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1644-E19D-49DF-FBE0-D94C515DF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7BA5C-183B-7FE3-2806-07076F5CD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2ECCDE-D904-63B9-9599-2602412F1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67" y="1825625"/>
            <a:ext cx="11751733" cy="4351338"/>
          </a:xfrm>
        </p:spPr>
        <p:txBody>
          <a:bodyPr/>
          <a:lstStyle/>
          <a:p>
            <a:r>
              <a:rPr lang="pt-BR" dirty="0"/>
              <a:t>Ex.: Um ATOR atua em um filme. Sua Atuação pode ser indicada a PRÊMIOS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F41D5A01-92CE-1178-D5CE-0DF84A262C14}"/>
              </a:ext>
            </a:extLst>
          </p:cNvPr>
          <p:cNvGrpSpPr/>
          <p:nvPr/>
        </p:nvGrpSpPr>
        <p:grpSpPr>
          <a:xfrm>
            <a:off x="1709432" y="2270604"/>
            <a:ext cx="8773135" cy="4501515"/>
            <a:chOff x="1709432" y="2270604"/>
            <a:chExt cx="8773135" cy="4501515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A7C011F7-AC8E-0744-2A3A-D3CB4923C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9432" y="2270604"/>
              <a:ext cx="8773135" cy="4501515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1B56C75D-A9D8-49E1-5327-5218F4EC8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916" y="2364655"/>
              <a:ext cx="4350840" cy="401124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E84E2B0B-3BD4-8F13-ACBD-ACAAA1CAA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36655" y="6368346"/>
              <a:ext cx="445912" cy="4011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082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6E7FC-A957-AD68-2129-78D33F97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B2F10F-4D38-26BC-73BD-238FC9D48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IMPORTANTE: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Toda Agregação sempre é gerada a partir </a:t>
            </a:r>
            <a:r>
              <a:rPr lang="pt-BR" b="1" u="sng" dirty="0"/>
              <a:t>de 1 e apenas 1</a:t>
            </a:r>
            <a:r>
              <a:rPr lang="pt-BR" dirty="0"/>
              <a:t> CR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Toda instância do CR gera, OBRIGATORIAMENTE, pelo menos um elemento composto (agregado)</a:t>
            </a:r>
          </a:p>
        </p:txBody>
      </p:sp>
    </p:spTree>
    <p:extLst>
      <p:ext uri="{BB962C8B-B14F-4D97-AF65-F5344CB8AC3E}">
        <p14:creationId xmlns:p14="http://schemas.microsoft.com/office/powerpoint/2010/main" val="3996981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C7352-CBD3-9CCE-D576-823EA2EF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8B2155-BF9A-62BB-1B68-B6647D61A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Todo par Paciente-Médico gera pelo menos uma Consulta!</a:t>
            </a:r>
          </a:p>
          <a:p>
            <a:r>
              <a:rPr lang="pt-BR" dirty="0"/>
              <a:t>Cada par Paciente-Médico gera uma Consulta diferente!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74B3A55-1976-A933-31CA-95D765B57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235" y="3429000"/>
            <a:ext cx="8497486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097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162AD-9CF8-F5B0-3519-13896F680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14C951-ACAE-C185-3DE1-DD82BC261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Entrevistas de emprego de uma Empresa com um Candidato que geram Ofertas de emprego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B9BB8F-5833-8D99-085C-0678B00D4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7" y="2956019"/>
            <a:ext cx="4801855" cy="14692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A5C1EE9-20FF-0AA5-1F89-48015A86A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07" y="5023651"/>
            <a:ext cx="4940215" cy="1413414"/>
          </a:xfrm>
          <a:prstGeom prst="rect">
            <a:avLst/>
          </a:prstGeom>
        </p:spPr>
      </p:pic>
      <p:sp>
        <p:nvSpPr>
          <p:cNvPr id="10" name="Cruz 9">
            <a:extLst>
              <a:ext uri="{FF2B5EF4-FFF2-40B4-BE49-F238E27FC236}">
                <a16:creationId xmlns:a16="http://schemas.microsoft.com/office/drawing/2014/main" id="{58462E18-C0AB-D76A-8EF1-16CF892F1E27}"/>
              </a:ext>
            </a:extLst>
          </p:cNvPr>
          <p:cNvSpPr/>
          <p:nvPr/>
        </p:nvSpPr>
        <p:spPr>
          <a:xfrm rot="18849900">
            <a:off x="4007556" y="5671660"/>
            <a:ext cx="914400" cy="914400"/>
          </a:xfrm>
          <a:prstGeom prst="plus">
            <a:avLst>
              <a:gd name="adj" fmla="val 4090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49CAAE4-2D72-2FFA-B895-C78048D66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531" y="2956019"/>
            <a:ext cx="4231113" cy="1504647"/>
          </a:xfrm>
          <a:prstGeom prst="rect">
            <a:avLst/>
          </a:prstGeom>
        </p:spPr>
      </p:pic>
      <p:sp>
        <p:nvSpPr>
          <p:cNvPr id="13" name="Cruz 12">
            <a:extLst>
              <a:ext uri="{FF2B5EF4-FFF2-40B4-BE49-F238E27FC236}">
                <a16:creationId xmlns:a16="http://schemas.microsoft.com/office/drawing/2014/main" id="{6C4633FA-6169-A1D2-C24F-8FD81D4073A0}"/>
              </a:ext>
            </a:extLst>
          </p:cNvPr>
          <p:cNvSpPr/>
          <p:nvPr/>
        </p:nvSpPr>
        <p:spPr>
          <a:xfrm rot="18849900">
            <a:off x="10666284" y="3347079"/>
            <a:ext cx="914400" cy="914400"/>
          </a:xfrm>
          <a:prstGeom prst="plus">
            <a:avLst>
              <a:gd name="adj" fmla="val 4090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9014448-FCDF-0A32-F69B-6C31BEE1C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866" y="4963099"/>
            <a:ext cx="3976778" cy="1534518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F0316FF8-388A-76AB-E5E6-D1B281D902DE}"/>
              </a:ext>
            </a:extLst>
          </p:cNvPr>
          <p:cNvSpPr txBox="1"/>
          <p:nvPr/>
        </p:nvSpPr>
        <p:spPr>
          <a:xfrm>
            <a:off x="2892114" y="6492875"/>
            <a:ext cx="3762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Nem toda entrevista gera uma oferta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95FBE48-0B99-27EE-203D-17B796167537}"/>
              </a:ext>
            </a:extLst>
          </p:cNvPr>
          <p:cNvSpPr txBox="1"/>
          <p:nvPr/>
        </p:nvSpPr>
        <p:spPr>
          <a:xfrm>
            <a:off x="8812087" y="4308157"/>
            <a:ext cx="3573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MER não permite Relacionamentos de Relacionamentos</a:t>
            </a:r>
          </a:p>
        </p:txBody>
      </p:sp>
    </p:spTree>
    <p:extLst>
      <p:ext uri="{BB962C8B-B14F-4D97-AF65-F5344CB8AC3E}">
        <p14:creationId xmlns:p14="http://schemas.microsoft.com/office/powerpoint/2010/main" val="253204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6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DAE6D-B01B-39D2-EB83-D596DE6B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 (MER-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869D3A-CEC1-E584-9D86-22E41C080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Indícios de uso da Agregação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Semanticamente, um mesmo par (trio...) de instâncias de </a:t>
            </a:r>
            <a:r>
              <a:rPr lang="pt-BR" dirty="0" err="1"/>
              <a:t>CEs</a:t>
            </a:r>
            <a:r>
              <a:rPr lang="pt-BR" dirty="0"/>
              <a:t> precisam participar mais de uma vez do mesmo CR</a:t>
            </a:r>
          </a:p>
          <a:p>
            <a:pPr lvl="2"/>
            <a:r>
              <a:rPr lang="pt-BR" dirty="0" err="1"/>
              <a:t>Ex</a:t>
            </a:r>
            <a:r>
              <a:rPr lang="pt-BR" dirty="0"/>
              <a:t>:  </a:t>
            </a:r>
            <a:r>
              <a:rPr lang="pt-BR" dirty="0" err="1"/>
              <a:t>CEs</a:t>
            </a:r>
            <a:r>
              <a:rPr lang="pt-BR" dirty="0"/>
              <a:t> paciente e médico, CR atende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O CR possui um identificador semântico próprio</a:t>
            </a:r>
          </a:p>
          <a:p>
            <a:pPr lvl="2"/>
            <a:r>
              <a:rPr lang="pt-BR" dirty="0" err="1"/>
              <a:t>Ex</a:t>
            </a:r>
            <a:r>
              <a:rPr lang="pt-BR" dirty="0"/>
              <a:t>: Título, no CR orienta entre os </a:t>
            </a:r>
            <a:r>
              <a:rPr lang="pt-BR" dirty="0" err="1"/>
              <a:t>CEs</a:t>
            </a:r>
            <a:r>
              <a:rPr lang="pt-BR" dirty="0"/>
              <a:t> professor e aluno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Necessidade de associar dois relacionamentos</a:t>
            </a:r>
          </a:p>
          <a:p>
            <a:pPr lvl="2"/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dirty="0" err="1"/>
              <a:t>CRs</a:t>
            </a:r>
            <a:r>
              <a:rPr lang="pt-BR" dirty="0"/>
              <a:t> atua e indicação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DEE78DD-66C9-93E0-E43B-258DA0757AB0}"/>
              </a:ext>
            </a:extLst>
          </p:cNvPr>
          <p:cNvGrpSpPr/>
          <p:nvPr/>
        </p:nvGrpSpPr>
        <p:grpSpPr>
          <a:xfrm>
            <a:off x="7289806" y="4409848"/>
            <a:ext cx="4771275" cy="2448152"/>
            <a:chOff x="1709432" y="2270604"/>
            <a:chExt cx="8773135" cy="4501515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A5B58FA-2DA7-79AB-6E79-7D4627DEF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9432" y="2270604"/>
              <a:ext cx="8773135" cy="4501515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E294D6FE-EC85-951F-2139-90A654C64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916" y="2364655"/>
              <a:ext cx="4350840" cy="401124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930BA63-CDF4-4DF0-17C9-8B9DFD84E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36655" y="6368346"/>
              <a:ext cx="445912" cy="401124"/>
            </a:xfrm>
            <a:prstGeom prst="rect">
              <a:avLst/>
            </a:prstGeom>
          </p:spPr>
        </p:pic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804BEAB9-C03A-8898-1597-124D99D851F7}"/>
              </a:ext>
            </a:extLst>
          </p:cNvPr>
          <p:cNvGrpSpPr/>
          <p:nvPr/>
        </p:nvGrpSpPr>
        <p:grpSpPr>
          <a:xfrm>
            <a:off x="7420724" y="2926594"/>
            <a:ext cx="4771275" cy="1415785"/>
            <a:chOff x="492566" y="3429000"/>
            <a:chExt cx="11364911" cy="3372321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3B2AA7BC-9A59-751A-9AD0-B09F04AC0624}"/>
                </a:ext>
              </a:extLst>
            </p:cNvPr>
            <p:cNvGrpSpPr/>
            <p:nvPr/>
          </p:nvGrpSpPr>
          <p:grpSpPr>
            <a:xfrm>
              <a:off x="492566" y="3429000"/>
              <a:ext cx="11364911" cy="3372321"/>
              <a:chOff x="492566" y="3429000"/>
              <a:chExt cx="11364911" cy="3372321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45E8FAAD-0F74-AEEB-8560-6FE87FD54F5E}"/>
                  </a:ext>
                </a:extLst>
              </p:cNvPr>
              <p:cNvGrpSpPr/>
              <p:nvPr/>
            </p:nvGrpSpPr>
            <p:grpSpPr>
              <a:xfrm>
                <a:off x="492566" y="3429000"/>
                <a:ext cx="11364911" cy="3372321"/>
                <a:chOff x="492566" y="3429000"/>
                <a:chExt cx="11364911" cy="3372321"/>
              </a:xfrm>
            </p:grpSpPr>
            <p:grpSp>
              <p:nvGrpSpPr>
                <p:cNvPr id="13" name="Agrupar 12">
                  <a:extLst>
                    <a:ext uri="{FF2B5EF4-FFF2-40B4-BE49-F238E27FC236}">
                      <a16:creationId xmlns:a16="http://schemas.microsoft.com/office/drawing/2014/main" id="{BAD5D32D-9940-A93B-1102-B9B1E61E223E}"/>
                    </a:ext>
                  </a:extLst>
                </p:cNvPr>
                <p:cNvGrpSpPr/>
                <p:nvPr/>
              </p:nvGrpSpPr>
              <p:grpSpPr>
                <a:xfrm>
                  <a:off x="492566" y="3429000"/>
                  <a:ext cx="11364911" cy="3372321"/>
                  <a:chOff x="492566" y="3429000"/>
                  <a:chExt cx="11364911" cy="3372321"/>
                </a:xfrm>
              </p:grpSpPr>
              <p:grpSp>
                <p:nvGrpSpPr>
                  <p:cNvPr id="15" name="Agrupar 14">
                    <a:extLst>
                      <a:ext uri="{FF2B5EF4-FFF2-40B4-BE49-F238E27FC236}">
                        <a16:creationId xmlns:a16="http://schemas.microsoft.com/office/drawing/2014/main" id="{E8CA0A37-CD13-7F83-E9E8-64A295431F6C}"/>
                      </a:ext>
                    </a:extLst>
                  </p:cNvPr>
                  <p:cNvGrpSpPr/>
                  <p:nvPr/>
                </p:nvGrpSpPr>
                <p:grpSpPr>
                  <a:xfrm>
                    <a:off x="492566" y="3429000"/>
                    <a:ext cx="11364911" cy="3372321"/>
                    <a:chOff x="492566" y="3429000"/>
                    <a:chExt cx="11364911" cy="3372321"/>
                  </a:xfrm>
                </p:grpSpPr>
                <p:pic>
                  <p:nvPicPr>
                    <p:cNvPr id="17" name="Imagem 16">
                      <a:extLst>
                        <a:ext uri="{FF2B5EF4-FFF2-40B4-BE49-F238E27FC236}">
                          <a16:creationId xmlns:a16="http://schemas.microsoft.com/office/drawing/2014/main" id="{D857301E-F4EE-AAA1-6EA5-9CC9EA73458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492566" y="3429000"/>
                      <a:ext cx="11364911" cy="3372321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" name="Imagem 17">
                      <a:extLst>
                        <a:ext uri="{FF2B5EF4-FFF2-40B4-BE49-F238E27FC236}">
                          <a16:creationId xmlns:a16="http://schemas.microsoft.com/office/drawing/2014/main" id="{27245974-1B61-BBF3-A710-4D47589B3B2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4075289" y="5573501"/>
                      <a:ext cx="3575790" cy="122781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6" name="Imagem 15">
                    <a:extLst>
                      <a:ext uri="{FF2B5EF4-FFF2-40B4-BE49-F238E27FC236}">
                        <a16:creationId xmlns:a16="http://schemas.microsoft.com/office/drawing/2014/main" id="{A89DDB7B-4C2B-2E6D-87D5-CCD432B6DA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7651079" y="6626578"/>
                    <a:ext cx="628738" cy="13512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4" name="Imagem 13">
                  <a:extLst>
                    <a:ext uri="{FF2B5EF4-FFF2-40B4-BE49-F238E27FC236}">
                      <a16:creationId xmlns:a16="http://schemas.microsoft.com/office/drawing/2014/main" id="{5B77029C-F434-0FA2-C21F-CB3D229AED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2566" y="6227683"/>
                  <a:ext cx="442135" cy="571580"/>
                </a:xfrm>
                <a:prstGeom prst="rect">
                  <a:avLst/>
                </a:prstGeom>
              </p:spPr>
            </p:pic>
          </p:grpSp>
          <p:pic>
            <p:nvPicPr>
              <p:cNvPr id="12" name="Imagem 11">
                <a:extLst>
                  <a:ext uri="{FF2B5EF4-FFF2-40B4-BE49-F238E27FC236}">
                    <a16:creationId xmlns:a16="http://schemas.microsoft.com/office/drawing/2014/main" id="{F3D2CE42-973B-855D-0629-C5BFE62C4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3855" y="4583267"/>
                <a:ext cx="74313" cy="1117622"/>
              </a:xfrm>
              <a:prstGeom prst="rect">
                <a:avLst/>
              </a:prstGeom>
            </p:spPr>
          </p:pic>
        </p:grp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0902B624-2AFA-6946-C414-D7A47AB18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6356" y="3439819"/>
              <a:ext cx="10311225" cy="45719"/>
            </a:xfrm>
            <a:prstGeom prst="rect">
              <a:avLst/>
            </a:prstGeom>
          </p:spPr>
        </p:pic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5590C26A-E689-EB0D-90E0-9528D6B7BA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9718" y="4589372"/>
            <a:ext cx="4872282" cy="214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C91C2-8AC3-4488-6FF1-F8F2D545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029C07-AEBE-0FCC-8A87-4F9D7242D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Recapitulando</a:t>
            </a:r>
          </a:p>
          <a:p>
            <a:pPr>
              <a:spcBef>
                <a:spcPts val="1800"/>
              </a:spcBef>
            </a:pPr>
            <a:r>
              <a:rPr lang="pt-BR" dirty="0"/>
              <a:t>Modelo MER Estendido (EER ou 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  <a:p>
            <a:pPr>
              <a:spcBef>
                <a:spcPts val="1800"/>
              </a:spcBef>
            </a:pPr>
            <a:r>
              <a:rPr lang="pt-BR" dirty="0"/>
              <a:t>Agregação</a:t>
            </a:r>
          </a:p>
          <a:p>
            <a:pPr lvl="1"/>
            <a:r>
              <a:rPr lang="pt-BR" dirty="0"/>
              <a:t>Definição</a:t>
            </a:r>
          </a:p>
          <a:p>
            <a:pPr lvl="1"/>
            <a:r>
              <a:rPr lang="pt-BR" dirty="0"/>
              <a:t>Componentes</a:t>
            </a:r>
          </a:p>
          <a:p>
            <a:pPr lvl="1"/>
            <a:r>
              <a:rPr lang="pt-BR" dirty="0"/>
              <a:t>Quando utilizar</a:t>
            </a:r>
          </a:p>
          <a:p>
            <a:pPr>
              <a:spcBef>
                <a:spcPts val="1800"/>
              </a:spcBef>
            </a:pPr>
            <a:r>
              <a:rPr lang="pt-BR" b="1" dirty="0"/>
              <a:t>Generalização/Especialização</a:t>
            </a:r>
          </a:p>
          <a:p>
            <a:pPr lvl="1"/>
            <a:r>
              <a:rPr lang="pt-BR" dirty="0"/>
              <a:t>Definição</a:t>
            </a:r>
          </a:p>
          <a:p>
            <a:pPr lvl="1"/>
            <a:r>
              <a:rPr lang="pt-BR" dirty="0"/>
              <a:t>Herança</a:t>
            </a:r>
          </a:p>
          <a:p>
            <a:pPr lvl="1"/>
            <a:r>
              <a:rPr lang="pt-BR" dirty="0"/>
              <a:t>Restrições de especialização</a:t>
            </a:r>
          </a:p>
          <a:p>
            <a:pPr lvl="1"/>
            <a:r>
              <a:rPr lang="pt-BR" dirty="0"/>
              <a:t>Múltiplos níveis </a:t>
            </a:r>
          </a:p>
          <a:p>
            <a:pPr lvl="1"/>
            <a:r>
              <a:rPr lang="pt-BR" dirty="0"/>
              <a:t>Quando utilizar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8DE7D8-6F30-6E2D-0B20-8C204FD6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53B9AC2-315F-367D-EB4E-C4B76D43972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2527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242DC-D615-7791-B536-E5187B130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02357-9111-B8C7-EA5E-CAB9E38B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Generalização/Especialização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0888D4-5908-B9A5-A42A-9E4666B0D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1777342"/>
            <a:ext cx="9154803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97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EDDF1-5D36-64AD-3B7E-B21370C6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B534BF-A58C-85B6-A318-122F6F451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7220E96-8A6C-58E1-E70D-E7EDB88AB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9" y="1825625"/>
            <a:ext cx="10898121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771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1DE3C-65AA-0646-58D1-26047364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238B31-E6A7-7179-C36C-10D365838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0956" cy="4351338"/>
          </a:xfrm>
        </p:spPr>
        <p:txBody>
          <a:bodyPr/>
          <a:lstStyle/>
          <a:p>
            <a:r>
              <a:rPr lang="pt-BR" dirty="0"/>
              <a:t>Elementos de um conjunto são distribuídos em diversos subconjuntos (subtipos)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Relacionamento </a:t>
            </a:r>
            <a:r>
              <a:rPr lang="pt-BR" i="1" dirty="0" err="1"/>
              <a:t>Is-a</a:t>
            </a:r>
            <a:endParaRPr lang="pt-BR" i="1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67096B-9164-3AB8-E24F-58576DFA4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267" y="2165858"/>
            <a:ext cx="4534533" cy="281979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AFF5158-56D9-EDF2-8B37-15A90BF38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790" y="4001294"/>
            <a:ext cx="3629532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143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8716D-9514-0C9B-C642-2AF158E0A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AE6878C-B3E4-ABCE-2CCD-D65CB765A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779" y="1690688"/>
            <a:ext cx="7310442" cy="496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881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759F3-7158-8F40-67E0-BF2DB094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5304F3-F873-60D6-E22F-4A0D42409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dirty="0"/>
              <a:t>Critério Definido por Predicado</a:t>
            </a:r>
          </a:p>
          <a:p>
            <a:pPr lvl="1"/>
            <a:r>
              <a:rPr lang="pt-BR" dirty="0"/>
              <a:t>Valores do(s) </a:t>
            </a:r>
            <a:r>
              <a:rPr lang="pt-BR" b="1" dirty="0"/>
              <a:t>atributo(s) de critério </a:t>
            </a:r>
            <a:r>
              <a:rPr lang="pt-BR" dirty="0"/>
              <a:t>definem o(s) CE(s) Específico(s) na inserção da entidade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776ABFB-F5B3-2934-6B68-FACBE2C37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734" y="3020548"/>
            <a:ext cx="8452555" cy="371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622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327A4-E30E-3F78-ED75-BC13F8F2A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3EA059-1051-77F4-7216-C1E682CAD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Conceito fundamental: HERANÇA</a:t>
            </a:r>
          </a:p>
          <a:p>
            <a:pPr lvl="1"/>
            <a:r>
              <a:rPr lang="pt-BR" dirty="0" err="1"/>
              <a:t>CEs</a:t>
            </a:r>
            <a:r>
              <a:rPr lang="pt-BR" dirty="0"/>
              <a:t> específicos herdam </a:t>
            </a:r>
            <a:r>
              <a:rPr lang="pt-BR" b="1" u="sng" dirty="0"/>
              <a:t>todos os atributos </a:t>
            </a:r>
            <a:r>
              <a:rPr lang="pt-BR" dirty="0"/>
              <a:t>do CE genérico</a:t>
            </a:r>
          </a:p>
          <a:p>
            <a:pPr lvl="1"/>
            <a:r>
              <a:rPr lang="pt-BR" dirty="0"/>
              <a:t>Em geral, atributos de critério </a:t>
            </a:r>
            <a:r>
              <a:rPr lang="pt-BR" b="1" dirty="0"/>
              <a:t>não são herdados </a:t>
            </a:r>
            <a:r>
              <a:rPr lang="pt-BR" dirty="0"/>
              <a:t>pelos </a:t>
            </a:r>
            <a:r>
              <a:rPr lang="pt-BR" dirty="0" err="1"/>
              <a:t>CEs</a:t>
            </a:r>
            <a:r>
              <a:rPr lang="pt-BR" dirty="0"/>
              <a:t> específicos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285F92A-791E-194F-4079-03EBD2D2C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35" y="3168295"/>
            <a:ext cx="7534929" cy="35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420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F6367-C94A-5AD4-939B-6D313E40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5C4A66-EBAA-2B67-E6E2-F67AD0DA0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CEs</a:t>
            </a:r>
            <a:r>
              <a:rPr lang="pt-BR" dirty="0"/>
              <a:t> Específicos herdam todos os Conjuntos de Relacionamentos definidos para o CE Genérico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ADCB1C-DFBD-F208-6C96-31393C6ED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819" y="2687790"/>
            <a:ext cx="8390362" cy="407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09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67A6B-7F11-8C6E-764F-8C376FE0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da 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A89F48-8A0D-4E95-33C8-B86907E9B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Restrição de Disjunção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Exclusão mútua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Sobreposição</a:t>
            </a:r>
          </a:p>
          <a:p>
            <a:pPr>
              <a:spcBef>
                <a:spcPts val="2400"/>
              </a:spcBef>
            </a:pPr>
            <a:r>
              <a:rPr lang="pt-BR" dirty="0"/>
              <a:t>Restrição de Totalidade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Especialização Total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Especialização Parcial</a:t>
            </a:r>
          </a:p>
        </p:txBody>
      </p:sp>
    </p:spTree>
    <p:extLst>
      <p:ext uri="{BB962C8B-B14F-4D97-AF65-F5344CB8AC3E}">
        <p14:creationId xmlns:p14="http://schemas.microsoft.com/office/powerpoint/2010/main" val="37533325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ABBA8-3056-877E-04E3-490DB357F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da 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BE0EFF-A810-ED54-C4DE-B162805AB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70867" cy="4351338"/>
          </a:xfrm>
        </p:spPr>
        <p:txBody>
          <a:bodyPr/>
          <a:lstStyle/>
          <a:p>
            <a:r>
              <a:rPr lang="pt-BR" dirty="0"/>
              <a:t>Restrição de Disjunção – </a:t>
            </a:r>
            <a:r>
              <a:rPr lang="pt-BR" b="1" dirty="0"/>
              <a:t>Exclusão Mútua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15E558-4613-D1D0-FF1E-03F8590C5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460" y="1572080"/>
            <a:ext cx="6268325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418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218F9-DF57-FC79-4820-134E6BFDD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D2937-85E8-F1DC-C5B9-2B4BEDB8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da 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2355A4-6736-117E-67C9-8D8CB7F2F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70867" cy="4351338"/>
          </a:xfrm>
        </p:spPr>
        <p:txBody>
          <a:bodyPr/>
          <a:lstStyle/>
          <a:p>
            <a:r>
              <a:rPr lang="pt-BR" dirty="0"/>
              <a:t>Restrição de Disjunção – </a:t>
            </a:r>
            <a:r>
              <a:rPr lang="pt-BR" b="1" dirty="0"/>
              <a:t>Sobreposição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161C1D4-35E4-2FCD-428D-9CDE193A6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571" y="1690688"/>
            <a:ext cx="5905229" cy="481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415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C8CFF-3257-D800-15D5-1FBC273F4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2E87EF-6F6D-A705-7741-130B11F9F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da 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D63775-F513-2434-CDDD-8228DD809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83756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Restrição de Totalidade – </a:t>
            </a:r>
            <a:r>
              <a:rPr lang="pt-BR" b="1" dirty="0"/>
              <a:t>Especialização Total</a:t>
            </a:r>
          </a:p>
          <a:p>
            <a:pPr>
              <a:spcBef>
                <a:spcPts val="2400"/>
              </a:spcBef>
            </a:pPr>
            <a:r>
              <a:rPr lang="pt-BR" dirty="0"/>
              <a:t>Todas as entidades genéricas estão em pelo menos um CEE</a:t>
            </a:r>
          </a:p>
          <a:p>
            <a:pPr>
              <a:spcBef>
                <a:spcPts val="2400"/>
              </a:spcBef>
            </a:pPr>
            <a:r>
              <a:rPr lang="pt-BR" dirty="0"/>
              <a:t>Ex.: Especialização Total - qualquer disciplina é de </a:t>
            </a:r>
            <a:r>
              <a:rPr lang="pt-BR" b="1" dirty="0"/>
              <a:t>pelo menos um subtipo </a:t>
            </a:r>
            <a:r>
              <a:rPr lang="pt-BR" dirty="0"/>
              <a:t>definido: graduação, pós-graduação, e/ou especialização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763394FC-38BD-AC97-2086-5341B8B057A3}"/>
              </a:ext>
            </a:extLst>
          </p:cNvPr>
          <p:cNvGrpSpPr/>
          <p:nvPr/>
        </p:nvGrpSpPr>
        <p:grpSpPr>
          <a:xfrm>
            <a:off x="5080000" y="1690688"/>
            <a:ext cx="6744641" cy="5058481"/>
            <a:chOff x="4809067" y="1687866"/>
            <a:chExt cx="6744641" cy="5058481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1314D14-19DB-65ED-BAE2-0A2EEDE9E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9067" y="1687866"/>
              <a:ext cx="6744641" cy="5058481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C7872339-951D-F743-A5C7-477D581FF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9067" y="2607733"/>
              <a:ext cx="2957689" cy="9482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7724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4A081-EB06-BCB5-6998-6A9976B3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8284A-834B-DF67-1E99-ED8611514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da 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0DF160-9FCA-81DB-8737-66E84C5E5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70867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Restrição de Totalidade – </a:t>
            </a:r>
            <a:r>
              <a:rPr lang="pt-BR" b="1" dirty="0"/>
              <a:t>Especialização Parcial</a:t>
            </a:r>
          </a:p>
          <a:p>
            <a:pPr>
              <a:spcBef>
                <a:spcPts val="2400"/>
              </a:spcBef>
            </a:pPr>
            <a:r>
              <a:rPr lang="pt-BR" dirty="0"/>
              <a:t>Quando existem entidades genéricas que não estão em nenhum CEE</a:t>
            </a:r>
          </a:p>
          <a:p>
            <a:pPr>
              <a:spcBef>
                <a:spcPts val="2400"/>
              </a:spcBef>
            </a:pPr>
            <a:r>
              <a:rPr lang="pt-BR" dirty="0"/>
              <a:t>Ex.: uma pessoa pode, por exemplo, ter a função de Gerente de Recursos Humanos (que não  está definida como subtipo)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B05D5D-DE7C-0C62-E1B5-8D6EBD1CD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318" y="1603909"/>
            <a:ext cx="6144482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38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D07A0-E312-BC9F-7ADA-1B688E3D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da 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50740A-9CD7-BB38-AD43-E44D66F1A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Restrições de cada ocorrência da abstração dependem da semântica do mundo real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Parcial Exclusiva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Parcial Sobreposta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Total Exclusiva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Total Sobreposta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36777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92606-D536-CA21-4606-67299DFE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0F676-431B-E381-356F-A4BAFCB8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da 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88F587-83ED-9F81-B5E7-D73313623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Parcial Exclusiva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04963C8-E9D9-7943-8394-1F3F7E2B5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906" y="2374581"/>
            <a:ext cx="9630188" cy="422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4884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643A8-8426-C7A0-BE8B-18C74033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A2673-1EEB-F542-3669-09B9ABB3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da 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75326F-706F-BC2F-099B-EB32A6CC9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Total Exclusiva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AEBD872-9394-AC91-D967-CE328193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516" y="2378781"/>
            <a:ext cx="9858967" cy="425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490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2C93B-8EC5-7FEF-2E6A-86CE4DADD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3AA96-821E-E83B-432C-89E35479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da 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627C7D-C291-F4BA-E1B2-062DC00F1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Parcial Sobreposta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0DA926-52EE-44FF-347B-5D68ABA6B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449" y="2381074"/>
            <a:ext cx="9323101" cy="421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676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5C4D1-5F93-A783-8626-BC11EEDE3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24EC2-B709-30FC-AA84-6E2BA9DCF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da 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E488FC-FD9E-2AAC-4A25-C48C15807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Total Sobreposta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7451AA-ED45-71A2-11FA-CA31F2C32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278" y="2257454"/>
            <a:ext cx="10089444" cy="446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167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185BB-41B4-4823-7CCF-31E44C110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2430A-8E06-70D1-F1CA-DC5378AB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da 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DF18C0-BC34-F8D8-510F-4CCA83D66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Múltiplas especializações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561CEFA-06DF-2703-7A03-9A30C957F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14" y="2227660"/>
            <a:ext cx="9320771" cy="452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256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60D6C-9879-840D-F3FE-4639D4D3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Múltiplas especializações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92BD3B-F0BB-0EDC-FE16-C71C085C2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mesmo CE participa como CE Genérico em mais de uma ocorrência de Abstração de Especialização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72CD15-D6EF-0C08-91AC-8D04B06E8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341" y="2654473"/>
            <a:ext cx="7973318" cy="403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2067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33A36-ABAA-C2CE-AA76-5C8B11A70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Especialização em múltiplos níveis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418644-ABC1-7DF8-63E3-71097908D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E80DC7DB-3B51-26CD-C625-BE3F322E6D58}"/>
              </a:ext>
            </a:extLst>
          </p:cNvPr>
          <p:cNvGrpSpPr/>
          <p:nvPr/>
        </p:nvGrpSpPr>
        <p:grpSpPr>
          <a:xfrm>
            <a:off x="1734723" y="1825625"/>
            <a:ext cx="8662344" cy="4777413"/>
            <a:chOff x="594544" y="394864"/>
            <a:chExt cx="11002911" cy="6068272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46126C4-45BD-D2D4-439D-1C3272781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544" y="394864"/>
              <a:ext cx="11002911" cy="6068272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0EA7AB66-8CBB-E3CA-FEEE-F220989CB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833" y="394864"/>
              <a:ext cx="6370700" cy="1019279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1651F3BC-5847-D8FE-8F67-FF4D6FE23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24533" y="398992"/>
              <a:ext cx="1561634" cy="549275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BC995E5C-0CA6-CBD8-6C38-8F255EF48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30843" y="4173485"/>
              <a:ext cx="466611" cy="1325563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50BAC6B3-E0A8-B12E-FE99-FD954AF3C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52861" y="904503"/>
              <a:ext cx="233306" cy="14661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77528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A4CF-7E5A-E78D-0B0F-A9AA0CDF4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5A7B6-23B0-1AB2-70D9-DCEEA8CE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A86CFB57-0D6C-C59A-8D70-B3BB7A770A1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32082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Quando especializar?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rabicPeriod"/>
            </a:pPr>
            <a:r>
              <a:rPr lang="pt-BR" b="1" dirty="0"/>
              <a:t>Determinados atributos aplicam-se somente a alguns subtipos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DF5F717-85A1-8D58-28F1-CB329671E3AE}"/>
              </a:ext>
            </a:extLst>
          </p:cNvPr>
          <p:cNvGrpSpPr/>
          <p:nvPr/>
        </p:nvGrpSpPr>
        <p:grpSpPr>
          <a:xfrm>
            <a:off x="5650734" y="1690688"/>
            <a:ext cx="5925377" cy="4706007"/>
            <a:chOff x="5650734" y="1690688"/>
            <a:chExt cx="5925377" cy="4706007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EFAADD45-A7B5-FE82-04D8-C77F0C5A2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50734" y="1690688"/>
              <a:ext cx="5925377" cy="4706007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3248B06A-1F25-D9F7-6EAF-CC1E94C7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62022" y="2282724"/>
              <a:ext cx="1449977" cy="1395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59004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B1ECD-149A-880D-B345-91F181B5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E8E302-8DF0-261C-21BC-8E748CCF6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0822" cy="4351338"/>
          </a:xfrm>
        </p:spPr>
        <p:txBody>
          <a:bodyPr/>
          <a:lstStyle/>
          <a:p>
            <a:r>
              <a:rPr lang="pt-BR" dirty="0"/>
              <a:t>Quando especializar?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Determinados atributos aplicam-se somente a alguns subtipos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rabicPeriod"/>
            </a:pPr>
            <a:r>
              <a:rPr lang="pt-BR" b="1" dirty="0"/>
              <a:t>Existem relacionamentos dos quais participam apenas entidades de alguns subtipos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483D486-15D3-C001-CA44-577D7BD75CE6}"/>
              </a:ext>
            </a:extLst>
          </p:cNvPr>
          <p:cNvGrpSpPr/>
          <p:nvPr/>
        </p:nvGrpSpPr>
        <p:grpSpPr>
          <a:xfrm>
            <a:off x="5336739" y="1825625"/>
            <a:ext cx="6550300" cy="3874263"/>
            <a:chOff x="5336739" y="1825625"/>
            <a:chExt cx="6550300" cy="3874263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CC2EE0C5-9AD7-BD67-0392-9B7E5BEFF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6739" y="1825625"/>
              <a:ext cx="6550300" cy="3874263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BC25CD0E-CD85-1BF6-AE1F-3E29B6D6B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5348028" y="2777066"/>
              <a:ext cx="646372" cy="417489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CB07C0FA-8367-72B8-2D00-719CC70E2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5348027" y="4068826"/>
              <a:ext cx="838283" cy="4174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96341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83834-6313-498E-8F39-6AEE69B7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 – Site de cinemas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6CCC2D-4AFB-19BB-DEF2-B4E33E4B0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6FFA0BB-4AB1-7285-E7B4-65EEF8500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7" y="1825625"/>
            <a:ext cx="10936226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913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77D34-70AC-BE54-D991-2E2339D74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784AC-1436-1B54-C98F-1B1333F5E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2 - Habitação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BC7CA0-97B5-05F9-1E85-8566EA9BB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4D6AD6A-40B9-4DC4-074F-D7C23A47F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19" y="1825625"/>
            <a:ext cx="11021963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285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17D64-A7D9-5411-E12C-5DC49B96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A4C3F-5354-97B0-9537-0524775D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3 – Confecção (parte 1)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0E2A7A-6B00-5DBD-E497-B9E442EE7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622CDF5-7D2E-2892-E306-C97B86B16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1776182"/>
            <a:ext cx="10993384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626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21F9-F488-F0FF-3F33-A8C24215D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1811F-967B-E8E2-0894-9F0D311F0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3 – Confecção (parte 2)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9F253B-16B5-AAB9-6B84-93D5BFE1B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1A6C45A-EA2F-F409-2EB7-F1F95C5BF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1776182"/>
            <a:ext cx="10993384" cy="330563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CE19987-E88D-0389-330D-9292BAE3F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1" y="1599944"/>
            <a:ext cx="11012437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14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DejaVuSans"/>
              </a:rPr>
              <a:t>ELMASRI, Ramez; NAVATHE, </a:t>
            </a:r>
            <a:r>
              <a:rPr lang="pt-BR" sz="1800" b="0" i="0" u="none" strike="noStrike" baseline="0" dirty="0" err="1">
                <a:latin typeface="DejaVuSans"/>
              </a:rPr>
              <a:t>Shamkant</a:t>
            </a:r>
            <a:r>
              <a:rPr lang="pt-BR" sz="1800" b="0" i="0" u="none" strike="noStrike" baseline="0" dirty="0">
                <a:latin typeface="DejaVuSans"/>
              </a:rPr>
              <a:t> B</a:t>
            </a:r>
            <a:r>
              <a:rPr lang="pt-BR" sz="1800" b="1" i="0" u="none" strike="noStrike" baseline="0" dirty="0">
                <a:latin typeface="DejaVuSans"/>
              </a:rPr>
              <a:t>. Sistemas de Banco de Dados</a:t>
            </a:r>
            <a:r>
              <a:rPr lang="pt-BR" sz="1800" b="0" i="0" u="none" strike="noStrike" baseline="0" dirty="0">
                <a:latin typeface="DejaVuSans"/>
              </a:rPr>
              <a:t>. 7. ed. São Paulo: Pearson Universidades, 2019. 1152 p. ISBN-13 978-8543025001.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SILBERSCHATZ, Abraham; KORTH, Henry F.; SUDARSHAN, S. </a:t>
            </a:r>
            <a:r>
              <a:rPr lang="pt-BR" sz="1800" b="1" i="0" u="none" strike="noStrike" baseline="0" dirty="0">
                <a:latin typeface="DejaVuSans"/>
              </a:rPr>
              <a:t>Sistema de Banco de Dados.</a:t>
            </a:r>
            <a:r>
              <a:rPr lang="pt-BR" sz="1800" b="0" i="0" u="none" strike="noStrike" baseline="0" dirty="0">
                <a:latin typeface="DejaVuSans"/>
              </a:rPr>
              <a:t> 7. ed. Rio de Janeiro: GEN LTC, 2020. 754 p. ISBN-13 978-8595157330.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DATE, Christopher J. Introdução a Sistemas de Bancos de Dados. GEN LTC, 2004</a:t>
            </a:r>
          </a:p>
          <a:p>
            <a:pPr algn="l"/>
            <a:r>
              <a:rPr lang="pt-BR" sz="1800" dirty="0"/>
              <a:t>Notas de aulas, prof. Leonardo </a:t>
            </a:r>
            <a:r>
              <a:rPr lang="pt-BR" sz="1800" dirty="0" err="1"/>
              <a:t>Tórtoro</a:t>
            </a:r>
            <a:r>
              <a:rPr lang="pt-BR" sz="1800" dirty="0"/>
              <a:t> Pereira (DEMAC/UNESP). </a:t>
            </a:r>
            <a:r>
              <a:rPr lang="pt-BR" sz="1800" b="1" dirty="0"/>
              <a:t>Sistemas de Banco de Dados- Parte 01.</a:t>
            </a:r>
          </a:p>
          <a:p>
            <a:pPr algn="l"/>
            <a:r>
              <a:rPr lang="pt-BR" sz="1800" dirty="0"/>
              <a:t>PAVLO, Andy; PATEL, </a:t>
            </a:r>
            <a:r>
              <a:rPr lang="pt-BR" sz="1800" dirty="0" err="1"/>
              <a:t>Jinglesh</a:t>
            </a:r>
            <a:r>
              <a:rPr lang="pt-BR" sz="1800" dirty="0"/>
              <a:t> (Carnegie Mellon </a:t>
            </a:r>
            <a:r>
              <a:rPr lang="pt-BR" sz="1800" dirty="0" err="1"/>
              <a:t>University</a:t>
            </a:r>
            <a:r>
              <a:rPr lang="pt-BR" sz="1800" dirty="0"/>
              <a:t>)</a:t>
            </a:r>
            <a:r>
              <a:rPr lang="pt-BR" sz="1800" b="1" dirty="0"/>
              <a:t>. </a:t>
            </a:r>
            <a:r>
              <a:rPr lang="pt-BR" sz="1800" b="1" dirty="0" err="1"/>
              <a:t>Databse</a:t>
            </a:r>
            <a:r>
              <a:rPr lang="pt-BR" sz="1800" b="1" dirty="0"/>
              <a:t> Systems (15-445). </a:t>
            </a:r>
            <a:r>
              <a:rPr lang="pt-BR" sz="1800" dirty="0">
                <a:hlinkClick r:id="rId3"/>
              </a:rPr>
              <a:t>https://15445.courses.cs.cmu.edu/spring2026/slides/01-relationalmodel.pdf</a:t>
            </a:r>
            <a:r>
              <a:rPr lang="pt-BR" sz="1800" dirty="0"/>
              <a:t>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71537</TotalTime>
  <Words>1556</Words>
  <Application>Microsoft Office PowerPoint</Application>
  <PresentationFormat>Widescreen</PresentationFormat>
  <Paragraphs>321</Paragraphs>
  <Slides>62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62</vt:i4>
      </vt:variant>
    </vt:vector>
  </HeadingPairs>
  <TitlesOfParts>
    <vt:vector size="68" baseType="lpstr">
      <vt:lpstr>Arial</vt:lpstr>
      <vt:lpstr>Calibri</vt:lpstr>
      <vt:lpstr>Calibri Light</vt:lpstr>
      <vt:lpstr>DejaVuSans</vt:lpstr>
      <vt:lpstr>Play</vt:lpstr>
      <vt:lpstr>Tema do Office</vt:lpstr>
      <vt:lpstr>Apresentação do PowerPoint</vt:lpstr>
      <vt:lpstr>Na aula anterior, vimos...</vt:lpstr>
      <vt:lpstr>Na última aula...</vt:lpstr>
      <vt:lpstr>Agenda</vt:lpstr>
      <vt:lpstr>Abstração dos dados</vt:lpstr>
      <vt:lpstr>Projeto de BD Relacional</vt:lpstr>
      <vt:lpstr>Projeto de BD Relacional</vt:lpstr>
      <vt:lpstr>Motivação</vt:lpstr>
      <vt:lpstr>Processo de projeto de BD</vt:lpstr>
      <vt:lpstr>Apresentação do PowerPoint</vt:lpstr>
      <vt:lpstr>Apresentação do PowerPoint</vt:lpstr>
      <vt:lpstr>Apresentação do PowerPoint</vt:lpstr>
      <vt:lpstr>Agenda</vt:lpstr>
      <vt:lpstr>MER Estendido</vt:lpstr>
      <vt:lpstr>MER Estendido</vt:lpstr>
      <vt:lpstr>MER Estendido</vt:lpstr>
      <vt:lpstr>Agenda</vt:lpstr>
      <vt:lpstr>Agregação</vt:lpstr>
      <vt:lpstr>Agregação (MER-Ex)</vt:lpstr>
      <vt:lpstr>Agregação (MER-Ex)</vt:lpstr>
      <vt:lpstr>Agregação (MER-Ex)</vt:lpstr>
      <vt:lpstr>Agregação (MER-Ex)</vt:lpstr>
      <vt:lpstr>Agregação (MER-Ex)</vt:lpstr>
      <vt:lpstr>Agregação (MER-Ex)</vt:lpstr>
      <vt:lpstr>Agregação (MER-Ex)</vt:lpstr>
      <vt:lpstr>Agregação (MER-Ex)</vt:lpstr>
      <vt:lpstr>Agregação (MER-Ex)</vt:lpstr>
      <vt:lpstr>Agregação (MER-Ex)</vt:lpstr>
      <vt:lpstr>Agregação (MER-Ex)</vt:lpstr>
      <vt:lpstr>Agregação (MER-Ex)</vt:lpstr>
      <vt:lpstr>Agregação (MER-Ex)</vt:lpstr>
      <vt:lpstr>Agregação (MER-Ex)</vt:lpstr>
      <vt:lpstr>Exemplo</vt:lpstr>
      <vt:lpstr>Agregação (MER-Ex)</vt:lpstr>
      <vt:lpstr>Agenda</vt:lpstr>
      <vt:lpstr>Generalização/Especialização</vt:lpstr>
      <vt:lpstr>Generalização</vt:lpstr>
      <vt:lpstr>Generalização </vt:lpstr>
      <vt:lpstr>Generalização</vt:lpstr>
      <vt:lpstr>Generalização</vt:lpstr>
      <vt:lpstr>Generalização</vt:lpstr>
      <vt:lpstr>Herança</vt:lpstr>
      <vt:lpstr>Restrições da Generalização</vt:lpstr>
      <vt:lpstr>Restrições da Generalização</vt:lpstr>
      <vt:lpstr>Restrições da Generalização</vt:lpstr>
      <vt:lpstr>Restrições da Generalização</vt:lpstr>
      <vt:lpstr>Restrições da Generalização</vt:lpstr>
      <vt:lpstr>Restrições da Generalização</vt:lpstr>
      <vt:lpstr>Restrições da Generalização</vt:lpstr>
      <vt:lpstr>Restrições da Generalização</vt:lpstr>
      <vt:lpstr>Restrições da Generalização</vt:lpstr>
      <vt:lpstr>Restrições da Generalização</vt:lpstr>
      <vt:lpstr>Restrições da Generalização</vt:lpstr>
      <vt:lpstr>Múltiplas especializações</vt:lpstr>
      <vt:lpstr>Especialização em múltiplos níveis</vt:lpstr>
      <vt:lpstr>Generalização</vt:lpstr>
      <vt:lpstr>Generalização</vt:lpstr>
      <vt:lpstr>Exercício 1 – Site de cinemas</vt:lpstr>
      <vt:lpstr>Exercício 2 - Habitação</vt:lpstr>
      <vt:lpstr>Exercício 3 – Confecção (parte 1)</vt:lpstr>
      <vt:lpstr>Exercício 3 – Confecção (parte 2)</vt:lpstr>
      <vt:lpstr>Referências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1955</cp:revision>
  <dcterms:created xsi:type="dcterms:W3CDTF">2024-08-08T20:58:28Z</dcterms:created>
  <dcterms:modified xsi:type="dcterms:W3CDTF">2026-04-01T21:28:27Z</dcterms:modified>
</cp:coreProperties>
</file>