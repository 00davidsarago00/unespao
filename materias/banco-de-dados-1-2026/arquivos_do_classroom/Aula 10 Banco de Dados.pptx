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1270" r:id="rId3"/>
    <p:sldId id="1518" r:id="rId4"/>
    <p:sldId id="1222" r:id="rId5"/>
    <p:sldId id="1515" r:id="rId6"/>
    <p:sldId id="1519" r:id="rId7"/>
    <p:sldId id="1520" r:id="rId8"/>
    <p:sldId id="1522" r:id="rId9"/>
    <p:sldId id="1523" r:id="rId10"/>
    <p:sldId id="1524" r:id="rId11"/>
    <p:sldId id="1527" r:id="rId12"/>
    <p:sldId id="1526" r:id="rId13"/>
    <p:sldId id="1525" r:id="rId14"/>
    <p:sldId id="1528" r:id="rId15"/>
    <p:sldId id="1531" r:id="rId16"/>
    <p:sldId id="1532" r:id="rId17"/>
    <p:sldId id="1533" r:id="rId18"/>
    <p:sldId id="1534" r:id="rId19"/>
    <p:sldId id="1535" r:id="rId20"/>
    <p:sldId id="1536" r:id="rId21"/>
    <p:sldId id="1537" r:id="rId22"/>
    <p:sldId id="1538" r:id="rId23"/>
    <p:sldId id="1564" r:id="rId24"/>
    <p:sldId id="1541" r:id="rId25"/>
    <p:sldId id="1554" r:id="rId26"/>
    <p:sldId id="1555" r:id="rId27"/>
    <p:sldId id="1556" r:id="rId28"/>
    <p:sldId id="1557" r:id="rId29"/>
    <p:sldId id="1559" r:id="rId30"/>
    <p:sldId id="1560" r:id="rId31"/>
    <p:sldId id="1558" r:id="rId32"/>
    <p:sldId id="1563" r:id="rId33"/>
    <p:sldId id="1562" r:id="rId34"/>
    <p:sldId id="1561" r:id="rId35"/>
    <p:sldId id="1539" r:id="rId36"/>
    <p:sldId id="1540" r:id="rId37"/>
    <p:sldId id="1547" r:id="rId38"/>
    <p:sldId id="1543" r:id="rId39"/>
    <p:sldId id="1545" r:id="rId40"/>
    <p:sldId id="1546" r:id="rId41"/>
    <p:sldId id="1544" r:id="rId42"/>
    <p:sldId id="1542" r:id="rId43"/>
    <p:sldId id="1548" r:id="rId44"/>
    <p:sldId id="1549" r:id="rId45"/>
    <p:sldId id="1552" r:id="rId46"/>
    <p:sldId id="1550" r:id="rId47"/>
    <p:sldId id="1551" r:id="rId48"/>
    <p:sldId id="1553" r:id="rId49"/>
    <p:sldId id="1517" r:id="rId50"/>
    <p:sldId id="1514" r:id="rId51"/>
    <p:sldId id="674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806" autoAdjust="0"/>
  </p:normalViewPr>
  <p:slideViewPr>
    <p:cSldViewPr snapToGrid="0">
      <p:cViewPr varScale="1">
        <p:scale>
          <a:sx n="68" d="100"/>
          <a:sy n="6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Feeback</a:t>
            </a:r>
            <a:r>
              <a:rPr lang="pt-BR" dirty="0"/>
              <a:t> disciplina? Corrida? Prova puxada?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384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Parei aqui.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23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Pode-se executar o script quanto quiser pois ele restaura um mesmo estado do banco de dados.</a:t>
            </a:r>
          </a:p>
          <a:p>
            <a:r>
              <a:rPr lang="pt-BR" dirty="0"/>
              <a:t>Também chamado de </a:t>
            </a:r>
            <a:r>
              <a:rPr lang="pt-BR" dirty="0" err="1"/>
              <a:t>dump</a:t>
            </a:r>
            <a:r>
              <a:rPr lang="pt-BR" dirty="0"/>
              <a:t> do BD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331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D685-013B-3611-4173-49297463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1B235F-6FDA-6E5B-1E15-8568DADB5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32FD59-8844-53DF-7B25-729BDCDC4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BA4C21-CAEF-A313-BC65-6528907FD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0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FA1F-4187-D5AA-3549-FDD8BF8E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D149E6-AA84-AF89-CE27-351C80ED0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7AFD79-D89D-FE27-176B-9AE965C23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3C4B14-2043-D24E-8E1D-A8F5118EC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091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905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3B11-B7EC-EA82-AD27-4AFAD6544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5841F7-E6D5-82E9-9E64-46DDCC576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22390C-D076-757F-121D-515101CF4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C43C01-7A55-A338-92BC-6F435653D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079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469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48A5-3003-E13D-3B7E-3EB8622D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C331B9-4AAC-7987-8C03-20326A113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845A5E-71BE-FA5A-B075-CECA0F975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A1D200-567E-9F6D-AE15-224818204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6721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756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00266-BAA5-3FD8-9C58-3F9CA8BB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1A3A239-9FE1-C3BB-A20B-7FAACC29F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EF9B23-CA89-9897-73F5-8FA2D2643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83512F-F91E-B3CB-A127-058E70E59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137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016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eadway.io/blog/advantages-of-sql-views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sebNaYQpk8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5445.courses.cs.cmu.edu/spring2026/slides/01-relationalmode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10</a:t>
            </a:r>
          </a:p>
          <a:p>
            <a:r>
              <a:rPr lang="pt-BR" dirty="0"/>
              <a:t>Linguagem SQL – DQL avançado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8D3A-4E1D-B7C3-A617-AC5315EA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2CDBE-5CFE-8FC3-E1C4-26E49A71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MySQL Workbench / MySQL 8.0</a:t>
            </a:r>
          </a:p>
          <a:p>
            <a:pPr>
              <a:spcBef>
                <a:spcPts val="2400"/>
              </a:spcBef>
            </a:pPr>
            <a:r>
              <a:rPr lang="pt-BR" dirty="0"/>
              <a:t>SQL Básico</a:t>
            </a:r>
            <a:endParaRPr lang="pt-BR" b="1" dirty="0"/>
          </a:p>
          <a:p>
            <a:pPr lvl="1">
              <a:spcBef>
                <a:spcPts val="1800"/>
              </a:spcBef>
            </a:pPr>
            <a:r>
              <a:rPr lang="pt-BR" b="1" dirty="0"/>
              <a:t>DDL</a:t>
            </a:r>
            <a:r>
              <a:rPr lang="pt-BR" dirty="0"/>
              <a:t> 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CREATE / ALTER / DROP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SCHEMA / TABLE / COLUMN / CONSTRAINT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PK, FK, UNIQUE, CHECK, DEFAULT, NULL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DML</a:t>
            </a:r>
            <a:r>
              <a:rPr lang="pt-BR" dirty="0"/>
              <a:t> 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INSERT / UPDATE / DELETE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DQL (SELECT)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FROM / WHERE / ORDER BY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DISTINCT / IN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INNER JOIN / LEFT JOIN / RIGHT JOIN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171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0EF6-6353-709B-9364-3F6FB879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BD732-73D5-C0B5-6E5F-C4445D9C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DB77C-7471-A238-E8E8-46C5B3E2D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Normalize o banco de dados de seu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Crie um script .</a:t>
            </a:r>
            <a:r>
              <a:rPr lang="pt-BR" dirty="0" err="1"/>
              <a:t>sql</a:t>
            </a:r>
            <a:r>
              <a:rPr lang="pt-BR" dirty="0"/>
              <a:t> (arquivo) que: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um novo esquema (com o nome de seu projeto)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Crie as tabelas usando os comandos desta aula</a:t>
            </a:r>
          </a:p>
          <a:p>
            <a:pPr lvl="3"/>
            <a:r>
              <a:rPr lang="pt-BR" dirty="0"/>
              <a:t>Aplique todas as restrições (</a:t>
            </a:r>
            <a:r>
              <a:rPr lang="pt-BR" i="1" dirty="0" err="1"/>
              <a:t>constraints</a:t>
            </a:r>
            <a:r>
              <a:rPr lang="pt-BR" dirty="0"/>
              <a:t>) necessárias</a:t>
            </a:r>
          </a:p>
          <a:p>
            <a:pPr lvl="4"/>
            <a:r>
              <a:rPr lang="pt-BR" dirty="0"/>
              <a:t>PK, FK, UNIQUE</a:t>
            </a:r>
          </a:p>
          <a:p>
            <a:pPr lvl="4"/>
            <a:r>
              <a:rPr lang="pt-BR" dirty="0"/>
              <a:t>(NOT) NULL</a:t>
            </a:r>
          </a:p>
          <a:p>
            <a:pPr lvl="4"/>
            <a:r>
              <a:rPr lang="pt-BR" dirty="0"/>
              <a:t>CHECK por valores</a:t>
            </a:r>
          </a:p>
          <a:p>
            <a:pPr lvl="4"/>
            <a:r>
              <a:rPr lang="pt-BR" dirty="0"/>
              <a:t>DEFAULT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985A4C-06BF-6758-176D-FB70760957E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5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1118-3B8B-ABE8-1F17-7877C51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CD2630-2DEB-C44E-972B-0042A2446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19" y="1697633"/>
            <a:ext cx="8662761" cy="4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16DFC-BFB9-1006-2E9D-515F325A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42EA6-C8E0-6029-0FF6-74C0B9B8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86985-E5D3-901F-BD45-7A8C479B4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pt-BR" dirty="0"/>
              <a:t>Selecione todos os registros de Matrícula;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Selecione os anos em que houveram Matrícula registrada;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Apenas os valores distintos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Selecione as Disciplinas com mais de 4 créditos e com professor definido;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Selecione dados dos Alunos que já se matricularam na disciplina ‘BD1’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Use </a:t>
            </a:r>
            <a:r>
              <a:rPr lang="pt-BR" dirty="0" err="1"/>
              <a:t>subselect</a:t>
            </a:r>
            <a:r>
              <a:rPr lang="pt-BR" dirty="0"/>
              <a:t>;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Selecione {nome aluno, nome disciplina, nota} das matrículas efetivadas;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Selecione todos os Professores e as Disciplinas que lecionam</a:t>
            </a:r>
          </a:p>
          <a:p>
            <a:pPr lvl="2">
              <a:spcBef>
                <a:spcPts val="600"/>
              </a:spcBef>
            </a:pPr>
            <a:r>
              <a:rPr lang="pt-BR" dirty="0"/>
              <a:t>Incluindo Professores sem Disciplina atribuída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Selecione todos as Disciplinas e os Professores que lecionam</a:t>
            </a:r>
          </a:p>
          <a:p>
            <a:pPr lvl="2"/>
            <a:r>
              <a:rPr lang="pt-BR" dirty="0"/>
              <a:t>Incluindo Disciplinas sem Professor atribuído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EC41F68-8D0D-81F7-D247-330EB72E7ED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0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C720F-8C4C-5A4D-9E1F-F4AE5385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no </a:t>
            </a:r>
            <a:r>
              <a:rPr lang="pt-BR" dirty="0" err="1"/>
              <a:t>Classroom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52359E-54AA-929A-68C3-D92C9078D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Execute o script para criar um novo banco de dados no MySQL, já o </a:t>
            </a:r>
            <a:r>
              <a:rPr lang="pt-BR" dirty="0" err="1"/>
              <a:t>populando</a:t>
            </a:r>
            <a:endParaRPr lang="pt-BR" dirty="0"/>
          </a:p>
          <a:p>
            <a:endParaRPr lang="pt-BR" dirty="0"/>
          </a:p>
          <a:p>
            <a:r>
              <a:rPr lang="pt-BR" dirty="0"/>
              <a:t>As próximas atividades usarão este novo banco de dados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EED732-A448-3FD7-4101-B282BBD983C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1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2A43-CE71-7D62-DEFC-35349055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F1C3FB-B1EF-A906-DA5A-D83C9DB22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Intermediário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2">
              <a:spcBef>
                <a:spcPts val="1200"/>
              </a:spcBef>
            </a:pPr>
            <a:r>
              <a:rPr lang="pt-BR" b="1" dirty="0"/>
              <a:t>Tratamento de NULL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Funções agregadas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CTE / Recursividade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Views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8CCF38-F15C-0F5F-7C73-A8ED112D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8BDDFAB-BE11-7147-36A3-E90E93F2220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43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F9295-0E10-C213-C0E4-8330D437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8D1B13-5ABA-FD5C-75AC-2CCBA759D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Comparações envolvendo NULL</a:t>
            </a:r>
          </a:p>
          <a:p>
            <a:pPr>
              <a:spcBef>
                <a:spcPts val="2400"/>
              </a:spcBef>
            </a:pPr>
            <a:r>
              <a:rPr lang="pt-BR" dirty="0"/>
              <a:t>Pode ter diferentes significados:</a:t>
            </a:r>
          </a:p>
          <a:p>
            <a:pPr lvl="1"/>
            <a:r>
              <a:rPr lang="pt-BR" dirty="0"/>
              <a:t>Valor desconhecido</a:t>
            </a:r>
          </a:p>
          <a:p>
            <a:pPr lvl="1"/>
            <a:r>
              <a:rPr lang="pt-BR" dirty="0"/>
              <a:t>Valor indisponível </a:t>
            </a:r>
          </a:p>
          <a:p>
            <a:pPr lvl="1"/>
            <a:r>
              <a:rPr lang="pt-BR" dirty="0"/>
              <a:t>Atributo não aplicável </a:t>
            </a:r>
          </a:p>
          <a:p>
            <a:pPr lvl="1"/>
            <a:endParaRPr lang="pt-BR" dirty="0"/>
          </a:p>
          <a:p>
            <a:r>
              <a:rPr lang="pt-BR" dirty="0"/>
              <a:t>Frequentemente, não se sabe a intenção da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199905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0F2C-09C7-B63E-1576-0010FBC3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E61F9-2FA4-7503-122E-0DF5833F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3E3FD0-9D5C-6798-D159-C61950421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Valor booleano com 3 estados: {TRUE, FALSE, UNKNOWN}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EB32ED-F761-4F9D-DCEF-4A41FEFF3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171" y="2576567"/>
            <a:ext cx="7057658" cy="391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1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211DD-95D6-5AA4-04CF-88F7831A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C768BD-FF29-71FD-74EC-8C127D900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operador IS NULL ou IS NOT NULL em vez de = NULL ou != NULL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50C6E4-6255-2270-2248-607EB8E6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475" y="4517402"/>
            <a:ext cx="3313800" cy="95765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F285F93-437F-B7BF-1FE4-E1073AD96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25" y="2783851"/>
            <a:ext cx="5468113" cy="388674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D1BDA10-4ED9-B7E6-A48C-F4AB82518622}"/>
              </a:ext>
            </a:extLst>
          </p:cNvPr>
          <p:cNvSpPr/>
          <p:nvPr/>
        </p:nvSpPr>
        <p:spPr>
          <a:xfrm>
            <a:off x="7281363" y="2991556"/>
            <a:ext cx="4072437" cy="1219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Recupere o nome de todos os Empregados que não tem superior (</a:t>
            </a:r>
            <a:r>
              <a:rPr lang="pt-BR" sz="2000" b="1" i="1" dirty="0" err="1"/>
              <a:t>super_ssn</a:t>
            </a:r>
            <a:r>
              <a:rPr lang="pt-BR" sz="2000" b="1" i="1" dirty="0"/>
              <a:t> </a:t>
            </a:r>
            <a:r>
              <a:rPr lang="pt-BR" sz="2000" b="1" dirty="0"/>
              <a:t>igual a NULL)</a:t>
            </a:r>
          </a:p>
        </p:txBody>
      </p:sp>
    </p:spTree>
    <p:extLst>
      <p:ext uri="{BB962C8B-B14F-4D97-AF65-F5344CB8AC3E}">
        <p14:creationId xmlns:p14="http://schemas.microsoft.com/office/powerpoint/2010/main" val="268302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03B45-5170-C747-F9CB-F69811BB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B0D64F-51C0-E4D6-2B05-D545014B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Recupere Pedidos cujo frete ainda não foi informado</a:t>
            </a:r>
          </a:p>
          <a:p>
            <a:r>
              <a:rPr lang="pt-BR" dirty="0"/>
              <a:t>Recupere Pedidos cujo frente foi informado (mesmo que seja 0)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67FAF5-A770-2851-8AAA-73DCC69A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189" y="4276441"/>
            <a:ext cx="4382112" cy="153373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9C133F-B2E9-72CD-E23A-BE31B9ED4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110" y="4276441"/>
            <a:ext cx="4953691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1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9BE8B-FCC8-1483-4069-BCC21CFD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384E4-A916-81D0-830B-46EC2A7D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Uso de operador </a:t>
            </a:r>
            <a:r>
              <a:rPr lang="pt-BR" dirty="0">
                <a:solidFill>
                  <a:schemeClr val="accent1"/>
                </a:solidFill>
              </a:rPr>
              <a:t>COALESCE</a:t>
            </a:r>
            <a:r>
              <a:rPr lang="pt-BR" dirty="0"/>
              <a:t>(</a:t>
            </a:r>
            <a:r>
              <a:rPr lang="pt-BR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atributo</a:t>
            </a:r>
            <a:r>
              <a:rPr lang="pt-BR" dirty="0"/>
              <a:t>, </a:t>
            </a:r>
            <a:r>
              <a:rPr lang="pt-BR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valor_default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Sempre que o </a:t>
            </a:r>
            <a:r>
              <a:rPr lang="pt-BR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atributo</a:t>
            </a:r>
            <a:r>
              <a:rPr lang="pt-BR" dirty="0"/>
              <a:t> tiver valor NULL, será substituído pelo </a:t>
            </a:r>
            <a:r>
              <a:rPr lang="pt-BR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valor_default</a:t>
            </a:r>
            <a:endParaRPr lang="pt-BR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2400"/>
              </a:spcBef>
            </a:pPr>
            <a:r>
              <a:rPr lang="pt-BR" dirty="0"/>
              <a:t>Recupere os Pedidos, considerando que os Pedidos que não tem frente informado (NULL) sejam convertidos para 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D159A5-4660-F1EC-D4CC-9CB34DF77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4" y="4693321"/>
            <a:ext cx="7211431" cy="151468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8DED624-6B4C-9A8A-51FE-F38ED7F6D9D7}"/>
              </a:ext>
            </a:extLst>
          </p:cNvPr>
          <p:cNvSpPr/>
          <p:nvPr/>
        </p:nvSpPr>
        <p:spPr>
          <a:xfrm>
            <a:off x="7349066" y="5520477"/>
            <a:ext cx="4436533" cy="12435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Possibilitará cálculo com esses valores</a:t>
            </a:r>
          </a:p>
        </p:txBody>
      </p:sp>
    </p:spTree>
    <p:extLst>
      <p:ext uri="{BB962C8B-B14F-4D97-AF65-F5344CB8AC3E}">
        <p14:creationId xmlns:p14="http://schemas.microsoft.com/office/powerpoint/2010/main" val="14869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33B9-6B6F-09E8-49AE-1E773553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BD303-49AC-6D5F-95B1-D4CA8C774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Intermediário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Tratamento de NULL</a:t>
            </a:r>
          </a:p>
          <a:p>
            <a:pPr lvl="2">
              <a:spcBef>
                <a:spcPts val="1200"/>
              </a:spcBef>
            </a:pPr>
            <a:r>
              <a:rPr lang="pt-BR" b="1" dirty="0"/>
              <a:t>Funções agregadas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CTE / Recursividade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Views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3EE471-F2AF-E78A-57BE-FA8644BC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0ABD6C6-78CA-21B7-F610-18D5A0382A8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546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4930C-4C30-5498-60E0-723A0194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agregadas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1C6833-63BC-BD89-F6D7-92925AA4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9711" cy="4351338"/>
          </a:xfrm>
        </p:spPr>
        <p:txBody>
          <a:bodyPr/>
          <a:lstStyle/>
          <a:p>
            <a:r>
              <a:rPr lang="pt-BR" dirty="0"/>
              <a:t>Usadas para </a:t>
            </a:r>
            <a:r>
              <a:rPr lang="pt-BR" b="1" dirty="0"/>
              <a:t>sumarizar informações</a:t>
            </a:r>
            <a:r>
              <a:rPr lang="pt-BR" dirty="0"/>
              <a:t> a partir de múltiplas tuplas em um sumário de uma única tupla</a:t>
            </a:r>
          </a:p>
          <a:p>
            <a:pPr>
              <a:spcBef>
                <a:spcPts val="2400"/>
              </a:spcBef>
            </a:pPr>
            <a:r>
              <a:rPr lang="pt-BR" dirty="0"/>
              <a:t>Agrupamento é usado para criar </a:t>
            </a:r>
            <a:r>
              <a:rPr lang="pt-BR" b="1" dirty="0"/>
              <a:t>subgrupos</a:t>
            </a:r>
            <a:r>
              <a:rPr lang="pt-BR" dirty="0"/>
              <a:t> de tuplas antes da sumarização</a:t>
            </a:r>
          </a:p>
          <a:p>
            <a:pPr>
              <a:spcBef>
                <a:spcPts val="2400"/>
              </a:spcBef>
            </a:pPr>
            <a:r>
              <a:rPr lang="pt-BR" dirty="0"/>
              <a:t>Importante para aplicações </a:t>
            </a:r>
            <a:r>
              <a:rPr lang="pt-BR" b="1" dirty="0">
                <a:solidFill>
                  <a:srgbClr val="FF0000"/>
                </a:solidFill>
              </a:rPr>
              <a:t>analíticas</a:t>
            </a:r>
          </a:p>
        </p:txBody>
      </p:sp>
      <p:pic>
        <p:nvPicPr>
          <p:cNvPr id="4" name="Picture 2" descr="SQL Server Functions with Syntax and Examples - DataFlair">
            <a:extLst>
              <a:ext uri="{FF2B5EF4-FFF2-40B4-BE49-F238E27FC236}">
                <a16:creationId xmlns:a16="http://schemas.microsoft.com/office/drawing/2014/main" id="{C966F20C-F753-8069-817D-A9E30A304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384" y="2290940"/>
            <a:ext cx="4147025" cy="388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74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6B29A-94FA-16AC-8394-95C34AAD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BC550-6C4B-62DA-B62C-3C53799E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agregadas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295EF8-64AB-7F01-B637-489C58878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1</a:t>
            </a:r>
            <a:r>
              <a:rPr lang="pt-BR" dirty="0"/>
              <a:t>: faça um resumo dos preços dos produtos: mais caro, mais barato, preço médio, soma total de preços e a quantidade de 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18F3C-426C-FED3-6057-AD0D7C84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85" y="3429000"/>
            <a:ext cx="5944430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4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FB62-45CE-502C-C96B-F79CA3EC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E887E-FA40-5059-6874-6187DBC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agregadas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245D-546C-5E2C-D47F-68E9C7101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2</a:t>
            </a:r>
            <a:r>
              <a:rPr lang="pt-BR" dirty="0"/>
              <a:t>: faça um resumo dos preços dos produtos: mais caro, mais barato, preço médio, soma total de preços e a quantidade de produtos da categoria ‘Informática’ (tabela </a:t>
            </a:r>
            <a:r>
              <a:rPr lang="pt-BR" i="1" dirty="0"/>
              <a:t>Categoria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22E7F7-D317-929F-2B90-DED7AB619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910" y="3429000"/>
            <a:ext cx="7896713" cy="299585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9B7EB26-5763-6CA3-1CA6-52C12B3CFE8B}"/>
              </a:ext>
            </a:extLst>
          </p:cNvPr>
          <p:cNvSpPr/>
          <p:nvPr/>
        </p:nvSpPr>
        <p:spPr>
          <a:xfrm>
            <a:off x="7529823" y="3379523"/>
            <a:ext cx="4436533" cy="12435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Filtragem por WHERE é aplicada antes da agregação</a:t>
            </a:r>
          </a:p>
        </p:txBody>
      </p:sp>
    </p:spTree>
    <p:extLst>
      <p:ext uri="{BB962C8B-B14F-4D97-AF65-F5344CB8AC3E}">
        <p14:creationId xmlns:p14="http://schemas.microsoft.com/office/powerpoint/2010/main" val="230070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49E9-AB5F-7610-C865-4EDD2170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CAFC9-0411-E17D-8767-A9E3D7B1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agregadas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430B17-58B5-B638-6E75-1F28BBA9A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3</a:t>
            </a:r>
            <a:r>
              <a:rPr lang="pt-BR" dirty="0"/>
              <a:t>: conte quantas categorias diferentes existem para os produtos cadastrados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7FF690-C018-2869-7F40-3F74B84F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3429000"/>
            <a:ext cx="8116433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F6A19-03DB-63BD-AA5A-52FB7214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EAFB0-2F93-C24D-3D6E-C9AABD8A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Agrupamentos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2CC63F-8D26-27E3-3DB6-91039BF3A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muitos casos, queremos aplicar as funções agregadas a subconjuntos das tuplas nas relações.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Cada subconjunto </a:t>
            </a:r>
            <a:r>
              <a:rPr lang="pt-BR" u="sng" dirty="0"/>
              <a:t>determinado pelo valor de algum atributo</a:t>
            </a:r>
          </a:p>
          <a:p>
            <a:pPr lvl="1">
              <a:spcBef>
                <a:spcPts val="1800"/>
              </a:spcBef>
            </a:pPr>
            <a:r>
              <a:rPr lang="pt-BR" dirty="0" err="1"/>
              <a:t>Ex</a:t>
            </a:r>
            <a:r>
              <a:rPr lang="pt-BR" dirty="0"/>
              <a:t>: Calcular o salário médio dos Empregados de cada Departamento</a:t>
            </a:r>
          </a:p>
        </p:txBody>
      </p:sp>
    </p:spTree>
    <p:extLst>
      <p:ext uri="{BB962C8B-B14F-4D97-AF65-F5344CB8AC3E}">
        <p14:creationId xmlns:p14="http://schemas.microsoft.com/office/powerpoint/2010/main" val="2497502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0A59-8E12-0EC5-39FA-6670EFC9A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953E6-C396-A6A2-4127-DE759C14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Agrupamentos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E495D-AC26-4973-5E80-CE5DC1047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1</a:t>
            </a:r>
            <a:r>
              <a:rPr lang="pt-BR" dirty="0"/>
              <a:t>: qual a quantidade e o preço médio de produtos para cada uma das categorias?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EB6D7D-E6C0-C9B5-2311-4510C3979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7" y="3240255"/>
            <a:ext cx="9040487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7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E151-B28B-F322-9027-B31148F2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D69F0-1842-20E4-7EDE-61DC666F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Agrupamentos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9DC13-61E0-1A78-FDA2-842CB9E8B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2</a:t>
            </a:r>
            <a:r>
              <a:rPr lang="pt-BR" dirty="0"/>
              <a:t>: liste as categorias cujos preços médios sejam maior que 500 reais.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F57E45-6C47-E93C-1101-C02BEC4B1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864" y="3152943"/>
            <a:ext cx="6068272" cy="262926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35EBB69-43C6-E97C-FE69-133424B6F45B}"/>
              </a:ext>
            </a:extLst>
          </p:cNvPr>
          <p:cNvSpPr/>
          <p:nvPr/>
        </p:nvSpPr>
        <p:spPr>
          <a:xfrm>
            <a:off x="7360490" y="4933421"/>
            <a:ext cx="4436533" cy="15594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HAVING filtra os subconjuntos e não as tuplas!</a:t>
            </a:r>
          </a:p>
        </p:txBody>
      </p:sp>
    </p:spTree>
    <p:extLst>
      <p:ext uri="{BB962C8B-B14F-4D97-AF65-F5344CB8AC3E}">
        <p14:creationId xmlns:p14="http://schemas.microsoft.com/office/powerpoint/2010/main" val="193458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527C4-B7AF-5E83-CD61-B50B764C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Agrupamentos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910DF7-2C50-3182-DC08-A216DC4E9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3</a:t>
            </a:r>
            <a:r>
              <a:rPr lang="pt-BR" dirty="0"/>
              <a:t>: mostre as categorias de Produtos que tenham ao menos 3 produtos ativos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6C315B-77AA-F595-5258-B7C7427C7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445" y="3162281"/>
            <a:ext cx="5782482" cy="279121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379FE36-15AE-5110-3AE1-71F2E466462D}"/>
              </a:ext>
            </a:extLst>
          </p:cNvPr>
          <p:cNvSpPr/>
          <p:nvPr/>
        </p:nvSpPr>
        <p:spPr>
          <a:xfrm>
            <a:off x="7258890" y="5068358"/>
            <a:ext cx="4436533" cy="12435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Filtragem por WHERE é aplicada antes da agregação</a:t>
            </a:r>
          </a:p>
        </p:txBody>
      </p:sp>
    </p:spTree>
    <p:extLst>
      <p:ext uri="{BB962C8B-B14F-4D97-AF65-F5344CB8AC3E}">
        <p14:creationId xmlns:p14="http://schemas.microsoft.com/office/powerpoint/2010/main" val="41992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54CBF-1D90-8F98-7738-4BF1FBA5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C0F561-DF70-D675-8A90-A7D181DE7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SQL tem operador CASE para quando queremos transformar um valor baseado em certa condição</a:t>
            </a:r>
          </a:p>
          <a:p>
            <a:r>
              <a:rPr lang="pt-BR" dirty="0"/>
              <a:t>Exemplo: considere “Preço Alto” quando o Produto tiver preço </a:t>
            </a:r>
            <a:r>
              <a:rPr lang="pt-BR" b="1" dirty="0"/>
              <a:t>&gt;= 1000 reais</a:t>
            </a:r>
            <a:r>
              <a:rPr lang="pt-BR" dirty="0"/>
              <a:t>; considere “Preço médio” se o Produto tiver </a:t>
            </a:r>
            <a:r>
              <a:rPr lang="pt-BR" b="1" dirty="0"/>
              <a:t>preço &gt;= 300</a:t>
            </a:r>
            <a:r>
              <a:rPr lang="pt-BR" dirty="0"/>
              <a:t>; considere os outros Produtos como “Preço baixo”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1B0CD6-2B4E-20AE-02CD-2769D304E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418" y="4136761"/>
            <a:ext cx="5855163" cy="258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9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7687-45F4-27FE-6216-5D23D615A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F0A00-913E-1AFC-419A-6998C74E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98792-2128-D2C5-6CAE-936F006C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Liste os clientes que ainda não realizaram nenhum pedido. Apresente o código, o nome e a cidade do cliente. Resolva utilizando LEFT JOIN e IS NULL.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Apresente, para cada situação de pedido </a:t>
            </a:r>
            <a:r>
              <a:rPr lang="pt-BR"/>
              <a:t>(status), </a:t>
            </a:r>
            <a:r>
              <a:rPr lang="pt-BR" dirty="0"/>
              <a:t>a quantidade de pedidos e o valor médio do frete. Desconsidere os pedidos cujo frete não foi informado e mostre somente as situações com pelo menos dois pedidos.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Apresente, para cada cliente que tenha realizado pedidos não cancelados: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nome do cliente; quantidade de pedidos; data do primeiro pedido ;data do pedido mais recente.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Mostre somente clientes que tenham realizado pelo menos três pedidos não cancelados.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(CASE) Liste os pedidos e crie uma coluna chamada andamento com a seguinte classificação: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Pendente para pedidos abertos;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Concluído para pedidos pagos ou enviados;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Cancelado para pedidos cancelados.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Apresente o código, a data, o status original e o andamento do pedido.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62D797-9597-7F8D-FB39-11C00592D35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212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E960-A8B7-391A-484F-B155814F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72B9CC-43A5-7220-D8EF-C23F2A125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Intermediário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Tratamento de NULL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Funções agregadas</a:t>
            </a:r>
          </a:p>
          <a:p>
            <a:pPr lvl="2">
              <a:spcBef>
                <a:spcPts val="1200"/>
              </a:spcBef>
            </a:pPr>
            <a:r>
              <a:rPr lang="pt-BR" b="1" dirty="0" err="1"/>
              <a:t>Window</a:t>
            </a:r>
            <a:r>
              <a:rPr lang="pt-BR" b="1" dirty="0"/>
              <a:t> </a:t>
            </a:r>
            <a:r>
              <a:rPr lang="pt-BR" b="1" dirty="0" err="1"/>
              <a:t>functions</a:t>
            </a:r>
            <a:endParaRPr lang="pt-BR" b="1" dirty="0"/>
          </a:p>
          <a:p>
            <a:pPr lvl="2">
              <a:spcBef>
                <a:spcPts val="1200"/>
              </a:spcBef>
            </a:pPr>
            <a:r>
              <a:rPr lang="pt-BR" dirty="0"/>
              <a:t>CTE / Recursividade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Views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2B1FDC-882E-5B3A-B211-20B0CFC7D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91137A-AD8C-3442-7166-A3CA8048A40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428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B4AC2-B7AF-6E3C-41ED-5F2696B1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4EAB44-80FD-600F-2D5E-DF6077BE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função de janela</a:t>
            </a:r>
            <a:r>
              <a:rPr lang="pt-BR" dirty="0"/>
              <a:t> realiza um cálculo considerando um conjunto de linhas relacionadas à linha atual, mas </a:t>
            </a:r>
            <a:r>
              <a:rPr lang="pt-BR" b="1" dirty="0"/>
              <a:t>sem agrupar ou eliminar essas linhas</a:t>
            </a:r>
          </a:p>
          <a:p>
            <a:pPr>
              <a:spcBef>
                <a:spcPts val="2400"/>
              </a:spcBef>
            </a:pPr>
            <a:r>
              <a:rPr lang="pt-BR" dirty="0"/>
              <a:t>Essa é a diferença principal em relação ao GROUP BY: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GROUP BY reúne várias linhas e produz uma linha por grupo;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uma função de janela calcula valores sobre um grupo, mas mantém cada linha original no resultado.</a:t>
            </a:r>
          </a:p>
        </p:txBody>
      </p:sp>
    </p:spTree>
    <p:extLst>
      <p:ext uri="{BB962C8B-B14F-4D97-AF65-F5344CB8AC3E}">
        <p14:creationId xmlns:p14="http://schemas.microsoft.com/office/powerpoint/2010/main" val="3622371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CAC30-1EF7-04D3-F50F-F06D3B07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F9192-5D8E-9DE9-87C6-95E5CA34A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Funções de janela são especialmente úteis para: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calcular rankings;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numerar linhas;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comparar uma linha com a média do seu grupo;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calcular totais acumulados;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calcular percentuais de participação;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acessar valores da linha anterior ou seguinte;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selecionar os primeiros registros de cada grupo;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calcular médias móveis.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2563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2BFD6-AB85-A31F-0533-546BCC5E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1162D3-A19D-A60E-5D5A-C2D8E9BF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 descr="Learn SQL Window Functions With Queries | by Hasan Hüseyin Coşgun | Medium">
            <a:extLst>
              <a:ext uri="{FF2B5EF4-FFF2-40B4-BE49-F238E27FC236}">
                <a16:creationId xmlns:a16="http://schemas.microsoft.com/office/drawing/2014/main" id="{0D23089F-CF09-5F1D-95B2-2671F7D4F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88" y="0"/>
            <a:ext cx="9698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285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CAD7-5FE2-5755-7675-A0520F74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4B2F89-EDD3-409E-5845-18D660A5E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 descr="ROW_NUMBER Function in SQL: A Complete Guide">
            <a:extLst>
              <a:ext uri="{FF2B5EF4-FFF2-40B4-BE49-F238E27FC236}">
                <a16:creationId xmlns:a16="http://schemas.microsoft.com/office/drawing/2014/main" id="{7765D971-FFCB-88F8-B7CC-2C077BE96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222" y="1690688"/>
            <a:ext cx="8071555" cy="4855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599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035E8-C13A-B2AF-98B9-538651A0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FDE6E5-B445-CA47-43FF-259031D71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principais componentes são: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OVER</a:t>
            </a:r>
            <a:r>
              <a:rPr lang="pt-BR" dirty="0"/>
              <a:t>: indica que a função será utilizada como função de janela;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PARTITION BY</a:t>
            </a:r>
            <a:r>
              <a:rPr lang="pt-BR" dirty="0"/>
              <a:t>: divide as linhas em grupos, sem agrupá-las em uma única linha;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ORDER BY</a:t>
            </a:r>
            <a:r>
              <a:rPr lang="pt-BR" dirty="0"/>
              <a:t>: define a ordem das linhas dentro de cada grupo.</a:t>
            </a:r>
          </a:p>
        </p:txBody>
      </p:sp>
    </p:spTree>
    <p:extLst>
      <p:ext uri="{BB962C8B-B14F-4D97-AF65-F5344CB8AC3E}">
        <p14:creationId xmlns:p14="http://schemas.microsoft.com/office/powerpoint/2010/main" val="2542640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3EED-C5A5-8FBA-7EBF-497A5560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3C0B5-7575-AFB3-74E2-396FE37E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0BA6D5-D0FF-B36C-A3A4-C6F2768E5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1</a:t>
            </a:r>
            <a:r>
              <a:rPr lang="pt-BR" dirty="0"/>
              <a:t>: mostrar cada produto e também o preço médio de todos os produtos.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432B3D-5056-1B8F-0340-92262A22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85" y="2826212"/>
            <a:ext cx="5369616" cy="16948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0946808-AB41-1636-054C-5FF90A316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26" y="4656048"/>
            <a:ext cx="3824111" cy="205913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670E7D8-CDF6-9CE7-9DCA-90281B96A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299" y="2826211"/>
            <a:ext cx="2961277" cy="169489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75EBD1D-D817-1ABE-9E66-2E800D315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941" y="4709917"/>
            <a:ext cx="3824111" cy="1951398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FB6C257-18B1-3A70-E629-9678C3A4A30D}"/>
              </a:ext>
            </a:extLst>
          </p:cNvPr>
          <p:cNvSpPr/>
          <p:nvPr/>
        </p:nvSpPr>
        <p:spPr>
          <a:xfrm>
            <a:off x="1614311" y="3651082"/>
            <a:ext cx="2099735" cy="277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F4F5945-D45B-A0BD-FAA0-F8CB83F78160}"/>
              </a:ext>
            </a:extLst>
          </p:cNvPr>
          <p:cNvSpPr/>
          <p:nvPr/>
        </p:nvSpPr>
        <p:spPr>
          <a:xfrm>
            <a:off x="4956736" y="3070578"/>
            <a:ext cx="4875885" cy="150440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/>
              <a:t>Esta expressão calcula a média usando todas as linhas. Os parênteses vazios de </a:t>
            </a:r>
            <a:r>
              <a:rPr lang="pt-BR" sz="2000" b="1" dirty="0"/>
              <a:t>OVER( ) </a:t>
            </a:r>
            <a:r>
              <a:rPr lang="pt-BR" sz="2000" dirty="0"/>
              <a:t>indicam que não há divisão em grupos.</a:t>
            </a:r>
          </a:p>
        </p:txBody>
      </p:sp>
    </p:spTree>
    <p:extLst>
      <p:ext uri="{BB962C8B-B14F-4D97-AF65-F5344CB8AC3E}">
        <p14:creationId xmlns:p14="http://schemas.microsoft.com/office/powerpoint/2010/main" val="180864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AFA10-C173-7805-E964-1AB98AC9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3E8CBA-4E30-F13C-DBEC-7C171F5ED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2</a:t>
            </a:r>
            <a:r>
              <a:rPr lang="pt-BR" dirty="0"/>
              <a:t>: ranquear os Produtos, dos mais caros para os mais baratos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A3E6234-7351-B12F-3020-F23C1113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28" y="3429000"/>
            <a:ext cx="6816986" cy="184442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C9253FF-FD50-5138-6DA3-537FF0F91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183" y="2569345"/>
            <a:ext cx="6725589" cy="3753374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3539E605-2BD3-A9AB-C75E-D386CC877667}"/>
              </a:ext>
            </a:extLst>
          </p:cNvPr>
          <p:cNvSpPr/>
          <p:nvPr/>
        </p:nvSpPr>
        <p:spPr>
          <a:xfrm>
            <a:off x="8997245" y="4576082"/>
            <a:ext cx="451556" cy="1486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3B453FE-0D09-A939-E464-097A95216FC3}"/>
              </a:ext>
            </a:extLst>
          </p:cNvPr>
          <p:cNvSpPr/>
          <p:nvPr/>
        </p:nvSpPr>
        <p:spPr>
          <a:xfrm>
            <a:off x="9826978" y="4576081"/>
            <a:ext cx="451556" cy="14860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500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8A7E-1F4F-5369-15E9-F67057AF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630886-8D90-3F65-0B3B-91F0AC0C7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2</a:t>
            </a:r>
            <a:r>
              <a:rPr lang="pt-BR" dirty="0"/>
              <a:t>: ranquear os Produtos, dos mais caros para os mais baratos, por Categoria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EF5638-61EA-FAD3-899B-F8939CD21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33" y="3042033"/>
            <a:ext cx="6649378" cy="25149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FC27C5B-BC52-CEB9-6174-A9652838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6073FA-D136-FB25-8EAA-C2A0D431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427" y="2838626"/>
            <a:ext cx="6677957" cy="3801005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F079495C-78D1-972A-5AF4-747394BB5CFE}"/>
              </a:ext>
            </a:extLst>
          </p:cNvPr>
          <p:cNvSpPr/>
          <p:nvPr/>
        </p:nvSpPr>
        <p:spPr>
          <a:xfrm>
            <a:off x="5373511" y="3090031"/>
            <a:ext cx="451556" cy="9739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831F4FA-0E3B-CD7A-AA6D-0E1313754508}"/>
              </a:ext>
            </a:extLst>
          </p:cNvPr>
          <p:cNvSpPr/>
          <p:nvPr/>
        </p:nvSpPr>
        <p:spPr>
          <a:xfrm>
            <a:off x="9589911" y="3090032"/>
            <a:ext cx="451556" cy="9739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159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44A62-2866-EFF3-6747-4F5351AA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83551C1-4E32-BD16-9AB3-5EEB8F868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986297"/>
              </p:ext>
            </p:extLst>
          </p:nvPr>
        </p:nvGraphicFramePr>
        <p:xfrm>
          <a:off x="838200" y="2610503"/>
          <a:ext cx="10515600" cy="2651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818535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6646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b="1" dirty="0">
                          <a:solidFill>
                            <a:schemeClr val="bg1"/>
                          </a:solidFill>
                        </a:rPr>
                        <a:t>Necessidade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>
                          <a:solidFill>
                            <a:schemeClr val="bg1"/>
                          </a:solidFill>
                        </a:rPr>
                        <a:t>Solução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99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dirty="0"/>
                        <a:t>Cada produto acompanhado da média da categoria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i="1" dirty="0"/>
                        <a:t>AVG() OVER (PARTITION BY 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99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/>
                        <a:t>Numerar linhas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i="1"/>
                        <a:t>ROW_NUMBER()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03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dirty="0"/>
                        <a:t>Criar ranking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i="1" dirty="0"/>
                        <a:t>RANK() ou DENSE_RANK()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303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/>
                        <a:t>Acumular valores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i="1" dirty="0"/>
                        <a:t>SUM() OVER (ORDER BY ...)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489483"/>
                  </a:ext>
                </a:extLst>
              </a:tr>
            </a:tbl>
          </a:graphicData>
        </a:graphic>
      </p:graphicFrame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3853E04-D2AB-15AB-678A-EA0242E72C2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Síntese das funções:</a:t>
            </a:r>
          </a:p>
        </p:txBody>
      </p:sp>
    </p:spTree>
    <p:extLst>
      <p:ext uri="{BB962C8B-B14F-4D97-AF65-F5344CB8AC3E}">
        <p14:creationId xmlns:p14="http://schemas.microsoft.com/office/powerpoint/2010/main" val="1492043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F8AE2-4BAE-E984-F52C-8632AC7A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janela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DC7B5C-5B98-AF01-EFD2-74D9213BC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Pergunta central: </a:t>
            </a:r>
            <a:r>
              <a:rPr lang="pt-BR" b="1" i="1" dirty="0"/>
              <a:t>O cálculo deve resumir as linhas ou deve aparecer ao lado de cada linha?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 deve resumir, normalmente usamos GROUP BY. Se deve preservar as linhas, geralmente uma função de janela é mais apropriada.</a:t>
            </a:r>
          </a:p>
        </p:txBody>
      </p:sp>
    </p:spTree>
    <p:extLst>
      <p:ext uri="{BB962C8B-B14F-4D97-AF65-F5344CB8AC3E}">
        <p14:creationId xmlns:p14="http://schemas.microsoft.com/office/powerpoint/2010/main" val="1677962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F72AF-971A-1622-ABF4-B25A3219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E6A07-DB06-A61B-BBA5-08BA5AF93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Intermediário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Tratamento de NULL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Funções agregadas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b="1" dirty="0"/>
              <a:t>CTE / Recursividade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Views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BE0818-F1CB-373F-8B6F-BBA776E5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BA2B38-2039-4C38-CC35-4CE058E4958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217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B1881-BB9B-3C2B-4F87-BFE5E2A6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Common </a:t>
            </a:r>
            <a:r>
              <a:rPr lang="pt-BR" dirty="0" err="1"/>
              <a:t>Table</a:t>
            </a:r>
            <a:r>
              <a:rPr lang="pt-BR" dirty="0"/>
              <a:t> Expression (CTE)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6B50B6-DF2C-4B5B-0E9E-9077BF708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4200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Consulta temporária que recebe um nome e pode ser utilizada por outra consulta</a:t>
            </a:r>
          </a:p>
          <a:p>
            <a:pPr>
              <a:spcBef>
                <a:spcPts val="2400"/>
              </a:spcBef>
            </a:pPr>
            <a:r>
              <a:rPr lang="pt-BR" dirty="0"/>
              <a:t>Operador </a:t>
            </a:r>
            <a:r>
              <a:rPr lang="pt-BR" dirty="0">
                <a:solidFill>
                  <a:srgbClr val="0070C0"/>
                </a:solidFill>
              </a:rPr>
              <a:t>WITH</a:t>
            </a:r>
            <a:r>
              <a:rPr lang="pt-BR" dirty="0"/>
              <a:t> permite definir uma tabela que será usada somente em uma consulta específica</a:t>
            </a:r>
          </a:p>
          <a:p>
            <a:pPr>
              <a:spcBef>
                <a:spcPts val="2400"/>
              </a:spcBef>
            </a:pPr>
            <a:r>
              <a:rPr lang="pt-BR" dirty="0"/>
              <a:t>Desejável quando uma consulta possui várias etapas intermediárias e começa a ficar difícil de compreender, testar ou manter</a:t>
            </a:r>
          </a:p>
        </p:txBody>
      </p:sp>
      <p:pic>
        <p:nvPicPr>
          <p:cNvPr id="2050" name="Picture 2" descr="Common Table Expression (CTE) in SQL: Everything you need to know">
            <a:extLst>
              <a:ext uri="{FF2B5EF4-FFF2-40B4-BE49-F238E27FC236}">
                <a16:creationId xmlns:a16="http://schemas.microsoft.com/office/drawing/2014/main" id="{3270B990-BE6D-A003-1AAE-9658AF96B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538" y="1825625"/>
            <a:ext cx="4856163" cy="408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750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65B07-AC47-76C1-E668-6D81E8EB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Common </a:t>
            </a:r>
            <a:r>
              <a:rPr lang="pt-BR" dirty="0" err="1"/>
              <a:t>Table</a:t>
            </a:r>
            <a:r>
              <a:rPr lang="pt-BR" dirty="0"/>
              <a:t> Expression (CTE)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CAC959-D32F-524B-B047-6A24DEB7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 descr="Common Table Expressions (CTEs) in SQL Server: A Step-by-Step Guide | by  Mahipal Choudhary | Medium">
            <a:extLst>
              <a:ext uri="{FF2B5EF4-FFF2-40B4-BE49-F238E27FC236}">
                <a16:creationId xmlns:a16="http://schemas.microsoft.com/office/drawing/2014/main" id="{F2D3E254-2290-69DF-A740-B0E2CAA0A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17" y="1825625"/>
            <a:ext cx="101359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76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F2C28-6F4F-5F58-7042-EAA75A8D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Common </a:t>
            </a:r>
            <a:r>
              <a:rPr lang="pt-BR" dirty="0" err="1"/>
              <a:t>Table</a:t>
            </a:r>
            <a:r>
              <a:rPr lang="pt-BR" dirty="0"/>
              <a:t> Expression (CTE)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FDA8F3-91D6-5A83-829A-D4E7E7DDF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1</a:t>
            </a:r>
            <a:r>
              <a:rPr lang="pt-BR" dirty="0"/>
              <a:t>: recupere os dados apenas dos Produtos caros (</a:t>
            </a:r>
            <a:r>
              <a:rPr lang="pt-BR" i="1" dirty="0" err="1"/>
              <a:t>preco</a:t>
            </a:r>
            <a:r>
              <a:rPr lang="pt-BR" dirty="0"/>
              <a:t> &gt;  500 reais)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5C8727-CB87-75FF-BCC1-625917851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01" y="3819452"/>
            <a:ext cx="2724530" cy="10478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5D70FBB-75F0-5A00-8296-0D9E1D60A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546" y="3005699"/>
            <a:ext cx="3848637" cy="3219899"/>
          </a:xfrm>
          <a:prstGeom prst="rect">
            <a:avLst/>
          </a:prstGeom>
        </p:spPr>
      </p:pic>
      <p:sp>
        <p:nvSpPr>
          <p:cNvPr id="8" name="Igual a 7">
            <a:extLst>
              <a:ext uri="{FF2B5EF4-FFF2-40B4-BE49-F238E27FC236}">
                <a16:creationId xmlns:a16="http://schemas.microsoft.com/office/drawing/2014/main" id="{D0E4B179-04E7-32FE-2F9B-36E52D73436E}"/>
              </a:ext>
            </a:extLst>
          </p:cNvPr>
          <p:cNvSpPr/>
          <p:nvPr/>
        </p:nvSpPr>
        <p:spPr>
          <a:xfrm>
            <a:off x="5375127" y="4091894"/>
            <a:ext cx="662803" cy="54003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949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6683-9809-CF3A-886C-658B00B6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10AC5-4FE4-F27A-42B2-0D4F8A45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Common </a:t>
            </a:r>
            <a:r>
              <a:rPr lang="pt-BR" dirty="0" err="1"/>
              <a:t>Table</a:t>
            </a:r>
            <a:r>
              <a:rPr lang="pt-BR" dirty="0"/>
              <a:t> Expression (CTE)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42E1CA-AF5F-7B7D-2472-87F252B5B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2</a:t>
            </a:r>
            <a:r>
              <a:rPr lang="pt-BR" dirty="0"/>
              <a:t>: calcule a quantidade média de produtos por categoria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ADFB9FA-EBBB-ABD3-208E-72647E392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11" y="2701422"/>
            <a:ext cx="5304056" cy="340718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B87FA2A-B92C-1802-D359-E6553A425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3" y="3191366"/>
            <a:ext cx="5246846" cy="2532101"/>
          </a:xfrm>
          <a:prstGeom prst="rect">
            <a:avLst/>
          </a:prstGeom>
        </p:spPr>
      </p:pic>
      <p:sp>
        <p:nvSpPr>
          <p:cNvPr id="8" name="Igual a 7">
            <a:extLst>
              <a:ext uri="{FF2B5EF4-FFF2-40B4-BE49-F238E27FC236}">
                <a16:creationId xmlns:a16="http://schemas.microsoft.com/office/drawing/2014/main" id="{F534D82F-A990-7F28-8099-B078C4A0024A}"/>
              </a:ext>
            </a:extLst>
          </p:cNvPr>
          <p:cNvSpPr/>
          <p:nvPr/>
        </p:nvSpPr>
        <p:spPr>
          <a:xfrm>
            <a:off x="5497690" y="4118153"/>
            <a:ext cx="662803" cy="54003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207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0E9F-EEC2-EA89-20A2-8B4830127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7C02A-C033-AB09-FBE8-57E38C61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Common </a:t>
            </a:r>
            <a:r>
              <a:rPr lang="pt-BR" dirty="0" err="1"/>
              <a:t>Table</a:t>
            </a:r>
            <a:r>
              <a:rPr lang="pt-BR" dirty="0"/>
              <a:t> Expression (CTE)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55168B-97BC-5BA4-926B-7C5698EB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certos casos, precisamos executar um comando </a:t>
            </a:r>
            <a:r>
              <a:rPr lang="pt-BR" b="1" dirty="0">
                <a:solidFill>
                  <a:srgbClr val="0070C0"/>
                </a:solidFill>
              </a:rPr>
              <a:t>recursivamente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Processar hierarquias (pastas/subpastas; funcionários/supervisores)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Processar grafos</a:t>
            </a:r>
          </a:p>
          <a:p>
            <a:pPr>
              <a:spcBef>
                <a:spcPts val="2400"/>
              </a:spcBef>
            </a:pPr>
            <a:r>
              <a:rPr lang="pt-BR" dirty="0"/>
              <a:t>Estrutura básica:</a:t>
            </a:r>
          </a:p>
        </p:txBody>
      </p:sp>
      <p:pic>
        <p:nvPicPr>
          <p:cNvPr id="4098" name="Picture 2" descr="CTEs do SQL: Uma visão geral completa das expressões comuns de tabela |  LearnSQL.com.br">
            <a:extLst>
              <a:ext uri="{FF2B5EF4-FFF2-40B4-BE49-F238E27FC236}">
                <a16:creationId xmlns:a16="http://schemas.microsoft.com/office/drawing/2014/main" id="{52ACEE5F-473F-83D3-20D0-806DDB42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7" y="3541889"/>
            <a:ext cx="4477971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070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BC9B-0CCD-4525-A86A-63A5C2A4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9A622-2CC8-A129-827D-16B9BF82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Common </a:t>
            </a:r>
            <a:r>
              <a:rPr lang="pt-BR" dirty="0" err="1"/>
              <a:t>Table</a:t>
            </a:r>
            <a:r>
              <a:rPr lang="pt-BR" dirty="0"/>
              <a:t> Expression (CTE)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686184-0577-BB32-51E0-D38C0C9F5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89" y="1825625"/>
            <a:ext cx="3725333" cy="4351338"/>
          </a:xfrm>
        </p:spPr>
        <p:txBody>
          <a:bodyPr/>
          <a:lstStyle/>
          <a:p>
            <a:r>
              <a:rPr lang="pt-BR" i="1" dirty="0"/>
              <a:t>Exemplo 3</a:t>
            </a:r>
            <a:r>
              <a:rPr lang="pt-BR" dirty="0"/>
              <a:t>: mostre a categoria “Tecnologia” e todos seus descendentes</a:t>
            </a:r>
          </a:p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14A7E0B-A857-0D6E-0EDC-B699DB068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186" y="1825625"/>
            <a:ext cx="7850814" cy="411233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2F6A792-5CE5-FB6A-6FF7-A290249A9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25793"/>
            <a:ext cx="4820323" cy="1486107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DF2F0E65-3444-AD84-5D6F-53C6807170C4}"/>
              </a:ext>
            </a:extLst>
          </p:cNvPr>
          <p:cNvSpPr/>
          <p:nvPr/>
        </p:nvSpPr>
        <p:spPr>
          <a:xfrm>
            <a:off x="5034844" y="1690688"/>
            <a:ext cx="1061156" cy="5106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36439C6-C0DA-36B8-2834-08E09ACCA2DB}"/>
              </a:ext>
            </a:extLst>
          </p:cNvPr>
          <p:cNvSpPr/>
          <p:nvPr/>
        </p:nvSpPr>
        <p:spPr>
          <a:xfrm>
            <a:off x="4859865" y="2336270"/>
            <a:ext cx="6350001" cy="679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A7323C4-9C04-267E-484D-F1C094025E38}"/>
              </a:ext>
            </a:extLst>
          </p:cNvPr>
          <p:cNvSpPr/>
          <p:nvPr/>
        </p:nvSpPr>
        <p:spPr>
          <a:xfrm>
            <a:off x="6096000" y="4326788"/>
            <a:ext cx="2043290" cy="279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1AD2DC8-C34C-157A-8DF6-45F94DE877B7}"/>
              </a:ext>
            </a:extLst>
          </p:cNvPr>
          <p:cNvSpPr/>
          <p:nvPr/>
        </p:nvSpPr>
        <p:spPr>
          <a:xfrm>
            <a:off x="6129866" y="1690687"/>
            <a:ext cx="2009424" cy="5106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99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B4304-DBD6-2EA4-FABD-BC9A155F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874BCA-88B4-D033-BDD0-98BE5A2F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SQL Intermediário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DQL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Tratamento de NULL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Funções agregadas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Window</a:t>
            </a:r>
            <a:r>
              <a:rPr lang="pt-BR" dirty="0"/>
              <a:t> </a:t>
            </a:r>
            <a:r>
              <a:rPr lang="pt-BR" dirty="0" err="1"/>
              <a:t>functions</a:t>
            </a:r>
            <a:endParaRPr lang="pt-BR" dirty="0"/>
          </a:p>
          <a:p>
            <a:pPr lvl="2">
              <a:spcBef>
                <a:spcPts val="1200"/>
              </a:spcBef>
            </a:pPr>
            <a:r>
              <a:rPr lang="pt-BR" dirty="0"/>
              <a:t>CTE / Recursividade</a:t>
            </a:r>
          </a:p>
          <a:p>
            <a:pPr lvl="2">
              <a:spcBef>
                <a:spcPts val="1200"/>
              </a:spcBef>
            </a:pPr>
            <a:r>
              <a:rPr lang="pt-BR" b="1" dirty="0" err="1"/>
              <a:t>Views</a:t>
            </a:r>
            <a:endParaRPr lang="pt-BR" b="1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B75BAB-13F2-9D87-9A5E-833DECEB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E07A7D-3713-8403-0F2B-8D110D4F81B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8265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E12F5-FB71-E70A-0FA2-6EDC5C50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87126-3C2F-1A5B-28AE-BFA781395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b="1" i="1" dirty="0"/>
              <a:t>Visão</a:t>
            </a:r>
            <a:r>
              <a:rPr lang="pt-BR" dirty="0"/>
              <a:t> em SQL (</a:t>
            </a:r>
            <a:r>
              <a:rPr lang="pt-BR" i="1" dirty="0" err="1"/>
              <a:t>view</a:t>
            </a:r>
            <a:r>
              <a:rPr lang="pt-BR" dirty="0"/>
              <a:t>) é uma única </a:t>
            </a:r>
            <a:r>
              <a:rPr lang="pt-BR" dirty="0" err="1"/>
              <a:t>table</a:t>
            </a:r>
            <a:r>
              <a:rPr lang="pt-BR" dirty="0"/>
              <a:t> derivada de uma ou várias tabelas (ou outras </a:t>
            </a:r>
            <a:r>
              <a:rPr lang="pt-BR" i="1" dirty="0" err="1"/>
              <a:t>views</a:t>
            </a:r>
            <a:r>
              <a:rPr lang="pt-BR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Não existem fisicamente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Considerada uma </a:t>
            </a:r>
            <a:r>
              <a:rPr lang="pt-BR" b="1" dirty="0"/>
              <a:t>tabela virtual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Limita operações DML, mas não DQL</a:t>
            </a:r>
          </a:p>
          <a:p>
            <a:pPr>
              <a:spcBef>
                <a:spcPts val="2400"/>
              </a:spcBef>
            </a:pPr>
            <a:r>
              <a:rPr lang="pt-BR" dirty="0"/>
              <a:t>Maneira de especificar uma tabela usada frequentemente, mesmo que seu esquema não exista fisicamente</a:t>
            </a:r>
          </a:p>
        </p:txBody>
      </p:sp>
    </p:spTree>
    <p:extLst>
      <p:ext uri="{BB962C8B-B14F-4D97-AF65-F5344CB8AC3E}">
        <p14:creationId xmlns:p14="http://schemas.microsoft.com/office/powerpoint/2010/main" val="3067339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C8823-19DA-4B55-0445-07A40D4A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A77D44-22E1-424B-D630-B95ADED11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Exemplo 1</a:t>
            </a:r>
            <a:r>
              <a:rPr lang="pt-BR" dirty="0"/>
              <a:t>: o nome da categoria sempre aparece ao nome do produto para facilitar a leitura humana. Podemos criar uma </a:t>
            </a:r>
            <a:r>
              <a:rPr lang="pt-BR" dirty="0" err="1"/>
              <a:t>view</a:t>
            </a:r>
            <a:r>
              <a:rPr lang="pt-BR" dirty="0"/>
              <a:t> que sempre junte esses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41B98C-1AFF-B8BC-10D9-FBCD6036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66" y="3316930"/>
            <a:ext cx="4577546" cy="286003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43D1A8C-9B72-9233-A1C2-66DAF9D20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867" y="3056224"/>
            <a:ext cx="4172532" cy="7335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3A025D6-BC22-7BA4-C56C-885029524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13" y="4256605"/>
            <a:ext cx="5703266" cy="238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200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6CCF-1CF0-6D15-0A3B-D103234A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AF48-0423-10B8-272D-B38BDC8C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7A96A9-0C66-49A3-9F98-BAEEA101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Pode-se fazer consultas como se fosse uma tabela-base</a:t>
            </a:r>
          </a:p>
          <a:p>
            <a:r>
              <a:rPr lang="pt-BR" dirty="0"/>
              <a:t>Sem a </a:t>
            </a:r>
            <a:r>
              <a:rPr lang="pt-BR" i="1" dirty="0" err="1"/>
              <a:t>view</a:t>
            </a:r>
            <a:r>
              <a:rPr lang="pt-BR" dirty="0"/>
              <a:t>, seria necessário fazer os JOIN em todas as consultas similares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52A6D1-7107-534F-B454-E29E39CB0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40" y="3429000"/>
            <a:ext cx="4134427" cy="300079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98D52E9-ED00-A40F-6EC8-92E8C0A1C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88" y="4001294"/>
            <a:ext cx="456311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59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5F38E-0657-84E2-5484-A4BBE6F3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4F6D6-EFB1-5531-BB4E-051472A71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visualizar a consulta armazenada na </a:t>
            </a:r>
            <a:r>
              <a:rPr lang="pt-BR" dirty="0" err="1"/>
              <a:t>view</a:t>
            </a:r>
            <a:r>
              <a:rPr lang="pt-BR" dirty="0"/>
              <a:t> pelo comando</a:t>
            </a:r>
          </a:p>
          <a:p>
            <a:r>
              <a:rPr lang="pt-BR" dirty="0"/>
              <a:t>Pode-se exclui-la como se fosse uma tabela-base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5243CB-05E8-D951-4FF8-0EC385D4B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276" y="3568737"/>
            <a:ext cx="5858693" cy="362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2139A13-9A1F-F52B-DE4B-270840119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509" y="4596586"/>
            <a:ext cx="4982270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69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2F5C1-520B-72B3-04A9-E12706E0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252A17-12E1-55F7-1140-2F433A15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/>
              <a:t>view</a:t>
            </a:r>
            <a:r>
              <a:rPr lang="pt-BR" dirty="0"/>
              <a:t> armazena a </a:t>
            </a:r>
            <a:r>
              <a:rPr lang="pt-BR" b="1" dirty="0">
                <a:solidFill>
                  <a:srgbClr val="FF0000"/>
                </a:solidFill>
              </a:rPr>
              <a:t>consulta </a:t>
            </a:r>
            <a:r>
              <a:rPr lang="pt-BR" dirty="0"/>
              <a:t>e não uma cópia dos dados subjacentes sendo projetados por ela.</a:t>
            </a:r>
          </a:p>
          <a:p>
            <a:pPr>
              <a:spcBef>
                <a:spcPts val="1800"/>
              </a:spcBef>
            </a:pPr>
            <a:r>
              <a:rPr lang="pt-BR" dirty="0"/>
              <a:t>Por </a:t>
            </a:r>
            <a:r>
              <a:rPr lang="pt-BR" dirty="0" err="1"/>
              <a:t>ex</a:t>
            </a:r>
            <a:r>
              <a:rPr lang="pt-BR" dirty="0"/>
              <a:t>: se o preço de um Produto for alterado na tabela original, a próxima consulta à </a:t>
            </a:r>
            <a:r>
              <a:rPr lang="pt-BR" i="1" dirty="0" err="1"/>
              <a:t>view</a:t>
            </a:r>
            <a:r>
              <a:rPr lang="pt-BR" i="1" dirty="0"/>
              <a:t> </a:t>
            </a:r>
            <a:r>
              <a:rPr lang="pt-BR" dirty="0"/>
              <a:t>apresentará os dados atualizados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F8F3F027-18B8-06C3-5EA0-6D4CDDF725D6}"/>
              </a:ext>
            </a:extLst>
          </p:cNvPr>
          <p:cNvGrpSpPr/>
          <p:nvPr/>
        </p:nvGrpSpPr>
        <p:grpSpPr>
          <a:xfrm>
            <a:off x="3679921" y="3693407"/>
            <a:ext cx="4832158" cy="3189112"/>
            <a:chOff x="3679921" y="3693407"/>
            <a:chExt cx="4832158" cy="3189112"/>
          </a:xfrm>
        </p:grpSpPr>
        <p:pic>
          <p:nvPicPr>
            <p:cNvPr id="6146" name="Picture 2" descr="Advantages and Disadvantages of SQL Views | Headway">
              <a:extLst>
                <a:ext uri="{FF2B5EF4-FFF2-40B4-BE49-F238E27FC236}">
                  <a16:creationId xmlns:a16="http://schemas.microsoft.com/office/drawing/2014/main" id="{A3C63BC2-375F-464F-DB78-9E1B8F2AE8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09" t="7126" r="5393" b="28877"/>
            <a:stretch/>
          </p:blipFill>
          <p:spPr bwMode="auto">
            <a:xfrm>
              <a:off x="3679921" y="3693407"/>
              <a:ext cx="4832158" cy="2989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F134FBA-F32A-A973-D731-11E55C6A04EA}"/>
                </a:ext>
              </a:extLst>
            </p:cNvPr>
            <p:cNvSpPr txBox="1"/>
            <p:nvPr/>
          </p:nvSpPr>
          <p:spPr>
            <a:xfrm>
              <a:off x="4233333" y="6605520"/>
              <a:ext cx="37253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hlinkClick r:id="rId4"/>
                </a:rPr>
                <a:t>https://www.headway.io/blog/advantages-of-sql-views</a:t>
              </a:r>
              <a:r>
                <a:rPr lang="pt-BR" sz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6502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084D9-9A78-3F0E-0552-3BBF28FD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View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913211-338D-F6D8-DC14-95099A661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9844" cy="4351338"/>
          </a:xfrm>
        </p:spPr>
        <p:txBody>
          <a:bodyPr/>
          <a:lstStyle/>
          <a:p>
            <a:r>
              <a:rPr lang="pt-BR" dirty="0"/>
              <a:t>Muito útil para encapsular </a:t>
            </a:r>
            <a:r>
              <a:rPr lang="pt-BR" b="1" dirty="0"/>
              <a:t>consultas complexas </a:t>
            </a:r>
            <a:r>
              <a:rPr lang="pt-BR" dirty="0"/>
              <a:t>e com </a:t>
            </a:r>
            <a:r>
              <a:rPr lang="pt-BR" b="1" dirty="0" err="1"/>
              <a:t>JOINs</a:t>
            </a:r>
            <a:r>
              <a:rPr lang="pt-BR" b="1" dirty="0"/>
              <a:t> que se repetem</a:t>
            </a:r>
            <a:r>
              <a:rPr lang="pt-BR" dirty="0"/>
              <a:t> com frequência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Ex.: Consulta para apresentar um resumo de cada cliente</a:t>
            </a:r>
          </a:p>
          <a:p>
            <a:pPr lvl="2">
              <a:spcBef>
                <a:spcPts val="1200"/>
              </a:spcBef>
            </a:pPr>
            <a:r>
              <a:rPr lang="pt-BR" dirty="0" err="1"/>
              <a:t>Qtd</a:t>
            </a:r>
            <a:r>
              <a:rPr lang="pt-BR" dirty="0"/>
              <a:t> de pedidos, total comprado, valor médio do pedido, data última compra etc.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56B879-5C49-2BD4-19E8-638315E2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173" y="0"/>
            <a:ext cx="5266944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51A8AB-8C1D-8BAD-F1FC-DDBCB737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27" y="2859413"/>
            <a:ext cx="4848902" cy="3715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104F74-DEE3-ED16-BD2B-DB3CBB6B3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69" y="4143952"/>
            <a:ext cx="12050807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3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EEFF0-E38A-59F4-8460-C5691A4E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36452C-8CF2-8B33-5B78-C152530C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Crie uma </a:t>
            </a:r>
            <a:r>
              <a:rPr lang="pt-BR" b="1" dirty="0"/>
              <a:t>CTE </a:t>
            </a:r>
            <a:r>
              <a:rPr lang="pt-BR" dirty="0"/>
              <a:t>que calcule o preço médio dos produtos de cada categoria. Em seguida, liste os produtos cujo preço seja superior à média de sua própria categoria. Apresente o produto, seu preço e a média da categoria.</a:t>
            </a:r>
          </a:p>
          <a:p>
            <a:pPr>
              <a:spcBef>
                <a:spcPts val="2400"/>
              </a:spcBef>
            </a:pPr>
            <a:r>
              <a:rPr lang="pt-BR" dirty="0"/>
              <a:t>(</a:t>
            </a:r>
            <a:r>
              <a:rPr lang="pt-BR" b="1" i="1" dirty="0" err="1"/>
              <a:t>window</a:t>
            </a:r>
            <a:r>
              <a:rPr lang="pt-BR" b="1" i="1" dirty="0"/>
              <a:t> </a:t>
            </a:r>
            <a:r>
              <a:rPr lang="pt-BR" b="1" i="1" dirty="0" err="1"/>
              <a:t>function</a:t>
            </a:r>
            <a:r>
              <a:rPr lang="pt-BR" dirty="0"/>
              <a:t>)Apresente os pedidos em ordem cronológica e calcule o frete acumulado. Fretes não informados devem ser considerados iguais a zero. Mostre o código do pedido, a data, o frete e o frete acumulado.</a:t>
            </a:r>
          </a:p>
          <a:p>
            <a:pPr>
              <a:spcBef>
                <a:spcPts val="2400"/>
              </a:spcBef>
            </a:pPr>
            <a:r>
              <a:rPr lang="pt-BR" dirty="0"/>
              <a:t>Crie uma </a:t>
            </a:r>
            <a:r>
              <a:rPr lang="pt-BR" i="1" dirty="0" err="1"/>
              <a:t>view</a:t>
            </a:r>
            <a:r>
              <a:rPr lang="pt-BR" dirty="0"/>
              <a:t> chamada </a:t>
            </a:r>
            <a:r>
              <a:rPr lang="pt-BR" b="1" i="1" dirty="0" err="1"/>
              <a:t>vw_catalogo</a:t>
            </a:r>
            <a:r>
              <a:rPr lang="pt-BR" b="1" i="1" dirty="0"/>
              <a:t> </a:t>
            </a:r>
            <a:r>
              <a:rPr lang="pt-BR" dirty="0"/>
              <a:t>que apresente: produto; preço; situação; categoria; categoria-pai.</a:t>
            </a:r>
          </a:p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77862FC-2461-A668-6799-1A8C047EE62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448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0D35-59F5-4305-B639-305C6654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100B8-51D0-FDA9-651C-6BDBE7A5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8ECB9E-907F-7099-EF33-94781F771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Seminários BD:</a:t>
            </a:r>
          </a:p>
          <a:p>
            <a:r>
              <a:rPr lang="pt-BR" dirty="0"/>
              <a:t>Chave-valor [</a:t>
            </a:r>
            <a:r>
              <a:rPr lang="pt-BR" b="1" dirty="0"/>
              <a:t>Giovana</a:t>
            </a:r>
            <a:r>
              <a:rPr lang="pt-BR" dirty="0"/>
              <a:t>]</a:t>
            </a:r>
          </a:p>
          <a:p>
            <a:r>
              <a:rPr lang="pt-BR" dirty="0"/>
              <a:t>Documentos [</a:t>
            </a:r>
            <a:r>
              <a:rPr lang="pt-BR" b="1" dirty="0"/>
              <a:t>Isaac</a:t>
            </a:r>
            <a:r>
              <a:rPr lang="pt-BR" dirty="0"/>
              <a:t>]</a:t>
            </a:r>
          </a:p>
          <a:p>
            <a:r>
              <a:rPr lang="pt-BR" dirty="0"/>
              <a:t>Colunar </a:t>
            </a:r>
            <a:r>
              <a:rPr lang="pt-BR" b="1" dirty="0"/>
              <a:t>[Mariana]</a:t>
            </a:r>
          </a:p>
          <a:p>
            <a:r>
              <a:rPr lang="pt-BR" dirty="0"/>
              <a:t>Geoespacial [</a:t>
            </a:r>
            <a:r>
              <a:rPr lang="pt-BR" b="1" dirty="0"/>
              <a:t>David</a:t>
            </a:r>
            <a:r>
              <a:rPr lang="pt-BR" dirty="0"/>
              <a:t>]</a:t>
            </a:r>
          </a:p>
          <a:p>
            <a:r>
              <a:rPr lang="pt-BR" dirty="0"/>
              <a:t>Vetorial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r>
              <a:rPr lang="pt-BR" dirty="0"/>
              <a:t>Grafo propriedades [</a:t>
            </a:r>
            <a:r>
              <a:rPr lang="pt-BR" b="1" dirty="0"/>
              <a:t>Mateus</a:t>
            </a:r>
            <a:r>
              <a:rPr lang="pt-BR" dirty="0"/>
              <a:t>]</a:t>
            </a:r>
          </a:p>
          <a:p>
            <a:r>
              <a:rPr lang="pt-BR" dirty="0"/>
              <a:t>Grafo RDF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r>
              <a:rPr lang="pt-BR" dirty="0"/>
              <a:t>Eventos </a:t>
            </a:r>
            <a:r>
              <a:rPr lang="pt-BR" b="1" dirty="0"/>
              <a:t>[Enrico]</a:t>
            </a:r>
          </a:p>
          <a:p>
            <a:endParaRPr lang="pt-BR" b="1" dirty="0"/>
          </a:p>
          <a:p>
            <a:r>
              <a:rPr lang="pt-BR" strike="sngStrike" dirty="0"/>
              <a:t>Séries temporais</a:t>
            </a:r>
          </a:p>
          <a:p>
            <a:r>
              <a:rPr lang="pt-BR" strike="sngStrike" dirty="0"/>
              <a:t>Multimodal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35D263-8873-2847-8070-2F42F2422CE7}"/>
              </a:ext>
            </a:extLst>
          </p:cNvPr>
          <p:cNvSpPr txBox="1"/>
          <p:nvPr/>
        </p:nvSpPr>
        <p:spPr>
          <a:xfrm>
            <a:off x="5554133" y="1825625"/>
            <a:ext cx="5373512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Para cada um (20 min):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Quando surgiu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Características do modelo de dados (como organiza os dados)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Vantagens e limitações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comuns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Exemplos de </a:t>
            </a:r>
            <a:r>
              <a:rPr lang="pt-BR" sz="2400" dirty="0" err="1"/>
              <a:t>SGBDs</a:t>
            </a:r>
            <a:r>
              <a:rPr lang="pt-BR" sz="2400" dirty="0"/>
              <a:t> comerciais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um exemplo</a:t>
            </a:r>
          </a:p>
        </p:txBody>
      </p:sp>
    </p:spTree>
    <p:extLst>
      <p:ext uri="{BB962C8B-B14F-4D97-AF65-F5344CB8AC3E}">
        <p14:creationId xmlns:p14="http://schemas.microsoft.com/office/powerpoint/2010/main" val="3727770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Notas de aulas, prof. José Eduardo Santarém Segundo. </a:t>
            </a:r>
            <a:r>
              <a:rPr lang="pt-BR" sz="1800" b="1" i="0" u="none" strike="noStrike" baseline="0" dirty="0">
                <a:latin typeface="DejaVuSans"/>
              </a:rPr>
              <a:t>Banco de Dados - Normalização - Parte 1</a:t>
            </a:r>
            <a:r>
              <a:rPr lang="pt-BR" sz="1800" i="0" u="none" strike="noStrike" baseline="0" dirty="0">
                <a:latin typeface="DejaVuSans"/>
              </a:rPr>
              <a:t>. UNIVESP, Eixo de Computação. Disponível em: </a:t>
            </a:r>
            <a:r>
              <a:rPr lang="pt-BR" sz="1800" i="0" u="none" strike="noStrike" baseline="0" dirty="0">
                <a:latin typeface="DejaVuSans"/>
                <a:hlinkClick r:id="rId3"/>
              </a:rPr>
              <a:t>https://www.youtube.com/watch?v=OsebNaYQpk8</a:t>
            </a:r>
            <a:r>
              <a:rPr lang="pt-BR" sz="1800" i="0" u="none" strike="noStrike" baseline="0" dirty="0">
                <a:latin typeface="DejaVuSans"/>
              </a:rPr>
              <a:t> </a:t>
            </a:r>
            <a:endParaRPr lang="pt-BR" sz="1800" b="1" i="0" u="none" strike="noStrike" baseline="0" dirty="0">
              <a:latin typeface="DejaVuSans"/>
            </a:endParaRP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4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82643</TotalTime>
  <Words>2085</Words>
  <Application>Microsoft Office PowerPoint</Application>
  <PresentationFormat>Widescreen</PresentationFormat>
  <Paragraphs>305</Paragraphs>
  <Slides>51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DejaVuSans</vt:lpstr>
      <vt:lpstr>Tema do Office</vt:lpstr>
      <vt:lpstr>Apresentação do PowerPoint</vt:lpstr>
      <vt:lpstr>Na aula anterior...</vt:lpstr>
      <vt:lpstr>Atividade</vt:lpstr>
      <vt:lpstr>Projeto lógico</vt:lpstr>
      <vt:lpstr>Revisão</vt:lpstr>
      <vt:lpstr>Atividade no Classroom</vt:lpstr>
      <vt:lpstr>Agenda</vt:lpstr>
      <vt:lpstr>Tratamento de NULL</vt:lpstr>
      <vt:lpstr>Tratamento de NULL</vt:lpstr>
      <vt:lpstr>Tratamento de NULL</vt:lpstr>
      <vt:lpstr>Tratamento de NULL</vt:lpstr>
      <vt:lpstr>Tratamento de NULL</vt:lpstr>
      <vt:lpstr>Agenda</vt:lpstr>
      <vt:lpstr>Funções agregadas</vt:lpstr>
      <vt:lpstr>Funções agregadas</vt:lpstr>
      <vt:lpstr>Funções agregadas</vt:lpstr>
      <vt:lpstr>Funções agregadas</vt:lpstr>
      <vt:lpstr>Agrupamentos</vt:lpstr>
      <vt:lpstr>Agrupamentos</vt:lpstr>
      <vt:lpstr>Agrupamentos</vt:lpstr>
      <vt:lpstr>Agrupamentos</vt:lpstr>
      <vt:lpstr>CASE</vt:lpstr>
      <vt:lpstr>Atividade</vt:lpstr>
      <vt:lpstr>Agenda</vt:lpstr>
      <vt:lpstr>Funções de janela</vt:lpstr>
      <vt:lpstr>Funções de janela</vt:lpstr>
      <vt:lpstr>Apresentação do PowerPoint</vt:lpstr>
      <vt:lpstr>Funções de janela</vt:lpstr>
      <vt:lpstr>Funções de janela</vt:lpstr>
      <vt:lpstr>Funções de janela</vt:lpstr>
      <vt:lpstr>Funções de janela</vt:lpstr>
      <vt:lpstr>Funções de janela</vt:lpstr>
      <vt:lpstr>Funções de janela</vt:lpstr>
      <vt:lpstr>Funções de janela</vt:lpstr>
      <vt:lpstr>Agenda</vt:lpstr>
      <vt:lpstr>Common Table Expression (CTE)</vt:lpstr>
      <vt:lpstr>Common Table Expression (CTE)</vt:lpstr>
      <vt:lpstr>Common Table Expression (CTE)</vt:lpstr>
      <vt:lpstr>Common Table Expression (CTE)</vt:lpstr>
      <vt:lpstr>Common Table Expression (CTE)</vt:lpstr>
      <vt:lpstr>Common Table Expression (CTE)</vt:lpstr>
      <vt:lpstr>Agenda</vt:lpstr>
      <vt:lpstr>View</vt:lpstr>
      <vt:lpstr>View</vt:lpstr>
      <vt:lpstr>View</vt:lpstr>
      <vt:lpstr>View</vt:lpstr>
      <vt:lpstr>View</vt:lpstr>
      <vt:lpstr>View</vt:lpstr>
      <vt:lpstr>Atividade</vt:lpstr>
      <vt:lpstr>Seminários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2778</cp:revision>
  <dcterms:created xsi:type="dcterms:W3CDTF">2024-08-08T20:58:28Z</dcterms:created>
  <dcterms:modified xsi:type="dcterms:W3CDTF">2026-08-25T18:44:14Z</dcterms:modified>
</cp:coreProperties>
</file>