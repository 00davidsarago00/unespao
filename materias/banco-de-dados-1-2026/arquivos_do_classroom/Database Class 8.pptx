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5"/>
  </p:notesMasterIdLst>
  <p:sldIdLst>
    <p:sldId id="256" r:id="rId2"/>
    <p:sldId id="1463" r:id="rId3"/>
    <p:sldId id="1222" r:id="rId4"/>
    <p:sldId id="1335" r:id="rId5"/>
    <p:sldId id="1270" r:id="rId6"/>
    <p:sldId id="1473" r:id="rId7"/>
    <p:sldId id="1464" r:id="rId8"/>
    <p:sldId id="1110" r:id="rId9"/>
    <p:sldId id="1388" r:id="rId10"/>
    <p:sldId id="433" r:id="rId11"/>
    <p:sldId id="1389" r:id="rId12"/>
    <p:sldId id="1393" r:id="rId13"/>
    <p:sldId id="1395" r:id="rId14"/>
    <p:sldId id="1394" r:id="rId15"/>
    <p:sldId id="1417" r:id="rId16"/>
    <p:sldId id="388" r:id="rId17"/>
    <p:sldId id="389" r:id="rId18"/>
    <p:sldId id="392" r:id="rId19"/>
    <p:sldId id="395" r:id="rId20"/>
    <p:sldId id="396" r:id="rId21"/>
    <p:sldId id="393" r:id="rId22"/>
    <p:sldId id="403" r:id="rId23"/>
    <p:sldId id="397" r:id="rId24"/>
    <p:sldId id="432" r:id="rId25"/>
    <p:sldId id="1411" r:id="rId26"/>
    <p:sldId id="1471" r:id="rId27"/>
    <p:sldId id="1390" r:id="rId28"/>
    <p:sldId id="1465" r:id="rId29"/>
    <p:sldId id="1392" r:id="rId30"/>
    <p:sldId id="1391" r:id="rId31"/>
    <p:sldId id="404" r:id="rId32"/>
    <p:sldId id="1470" r:id="rId33"/>
    <p:sldId id="1466" r:id="rId34"/>
    <p:sldId id="1468" r:id="rId35"/>
    <p:sldId id="1467" r:id="rId36"/>
    <p:sldId id="1469" r:id="rId37"/>
    <p:sldId id="401" r:id="rId38"/>
    <p:sldId id="423" r:id="rId39"/>
    <p:sldId id="424" r:id="rId40"/>
    <p:sldId id="425" r:id="rId41"/>
    <p:sldId id="1418" r:id="rId42"/>
    <p:sldId id="390" r:id="rId43"/>
    <p:sldId id="1434" r:id="rId44"/>
    <p:sldId id="1435" r:id="rId45"/>
    <p:sldId id="436" r:id="rId46"/>
    <p:sldId id="394" r:id="rId47"/>
    <p:sldId id="1436" r:id="rId48"/>
    <p:sldId id="1424" r:id="rId49"/>
    <p:sldId id="1437" r:id="rId50"/>
    <p:sldId id="1416" r:id="rId51"/>
    <p:sldId id="1430" r:id="rId52"/>
    <p:sldId id="1425" r:id="rId53"/>
    <p:sldId id="1426" r:id="rId54"/>
    <p:sldId id="1427" r:id="rId55"/>
    <p:sldId id="1428" r:id="rId56"/>
    <p:sldId id="1429" r:id="rId57"/>
    <p:sldId id="1431" r:id="rId58"/>
    <p:sldId id="1432" r:id="rId59"/>
    <p:sldId id="1433" r:id="rId60"/>
    <p:sldId id="1398" r:id="rId61"/>
    <p:sldId id="1399" r:id="rId62"/>
    <p:sldId id="1400" r:id="rId63"/>
    <p:sldId id="1401" r:id="rId64"/>
    <p:sldId id="1402" r:id="rId65"/>
    <p:sldId id="1403" r:id="rId66"/>
    <p:sldId id="1406" r:id="rId67"/>
    <p:sldId id="1404" r:id="rId68"/>
    <p:sldId id="1409" r:id="rId69"/>
    <p:sldId id="1405" r:id="rId70"/>
    <p:sldId id="1407" r:id="rId71"/>
    <p:sldId id="1408" r:id="rId72"/>
    <p:sldId id="1410" r:id="rId73"/>
    <p:sldId id="1414" r:id="rId74"/>
    <p:sldId id="1472" r:id="rId75"/>
    <p:sldId id="1419" r:id="rId76"/>
    <p:sldId id="1422" r:id="rId77"/>
    <p:sldId id="1423" r:id="rId78"/>
    <p:sldId id="1415" r:id="rId79"/>
    <p:sldId id="1420" r:id="rId80"/>
    <p:sldId id="1421" r:id="rId81"/>
    <p:sldId id="1462" r:id="rId82"/>
    <p:sldId id="1184" r:id="rId83"/>
    <p:sldId id="674" r:id="rId8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97D4A8B-1521-42FF-A4EB-93995555CD2A}">
          <p14:sldIdLst>
            <p14:sldId id="256"/>
            <p14:sldId id="1463"/>
            <p14:sldId id="1222"/>
            <p14:sldId id="1335"/>
            <p14:sldId id="1270"/>
            <p14:sldId id="1473"/>
            <p14:sldId id="1464"/>
          </p14:sldIdLst>
        </p14:section>
        <p14:section name="Conceitos básicos" id="{E9918E97-A42B-49A4-8092-695FB8FF52A7}">
          <p14:sldIdLst>
            <p14:sldId id="1110"/>
            <p14:sldId id="1388"/>
            <p14:sldId id="433"/>
            <p14:sldId id="1389"/>
            <p14:sldId id="1393"/>
            <p14:sldId id="1395"/>
            <p14:sldId id="1394"/>
          </p14:sldIdLst>
        </p14:section>
        <p14:section name="MySQL + Workbench" id="{283221CB-89FF-44AE-9B54-ADC0259FB3AF}">
          <p14:sldIdLst>
            <p14:sldId id="1417"/>
            <p14:sldId id="388"/>
            <p14:sldId id="389"/>
            <p14:sldId id="392"/>
            <p14:sldId id="395"/>
            <p14:sldId id="396"/>
            <p14:sldId id="393"/>
            <p14:sldId id="403"/>
            <p14:sldId id="397"/>
            <p14:sldId id="432"/>
          </p14:sldIdLst>
        </p14:section>
        <p14:section name="Linguagem SQL" id="{D17868EB-3BA1-413F-A8B5-178B58F68DE5}">
          <p14:sldIdLst>
            <p14:sldId id="1411"/>
            <p14:sldId id="1471"/>
            <p14:sldId id="1390"/>
            <p14:sldId id="1465"/>
            <p14:sldId id="1392"/>
            <p14:sldId id="1391"/>
            <p14:sldId id="404"/>
            <p14:sldId id="1470"/>
            <p14:sldId id="1466"/>
            <p14:sldId id="1468"/>
            <p14:sldId id="1467"/>
            <p14:sldId id="1469"/>
            <p14:sldId id="401"/>
            <p14:sldId id="423"/>
            <p14:sldId id="424"/>
            <p14:sldId id="425"/>
            <p14:sldId id="1418"/>
            <p14:sldId id="390"/>
            <p14:sldId id="1434"/>
            <p14:sldId id="1435"/>
            <p14:sldId id="436"/>
            <p14:sldId id="394"/>
            <p14:sldId id="1436"/>
          </p14:sldIdLst>
        </p14:section>
        <p14:section name="DDL" id="{1EBB6236-B43D-4CBD-8BAB-EEE395A44B34}">
          <p14:sldIdLst>
            <p14:sldId id="1424"/>
            <p14:sldId id="1437"/>
            <p14:sldId id="1416"/>
            <p14:sldId id="1430"/>
            <p14:sldId id="1425"/>
            <p14:sldId id="1426"/>
            <p14:sldId id="1427"/>
            <p14:sldId id="1428"/>
            <p14:sldId id="1429"/>
            <p14:sldId id="1431"/>
            <p14:sldId id="1432"/>
            <p14:sldId id="1433"/>
          </p14:sldIdLst>
        </p14:section>
        <p14:section name="Não usado" id="{4DC04CAC-7EE7-41EF-8CAE-5DB2062A467B}">
          <p14:sldIdLst>
            <p14:sldId id="1398"/>
            <p14:sldId id="1399"/>
            <p14:sldId id="1400"/>
            <p14:sldId id="1401"/>
            <p14:sldId id="1402"/>
            <p14:sldId id="1403"/>
            <p14:sldId id="1406"/>
            <p14:sldId id="1404"/>
            <p14:sldId id="1409"/>
            <p14:sldId id="1405"/>
            <p14:sldId id="1407"/>
            <p14:sldId id="1408"/>
            <p14:sldId id="1410"/>
          </p14:sldIdLst>
        </p14:section>
        <p14:section name="Atividade" id="{1D00ACB4-E0EF-4A42-9604-E8F15A69FC2F}">
          <p14:sldIdLst>
            <p14:sldId id="1414"/>
            <p14:sldId id="1472"/>
            <p14:sldId id="1419"/>
            <p14:sldId id="1422"/>
            <p14:sldId id="1423"/>
            <p14:sldId id="1415"/>
            <p14:sldId id="1420"/>
            <p14:sldId id="1421"/>
            <p14:sldId id="1462"/>
            <p14:sldId id="1184"/>
            <p14:sldId id="6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uno Elias Penteado" initials="BE" lastIdx="2" clrIdx="0">
    <p:extLst>
      <p:ext uri="{19B8F6BF-5375-455C-9EA6-DF929625EA0E}">
        <p15:presenceInfo xmlns:p15="http://schemas.microsoft.com/office/powerpoint/2012/main" userId="S::bruno.penteado@unesp.br::bec6b747-612e-4f00-81d1-4fe3c5e6bf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7E5"/>
    <a:srgbClr val="351C75"/>
    <a:srgbClr val="674EA7"/>
    <a:srgbClr val="E1EA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Estilo Médio 4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806" autoAdjust="0"/>
  </p:normalViewPr>
  <p:slideViewPr>
    <p:cSldViewPr snapToGrid="0">
      <p:cViewPr varScale="1">
        <p:scale>
          <a:sx n="68" d="100"/>
          <a:sy n="68" d="100"/>
        </p:scale>
        <p:origin x="62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A0D3E-F1D3-4165-92D6-88ABBF3402F7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F4DC4-6592-40BF-ABDB-9BFF74F557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5736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6300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Feeback</a:t>
            </a:r>
            <a:r>
              <a:rPr lang="pt-BR" dirty="0"/>
              <a:t> disciplina? Corrida? Prova puxada?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03845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5644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BC1F7-4DB4-88B8-7C26-3F8A456D1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053B9C8-08AC-68A0-2881-99F07265E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ABF85E8-D449-C20D-638A-2F98AD12C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492266-AAD5-EA3F-13AB-822E366031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3269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AC5BD-70F7-C827-6C0F-F05447CEA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36F6352-F286-9A78-BD91-FCC56BFF3D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332B288-7362-77A5-1ED3-31C7E39680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7325634-6098-32EB-5ACD-63101EA49E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522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8610C-54D1-6633-3719-0B025E961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624B762-CE43-A201-FBA6-CEA7FF04A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4D65340-5555-E4F0-7356-7D31353EF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971844B-3B9C-A6B2-C52B-7E45322F65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10624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2003: XML, </a:t>
            </a:r>
            <a:r>
              <a:rPr lang="pt-BR" dirty="0" err="1"/>
              <a:t>identity</a:t>
            </a:r>
            <a:r>
              <a:rPr lang="pt-BR" dirty="0"/>
              <a:t> </a:t>
            </a:r>
            <a:r>
              <a:rPr lang="pt-BR" dirty="0" err="1"/>
              <a:t>columns</a:t>
            </a:r>
            <a:r>
              <a:rPr lang="pt-BR" dirty="0"/>
              <a:t>, e </a:t>
            </a:r>
            <a:r>
              <a:rPr lang="pt-BR" dirty="0" err="1"/>
              <a:t>window</a:t>
            </a:r>
            <a:r>
              <a:rPr lang="pt-BR" dirty="0"/>
              <a:t> </a:t>
            </a:r>
            <a:r>
              <a:rPr lang="pt-BR" dirty="0" err="1"/>
              <a:t>functions</a:t>
            </a:r>
            <a:r>
              <a:rPr lang="pt-BR" dirty="0"/>
              <a:t> (</a:t>
            </a:r>
            <a:r>
              <a:rPr lang="pt-BR" dirty="0" err="1"/>
              <a:t>row_number</a:t>
            </a:r>
            <a:r>
              <a:rPr lang="pt-BR" dirty="0"/>
              <a:t>, rank, </a:t>
            </a:r>
            <a:r>
              <a:rPr lang="pt-BR" dirty="0" err="1"/>
              <a:t>lag</a:t>
            </a:r>
            <a:r>
              <a:rPr lang="pt-BR" dirty="0"/>
              <a:t>, etc.)</a:t>
            </a:r>
          </a:p>
          <a:p>
            <a:r>
              <a:rPr lang="pt-BR" dirty="0"/>
              <a:t>2006-2023: grafo de propriedades &amp; JSON &amp; dados temporais, triggers, </a:t>
            </a:r>
            <a:r>
              <a:rPr lang="pt-BR" dirty="0" err="1"/>
              <a:t>truncate</a:t>
            </a:r>
            <a:r>
              <a:rPr lang="pt-BR" dirty="0"/>
              <a:t> </a:t>
            </a:r>
            <a:r>
              <a:rPr lang="pt-BR" dirty="0" err="1"/>
              <a:t>table</a:t>
            </a:r>
            <a:r>
              <a:rPr lang="pt-BR" dirty="0"/>
              <a:t>, </a:t>
            </a:r>
          </a:p>
          <a:p>
            <a:endParaRPr lang="pt-BR" dirty="0"/>
          </a:p>
          <a:p>
            <a:r>
              <a:rPr lang="pt-BR" dirty="0"/>
              <a:t>https://www.coginiti.co/blog/the-evolution-of-sql-from-sql-86-to-sql-2023/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41F5A-9672-40EC-AB86-B4D519CCEB9C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10817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41F5A-9672-40EC-AB86-B4D519CCEB9C}" type="slidenum">
              <a:rPr lang="pt-BR" smtClean="0"/>
              <a:t>46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60000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9FA59-5AF1-6A09-A2F9-ABDC07678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7DDF358-8961-3847-40FC-A1D6AEE0D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067EA32-A427-245F-7CC5-626A7CA19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392AC5-921F-77F5-84CE-83C9765EF5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28779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73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94157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u="none" strike="noStrike" dirty="0">
                <a:effectLst/>
                <a:latin typeface="Courier New" panose="02070309020205020404" pitchFamily="49" charset="0"/>
              </a:rPr>
              <a:t>ALTER TABLE matricula ADD CONSTRAINT </a:t>
            </a:r>
            <a:r>
              <a:rPr lang="pt-BR" b="0" u="none" strike="noStrike" dirty="0" err="1">
                <a:effectLst/>
                <a:latin typeface="Courier New" panose="02070309020205020404" pitchFamily="49" charset="0"/>
              </a:rPr>
              <a:t>chk_nota</a:t>
            </a:r>
            <a:r>
              <a:rPr lang="pt-BR" b="0" u="none" strike="noStrike" dirty="0">
                <a:effectLst/>
                <a:latin typeface="Courier New" panose="02070309020205020404" pitchFamily="49" charset="0"/>
              </a:rPr>
              <a:t> CHECK (nota &gt;= 0);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78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75632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https://www.drawdb.app/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83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7797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23A69-42FA-6C7F-8E7F-6B98D9235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D12021-E9B8-2DA5-D7AA-EEFAC9BE4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AE13B6-90D0-2EBF-557D-77BD35E40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DC1895-12D9-AC11-702E-11B703192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0C4B1D-8FC3-28DD-213A-B4A33E191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6582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8C2FD6-A370-1985-C93A-1EDE8406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52C3B9-7A7B-6CD7-6119-3D2AB3F88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677D9F-B2B1-EEB2-F39C-05B9FFB67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BCF700-7673-8EE5-8957-C42E2F58F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0852A1-3892-A7FE-CCE6-6FCC9FB20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F50F23F7-7509-A94A-0357-13196DBAB9BE}"/>
              </a:ext>
            </a:extLst>
          </p:cNvPr>
          <p:cNvCxnSpPr/>
          <p:nvPr userDrawn="1"/>
        </p:nvCxnSpPr>
        <p:spPr>
          <a:xfrm>
            <a:off x="838200" y="1515204"/>
            <a:ext cx="105156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49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4BC957-C48F-6616-84A8-A19050F98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C85F08-A25E-5A03-6537-9CF234C81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1BBAA9-5543-2C33-03DE-855D245B4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BEBC89-3A79-0634-3519-AF1F8111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AD87A1-4927-B729-156C-B2C6FEFFC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1652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213CD-B211-17A6-D257-BB10AAF02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0D9272-58DB-55C5-C017-D02D739EA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7CA884-D3A7-E862-7F04-B49937346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147A3D-8DA4-6B2C-0A0E-0AA6B0871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0C47B9-781B-1A6F-38A5-6CF791D12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5ACD4D-8610-8AC9-93C7-D8B0369D9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13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E7B04-0019-79A4-76F5-2C8912174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C33AB5-0365-0DCE-8AFE-3AABCB4EF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09B770-753E-FCF1-A116-D319C584F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E7E1C91-CE5E-222F-1899-061861EB5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D8F9A3A-15E1-DB2C-9454-3759BC68B0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DD57461-6C88-BC10-A526-51F0EC8E5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514616-1567-C300-7178-6E93D825C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D247810-64D7-2657-E807-F2E63157F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74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1F6D0-F91D-FF94-ADD4-10B99AAAA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11C08B-A0E1-D3DF-477B-076566DF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8C29EE2-896F-6655-83F6-77B2CC775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9521969-790C-3FB8-B17B-C5D9FA8D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5323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8EA4D47-97AA-E8F2-EFAD-E53C4D4BA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06686CE-31E4-CD82-2C3F-AE7B79DE6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463308-365F-B15E-1B4F-EF5A05F5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64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F2A433-62E5-A2BD-9933-CEDBBAC8B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F278DE-9B7C-499B-0B63-1A51C8A34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52706B-ACC1-4F1F-252E-07F6A94B5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07D0C2-9C2B-2A0D-85DB-E5122F1DF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CEBD13-52BB-5E4C-C4C9-7253B4D15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118860-1540-DB38-E923-CF9EB4C1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8265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72268F-28E4-33A8-9A0D-B4BD01E95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C3C9CF8-866C-BB9E-2C67-D40C4A1C7B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078B3E1-ECBE-DAF0-5317-CCE8B6622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9CF26C-EB62-7FA1-1821-42D3E058A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0B9854-208F-52D2-AAFE-4C05AE11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1340E45-F88F-F4D5-516C-ECC00FF81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2655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09645-90D5-1856-B2DB-C12DE86D3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207D42-9D2A-8F7A-AEE8-7980420C0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97E935-7DE0-6081-9677-5C257B0B6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32B49B-2BD6-A21A-CEE2-1B9E2148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3EF3D5-C6F9-8E4C-A73B-B9C1473D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0567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C907A92-4A5E-2739-A866-E329CB69AB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EC33BF-D4D8-5F77-DD24-DA158AAC9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5AC911-DB13-B1D0-B867-3C6E61F0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43CF6F-A03A-D784-15F8-5DB6477A2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624183-E9DA-9340-1464-04AA66A09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874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A7EA33D-A7C8-9466-7C32-0A686D071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44E89D-FA86-74FF-F5B2-DA0869805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436571-AAA0-FF36-AE0C-F581FE371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6B603-1547-4FF1-9893-248F1C80E797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657596-0053-291B-1A10-11FCA5D6CB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938FE5-92A0-DD55-5D9B-42370AB35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8C15A9F-51BE-835B-BCD8-3FE41794173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493855" y="176539"/>
            <a:ext cx="3481023" cy="4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207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runo.penteado@unesp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e.kahoot.it/details/21862f54-e601-4949-afa7-76a124fb8bb2" TargetMode="External"/><Relationship Id="rId2" Type="http://schemas.openxmlformats.org/officeDocument/2006/relationships/hyperlink" Target="https://create.kahoot.it/details/8911f161-6872-43f8-ad90-a490c848d2b4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nstacked.com/stack-overflow-developer-survey-insights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aiven.io/mysql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.ibm.com/publications/system-r-relational-approach-to-database-management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o.org/standard/76583.html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vmedia.com.br/desvendando-a-sql-parte-1/28328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sebNaYQpk8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15445.courses.cs.cmu.edu/spring2026/slides/01-relationalmodel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1CE52B2-35C1-BC52-58D1-71F38112F63D}"/>
              </a:ext>
            </a:extLst>
          </p:cNvPr>
          <p:cNvSpPr txBox="1">
            <a:spLocks/>
          </p:cNvSpPr>
          <p:nvPr/>
        </p:nvSpPr>
        <p:spPr>
          <a:xfrm>
            <a:off x="1524000" y="2048338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/>
              <a:t>Aula 8</a:t>
            </a:r>
          </a:p>
          <a:p>
            <a:r>
              <a:rPr lang="pt-BR" dirty="0"/>
              <a:t>Linguagem SQL - DDL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52575701-68BF-5229-3D18-C2C9D3651AA6}"/>
              </a:ext>
            </a:extLst>
          </p:cNvPr>
          <p:cNvSpPr txBox="1">
            <a:spLocks/>
          </p:cNvSpPr>
          <p:nvPr/>
        </p:nvSpPr>
        <p:spPr>
          <a:xfrm>
            <a:off x="1524000" y="452801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Bruno Elias Penteado</a:t>
            </a:r>
          </a:p>
          <a:p>
            <a:r>
              <a:rPr lang="pt-BR" sz="1800" dirty="0">
                <a:hlinkClick r:id="rId3"/>
              </a:rPr>
              <a:t>bruno.penteado@unesp.br</a:t>
            </a:r>
            <a:r>
              <a:rPr lang="pt-BR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2919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1152AE-0E51-923E-35FD-9B4CA0C36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65C966-5782-F383-9A8C-139F73E14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Aula 1 – SGBD e modelos de dados</a:t>
            </a:r>
          </a:p>
          <a:p>
            <a:r>
              <a:rPr lang="pt-BR" dirty="0"/>
              <a:t>Aula 2 – Modelagem conceitual e MER</a:t>
            </a:r>
          </a:p>
          <a:p>
            <a:r>
              <a:rPr lang="pt-BR" dirty="0"/>
              <a:t>Aula 3 – MER Estendido</a:t>
            </a:r>
          </a:p>
          <a:p>
            <a:r>
              <a:rPr lang="pt-BR" dirty="0"/>
              <a:t>Aula 4 – Modelo Relacional</a:t>
            </a:r>
          </a:p>
          <a:p>
            <a:r>
              <a:rPr lang="pt-BR" dirty="0"/>
              <a:t>Aula 5 – Mapeamento MER-Modelo Relacional</a:t>
            </a:r>
          </a:p>
          <a:p>
            <a:r>
              <a:rPr lang="pt-BR" dirty="0"/>
              <a:t>Aula 6 – Álgebra relacional</a:t>
            </a:r>
          </a:p>
          <a:p>
            <a:r>
              <a:rPr lang="pt-BR" dirty="0"/>
              <a:t>Aula 7 – Normalização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90979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A91118-3B8B-ABE8-1F17-7877C51F8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Projeto físico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7CD2630-2DEB-C44E-972B-0042A2446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619" y="1697633"/>
            <a:ext cx="8662761" cy="479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431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EF9B7D-6DA2-19A4-BD2B-EE58B0710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Revisão da disciplina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DA7BA6-C6A5-C5D9-4406-2C109A268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3600" b="1" dirty="0"/>
              <a:t>Kahoot!</a:t>
            </a:r>
          </a:p>
          <a:p>
            <a:endParaRPr lang="pt-BR" dirty="0"/>
          </a:p>
          <a:p>
            <a:r>
              <a:rPr lang="pt-BR" dirty="0"/>
              <a:t>Treinamento: </a:t>
            </a:r>
            <a:r>
              <a:rPr lang="pt-BR" dirty="0">
                <a:hlinkClick r:id="rId2"/>
              </a:rPr>
              <a:t>https://create.kahoot.it/details/8911f161-6872-43f8-ad90-a490c848d2b4</a:t>
            </a:r>
            <a:r>
              <a:rPr lang="pt-BR" dirty="0"/>
              <a:t> </a:t>
            </a:r>
          </a:p>
          <a:p>
            <a:endParaRPr lang="pt-BR" dirty="0"/>
          </a:p>
          <a:p>
            <a:r>
              <a:rPr lang="pt-BR" dirty="0">
                <a:hlinkClick r:id="rId3"/>
              </a:rPr>
              <a:t>https://create.kahoot.it/details/21862f54-e601-4949-afa7-76a124fb8bb2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9155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768D3A-4E1D-B7C3-A617-AC5315EA9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Na aula anterior...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C2CDBE-5CFE-8FC3-E1C4-26E49A717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Normalização de bancos de dados relacionais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 que é e para que serve a normalização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Dependência funcional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Principais Formas Normais</a:t>
            </a:r>
          </a:p>
          <a:p>
            <a:pPr lvl="1"/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1711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58638-3294-D378-3234-B1189148C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44AFBE-4AE8-EFF7-40E1-F2DAD77BE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 – Normalização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36ED87-82E4-2EA8-E5C2-5B2D8CF35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36111" cy="466725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Responda com suas próprias palavras:</a:t>
            </a:r>
          </a:p>
          <a:p>
            <a:pPr lvl="1"/>
            <a:r>
              <a:rPr lang="pt-BR" dirty="0"/>
              <a:t>O que é: 1FN, 2FN, 3FN, BCNF</a:t>
            </a:r>
          </a:p>
          <a:p>
            <a:pPr lvl="1"/>
            <a:endParaRPr lang="pt-BR" sz="1200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Normalize a seguinte modelagem</a:t>
            </a:r>
          </a:p>
          <a:p>
            <a:pPr lvl="1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5DE092A-DB1A-DEF3-B7B5-3C5BAAB5F67A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66D2BBF-4252-1CA1-552A-91F4E43B2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596871"/>
            <a:ext cx="10107436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79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861DAC-E0B3-6465-AE61-342809AFE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Possível solução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0352CA-BE58-D7EB-4661-45A4E123D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pt-BR" b="1" dirty="0"/>
              <a:t>ALUNO</a:t>
            </a:r>
            <a:r>
              <a:rPr lang="pt-BR" dirty="0"/>
              <a:t>(</a:t>
            </a:r>
            <a:r>
              <a:rPr lang="pt-BR" u="sng" dirty="0" err="1"/>
              <a:t>cod_aluno</a:t>
            </a:r>
            <a:r>
              <a:rPr lang="pt-BR" dirty="0"/>
              <a:t>, </a:t>
            </a:r>
            <a:r>
              <a:rPr lang="pt-BR" dirty="0" err="1"/>
              <a:t>nome_aluno</a:t>
            </a:r>
            <a:r>
              <a:rPr lang="pt-BR" dirty="0"/>
              <a:t>, </a:t>
            </a:r>
            <a:r>
              <a:rPr lang="pt-BR" dirty="0" err="1"/>
              <a:t>cep_aluno</a:t>
            </a:r>
            <a:r>
              <a:rPr lang="pt-BR" dirty="0"/>
              <a:t>)</a:t>
            </a:r>
            <a:br>
              <a:rPr lang="pt-BR" dirty="0"/>
            </a:br>
            <a:endParaRPr lang="pt-BR" dirty="0"/>
          </a:p>
          <a:p>
            <a:pPr marL="0" indent="0">
              <a:spcBef>
                <a:spcPts val="600"/>
              </a:spcBef>
              <a:buNone/>
            </a:pPr>
            <a:r>
              <a:rPr lang="pt-BR" b="1" dirty="0"/>
              <a:t>TELEFONE</a:t>
            </a:r>
            <a:r>
              <a:rPr lang="pt-BR" dirty="0"/>
              <a:t>(</a:t>
            </a:r>
            <a:r>
              <a:rPr lang="pt-BR" u="sng" dirty="0" err="1"/>
              <a:t>cod_aluno</a:t>
            </a:r>
            <a:r>
              <a:rPr lang="pt-BR" u="sng" dirty="0"/>
              <a:t>, telefone</a:t>
            </a:r>
            <a:r>
              <a:rPr lang="pt-BR" dirty="0"/>
              <a:t>)</a:t>
            </a:r>
            <a:br>
              <a:rPr lang="pt-BR" dirty="0"/>
            </a:br>
            <a:endParaRPr lang="pt-BR" dirty="0"/>
          </a:p>
          <a:p>
            <a:pPr marL="0" indent="0">
              <a:spcBef>
                <a:spcPts val="600"/>
              </a:spcBef>
              <a:buNone/>
            </a:pPr>
            <a:r>
              <a:rPr lang="pt-BR" b="1" dirty="0"/>
              <a:t>CURSO</a:t>
            </a:r>
            <a:r>
              <a:rPr lang="pt-BR" dirty="0"/>
              <a:t>(</a:t>
            </a:r>
            <a:r>
              <a:rPr lang="pt-BR" u="sng" dirty="0" err="1"/>
              <a:t>cod_curso</a:t>
            </a:r>
            <a:r>
              <a:rPr lang="pt-BR" dirty="0"/>
              <a:t>, </a:t>
            </a:r>
            <a:r>
              <a:rPr lang="pt-BR" dirty="0" err="1"/>
              <a:t>nome_curso</a:t>
            </a:r>
            <a:r>
              <a:rPr lang="pt-BR" dirty="0"/>
              <a:t>, </a:t>
            </a:r>
            <a:r>
              <a:rPr lang="pt-BR" dirty="0" err="1"/>
              <a:t>carga_horaria</a:t>
            </a:r>
            <a:r>
              <a:rPr lang="pt-BR" dirty="0"/>
              <a:t>)</a:t>
            </a:r>
            <a:br>
              <a:rPr lang="pt-BR" dirty="0"/>
            </a:br>
            <a:endParaRPr lang="pt-BR" dirty="0"/>
          </a:p>
          <a:p>
            <a:pPr marL="0" indent="0">
              <a:spcBef>
                <a:spcPts val="600"/>
              </a:spcBef>
              <a:buNone/>
            </a:pPr>
            <a:r>
              <a:rPr lang="pt-BR" b="1" dirty="0"/>
              <a:t>PROFESSOR</a:t>
            </a:r>
            <a:r>
              <a:rPr lang="pt-BR" dirty="0"/>
              <a:t>(</a:t>
            </a:r>
            <a:r>
              <a:rPr lang="pt-BR" u="sng" dirty="0" err="1"/>
              <a:t>cod_professor</a:t>
            </a:r>
            <a:r>
              <a:rPr lang="pt-BR" dirty="0"/>
              <a:t>, </a:t>
            </a:r>
            <a:r>
              <a:rPr lang="pt-BR" dirty="0" err="1"/>
              <a:t>nome_professor</a:t>
            </a:r>
            <a:r>
              <a:rPr lang="pt-BR" dirty="0"/>
              <a:t>)</a:t>
            </a:r>
          </a:p>
          <a:p>
            <a:pPr marL="0" indent="0">
              <a:spcBef>
                <a:spcPts val="600"/>
              </a:spcBef>
              <a:buNone/>
            </a:pPr>
            <a:endParaRPr lang="pt-BR" b="1" dirty="0"/>
          </a:p>
          <a:p>
            <a:pPr marL="0" indent="0">
              <a:spcBef>
                <a:spcPts val="600"/>
              </a:spcBef>
              <a:buNone/>
            </a:pPr>
            <a:r>
              <a:rPr lang="pt-BR" b="1" dirty="0"/>
              <a:t>TURMA</a:t>
            </a:r>
            <a:r>
              <a:rPr lang="pt-BR" dirty="0"/>
              <a:t>(</a:t>
            </a:r>
            <a:r>
              <a:rPr lang="pt-BR" u="sng" dirty="0" err="1"/>
              <a:t>cod_turma</a:t>
            </a:r>
            <a:r>
              <a:rPr lang="pt-BR" dirty="0"/>
              <a:t>, </a:t>
            </a:r>
            <a:r>
              <a:rPr lang="pt-BR" dirty="0" err="1"/>
              <a:t>cod_curso</a:t>
            </a:r>
            <a:r>
              <a:rPr lang="pt-BR" dirty="0"/>
              <a:t>, </a:t>
            </a:r>
            <a:r>
              <a:rPr lang="pt-BR" dirty="0" err="1"/>
              <a:t>cod_professor</a:t>
            </a:r>
            <a:r>
              <a:rPr lang="pt-BR" dirty="0"/>
              <a:t>, sala)</a:t>
            </a:r>
            <a:br>
              <a:rPr lang="pt-BR" dirty="0"/>
            </a:br>
            <a:endParaRPr lang="pt-BR" dirty="0"/>
          </a:p>
          <a:p>
            <a:pPr marL="0" indent="0">
              <a:spcBef>
                <a:spcPts val="600"/>
              </a:spcBef>
              <a:buNone/>
            </a:pPr>
            <a:r>
              <a:rPr lang="pt-BR" b="1" dirty="0"/>
              <a:t>MATRICULA</a:t>
            </a:r>
            <a:r>
              <a:rPr lang="pt-BR" dirty="0"/>
              <a:t>(</a:t>
            </a:r>
            <a:r>
              <a:rPr lang="pt-BR" u="sng" dirty="0" err="1"/>
              <a:t>cod_aluno</a:t>
            </a:r>
            <a:r>
              <a:rPr lang="pt-BR" u="sng" dirty="0"/>
              <a:t>, </a:t>
            </a:r>
            <a:r>
              <a:rPr lang="pt-BR" u="sng" dirty="0" err="1"/>
              <a:t>cod_turma</a:t>
            </a:r>
            <a:r>
              <a:rPr lang="pt-BR" dirty="0"/>
              <a:t>, </a:t>
            </a:r>
            <a:r>
              <a:rPr lang="pt-BR" dirty="0" err="1"/>
              <a:t>data_matricula</a:t>
            </a:r>
            <a:r>
              <a:rPr lang="pt-BR" dirty="0"/>
              <a:t>)</a:t>
            </a:r>
          </a:p>
          <a:p>
            <a:pPr marL="0" indent="0">
              <a:spcBef>
                <a:spcPts val="600"/>
              </a:spcBef>
              <a:buNone/>
            </a:pPr>
            <a:endParaRPr lang="pt-BR" dirty="0"/>
          </a:p>
          <a:p>
            <a:pPr marL="0" indent="0">
              <a:spcBef>
                <a:spcPts val="600"/>
              </a:spcBef>
              <a:buNone/>
            </a:pPr>
            <a:r>
              <a:rPr lang="pt-BR" b="1" dirty="0"/>
              <a:t>CEP</a:t>
            </a:r>
            <a:r>
              <a:rPr lang="pt-BR" dirty="0"/>
              <a:t>(</a:t>
            </a:r>
            <a:r>
              <a:rPr lang="pt-BR" u="sng" dirty="0" err="1"/>
              <a:t>cep_aluno</a:t>
            </a:r>
            <a:r>
              <a:rPr lang="pt-BR" dirty="0"/>
              <a:t>, </a:t>
            </a:r>
            <a:r>
              <a:rPr lang="pt-BR" dirty="0" err="1"/>
              <a:t>cidade_aluno</a:t>
            </a:r>
            <a:r>
              <a:rPr lang="pt-BR" dirty="0"/>
              <a:t>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2A07045-C3CB-DB54-6F88-7C3D412F3677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0388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BC4F4-08BA-9CB3-278E-FE1CECDC4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42D60B-B79E-5A3F-04EB-7AA90BF0C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SQL Básico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Conceitos básicos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MySQL + IDE Workbench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Linguagem SQL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Comandos DDL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682D57-6369-E819-79EF-8BC5D7AA5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8B61095-3DB5-957E-2B4C-792F937ECC82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9111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911746-6B64-BEF1-0961-BCDD76AF8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EEFAD5-33E5-1187-1A5F-5D6A309D4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Modelo Relacional </a:t>
            </a:r>
            <a:r>
              <a:rPr lang="pt-BR" dirty="0">
                <a:sym typeface="Wingdings" panose="05000000000000000000" pitchFamily="2" charset="2"/>
              </a:rPr>
              <a:t> padrão da indústria de desenvolvimento de software desde os anos 1980</a:t>
            </a:r>
          </a:p>
          <a:p>
            <a:pPr>
              <a:spcBef>
                <a:spcPts val="2400"/>
              </a:spcBef>
            </a:pPr>
            <a:r>
              <a:rPr lang="pt-BR" dirty="0">
                <a:sym typeface="Wingdings" panose="05000000000000000000" pitchFamily="2" charset="2"/>
              </a:rPr>
              <a:t>~60% das aplicações de banco de dados usam este modelo atualmente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8869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82C811-FEFD-A495-4331-707EFF2BA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B4900CF-6503-B10A-BFA1-0C2A3EED5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1348" y="57347"/>
            <a:ext cx="4597231" cy="6435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664A5C7-7FFC-6EAD-FA2D-638B623FBD47}"/>
              </a:ext>
            </a:extLst>
          </p:cNvPr>
          <p:cNvSpPr txBox="1"/>
          <p:nvPr/>
        </p:nvSpPr>
        <p:spPr>
          <a:xfrm>
            <a:off x="3535469" y="6492875"/>
            <a:ext cx="51210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hlinkClick r:id="rId3"/>
              </a:rPr>
              <a:t>https://enstacked.com/stack-overflow-developer-survey-insights/</a:t>
            </a:r>
            <a:r>
              <a:rPr lang="pt-BR" sz="1400" dirty="0"/>
              <a:t> </a:t>
            </a:r>
          </a:p>
        </p:txBody>
      </p:sp>
      <p:pic>
        <p:nvPicPr>
          <p:cNvPr id="1028" name="Picture 4" descr="2020 Developer Survey">
            <a:extLst>
              <a:ext uri="{FF2B5EF4-FFF2-40B4-BE49-F238E27FC236}">
                <a16:creationId xmlns:a16="http://schemas.microsoft.com/office/drawing/2014/main" id="{B76AE89A-B4C9-E6C4-B0A9-3CB526632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86" y="1643294"/>
            <a:ext cx="7090037" cy="3151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4346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EC35D-FE4D-28F3-DB27-2451547B0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CC84FA-1BD1-EE85-84D1-364BAE220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Motivos da dominância: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Garantia ACID para transações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Normalização e eliminação de redundância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Integridade referencial estrita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Maturidade do sistema</a:t>
            </a:r>
          </a:p>
          <a:p>
            <a:pPr lvl="2"/>
            <a:r>
              <a:rPr lang="pt-BR" dirty="0"/>
              <a:t>Motores de busca avançados</a:t>
            </a:r>
          </a:p>
          <a:p>
            <a:pPr lvl="2"/>
            <a:r>
              <a:rPr lang="pt-BR" dirty="0"/>
              <a:t>Ferramental robusto (backup, replicação, monitoramento de performance, segurança)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Linguagem SQL</a:t>
            </a:r>
          </a:p>
        </p:txBody>
      </p:sp>
    </p:spTree>
    <p:extLst>
      <p:ext uri="{BB962C8B-B14F-4D97-AF65-F5344CB8AC3E}">
        <p14:creationId xmlns:p14="http://schemas.microsoft.com/office/powerpoint/2010/main" val="995539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6D8B6E-B2B4-ABAC-4BB4-05B415327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Conceitos básicos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1BC749-9C01-A80F-2D48-6ACC95C95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i="1" dirty="0"/>
              <a:t>Data </a:t>
            </a:r>
            <a:r>
              <a:rPr lang="pt-BR" b="1" i="1" dirty="0" err="1"/>
              <a:t>Definition</a:t>
            </a:r>
            <a:r>
              <a:rPr lang="pt-BR" b="1" i="1" dirty="0"/>
              <a:t> </a:t>
            </a:r>
            <a:r>
              <a:rPr lang="pt-BR" b="1" i="1" dirty="0" err="1"/>
              <a:t>Language</a:t>
            </a:r>
            <a:r>
              <a:rPr lang="pt-BR" b="1" i="1" dirty="0"/>
              <a:t> (DDL)</a:t>
            </a:r>
            <a:endParaRPr lang="pt-BR" b="1" dirty="0"/>
          </a:p>
          <a:p>
            <a:pPr lvl="1"/>
            <a:r>
              <a:rPr lang="pt-BR" dirty="0"/>
              <a:t>Conjunto de comandos para definição do esquema da base de dados</a:t>
            </a:r>
          </a:p>
          <a:p>
            <a:pPr>
              <a:spcBef>
                <a:spcPts val="2400"/>
              </a:spcBef>
            </a:pPr>
            <a:r>
              <a:rPr lang="pt-BR" dirty="0"/>
              <a:t>Exemplos em SQL:</a:t>
            </a:r>
          </a:p>
          <a:p>
            <a:pPr lvl="1"/>
            <a:r>
              <a:rPr lang="pt-BR" dirty="0"/>
              <a:t>CREATE </a:t>
            </a:r>
            <a:r>
              <a:rPr lang="pt-BR" dirty="0" err="1"/>
              <a:t>table</a:t>
            </a:r>
            <a:endParaRPr lang="pt-BR" dirty="0"/>
          </a:p>
          <a:p>
            <a:pPr lvl="1"/>
            <a:r>
              <a:rPr lang="pt-BR" dirty="0"/>
              <a:t>ALTER </a:t>
            </a:r>
            <a:r>
              <a:rPr lang="pt-BR" dirty="0" err="1"/>
              <a:t>table</a:t>
            </a:r>
            <a:endParaRPr lang="pt-BR" dirty="0"/>
          </a:p>
          <a:p>
            <a:pPr lvl="1"/>
            <a:r>
              <a:rPr lang="pt-BR" dirty="0"/>
              <a:t>DROP </a:t>
            </a:r>
            <a:r>
              <a:rPr lang="pt-BR" dirty="0" err="1"/>
              <a:t>table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00579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BCFB3A-451F-C6D7-8FEA-727149E19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Conceitos básicos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F1A722-7632-FECF-D02F-616158496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i="1" dirty="0"/>
              <a:t>Data </a:t>
            </a:r>
            <a:r>
              <a:rPr lang="pt-BR" b="1" i="1" dirty="0" err="1"/>
              <a:t>Manipulation</a:t>
            </a:r>
            <a:r>
              <a:rPr lang="pt-BR" b="1" i="1" dirty="0"/>
              <a:t> </a:t>
            </a:r>
            <a:r>
              <a:rPr lang="pt-BR" b="1" i="1" dirty="0" err="1"/>
              <a:t>Language</a:t>
            </a:r>
            <a:r>
              <a:rPr lang="pt-BR" b="1" i="1" dirty="0"/>
              <a:t> (DML)</a:t>
            </a:r>
            <a:endParaRPr lang="pt-BR" dirty="0"/>
          </a:p>
          <a:p>
            <a:pPr lvl="1"/>
            <a:r>
              <a:rPr lang="pt-BR" dirty="0"/>
              <a:t>Conjunto de comandos para a manipulação dos dados (instâncias da base)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SELECT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INSERT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DELETE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UPDATE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Viabiliza a manipulação dos dados de maneira </a:t>
            </a:r>
            <a:r>
              <a:rPr lang="pt-BR" u="sng" dirty="0"/>
              <a:t>compatível </a:t>
            </a:r>
            <a:r>
              <a:rPr lang="pt-BR" dirty="0"/>
              <a:t>com o modelo de dados</a:t>
            </a:r>
          </a:p>
        </p:txBody>
      </p:sp>
    </p:spTree>
    <p:extLst>
      <p:ext uri="{BB962C8B-B14F-4D97-AF65-F5344CB8AC3E}">
        <p14:creationId xmlns:p14="http://schemas.microsoft.com/office/powerpoint/2010/main" val="3506015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95AB1C-01A7-00FC-40F4-696E0B770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Conceitos básicos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DC6EBD-D9DF-9063-CF43-CC0DB5985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Catálogo de dados</a:t>
            </a:r>
            <a:r>
              <a:rPr lang="pt-BR" dirty="0"/>
              <a:t>: inventário centralizado que ajuda a encontrar, entender e gerenciar ativos de dados: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Bancos de dados do </a:t>
            </a:r>
            <a:r>
              <a:rPr lang="pt-BR" dirty="0" err="1"/>
              <a:t>SGBDRs</a:t>
            </a:r>
            <a:endParaRPr lang="pt-BR" dirty="0"/>
          </a:p>
          <a:p>
            <a:pPr lvl="1">
              <a:spcBef>
                <a:spcPts val="1800"/>
              </a:spcBef>
            </a:pPr>
            <a:r>
              <a:rPr lang="pt-BR" dirty="0"/>
              <a:t>Descrições dos esquemas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Metadados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Restrições de segurança e integridade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Dicionário de dados</a:t>
            </a:r>
          </a:p>
        </p:txBody>
      </p:sp>
    </p:spTree>
    <p:extLst>
      <p:ext uri="{BB962C8B-B14F-4D97-AF65-F5344CB8AC3E}">
        <p14:creationId xmlns:p14="http://schemas.microsoft.com/office/powerpoint/2010/main" val="106195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6C05F-A816-E098-8CCB-2CCAE0019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629F59-F07D-8CA4-5A25-5AA766646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SQL Básico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Conceitos básicos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MySQL + IDE Workbench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Linguagem SQL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Comandos DDL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7165B7-5216-7BCD-4724-D94DE821C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3A69E0B-82FC-E28A-CF3C-C1E47AAB4AD2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7429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22EFD-79A3-B583-59EA-19915263A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Arquitetura SGBD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7F32B17-B410-7053-7540-76C90EC9E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896" y="1825625"/>
            <a:ext cx="596412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292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22EFD-79A3-B583-59EA-19915263A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Arquitetura SGBD - MySQL</a:t>
            </a:r>
          </a:p>
        </p:txBody>
      </p:sp>
      <p:pic>
        <p:nvPicPr>
          <p:cNvPr id="1026" name="Picture 2" descr="MySQL :: MySQL 8.4 Reference Manual :: 18.11 Overview of MySQL Storage  Engine Architecture">
            <a:extLst>
              <a:ext uri="{FF2B5EF4-FFF2-40B4-BE49-F238E27FC236}">
                <a16:creationId xmlns:a16="http://schemas.microsoft.com/office/drawing/2014/main" id="{DF5AB23B-BF29-C61D-C3A4-ADBE23B51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4259" y="1690688"/>
            <a:ext cx="4762500" cy="507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D8529FE-2B8C-B8E8-6DE5-2323E049F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624" y="1848465"/>
            <a:ext cx="5579274" cy="4070555"/>
          </a:xfrm>
          <a:prstGeom prst="rect">
            <a:avLst/>
          </a:prstGeom>
        </p:spPr>
      </p:pic>
      <p:sp>
        <p:nvSpPr>
          <p:cNvPr id="3" name="Seta: da Esquerda para a Direita 2">
            <a:extLst>
              <a:ext uri="{FF2B5EF4-FFF2-40B4-BE49-F238E27FC236}">
                <a16:creationId xmlns:a16="http://schemas.microsoft.com/office/drawing/2014/main" id="{F8A1109D-CAD5-216C-1896-DA62C5335AED}"/>
              </a:ext>
            </a:extLst>
          </p:cNvPr>
          <p:cNvSpPr/>
          <p:nvPr/>
        </p:nvSpPr>
        <p:spPr>
          <a:xfrm>
            <a:off x="5680003" y="4037174"/>
            <a:ext cx="1216152" cy="48463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2832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B65849-F14D-2505-879B-E07D59BE5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Server </a:t>
            </a:r>
            <a:r>
              <a:rPr lang="pt-BR" dirty="0" err="1"/>
              <a:t>process</a:t>
            </a:r>
            <a:r>
              <a:rPr lang="pt-BR" dirty="0"/>
              <a:t> - </a:t>
            </a:r>
            <a:r>
              <a:rPr lang="pt-BR" i="1" dirty="0" err="1"/>
              <a:t>mysqld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45CC56-770E-E9B9-2F73-1F81ABF4C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887065" cy="4351338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Principal programa (serviço) do SGBD</a:t>
            </a:r>
          </a:p>
          <a:p>
            <a:pPr lvl="1"/>
            <a:r>
              <a:rPr lang="pt-BR" dirty="0"/>
              <a:t>1 único processo, com </a:t>
            </a:r>
            <a:r>
              <a:rPr lang="pt-BR" b="1" i="1" dirty="0" err="1"/>
              <a:t>multithread</a:t>
            </a:r>
            <a:endParaRPr lang="pt-BR" b="1" i="1" dirty="0"/>
          </a:p>
          <a:p>
            <a:pPr lvl="1">
              <a:spcBef>
                <a:spcPts val="1800"/>
              </a:spcBef>
            </a:pPr>
            <a:r>
              <a:rPr lang="pt-BR" dirty="0"/>
              <a:t>Acessa o </a:t>
            </a:r>
            <a:r>
              <a:rPr lang="pt-BR" b="1" dirty="0"/>
              <a:t>diretório de dados </a:t>
            </a:r>
            <a:r>
              <a:rPr lang="pt-BR" dirty="0"/>
              <a:t>que contém as tabelas, bases de dados, logs e status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Ao iniciar, aguarda por conexões na rede a partir de programas cliente e gerenciar o acesso às bases de dados (</a:t>
            </a:r>
            <a:r>
              <a:rPr lang="pt-BR" b="1" dirty="0"/>
              <a:t>arquitetura C/S</a:t>
            </a:r>
            <a:r>
              <a:rPr lang="pt-BR" dirty="0"/>
              <a:t>)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Ao iniciar, carrega </a:t>
            </a:r>
            <a:r>
              <a:rPr lang="pt-BR" b="1" dirty="0"/>
              <a:t>variáveis de sistema </a:t>
            </a:r>
            <a:r>
              <a:rPr lang="pt-BR" dirty="0"/>
              <a:t>para sua configuração enquanto estiver rodando</a:t>
            </a:r>
          </a:p>
          <a:p>
            <a:pPr lvl="2"/>
            <a:r>
              <a:rPr lang="pt-BR" dirty="0"/>
              <a:t>Algumas podem ser modificadas durante o uso</a:t>
            </a:r>
          </a:p>
          <a:p>
            <a:pPr lvl="2"/>
            <a:r>
              <a:rPr lang="pt-BR" dirty="0"/>
              <a:t>Algumas necessitam reiniciar o serviço para serem ‘enxergadas’</a:t>
            </a:r>
          </a:p>
          <a:p>
            <a:pPr lvl="1"/>
            <a:endParaRPr lang="pt-BR" dirty="0"/>
          </a:p>
        </p:txBody>
      </p:sp>
      <p:pic>
        <p:nvPicPr>
          <p:cNvPr id="1026" name="Picture 2" descr="Single vs Multithreaded Process">
            <a:extLst>
              <a:ext uri="{FF2B5EF4-FFF2-40B4-BE49-F238E27FC236}">
                <a16:creationId xmlns:a16="http://schemas.microsoft.com/office/drawing/2014/main" id="{44E41B5E-A14F-1750-D073-01BF0A2B7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4237" y="1312751"/>
            <a:ext cx="4449097" cy="3136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C8C2808-0E20-B826-DD29-EDBD67A92467}"/>
              </a:ext>
            </a:extLst>
          </p:cNvPr>
          <p:cNvSpPr txBox="1"/>
          <p:nvPr/>
        </p:nvSpPr>
        <p:spPr>
          <a:xfrm>
            <a:off x="6398265" y="1090036"/>
            <a:ext cx="5715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https://www.tutorialspoint.com/operating_system/os_multi_threading.htm</a:t>
            </a:r>
          </a:p>
        </p:txBody>
      </p:sp>
      <p:pic>
        <p:nvPicPr>
          <p:cNvPr id="1030" name="Picture 6" descr="What is multithreading?">
            <a:extLst>
              <a:ext uri="{FF2B5EF4-FFF2-40B4-BE49-F238E27FC236}">
                <a16:creationId xmlns:a16="http://schemas.microsoft.com/office/drawing/2014/main" id="{1C270F68-7FF9-F74B-4598-3A71716BF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7731" y="4536909"/>
            <a:ext cx="4196069" cy="2154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42C6DCC7-D672-11E0-1AAA-D9F9E5FA319F}"/>
              </a:ext>
            </a:extLst>
          </p:cNvPr>
          <p:cNvSpPr txBox="1"/>
          <p:nvPr/>
        </p:nvSpPr>
        <p:spPr>
          <a:xfrm>
            <a:off x="6856694" y="6550223"/>
            <a:ext cx="47981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https://www.techtarget.com/whatis/definition/multithreading</a:t>
            </a:r>
          </a:p>
        </p:txBody>
      </p:sp>
    </p:spTree>
    <p:extLst>
      <p:ext uri="{BB962C8B-B14F-4D97-AF65-F5344CB8AC3E}">
        <p14:creationId xmlns:p14="http://schemas.microsoft.com/office/powerpoint/2010/main" val="526291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05F02F-24EB-7466-BFC0-BE110C2D7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Storage</a:t>
            </a:r>
            <a:r>
              <a:rPr lang="pt-BR" dirty="0"/>
              <a:t> </a:t>
            </a:r>
            <a:r>
              <a:rPr lang="pt-BR" dirty="0" err="1"/>
              <a:t>Engine</a:t>
            </a:r>
            <a:r>
              <a:rPr lang="pt-BR" dirty="0"/>
              <a:t> - </a:t>
            </a:r>
            <a:r>
              <a:rPr lang="pt-BR" dirty="0" err="1"/>
              <a:t>InnoDB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1A74DD-4C48-BBB7-FB10-E57085ED4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i="1" dirty="0" err="1"/>
              <a:t>Engine</a:t>
            </a:r>
            <a:r>
              <a:rPr lang="pt-BR" dirty="0"/>
              <a:t> de armazenamento </a:t>
            </a:r>
            <a:r>
              <a:rPr lang="pt-BR" b="1" dirty="0"/>
              <a:t>padrão</a:t>
            </a:r>
            <a:r>
              <a:rPr lang="pt-BR" dirty="0"/>
              <a:t> do MySQL (5.5+)</a:t>
            </a:r>
          </a:p>
          <a:p>
            <a:pPr lvl="1"/>
            <a:r>
              <a:rPr lang="pt-BR" dirty="0"/>
              <a:t>Antigo: </a:t>
            </a:r>
            <a:r>
              <a:rPr lang="pt-BR" dirty="0" err="1"/>
              <a:t>MyISAM</a:t>
            </a:r>
            <a:r>
              <a:rPr lang="pt-BR" dirty="0"/>
              <a:t>	</a:t>
            </a:r>
          </a:p>
          <a:p>
            <a:pPr>
              <a:spcBef>
                <a:spcPts val="2400"/>
              </a:spcBef>
            </a:pPr>
            <a:r>
              <a:rPr lang="pt-BR" dirty="0"/>
              <a:t>Suporte a transações </a:t>
            </a:r>
            <a:r>
              <a:rPr lang="pt-BR" b="1" dirty="0"/>
              <a:t>ACID</a:t>
            </a:r>
            <a:r>
              <a:rPr lang="pt-BR" dirty="0"/>
              <a:t>;</a:t>
            </a:r>
          </a:p>
          <a:p>
            <a:pPr lvl="1"/>
            <a:r>
              <a:rPr lang="pt-BR" dirty="0"/>
              <a:t>Conjunto de propriedades de transações: </a:t>
            </a:r>
          </a:p>
          <a:p>
            <a:pPr lvl="2"/>
            <a:r>
              <a:rPr lang="pt-BR" dirty="0"/>
              <a:t>atomicidade, consistência, isolamento, durabilidade;</a:t>
            </a:r>
          </a:p>
          <a:p>
            <a:pPr>
              <a:spcBef>
                <a:spcPts val="2400"/>
              </a:spcBef>
            </a:pPr>
            <a:r>
              <a:rPr lang="pt-BR" dirty="0"/>
              <a:t>Suporte a </a:t>
            </a:r>
            <a:r>
              <a:rPr lang="pt-BR" b="1" i="1" dirty="0"/>
              <a:t>full-</a:t>
            </a:r>
            <a:r>
              <a:rPr lang="pt-BR" b="1" i="1" dirty="0" err="1"/>
              <a:t>text</a:t>
            </a:r>
            <a:r>
              <a:rPr lang="pt-BR" b="1" i="1" dirty="0"/>
              <a:t> index</a:t>
            </a:r>
            <a:r>
              <a:rPr lang="pt-BR" dirty="0"/>
              <a:t>;</a:t>
            </a:r>
          </a:p>
          <a:p>
            <a:pPr lvl="1"/>
            <a:r>
              <a:rPr lang="pt-BR" dirty="0"/>
              <a:t>Busca dentro de documentos de texto;</a:t>
            </a:r>
          </a:p>
          <a:p>
            <a:pPr>
              <a:spcBef>
                <a:spcPts val="2400"/>
              </a:spcBef>
            </a:pPr>
            <a:r>
              <a:rPr lang="pt-BR" dirty="0"/>
              <a:t>Suporte a operações </a:t>
            </a:r>
            <a:r>
              <a:rPr lang="pt-BR" b="1" dirty="0"/>
              <a:t>espaciais</a:t>
            </a:r>
            <a:r>
              <a:rPr lang="pt-BR" dirty="0"/>
              <a:t>;</a:t>
            </a:r>
          </a:p>
          <a:p>
            <a:pPr lvl="1"/>
            <a:r>
              <a:rPr lang="pt-BR" dirty="0"/>
              <a:t>Padrão </a:t>
            </a:r>
            <a:r>
              <a:rPr lang="pt-BR" dirty="0" err="1"/>
              <a:t>OpenGIS</a:t>
            </a:r>
            <a:r>
              <a:rPr lang="pt-BR" dirty="0"/>
              <a:t>;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6DDF615-77E1-FB64-F0F6-A27FE6676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5802" y="3429000"/>
            <a:ext cx="3299883" cy="152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632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806206-70C5-F874-09FE-23925C2FA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Collation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160D9A-41F4-AB7A-45CD-85563BC6D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3865" cy="4351338"/>
          </a:xfrm>
        </p:spPr>
        <p:txBody>
          <a:bodyPr/>
          <a:lstStyle/>
          <a:p>
            <a:r>
              <a:rPr lang="pt-BR" sz="2400" i="1" dirty="0"/>
              <a:t>Character sets </a:t>
            </a:r>
            <a:r>
              <a:rPr lang="pt-BR" sz="2400" dirty="0"/>
              <a:t>e </a:t>
            </a:r>
            <a:r>
              <a:rPr lang="pt-BR" sz="2400" i="1" dirty="0" err="1"/>
              <a:t>collations</a:t>
            </a:r>
            <a:endParaRPr lang="pt-BR" sz="2400" i="1" dirty="0"/>
          </a:p>
          <a:p>
            <a:r>
              <a:rPr lang="pt-BR" sz="2400" dirty="0"/>
              <a:t>Suporte a multilinguagem</a:t>
            </a:r>
          </a:p>
          <a:p>
            <a:pPr lvl="1"/>
            <a:r>
              <a:rPr lang="pt-BR" sz="2000" dirty="0"/>
              <a:t>UTF (</a:t>
            </a:r>
            <a:r>
              <a:rPr lang="pt-BR" sz="2000" i="1" dirty="0"/>
              <a:t>Unicode </a:t>
            </a:r>
            <a:r>
              <a:rPr lang="pt-BR" sz="2000" i="1" dirty="0" err="1"/>
              <a:t>Transformation</a:t>
            </a:r>
            <a:r>
              <a:rPr lang="pt-BR" sz="2000" i="1" dirty="0"/>
              <a:t> Format</a:t>
            </a:r>
            <a:r>
              <a:rPr lang="pt-BR" sz="2000" dirty="0"/>
              <a:t>) é o mais comum;</a:t>
            </a:r>
          </a:p>
          <a:p>
            <a:r>
              <a:rPr lang="pt-BR" sz="2400" dirty="0"/>
              <a:t>Cuidado ao criar bases: incompatibilidade de </a:t>
            </a:r>
            <a:r>
              <a:rPr lang="pt-BR" sz="2400" i="1" dirty="0" err="1"/>
              <a:t>collation</a:t>
            </a:r>
            <a:r>
              <a:rPr lang="pt-BR" sz="2400" dirty="0"/>
              <a:t> pode gerar </a:t>
            </a:r>
            <a:r>
              <a:rPr lang="pt-BR" sz="2400" b="1" u="sng" dirty="0"/>
              <a:t>bugs</a:t>
            </a:r>
            <a:r>
              <a:rPr lang="pt-BR" sz="2400" dirty="0"/>
              <a:t>!</a:t>
            </a:r>
          </a:p>
          <a:p>
            <a:r>
              <a:rPr lang="pt-BR" sz="2400" dirty="0"/>
              <a:t>Toda nova base de dados pode especificar (ou usar padrão do Server)</a:t>
            </a:r>
          </a:p>
          <a:p>
            <a:r>
              <a:rPr lang="pt-BR" sz="2400" dirty="0"/>
              <a:t>Nome descreve suporte (convenção):</a:t>
            </a:r>
          </a:p>
          <a:p>
            <a:pPr lvl="1"/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AA4CAE9-CBFB-DBE0-CBFB-C3E066F7B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782" y="4391656"/>
            <a:ext cx="2461088" cy="22157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AEFF236-FFF6-0D83-0882-7B7A0D780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4543" y="4492572"/>
            <a:ext cx="4999584" cy="203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1536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A8E401-5FE3-C23A-3C66-24167DEAC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 - MySQL Workbench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F4BE29-7591-512D-B78B-7D9FAE614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Explorar o </a:t>
            </a:r>
            <a:r>
              <a:rPr lang="pt-BR" b="1" i="1" dirty="0"/>
              <a:t>MySQL Server 8.0 Community</a:t>
            </a:r>
            <a:r>
              <a:rPr lang="pt-BR" dirty="0"/>
              <a:t> e o </a:t>
            </a:r>
            <a:r>
              <a:rPr lang="pt-BR" b="1" i="1" u="sng" dirty="0"/>
              <a:t>Workbench 8.0 CE</a:t>
            </a:r>
          </a:p>
          <a:p>
            <a:pPr>
              <a:spcBef>
                <a:spcPts val="2400"/>
              </a:spcBef>
            </a:pPr>
            <a:r>
              <a:rPr lang="pt-BR" dirty="0"/>
              <a:t>Logar, verificar status</a:t>
            </a:r>
          </a:p>
          <a:p>
            <a:pPr>
              <a:spcBef>
                <a:spcPts val="2400"/>
              </a:spcBef>
            </a:pPr>
            <a:r>
              <a:rPr lang="pt-BR" dirty="0"/>
              <a:t>Verificar serviços rodando no Windows</a:t>
            </a:r>
          </a:p>
          <a:p>
            <a:pPr lvl="1"/>
            <a:r>
              <a:rPr lang="pt-BR" dirty="0"/>
              <a:t>Como iniciar e parar – útil para atualizar certas variáveis de sistema;</a:t>
            </a:r>
          </a:p>
          <a:p>
            <a:pPr>
              <a:spcBef>
                <a:spcPts val="2400"/>
              </a:spcBef>
            </a:pPr>
            <a:r>
              <a:rPr lang="pt-BR" dirty="0"/>
              <a:t>Verificar locais dos arquivos</a:t>
            </a:r>
          </a:p>
          <a:p>
            <a:pPr lvl="1"/>
            <a:r>
              <a:rPr lang="pt-BR" dirty="0"/>
              <a:t>Dados e arquivos de configuração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597049D-7A47-FC01-B67D-952F17B28DA6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5512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2E7A7A-652D-95CE-F89A-32044587A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Diretórios principais da instalação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7F32FD-402D-F3FF-EE53-DCD254417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651B58D-755C-552E-3403-B88E16529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32" y="1373905"/>
            <a:ext cx="5663865" cy="459120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A66FE11-45D3-C24B-4D2D-AB80566D8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95298"/>
            <a:ext cx="5326420" cy="34585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3EA795C-9B4C-75A7-25AC-0FF770D2E4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9349" y="4444080"/>
            <a:ext cx="7181599" cy="222877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9198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742D00-145F-0595-6F34-D82384E2C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 - MySQL Workbench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5DE1D7-161E-6133-9396-EF815A70F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spcBef>
                <a:spcPts val="2400"/>
              </a:spcBef>
            </a:pPr>
            <a:r>
              <a:rPr lang="pt-BR" dirty="0"/>
              <a:t>Executar linha de comando:</a:t>
            </a:r>
          </a:p>
          <a:p>
            <a:pPr lvl="1"/>
            <a:r>
              <a:rPr lang="pt-BR" b="1" i="1" dirty="0"/>
              <a:t>show status</a:t>
            </a:r>
            <a:r>
              <a:rPr lang="pt-BR" b="1" dirty="0"/>
              <a:t>;</a:t>
            </a:r>
          </a:p>
          <a:p>
            <a:pPr lvl="1"/>
            <a:r>
              <a:rPr lang="pt-BR" b="1" i="1" dirty="0"/>
              <a:t>show </a:t>
            </a:r>
            <a:r>
              <a:rPr lang="pt-BR" b="1" i="1" dirty="0" err="1"/>
              <a:t>variables</a:t>
            </a:r>
            <a:r>
              <a:rPr lang="pt-BR" b="1" i="1" dirty="0"/>
              <a:t>;</a:t>
            </a:r>
          </a:p>
          <a:p>
            <a:pPr lvl="1"/>
            <a:r>
              <a:rPr lang="pt-BR" b="1" i="1" dirty="0"/>
              <a:t>show </a:t>
            </a:r>
            <a:r>
              <a:rPr lang="pt-BR" b="1" i="1" dirty="0" err="1"/>
              <a:t>variables</a:t>
            </a:r>
            <a:r>
              <a:rPr lang="pt-BR" b="1" i="1" dirty="0"/>
              <a:t> like ‘%</a:t>
            </a:r>
            <a:r>
              <a:rPr lang="pt-BR" b="1" i="1" dirty="0" err="1"/>
              <a:t>dir</a:t>
            </a:r>
            <a:r>
              <a:rPr lang="pt-BR" b="1" i="1" dirty="0"/>
              <a:t>’;</a:t>
            </a:r>
          </a:p>
          <a:p>
            <a:pPr lvl="1"/>
            <a:r>
              <a:rPr lang="pt-BR" b="1" i="1" dirty="0"/>
              <a:t>show </a:t>
            </a:r>
            <a:r>
              <a:rPr lang="pt-BR" b="1" i="1" dirty="0" err="1"/>
              <a:t>databases</a:t>
            </a:r>
            <a:r>
              <a:rPr lang="pt-BR" dirty="0"/>
              <a:t>;</a:t>
            </a:r>
          </a:p>
          <a:p>
            <a:pPr lvl="1"/>
            <a:r>
              <a:rPr lang="pt-BR" b="1" i="1" dirty="0"/>
              <a:t>use </a:t>
            </a:r>
            <a:r>
              <a:rPr lang="pt-BR" i="1" dirty="0"/>
              <a:t>&lt;</a:t>
            </a:r>
            <a:r>
              <a:rPr lang="pt-BR" dirty="0" err="1"/>
              <a:t>database_name</a:t>
            </a:r>
            <a:r>
              <a:rPr lang="pt-BR" dirty="0"/>
              <a:t>&gt;;</a:t>
            </a:r>
          </a:p>
          <a:p>
            <a:pPr lvl="1"/>
            <a:r>
              <a:rPr lang="pt-BR" b="1" i="1" dirty="0"/>
              <a:t>show </a:t>
            </a:r>
            <a:r>
              <a:rPr lang="pt-BR" b="1" i="1" dirty="0" err="1"/>
              <a:t>tables</a:t>
            </a:r>
            <a:r>
              <a:rPr lang="pt-BR" dirty="0"/>
              <a:t>;</a:t>
            </a:r>
          </a:p>
          <a:p>
            <a:pPr lvl="1"/>
            <a:r>
              <a:rPr lang="pt-BR" b="1" i="1" dirty="0" err="1"/>
              <a:t>describe</a:t>
            </a:r>
            <a:r>
              <a:rPr lang="pt-BR" b="1" dirty="0"/>
              <a:t> </a:t>
            </a:r>
            <a:r>
              <a:rPr lang="pt-BR" dirty="0"/>
              <a:t>&lt;</a:t>
            </a:r>
            <a:r>
              <a:rPr lang="pt-BR" dirty="0" err="1"/>
              <a:t>table_name</a:t>
            </a:r>
            <a:r>
              <a:rPr lang="pt-BR" dirty="0"/>
              <a:t>&gt;;</a:t>
            </a:r>
          </a:p>
          <a:p>
            <a:pPr lvl="1"/>
            <a:r>
              <a:rPr lang="pt-BR" b="1" i="1" dirty="0" err="1"/>
              <a:t>select</a:t>
            </a:r>
            <a:r>
              <a:rPr lang="pt-BR" b="1" i="1" dirty="0"/>
              <a:t> @@global.log_error;</a:t>
            </a:r>
          </a:p>
          <a:p>
            <a:pPr lvl="1"/>
            <a:r>
              <a:rPr lang="pt-BR" b="1" i="1" dirty="0" err="1"/>
              <a:t>select</a:t>
            </a:r>
            <a:r>
              <a:rPr lang="pt-BR" b="1" i="1" dirty="0"/>
              <a:t> @@global.version;</a:t>
            </a:r>
          </a:p>
          <a:p>
            <a:pPr lvl="1"/>
            <a:r>
              <a:rPr lang="pt-BR" b="1" i="1" dirty="0"/>
              <a:t>show </a:t>
            </a:r>
            <a:r>
              <a:rPr lang="pt-BR" b="1" i="1" dirty="0" err="1"/>
              <a:t>engine</a:t>
            </a:r>
            <a:r>
              <a:rPr lang="pt-BR" b="1" i="1" dirty="0"/>
              <a:t> </a:t>
            </a:r>
            <a:r>
              <a:rPr lang="pt-BR" b="1" i="1" dirty="0" err="1"/>
              <a:t>innodb</a:t>
            </a:r>
            <a:r>
              <a:rPr lang="pt-BR" b="1" i="1" dirty="0"/>
              <a:t> status;</a:t>
            </a:r>
          </a:p>
          <a:p>
            <a:pPr lvl="1"/>
            <a:r>
              <a:rPr lang="pt-BR" b="1" i="1" dirty="0"/>
              <a:t>show </a:t>
            </a:r>
            <a:r>
              <a:rPr lang="pt-BR" b="1" i="1" dirty="0" err="1"/>
              <a:t>character</a:t>
            </a:r>
            <a:r>
              <a:rPr lang="pt-BR" b="1" i="1" dirty="0"/>
              <a:t> set;</a:t>
            </a:r>
          </a:p>
          <a:p>
            <a:pPr lvl="1"/>
            <a:r>
              <a:rPr lang="pt-BR" dirty="0"/>
              <a:t>Executar arquivos com comandos SQL</a:t>
            </a:r>
          </a:p>
          <a:p>
            <a:pPr lvl="2"/>
            <a:r>
              <a:rPr lang="pt-BR" b="1" i="1" dirty="0" err="1"/>
              <a:t>source</a:t>
            </a:r>
            <a:r>
              <a:rPr lang="pt-BR" b="1" i="1" dirty="0"/>
              <a:t> </a:t>
            </a:r>
            <a:r>
              <a:rPr lang="pt-BR" dirty="0"/>
              <a:t>&lt;</a:t>
            </a:r>
            <a:r>
              <a:rPr lang="pt-BR" dirty="0" err="1"/>
              <a:t>file_path.sql</a:t>
            </a:r>
            <a:r>
              <a:rPr lang="pt-BR" dirty="0"/>
              <a:t>&gt;; (</a:t>
            </a:r>
            <a:r>
              <a:rPr lang="pt-BR" dirty="0" err="1"/>
              <a:t>ex</a:t>
            </a:r>
            <a:r>
              <a:rPr lang="pt-BR" dirty="0"/>
              <a:t>: </a:t>
            </a:r>
            <a:r>
              <a:rPr lang="pt-BR" i="1" dirty="0"/>
              <a:t>c:/labbd/aula2.sql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Comandos SQL;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3F04628-5DD1-47D0-F9CB-4FA16A1D1F60}"/>
              </a:ext>
            </a:extLst>
          </p:cNvPr>
          <p:cNvSpPr/>
          <p:nvPr/>
        </p:nvSpPr>
        <p:spPr>
          <a:xfrm>
            <a:off x="6389511" y="1825625"/>
            <a:ext cx="5339644" cy="397369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dirty="0"/>
              <a:t>Copie o caminho do diretório onde está instalado o MySQL e digite as credencias para entrar:</a:t>
            </a:r>
            <a:br>
              <a:rPr lang="pt-BR" sz="2400" dirty="0"/>
            </a:br>
            <a:br>
              <a:rPr lang="pt-BR" sz="2400" dirty="0"/>
            </a:br>
            <a:r>
              <a:rPr lang="pt-BR" sz="2400" b="1" dirty="0"/>
              <a:t>Exemplo</a:t>
            </a:r>
            <a:r>
              <a:rPr lang="pt-BR" sz="2400" dirty="0"/>
              <a:t>:</a:t>
            </a:r>
          </a:p>
          <a:p>
            <a:pPr marL="285750" indent="-285750" algn="ctr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pt-BR" sz="2400" dirty="0" err="1"/>
              <a:t>cd</a:t>
            </a:r>
            <a:r>
              <a:rPr lang="pt-BR" sz="2400" dirty="0"/>
              <a:t> </a:t>
            </a:r>
            <a:r>
              <a:rPr lang="en-US" sz="2400" dirty="0"/>
              <a:t>C:\Program Files\MySQL\MySQL Workbench 8.0</a:t>
            </a:r>
          </a:p>
          <a:p>
            <a:pPr marL="285750" indent="-285750" algn="ctr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400" dirty="0" err="1"/>
              <a:t>mysql</a:t>
            </a:r>
            <a:r>
              <a:rPr lang="en-US" sz="2400" dirty="0"/>
              <a:t> –u &lt;username&gt; -p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050512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214A2-56AF-0AD5-4937-E5BF62B86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MySQL Online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678E91-996C-4AB2-6E9A-CC0AB166F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Aiven</a:t>
            </a:r>
            <a:r>
              <a:rPr lang="pt-BR" dirty="0"/>
              <a:t> – conectar ao MySQL Workbench via certificado digital</a:t>
            </a:r>
          </a:p>
          <a:p>
            <a:pPr lvl="1"/>
            <a:r>
              <a:rPr lang="pt-BR" dirty="0">
                <a:hlinkClick r:id="rId2"/>
              </a:rPr>
              <a:t>https://aiven.io/mysql</a:t>
            </a:r>
            <a:r>
              <a:rPr lang="pt-BR" dirty="0"/>
              <a:t> (</a:t>
            </a:r>
            <a:r>
              <a:rPr lang="pt-BR"/>
              <a:t>até 1GB</a:t>
            </a:r>
            <a:r>
              <a:rPr lang="pt-BR" dirty="0"/>
              <a:t>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B2C86D9-778A-2136-8C91-1EEAE2CCF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643" y="2872156"/>
            <a:ext cx="7302843" cy="356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6595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93642-FFB5-E165-F656-9E8D7E73D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CA44EB-C9E8-9667-335D-17518AC73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SQL Básico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Conceitos básicos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MySQL + IDE Workbench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Linguagem SQL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Comandos DDL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12CE2B-D347-F04D-E253-F6BDD2B5E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E9C3CA-5F31-1EEC-490A-A2D64FE9933C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73067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F94E8-8186-DE9B-0838-652713C35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569CD2-E4A5-5D0C-2EBE-4EC53932D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5FEE9A-AE22-3F06-AC13-11DF41ED4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55797"/>
          </a:xfrm>
        </p:spPr>
        <p:txBody>
          <a:bodyPr>
            <a:normAutofit/>
          </a:bodyPr>
          <a:lstStyle/>
          <a:p>
            <a:r>
              <a:rPr lang="pt-BR" i="1" dirty="0" err="1"/>
              <a:t>Structured</a:t>
            </a:r>
            <a:r>
              <a:rPr lang="pt-BR" i="1" dirty="0"/>
              <a:t> Query </a:t>
            </a:r>
            <a:r>
              <a:rPr lang="pt-BR" i="1" dirty="0" err="1"/>
              <a:t>Language</a:t>
            </a:r>
            <a:endParaRPr lang="pt-BR" i="1" dirty="0"/>
          </a:p>
          <a:p>
            <a:pPr lvl="1"/>
            <a:r>
              <a:rPr lang="pt-BR" i="1" dirty="0"/>
              <a:t>Originalmente SEQUEL (</a:t>
            </a:r>
            <a:r>
              <a:rPr lang="pt-BR" i="1" dirty="0" err="1"/>
              <a:t>Structured</a:t>
            </a:r>
            <a:r>
              <a:rPr lang="pt-BR" i="1" dirty="0"/>
              <a:t> </a:t>
            </a:r>
            <a:r>
              <a:rPr lang="pt-BR" i="1" dirty="0" err="1"/>
              <a:t>English</a:t>
            </a:r>
            <a:r>
              <a:rPr lang="pt-BR" i="1" dirty="0"/>
              <a:t> Query </a:t>
            </a:r>
            <a:r>
              <a:rPr lang="pt-BR" i="1" dirty="0" err="1"/>
              <a:t>Language</a:t>
            </a:r>
            <a:r>
              <a:rPr lang="pt-BR" i="1" dirty="0"/>
              <a:t>)	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FFBC2C8-9FF8-B21C-0181-DD86642D1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5652" y="3666776"/>
            <a:ext cx="4580695" cy="2137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21945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C5411B-588F-5369-10E4-5ED6BD46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496D02-DFC1-AC4B-1AE5-98BF887E2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55797"/>
          </a:xfrm>
        </p:spPr>
        <p:txBody>
          <a:bodyPr>
            <a:normAutofit/>
          </a:bodyPr>
          <a:lstStyle/>
          <a:p>
            <a:pPr>
              <a:spcBef>
                <a:spcPts val="2400"/>
              </a:spcBef>
            </a:pPr>
            <a:r>
              <a:rPr lang="pt-BR" dirty="0"/>
              <a:t>Criado em 1970 pela </a:t>
            </a:r>
            <a:r>
              <a:rPr lang="pt-BR" i="1" dirty="0"/>
              <a:t>IBM </a:t>
            </a:r>
            <a:r>
              <a:rPr lang="pt-BR" i="1" dirty="0" err="1"/>
              <a:t>Research</a:t>
            </a:r>
            <a:r>
              <a:rPr lang="pt-BR" i="1" dirty="0"/>
              <a:t> </a:t>
            </a:r>
            <a:r>
              <a:rPr lang="pt-BR" dirty="0"/>
              <a:t>como interface experimental para o banco de dados relacional R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Donald </a:t>
            </a:r>
            <a:r>
              <a:rPr lang="pt-BR" dirty="0" err="1"/>
              <a:t>Chamerlain</a:t>
            </a:r>
            <a:r>
              <a:rPr lang="pt-BR" dirty="0"/>
              <a:t> &amp; Ray </a:t>
            </a:r>
            <a:r>
              <a:rPr lang="pt-BR" dirty="0" err="1"/>
              <a:t>Boyce</a:t>
            </a:r>
            <a:endParaRPr lang="pt-BR" dirty="0"/>
          </a:p>
          <a:p>
            <a:pPr lvl="1">
              <a:spcBef>
                <a:spcPts val="1200"/>
              </a:spcBef>
            </a:pPr>
            <a:r>
              <a:rPr lang="pt-BR" dirty="0"/>
              <a:t>Uso de dados por não desenvolvedores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1EA48B-E3E9-6CBA-73A6-8B891C79FA4B}"/>
              </a:ext>
            </a:extLst>
          </p:cNvPr>
          <p:cNvGrpSpPr/>
          <p:nvPr/>
        </p:nvGrpSpPr>
        <p:grpSpPr>
          <a:xfrm>
            <a:off x="6834569" y="3429000"/>
            <a:ext cx="5159022" cy="2951821"/>
            <a:chOff x="5588000" y="3691466"/>
            <a:chExt cx="5159022" cy="2951821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1025C11A-EDB6-67CF-2324-A2332BBD3E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31360" y="3691466"/>
              <a:ext cx="3672302" cy="242860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8706AD78-42BF-6112-680C-7077EDCCC434}"/>
                </a:ext>
              </a:extLst>
            </p:cNvPr>
            <p:cNvSpPr txBox="1"/>
            <p:nvPr/>
          </p:nvSpPr>
          <p:spPr>
            <a:xfrm>
              <a:off x="5588000" y="6120067"/>
              <a:ext cx="515902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1400" dirty="0">
                  <a:hlinkClick r:id="rId3"/>
                </a:rPr>
                <a:t>https://research.ibm.com/publications/system-r-relational-approach-to-database-management</a:t>
              </a:r>
              <a:r>
                <a:rPr lang="pt-BR" sz="1400" dirty="0"/>
                <a:t> </a:t>
              </a:r>
            </a:p>
          </p:txBody>
        </p:sp>
      </p:grpSp>
      <p:pic>
        <p:nvPicPr>
          <p:cNvPr id="10" name="Imagem 9">
            <a:extLst>
              <a:ext uri="{FF2B5EF4-FFF2-40B4-BE49-F238E27FC236}">
                <a16:creationId xmlns:a16="http://schemas.microsoft.com/office/drawing/2014/main" id="{2FD29068-35B0-6C54-1C72-12CE788CB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410" y="3832289"/>
            <a:ext cx="4954479" cy="274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1309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14BAC-5006-E139-C68D-0D71C7128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F6B665-7104-2C41-4402-6F7B15387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8CEFCC-0850-6980-CB91-A72C9C0F2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55797"/>
          </a:xfrm>
        </p:spPr>
        <p:txBody>
          <a:bodyPr>
            <a:normAutofit/>
          </a:bodyPr>
          <a:lstStyle/>
          <a:p>
            <a:pPr>
              <a:spcBef>
                <a:spcPts val="2400"/>
              </a:spcBef>
            </a:pPr>
            <a:r>
              <a:rPr lang="pt-BR" dirty="0"/>
              <a:t>Linguagem para: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Definição de dados (criação dos esquemas de Relações) </a:t>
            </a:r>
            <a:r>
              <a:rPr lang="pt-BR" dirty="0">
                <a:sym typeface="Wingdings" panose="05000000000000000000" pitchFamily="2" charset="2"/>
              </a:rPr>
              <a:t> DML</a:t>
            </a:r>
            <a:endParaRPr lang="pt-BR" dirty="0"/>
          </a:p>
          <a:p>
            <a:pPr lvl="1">
              <a:spcBef>
                <a:spcPts val="1200"/>
              </a:spcBef>
            </a:pPr>
            <a:r>
              <a:rPr lang="pt-BR" dirty="0"/>
              <a:t>Manipulação de dados (inserção, exclusão e modificação de dados) </a:t>
            </a:r>
            <a:r>
              <a:rPr lang="pt-BR" dirty="0">
                <a:sym typeface="Wingdings" panose="05000000000000000000" pitchFamily="2" charset="2"/>
              </a:rPr>
              <a:t> DDL</a:t>
            </a:r>
          </a:p>
          <a:p>
            <a:pPr>
              <a:spcBef>
                <a:spcPts val="2400"/>
              </a:spcBef>
            </a:pPr>
            <a:r>
              <a:rPr lang="pt-BR" dirty="0">
                <a:sym typeface="Wingdings" panose="05000000000000000000" pitchFamily="2" charset="2"/>
              </a:rPr>
              <a:t>Dividido em especificação:</a:t>
            </a:r>
          </a:p>
          <a:p>
            <a:pPr lvl="1">
              <a:spcBef>
                <a:spcPts val="1200"/>
              </a:spcBef>
            </a:pPr>
            <a:r>
              <a:rPr lang="pt-BR" b="1" i="1" dirty="0">
                <a:sym typeface="Wingdings" panose="05000000000000000000" pitchFamily="2" charset="2"/>
              </a:rPr>
              <a:t>Core</a:t>
            </a:r>
            <a:r>
              <a:rPr lang="pt-BR" dirty="0">
                <a:sym typeface="Wingdings" panose="05000000000000000000" pitchFamily="2" charset="2"/>
              </a:rPr>
              <a:t>: (supostamente) implementado por todos </a:t>
            </a:r>
            <a:r>
              <a:rPr lang="pt-BR" dirty="0" err="1">
                <a:sym typeface="Wingdings" panose="05000000000000000000" pitchFamily="2" charset="2"/>
              </a:rPr>
              <a:t>SGBDRs</a:t>
            </a:r>
            <a:endParaRPr lang="pt-BR" dirty="0">
              <a:sym typeface="Wingdings" panose="05000000000000000000" pitchFamily="2" charset="2"/>
            </a:endParaRPr>
          </a:p>
          <a:p>
            <a:pPr lvl="1">
              <a:spcBef>
                <a:spcPts val="1200"/>
              </a:spcBef>
            </a:pPr>
            <a:r>
              <a:rPr lang="pt-BR" b="1" dirty="0">
                <a:sym typeface="Wingdings" panose="05000000000000000000" pitchFamily="2" charset="2"/>
              </a:rPr>
              <a:t>Extensões</a:t>
            </a:r>
            <a:r>
              <a:rPr lang="pt-BR" dirty="0">
                <a:sym typeface="Wingdings" panose="05000000000000000000" pitchFamily="2" charset="2"/>
              </a:rPr>
              <a:t>: módulos opcionais independentes (mineração de dados, dados espaciais, temporais, OLAP, etc.)</a:t>
            </a:r>
          </a:p>
        </p:txBody>
      </p:sp>
    </p:spTree>
    <p:extLst>
      <p:ext uri="{BB962C8B-B14F-4D97-AF65-F5344CB8AC3E}">
        <p14:creationId xmlns:p14="http://schemas.microsoft.com/office/powerpoint/2010/main" val="1511613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3F249-BCF5-B216-7769-F837CA68C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52053B-013F-FBD0-EA9F-299889B42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E7C8BB-BC07-5F82-318D-5FEBA37E7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400"/>
              </a:spcBef>
            </a:pPr>
            <a:r>
              <a:rPr lang="pt-BR" dirty="0"/>
              <a:t>Caso uma organização queira trocar de SGBDR a conversão para outro SGBDR não deve ser custosa ou levar muito tempo</a:t>
            </a:r>
          </a:p>
          <a:p>
            <a:pPr>
              <a:spcBef>
                <a:spcPts val="2400"/>
              </a:spcBef>
            </a:pPr>
            <a:r>
              <a:rPr lang="pt-BR" dirty="0"/>
              <a:t>Uma aplicação pode acessar mais de um SGBDR ao mesmo tempo sem precisar modificar sua linguagem (desde que ambos suportem SQL)</a:t>
            </a:r>
          </a:p>
        </p:txBody>
      </p:sp>
    </p:spTree>
    <p:extLst>
      <p:ext uri="{BB962C8B-B14F-4D97-AF65-F5344CB8AC3E}">
        <p14:creationId xmlns:p14="http://schemas.microsoft.com/office/powerpoint/2010/main" val="1674493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B8450E-1EBF-83C7-1299-C34AFA310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B9AF38-57DB-2636-DBA1-028068FC6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Modelo relacional prático que baseia os </a:t>
            </a:r>
            <a:r>
              <a:rPr lang="pt-BR" dirty="0" err="1"/>
              <a:t>SGBD</a:t>
            </a:r>
            <a:r>
              <a:rPr lang="pt-BR" b="1" dirty="0" err="1">
                <a:solidFill>
                  <a:srgbClr val="FF0000"/>
                </a:solidFill>
              </a:rPr>
              <a:t>R</a:t>
            </a:r>
            <a:r>
              <a:rPr lang="pt-BR" dirty="0" err="1"/>
              <a:t>s</a:t>
            </a:r>
            <a:r>
              <a:rPr lang="pt-BR" dirty="0"/>
              <a:t> comerciais modernos</a:t>
            </a:r>
          </a:p>
          <a:p>
            <a:pPr lvl="1"/>
            <a:r>
              <a:rPr lang="pt-BR" dirty="0"/>
              <a:t>Vimos os modelos teóricos (modelo relacional, álgebra relacional)</a:t>
            </a:r>
          </a:p>
          <a:p>
            <a:pPr>
              <a:spcBef>
                <a:spcPts val="2400"/>
              </a:spcBef>
            </a:pPr>
            <a:r>
              <a:rPr lang="pt-BR" dirty="0"/>
              <a:t>Fornece linguagem de alto nível declarativa</a:t>
            </a:r>
          </a:p>
          <a:p>
            <a:pPr lvl="1"/>
            <a:r>
              <a:rPr lang="pt-BR" dirty="0"/>
              <a:t>AR fornecia nível mais baixo, onde devemos especificar a ordem das operações</a:t>
            </a:r>
          </a:p>
          <a:p>
            <a:pPr>
              <a:spcBef>
                <a:spcPts val="2400"/>
              </a:spcBef>
            </a:pPr>
            <a:r>
              <a:rPr lang="pt-BR" dirty="0"/>
              <a:t>SQL é baseado na Álgebra Relacional e no Cálculo Relacional de Tuplas, porém com sintaxe simplificada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0914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infográfico">
            <a:extLst>
              <a:ext uri="{FF2B5EF4-FFF2-40B4-BE49-F238E27FC236}">
                <a16:creationId xmlns:a16="http://schemas.microsoft.com/office/drawing/2014/main" id="{C0453C09-801F-3763-6487-9B43F2AC55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75" b="9931"/>
          <a:stretch/>
        </p:blipFill>
        <p:spPr bwMode="auto">
          <a:xfrm>
            <a:off x="1981200" y="1602658"/>
            <a:ext cx="8229600" cy="5026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5DC0268-0795-E1EC-ECA3-4A77DBA54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do padrão SQL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A61B05F-DF97-B357-AB23-4D01B079283A}"/>
              </a:ext>
            </a:extLst>
          </p:cNvPr>
          <p:cNvSpPr txBox="1"/>
          <p:nvPr/>
        </p:nvSpPr>
        <p:spPr>
          <a:xfrm>
            <a:off x="7642122" y="5563369"/>
            <a:ext cx="4549878" cy="315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https://learnsql.com.br/blog/a-historia-das-normas-sql/</a:t>
            </a:r>
          </a:p>
        </p:txBody>
      </p:sp>
    </p:spTree>
    <p:extLst>
      <p:ext uri="{BB962C8B-B14F-4D97-AF65-F5344CB8AC3E}">
        <p14:creationId xmlns:p14="http://schemas.microsoft.com/office/powerpoint/2010/main" val="16716519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A3E8F8-A1CF-B4C9-B4A1-D0F294E08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do padrão SQL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B968E6-1E6C-3299-9996-BA735EDEA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C906048-A31C-AA91-7FE9-061B6A79A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70" y="2550624"/>
            <a:ext cx="8229138" cy="264226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361F749-EE7D-F99E-8853-5C09AFE5C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533" y="2154698"/>
            <a:ext cx="3381802" cy="127430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402DC30-AE97-30D0-096A-3091E7B73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0444" y="5311120"/>
            <a:ext cx="7493540" cy="113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047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8E4A59-8CF4-412C-326B-A429329DB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Padrão?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EA52F9-8539-DD25-8119-7D3088A43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99933" cy="4351338"/>
          </a:xfrm>
        </p:spPr>
        <p:txBody>
          <a:bodyPr/>
          <a:lstStyle/>
          <a:p>
            <a:r>
              <a:rPr lang="pt-BR" dirty="0"/>
              <a:t>SQL ANSI</a:t>
            </a:r>
          </a:p>
          <a:p>
            <a:pPr>
              <a:spcBef>
                <a:spcPts val="2400"/>
              </a:spcBef>
            </a:pPr>
            <a:r>
              <a:rPr lang="pt-BR" dirty="0"/>
              <a:t>Comandos básicos funcionam em qualquer SGBDR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716880D3-0712-07B9-94F7-4C564811DCA7}"/>
              </a:ext>
            </a:extLst>
          </p:cNvPr>
          <p:cNvGrpSpPr/>
          <p:nvPr/>
        </p:nvGrpSpPr>
        <p:grpSpPr>
          <a:xfrm>
            <a:off x="5205889" y="1825625"/>
            <a:ext cx="6665072" cy="4210643"/>
            <a:chOff x="5138156" y="1117600"/>
            <a:chExt cx="6665072" cy="4210643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1873F39F-D2C6-293E-4A9C-7AA48A2C67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38156" y="1117600"/>
              <a:ext cx="6665072" cy="3872089"/>
            </a:xfrm>
            <a:prstGeom prst="rect">
              <a:avLst/>
            </a:prstGeom>
          </p:spPr>
        </p:pic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AB1E8B0-C15A-4D5A-8500-B802AF87F07E}"/>
                </a:ext>
              </a:extLst>
            </p:cNvPr>
            <p:cNvSpPr txBox="1"/>
            <p:nvPr/>
          </p:nvSpPr>
          <p:spPr>
            <a:xfrm>
              <a:off x="6620726" y="4989689"/>
              <a:ext cx="369993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>
                  <a:hlinkClick r:id="rId3"/>
                </a:rPr>
                <a:t>https://www.iso.org/standard/76583.html</a:t>
              </a:r>
              <a:r>
                <a:rPr lang="pt-BR" sz="1600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23173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7FB8E-8300-F184-7AD1-99357DAA7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497316-01D9-A88F-FEF7-008383A2A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Padrão?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33142D-D849-E22D-556D-74643B530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99933" cy="4351338"/>
          </a:xfrm>
        </p:spPr>
        <p:txBody>
          <a:bodyPr/>
          <a:lstStyle/>
          <a:p>
            <a:r>
              <a:rPr lang="pt-BR" dirty="0"/>
              <a:t>SQL ANSI</a:t>
            </a:r>
          </a:p>
          <a:p>
            <a:pPr>
              <a:spcBef>
                <a:spcPts val="2400"/>
              </a:spcBef>
            </a:pPr>
            <a:r>
              <a:rPr lang="pt-BR" dirty="0"/>
              <a:t>Comandos básicos funcionam em qualquer SGBDR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780B8134-2708-273D-156E-3AE5AEB38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628" y="0"/>
            <a:ext cx="68172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8525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942F2-0CB9-8FF9-E47B-996D552D3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C4775F-3210-8B74-1778-95DF6BE4C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Padrão?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8C4B50-CDB0-6EE0-6492-8BF3319A7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99933" cy="4351338"/>
          </a:xfrm>
        </p:spPr>
        <p:txBody>
          <a:bodyPr/>
          <a:lstStyle/>
          <a:p>
            <a:r>
              <a:rPr lang="pt-BR" dirty="0"/>
              <a:t>SQL ANSI</a:t>
            </a:r>
          </a:p>
          <a:p>
            <a:pPr>
              <a:spcBef>
                <a:spcPts val="2400"/>
              </a:spcBef>
            </a:pPr>
            <a:r>
              <a:rPr lang="pt-BR" dirty="0"/>
              <a:t>Comandos básicos funcionam em qualquer SGBDR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EFCE945E-E6ED-1C96-0F7F-E4A2002EF444}"/>
              </a:ext>
            </a:extLst>
          </p:cNvPr>
          <p:cNvGrpSpPr/>
          <p:nvPr/>
        </p:nvGrpSpPr>
        <p:grpSpPr>
          <a:xfrm>
            <a:off x="4679597" y="500834"/>
            <a:ext cx="6756047" cy="6194884"/>
            <a:chOff x="4679597" y="500834"/>
            <a:chExt cx="6756047" cy="6194884"/>
          </a:xfrm>
        </p:grpSpPr>
        <p:pic>
          <p:nvPicPr>
            <p:cNvPr id="2050" name="Picture 2" descr="Desvendando a SQL – Parte 1 - DevMedia">
              <a:extLst>
                <a:ext uri="{FF2B5EF4-FFF2-40B4-BE49-F238E27FC236}">
                  <a16:creationId xmlns:a16="http://schemas.microsoft.com/office/drawing/2014/main" id="{E2498158-C3C7-DE36-D83B-447CA5515E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9597" y="500834"/>
              <a:ext cx="6756047" cy="58563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59D90061-2C31-AC98-7B8C-90F7445EBDA2}"/>
                </a:ext>
              </a:extLst>
            </p:cNvPr>
            <p:cNvSpPr txBox="1"/>
            <p:nvPr/>
          </p:nvSpPr>
          <p:spPr>
            <a:xfrm>
              <a:off x="5235398" y="6357164"/>
              <a:ext cx="564444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>
                  <a:hlinkClick r:id="rId3"/>
                </a:rPr>
                <a:t>https://www.devmedia.com.br/desvendando-a-sql-parte-1/28328</a:t>
              </a:r>
              <a:r>
                <a:rPr lang="pt-BR" sz="1600" dirty="0"/>
                <a:t> </a:t>
              </a:r>
            </a:p>
          </p:txBody>
        </p:sp>
      </p:grp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87EEA2A-E79D-BDF8-A09E-2C627219116C}"/>
              </a:ext>
            </a:extLst>
          </p:cNvPr>
          <p:cNvSpPr/>
          <p:nvPr/>
        </p:nvSpPr>
        <p:spPr>
          <a:xfrm>
            <a:off x="405431" y="4001294"/>
            <a:ext cx="3996266" cy="2552696"/>
          </a:xfrm>
          <a:prstGeom prst="roundRect">
            <a:avLst>
              <a:gd name="adj" fmla="val 11802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2400"/>
              </a:spcBef>
            </a:pPr>
            <a:r>
              <a:rPr lang="pt-BR" sz="2800"/>
              <a:t>Cada SGBDR possui dialetos próprios com extensões e funcionalidades exclusivas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9774320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BC4543-B50B-6DE2-C365-372743740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Padrão?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B97D8A-88F4-B60F-153F-ADE0D0A54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6021"/>
            <a:ext cx="10515600" cy="4351338"/>
          </a:xfrm>
        </p:spPr>
        <p:txBody>
          <a:bodyPr/>
          <a:lstStyle/>
          <a:p>
            <a:r>
              <a:rPr lang="pt-BR" dirty="0" err="1"/>
              <a:t>Ex</a:t>
            </a:r>
            <a:r>
              <a:rPr lang="pt-BR" dirty="0"/>
              <a:t>: ANSI SQL x PL/SQL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05EF015-40CA-74FC-E333-6ECD82BF1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736" y="2704711"/>
            <a:ext cx="2940528" cy="148607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31F5556-6609-8B1B-87F2-0CC1D8D5D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490" y="4881991"/>
            <a:ext cx="9220841" cy="120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058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80E7DC-3B08-F488-47B2-C50CE05C0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dados SQL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7EEA2E-8D53-6656-4AE9-16F2F22E3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Tipos de dados </a:t>
            </a:r>
            <a:r>
              <a:rPr lang="pt-BR" b="1" dirty="0"/>
              <a:t>pré-definidos</a:t>
            </a:r>
            <a:r>
              <a:rPr lang="pt-BR" dirty="0"/>
              <a:t> padrão ANSI 92:</a:t>
            </a:r>
          </a:p>
        </p:txBody>
      </p:sp>
      <p:pic>
        <p:nvPicPr>
          <p:cNvPr id="2050" name="Picture 2" descr="SQL Data Types - Dev-hwon's blog">
            <a:extLst>
              <a:ext uri="{FF2B5EF4-FFF2-40B4-BE49-F238E27FC236}">
                <a16:creationId xmlns:a16="http://schemas.microsoft.com/office/drawing/2014/main" id="{BED89BC1-B8FB-3B07-8C20-5304F931C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511" y="2416034"/>
            <a:ext cx="7540978" cy="4076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00652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D61213-CAA9-F24C-3D33-B5B5A3B4A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MySQL Data </a:t>
            </a:r>
            <a:r>
              <a:rPr lang="pt-BR" dirty="0" err="1"/>
              <a:t>Types</a:t>
            </a:r>
            <a:endParaRPr lang="pt-BR" dirty="0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24CF60D4-3F01-CCC3-0061-55A36F2C40EC}"/>
              </a:ext>
            </a:extLst>
          </p:cNvPr>
          <p:cNvGrpSpPr/>
          <p:nvPr/>
        </p:nvGrpSpPr>
        <p:grpSpPr>
          <a:xfrm>
            <a:off x="2779963" y="1347135"/>
            <a:ext cx="6632074" cy="5428684"/>
            <a:chOff x="2148132" y="1229150"/>
            <a:chExt cx="6632074" cy="5428684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7D54D652-416D-B745-32DB-4A894DAB6B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48132" y="1229150"/>
              <a:ext cx="6632074" cy="3715214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88A85B9D-6174-9285-AEE0-528B8743DA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07124" y="4944364"/>
              <a:ext cx="6346939" cy="17134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03405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D61213-CAA9-F24C-3D33-B5B5A3B4A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MySQL Data </a:t>
            </a:r>
            <a:r>
              <a:rPr lang="pt-BR" dirty="0" err="1"/>
              <a:t>Types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CD90942-C91D-B395-A739-735E326ED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3727"/>
            <a:ext cx="6291936" cy="341747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8480320-C167-4184-4EA3-0AE7E2A58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471" y="2747857"/>
            <a:ext cx="5694154" cy="287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4027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D61213-CAA9-F24C-3D33-B5B5A3B4A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MySQL Data </a:t>
            </a:r>
            <a:r>
              <a:rPr lang="pt-BR" dirty="0" err="1"/>
              <a:t>Types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CCBB34F-C776-84E7-987A-38A36D72F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593" y="2062539"/>
            <a:ext cx="8582813" cy="417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299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89672A-092A-81F6-61BF-FABB01D37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Categorias de comandos SQL</a:t>
            </a:r>
          </a:p>
        </p:txBody>
      </p:sp>
      <p:pic>
        <p:nvPicPr>
          <p:cNvPr id="1026" name="Picture 2" descr="sql commands categories">
            <a:extLst>
              <a:ext uri="{FF2B5EF4-FFF2-40B4-BE49-F238E27FC236}">
                <a16:creationId xmlns:a16="http://schemas.microsoft.com/office/drawing/2014/main" id="{B8A77404-8B0F-D35D-330E-253532C92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088" y="1639069"/>
            <a:ext cx="6135789" cy="5150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54594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822222-ABE7-B626-DF41-809809F62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DDL (</a:t>
            </a:r>
            <a:r>
              <a:rPr lang="pt-BR" i="1" dirty="0"/>
              <a:t>Data </a:t>
            </a:r>
            <a:r>
              <a:rPr lang="pt-BR" i="1" dirty="0" err="1"/>
              <a:t>Definition</a:t>
            </a:r>
            <a:r>
              <a:rPr lang="pt-BR" i="1" dirty="0"/>
              <a:t> </a:t>
            </a:r>
            <a:r>
              <a:rPr lang="pt-BR" i="1" dirty="0" err="1"/>
              <a:t>Language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5D4DC0-9B9C-715E-FC87-A91EBB2FE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360174" cy="4351338"/>
          </a:xfrm>
        </p:spPr>
        <p:txBody>
          <a:bodyPr/>
          <a:lstStyle/>
          <a:p>
            <a:pPr>
              <a:spcBef>
                <a:spcPts val="2400"/>
              </a:spcBef>
            </a:pPr>
            <a:r>
              <a:rPr lang="pt-BR" dirty="0"/>
              <a:t>Definição de schema da base de dados</a:t>
            </a:r>
          </a:p>
          <a:p>
            <a:pPr>
              <a:spcBef>
                <a:spcPts val="2400"/>
              </a:spcBef>
            </a:pPr>
            <a:r>
              <a:rPr lang="pt-BR" dirty="0"/>
              <a:t>Descrição usada para criar ou modificar a estrutura dos objetos da base de dados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0F32D98-6083-5AA0-FF6F-220EB7251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613" y="1594280"/>
            <a:ext cx="7359006" cy="502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2425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7A5A73-4CDB-E27D-14D2-D68AD9330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DML (</a:t>
            </a:r>
            <a:r>
              <a:rPr lang="pt-BR" i="1" dirty="0"/>
              <a:t>Data </a:t>
            </a:r>
            <a:r>
              <a:rPr lang="pt-BR" i="1" dirty="0" err="1"/>
              <a:t>Manipulation</a:t>
            </a:r>
            <a:r>
              <a:rPr lang="pt-BR" i="1" dirty="0"/>
              <a:t> </a:t>
            </a:r>
            <a:r>
              <a:rPr lang="pt-BR" i="1" dirty="0" err="1"/>
              <a:t>Language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06DF17-081A-8849-4AC0-4A36693C2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08289" cy="4351338"/>
          </a:xfrm>
        </p:spPr>
        <p:txBody>
          <a:bodyPr/>
          <a:lstStyle/>
          <a:p>
            <a:r>
              <a:rPr lang="pt-BR" dirty="0"/>
              <a:t>Manipulação de dados presentes nas tabelas do banco de dados (maioria de comandos SQL);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33479BD-D07D-9D09-C192-43CF9C6CA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489" y="1928523"/>
            <a:ext cx="7145511" cy="445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2067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62EC48-29B1-0C82-2303-F31682B87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DQL (</a:t>
            </a:r>
            <a:r>
              <a:rPr lang="pt-BR" i="1" dirty="0"/>
              <a:t>Data Query </a:t>
            </a:r>
            <a:r>
              <a:rPr lang="pt-BR" i="1" dirty="0" err="1"/>
              <a:t>Language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8F86C4-BE0D-B343-77C2-C25E29169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Fazer consultas nos dados sobre os objetos de esquemas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782030A-7AE8-358D-00DF-657F61D28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263" y="3169388"/>
            <a:ext cx="10174120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1417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896DF-27D1-5E2A-9C10-D3D95F7D7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DQL (</a:t>
            </a:r>
            <a:r>
              <a:rPr lang="pt-BR" i="1" dirty="0"/>
              <a:t>Data Query </a:t>
            </a:r>
            <a:r>
              <a:rPr lang="pt-BR" i="1" dirty="0" err="1"/>
              <a:t>Language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10854C-6FCE-0E29-70B4-A654419BE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BB5D780-CDDE-7BD1-0F31-CACBF0D4C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204" y="1690688"/>
            <a:ext cx="8897592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8913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D5CF4C-0B6F-0F84-FEF6-F2578D42A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DCL (</a:t>
            </a:r>
            <a:r>
              <a:rPr lang="pt-BR" i="1" dirty="0"/>
              <a:t>Data </a:t>
            </a:r>
            <a:r>
              <a:rPr lang="pt-BR" i="1" dirty="0" err="1"/>
              <a:t>Control</a:t>
            </a:r>
            <a:r>
              <a:rPr lang="pt-BR" i="1" dirty="0"/>
              <a:t> </a:t>
            </a:r>
            <a:r>
              <a:rPr lang="pt-BR" i="1" dirty="0" err="1"/>
              <a:t>Language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365F21-1B8B-D71B-C493-84EBC7204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Comandos para atribuir ou revogar permissões a usuários específicos ou grupos de usuários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D8B8819-EAD9-9E9D-A7B3-8DCCB2D1D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345" y="3050304"/>
            <a:ext cx="7611310" cy="276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2315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CB2324-2C18-811C-2615-3C96D3435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TCL (</a:t>
            </a:r>
            <a:r>
              <a:rPr lang="pt-BR" i="1" dirty="0" err="1"/>
              <a:t>Transaction</a:t>
            </a:r>
            <a:r>
              <a:rPr lang="pt-BR" i="1" dirty="0"/>
              <a:t> </a:t>
            </a:r>
            <a:r>
              <a:rPr lang="pt-BR" i="1" dirty="0" err="1"/>
              <a:t>Control</a:t>
            </a:r>
            <a:r>
              <a:rPr lang="pt-BR" i="1" dirty="0"/>
              <a:t> </a:t>
            </a:r>
            <a:r>
              <a:rPr lang="pt-BR" i="1" dirty="0" err="1"/>
              <a:t>Language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D911DE-02DE-2CD1-3632-F1949E599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53232" cy="4351338"/>
          </a:xfrm>
        </p:spPr>
        <p:txBody>
          <a:bodyPr>
            <a:normAutofit lnSpcReduction="10000"/>
          </a:bodyPr>
          <a:lstStyle/>
          <a:p>
            <a:r>
              <a:rPr lang="pt-BR" dirty="0"/>
              <a:t>Agrupa conjunto de tarefas em uma única execução</a:t>
            </a:r>
          </a:p>
          <a:p>
            <a:pPr>
              <a:spcBef>
                <a:spcPts val="2400"/>
              </a:spcBef>
            </a:pPr>
            <a:r>
              <a:rPr lang="pt-BR" dirty="0"/>
              <a:t>Cada transação se inicia com uma tarefa específica e se completa quanto todas  as tarefas do grupo estão completas com sucesso;</a:t>
            </a:r>
          </a:p>
          <a:p>
            <a:pPr>
              <a:spcBef>
                <a:spcPts val="2400"/>
              </a:spcBef>
            </a:pPr>
            <a:r>
              <a:rPr lang="pt-BR" dirty="0"/>
              <a:t>Se alguma das tarefas falhar, a unidade toda falha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63A1229-3BAD-BCB4-85C2-A2F40FB86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997" y="2234129"/>
            <a:ext cx="6218074" cy="290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0952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49374-DB68-F7FA-399A-E43454C2F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89701A-820E-50B7-EE84-8DFC6C1C8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SQL Básico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Conceitos básicos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MySQL + IDE Workbench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Linguagem SQL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Comandos DDL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D5E683-6DCE-04DA-AE67-25703F37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3D09C87-EBFF-0F50-10C8-71EFF84B7864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89384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383FF-B47D-79DB-352C-252D3CD2A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D5F4EA-7E2C-8118-8933-7D9E32481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Categorias de comandos SQL</a:t>
            </a:r>
          </a:p>
        </p:txBody>
      </p:sp>
      <p:pic>
        <p:nvPicPr>
          <p:cNvPr id="1026" name="Picture 2" descr="sql commands categories">
            <a:extLst>
              <a:ext uri="{FF2B5EF4-FFF2-40B4-BE49-F238E27FC236}">
                <a16:creationId xmlns:a16="http://schemas.microsoft.com/office/drawing/2014/main" id="{8FC26025-D04E-2ABD-C24C-1F765ED11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088" y="1639069"/>
            <a:ext cx="6135789" cy="5150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233728C-E7CD-6EE2-51DA-DAEFC8F0AC40}"/>
              </a:ext>
            </a:extLst>
          </p:cNvPr>
          <p:cNvSpPr/>
          <p:nvPr/>
        </p:nvSpPr>
        <p:spPr>
          <a:xfrm>
            <a:off x="3104444" y="2415822"/>
            <a:ext cx="1219200" cy="30254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68131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1CB36E-3772-09F0-9C05-F18C5619A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 DDL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434729-E793-D90F-D8CC-0AA986E0E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Descrevem estruturas dos dados e seus recursos de apoio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9D2EAA3-70AF-74DD-1AAA-88300B900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848" y="2491842"/>
            <a:ext cx="6506483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7335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2D949-7CED-D281-ADFB-E5FE42982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 DDL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740BF2-0141-79AE-D07A-A95C749FE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Primeiramente, criar um esquema para o banco de dados de sua aplicação</a:t>
            </a:r>
          </a:p>
          <a:p>
            <a:endParaRPr lang="pt-BR" sz="1000" dirty="0"/>
          </a:p>
          <a:p>
            <a:pPr marL="457200" lvl="1" indent="0">
              <a:buNone/>
            </a:pPr>
            <a:r>
              <a:rPr lang="pt-BR" b="1" dirty="0">
                <a:solidFill>
                  <a:schemeClr val="accent1"/>
                </a:solidFill>
              </a:rPr>
              <a:t>CREATE SCHEMA </a:t>
            </a:r>
            <a:r>
              <a:rPr lang="pt-BR" i="1" dirty="0" err="1"/>
              <a:t>xyz</a:t>
            </a:r>
            <a:r>
              <a:rPr lang="pt-BR" dirty="0"/>
              <a:t>;</a:t>
            </a:r>
          </a:p>
          <a:p>
            <a:pPr lvl="1"/>
            <a:endParaRPr lang="pt-BR" dirty="0"/>
          </a:p>
          <a:p>
            <a:r>
              <a:rPr lang="pt-BR" dirty="0"/>
              <a:t>Depois de criado, o próximo passo deve ser entrar no contexto do esquema criado</a:t>
            </a:r>
          </a:p>
          <a:p>
            <a:pPr lvl="1"/>
            <a:endParaRPr lang="pt-BR" sz="1000" dirty="0"/>
          </a:p>
          <a:p>
            <a:pPr marL="457200" lvl="1" indent="0">
              <a:buNone/>
            </a:pPr>
            <a:r>
              <a:rPr lang="pt-BR" b="1" dirty="0">
                <a:solidFill>
                  <a:schemeClr val="accent1"/>
                </a:solidFill>
              </a:rPr>
              <a:t>USE</a:t>
            </a:r>
            <a:r>
              <a:rPr lang="pt-BR" dirty="0"/>
              <a:t> </a:t>
            </a:r>
            <a:r>
              <a:rPr lang="pt-BR" i="1" dirty="0" err="1"/>
              <a:t>xyz</a:t>
            </a:r>
            <a:r>
              <a:rPr lang="pt-BR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8418127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234CAF-7401-83E2-AB3D-580730284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 DDL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BAE342-D7ED-A0E7-8AAC-3D7CFBE8B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1"/>
                </a:solidFill>
              </a:rPr>
              <a:t>CREATE TABLE </a:t>
            </a:r>
            <a:r>
              <a:rPr lang="pt-BR" dirty="0"/>
              <a:t>– cria uma tabela, define colunas e restrições</a:t>
            </a:r>
          </a:p>
          <a:p>
            <a:pPr lvl="1"/>
            <a:r>
              <a:rPr lang="pt-BR" dirty="0"/>
              <a:t>Restrições de colunas</a:t>
            </a:r>
          </a:p>
          <a:p>
            <a:pPr lvl="1"/>
            <a:r>
              <a:rPr lang="pt-BR" dirty="0"/>
              <a:t>Restrições de tabelas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049159F-287A-97E8-8BE7-5D1AFA45B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90" y="3473356"/>
            <a:ext cx="7668695" cy="299126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E297CAE-4F56-6AA9-894A-E9ED20144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2559" y="4001294"/>
            <a:ext cx="2972215" cy="16575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9560497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C4675-AB49-340B-1CD1-94A1973FE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F75AB1-699A-8505-4B9F-E213310E7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 DDL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F58E6C-7AE8-9FA5-7DA1-86E39BE41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03844" cy="4351338"/>
          </a:xfrm>
        </p:spPr>
        <p:txBody>
          <a:bodyPr/>
          <a:lstStyle/>
          <a:p>
            <a:r>
              <a:rPr lang="pt-BR" b="1" dirty="0">
                <a:solidFill>
                  <a:schemeClr val="accent1"/>
                </a:solidFill>
              </a:rPr>
              <a:t>CREATE TABLE </a:t>
            </a:r>
            <a:r>
              <a:rPr lang="pt-BR" dirty="0"/>
              <a:t>com restrições de colunas (</a:t>
            </a:r>
            <a:r>
              <a:rPr lang="pt-BR" i="1" dirty="0"/>
              <a:t>CONSTRAINT)</a:t>
            </a:r>
            <a:endParaRPr lang="pt-BR" dirty="0"/>
          </a:p>
          <a:p>
            <a:pPr lvl="1"/>
            <a:r>
              <a:rPr lang="pt-BR" i="1" dirty="0"/>
              <a:t>PRIMARY KEY, UNIQUE, FOREIGN KEY, CHECK, AUTO_INCREMENT, NOT NULL, DEFAULT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1BCE430-36E4-AE8C-1436-9632BC291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186" y="3512616"/>
            <a:ext cx="7611537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7757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6D2D2-2D99-7F9F-6F77-9093DDD0E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C1AE64-D277-4CE5-8F38-E2A5B6EE3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 DDL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72D963-D217-CEE3-B670-973CA8B3B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1"/>
                </a:solidFill>
              </a:rPr>
              <a:t>CREATE TABLE </a:t>
            </a:r>
            <a:r>
              <a:rPr lang="pt-BR" dirty="0"/>
              <a:t>com restrições de tabelas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4D5DEE4-D120-B9E1-CD90-7140D1067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249" y="2485415"/>
            <a:ext cx="7783011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0383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3D3F5-CA83-1805-67B0-FF6BDE72B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DECCE-D565-3472-5C1C-0656FEC2E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 DDL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AE90E7-5B36-242C-E838-6EE486451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B1DE5D5-6D48-B73D-40F7-56A9497E6A83}"/>
              </a:ext>
            </a:extLst>
          </p:cNvPr>
          <p:cNvSpPr txBox="1"/>
          <p:nvPr/>
        </p:nvSpPr>
        <p:spPr>
          <a:xfrm>
            <a:off x="2788355" y="2422089"/>
            <a:ext cx="6570134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 TABLE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DISCIPLINA (</a:t>
            </a:r>
            <a:endParaRPr lang="pt-BR" b="0" dirty="0">
              <a:effectLst/>
            </a:endParaRPr>
          </a:p>
          <a:p>
            <a:pPr lvl="1"/>
            <a:r>
              <a:rPr lang="pt-BR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SIGLA </a:t>
            </a:r>
            <a:r>
              <a:rPr lang="pt-BR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CHAR(6) NOT NULL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pt-BR" b="0" dirty="0">
              <a:effectLst/>
            </a:endParaRPr>
          </a:p>
          <a:p>
            <a:pPr lvl="1"/>
            <a:r>
              <a:rPr lang="pt-BR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NOME </a:t>
            </a:r>
            <a:r>
              <a:rPr lang="pt-BR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VARCHAR2(30) NOT NULL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pt-BR" b="0" dirty="0">
              <a:effectLst/>
            </a:endParaRPr>
          </a:p>
          <a:p>
            <a:pPr lvl="1"/>
            <a:r>
              <a:rPr lang="pt-BR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NCRED </a:t>
            </a:r>
            <a:r>
              <a:rPr lang="pt-BR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pt-BR" sz="2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pt-BR" b="0" dirty="0">
              <a:effectLst/>
            </a:endParaRPr>
          </a:p>
          <a:p>
            <a:pPr lvl="1"/>
            <a:r>
              <a:rPr lang="pt-BR" b="0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PROF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pt-BR" sz="2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pt-BR" b="0" dirty="0">
              <a:effectLst/>
            </a:endParaRPr>
          </a:p>
          <a:p>
            <a:pPr lvl="1"/>
            <a:r>
              <a:rPr lang="pt-BR" b="1" i="0" u="none" strike="noStrike" dirty="0">
                <a:solidFill>
                  <a:srgbClr val="296C7D"/>
                </a:solidFill>
                <a:effectLst/>
                <a:latin typeface="Consolas" panose="020B0609020204030204" pitchFamily="49" charset="0"/>
              </a:rPr>
              <a:t>CONSTRAINT</a:t>
            </a:r>
            <a:r>
              <a:rPr lang="pt-BR" b="0" i="0" u="none" strike="noStrike" dirty="0">
                <a:solidFill>
                  <a:srgbClr val="296C7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PK_DISCIPLINA </a:t>
            </a:r>
            <a:r>
              <a:rPr lang="pt-BR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PRIMARY KEY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(SIGLA),</a:t>
            </a:r>
            <a:endParaRPr lang="pt-BR" b="0" dirty="0">
              <a:effectLst/>
            </a:endParaRPr>
          </a:p>
          <a:p>
            <a:pPr lvl="1"/>
            <a:r>
              <a:rPr lang="pt-BR" b="1" i="0" u="none" strike="noStrike" dirty="0">
                <a:solidFill>
                  <a:srgbClr val="296C7D"/>
                </a:solidFill>
                <a:effectLst/>
                <a:latin typeface="Consolas" panose="020B0609020204030204" pitchFamily="49" charset="0"/>
              </a:rPr>
              <a:t>CONSTRAINT</a:t>
            </a:r>
            <a:r>
              <a:rPr lang="pt-BR" b="0" i="0" u="none" strike="noStrike" dirty="0">
                <a:solidFill>
                  <a:srgbClr val="296C7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FK_DISCIPLINA </a:t>
            </a:r>
            <a:r>
              <a:rPr lang="pt-BR" b="1" i="0" u="none" strike="noStrike" dirty="0">
                <a:solidFill>
                  <a:srgbClr val="3366FF"/>
                </a:solidFill>
                <a:effectLst/>
                <a:latin typeface="Consolas" panose="020B0609020204030204" pitchFamily="49" charset="0"/>
              </a:rPr>
              <a:t>FOREIGN KEY 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PROF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endParaRPr lang="pt-BR" b="0" dirty="0">
              <a:effectLst/>
            </a:endParaRPr>
          </a:p>
          <a:p>
            <a:pPr lvl="1"/>
            <a:r>
              <a:rPr lang="pt-BR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       </a:t>
            </a:r>
            <a:r>
              <a:rPr lang="pt-BR" b="1" i="0" u="none" strike="noStrike" dirty="0">
                <a:solidFill>
                  <a:srgbClr val="3366FF"/>
                </a:solidFill>
                <a:effectLst/>
                <a:latin typeface="Consolas" panose="020B0609020204030204" pitchFamily="49" charset="0"/>
              </a:rPr>
              <a:t>REFERENCES</a:t>
            </a:r>
            <a:r>
              <a:rPr lang="pt-BR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PROFESSOR(NFUNC) </a:t>
            </a:r>
            <a:endParaRPr lang="pt-BR" b="0" dirty="0">
              <a:effectLst/>
            </a:endParaRPr>
          </a:p>
          <a:p>
            <a:pPr lvl="1"/>
            <a:r>
              <a:rPr lang="pt-BR" b="1" i="0" u="none" strike="noStrike" dirty="0">
                <a:solidFill>
                  <a:srgbClr val="3366FF"/>
                </a:solidFill>
                <a:effectLst/>
                <a:latin typeface="Consolas" panose="020B0609020204030204" pitchFamily="49" charset="0"/>
              </a:rPr>
              <a:t>                   ON DELETE SET NULL</a:t>
            </a:r>
            <a:r>
              <a:rPr lang="pt-BR" b="0" i="0" u="none" strike="noStrike" dirty="0">
                <a:solidFill>
                  <a:srgbClr val="3366FF"/>
                </a:solidFill>
                <a:effectLst/>
                <a:latin typeface="Consolas" panose="020B0609020204030204" pitchFamily="49" charset="0"/>
              </a:rPr>
              <a:t>, </a:t>
            </a:r>
            <a:endParaRPr lang="pt-BR" b="0" dirty="0">
              <a:effectLst/>
            </a:endParaRPr>
          </a:p>
          <a:p>
            <a:pPr lvl="1"/>
            <a:r>
              <a:rPr lang="pt-BR" b="1" i="0" u="none" strike="noStrike" dirty="0">
                <a:solidFill>
                  <a:srgbClr val="296C7D"/>
                </a:solidFill>
                <a:effectLst/>
                <a:latin typeface="Consolas" panose="020B0609020204030204" pitchFamily="49" charset="0"/>
              </a:rPr>
              <a:t>CONSTRAINT</a:t>
            </a:r>
            <a:r>
              <a:rPr lang="pt-BR" b="0" i="0" u="none" strike="noStrike" dirty="0">
                <a:solidFill>
                  <a:srgbClr val="296C7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CK_NCREDITOS</a:t>
            </a:r>
            <a:r>
              <a:rPr lang="pt-BR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CHECK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(NCRED &gt; 0) 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pt-BR" b="0" dirty="0">
              <a:effectLst/>
            </a:endParaRPr>
          </a:p>
          <a:p>
            <a:br>
              <a:rPr lang="pt-BR" dirty="0"/>
            </a:br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92084B3-4DEB-DACE-6456-0EBBEE012B8F}"/>
              </a:ext>
            </a:extLst>
          </p:cNvPr>
          <p:cNvSpPr/>
          <p:nvPr/>
        </p:nvSpPr>
        <p:spPr>
          <a:xfrm>
            <a:off x="4617156" y="3837604"/>
            <a:ext cx="1761066" cy="3731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9C2BB23-E9EC-BBEC-4F6F-FEC38AB32C5D}"/>
              </a:ext>
            </a:extLst>
          </p:cNvPr>
          <p:cNvSpPr/>
          <p:nvPr/>
        </p:nvSpPr>
        <p:spPr>
          <a:xfrm>
            <a:off x="6378222" y="3843248"/>
            <a:ext cx="1524000" cy="3731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6D55D7B-CCA8-9E6C-E0E6-74DD443E4D40}"/>
              </a:ext>
            </a:extLst>
          </p:cNvPr>
          <p:cNvSpPr/>
          <p:nvPr/>
        </p:nvSpPr>
        <p:spPr>
          <a:xfrm>
            <a:off x="7902222" y="3837603"/>
            <a:ext cx="1016000" cy="3731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72C0021-050A-C57E-A1A5-50FEEFDF3BB6}"/>
              </a:ext>
            </a:extLst>
          </p:cNvPr>
          <p:cNvSpPr/>
          <p:nvPr/>
        </p:nvSpPr>
        <p:spPr>
          <a:xfrm>
            <a:off x="4622801" y="4210755"/>
            <a:ext cx="1761066" cy="2370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701CDE0-A2D8-91A2-1CC6-BA09A33058F2}"/>
              </a:ext>
            </a:extLst>
          </p:cNvPr>
          <p:cNvSpPr/>
          <p:nvPr/>
        </p:nvSpPr>
        <p:spPr>
          <a:xfrm>
            <a:off x="4617156" y="5027353"/>
            <a:ext cx="1687687" cy="2352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8EE2390-8F90-4F1B-2722-6B232DE66113}"/>
              </a:ext>
            </a:extLst>
          </p:cNvPr>
          <p:cNvSpPr/>
          <p:nvPr/>
        </p:nvSpPr>
        <p:spPr>
          <a:xfrm>
            <a:off x="3397956" y="5722585"/>
            <a:ext cx="1761066" cy="9144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b="1" dirty="0"/>
              <a:t>Nomes das restrições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C0475381-176B-E0BA-0C08-9584811D7101}"/>
              </a:ext>
            </a:extLst>
          </p:cNvPr>
          <p:cNvCxnSpPr>
            <a:cxnSpLocks/>
            <a:stCxn id="12" idx="0"/>
            <a:endCxn id="10" idx="2"/>
          </p:cNvCxnSpPr>
          <p:nvPr/>
        </p:nvCxnSpPr>
        <p:spPr>
          <a:xfrm flipV="1">
            <a:off x="4278489" y="5262562"/>
            <a:ext cx="1182511" cy="4600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956334B1-F37D-9304-74D8-1860309A33C2}"/>
              </a:ext>
            </a:extLst>
          </p:cNvPr>
          <p:cNvCxnSpPr>
            <a:cxnSpLocks/>
            <a:stCxn id="12" idx="0"/>
            <a:endCxn id="9" idx="2"/>
          </p:cNvCxnSpPr>
          <p:nvPr/>
        </p:nvCxnSpPr>
        <p:spPr>
          <a:xfrm flipV="1">
            <a:off x="4278489" y="4447823"/>
            <a:ext cx="1224845" cy="12747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B97081AD-5734-E7F9-1D06-84B84A96C500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4278489" y="4176408"/>
            <a:ext cx="1185333" cy="15461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Retângulo 20">
            <a:extLst>
              <a:ext uri="{FF2B5EF4-FFF2-40B4-BE49-F238E27FC236}">
                <a16:creationId xmlns:a16="http://schemas.microsoft.com/office/drawing/2014/main" id="{1DAE492C-761A-BEA8-B24A-74D9052F5FA0}"/>
              </a:ext>
            </a:extLst>
          </p:cNvPr>
          <p:cNvSpPr/>
          <p:nvPr/>
        </p:nvSpPr>
        <p:spPr>
          <a:xfrm>
            <a:off x="6395156" y="4222043"/>
            <a:ext cx="1524000" cy="2370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CF63DE9B-B12D-A4F0-52C0-0F7DA8307428}"/>
              </a:ext>
            </a:extLst>
          </p:cNvPr>
          <p:cNvSpPr/>
          <p:nvPr/>
        </p:nvSpPr>
        <p:spPr>
          <a:xfrm>
            <a:off x="6304843" y="5026824"/>
            <a:ext cx="784579" cy="2352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2BD90EAE-8128-96BE-E69A-047FD4FD3A6D}"/>
              </a:ext>
            </a:extLst>
          </p:cNvPr>
          <p:cNvSpPr/>
          <p:nvPr/>
        </p:nvSpPr>
        <p:spPr>
          <a:xfrm>
            <a:off x="5957712" y="5731052"/>
            <a:ext cx="1761066" cy="9144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b="1" dirty="0"/>
              <a:t>Tipos das restrições</a:t>
            </a:r>
          </a:p>
        </p:txBody>
      </p: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41DA8262-3252-794C-4C31-F5877333786B}"/>
              </a:ext>
            </a:extLst>
          </p:cNvPr>
          <p:cNvCxnSpPr>
            <a:cxnSpLocks/>
            <a:stCxn id="25" idx="0"/>
            <a:endCxn id="22" idx="2"/>
          </p:cNvCxnSpPr>
          <p:nvPr/>
        </p:nvCxnSpPr>
        <p:spPr>
          <a:xfrm flipH="1" flipV="1">
            <a:off x="6697133" y="5262033"/>
            <a:ext cx="141112" cy="4690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AAFF862F-6A8B-326F-07B3-2554FC0D020D}"/>
              </a:ext>
            </a:extLst>
          </p:cNvPr>
          <p:cNvCxnSpPr>
            <a:cxnSpLocks/>
            <a:stCxn id="25" idx="0"/>
            <a:endCxn id="21" idx="2"/>
          </p:cNvCxnSpPr>
          <p:nvPr/>
        </p:nvCxnSpPr>
        <p:spPr>
          <a:xfrm flipV="1">
            <a:off x="6838245" y="4459111"/>
            <a:ext cx="318911" cy="12719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E4A81BB6-B97C-1AE2-22E9-F00B7211B972}"/>
              </a:ext>
            </a:extLst>
          </p:cNvPr>
          <p:cNvCxnSpPr>
            <a:cxnSpLocks/>
            <a:stCxn id="25" idx="0"/>
            <a:endCxn id="21" idx="0"/>
          </p:cNvCxnSpPr>
          <p:nvPr/>
        </p:nvCxnSpPr>
        <p:spPr>
          <a:xfrm flipV="1">
            <a:off x="6838245" y="4222043"/>
            <a:ext cx="318911" cy="15090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Retângulo 35">
            <a:extLst>
              <a:ext uri="{FF2B5EF4-FFF2-40B4-BE49-F238E27FC236}">
                <a16:creationId xmlns:a16="http://schemas.microsoft.com/office/drawing/2014/main" id="{19DA4C1D-804F-56EE-3397-8EFB5FC715E0}"/>
              </a:ext>
            </a:extLst>
          </p:cNvPr>
          <p:cNvSpPr/>
          <p:nvPr/>
        </p:nvSpPr>
        <p:spPr>
          <a:xfrm>
            <a:off x="9145412" y="5397500"/>
            <a:ext cx="1761066" cy="9144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b="1" dirty="0"/>
              <a:t>Alvo das restrições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5C184CDA-76E1-AB53-877E-DC47CE491EDE}"/>
              </a:ext>
            </a:extLst>
          </p:cNvPr>
          <p:cNvSpPr/>
          <p:nvPr/>
        </p:nvSpPr>
        <p:spPr>
          <a:xfrm>
            <a:off x="7944558" y="4176408"/>
            <a:ext cx="1016000" cy="2827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05FA05E9-0632-62F8-6012-5BB2E98D1B15}"/>
              </a:ext>
            </a:extLst>
          </p:cNvPr>
          <p:cNvSpPr/>
          <p:nvPr/>
        </p:nvSpPr>
        <p:spPr>
          <a:xfrm>
            <a:off x="7104239" y="5003076"/>
            <a:ext cx="1387828" cy="2820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7B7377F7-BC84-238D-4F4B-CCC155A3D01F}"/>
              </a:ext>
            </a:extLst>
          </p:cNvPr>
          <p:cNvCxnSpPr>
            <a:cxnSpLocks/>
            <a:stCxn id="36" idx="0"/>
            <a:endCxn id="38" idx="3"/>
          </p:cNvCxnSpPr>
          <p:nvPr/>
        </p:nvCxnSpPr>
        <p:spPr>
          <a:xfrm flipH="1" flipV="1">
            <a:off x="8492067" y="5144109"/>
            <a:ext cx="1533878" cy="2533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7C833CBC-9A13-DDF2-7152-21AEA14E6451}"/>
              </a:ext>
            </a:extLst>
          </p:cNvPr>
          <p:cNvCxnSpPr>
            <a:cxnSpLocks/>
            <a:stCxn id="36" idx="0"/>
            <a:endCxn id="37" idx="3"/>
          </p:cNvCxnSpPr>
          <p:nvPr/>
        </p:nvCxnSpPr>
        <p:spPr>
          <a:xfrm flipH="1" flipV="1">
            <a:off x="8960558" y="4317760"/>
            <a:ext cx="1065387" cy="10797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EE57E697-1855-0DAF-294C-390E82F34C2C}"/>
              </a:ext>
            </a:extLst>
          </p:cNvPr>
          <p:cNvCxnSpPr>
            <a:cxnSpLocks/>
            <a:stCxn id="36" idx="0"/>
          </p:cNvCxnSpPr>
          <p:nvPr/>
        </p:nvCxnSpPr>
        <p:spPr>
          <a:xfrm flipH="1" flipV="1">
            <a:off x="8951384" y="4024178"/>
            <a:ext cx="1074561" cy="13733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1654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21" grpId="0" animBg="1"/>
      <p:bldP spid="22" grpId="0" animBg="1"/>
      <p:bldP spid="25" grpId="0" animBg="1"/>
      <p:bldP spid="36" grpId="0" animBg="1"/>
      <p:bldP spid="37" grpId="0" animBg="1"/>
      <p:bldP spid="3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2AC7F-2AD9-8B51-DEDC-04014817B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4DA1D9-AEEC-F218-AE4E-8D7F9F73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 DDL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310E6A-96B0-8735-0797-C0FCF0AF0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1"/>
                </a:solidFill>
              </a:rPr>
              <a:t>ALTER TABLE </a:t>
            </a:r>
            <a:r>
              <a:rPr lang="pt-BR" dirty="0"/>
              <a:t>– incluir/remover/modificar definições de colunas e restrições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4A123D6-AC17-6346-A11E-6195B232E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653" y="3111053"/>
            <a:ext cx="6944694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9925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35851-121F-7351-0FF8-30B916624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E3BAC4-F8D1-0487-6F4D-CECD4260F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 DDL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DCEDAC-B286-4840-501C-EF6B3F3E6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1"/>
                </a:solidFill>
              </a:rPr>
              <a:t>DROP TABLE </a:t>
            </a:r>
            <a:r>
              <a:rPr lang="pt-BR" dirty="0"/>
              <a:t>–remover tabela do esquema do banco de dados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92FC1B2-DED9-B07F-08FB-DD4C9289E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97" y="3009842"/>
            <a:ext cx="7182852" cy="41915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0F07C0D4-7F55-E7CD-7E0E-0BEFD60785A0}"/>
              </a:ext>
            </a:extLst>
          </p:cNvPr>
          <p:cNvSpPr txBox="1"/>
          <p:nvPr/>
        </p:nvSpPr>
        <p:spPr>
          <a:xfrm>
            <a:off x="1377244" y="4001294"/>
            <a:ext cx="9855200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1200"/>
              </a:spcBef>
            </a:pP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CASCADE: 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todas as visões e restrições que referenciam a tabela são removidas automaticamente</a:t>
            </a:r>
            <a:endParaRPr lang="pt-BR" sz="2400" b="1" i="0" u="none" strike="noStrike" dirty="0">
              <a:solidFill>
                <a:srgbClr val="3891A7"/>
              </a:solidFill>
              <a:effectLst/>
              <a:latin typeface="Noto Sans Symbols"/>
            </a:endParaRPr>
          </a:p>
          <a:p>
            <a:pPr>
              <a:spcBef>
                <a:spcPts val="1800"/>
              </a:spcBef>
            </a:pP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RESTRICT: 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 tabela é removida somente se não for referenciada em nenhuma restrição ou visão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7687643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BABE77-6B9F-477A-638D-66CAC4B17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 DDL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EB691F-A563-7814-FBCE-9FFB72249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1"/>
                </a:solidFill>
              </a:rPr>
              <a:t>TRUNCATE</a:t>
            </a:r>
            <a:r>
              <a:rPr lang="pt-BR" dirty="0"/>
              <a:t> –  é uma instrução SQL usada para remover rapidamente todas as linhas de uma tabela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08B90F1-9F2C-F1C7-C46D-B2D04D80E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278" y="3429000"/>
            <a:ext cx="4964730" cy="67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3947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46E02F-6C09-7A9D-7FCD-960917F28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C4955DB-73A7-1CCD-E562-575603157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29" y="1825625"/>
            <a:ext cx="5831012" cy="435133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DD80EA7-665E-3D55-2E7C-7C29BE146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6899" y="0"/>
            <a:ext cx="4486901" cy="682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1900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D4A904-54E8-5FE8-8976-BAA043752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Componentes de um SGBDR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94CE07-36A9-A455-2FF4-880D8D29F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Componentes funcionais do </a:t>
            </a:r>
            <a:r>
              <a:rPr lang="pt-BR" dirty="0" err="1"/>
              <a:t>SGBDRs</a:t>
            </a:r>
            <a:endParaRPr lang="pt-BR" dirty="0"/>
          </a:p>
          <a:p>
            <a:pPr lvl="1"/>
            <a:r>
              <a:rPr lang="pt-BR" dirty="0"/>
              <a:t>Processamento de consultas</a:t>
            </a:r>
          </a:p>
          <a:p>
            <a:pPr lvl="1"/>
            <a:r>
              <a:rPr lang="pt-BR" dirty="0"/>
              <a:t>Gerenciamento de armazenamento</a:t>
            </a:r>
            <a:r>
              <a:rPr lang="pt-BR" b="0" dirty="0">
                <a:effectLst/>
              </a:rPr>
              <a:t> </a:t>
            </a:r>
            <a:endParaRPr lang="pt-B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8F52CFC-1FB7-A2DE-B78F-EEA47D395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889" y="1825625"/>
            <a:ext cx="2304742" cy="2054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2F8D5D6-0BA1-5FEA-4406-B3B026C48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9091" y="1825625"/>
            <a:ext cx="6868484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8680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5F1476-A3C1-5497-2D1F-CD8532C4E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355368-1E85-96F0-105D-E18D8B9C8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B209F46-603C-49F5-0BF4-B84F9796E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599" y="85258"/>
            <a:ext cx="8792802" cy="668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22664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654FEA-C01B-5FED-9545-1CCDA0AD6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CCF8AA-92D6-22B7-6027-76ED60E24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31AD758-0A86-0146-FF50-E8771D9C6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888" y="66205"/>
            <a:ext cx="8764223" cy="672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09379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D54AE-42BF-7155-380E-7AB6EDEA1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A3BB6E-BDE2-AF3E-85DC-B41200E5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BE54B65-8D1A-01F9-FEDA-0CEC49590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415" y="104311"/>
            <a:ext cx="8745170" cy="664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1656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7B50CA-E792-F643-FFCA-B9C4921DC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48B5D4-8C50-B68D-9C10-3D0DE2736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9B42120-705F-5CB8-6429-0F3F2CE8F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836" y="61442"/>
            <a:ext cx="8802328" cy="673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89971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28BC5A-D051-FFE9-BA44-8D02C8E5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34E7D6-741C-18A0-238D-595AFD227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02331B5-6E55-3977-9F14-60628A222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257" y="80495"/>
            <a:ext cx="8859486" cy="669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5329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97BD6C-34F6-61CB-10E5-F5FF69A05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339451-DFAB-EED6-BFEE-8EFE4BF3B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E0DA96F-23A9-317F-46E5-463F52A9B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888" y="90021"/>
            <a:ext cx="8764223" cy="667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0121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1F760F-3F54-6B8F-8A34-2D4A80220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E8E124-704B-F5F3-96B6-8BAD91341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3ABFD9C-1A71-396E-AB73-6A679CD4D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020" y="13811"/>
            <a:ext cx="8849960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78346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2281B6-F880-1F09-56F3-8B85E7012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2108C9-D4DB-87A9-9456-C80437BDB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15AEB72-7A65-2483-D293-FC9DCAE96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309" y="94784"/>
            <a:ext cx="8821381" cy="666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01366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20A025-F680-4389-512E-3085C149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B3DF78-F89A-397A-2777-251FF605B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510EC6C-F6C5-77CF-EA88-9C7DEBF66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388" y="80495"/>
            <a:ext cx="8945223" cy="669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37827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B3A3B5-C7A3-A31C-3EA7-98978A3FA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F649AE-B191-B98D-F315-85E6A4174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953574A-63B7-D31C-A315-E1B1FF3A2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809" y="51916"/>
            <a:ext cx="9002381" cy="675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50978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952411-2B20-A7C7-2389-29E7B850C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32549F-5FEB-134D-1B4A-81B41D8DF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2F830C3-AA3E-3209-B4DA-F8CD4AEC5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599" y="80495"/>
            <a:ext cx="8792802" cy="669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22508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85B545-25A4-DA1F-0E88-9EDA7B4FF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6C6D89-121D-646B-92DA-21219AEB1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C27E022-3836-2235-E51C-8B0C91D72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599" y="70969"/>
            <a:ext cx="8792802" cy="671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13632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A04F7-C4D2-18A7-82A6-42DAD5557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B185F1-21F1-C742-9E9E-1E061D0C4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1DB401-FB83-C31C-01AB-5F0F82EB6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i="1" dirty="0"/>
              <a:t>Crie um </a:t>
            </a:r>
            <a:r>
              <a:rPr lang="pt-BR" i="1" dirty="0" err="1"/>
              <a:t>Schema</a:t>
            </a:r>
            <a:r>
              <a:rPr lang="pt-BR" i="1" dirty="0"/>
              <a:t> no MySQL chamado </a:t>
            </a:r>
            <a:r>
              <a:rPr lang="pt-BR" b="1" i="1" dirty="0"/>
              <a:t>BD1</a:t>
            </a:r>
          </a:p>
          <a:p>
            <a:r>
              <a:rPr lang="pt-BR" i="1" dirty="0"/>
              <a:t>Crie as seguintes tabelas 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B7F7BEA-D030-6963-0135-689FB12790A7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AB9FFC7-DAF1-BC7E-43F3-1A8A81B85089}"/>
              </a:ext>
            </a:extLst>
          </p:cNvPr>
          <p:cNvSpPr txBox="1"/>
          <p:nvPr/>
        </p:nvSpPr>
        <p:spPr>
          <a:xfrm>
            <a:off x="2133600" y="2965803"/>
            <a:ext cx="7270044" cy="3416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rtl="0"/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Aluno = {</a:t>
            </a:r>
            <a:r>
              <a:rPr lang="pt-BR" sz="2400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RA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CPF, Nome,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DataNasc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}</a:t>
            </a:r>
            <a:endParaRPr lang="pt-BR" sz="2400" b="0" dirty="0">
              <a:effectLst/>
            </a:endParaRPr>
          </a:p>
          <a:p>
            <a:pPr rtl="0"/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</a:t>
            </a:r>
            <a:endParaRPr lang="pt-BR" sz="2400" b="0" dirty="0">
              <a:effectLst/>
            </a:endParaRPr>
          </a:p>
          <a:p>
            <a:pPr rtl="0"/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Professor = {Nome, </a:t>
            </a:r>
            <a:r>
              <a:rPr lang="pt-BR" sz="2400" b="0" i="0" u="sng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NFunc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Titulação}</a:t>
            </a:r>
            <a:endParaRPr lang="pt-BR" sz="2400" b="0" dirty="0">
              <a:effectLst/>
            </a:endParaRPr>
          </a:p>
          <a:p>
            <a:pPr rtl="0"/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</a:t>
            </a:r>
            <a:endParaRPr lang="pt-BR" sz="2400" b="0" dirty="0">
              <a:effectLst/>
            </a:endParaRPr>
          </a:p>
          <a:p>
            <a:pPr rtl="0"/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Disciplina = {</a:t>
            </a:r>
            <a:r>
              <a:rPr lang="pt-BR" sz="2400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Sigla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Nome,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NCred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Prof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}</a:t>
            </a:r>
            <a:endParaRPr lang="pt-BR" sz="2400" b="0" dirty="0">
              <a:effectLst/>
            </a:endParaRPr>
          </a:p>
          <a:p>
            <a:pPr rtl="0"/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</a:t>
            </a:r>
            <a:endParaRPr lang="pt-BR" sz="2400" b="0" dirty="0">
              <a:effectLst/>
            </a:endParaRPr>
          </a:p>
          <a:p>
            <a:pPr rtl="0"/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Turma = {</a:t>
            </a:r>
            <a:r>
              <a:rPr lang="pt-BR" sz="2400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Sigla, Numero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NAlunos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}</a:t>
            </a:r>
            <a:endParaRPr lang="pt-BR" sz="2400" b="0" dirty="0">
              <a:effectLst/>
            </a:endParaRPr>
          </a:p>
          <a:p>
            <a:pPr rtl="0"/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</a:t>
            </a:r>
            <a:endParaRPr lang="pt-BR" sz="2400" b="0" dirty="0">
              <a:effectLst/>
            </a:endParaRPr>
          </a:p>
          <a:p>
            <a:pPr rtl="0"/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Matrícula = {</a:t>
            </a:r>
            <a:r>
              <a:rPr lang="pt-BR" sz="2400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Sigla, Numero, Aluno, Ano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Nota}</a:t>
            </a:r>
            <a:endParaRPr lang="pt-BR" sz="2400" b="0" dirty="0">
              <a:effectLst/>
            </a:endParaRPr>
          </a:p>
        </p:txBody>
      </p:sp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603A5B11-97D2-DF81-4B44-32D750755B29}"/>
              </a:ext>
            </a:extLst>
          </p:cNvPr>
          <p:cNvCxnSpPr>
            <a:cxnSpLocks/>
          </p:cNvCxnSpPr>
          <p:nvPr/>
        </p:nvCxnSpPr>
        <p:spPr>
          <a:xfrm rot="10800000">
            <a:off x="4030134" y="3390880"/>
            <a:ext cx="2720623" cy="2501920"/>
          </a:xfrm>
          <a:prstGeom prst="bentConnector3">
            <a:avLst>
              <a:gd name="adj1" fmla="val -5249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ector: Angulado 12">
            <a:extLst>
              <a:ext uri="{FF2B5EF4-FFF2-40B4-BE49-F238E27FC236}">
                <a16:creationId xmlns:a16="http://schemas.microsoft.com/office/drawing/2014/main" id="{A04684E7-CC94-B947-26EE-322FF717DBC9}"/>
              </a:ext>
            </a:extLst>
          </p:cNvPr>
          <p:cNvCxnSpPr>
            <a:cxnSpLocks/>
          </p:cNvCxnSpPr>
          <p:nvPr/>
        </p:nvCxnSpPr>
        <p:spPr>
          <a:xfrm rot="16200000" flipV="1">
            <a:off x="5059760" y="5574374"/>
            <a:ext cx="492037" cy="428978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ctor: Angulado 15">
            <a:extLst>
              <a:ext uri="{FF2B5EF4-FFF2-40B4-BE49-F238E27FC236}">
                <a16:creationId xmlns:a16="http://schemas.microsoft.com/office/drawing/2014/main" id="{79EA1E66-F071-5DAE-72C1-FEA8C3A671B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656931" y="5593380"/>
            <a:ext cx="484894" cy="383822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: Angulado 20">
            <a:extLst>
              <a:ext uri="{FF2B5EF4-FFF2-40B4-BE49-F238E27FC236}">
                <a16:creationId xmlns:a16="http://schemas.microsoft.com/office/drawing/2014/main" id="{6136EF17-F2B4-E2CE-C79B-70D56E3AB1D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73688" y="4888088"/>
            <a:ext cx="485424" cy="372535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: Angulado 23">
            <a:extLst>
              <a:ext uri="{FF2B5EF4-FFF2-40B4-BE49-F238E27FC236}">
                <a16:creationId xmlns:a16="http://schemas.microsoft.com/office/drawing/2014/main" id="{7428C232-9873-1359-93CF-DA4B24CB91E6}"/>
              </a:ext>
            </a:extLst>
          </p:cNvPr>
          <p:cNvCxnSpPr>
            <a:cxnSpLocks/>
          </p:cNvCxnSpPr>
          <p:nvPr/>
        </p:nvCxnSpPr>
        <p:spPr>
          <a:xfrm rot="10800000">
            <a:off x="5621867" y="4199468"/>
            <a:ext cx="1670758" cy="248353"/>
          </a:xfrm>
          <a:prstGeom prst="bentConnector3">
            <a:avLst>
              <a:gd name="adj1" fmla="val -676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2D5F1E0F-6D08-69A0-ECF0-1DF98EAE7A4C}"/>
              </a:ext>
            </a:extLst>
          </p:cNvPr>
          <p:cNvGrpSpPr/>
          <p:nvPr/>
        </p:nvGrpSpPr>
        <p:grpSpPr>
          <a:xfrm>
            <a:off x="4174803" y="3159300"/>
            <a:ext cx="532664" cy="451556"/>
            <a:chOff x="10271140" y="3872089"/>
            <a:chExt cx="532664" cy="451556"/>
          </a:xfrm>
        </p:grpSpPr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CB69E853-5B1D-BED4-0DEE-EE722A51BE4B}"/>
                </a:ext>
              </a:extLst>
            </p:cNvPr>
            <p:cNvSpPr txBox="1"/>
            <p:nvPr/>
          </p:nvSpPr>
          <p:spPr>
            <a:xfrm>
              <a:off x="10272889" y="3872089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/>
                <a:t>___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68212DBB-B8A8-CF92-FA26-18733C683FD0}"/>
                </a:ext>
              </a:extLst>
            </p:cNvPr>
            <p:cNvSpPr txBox="1"/>
            <p:nvPr/>
          </p:nvSpPr>
          <p:spPr>
            <a:xfrm>
              <a:off x="10271140" y="3954313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/>
                <a:t>___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718923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ED686-BA4D-F226-D0A7-0373E9925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353D2D-218D-984E-98D3-19F2A9521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2400F8B-8974-474C-D7B4-B3489FD45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044" y="2712909"/>
            <a:ext cx="2724530" cy="183858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9674161-7B3A-1977-B8D9-67313A5C7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973" y="2055318"/>
            <a:ext cx="6487430" cy="4553585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2336E344-03E5-1925-36CD-92C2815AD60B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782873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EA4B9-81AC-4E3C-D5B1-4EE7D3ABA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- Resolução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B26BFDE-23D2-09FB-C57A-385BC82D5DAB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C87346-7EA2-15A2-063E-44D8FE0B0D33}"/>
              </a:ext>
            </a:extLst>
          </p:cNvPr>
          <p:cNvSpPr txBox="1"/>
          <p:nvPr/>
        </p:nvSpPr>
        <p:spPr>
          <a:xfrm>
            <a:off x="733778" y="1805296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 TABLE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ALUNO (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RA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 NOT NULL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CPF 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CHAR(14)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NOME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VARCHAR2(30) NOT NULL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DATANASC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DATE NOT NULL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PRIMARY KEY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(RA),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UNIQUE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(CPF),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pt-BR" b="0" dirty="0">
              <a:effectLst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1560126-E088-C829-BB92-5D490FA447C5}"/>
              </a:ext>
            </a:extLst>
          </p:cNvPr>
          <p:cNvSpPr txBox="1"/>
          <p:nvPr/>
        </p:nvSpPr>
        <p:spPr>
          <a:xfrm>
            <a:off x="3618089" y="4684806"/>
            <a:ext cx="47300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 TABLE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PROFESSOR (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NFUNC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 NULL PRIMARY KEY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NOME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VARCHAR2(30) NOT NULL,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TITULACAO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CHAR(7) NOT NULL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pt-BR" b="0" dirty="0">
              <a:effectLst/>
            </a:endParaRPr>
          </a:p>
          <a:p>
            <a:pPr rtl="0"/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(UPPER(TITULACAO)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('MESTRE','DOUTOR','TITULAR'))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pt-BR" b="0" dirty="0">
              <a:effectLst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359CECF-8E86-DC45-3AC7-4AA50729F914}"/>
              </a:ext>
            </a:extLst>
          </p:cNvPr>
          <p:cNvSpPr txBox="1"/>
          <p:nvPr/>
        </p:nvSpPr>
        <p:spPr>
          <a:xfrm>
            <a:off x="4944533" y="1703625"/>
            <a:ext cx="7247467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 TABLE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TURMA (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 SIGLA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CHAR(6) NOT NULL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 NUMERO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pt-BR" sz="2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 NALUNOS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pt-BR" sz="2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CONSTRAINT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CK_NALUNOS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NAlunos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70),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CONSTRAINT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PK_TURMA </a:t>
            </a:r>
            <a:r>
              <a:rPr lang="pt-BR" sz="1800" b="1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PRIMARY KEY</a:t>
            </a:r>
            <a:r>
              <a:rPr lang="pt-BR" sz="1800" b="0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(SIGLA, NUMERO)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CONSTRAINT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FK_TURMA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FOREIGN KEY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(SIGLA) </a:t>
            </a:r>
            <a:endParaRPr lang="pt-BR" b="0" dirty="0">
              <a:effectLst/>
            </a:endParaRPr>
          </a:p>
          <a:p>
            <a:pPr rtl="0"/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            REFERENCES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DISCIPLINA(SIGLA) </a:t>
            </a:r>
            <a:endParaRPr lang="pt-BR" b="0" dirty="0">
              <a:effectLst/>
            </a:endParaRPr>
          </a:p>
          <a:p>
            <a:pPr rtl="0"/>
            <a:r>
              <a:rPr lang="pt-BR" sz="1800" b="1" i="0" u="none" strike="noStrike" dirty="0">
                <a:solidFill>
                  <a:srgbClr val="3366FF"/>
                </a:solidFill>
                <a:effectLst/>
                <a:latin typeface="Consolas" panose="020B0609020204030204" pitchFamily="49" charset="0"/>
              </a:rPr>
              <a:t>                        ON DELETE CASCADE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pt-BR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36916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85AAA3-7B48-8553-BFCD-ED8D3D17A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- Resolução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FA308C1-9206-A071-B7BA-F5CBECAAE127}"/>
              </a:ext>
            </a:extLst>
          </p:cNvPr>
          <p:cNvSpPr txBox="1"/>
          <p:nvPr/>
        </p:nvSpPr>
        <p:spPr>
          <a:xfrm>
            <a:off x="838200" y="2372212"/>
            <a:ext cx="609600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 TABLE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DISCIPLINA (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SIGLA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CHAR(6) NOT NULL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NOME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VARCHAR2(30) NOT NULL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NCRED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pt-BR" sz="2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PROF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pt-BR" sz="2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pt-BR" b="0" dirty="0">
              <a:effectLst/>
            </a:endParaRPr>
          </a:p>
          <a:p>
            <a:pPr rtl="0"/>
            <a:r>
              <a:rPr lang="pt-BR" sz="1800" b="1" i="0" u="none" strike="noStrike" dirty="0">
                <a:solidFill>
                  <a:srgbClr val="296C7D"/>
                </a:solidFill>
                <a:effectLst/>
                <a:latin typeface="Consolas" panose="020B0609020204030204" pitchFamily="49" charset="0"/>
              </a:rPr>
              <a:t>CONSTRAINT</a:t>
            </a:r>
            <a:r>
              <a:rPr lang="pt-BR" sz="1800" b="0" i="0" u="none" strike="noStrike" dirty="0">
                <a:solidFill>
                  <a:srgbClr val="296C7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PK_DISCIPLINA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PRIMARY KEY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(SIGLA),</a:t>
            </a:r>
            <a:endParaRPr lang="pt-BR" b="0" dirty="0">
              <a:effectLst/>
            </a:endParaRPr>
          </a:p>
          <a:p>
            <a:pPr rtl="0"/>
            <a:r>
              <a:rPr lang="pt-BR" sz="1800" b="1" i="0" u="none" strike="noStrike" dirty="0">
                <a:solidFill>
                  <a:srgbClr val="296C7D"/>
                </a:solidFill>
                <a:effectLst/>
                <a:latin typeface="Consolas" panose="020B0609020204030204" pitchFamily="49" charset="0"/>
              </a:rPr>
              <a:t>CONSTRAINT</a:t>
            </a:r>
            <a:r>
              <a:rPr lang="pt-BR" sz="1800" b="0" i="0" u="none" strike="noStrike" dirty="0">
                <a:solidFill>
                  <a:srgbClr val="296C7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FK_DISCIPLINA </a:t>
            </a:r>
            <a:r>
              <a:rPr lang="pt-BR" sz="1800" b="1" i="0" u="none" strike="noStrike" dirty="0">
                <a:solidFill>
                  <a:srgbClr val="3366FF"/>
                </a:solidFill>
                <a:effectLst/>
                <a:latin typeface="Consolas" panose="020B0609020204030204" pitchFamily="49" charset="0"/>
              </a:rPr>
              <a:t>FOREIGN KEY 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800" b="0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PROF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       </a:t>
            </a:r>
            <a:r>
              <a:rPr lang="pt-BR" sz="1800" b="1" i="0" u="none" strike="noStrike" dirty="0">
                <a:solidFill>
                  <a:srgbClr val="3366FF"/>
                </a:solidFill>
                <a:effectLst/>
                <a:latin typeface="Consolas" panose="020B0609020204030204" pitchFamily="49" charset="0"/>
              </a:rPr>
              <a:t>REFERENCES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PROFESSOR(NFUNC) </a:t>
            </a:r>
            <a:endParaRPr lang="pt-BR" b="0" dirty="0">
              <a:effectLst/>
            </a:endParaRPr>
          </a:p>
          <a:p>
            <a:pPr rtl="0"/>
            <a:r>
              <a:rPr lang="pt-BR" sz="1800" b="1" i="0" u="none" strike="noStrike" dirty="0">
                <a:solidFill>
                  <a:srgbClr val="3366FF"/>
                </a:solidFill>
                <a:effectLst/>
                <a:latin typeface="Consolas" panose="020B0609020204030204" pitchFamily="49" charset="0"/>
              </a:rPr>
              <a:t>                   ON DELETE SET NULL</a:t>
            </a:r>
            <a:r>
              <a:rPr lang="pt-BR" sz="1800" b="0" i="0" u="none" strike="noStrike" dirty="0">
                <a:solidFill>
                  <a:srgbClr val="3366FF"/>
                </a:solidFill>
                <a:effectLst/>
                <a:latin typeface="Consolas" panose="020B0609020204030204" pitchFamily="49" charset="0"/>
              </a:rPr>
              <a:t>, </a:t>
            </a:r>
            <a:endParaRPr lang="pt-BR" b="0" dirty="0">
              <a:effectLst/>
            </a:endParaRPr>
          </a:p>
          <a:p>
            <a:pPr rtl="0"/>
            <a:r>
              <a:rPr lang="pt-BR" sz="1800" b="1" i="0" u="none" strike="noStrike" dirty="0">
                <a:solidFill>
                  <a:srgbClr val="296C7D"/>
                </a:solidFill>
                <a:effectLst/>
                <a:latin typeface="Consolas" panose="020B0609020204030204" pitchFamily="49" charset="0"/>
              </a:rPr>
              <a:t>CONSTRAINT</a:t>
            </a:r>
            <a:r>
              <a:rPr lang="pt-BR" sz="1800" b="0" i="0" u="none" strike="noStrike" dirty="0">
                <a:solidFill>
                  <a:srgbClr val="296C7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CK_NCREDITOS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CHECK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(NCRED &gt; 0) 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pt-BR" b="0" dirty="0">
              <a:effectLst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61E214B-DC21-0352-979E-0EC928957156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301614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618335-6F99-1486-5B5F-4D0056657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- Resolução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4E825FB-63AD-58B8-2A0E-12022130ABBA}"/>
              </a:ext>
            </a:extLst>
          </p:cNvPr>
          <p:cNvSpPr txBox="1"/>
          <p:nvPr/>
        </p:nvSpPr>
        <p:spPr>
          <a:xfrm>
            <a:off x="2133600" y="2011389"/>
            <a:ext cx="8579556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 TABLE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MATRICULA (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SIGLA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CHAR(6) NOT NULL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NUMERO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 NOT NULL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ALUNO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 NOT NULL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ANO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NUMBER(4)</a:t>
            </a:r>
            <a:r>
              <a:rPr lang="pt-BR" sz="2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NOTA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pt-BR" b="0" dirty="0">
              <a:effectLst/>
            </a:endParaRPr>
          </a:p>
          <a:p>
            <a:pPr rtl="0"/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CONSTRAINT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PK_MATRICULA </a:t>
            </a:r>
            <a:endParaRPr lang="pt-BR" b="0" dirty="0">
              <a:effectLst/>
            </a:endParaRPr>
          </a:p>
          <a:p>
            <a:pPr rtl="0"/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         PRIMARY KEY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(SIGLA, NUMERO, ALUNO, ANO),</a:t>
            </a:r>
            <a:endParaRPr lang="pt-BR" b="0" dirty="0">
              <a:effectLst/>
            </a:endParaRPr>
          </a:p>
          <a:p>
            <a:pPr rtl="0"/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CONSTRAINT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FK1_MATRICULA </a:t>
            </a:r>
            <a:r>
              <a:rPr lang="pt-BR" sz="1800" b="1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FOREIGN KEY</a:t>
            </a:r>
            <a:r>
              <a:rPr lang="pt-BR" sz="1800" b="0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(SIGLA, NUMERO) 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     </a:t>
            </a:r>
            <a:r>
              <a:rPr lang="pt-BR" sz="1800" b="1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REFERENCES</a:t>
            </a:r>
            <a:r>
              <a:rPr lang="pt-BR" sz="1800" b="0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TURMA(SIGLA, NUMERO) </a:t>
            </a:r>
            <a:endParaRPr lang="pt-BR" b="0" dirty="0">
              <a:effectLst/>
            </a:endParaRPr>
          </a:p>
          <a:p>
            <a:pPr rtl="0"/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      ON DELETE CASCADE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endParaRPr lang="pt-BR" b="0" dirty="0">
              <a:effectLst/>
            </a:endParaRPr>
          </a:p>
          <a:p>
            <a:pPr rtl="0"/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CONSTRAINT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FK2_MATRICULA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FOREIGN KEY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(ALUNO) 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      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REFERENCES 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ALUNO(NUSP) 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ON DELETE CASCADE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pt-BR" b="0" dirty="0">
              <a:effectLst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C787335-BEC7-CCEE-6B08-07E5AD896744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34430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5D84F-0E34-C35A-1350-D2BA8E125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44C249-72A1-9ECB-4F99-2A1E99BCB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27F697-563A-B46D-7A06-47E157D58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55797"/>
          </a:xfrm>
        </p:spPr>
        <p:txBody>
          <a:bodyPr>
            <a:normAutofit fontScale="92500" lnSpcReduction="20000"/>
          </a:bodyPr>
          <a:lstStyle/>
          <a:p>
            <a:r>
              <a:rPr lang="pt-BR" i="1" dirty="0"/>
              <a:t>Altere as tabelas:</a:t>
            </a:r>
          </a:p>
          <a:p>
            <a:endParaRPr lang="pt-BR" b="1" i="1" dirty="0"/>
          </a:p>
          <a:p>
            <a:endParaRPr lang="pt-BR" b="1" i="1" dirty="0"/>
          </a:p>
          <a:p>
            <a:endParaRPr lang="pt-BR" b="1" i="1" dirty="0"/>
          </a:p>
          <a:p>
            <a:endParaRPr lang="pt-BR" b="1" i="1" dirty="0"/>
          </a:p>
          <a:p>
            <a:endParaRPr lang="pt-BR" b="1" i="1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Acrescente atributo </a:t>
            </a:r>
            <a:r>
              <a:rPr lang="pt-BR" i="1" dirty="0" err="1"/>
              <a:t>Cidade_Origem</a:t>
            </a:r>
            <a:r>
              <a:rPr lang="pt-BR" i="1" dirty="0"/>
              <a:t> </a:t>
            </a:r>
            <a:r>
              <a:rPr lang="pt-BR" dirty="0"/>
              <a:t>em </a:t>
            </a:r>
            <a:r>
              <a:rPr lang="pt-BR" b="1" dirty="0"/>
              <a:t>Aluno</a:t>
            </a:r>
            <a:r>
              <a:rPr lang="pt-BR" dirty="0"/>
              <a:t> com default “Bauru”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pt-BR" dirty="0"/>
              <a:t>Remova o atributo </a:t>
            </a:r>
            <a:r>
              <a:rPr lang="pt-BR" i="1" dirty="0" err="1"/>
              <a:t>NAlunos</a:t>
            </a:r>
            <a:r>
              <a:rPr lang="pt-BR" dirty="0"/>
              <a:t> da tabela </a:t>
            </a:r>
            <a:r>
              <a:rPr lang="pt-BR" b="1" dirty="0"/>
              <a:t>Turma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pt-BR" dirty="0"/>
              <a:t>Acrescente uma restrição para que a </a:t>
            </a:r>
            <a:r>
              <a:rPr lang="pt-BR" i="1" dirty="0"/>
              <a:t>Nota</a:t>
            </a:r>
            <a:r>
              <a:rPr lang="pt-BR" dirty="0"/>
              <a:t> do aluno em </a:t>
            </a:r>
            <a:r>
              <a:rPr lang="pt-BR" b="1" dirty="0"/>
              <a:t>Matrícula </a:t>
            </a:r>
            <a:r>
              <a:rPr lang="pt-BR" dirty="0"/>
              <a:t>seja sempre maior ou igual a 0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pt-BR" dirty="0"/>
              <a:t>Remova essa restrição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endParaRPr lang="pt-BR" dirty="0"/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CD01BD8-6778-21DF-3F94-35AE05F6C681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9543C38-2146-5AD8-77B5-3D40DB4B6BA8}"/>
              </a:ext>
            </a:extLst>
          </p:cNvPr>
          <p:cNvSpPr txBox="1"/>
          <p:nvPr/>
        </p:nvSpPr>
        <p:spPr>
          <a:xfrm>
            <a:off x="2223911" y="2401358"/>
            <a:ext cx="7270044" cy="17851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rtl="0"/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Aluno = {</a:t>
            </a:r>
            <a:r>
              <a:rPr lang="pt-BR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RA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CPF, RG, UF,  Nome, </a:t>
            </a:r>
            <a:r>
              <a:rPr lang="pt-BR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DataNasc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}</a:t>
            </a:r>
            <a:endParaRPr lang="pt-BR" b="0" dirty="0">
              <a:effectLst/>
            </a:endParaRPr>
          </a:p>
          <a:p>
            <a:pPr rtl="0">
              <a:spcBef>
                <a:spcPts val="600"/>
              </a:spcBef>
            </a:pP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Professor = {Nome, </a:t>
            </a:r>
            <a:r>
              <a:rPr lang="pt-BR" b="0" i="0" u="sng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NFunc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Titulação}</a:t>
            </a:r>
            <a:endParaRPr lang="pt-BR" b="0" dirty="0">
              <a:effectLst/>
            </a:endParaRPr>
          </a:p>
          <a:p>
            <a:pPr rtl="0">
              <a:spcBef>
                <a:spcPts val="600"/>
              </a:spcBef>
            </a:pP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Disciplina = {</a:t>
            </a:r>
            <a:r>
              <a:rPr lang="pt-BR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Sigla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Nome, </a:t>
            </a:r>
            <a:r>
              <a:rPr lang="pt-BR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NCred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</a:t>
            </a:r>
            <a:r>
              <a:rPr lang="pt-BR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Prof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}</a:t>
            </a:r>
            <a:endParaRPr lang="pt-BR" b="0" dirty="0">
              <a:effectLst/>
            </a:endParaRPr>
          </a:p>
          <a:p>
            <a:pPr rtl="0">
              <a:spcBef>
                <a:spcPts val="600"/>
              </a:spcBef>
            </a:pP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Turma = {</a:t>
            </a:r>
            <a:r>
              <a:rPr lang="pt-BR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Sigla, Numero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</a:t>
            </a:r>
            <a:r>
              <a:rPr lang="pt-BR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NAlunos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}</a:t>
            </a:r>
            <a:endParaRPr lang="pt-BR" b="0" dirty="0">
              <a:effectLst/>
            </a:endParaRPr>
          </a:p>
          <a:p>
            <a:pPr rtl="0">
              <a:spcBef>
                <a:spcPts val="600"/>
              </a:spcBef>
            </a:pP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Matrícula = {</a:t>
            </a:r>
            <a:r>
              <a:rPr lang="pt-BR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Sigla, Numero, Aluno, Ano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Nota}</a:t>
            </a:r>
            <a:endParaRPr lang="pt-BR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8015000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45A394-242D-54DE-C631-F106D1663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- Resolução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1A8DFA-66F3-5176-FAAE-4C27E964E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rtl="0">
              <a:buFont typeface="+mj-lt"/>
              <a:buAutoNum type="arabicPeriod"/>
            </a:pPr>
            <a:r>
              <a:rPr lang="pt-BR" sz="18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Aluno </a:t>
            </a:r>
            <a:r>
              <a:rPr lang="pt-BR" sz="1800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pt-BR" sz="1800" b="0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Cidade_Origem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varchar2(30) default 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‘Bauru';</a:t>
            </a:r>
            <a:endParaRPr lang="pt-BR" b="0" dirty="0">
              <a:effectLst/>
            </a:endParaRPr>
          </a:p>
          <a:p>
            <a:pPr marL="342900" indent="-342900" rtl="0">
              <a:buFont typeface="+mj-lt"/>
              <a:buAutoNum type="arabicPeriod"/>
            </a:pPr>
            <a:r>
              <a:rPr lang="pt-BR" sz="18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Turma </a:t>
            </a:r>
            <a:r>
              <a:rPr lang="pt-BR" sz="1800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drop</a:t>
            </a:r>
            <a:r>
              <a:rPr lang="pt-BR" sz="1800" b="0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Numero </a:t>
            </a:r>
            <a:r>
              <a:rPr lang="pt-BR" sz="18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cascade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b="0" dirty="0">
              <a:effectLst/>
            </a:endParaRPr>
          </a:p>
          <a:p>
            <a:pPr marL="342900" indent="-342900" rtl="0">
              <a:buFont typeface="+mj-lt"/>
              <a:buAutoNum type="arabicPeriod"/>
            </a:pPr>
            <a:r>
              <a:rPr lang="pt-BR" sz="18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Matricula </a:t>
            </a:r>
            <a:r>
              <a:rPr lang="pt-BR" sz="1800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pt-BR" sz="1800" b="1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constraint</a:t>
            </a:r>
            <a:r>
              <a:rPr lang="pt-BR" sz="1800" b="0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ck_nota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(nota &gt; 0);</a:t>
            </a:r>
            <a:endParaRPr lang="pt-BR" b="0" dirty="0">
              <a:effectLst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alter table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Matricula </a:t>
            </a:r>
            <a:r>
              <a:rPr lang="fr-FR" sz="1800" b="1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drop constraint</a:t>
            </a:r>
            <a:r>
              <a:rPr lang="fr-FR" sz="1800" b="0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ck_nota;</a:t>
            </a:r>
          </a:p>
          <a:p>
            <a:pPr marL="342900" indent="-342900" rtl="0">
              <a:buFont typeface="+mj-lt"/>
              <a:buAutoNum type="arabicPeriod"/>
            </a:pPr>
            <a:r>
              <a:rPr lang="pt-BR" sz="18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Aluno </a:t>
            </a:r>
            <a:r>
              <a:rPr lang="pt-BR" sz="1800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pt-BR" sz="1800" b="0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Cidade_Origem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 default 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'Sanca';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AF98878-34E6-1F85-06E2-9F4C1DAFC013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004008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CB0F9-71DB-72FC-36E6-3AE8FC0B9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F9959A-2CC1-97B6-8D21-AAD096B11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B26FD9-189D-2F21-4808-33A5A4AEF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Modifique o esquema do banco de dados, removendo a tabela Turma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Como fica a tabela Matrícula? Como tratar?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33D81F4-C849-C6A9-CCA0-B6CC6F253DFB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DEA0508-0ACA-1DF0-7E7B-AC0C1DE6747D}"/>
              </a:ext>
            </a:extLst>
          </p:cNvPr>
          <p:cNvSpPr txBox="1"/>
          <p:nvPr/>
        </p:nvSpPr>
        <p:spPr>
          <a:xfrm>
            <a:off x="2460978" y="3010958"/>
            <a:ext cx="7270044" cy="17851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rtl="0"/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Aluno = {</a:t>
            </a:r>
            <a:r>
              <a:rPr lang="pt-BR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RA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CPF, Nome, </a:t>
            </a:r>
            <a:r>
              <a:rPr lang="pt-BR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DataNasc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}</a:t>
            </a:r>
            <a:endParaRPr lang="pt-BR" b="0" dirty="0">
              <a:effectLst/>
            </a:endParaRPr>
          </a:p>
          <a:p>
            <a:pPr rtl="0">
              <a:spcBef>
                <a:spcPts val="600"/>
              </a:spcBef>
            </a:pP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Professor = {Nome, </a:t>
            </a:r>
            <a:r>
              <a:rPr lang="pt-BR" b="0" i="0" u="sng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NFunc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Titulação}</a:t>
            </a:r>
            <a:endParaRPr lang="pt-BR" b="0" dirty="0">
              <a:effectLst/>
            </a:endParaRPr>
          </a:p>
          <a:p>
            <a:pPr rtl="0">
              <a:spcBef>
                <a:spcPts val="600"/>
              </a:spcBef>
            </a:pP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Disciplina = {</a:t>
            </a:r>
            <a:r>
              <a:rPr lang="pt-BR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Sigla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Nome, </a:t>
            </a:r>
            <a:r>
              <a:rPr lang="pt-BR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NCred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</a:t>
            </a:r>
            <a:r>
              <a:rPr lang="pt-BR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Prof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}</a:t>
            </a:r>
            <a:endParaRPr lang="pt-BR" b="0" dirty="0">
              <a:effectLst/>
            </a:endParaRPr>
          </a:p>
          <a:p>
            <a:pPr rtl="0">
              <a:spcBef>
                <a:spcPts val="600"/>
              </a:spcBef>
            </a:pP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Turma = {</a:t>
            </a:r>
            <a:r>
              <a:rPr lang="pt-BR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Sigla, Numero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</a:t>
            </a:r>
            <a:r>
              <a:rPr lang="pt-BR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NAlunos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}</a:t>
            </a:r>
            <a:endParaRPr lang="pt-BR" b="0" dirty="0">
              <a:effectLst/>
            </a:endParaRPr>
          </a:p>
          <a:p>
            <a:pPr rtl="0">
              <a:spcBef>
                <a:spcPts val="600"/>
              </a:spcBef>
            </a:pP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Matrícula = {</a:t>
            </a:r>
            <a:r>
              <a:rPr lang="pt-BR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Sigla, Numero, Aluno, Ano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Nota}</a:t>
            </a:r>
            <a:endParaRPr lang="pt-BR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391745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E0EF6-6353-709B-9364-3F6FB8795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BBD732-73D5-C0B5-6E5F-C4445D9CA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BDB77C-7471-A238-E8E8-46C5B3E2D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Projeto: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Normalize o banco de dados de seu projeto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Crie um script .</a:t>
            </a:r>
            <a:r>
              <a:rPr lang="pt-BR" dirty="0" err="1"/>
              <a:t>sql</a:t>
            </a:r>
            <a:r>
              <a:rPr lang="pt-BR" dirty="0"/>
              <a:t> (arquivo) que: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Crie um novo esquema (com o nome de seu projeto)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Crie as tabelas usando os comandos desta aula</a:t>
            </a:r>
          </a:p>
          <a:p>
            <a:pPr lvl="3"/>
            <a:r>
              <a:rPr lang="pt-BR" dirty="0"/>
              <a:t>Aplique todas as restrições (</a:t>
            </a:r>
            <a:r>
              <a:rPr lang="pt-BR" i="1" dirty="0" err="1"/>
              <a:t>constraints</a:t>
            </a:r>
            <a:r>
              <a:rPr lang="pt-BR" dirty="0"/>
              <a:t>) necessárias</a:t>
            </a:r>
          </a:p>
          <a:p>
            <a:pPr lvl="4"/>
            <a:r>
              <a:rPr lang="pt-BR" dirty="0"/>
              <a:t>PK, FK, UNIQUE</a:t>
            </a:r>
          </a:p>
          <a:p>
            <a:pPr lvl="4"/>
            <a:r>
              <a:rPr lang="pt-BR" dirty="0"/>
              <a:t>(NOT) NULL</a:t>
            </a:r>
          </a:p>
          <a:p>
            <a:pPr lvl="4"/>
            <a:r>
              <a:rPr lang="pt-BR" dirty="0"/>
              <a:t>CHECK por valores</a:t>
            </a:r>
          </a:p>
          <a:p>
            <a:pPr lvl="4"/>
            <a:r>
              <a:rPr lang="pt-BR" dirty="0"/>
              <a:t>DEFAULT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1985A4C-06BF-6758-176D-FB70760957E6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893690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161D20-8D61-AD5B-CF71-1718C3D42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Seminários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B4FFD8-B6D8-DD9D-5BE4-69BE51096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dirty="0"/>
              <a:t>Seminários BD:</a:t>
            </a:r>
          </a:p>
          <a:p>
            <a:r>
              <a:rPr lang="pt-BR" dirty="0"/>
              <a:t>Chave-valor [</a:t>
            </a:r>
            <a:r>
              <a:rPr lang="pt-BR" b="1" dirty="0"/>
              <a:t>Giovana</a:t>
            </a:r>
            <a:r>
              <a:rPr lang="pt-BR" dirty="0"/>
              <a:t>]</a:t>
            </a:r>
          </a:p>
          <a:p>
            <a:r>
              <a:rPr lang="pt-BR" dirty="0"/>
              <a:t>Documentos [</a:t>
            </a:r>
            <a:r>
              <a:rPr lang="pt-BR" b="1" dirty="0"/>
              <a:t>Isaac</a:t>
            </a:r>
            <a:r>
              <a:rPr lang="pt-BR" dirty="0"/>
              <a:t>]</a:t>
            </a:r>
          </a:p>
          <a:p>
            <a:r>
              <a:rPr lang="pt-BR" dirty="0"/>
              <a:t>Colunar </a:t>
            </a:r>
            <a:r>
              <a:rPr lang="pt-BR" b="1" dirty="0"/>
              <a:t>[Mariana]</a:t>
            </a:r>
          </a:p>
          <a:p>
            <a:r>
              <a:rPr lang="pt-BR" dirty="0"/>
              <a:t>Geoespacial [</a:t>
            </a:r>
            <a:r>
              <a:rPr lang="pt-BR" b="1" dirty="0"/>
              <a:t>David</a:t>
            </a:r>
            <a:r>
              <a:rPr lang="pt-BR" dirty="0"/>
              <a:t>]</a:t>
            </a:r>
          </a:p>
          <a:p>
            <a:r>
              <a:rPr lang="pt-BR" dirty="0"/>
              <a:t>Vetorial [</a:t>
            </a:r>
            <a:r>
              <a:rPr lang="pt-BR" b="1" dirty="0"/>
              <a:t>João</a:t>
            </a:r>
            <a:r>
              <a:rPr lang="pt-BR" dirty="0"/>
              <a:t>]</a:t>
            </a:r>
          </a:p>
          <a:p>
            <a:r>
              <a:rPr lang="pt-BR" dirty="0"/>
              <a:t>Grafo propriedades [</a:t>
            </a:r>
            <a:r>
              <a:rPr lang="pt-BR" b="1" dirty="0"/>
              <a:t>Mateus</a:t>
            </a:r>
            <a:r>
              <a:rPr lang="pt-BR" dirty="0"/>
              <a:t>]</a:t>
            </a:r>
          </a:p>
          <a:p>
            <a:r>
              <a:rPr lang="pt-BR" dirty="0"/>
              <a:t>Grafo RDF [</a:t>
            </a:r>
            <a:r>
              <a:rPr lang="pt-BR" b="1" dirty="0"/>
              <a:t>Felipe</a:t>
            </a:r>
            <a:r>
              <a:rPr lang="pt-BR" dirty="0"/>
              <a:t>]</a:t>
            </a:r>
          </a:p>
          <a:p>
            <a:r>
              <a:rPr lang="pt-BR" dirty="0"/>
              <a:t>Eventos </a:t>
            </a:r>
            <a:r>
              <a:rPr lang="pt-BR" b="1" dirty="0"/>
              <a:t>[Enrico]</a:t>
            </a:r>
          </a:p>
          <a:p>
            <a:endParaRPr lang="pt-BR" b="1" dirty="0"/>
          </a:p>
          <a:p>
            <a:r>
              <a:rPr lang="pt-BR" strike="sngStrike" dirty="0"/>
              <a:t>Séries temporais</a:t>
            </a:r>
          </a:p>
          <a:p>
            <a:r>
              <a:rPr lang="pt-BR" strike="sngStrike" dirty="0"/>
              <a:t>Multimodal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6B81D9E-9090-A873-222F-4CBEC7456127}"/>
              </a:ext>
            </a:extLst>
          </p:cNvPr>
          <p:cNvSpPr txBox="1"/>
          <p:nvPr/>
        </p:nvSpPr>
        <p:spPr>
          <a:xfrm>
            <a:off x="5554133" y="1825625"/>
            <a:ext cx="5373512" cy="304698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b="1" dirty="0"/>
              <a:t>Para cada um (20 min):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Quando surgiu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Características do modelo de dados (como organiza os dados)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Vantagens e limitações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Aplicações comuns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Exemplos de </a:t>
            </a:r>
            <a:r>
              <a:rPr lang="pt-BR" sz="2400" dirty="0" err="1"/>
              <a:t>SGBDs</a:t>
            </a:r>
            <a:r>
              <a:rPr lang="pt-BR" sz="2400" dirty="0"/>
              <a:t> comerciais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Executar um exemplo</a:t>
            </a:r>
          </a:p>
        </p:txBody>
      </p:sp>
    </p:spTree>
    <p:extLst>
      <p:ext uri="{BB962C8B-B14F-4D97-AF65-F5344CB8AC3E}">
        <p14:creationId xmlns:p14="http://schemas.microsoft.com/office/powerpoint/2010/main" val="22269338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8BCDF-8806-C49F-F139-24622FB22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62F806-5965-C85A-6DB3-92CF0BB63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pt-BR" sz="1800" b="0" i="0" u="none" strike="noStrike" baseline="0" dirty="0">
                <a:latin typeface="DejaVuSans"/>
              </a:rPr>
              <a:t>Notas de aulas, prof. José Eduardo Santarém Segundo. </a:t>
            </a:r>
            <a:r>
              <a:rPr lang="pt-BR" sz="1800" b="1" i="0" u="none" strike="noStrike" baseline="0" dirty="0">
                <a:latin typeface="DejaVuSans"/>
              </a:rPr>
              <a:t>Banco de Dados - Normalização - Parte 1</a:t>
            </a:r>
            <a:r>
              <a:rPr lang="pt-BR" sz="1800" i="0" u="none" strike="noStrike" baseline="0" dirty="0">
                <a:latin typeface="DejaVuSans"/>
              </a:rPr>
              <a:t>. UNIVESP, Eixo de Computação. Disponível em: </a:t>
            </a:r>
            <a:r>
              <a:rPr lang="pt-BR" sz="1800" i="0" u="none" strike="noStrike" baseline="0" dirty="0">
                <a:latin typeface="DejaVuSans"/>
                <a:hlinkClick r:id="rId3"/>
              </a:rPr>
              <a:t>https://www.youtube.com/watch?v=OsebNaYQpk8</a:t>
            </a:r>
            <a:r>
              <a:rPr lang="pt-BR" sz="1800" i="0" u="none" strike="noStrike" baseline="0" dirty="0">
                <a:latin typeface="DejaVuSans"/>
              </a:rPr>
              <a:t> </a:t>
            </a:r>
            <a:endParaRPr lang="pt-BR" sz="1800" b="1" i="0" u="none" strike="noStrike" baseline="0" dirty="0">
              <a:latin typeface="DejaVuSans"/>
            </a:endParaRPr>
          </a:p>
          <a:p>
            <a:pPr algn="l"/>
            <a:r>
              <a:rPr lang="pt-BR" sz="1800" b="0" i="0" u="none" strike="noStrike" baseline="0" dirty="0">
                <a:latin typeface="DejaVuSans"/>
              </a:rPr>
              <a:t>ELMASRI, Ramez; NAVATHE, </a:t>
            </a:r>
            <a:r>
              <a:rPr lang="pt-BR" sz="1800" b="0" i="0" u="none" strike="noStrike" baseline="0" dirty="0" err="1">
                <a:latin typeface="DejaVuSans"/>
              </a:rPr>
              <a:t>Shamkant</a:t>
            </a:r>
            <a:r>
              <a:rPr lang="pt-BR" sz="1800" b="0" i="0" u="none" strike="noStrike" baseline="0" dirty="0">
                <a:latin typeface="DejaVuSans"/>
              </a:rPr>
              <a:t> B</a:t>
            </a:r>
            <a:r>
              <a:rPr lang="pt-BR" sz="1800" b="1" i="0" u="none" strike="noStrike" baseline="0" dirty="0">
                <a:latin typeface="DejaVuSans"/>
              </a:rPr>
              <a:t>. Sistemas de Banco de Dados</a:t>
            </a:r>
            <a:r>
              <a:rPr lang="pt-BR" sz="1800" b="0" i="0" u="none" strike="noStrike" baseline="0" dirty="0">
                <a:latin typeface="DejaVuSans"/>
              </a:rPr>
              <a:t>. 7. ed. São Paulo: Pearson Universidades, 2019. 1152 p. ISBN-13 978-8543025001.</a:t>
            </a:r>
          </a:p>
          <a:p>
            <a:pPr algn="l"/>
            <a:r>
              <a:rPr lang="pt-BR" sz="1800" b="0" i="0" u="none" strike="noStrike" baseline="0" dirty="0">
                <a:latin typeface="DejaVuSans"/>
              </a:rPr>
              <a:t>SILBERSCHATZ, Abraham; KORTH, Henry F.; SUDARSHAN, S. </a:t>
            </a:r>
            <a:r>
              <a:rPr lang="pt-BR" sz="1800" b="1" i="0" u="none" strike="noStrike" baseline="0" dirty="0">
                <a:latin typeface="DejaVuSans"/>
              </a:rPr>
              <a:t>Sistema de Banco de Dados.</a:t>
            </a:r>
            <a:r>
              <a:rPr lang="pt-BR" sz="1800" b="0" i="0" u="none" strike="noStrike" baseline="0" dirty="0">
                <a:latin typeface="DejaVuSans"/>
              </a:rPr>
              <a:t> 7. ed. Rio de Janeiro: GEN LTC, 2020. 754 p. ISBN-13 978-8595157330.</a:t>
            </a:r>
          </a:p>
          <a:p>
            <a:pPr algn="l"/>
            <a:r>
              <a:rPr lang="pt-BR" sz="1800" b="0" i="0" u="none" strike="noStrike" baseline="0" dirty="0">
                <a:latin typeface="DejaVuSans"/>
              </a:rPr>
              <a:t>DATE, Christopher J. Introdução a Sistemas de Bancos de Dados. GEN LTC, 2004</a:t>
            </a:r>
          </a:p>
          <a:p>
            <a:pPr algn="l"/>
            <a:r>
              <a:rPr lang="pt-BR" sz="1800" dirty="0"/>
              <a:t>Notas de aulas, prof. Leonardo </a:t>
            </a:r>
            <a:r>
              <a:rPr lang="pt-BR" sz="1800" dirty="0" err="1"/>
              <a:t>Tórtoro</a:t>
            </a:r>
            <a:r>
              <a:rPr lang="pt-BR" sz="1800" dirty="0"/>
              <a:t> Pereira (DEMAC/UNESP). </a:t>
            </a:r>
            <a:r>
              <a:rPr lang="pt-BR" sz="1800" b="1" dirty="0"/>
              <a:t>Sistemas de Banco de Dados- Parte 01.</a:t>
            </a:r>
          </a:p>
          <a:p>
            <a:pPr algn="l"/>
            <a:r>
              <a:rPr lang="pt-BR" sz="1800" dirty="0"/>
              <a:t>PAVLO, Andy; PATEL, </a:t>
            </a:r>
            <a:r>
              <a:rPr lang="pt-BR" sz="1800" dirty="0" err="1"/>
              <a:t>Jinglesh</a:t>
            </a:r>
            <a:r>
              <a:rPr lang="pt-BR" sz="1800" dirty="0"/>
              <a:t> (Carnegie Mellon </a:t>
            </a:r>
            <a:r>
              <a:rPr lang="pt-BR" sz="1800" dirty="0" err="1"/>
              <a:t>University</a:t>
            </a:r>
            <a:r>
              <a:rPr lang="pt-BR" sz="1800" dirty="0"/>
              <a:t>)</a:t>
            </a:r>
            <a:r>
              <a:rPr lang="pt-BR" sz="1800" b="1" dirty="0"/>
              <a:t>. </a:t>
            </a:r>
            <a:r>
              <a:rPr lang="pt-BR" sz="1800" b="1" dirty="0" err="1"/>
              <a:t>Databse</a:t>
            </a:r>
            <a:r>
              <a:rPr lang="pt-BR" sz="1800" b="1" dirty="0"/>
              <a:t> Systems (15-445). </a:t>
            </a:r>
            <a:r>
              <a:rPr lang="pt-BR" sz="1800" dirty="0">
                <a:hlinkClick r:id="rId4"/>
              </a:rPr>
              <a:t>https://15445.courses.cs.cmu.edu/spring2026/slides/01-relationalmodel.pdf</a:t>
            </a:r>
            <a:r>
              <a:rPr lang="pt-BR" sz="1800" dirty="0"/>
              <a:t>. 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pt-BR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80090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83962</TotalTime>
  <Words>2705</Words>
  <Application>Microsoft Office PowerPoint</Application>
  <PresentationFormat>Widescreen</PresentationFormat>
  <Paragraphs>453</Paragraphs>
  <Slides>83</Slides>
  <Notes>12</Notes>
  <HiddenSlides>15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83</vt:i4>
      </vt:variant>
    </vt:vector>
  </HeadingPairs>
  <TitlesOfParts>
    <vt:vector size="93" baseType="lpstr">
      <vt:lpstr>Arial</vt:lpstr>
      <vt:lpstr>Calibri</vt:lpstr>
      <vt:lpstr>Calibri Light</vt:lpstr>
      <vt:lpstr>Consolas</vt:lpstr>
      <vt:lpstr>Courier New</vt:lpstr>
      <vt:lpstr>DejaVuSans</vt:lpstr>
      <vt:lpstr>Noto Sans Symbols</vt:lpstr>
      <vt:lpstr>Tahoma</vt:lpstr>
      <vt:lpstr>Wingdings</vt:lpstr>
      <vt:lpstr>Tema do Office</vt:lpstr>
      <vt:lpstr>Apresentação do PowerPoint</vt:lpstr>
      <vt:lpstr>Revisão</vt:lpstr>
      <vt:lpstr>Projeto físico</vt:lpstr>
      <vt:lpstr>Revisão da disciplina</vt:lpstr>
      <vt:lpstr>Na aula anterior...</vt:lpstr>
      <vt:lpstr>Atividade – Normalização</vt:lpstr>
      <vt:lpstr>Possível solução</vt:lpstr>
      <vt:lpstr>Agenda</vt:lpstr>
      <vt:lpstr>Introdução</vt:lpstr>
      <vt:lpstr>Apresentação do PowerPoint</vt:lpstr>
      <vt:lpstr>Introdução</vt:lpstr>
      <vt:lpstr>Conceitos básicos</vt:lpstr>
      <vt:lpstr>Conceitos básicos</vt:lpstr>
      <vt:lpstr>Conceitos básicos</vt:lpstr>
      <vt:lpstr>Agenda</vt:lpstr>
      <vt:lpstr>Arquitetura SGBD</vt:lpstr>
      <vt:lpstr>Arquitetura SGBD - MySQL</vt:lpstr>
      <vt:lpstr>Server process - mysqld</vt:lpstr>
      <vt:lpstr>Storage Engine - InnoDB</vt:lpstr>
      <vt:lpstr>Collation</vt:lpstr>
      <vt:lpstr>Atividade - MySQL Workbench</vt:lpstr>
      <vt:lpstr>Diretórios principais da instalação</vt:lpstr>
      <vt:lpstr>Atividade - MySQL Workbench</vt:lpstr>
      <vt:lpstr>MySQL Online</vt:lpstr>
      <vt:lpstr>Agenda</vt:lpstr>
      <vt:lpstr>SQL</vt:lpstr>
      <vt:lpstr>SQL</vt:lpstr>
      <vt:lpstr>SQL</vt:lpstr>
      <vt:lpstr>SQL</vt:lpstr>
      <vt:lpstr>SQL</vt:lpstr>
      <vt:lpstr>Evolução do padrão SQL</vt:lpstr>
      <vt:lpstr>Evolução do padrão SQL</vt:lpstr>
      <vt:lpstr>Padrão?</vt:lpstr>
      <vt:lpstr>Padrão?</vt:lpstr>
      <vt:lpstr>Padrão?</vt:lpstr>
      <vt:lpstr>Padrão?</vt:lpstr>
      <vt:lpstr>Tipos de dados SQL</vt:lpstr>
      <vt:lpstr>MySQL Data Types</vt:lpstr>
      <vt:lpstr>MySQL Data Types</vt:lpstr>
      <vt:lpstr>MySQL Data Types</vt:lpstr>
      <vt:lpstr>Categorias de comandos SQL</vt:lpstr>
      <vt:lpstr>DDL (Data Definition Language)</vt:lpstr>
      <vt:lpstr>DML (Data Manipulation Language)</vt:lpstr>
      <vt:lpstr>DQL (Data Query Language)</vt:lpstr>
      <vt:lpstr>DQL (Data Query Language)</vt:lpstr>
      <vt:lpstr>DCL (Data Control Language)</vt:lpstr>
      <vt:lpstr>TCL (Transaction Control Language)</vt:lpstr>
      <vt:lpstr>Agenda</vt:lpstr>
      <vt:lpstr>Categorias de comandos SQL</vt:lpstr>
      <vt:lpstr>Comandos DDL</vt:lpstr>
      <vt:lpstr>Comandos DDL</vt:lpstr>
      <vt:lpstr>Comandos DDL</vt:lpstr>
      <vt:lpstr>Comandos DDL</vt:lpstr>
      <vt:lpstr>Comandos DDL</vt:lpstr>
      <vt:lpstr>Comandos DDL</vt:lpstr>
      <vt:lpstr>Comandos DDL</vt:lpstr>
      <vt:lpstr>Comandos DDL</vt:lpstr>
      <vt:lpstr>Comandos DDL</vt:lpstr>
      <vt:lpstr>Exemplo</vt:lpstr>
      <vt:lpstr>Componentes de um SGBDR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Exercício</vt:lpstr>
      <vt:lpstr>Resultado</vt:lpstr>
      <vt:lpstr>Exercício - Resolução</vt:lpstr>
      <vt:lpstr>Exercício - Resolução</vt:lpstr>
      <vt:lpstr>Exercício - Resolução</vt:lpstr>
      <vt:lpstr>Exercício</vt:lpstr>
      <vt:lpstr>Exercício - Resolução</vt:lpstr>
      <vt:lpstr>Exercício</vt:lpstr>
      <vt:lpstr>Atividade</vt:lpstr>
      <vt:lpstr>Seminários</vt:lpstr>
      <vt:lpstr>Referências bibliográficas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Elias Penteado</dc:creator>
  <cp:lastModifiedBy>Author</cp:lastModifiedBy>
  <cp:revision>2627</cp:revision>
  <dcterms:created xsi:type="dcterms:W3CDTF">2024-08-08T20:58:28Z</dcterms:created>
  <dcterms:modified xsi:type="dcterms:W3CDTF">2026-08-06T17:19:00Z</dcterms:modified>
</cp:coreProperties>
</file>