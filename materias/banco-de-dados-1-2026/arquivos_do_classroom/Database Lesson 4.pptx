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256" r:id="rId2"/>
    <p:sldId id="1106" r:id="rId3"/>
    <p:sldId id="1180" r:id="rId4"/>
    <p:sldId id="1107" r:id="rId5"/>
    <p:sldId id="1182" r:id="rId6"/>
    <p:sldId id="1183" r:id="rId7"/>
    <p:sldId id="382" r:id="rId8"/>
    <p:sldId id="1081" r:id="rId9"/>
    <p:sldId id="1110" r:id="rId10"/>
    <p:sldId id="939" r:id="rId11"/>
    <p:sldId id="940" r:id="rId12"/>
    <p:sldId id="941" r:id="rId13"/>
    <p:sldId id="1116" r:id="rId14"/>
    <p:sldId id="1167" r:id="rId15"/>
    <p:sldId id="945" r:id="rId16"/>
    <p:sldId id="1156" r:id="rId17"/>
    <p:sldId id="1117" r:id="rId18"/>
    <p:sldId id="1118" r:id="rId19"/>
    <p:sldId id="1122" r:id="rId20"/>
    <p:sldId id="1124" r:id="rId21"/>
    <p:sldId id="1157" r:id="rId22"/>
    <p:sldId id="1123" r:id="rId23"/>
    <p:sldId id="1120" r:id="rId24"/>
    <p:sldId id="1121" r:id="rId25"/>
    <p:sldId id="1126" r:id="rId26"/>
    <p:sldId id="1128" r:id="rId27"/>
    <p:sldId id="1130" r:id="rId28"/>
    <p:sldId id="1129" r:id="rId29"/>
    <p:sldId id="1132" r:id="rId30"/>
    <p:sldId id="1133" r:id="rId31"/>
    <p:sldId id="1169" r:id="rId32"/>
    <p:sldId id="1168" r:id="rId33"/>
    <p:sldId id="1134" r:id="rId34"/>
    <p:sldId id="1178" r:id="rId35"/>
    <p:sldId id="1179" r:id="rId36"/>
    <p:sldId id="1135" r:id="rId37"/>
    <p:sldId id="1136" r:id="rId38"/>
    <p:sldId id="1137" r:id="rId39"/>
    <p:sldId id="1158" r:id="rId40"/>
    <p:sldId id="1138" r:id="rId41"/>
    <p:sldId id="1154" r:id="rId42"/>
    <p:sldId id="1159" r:id="rId43"/>
    <p:sldId id="1160" r:id="rId44"/>
    <p:sldId id="1163" r:id="rId45"/>
    <p:sldId id="1173" r:id="rId46"/>
    <p:sldId id="1174" r:id="rId47"/>
    <p:sldId id="1164" r:id="rId48"/>
    <p:sldId id="1175" r:id="rId49"/>
    <p:sldId id="1161" r:id="rId50"/>
    <p:sldId id="1176" r:id="rId51"/>
    <p:sldId id="1162" r:id="rId52"/>
    <p:sldId id="1165" r:id="rId53"/>
    <p:sldId id="1166" r:id="rId54"/>
    <p:sldId id="1177" r:id="rId55"/>
    <p:sldId id="1140" r:id="rId56"/>
    <p:sldId id="1141" r:id="rId57"/>
    <p:sldId id="1181" r:id="rId58"/>
    <p:sldId id="1142" r:id="rId59"/>
    <p:sldId id="1143" r:id="rId60"/>
    <p:sldId id="1144" r:id="rId61"/>
    <p:sldId id="1146" r:id="rId62"/>
    <p:sldId id="1145" r:id="rId63"/>
    <p:sldId id="1147" r:id="rId64"/>
    <p:sldId id="1148" r:id="rId65"/>
    <p:sldId id="1149" r:id="rId66"/>
    <p:sldId id="1150" r:id="rId67"/>
    <p:sldId id="1151" r:id="rId68"/>
    <p:sldId id="1152" r:id="rId69"/>
    <p:sldId id="1153" r:id="rId70"/>
    <p:sldId id="1155" r:id="rId71"/>
    <p:sldId id="1170" r:id="rId72"/>
    <p:sldId id="1171" r:id="rId73"/>
    <p:sldId id="1172" r:id="rId74"/>
    <p:sldId id="674" r:id="rId7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A6E7A36-3F35-4972-93E3-A8F86A4B823B}">
          <p14:sldIdLst>
            <p14:sldId id="256"/>
            <p14:sldId id="1106"/>
            <p14:sldId id="1180"/>
            <p14:sldId id="1107"/>
            <p14:sldId id="1182"/>
            <p14:sldId id="1183"/>
            <p14:sldId id="382"/>
            <p14:sldId id="1081"/>
            <p14:sldId id="1110"/>
            <p14:sldId id="939"/>
            <p14:sldId id="940"/>
            <p14:sldId id="941"/>
            <p14:sldId id="1116"/>
            <p14:sldId id="1167"/>
            <p14:sldId id="945"/>
            <p14:sldId id="1156"/>
            <p14:sldId id="1117"/>
            <p14:sldId id="1118"/>
            <p14:sldId id="1122"/>
            <p14:sldId id="1124"/>
            <p14:sldId id="1157"/>
            <p14:sldId id="1123"/>
            <p14:sldId id="1120"/>
            <p14:sldId id="1121"/>
            <p14:sldId id="1126"/>
            <p14:sldId id="1128"/>
            <p14:sldId id="1130"/>
            <p14:sldId id="1129"/>
            <p14:sldId id="1132"/>
            <p14:sldId id="1133"/>
            <p14:sldId id="1169"/>
            <p14:sldId id="1168"/>
            <p14:sldId id="1134"/>
            <p14:sldId id="1178"/>
            <p14:sldId id="1179"/>
            <p14:sldId id="1135"/>
            <p14:sldId id="1136"/>
            <p14:sldId id="1137"/>
            <p14:sldId id="1158"/>
            <p14:sldId id="1138"/>
            <p14:sldId id="1154"/>
            <p14:sldId id="1159"/>
            <p14:sldId id="1160"/>
            <p14:sldId id="1163"/>
            <p14:sldId id="1173"/>
            <p14:sldId id="1174"/>
            <p14:sldId id="1164"/>
            <p14:sldId id="1175"/>
            <p14:sldId id="1161"/>
            <p14:sldId id="1176"/>
            <p14:sldId id="1162"/>
            <p14:sldId id="1165"/>
            <p14:sldId id="1166"/>
            <p14:sldId id="1177"/>
          </p14:sldIdLst>
        </p14:section>
        <p14:section name="Operações" id="{7014644C-B5BC-4205-BC04-3A6BCA7FA5A3}">
          <p14:sldIdLst>
            <p14:sldId id="1140"/>
            <p14:sldId id="1141"/>
            <p14:sldId id="1181"/>
            <p14:sldId id="1142"/>
            <p14:sldId id="1143"/>
            <p14:sldId id="1144"/>
            <p14:sldId id="1146"/>
            <p14:sldId id="1145"/>
            <p14:sldId id="1147"/>
            <p14:sldId id="1148"/>
            <p14:sldId id="1149"/>
            <p14:sldId id="1150"/>
            <p14:sldId id="1151"/>
            <p14:sldId id="1152"/>
            <p14:sldId id="1153"/>
            <p14:sldId id="1155"/>
            <p14:sldId id="1170"/>
            <p14:sldId id="1171"/>
            <p14:sldId id="1172"/>
            <p14:sldId id="6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uno Elias Penteado" initials="BE" lastIdx="2" clrIdx="0">
    <p:extLst>
      <p:ext uri="{19B8F6BF-5375-455C-9EA6-DF929625EA0E}">
        <p15:presenceInfo xmlns:p15="http://schemas.microsoft.com/office/powerpoint/2012/main" userId="S::bruno.penteado@unesp.br::bec6b747-612e-4f00-81d1-4fe3c5e6bf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1C75"/>
    <a:srgbClr val="674EA7"/>
    <a:srgbClr val="E1E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393" autoAdjust="0"/>
  </p:normalViewPr>
  <p:slideViewPr>
    <p:cSldViewPr snapToGrid="0">
      <p:cViewPr varScale="1">
        <p:scale>
          <a:sx n="68" d="100"/>
          <a:sy n="68" d="100"/>
        </p:scale>
        <p:origin x="62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A0D3E-F1D3-4165-92D6-88ABBF3402F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F4DC4-6592-40BF-ABDB-9BFF74F55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73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300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6304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Possíveis mudanças: </a:t>
            </a:r>
          </a:p>
          <a:p>
            <a:pPr marL="171450" indent="-171450">
              <a:buFontTx/>
              <a:buChar char="-"/>
            </a:pPr>
            <a:r>
              <a:rPr lang="pt-BR" dirty="0"/>
              <a:t>Diretores como atributo multivalorado</a:t>
            </a:r>
          </a:p>
          <a:p>
            <a:pPr marL="171450" indent="-171450">
              <a:buFontTx/>
              <a:buChar char="-"/>
            </a:pPr>
            <a:r>
              <a:rPr lang="pt-BR" dirty="0"/>
              <a:t>Hierarquia Ator/Diretor, com Elenco ligando ao Ator apenas</a:t>
            </a:r>
          </a:p>
          <a:p>
            <a:pPr marL="171450" indent="-171450">
              <a:buFontTx/>
              <a:buChar char="-"/>
            </a:pPr>
            <a:r>
              <a:rPr lang="pt-BR" dirty="0"/>
              <a:t>Cidade como atributo?</a:t>
            </a:r>
          </a:p>
          <a:p>
            <a:pPr marL="171450" indent="-171450">
              <a:buFontTx/>
              <a:buChar char="-"/>
            </a:pPr>
            <a:r>
              <a:rPr lang="pt-BR" dirty="0"/>
              <a:t>Outro atributo-chave para ator?</a:t>
            </a:r>
          </a:p>
          <a:p>
            <a:pPr marL="171450" indent="-171450">
              <a:buFontTx/>
              <a:buChar char="-"/>
            </a:pPr>
            <a:r>
              <a:rPr lang="pt-BR" dirty="0"/>
              <a:t>Cinema e Filme gerar uma agregação Sessão?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3102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275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Possibilidades:</a:t>
            </a:r>
          </a:p>
          <a:p>
            <a:r>
              <a:rPr lang="pt-BR" dirty="0"/>
              <a:t>- Idade campo calculado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5429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E012D-927E-618B-F31D-9CF1C5931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783F9F-E1E7-82A1-2AAF-6E7205005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CD099BD-2849-EDC7-B91F-B4389B130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93AA4E-E205-2F44-2800-D863ADBDB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776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C1F7-4DB4-88B8-7C26-3F8A456D1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053B9C8-08AC-68A0-2881-99F07265E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BF85E8-D449-C20D-638A-2F98AD12C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492266-AAD5-EA3F-13AB-822E36603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3269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EB336-356B-240B-3352-C61472BF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3486F4F-885D-8C59-936C-578CECE2A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7E8F46F-9272-1F4A-A8E0-96D5DD171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BF88F6-794C-E584-3334-DBBB1D5B1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9180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Estrutura + restrições + dados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192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5365D-4690-4131-7312-E40B7F70D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48F89E-E65D-04FC-2158-2B0B44935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569D0B2-10B2-22A5-4F9E-0B9D4EA31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382D0D-6E81-6DCB-17B0-4B8E7B90AD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26593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30207-F515-6D97-787D-01B2DA6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D3FA004-14CF-C1A0-E41A-D5578209F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A33228-013A-4125-BD5C-2002D6744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B03344-4947-25E2-77A6-548727B9E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8603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https://www.drawdb.app/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74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79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23A69-42FA-6C7F-8E7F-6B98D9235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D12021-E9B8-2DA5-D7AA-EEFAC9BE4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AE13B6-90D0-2EBF-557D-77BD35E4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C1895-12D9-AC11-702E-11B70319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0C4B1D-8FC3-28DD-213A-B4A33E19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58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C2FD6-A370-1985-C93A-1EDE8406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2C3B9-7A7B-6CD7-6119-3D2AB3F8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77D9F-B2B1-EEB2-F39C-05B9FFB6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BCF700-7673-8EE5-8957-C42E2F58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852A1-3892-A7FE-CCE6-6FCC9FB2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50F23F7-7509-A94A-0357-13196DBAB9BE}"/>
              </a:ext>
            </a:extLst>
          </p:cNvPr>
          <p:cNvCxnSpPr/>
          <p:nvPr userDrawn="1"/>
        </p:nvCxnSpPr>
        <p:spPr>
          <a:xfrm>
            <a:off x="838200" y="1515204"/>
            <a:ext cx="10515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4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BC957-C48F-6616-84A8-A19050F9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C85F08-A25E-5A03-6537-9CF234C8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1BBAA9-5543-2C33-03DE-855D245B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BEBC89-3A79-0634-3519-AF1F8111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AD87A1-4927-B729-156C-B2C6FEFF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5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213CD-B211-17A6-D257-BB10AAF0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D9272-58DB-55C5-C017-D02D739EA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CA884-D3A7-E862-7F04-B49937346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147A3D-8DA4-6B2C-0A0E-0AA6B087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0C47B9-781B-1A6F-38A5-6CF791D1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5ACD4D-8610-8AC9-93C7-D8B0369D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13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E7B04-0019-79A4-76F5-2C891217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C33AB5-0365-0DCE-8AFE-3AABCB4EF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09B770-753E-FCF1-A116-D319C584F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7E1C91-CE5E-222F-1899-061861EB5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8F9A3A-15E1-DB2C-9454-3759BC68B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D57461-6C88-BC10-A526-51F0EC8E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514616-1567-C300-7178-6E93D825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247810-64D7-2657-E807-F2E63157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74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1F6D0-F91D-FF94-ADD4-10B99AAA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1C08B-A0E1-D3DF-477B-076566DF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C29EE2-896F-6655-83F6-77B2CC77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521969-790C-3FB8-B17B-C5D9FA8D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32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EA4D47-97AA-E8F2-EFAD-E53C4D4B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6686CE-31E4-CD82-2C3F-AE7B79DE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63308-365F-B15E-1B4F-EF5A05F5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64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2A433-62E5-A2BD-9933-CEDBBAC8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78DE-9B7C-499B-0B63-1A51C8A34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52706B-ACC1-4F1F-252E-07F6A94B5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07D0C2-9C2B-2A0D-85DB-E5122F1D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CEBD13-52BB-5E4C-C4C9-7253B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118860-1540-DB38-E923-CF9EB4C1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26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2268F-28E4-33A8-9A0D-B4BD01E9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3C9CF8-866C-BB9E-2C67-D40C4A1C7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78B3E1-ECBE-DAF0-5317-CCE8B6622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9CF26C-EB62-7FA1-1821-42D3E058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0B9854-208F-52D2-AAFE-4C05AE11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340E45-F88F-F4D5-516C-ECC00FF8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65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09645-90D5-1856-B2DB-C12DE86D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207D42-9D2A-8F7A-AEE8-7980420C0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97E935-7DE0-6081-9677-5C257B0B6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2B49B-2BD6-A21A-CEE2-1B9E2148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EF3D5-C6F9-8E4C-A73B-B9C1473D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56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907A92-4A5E-2739-A866-E329CB69A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EC33BF-D4D8-5F77-DD24-DA158AAC9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5AC911-DB13-B1D0-B867-3C6E61F0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3CF6F-A03A-D784-15F8-5DB6477A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624183-E9DA-9340-1464-04AA66A0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87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7EA33D-A7C8-9466-7C32-0A686D07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4E89D-FA86-74FF-F5B2-DA086980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436571-AAA0-FF36-AE0C-F581FE371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6B603-1547-4FF1-9893-248F1C80E79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657596-0053-291B-1A10-11FCA5D6C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938FE5-92A0-DD55-5D9B-42370AB35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8C15A9F-51BE-835B-BCD8-3FE41794173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493855" y="176539"/>
            <a:ext cx="3481023" cy="4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0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runo.penteado@unesp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15445.courses.cs.cmu.edu/spring2026/slides/01-relationalmodel.pdf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CE52B2-35C1-BC52-58D1-71F38112F63D}"/>
              </a:ext>
            </a:extLst>
          </p:cNvPr>
          <p:cNvSpPr txBox="1">
            <a:spLocks/>
          </p:cNvSpPr>
          <p:nvPr/>
        </p:nvSpPr>
        <p:spPr>
          <a:xfrm>
            <a:off x="1524000" y="204833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Aula 4</a:t>
            </a:r>
          </a:p>
          <a:p>
            <a:r>
              <a:rPr lang="pt-BR" dirty="0"/>
              <a:t>Modelo de Dados Relacional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2575701-68BF-5229-3D18-C2C9D3651AA6}"/>
              </a:ext>
            </a:extLst>
          </p:cNvPr>
          <p:cNvSpPr txBox="1">
            <a:spLocks/>
          </p:cNvSpPr>
          <p:nvPr/>
        </p:nvSpPr>
        <p:spPr>
          <a:xfrm>
            <a:off x="1524000" y="45280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Bruno Elias Penteado</a:t>
            </a:r>
          </a:p>
          <a:p>
            <a:r>
              <a:rPr lang="pt-BR" sz="1800" dirty="0">
                <a:hlinkClick r:id="rId3"/>
              </a:rPr>
              <a:t>bruno.penteado@unesp.br</a:t>
            </a: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291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83834-6313-498E-8F39-6AEE69B76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 – Site de cinemas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6CCC2D-4AFB-19BB-DEF2-B4E33E4B0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6FFA0BB-4AB1-7285-E7B4-65EEF8500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7" y="1825625"/>
            <a:ext cx="10936226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091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tângulo: Cantos Arredondados 117">
            <a:extLst>
              <a:ext uri="{FF2B5EF4-FFF2-40B4-BE49-F238E27FC236}">
                <a16:creationId xmlns:a16="http://schemas.microsoft.com/office/drawing/2014/main" id="{F4C0675B-1E25-FECD-BEFE-A6AFEE90A017}"/>
              </a:ext>
            </a:extLst>
          </p:cNvPr>
          <p:cNvSpPr/>
          <p:nvPr/>
        </p:nvSpPr>
        <p:spPr>
          <a:xfrm>
            <a:off x="309659" y="4824303"/>
            <a:ext cx="4814712" cy="113930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Elenco</a:t>
            </a:r>
          </a:p>
          <a:p>
            <a:pPr algn="ctr"/>
            <a:endParaRPr lang="pt-BR" dirty="0">
              <a:solidFill>
                <a:schemeClr val="tx1"/>
              </a:solidFill>
            </a:endParaRPr>
          </a:p>
          <a:p>
            <a:pPr algn="ctr"/>
            <a:endParaRPr lang="pt-BR" dirty="0">
              <a:solidFill>
                <a:schemeClr val="tx1"/>
              </a:solidFill>
            </a:endParaRPr>
          </a:p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7" name="Retângulo 116">
            <a:extLst>
              <a:ext uri="{FF2B5EF4-FFF2-40B4-BE49-F238E27FC236}">
                <a16:creationId xmlns:a16="http://schemas.microsoft.com/office/drawing/2014/main" id="{457AD312-0712-4011-3A1F-0F5D9FC1F7DE}"/>
              </a:ext>
            </a:extLst>
          </p:cNvPr>
          <p:cNvSpPr/>
          <p:nvPr/>
        </p:nvSpPr>
        <p:spPr>
          <a:xfrm>
            <a:off x="7700564" y="5196417"/>
            <a:ext cx="1683959" cy="76718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3200" dirty="0">
              <a:solidFill>
                <a:schemeClr val="dk1"/>
              </a:solidFill>
            </a:endParaRP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03ADD774-C48C-DB7B-5FB1-4720CD73FD21}"/>
              </a:ext>
            </a:extLst>
          </p:cNvPr>
          <p:cNvSpPr/>
          <p:nvPr/>
        </p:nvSpPr>
        <p:spPr>
          <a:xfrm>
            <a:off x="6762480" y="2519751"/>
            <a:ext cx="1630343" cy="75287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3200" dirty="0">
              <a:solidFill>
                <a:schemeClr val="dk1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A76A1E5-6834-85DE-B396-B3AC4E4CAE7F}"/>
              </a:ext>
            </a:extLst>
          </p:cNvPr>
          <p:cNvSpPr/>
          <p:nvPr/>
        </p:nvSpPr>
        <p:spPr>
          <a:xfrm>
            <a:off x="383822" y="1861852"/>
            <a:ext cx="1535289" cy="62088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dk1"/>
                </a:solidFill>
              </a:rPr>
              <a:t>Cidade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E4781F7-D7B1-5F2A-AADE-34EA09C146F4}"/>
              </a:ext>
            </a:extLst>
          </p:cNvPr>
          <p:cNvSpPr/>
          <p:nvPr/>
        </p:nvSpPr>
        <p:spPr>
          <a:xfrm>
            <a:off x="4430889" y="1861851"/>
            <a:ext cx="1535289" cy="62088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dk1"/>
                </a:solidFill>
              </a:rPr>
              <a:t>Cinema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E4B090E-9C7B-D651-F169-BB474E4E147D}"/>
              </a:ext>
            </a:extLst>
          </p:cNvPr>
          <p:cNvSpPr/>
          <p:nvPr/>
        </p:nvSpPr>
        <p:spPr>
          <a:xfrm>
            <a:off x="6811239" y="2573211"/>
            <a:ext cx="1535289" cy="620889"/>
          </a:xfrm>
          <a:prstGeom prst="rect">
            <a:avLst/>
          </a:prstGeom>
          <a:ln w="1905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dk1"/>
                </a:solidFill>
              </a:rPr>
              <a:t>Sala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3E5A6FC-E3B0-870C-46DC-23ED387AA237}"/>
              </a:ext>
            </a:extLst>
          </p:cNvPr>
          <p:cNvSpPr/>
          <p:nvPr/>
        </p:nvSpPr>
        <p:spPr>
          <a:xfrm>
            <a:off x="7771230" y="5272592"/>
            <a:ext cx="1535289" cy="620889"/>
          </a:xfrm>
          <a:prstGeom prst="rect">
            <a:avLst/>
          </a:prstGeom>
          <a:ln w="1905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/>
              <a:t>Sessão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8917F67-0062-B9B8-F6CB-873BE8F060D4}"/>
              </a:ext>
            </a:extLst>
          </p:cNvPr>
          <p:cNvSpPr/>
          <p:nvPr/>
        </p:nvSpPr>
        <p:spPr>
          <a:xfrm>
            <a:off x="3332105" y="5185128"/>
            <a:ext cx="1535289" cy="62088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dk1"/>
                </a:solidFill>
              </a:rPr>
              <a:t>Filme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58A7DE2-F60F-58FC-E68B-0392326EB497}"/>
              </a:ext>
            </a:extLst>
          </p:cNvPr>
          <p:cNvSpPr/>
          <p:nvPr/>
        </p:nvSpPr>
        <p:spPr>
          <a:xfrm>
            <a:off x="499923" y="5166432"/>
            <a:ext cx="1535289" cy="62088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dk1"/>
                </a:solidFill>
              </a:rPr>
              <a:t>Ator</a:t>
            </a:r>
          </a:p>
        </p:txBody>
      </p:sp>
      <p:sp>
        <p:nvSpPr>
          <p:cNvPr id="10" name="Google Shape;1476;p111">
            <a:extLst>
              <a:ext uri="{FF2B5EF4-FFF2-40B4-BE49-F238E27FC236}">
                <a16:creationId xmlns:a16="http://schemas.microsoft.com/office/drawing/2014/main" id="{0EC05835-AAD9-A787-593F-B2E2877DF3A4}"/>
              </a:ext>
            </a:extLst>
          </p:cNvPr>
          <p:cNvSpPr/>
          <p:nvPr/>
        </p:nvSpPr>
        <p:spPr>
          <a:xfrm>
            <a:off x="2004243" y="2482741"/>
            <a:ext cx="2048469" cy="889814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Localizado em</a:t>
            </a:r>
            <a:endParaRPr sz="18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E61CBE3-E510-52B4-E74B-8ED2A3162A96}"/>
              </a:ext>
            </a:extLst>
          </p:cNvPr>
          <p:cNvCxnSpPr>
            <a:stCxn id="5" idx="2"/>
            <a:endCxn id="10" idx="3"/>
          </p:cNvCxnSpPr>
          <p:nvPr/>
        </p:nvCxnSpPr>
        <p:spPr>
          <a:xfrm rot="5400000">
            <a:off x="4403169" y="2132283"/>
            <a:ext cx="444908" cy="1145822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to 11">
            <a:extLst>
              <a:ext uri="{FF2B5EF4-FFF2-40B4-BE49-F238E27FC236}">
                <a16:creationId xmlns:a16="http://schemas.microsoft.com/office/drawing/2014/main" id="{31BB65C5-5A0C-44A8-D0E0-C0917C3960ED}"/>
              </a:ext>
            </a:extLst>
          </p:cNvPr>
          <p:cNvCxnSpPr>
            <a:cxnSpLocks/>
            <a:stCxn id="4" idx="2"/>
            <a:endCxn id="10" idx="1"/>
          </p:cNvCxnSpPr>
          <p:nvPr/>
        </p:nvCxnSpPr>
        <p:spPr>
          <a:xfrm rot="16200000" flipH="1">
            <a:off x="1355402" y="2278806"/>
            <a:ext cx="444907" cy="852776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Google Shape;1574;p114">
            <a:extLst>
              <a:ext uri="{FF2B5EF4-FFF2-40B4-BE49-F238E27FC236}">
                <a16:creationId xmlns:a16="http://schemas.microsoft.com/office/drawing/2014/main" id="{DCBFF27F-DC8A-DEE4-704D-23570BADA3C2}"/>
              </a:ext>
            </a:extLst>
          </p:cNvPr>
          <p:cNvSpPr/>
          <p:nvPr/>
        </p:nvSpPr>
        <p:spPr>
          <a:xfrm>
            <a:off x="142716" y="807267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 u="sng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7" name="Google Shape;1574;p114">
            <a:extLst>
              <a:ext uri="{FF2B5EF4-FFF2-40B4-BE49-F238E27FC236}">
                <a16:creationId xmlns:a16="http://schemas.microsoft.com/office/drawing/2014/main" id="{64ABEDFF-6C00-7C59-85CC-D3394535D576}"/>
              </a:ext>
            </a:extLst>
          </p:cNvPr>
          <p:cNvSpPr/>
          <p:nvPr/>
        </p:nvSpPr>
        <p:spPr>
          <a:xfrm>
            <a:off x="1267568" y="1158795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Estado</a:t>
            </a:r>
            <a:endParaRPr sz="2400" u="sng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8" name="Conector reto 11">
            <a:extLst>
              <a:ext uri="{FF2B5EF4-FFF2-40B4-BE49-F238E27FC236}">
                <a16:creationId xmlns:a16="http://schemas.microsoft.com/office/drawing/2014/main" id="{0CB24CD4-EA66-FDFF-1465-976592FC7029}"/>
              </a:ext>
            </a:extLst>
          </p:cNvPr>
          <p:cNvCxnSpPr>
            <a:cxnSpLocks/>
            <a:stCxn id="4" idx="0"/>
            <a:endCxn id="16" idx="4"/>
          </p:cNvCxnSpPr>
          <p:nvPr/>
        </p:nvCxnSpPr>
        <p:spPr>
          <a:xfrm rot="16200000" flipV="1">
            <a:off x="882325" y="1592709"/>
            <a:ext cx="538285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reto 11">
            <a:extLst>
              <a:ext uri="{FF2B5EF4-FFF2-40B4-BE49-F238E27FC236}">
                <a16:creationId xmlns:a16="http://schemas.microsoft.com/office/drawing/2014/main" id="{3DECE3F1-346E-23EB-11B8-B8F1BA074E23}"/>
              </a:ext>
            </a:extLst>
          </p:cNvPr>
          <p:cNvCxnSpPr>
            <a:cxnSpLocks/>
            <a:stCxn id="4" idx="0"/>
            <a:endCxn id="17" idx="4"/>
          </p:cNvCxnSpPr>
          <p:nvPr/>
        </p:nvCxnSpPr>
        <p:spPr>
          <a:xfrm flipV="1">
            <a:off x="1151467" y="1675095"/>
            <a:ext cx="1124851" cy="186757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Google Shape;1574;p114">
            <a:extLst>
              <a:ext uri="{FF2B5EF4-FFF2-40B4-BE49-F238E27FC236}">
                <a16:creationId xmlns:a16="http://schemas.microsoft.com/office/drawing/2014/main" id="{C13AACBF-3544-4F9B-7FF7-E7EF8F09DB5B}"/>
              </a:ext>
            </a:extLst>
          </p:cNvPr>
          <p:cNvSpPr/>
          <p:nvPr/>
        </p:nvSpPr>
        <p:spPr>
          <a:xfrm>
            <a:off x="3811607" y="480174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" name="Google Shape;1574;p114">
            <a:extLst>
              <a:ext uri="{FF2B5EF4-FFF2-40B4-BE49-F238E27FC236}">
                <a16:creationId xmlns:a16="http://schemas.microsoft.com/office/drawing/2014/main" id="{4A48D495-CD41-2E15-2877-C6C4A0C03D1F}"/>
              </a:ext>
            </a:extLst>
          </p:cNvPr>
          <p:cNvSpPr/>
          <p:nvPr/>
        </p:nvSpPr>
        <p:spPr>
          <a:xfrm>
            <a:off x="3516292" y="1106316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CNPJ</a:t>
            </a:r>
            <a:endParaRPr sz="2400" u="sng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" name="Google Shape;1574;p114">
            <a:extLst>
              <a:ext uri="{FF2B5EF4-FFF2-40B4-BE49-F238E27FC236}">
                <a16:creationId xmlns:a16="http://schemas.microsoft.com/office/drawing/2014/main" id="{51D3BE31-2AE6-0AF2-D7CB-D7FD96D9B31E}"/>
              </a:ext>
            </a:extLst>
          </p:cNvPr>
          <p:cNvSpPr/>
          <p:nvPr/>
        </p:nvSpPr>
        <p:spPr>
          <a:xfrm>
            <a:off x="5561384" y="644024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Telefone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8" name="Google Shape;1574;p114">
            <a:extLst>
              <a:ext uri="{FF2B5EF4-FFF2-40B4-BE49-F238E27FC236}">
                <a16:creationId xmlns:a16="http://schemas.microsoft.com/office/drawing/2014/main" id="{C41D577F-E42E-D0F1-2ECA-785B07BC6B30}"/>
              </a:ext>
            </a:extLst>
          </p:cNvPr>
          <p:cNvSpPr/>
          <p:nvPr/>
        </p:nvSpPr>
        <p:spPr>
          <a:xfrm>
            <a:off x="5753730" y="1158795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Endereço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29" name="Conector reto 11">
            <a:extLst>
              <a:ext uri="{FF2B5EF4-FFF2-40B4-BE49-F238E27FC236}">
                <a16:creationId xmlns:a16="http://schemas.microsoft.com/office/drawing/2014/main" id="{E795B1AE-E81A-0CD5-D98C-B8CD7B26BD40}"/>
              </a:ext>
            </a:extLst>
          </p:cNvPr>
          <p:cNvCxnSpPr>
            <a:cxnSpLocks/>
            <a:stCxn id="26" idx="4"/>
            <a:endCxn id="5" idx="0"/>
          </p:cNvCxnSpPr>
          <p:nvPr/>
        </p:nvCxnSpPr>
        <p:spPr>
          <a:xfrm>
            <a:off x="4525042" y="1622616"/>
            <a:ext cx="673492" cy="239235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ctor reto 11">
            <a:extLst>
              <a:ext uri="{FF2B5EF4-FFF2-40B4-BE49-F238E27FC236}">
                <a16:creationId xmlns:a16="http://schemas.microsoft.com/office/drawing/2014/main" id="{744D6986-BBA4-BC25-0F3E-27BF33226F5E}"/>
              </a:ext>
            </a:extLst>
          </p:cNvPr>
          <p:cNvCxnSpPr>
            <a:cxnSpLocks/>
            <a:stCxn id="5" idx="0"/>
            <a:endCxn id="25" idx="4"/>
          </p:cNvCxnSpPr>
          <p:nvPr/>
        </p:nvCxnSpPr>
        <p:spPr>
          <a:xfrm flipH="1" flipV="1">
            <a:off x="4820357" y="996474"/>
            <a:ext cx="378177" cy="865377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ector reto 11">
            <a:extLst>
              <a:ext uri="{FF2B5EF4-FFF2-40B4-BE49-F238E27FC236}">
                <a16:creationId xmlns:a16="http://schemas.microsoft.com/office/drawing/2014/main" id="{E7F006F7-4A40-10DA-FEA5-8041B90C919B}"/>
              </a:ext>
            </a:extLst>
          </p:cNvPr>
          <p:cNvCxnSpPr>
            <a:cxnSpLocks/>
            <a:stCxn id="5" idx="0"/>
            <a:endCxn id="27" idx="3"/>
          </p:cNvCxnSpPr>
          <p:nvPr/>
        </p:nvCxnSpPr>
        <p:spPr>
          <a:xfrm flipV="1">
            <a:off x="5198534" y="1084714"/>
            <a:ext cx="658306" cy="777137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ector reto 11">
            <a:extLst>
              <a:ext uri="{FF2B5EF4-FFF2-40B4-BE49-F238E27FC236}">
                <a16:creationId xmlns:a16="http://schemas.microsoft.com/office/drawing/2014/main" id="{C321E6CA-4087-4C5B-AB13-BD8B6C043972}"/>
              </a:ext>
            </a:extLst>
          </p:cNvPr>
          <p:cNvCxnSpPr>
            <a:cxnSpLocks/>
            <a:stCxn id="5" idx="0"/>
            <a:endCxn id="28" idx="3"/>
          </p:cNvCxnSpPr>
          <p:nvPr/>
        </p:nvCxnSpPr>
        <p:spPr>
          <a:xfrm flipV="1">
            <a:off x="5198534" y="1599485"/>
            <a:ext cx="850652" cy="262366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Google Shape;1476;p111">
            <a:extLst>
              <a:ext uri="{FF2B5EF4-FFF2-40B4-BE49-F238E27FC236}">
                <a16:creationId xmlns:a16="http://schemas.microsoft.com/office/drawing/2014/main" id="{3EBF8C82-05C5-0967-D02F-6131DBD47927}"/>
              </a:ext>
            </a:extLst>
          </p:cNvPr>
          <p:cNvSpPr/>
          <p:nvPr/>
        </p:nvSpPr>
        <p:spPr>
          <a:xfrm>
            <a:off x="4729495" y="3017466"/>
            <a:ext cx="2048469" cy="889814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Possui</a:t>
            </a:r>
            <a:endParaRPr sz="18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44" name="Conector reto 11">
            <a:extLst>
              <a:ext uri="{FF2B5EF4-FFF2-40B4-BE49-F238E27FC236}">
                <a16:creationId xmlns:a16="http://schemas.microsoft.com/office/drawing/2014/main" id="{E6EC1F09-18A7-49B4-9DA4-EFFB8B08A526}"/>
              </a:ext>
            </a:extLst>
          </p:cNvPr>
          <p:cNvCxnSpPr>
            <a:cxnSpLocks/>
            <a:stCxn id="5" idx="3"/>
            <a:endCxn id="43" idx="0"/>
          </p:cNvCxnSpPr>
          <p:nvPr/>
        </p:nvCxnSpPr>
        <p:spPr>
          <a:xfrm flipH="1">
            <a:off x="5753730" y="2172296"/>
            <a:ext cx="212448" cy="845170"/>
          </a:xfrm>
          <a:prstGeom prst="bentConnector4">
            <a:avLst>
              <a:gd name="adj1" fmla="val -107603"/>
              <a:gd name="adj2" fmla="val 68366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ector reto 11">
            <a:extLst>
              <a:ext uri="{FF2B5EF4-FFF2-40B4-BE49-F238E27FC236}">
                <a16:creationId xmlns:a16="http://schemas.microsoft.com/office/drawing/2014/main" id="{0C98B3CF-BCED-05A8-3E68-A940BE9E4486}"/>
              </a:ext>
            </a:extLst>
          </p:cNvPr>
          <p:cNvCxnSpPr>
            <a:cxnSpLocks/>
            <a:stCxn id="6" idx="2"/>
            <a:endCxn id="43" idx="3"/>
          </p:cNvCxnSpPr>
          <p:nvPr/>
        </p:nvCxnSpPr>
        <p:spPr>
          <a:xfrm rot="5400000">
            <a:off x="7044288" y="2927776"/>
            <a:ext cx="268273" cy="800920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Google Shape;1574;p114">
            <a:extLst>
              <a:ext uri="{FF2B5EF4-FFF2-40B4-BE49-F238E27FC236}">
                <a16:creationId xmlns:a16="http://schemas.microsoft.com/office/drawing/2014/main" id="{BA1DCE13-4832-BF3F-B708-4CBE8CE724A6}"/>
              </a:ext>
            </a:extLst>
          </p:cNvPr>
          <p:cNvSpPr/>
          <p:nvPr/>
        </p:nvSpPr>
        <p:spPr>
          <a:xfrm>
            <a:off x="7782516" y="1472518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dashLongHeavy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Número</a:t>
            </a:r>
            <a:endParaRPr sz="2400" u="dashLongHeavy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2" name="Google Shape;1574;p114">
            <a:extLst>
              <a:ext uri="{FF2B5EF4-FFF2-40B4-BE49-F238E27FC236}">
                <a16:creationId xmlns:a16="http://schemas.microsoft.com/office/drawing/2014/main" id="{89C36466-2A95-9E7C-34F6-BD5B33725E4B}"/>
              </a:ext>
            </a:extLst>
          </p:cNvPr>
          <p:cNvSpPr/>
          <p:nvPr/>
        </p:nvSpPr>
        <p:spPr>
          <a:xfrm>
            <a:off x="8477956" y="2006274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 err="1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Num_lugares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3" name="Google Shape;1574;p114">
            <a:extLst>
              <a:ext uri="{FF2B5EF4-FFF2-40B4-BE49-F238E27FC236}">
                <a16:creationId xmlns:a16="http://schemas.microsoft.com/office/drawing/2014/main" id="{329AB341-BCC6-CEFC-19F8-00F5CC8ED0B7}"/>
              </a:ext>
            </a:extLst>
          </p:cNvPr>
          <p:cNvSpPr/>
          <p:nvPr/>
        </p:nvSpPr>
        <p:spPr>
          <a:xfrm>
            <a:off x="8477956" y="2447044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 err="1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Tipo_som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55" name="Conector reto 11">
            <a:extLst>
              <a:ext uri="{FF2B5EF4-FFF2-40B4-BE49-F238E27FC236}">
                <a16:creationId xmlns:a16="http://schemas.microsoft.com/office/drawing/2014/main" id="{469864DB-F940-600F-A436-20DAB00D68FD}"/>
              </a:ext>
            </a:extLst>
          </p:cNvPr>
          <p:cNvCxnSpPr>
            <a:cxnSpLocks/>
            <a:stCxn id="54" idx="0"/>
            <a:endCxn id="51" idx="2"/>
          </p:cNvCxnSpPr>
          <p:nvPr/>
        </p:nvCxnSpPr>
        <p:spPr>
          <a:xfrm flipV="1">
            <a:off x="7577652" y="1730668"/>
            <a:ext cx="204864" cy="789083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ector reto 11">
            <a:extLst>
              <a:ext uri="{FF2B5EF4-FFF2-40B4-BE49-F238E27FC236}">
                <a16:creationId xmlns:a16="http://schemas.microsoft.com/office/drawing/2014/main" id="{EDF5F899-1988-04DE-D836-90B74B3A4E9C}"/>
              </a:ext>
            </a:extLst>
          </p:cNvPr>
          <p:cNvCxnSpPr>
            <a:cxnSpLocks/>
            <a:stCxn id="54" idx="0"/>
            <a:endCxn id="53" idx="2"/>
          </p:cNvCxnSpPr>
          <p:nvPr/>
        </p:nvCxnSpPr>
        <p:spPr>
          <a:xfrm>
            <a:off x="7577652" y="2519751"/>
            <a:ext cx="900304" cy="185443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to 11">
            <a:extLst>
              <a:ext uri="{FF2B5EF4-FFF2-40B4-BE49-F238E27FC236}">
                <a16:creationId xmlns:a16="http://schemas.microsoft.com/office/drawing/2014/main" id="{0C21D16D-110D-67CA-D4AC-E07A0879E7EC}"/>
              </a:ext>
            </a:extLst>
          </p:cNvPr>
          <p:cNvCxnSpPr>
            <a:cxnSpLocks/>
            <a:stCxn id="54" idx="0"/>
            <a:endCxn id="52" idx="2"/>
          </p:cNvCxnSpPr>
          <p:nvPr/>
        </p:nvCxnSpPr>
        <p:spPr>
          <a:xfrm flipV="1">
            <a:off x="7577652" y="2264424"/>
            <a:ext cx="900304" cy="255327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Google Shape;1574;p114">
            <a:extLst>
              <a:ext uri="{FF2B5EF4-FFF2-40B4-BE49-F238E27FC236}">
                <a16:creationId xmlns:a16="http://schemas.microsoft.com/office/drawing/2014/main" id="{59945278-9CC9-7E95-B70E-70D85086F990}"/>
              </a:ext>
            </a:extLst>
          </p:cNvPr>
          <p:cNvSpPr/>
          <p:nvPr/>
        </p:nvSpPr>
        <p:spPr>
          <a:xfrm>
            <a:off x="9384522" y="4557415"/>
            <a:ext cx="2401077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dashLongHeavy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Dia da semana</a:t>
            </a:r>
            <a:endParaRPr sz="2400" u="dashLongHeavy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" name="Google Shape;1574;p114">
            <a:extLst>
              <a:ext uri="{FF2B5EF4-FFF2-40B4-BE49-F238E27FC236}">
                <a16:creationId xmlns:a16="http://schemas.microsoft.com/office/drawing/2014/main" id="{3EEEF5FA-2B7E-CA7F-55D5-9EED2D7064A1}"/>
              </a:ext>
            </a:extLst>
          </p:cNvPr>
          <p:cNvSpPr/>
          <p:nvPr/>
        </p:nvSpPr>
        <p:spPr>
          <a:xfrm>
            <a:off x="10079963" y="5091171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dashLongHeavy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Horário</a:t>
            </a:r>
            <a:endParaRPr sz="2400" u="dashLongHeavy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9" name="Google Shape;1574;p114">
            <a:extLst>
              <a:ext uri="{FF2B5EF4-FFF2-40B4-BE49-F238E27FC236}">
                <a16:creationId xmlns:a16="http://schemas.microsoft.com/office/drawing/2014/main" id="{2D9531BF-407C-8D77-32FE-E3A25C08D8CD}"/>
              </a:ext>
            </a:extLst>
          </p:cNvPr>
          <p:cNvSpPr/>
          <p:nvPr/>
        </p:nvSpPr>
        <p:spPr>
          <a:xfrm>
            <a:off x="10079963" y="5531941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Preço_ingresso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0" name="Conector reto 11">
            <a:extLst>
              <a:ext uri="{FF2B5EF4-FFF2-40B4-BE49-F238E27FC236}">
                <a16:creationId xmlns:a16="http://schemas.microsoft.com/office/drawing/2014/main" id="{D92A3BC4-9958-8E71-B031-75B3DD2FD3A1}"/>
              </a:ext>
            </a:extLst>
          </p:cNvPr>
          <p:cNvCxnSpPr>
            <a:cxnSpLocks/>
            <a:stCxn id="7" idx="3"/>
            <a:endCxn id="69" idx="2"/>
          </p:cNvCxnSpPr>
          <p:nvPr/>
        </p:nvCxnSpPr>
        <p:spPr>
          <a:xfrm>
            <a:off x="9306519" y="5583037"/>
            <a:ext cx="773444" cy="2070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ector reto 11">
            <a:extLst>
              <a:ext uri="{FF2B5EF4-FFF2-40B4-BE49-F238E27FC236}">
                <a16:creationId xmlns:a16="http://schemas.microsoft.com/office/drawing/2014/main" id="{CE366CA7-4A06-0CBB-FF4A-A8863156813B}"/>
              </a:ext>
            </a:extLst>
          </p:cNvPr>
          <p:cNvCxnSpPr>
            <a:cxnSpLocks/>
            <a:stCxn id="7" idx="3"/>
            <a:endCxn id="67" idx="3"/>
          </p:cNvCxnSpPr>
          <p:nvPr/>
        </p:nvCxnSpPr>
        <p:spPr>
          <a:xfrm flipV="1">
            <a:off x="9306519" y="4998105"/>
            <a:ext cx="429633" cy="58493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Conector reto 11">
            <a:extLst>
              <a:ext uri="{FF2B5EF4-FFF2-40B4-BE49-F238E27FC236}">
                <a16:creationId xmlns:a16="http://schemas.microsoft.com/office/drawing/2014/main" id="{6FEE86C3-9496-CFDC-12CD-B8E6C6880014}"/>
              </a:ext>
            </a:extLst>
          </p:cNvPr>
          <p:cNvCxnSpPr>
            <a:cxnSpLocks/>
            <a:stCxn id="7" idx="3"/>
            <a:endCxn id="68" idx="2"/>
          </p:cNvCxnSpPr>
          <p:nvPr/>
        </p:nvCxnSpPr>
        <p:spPr>
          <a:xfrm flipV="1">
            <a:off x="9306519" y="5349321"/>
            <a:ext cx="773444" cy="233716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Google Shape;1476;p111">
            <a:extLst>
              <a:ext uri="{FF2B5EF4-FFF2-40B4-BE49-F238E27FC236}">
                <a16:creationId xmlns:a16="http://schemas.microsoft.com/office/drawing/2014/main" id="{35F333FA-6BFE-B427-1E81-4B10304651CE}"/>
              </a:ext>
            </a:extLst>
          </p:cNvPr>
          <p:cNvSpPr/>
          <p:nvPr/>
        </p:nvSpPr>
        <p:spPr>
          <a:xfrm>
            <a:off x="5069874" y="4165430"/>
            <a:ext cx="2048469" cy="889814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Em cartaz</a:t>
            </a:r>
            <a:endParaRPr sz="18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83" name="Conector reto 11">
            <a:extLst>
              <a:ext uri="{FF2B5EF4-FFF2-40B4-BE49-F238E27FC236}">
                <a16:creationId xmlns:a16="http://schemas.microsoft.com/office/drawing/2014/main" id="{30349B3F-A246-C0A6-BC65-2C6C2774CA40}"/>
              </a:ext>
            </a:extLst>
          </p:cNvPr>
          <p:cNvCxnSpPr>
            <a:cxnSpLocks/>
            <a:stCxn id="7" idx="1"/>
            <a:endCxn id="82" idx="3"/>
          </p:cNvCxnSpPr>
          <p:nvPr/>
        </p:nvCxnSpPr>
        <p:spPr>
          <a:xfrm rot="10800000">
            <a:off x="7118344" y="4610337"/>
            <a:ext cx="652887" cy="9727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Conector reto 11">
            <a:extLst>
              <a:ext uri="{FF2B5EF4-FFF2-40B4-BE49-F238E27FC236}">
                <a16:creationId xmlns:a16="http://schemas.microsoft.com/office/drawing/2014/main" id="{9910B22D-21D7-9888-D526-CE1DDE71AFE9}"/>
              </a:ext>
            </a:extLst>
          </p:cNvPr>
          <p:cNvCxnSpPr>
            <a:cxnSpLocks/>
            <a:stCxn id="8" idx="3"/>
            <a:endCxn id="82" idx="2"/>
          </p:cNvCxnSpPr>
          <p:nvPr/>
        </p:nvCxnSpPr>
        <p:spPr>
          <a:xfrm flipV="1">
            <a:off x="4867394" y="5055244"/>
            <a:ext cx="1226715" cy="440329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Google Shape;1476;p111">
            <a:extLst>
              <a:ext uri="{FF2B5EF4-FFF2-40B4-BE49-F238E27FC236}">
                <a16:creationId xmlns:a16="http://schemas.microsoft.com/office/drawing/2014/main" id="{590198CA-6AAB-6C5B-1B2A-E54A5E84F2A1}"/>
              </a:ext>
            </a:extLst>
          </p:cNvPr>
          <p:cNvSpPr/>
          <p:nvPr/>
        </p:nvSpPr>
        <p:spPr>
          <a:xfrm>
            <a:off x="7723142" y="3735385"/>
            <a:ext cx="1630343" cy="71864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tem</a:t>
            </a:r>
            <a:endParaRPr sz="18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96" name="Conector reto 11">
            <a:extLst>
              <a:ext uri="{FF2B5EF4-FFF2-40B4-BE49-F238E27FC236}">
                <a16:creationId xmlns:a16="http://schemas.microsoft.com/office/drawing/2014/main" id="{56BA64D7-F21F-1E04-24D2-0183EFBA73B8}"/>
              </a:ext>
            </a:extLst>
          </p:cNvPr>
          <p:cNvCxnSpPr>
            <a:cxnSpLocks/>
            <a:stCxn id="93" idx="0"/>
            <a:endCxn id="54" idx="3"/>
          </p:cNvCxnSpPr>
          <p:nvPr/>
        </p:nvCxnSpPr>
        <p:spPr>
          <a:xfrm rot="16200000" flipV="1">
            <a:off x="8045972" y="3243042"/>
            <a:ext cx="839195" cy="145491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ector reto 11">
            <a:extLst>
              <a:ext uri="{FF2B5EF4-FFF2-40B4-BE49-F238E27FC236}">
                <a16:creationId xmlns:a16="http://schemas.microsoft.com/office/drawing/2014/main" id="{FC48C3C3-2233-649F-E526-C7F173EE8E1C}"/>
              </a:ext>
            </a:extLst>
          </p:cNvPr>
          <p:cNvCxnSpPr>
            <a:cxnSpLocks/>
            <a:stCxn id="7" idx="0"/>
            <a:endCxn id="93" idx="2"/>
          </p:cNvCxnSpPr>
          <p:nvPr/>
        </p:nvCxnSpPr>
        <p:spPr>
          <a:xfrm rot="16200000" flipV="1">
            <a:off x="8129312" y="4863028"/>
            <a:ext cx="818567" cy="56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Retângulo 108">
            <a:extLst>
              <a:ext uri="{FF2B5EF4-FFF2-40B4-BE49-F238E27FC236}">
                <a16:creationId xmlns:a16="http://schemas.microsoft.com/office/drawing/2014/main" id="{12FAA049-C866-A959-48B2-011B876D5E8D}"/>
              </a:ext>
            </a:extLst>
          </p:cNvPr>
          <p:cNvSpPr/>
          <p:nvPr/>
        </p:nvSpPr>
        <p:spPr>
          <a:xfrm>
            <a:off x="311776" y="3507018"/>
            <a:ext cx="1535289" cy="62088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dk1"/>
                </a:solidFill>
              </a:rPr>
              <a:t>Diretor</a:t>
            </a:r>
          </a:p>
        </p:txBody>
      </p:sp>
      <p:sp>
        <p:nvSpPr>
          <p:cNvPr id="110" name="Google Shape;1476;p111">
            <a:extLst>
              <a:ext uri="{FF2B5EF4-FFF2-40B4-BE49-F238E27FC236}">
                <a16:creationId xmlns:a16="http://schemas.microsoft.com/office/drawing/2014/main" id="{501F6A22-5D38-C49F-A9D1-A64492EF8D3E}"/>
              </a:ext>
            </a:extLst>
          </p:cNvPr>
          <p:cNvSpPr/>
          <p:nvPr/>
        </p:nvSpPr>
        <p:spPr>
          <a:xfrm>
            <a:off x="2342635" y="3662035"/>
            <a:ext cx="1642578" cy="620889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Dirige</a:t>
            </a:r>
            <a:endParaRPr sz="18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11" name="Conector reto 11">
            <a:extLst>
              <a:ext uri="{FF2B5EF4-FFF2-40B4-BE49-F238E27FC236}">
                <a16:creationId xmlns:a16="http://schemas.microsoft.com/office/drawing/2014/main" id="{6FC78ED4-00CE-569A-9A2F-062B0273DB7C}"/>
              </a:ext>
            </a:extLst>
          </p:cNvPr>
          <p:cNvCxnSpPr>
            <a:cxnSpLocks/>
            <a:stCxn id="8" idx="0"/>
            <a:endCxn id="110" idx="3"/>
          </p:cNvCxnSpPr>
          <p:nvPr/>
        </p:nvCxnSpPr>
        <p:spPr>
          <a:xfrm rot="16200000" flipV="1">
            <a:off x="3436158" y="4521535"/>
            <a:ext cx="1212648" cy="114537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Conector reto 11">
            <a:extLst>
              <a:ext uri="{FF2B5EF4-FFF2-40B4-BE49-F238E27FC236}">
                <a16:creationId xmlns:a16="http://schemas.microsoft.com/office/drawing/2014/main" id="{A61C7E4A-B133-C85E-6F6A-DB8D915382F6}"/>
              </a:ext>
            </a:extLst>
          </p:cNvPr>
          <p:cNvCxnSpPr>
            <a:cxnSpLocks/>
            <a:stCxn id="110" idx="1"/>
            <a:endCxn id="109" idx="3"/>
          </p:cNvCxnSpPr>
          <p:nvPr/>
        </p:nvCxnSpPr>
        <p:spPr>
          <a:xfrm rot="10800000">
            <a:off x="1847065" y="3817464"/>
            <a:ext cx="495570" cy="15501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Google Shape;1574;p114">
            <a:extLst>
              <a:ext uri="{FF2B5EF4-FFF2-40B4-BE49-F238E27FC236}">
                <a16:creationId xmlns:a16="http://schemas.microsoft.com/office/drawing/2014/main" id="{3CE7A67F-E6F5-CA55-F9C3-7D566E54FFE5}"/>
              </a:ext>
            </a:extLst>
          </p:cNvPr>
          <p:cNvSpPr/>
          <p:nvPr/>
        </p:nvSpPr>
        <p:spPr>
          <a:xfrm>
            <a:off x="1708265" y="6248318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Protagonista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20" name="Conector reto 11">
            <a:extLst>
              <a:ext uri="{FF2B5EF4-FFF2-40B4-BE49-F238E27FC236}">
                <a16:creationId xmlns:a16="http://schemas.microsoft.com/office/drawing/2014/main" id="{18B6B8D0-D606-6C55-F69B-415102B37EDB}"/>
              </a:ext>
            </a:extLst>
          </p:cNvPr>
          <p:cNvCxnSpPr>
            <a:cxnSpLocks/>
            <a:stCxn id="118" idx="2"/>
            <a:endCxn id="119" idx="0"/>
          </p:cNvCxnSpPr>
          <p:nvPr/>
        </p:nvCxnSpPr>
        <p:spPr>
          <a:xfrm>
            <a:off x="2717015" y="5963606"/>
            <a:ext cx="0" cy="28471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Google Shape;1574;p114">
            <a:extLst>
              <a:ext uri="{FF2B5EF4-FFF2-40B4-BE49-F238E27FC236}">
                <a16:creationId xmlns:a16="http://schemas.microsoft.com/office/drawing/2014/main" id="{41ED9756-587D-74E1-7BC2-55D42B8F132F}"/>
              </a:ext>
            </a:extLst>
          </p:cNvPr>
          <p:cNvSpPr/>
          <p:nvPr/>
        </p:nvSpPr>
        <p:spPr>
          <a:xfrm>
            <a:off x="5353746" y="5428380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 err="1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Titulo_BR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7" name="Google Shape;1574;p114">
            <a:extLst>
              <a:ext uri="{FF2B5EF4-FFF2-40B4-BE49-F238E27FC236}">
                <a16:creationId xmlns:a16="http://schemas.microsoft.com/office/drawing/2014/main" id="{1CDB8795-EBAC-307F-8A0C-AF1567E06676}"/>
              </a:ext>
            </a:extLst>
          </p:cNvPr>
          <p:cNvSpPr/>
          <p:nvPr/>
        </p:nvSpPr>
        <p:spPr>
          <a:xfrm>
            <a:off x="5643140" y="5800688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 err="1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Titulo_original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8" name="Google Shape;1574;p114">
            <a:extLst>
              <a:ext uri="{FF2B5EF4-FFF2-40B4-BE49-F238E27FC236}">
                <a16:creationId xmlns:a16="http://schemas.microsoft.com/office/drawing/2014/main" id="{2CF8D288-5686-2E41-0F19-66235D8B2993}"/>
              </a:ext>
            </a:extLst>
          </p:cNvPr>
          <p:cNvSpPr/>
          <p:nvPr/>
        </p:nvSpPr>
        <p:spPr>
          <a:xfrm>
            <a:off x="9017125" y="6134964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Dublado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29" name="Conector reto 11">
            <a:extLst>
              <a:ext uri="{FF2B5EF4-FFF2-40B4-BE49-F238E27FC236}">
                <a16:creationId xmlns:a16="http://schemas.microsoft.com/office/drawing/2014/main" id="{98234461-0622-A128-2E3D-9D05E6FA9460}"/>
              </a:ext>
            </a:extLst>
          </p:cNvPr>
          <p:cNvCxnSpPr>
            <a:cxnSpLocks/>
            <a:stCxn id="7" idx="3"/>
            <a:endCxn id="128" idx="0"/>
          </p:cNvCxnSpPr>
          <p:nvPr/>
        </p:nvCxnSpPr>
        <p:spPr>
          <a:xfrm>
            <a:off x="9306519" y="5583037"/>
            <a:ext cx="719356" cy="551927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Google Shape;1574;p114">
            <a:extLst>
              <a:ext uri="{FF2B5EF4-FFF2-40B4-BE49-F238E27FC236}">
                <a16:creationId xmlns:a16="http://schemas.microsoft.com/office/drawing/2014/main" id="{BB0866C4-9FD6-54AE-D127-D4CA078E13FF}"/>
              </a:ext>
            </a:extLst>
          </p:cNvPr>
          <p:cNvSpPr/>
          <p:nvPr/>
        </p:nvSpPr>
        <p:spPr>
          <a:xfrm>
            <a:off x="3632667" y="6134964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Sinopse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3" name="Google Shape;1574;p114">
            <a:extLst>
              <a:ext uri="{FF2B5EF4-FFF2-40B4-BE49-F238E27FC236}">
                <a16:creationId xmlns:a16="http://schemas.microsoft.com/office/drawing/2014/main" id="{9390477C-E961-1B3B-1019-40C46835C633}"/>
              </a:ext>
            </a:extLst>
          </p:cNvPr>
          <p:cNvSpPr/>
          <p:nvPr/>
        </p:nvSpPr>
        <p:spPr>
          <a:xfrm>
            <a:off x="6255572" y="6190121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Gênero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4" name="Google Shape;1574;p114">
            <a:extLst>
              <a:ext uri="{FF2B5EF4-FFF2-40B4-BE49-F238E27FC236}">
                <a16:creationId xmlns:a16="http://schemas.microsoft.com/office/drawing/2014/main" id="{1BDD3978-D49E-C74B-8D0A-947956C334CD}"/>
              </a:ext>
            </a:extLst>
          </p:cNvPr>
          <p:cNvSpPr/>
          <p:nvPr/>
        </p:nvSpPr>
        <p:spPr>
          <a:xfrm>
            <a:off x="4957428" y="6261459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Classificação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35" name="Conector reto 11">
            <a:extLst>
              <a:ext uri="{FF2B5EF4-FFF2-40B4-BE49-F238E27FC236}">
                <a16:creationId xmlns:a16="http://schemas.microsoft.com/office/drawing/2014/main" id="{247D4075-81A3-2B73-B42A-BB6B42B9BCC4}"/>
              </a:ext>
            </a:extLst>
          </p:cNvPr>
          <p:cNvCxnSpPr>
            <a:cxnSpLocks/>
            <a:stCxn id="8" idx="2"/>
            <a:endCxn id="132" idx="0"/>
          </p:cNvCxnSpPr>
          <p:nvPr/>
        </p:nvCxnSpPr>
        <p:spPr>
          <a:xfrm>
            <a:off x="4099750" y="5806017"/>
            <a:ext cx="541667" cy="328947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Conector reto 11">
            <a:extLst>
              <a:ext uri="{FF2B5EF4-FFF2-40B4-BE49-F238E27FC236}">
                <a16:creationId xmlns:a16="http://schemas.microsoft.com/office/drawing/2014/main" id="{7C55E45B-A287-FB63-EC4C-AF2727413D09}"/>
              </a:ext>
            </a:extLst>
          </p:cNvPr>
          <p:cNvCxnSpPr>
            <a:cxnSpLocks/>
            <a:stCxn id="8" idx="2"/>
            <a:endCxn id="126" idx="2"/>
          </p:cNvCxnSpPr>
          <p:nvPr/>
        </p:nvCxnSpPr>
        <p:spPr>
          <a:xfrm flipV="1">
            <a:off x="4099750" y="5686530"/>
            <a:ext cx="1253996" cy="119487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Conector reto 11">
            <a:extLst>
              <a:ext uri="{FF2B5EF4-FFF2-40B4-BE49-F238E27FC236}">
                <a16:creationId xmlns:a16="http://schemas.microsoft.com/office/drawing/2014/main" id="{5A36600C-07A8-C7DD-44E2-6E28C441C562}"/>
              </a:ext>
            </a:extLst>
          </p:cNvPr>
          <p:cNvCxnSpPr>
            <a:cxnSpLocks/>
            <a:stCxn id="8" idx="2"/>
            <a:endCxn id="127" idx="2"/>
          </p:cNvCxnSpPr>
          <p:nvPr/>
        </p:nvCxnSpPr>
        <p:spPr>
          <a:xfrm>
            <a:off x="4099750" y="5806017"/>
            <a:ext cx="1543390" cy="252821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Conector reto 11">
            <a:extLst>
              <a:ext uri="{FF2B5EF4-FFF2-40B4-BE49-F238E27FC236}">
                <a16:creationId xmlns:a16="http://schemas.microsoft.com/office/drawing/2014/main" id="{818C6AD9-042A-EE2E-BF55-6AEB1512079F}"/>
              </a:ext>
            </a:extLst>
          </p:cNvPr>
          <p:cNvCxnSpPr>
            <a:cxnSpLocks/>
            <a:stCxn id="8" idx="2"/>
            <a:endCxn id="134" idx="1"/>
          </p:cNvCxnSpPr>
          <p:nvPr/>
        </p:nvCxnSpPr>
        <p:spPr>
          <a:xfrm>
            <a:off x="4099750" y="5806017"/>
            <a:ext cx="1153134" cy="53105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Conector reto 11">
            <a:extLst>
              <a:ext uri="{FF2B5EF4-FFF2-40B4-BE49-F238E27FC236}">
                <a16:creationId xmlns:a16="http://schemas.microsoft.com/office/drawing/2014/main" id="{65F9A408-A277-3C23-EB14-8B67A0BAF398}"/>
              </a:ext>
            </a:extLst>
          </p:cNvPr>
          <p:cNvCxnSpPr>
            <a:cxnSpLocks/>
            <a:stCxn id="8" idx="2"/>
            <a:endCxn id="133" idx="1"/>
          </p:cNvCxnSpPr>
          <p:nvPr/>
        </p:nvCxnSpPr>
        <p:spPr>
          <a:xfrm>
            <a:off x="4099750" y="5806017"/>
            <a:ext cx="2451278" cy="45971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Google Shape;1476;p111">
            <a:extLst>
              <a:ext uri="{FF2B5EF4-FFF2-40B4-BE49-F238E27FC236}">
                <a16:creationId xmlns:a16="http://schemas.microsoft.com/office/drawing/2014/main" id="{E3D50355-363A-DC91-30E2-B1AF2B9CABBF}"/>
              </a:ext>
            </a:extLst>
          </p:cNvPr>
          <p:cNvSpPr/>
          <p:nvPr/>
        </p:nvSpPr>
        <p:spPr>
          <a:xfrm>
            <a:off x="2280127" y="5296070"/>
            <a:ext cx="887319" cy="365766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atua</a:t>
            </a:r>
            <a:endParaRPr sz="18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51" name="Conector reto 11">
            <a:extLst>
              <a:ext uri="{FF2B5EF4-FFF2-40B4-BE49-F238E27FC236}">
                <a16:creationId xmlns:a16="http://schemas.microsoft.com/office/drawing/2014/main" id="{76794C69-F4F7-59D7-41C0-D3C3BEB9240B}"/>
              </a:ext>
            </a:extLst>
          </p:cNvPr>
          <p:cNvCxnSpPr>
            <a:cxnSpLocks/>
            <a:stCxn id="150" idx="1"/>
            <a:endCxn id="9" idx="3"/>
          </p:cNvCxnSpPr>
          <p:nvPr/>
        </p:nvCxnSpPr>
        <p:spPr>
          <a:xfrm rot="10800000">
            <a:off x="2035213" y="5476877"/>
            <a:ext cx="244915" cy="207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Conector reto 11">
            <a:extLst>
              <a:ext uri="{FF2B5EF4-FFF2-40B4-BE49-F238E27FC236}">
                <a16:creationId xmlns:a16="http://schemas.microsoft.com/office/drawing/2014/main" id="{4272981F-7EFC-59B8-19D9-8BAD890DD4F6}"/>
              </a:ext>
            </a:extLst>
          </p:cNvPr>
          <p:cNvCxnSpPr>
            <a:cxnSpLocks/>
            <a:stCxn id="8" idx="1"/>
            <a:endCxn id="150" idx="3"/>
          </p:cNvCxnSpPr>
          <p:nvPr/>
        </p:nvCxnSpPr>
        <p:spPr>
          <a:xfrm rot="10800000">
            <a:off x="3167447" y="5478953"/>
            <a:ext cx="164659" cy="1662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CaixaDeTexto 165">
            <a:extLst>
              <a:ext uri="{FF2B5EF4-FFF2-40B4-BE49-F238E27FC236}">
                <a16:creationId xmlns:a16="http://schemas.microsoft.com/office/drawing/2014/main" id="{B70E773C-7979-AAF6-DBCE-507B7D5EDFE4}"/>
              </a:ext>
            </a:extLst>
          </p:cNvPr>
          <p:cNvSpPr txBox="1"/>
          <p:nvPr/>
        </p:nvSpPr>
        <p:spPr>
          <a:xfrm>
            <a:off x="1093856" y="24395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67" name="CaixaDeTexto 166">
            <a:extLst>
              <a:ext uri="{FF2B5EF4-FFF2-40B4-BE49-F238E27FC236}">
                <a16:creationId xmlns:a16="http://schemas.microsoft.com/office/drawing/2014/main" id="{6DCF4626-3AEA-38E8-1149-0D1A5283BC63}"/>
              </a:ext>
            </a:extLst>
          </p:cNvPr>
          <p:cNvSpPr txBox="1"/>
          <p:nvPr/>
        </p:nvSpPr>
        <p:spPr>
          <a:xfrm>
            <a:off x="4698171" y="2467786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68" name="CaixaDeTexto 167">
            <a:extLst>
              <a:ext uri="{FF2B5EF4-FFF2-40B4-BE49-F238E27FC236}">
                <a16:creationId xmlns:a16="http://schemas.microsoft.com/office/drawing/2014/main" id="{9C579DB5-2CC8-AAC8-E259-9C79F6C28878}"/>
              </a:ext>
            </a:extLst>
          </p:cNvPr>
          <p:cNvSpPr txBox="1"/>
          <p:nvPr/>
        </p:nvSpPr>
        <p:spPr>
          <a:xfrm>
            <a:off x="6004169" y="18627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69" name="CaixaDeTexto 168">
            <a:extLst>
              <a:ext uri="{FF2B5EF4-FFF2-40B4-BE49-F238E27FC236}">
                <a16:creationId xmlns:a16="http://schemas.microsoft.com/office/drawing/2014/main" id="{6221209D-87B1-815C-CF12-1C1B055207A7}"/>
              </a:ext>
            </a:extLst>
          </p:cNvPr>
          <p:cNvSpPr txBox="1"/>
          <p:nvPr/>
        </p:nvSpPr>
        <p:spPr>
          <a:xfrm>
            <a:off x="7605454" y="324522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70" name="CaixaDeTexto 169">
            <a:extLst>
              <a:ext uri="{FF2B5EF4-FFF2-40B4-BE49-F238E27FC236}">
                <a16:creationId xmlns:a16="http://schemas.microsoft.com/office/drawing/2014/main" id="{73ECE1A1-FDE6-22F3-3C7C-D878B3396CC9}"/>
              </a:ext>
            </a:extLst>
          </p:cNvPr>
          <p:cNvSpPr txBox="1"/>
          <p:nvPr/>
        </p:nvSpPr>
        <p:spPr>
          <a:xfrm>
            <a:off x="8495227" y="28718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E8190185-9502-1E58-457F-B66F50A5819A}"/>
              </a:ext>
            </a:extLst>
          </p:cNvPr>
          <p:cNvSpPr txBox="1"/>
          <p:nvPr/>
        </p:nvSpPr>
        <p:spPr>
          <a:xfrm>
            <a:off x="8505090" y="4779568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72" name="CaixaDeTexto 171">
            <a:extLst>
              <a:ext uri="{FF2B5EF4-FFF2-40B4-BE49-F238E27FC236}">
                <a16:creationId xmlns:a16="http://schemas.microsoft.com/office/drawing/2014/main" id="{54AC414E-8696-7E7F-33C9-29443590996A}"/>
              </a:ext>
            </a:extLst>
          </p:cNvPr>
          <p:cNvSpPr txBox="1"/>
          <p:nvPr/>
        </p:nvSpPr>
        <p:spPr>
          <a:xfrm>
            <a:off x="7436926" y="5169475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73" name="CaixaDeTexto 172">
            <a:extLst>
              <a:ext uri="{FF2B5EF4-FFF2-40B4-BE49-F238E27FC236}">
                <a16:creationId xmlns:a16="http://schemas.microsoft.com/office/drawing/2014/main" id="{57A408F4-3827-0D3D-7FEC-5F1E5D7AD7CC}"/>
              </a:ext>
            </a:extLst>
          </p:cNvPr>
          <p:cNvSpPr txBox="1"/>
          <p:nvPr/>
        </p:nvSpPr>
        <p:spPr>
          <a:xfrm>
            <a:off x="4878892" y="514084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</a:t>
            </a:r>
          </a:p>
        </p:txBody>
      </p:sp>
      <p:sp>
        <p:nvSpPr>
          <p:cNvPr id="174" name="CaixaDeTexto 173">
            <a:extLst>
              <a:ext uri="{FF2B5EF4-FFF2-40B4-BE49-F238E27FC236}">
                <a16:creationId xmlns:a16="http://schemas.microsoft.com/office/drawing/2014/main" id="{C180554D-D9EF-FB1C-21D0-74E0821754A9}"/>
              </a:ext>
            </a:extLst>
          </p:cNvPr>
          <p:cNvSpPr txBox="1"/>
          <p:nvPr/>
        </p:nvSpPr>
        <p:spPr>
          <a:xfrm>
            <a:off x="3045953" y="516947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</a:t>
            </a:r>
          </a:p>
        </p:txBody>
      </p:sp>
      <p:sp>
        <p:nvSpPr>
          <p:cNvPr id="175" name="CaixaDeTexto 174">
            <a:extLst>
              <a:ext uri="{FF2B5EF4-FFF2-40B4-BE49-F238E27FC236}">
                <a16:creationId xmlns:a16="http://schemas.microsoft.com/office/drawing/2014/main" id="{C8DCD619-6E64-AA7E-A0D3-55DED22EFF0F}"/>
              </a:ext>
            </a:extLst>
          </p:cNvPr>
          <p:cNvSpPr txBox="1"/>
          <p:nvPr/>
        </p:nvSpPr>
        <p:spPr>
          <a:xfrm>
            <a:off x="2001528" y="513005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76" name="CaixaDeTexto 175">
            <a:extLst>
              <a:ext uri="{FF2B5EF4-FFF2-40B4-BE49-F238E27FC236}">
                <a16:creationId xmlns:a16="http://schemas.microsoft.com/office/drawing/2014/main" id="{34AC145F-FB72-EF1F-F0A5-386AD9CC240C}"/>
              </a:ext>
            </a:extLst>
          </p:cNvPr>
          <p:cNvSpPr txBox="1"/>
          <p:nvPr/>
        </p:nvSpPr>
        <p:spPr>
          <a:xfrm>
            <a:off x="3765755" y="481932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</a:t>
            </a:r>
          </a:p>
        </p:txBody>
      </p:sp>
      <p:sp>
        <p:nvSpPr>
          <p:cNvPr id="177" name="CaixaDeTexto 176">
            <a:extLst>
              <a:ext uri="{FF2B5EF4-FFF2-40B4-BE49-F238E27FC236}">
                <a16:creationId xmlns:a16="http://schemas.microsoft.com/office/drawing/2014/main" id="{F48F79BE-75AF-D168-6CED-92BEC41FE0A9}"/>
              </a:ext>
            </a:extLst>
          </p:cNvPr>
          <p:cNvSpPr txBox="1"/>
          <p:nvPr/>
        </p:nvSpPr>
        <p:spPr>
          <a:xfrm>
            <a:off x="1837370" y="3475339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78" name="Google Shape;1574;p114">
            <a:extLst>
              <a:ext uri="{FF2B5EF4-FFF2-40B4-BE49-F238E27FC236}">
                <a16:creationId xmlns:a16="http://schemas.microsoft.com/office/drawing/2014/main" id="{78D95620-B093-175F-9399-FD582A71959D}"/>
              </a:ext>
            </a:extLst>
          </p:cNvPr>
          <p:cNvSpPr/>
          <p:nvPr/>
        </p:nvSpPr>
        <p:spPr>
          <a:xfrm>
            <a:off x="-3018" y="6248318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Papel</a:t>
            </a:r>
            <a:endParaRPr sz="2400" u="sng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79" name="Conector reto 11">
            <a:extLst>
              <a:ext uri="{FF2B5EF4-FFF2-40B4-BE49-F238E27FC236}">
                <a16:creationId xmlns:a16="http://schemas.microsoft.com/office/drawing/2014/main" id="{4D74C25D-5720-546E-A515-E75CAC3D5443}"/>
              </a:ext>
            </a:extLst>
          </p:cNvPr>
          <p:cNvCxnSpPr>
            <a:cxnSpLocks/>
            <a:stCxn id="118" idx="2"/>
            <a:endCxn id="178" idx="0"/>
          </p:cNvCxnSpPr>
          <p:nvPr/>
        </p:nvCxnSpPr>
        <p:spPr>
          <a:xfrm flipH="1">
            <a:off x="1005732" y="5963606"/>
            <a:ext cx="1711283" cy="28471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2" name="Google Shape;1574;p114">
            <a:extLst>
              <a:ext uri="{FF2B5EF4-FFF2-40B4-BE49-F238E27FC236}">
                <a16:creationId xmlns:a16="http://schemas.microsoft.com/office/drawing/2014/main" id="{E611E021-9FD0-0673-E1BC-4DDF11088612}"/>
              </a:ext>
            </a:extLst>
          </p:cNvPr>
          <p:cNvSpPr/>
          <p:nvPr/>
        </p:nvSpPr>
        <p:spPr>
          <a:xfrm>
            <a:off x="70670" y="4266528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 u="sng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83" name="Conector reto 11">
            <a:extLst>
              <a:ext uri="{FF2B5EF4-FFF2-40B4-BE49-F238E27FC236}">
                <a16:creationId xmlns:a16="http://schemas.microsoft.com/office/drawing/2014/main" id="{94132874-76F1-3873-EA2D-180D94DA734A}"/>
              </a:ext>
            </a:extLst>
          </p:cNvPr>
          <p:cNvCxnSpPr>
            <a:cxnSpLocks/>
            <a:stCxn id="182" idx="4"/>
            <a:endCxn id="9" idx="0"/>
          </p:cNvCxnSpPr>
          <p:nvPr/>
        </p:nvCxnSpPr>
        <p:spPr>
          <a:xfrm>
            <a:off x="1079420" y="4782828"/>
            <a:ext cx="188148" cy="38360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6" name="Google Shape;1476;p111">
            <a:extLst>
              <a:ext uri="{FF2B5EF4-FFF2-40B4-BE49-F238E27FC236}">
                <a16:creationId xmlns:a16="http://schemas.microsoft.com/office/drawing/2014/main" id="{C815BE32-2C87-D0DF-0D90-B806F6078A3B}"/>
              </a:ext>
            </a:extLst>
          </p:cNvPr>
          <p:cNvSpPr/>
          <p:nvPr/>
        </p:nvSpPr>
        <p:spPr>
          <a:xfrm>
            <a:off x="4894140" y="3090325"/>
            <a:ext cx="1757750" cy="763531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Possui</a:t>
            </a:r>
            <a:endParaRPr sz="18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7" name="Google Shape;1476;p111">
            <a:extLst>
              <a:ext uri="{FF2B5EF4-FFF2-40B4-BE49-F238E27FC236}">
                <a16:creationId xmlns:a16="http://schemas.microsoft.com/office/drawing/2014/main" id="{1EF40E5B-135E-50F1-E787-1C1D46749B89}"/>
              </a:ext>
            </a:extLst>
          </p:cNvPr>
          <p:cNvSpPr/>
          <p:nvPr/>
        </p:nvSpPr>
        <p:spPr>
          <a:xfrm>
            <a:off x="7837680" y="3792453"/>
            <a:ext cx="1420859" cy="626301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tem</a:t>
            </a:r>
            <a:endParaRPr sz="18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066375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77D34-70AC-BE54-D991-2E2339D74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784AC-1436-1B54-C98F-1B1333F5E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2 - Habitação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BC7CA0-97B5-05F9-1E85-8566EA9BB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4D6AD6A-40B9-4DC4-074F-D7C23A47F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19" y="1825625"/>
            <a:ext cx="11021963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28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tângulo 55">
            <a:extLst>
              <a:ext uri="{FF2B5EF4-FFF2-40B4-BE49-F238E27FC236}">
                <a16:creationId xmlns:a16="http://schemas.microsoft.com/office/drawing/2014/main" id="{87FE9DC1-7BCA-43DB-A69E-4D14CDD43A65}"/>
              </a:ext>
            </a:extLst>
          </p:cNvPr>
          <p:cNvSpPr/>
          <p:nvPr/>
        </p:nvSpPr>
        <p:spPr>
          <a:xfrm>
            <a:off x="5056621" y="2756210"/>
            <a:ext cx="1688490" cy="73788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dk1"/>
                </a:solidFill>
              </a:rPr>
              <a:t>Prédio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E4D7270-8989-999C-4A3F-09A488AA2BA2}"/>
              </a:ext>
            </a:extLst>
          </p:cNvPr>
          <p:cNvSpPr/>
          <p:nvPr/>
        </p:nvSpPr>
        <p:spPr>
          <a:xfrm>
            <a:off x="1134534" y="1602207"/>
            <a:ext cx="2342444" cy="62088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dk1"/>
                </a:solidFill>
              </a:rPr>
              <a:t>Condomínio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C82E1A0-A2A8-F6E7-D139-652208988843}"/>
              </a:ext>
            </a:extLst>
          </p:cNvPr>
          <p:cNvSpPr/>
          <p:nvPr/>
        </p:nvSpPr>
        <p:spPr>
          <a:xfrm>
            <a:off x="5119511" y="2808111"/>
            <a:ext cx="1535289" cy="620889"/>
          </a:xfrm>
          <a:prstGeom prst="rect">
            <a:avLst/>
          </a:prstGeom>
          <a:ln w="1905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dk1"/>
                </a:solidFill>
              </a:rPr>
              <a:t>Prédio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8D4E7F2-9645-0C08-44EB-BF8D3AB64560}"/>
              </a:ext>
            </a:extLst>
          </p:cNvPr>
          <p:cNvSpPr/>
          <p:nvPr/>
        </p:nvSpPr>
        <p:spPr>
          <a:xfrm>
            <a:off x="7354710" y="3961584"/>
            <a:ext cx="2534355" cy="69689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dk1"/>
                </a:solidFill>
              </a:rPr>
              <a:t>Apartamento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5ECBB35-4874-866A-083E-A9C7153379A5}"/>
              </a:ext>
            </a:extLst>
          </p:cNvPr>
          <p:cNvSpPr/>
          <p:nvPr/>
        </p:nvSpPr>
        <p:spPr>
          <a:xfrm>
            <a:off x="3087743" y="5168491"/>
            <a:ext cx="1732845" cy="62088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dk1"/>
                </a:solidFill>
              </a:rPr>
              <a:t>Morador</a:t>
            </a:r>
          </a:p>
        </p:txBody>
      </p:sp>
      <p:sp>
        <p:nvSpPr>
          <p:cNvPr id="8" name="Google Shape;1476;p111">
            <a:extLst>
              <a:ext uri="{FF2B5EF4-FFF2-40B4-BE49-F238E27FC236}">
                <a16:creationId xmlns:a16="http://schemas.microsoft.com/office/drawing/2014/main" id="{9F00FD03-32A4-54F6-B984-0F565F1DA59C}"/>
              </a:ext>
            </a:extLst>
          </p:cNvPr>
          <p:cNvSpPr/>
          <p:nvPr/>
        </p:nvSpPr>
        <p:spPr>
          <a:xfrm>
            <a:off x="1279163" y="3071770"/>
            <a:ext cx="2048469" cy="889814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possui</a:t>
            </a:r>
            <a:endParaRPr sz="18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" name="Google Shape;1476;p111">
            <a:extLst>
              <a:ext uri="{FF2B5EF4-FFF2-40B4-BE49-F238E27FC236}">
                <a16:creationId xmlns:a16="http://schemas.microsoft.com/office/drawing/2014/main" id="{D01CA5B8-D388-9A4A-DB22-AEC0CA9A7444}"/>
              </a:ext>
            </a:extLst>
          </p:cNvPr>
          <p:cNvSpPr/>
          <p:nvPr/>
        </p:nvSpPr>
        <p:spPr>
          <a:xfrm>
            <a:off x="7597652" y="2673648"/>
            <a:ext cx="2048469" cy="889814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possui</a:t>
            </a:r>
            <a:endParaRPr sz="18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1476;p111">
            <a:extLst>
              <a:ext uri="{FF2B5EF4-FFF2-40B4-BE49-F238E27FC236}">
                <a16:creationId xmlns:a16="http://schemas.microsoft.com/office/drawing/2014/main" id="{5DF9703C-E2A6-60DB-1A6E-98FAD442360F}"/>
              </a:ext>
            </a:extLst>
          </p:cNvPr>
          <p:cNvSpPr/>
          <p:nvPr/>
        </p:nvSpPr>
        <p:spPr>
          <a:xfrm>
            <a:off x="5887155" y="5034029"/>
            <a:ext cx="2048469" cy="889814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Localizado em</a:t>
            </a:r>
            <a:endParaRPr sz="18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1" name="Conector reto 11">
            <a:extLst>
              <a:ext uri="{FF2B5EF4-FFF2-40B4-BE49-F238E27FC236}">
                <a16:creationId xmlns:a16="http://schemas.microsoft.com/office/drawing/2014/main" id="{2DED7EA5-5D83-F83D-A885-5A19D9C31E62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5400000">
            <a:off x="1880240" y="2646254"/>
            <a:ext cx="848674" cy="235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to 11">
            <a:extLst>
              <a:ext uri="{FF2B5EF4-FFF2-40B4-BE49-F238E27FC236}">
                <a16:creationId xmlns:a16="http://schemas.microsoft.com/office/drawing/2014/main" id="{551A4F37-B5E4-6914-0F06-4993FA229C64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3327632" y="3118556"/>
            <a:ext cx="1791879" cy="39812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to 11">
            <a:extLst>
              <a:ext uri="{FF2B5EF4-FFF2-40B4-BE49-F238E27FC236}">
                <a16:creationId xmlns:a16="http://schemas.microsoft.com/office/drawing/2014/main" id="{78B54158-F2D2-3643-4CD2-D8D1ED5A91B1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6654800" y="3118555"/>
            <a:ext cx="942852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to 11">
            <a:extLst>
              <a:ext uri="{FF2B5EF4-FFF2-40B4-BE49-F238E27FC236}">
                <a16:creationId xmlns:a16="http://schemas.microsoft.com/office/drawing/2014/main" id="{762C9DD6-914A-E6AD-E573-CA6DB04828FE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4820588" y="5478936"/>
            <a:ext cx="1066567" cy="127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to 11">
            <a:extLst>
              <a:ext uri="{FF2B5EF4-FFF2-40B4-BE49-F238E27FC236}">
                <a16:creationId xmlns:a16="http://schemas.microsoft.com/office/drawing/2014/main" id="{D3780173-8E30-5ED6-0598-B76F5A48BE51}"/>
              </a:ext>
            </a:extLst>
          </p:cNvPr>
          <p:cNvCxnSpPr>
            <a:cxnSpLocks/>
            <a:stCxn id="10" idx="3"/>
            <a:endCxn id="6" idx="2"/>
          </p:cNvCxnSpPr>
          <p:nvPr/>
        </p:nvCxnSpPr>
        <p:spPr>
          <a:xfrm flipV="1">
            <a:off x="7935624" y="4658483"/>
            <a:ext cx="686264" cy="82045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to 11">
            <a:extLst>
              <a:ext uri="{FF2B5EF4-FFF2-40B4-BE49-F238E27FC236}">
                <a16:creationId xmlns:a16="http://schemas.microsoft.com/office/drawing/2014/main" id="{49B69CD4-E93A-225C-5250-BC0AC3012BFE}"/>
              </a:ext>
            </a:extLst>
          </p:cNvPr>
          <p:cNvCxnSpPr>
            <a:cxnSpLocks/>
            <a:stCxn id="6" idx="0"/>
            <a:endCxn id="9" idx="2"/>
          </p:cNvCxnSpPr>
          <p:nvPr/>
        </p:nvCxnSpPr>
        <p:spPr>
          <a:xfrm rot="16200000" flipV="1">
            <a:off x="8422827" y="3762522"/>
            <a:ext cx="398122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0F2ED2A-6013-1902-2416-65F610A7560F}"/>
              </a:ext>
            </a:extLst>
          </p:cNvPr>
          <p:cNvSpPr txBox="1"/>
          <p:nvPr/>
        </p:nvSpPr>
        <p:spPr>
          <a:xfrm>
            <a:off x="2364165" y="22230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1D42ED6-4F97-2F9F-E677-DE76E3877BC3}"/>
              </a:ext>
            </a:extLst>
          </p:cNvPr>
          <p:cNvSpPr txBox="1"/>
          <p:nvPr/>
        </p:nvSpPr>
        <p:spPr>
          <a:xfrm>
            <a:off x="6760546" y="274922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5A1351F9-DFBB-D122-E281-EEB3F8712B12}"/>
              </a:ext>
            </a:extLst>
          </p:cNvPr>
          <p:cNvSpPr txBox="1"/>
          <p:nvPr/>
        </p:nvSpPr>
        <p:spPr>
          <a:xfrm>
            <a:off x="8806029" y="45824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891941DB-3730-8EDA-8A42-6349191CB9C1}"/>
              </a:ext>
            </a:extLst>
          </p:cNvPr>
          <p:cNvSpPr txBox="1"/>
          <p:nvPr/>
        </p:nvSpPr>
        <p:spPr>
          <a:xfrm>
            <a:off x="4869424" y="508651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C66C5F78-9295-1E3D-46B6-890153DE431C}"/>
              </a:ext>
            </a:extLst>
          </p:cNvPr>
          <p:cNvSpPr txBox="1"/>
          <p:nvPr/>
        </p:nvSpPr>
        <p:spPr>
          <a:xfrm>
            <a:off x="4785765" y="2749223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0C425F80-C602-A957-86C7-677AFCE2C2CD}"/>
              </a:ext>
            </a:extLst>
          </p:cNvPr>
          <p:cNvSpPr txBox="1"/>
          <p:nvPr/>
        </p:nvSpPr>
        <p:spPr>
          <a:xfrm>
            <a:off x="7573656" y="2789738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40" name="Google Shape;1574;p114">
            <a:extLst>
              <a:ext uri="{FF2B5EF4-FFF2-40B4-BE49-F238E27FC236}">
                <a16:creationId xmlns:a16="http://schemas.microsoft.com/office/drawing/2014/main" id="{EF817A7F-3A6D-CBDB-915C-C67972FAF2E3}"/>
              </a:ext>
            </a:extLst>
          </p:cNvPr>
          <p:cNvSpPr/>
          <p:nvPr/>
        </p:nvSpPr>
        <p:spPr>
          <a:xfrm>
            <a:off x="192893" y="881780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Identificador</a:t>
            </a:r>
            <a:endParaRPr sz="2400" u="sng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1" name="Google Shape;1574;p114">
            <a:extLst>
              <a:ext uri="{FF2B5EF4-FFF2-40B4-BE49-F238E27FC236}">
                <a16:creationId xmlns:a16="http://schemas.microsoft.com/office/drawing/2014/main" id="{74EF8153-293B-8F14-E742-31A85948BA93}"/>
              </a:ext>
            </a:extLst>
          </p:cNvPr>
          <p:cNvSpPr/>
          <p:nvPr/>
        </p:nvSpPr>
        <p:spPr>
          <a:xfrm>
            <a:off x="1506258" y="421764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2" name="Google Shape;1574;p114">
            <a:extLst>
              <a:ext uri="{FF2B5EF4-FFF2-40B4-BE49-F238E27FC236}">
                <a16:creationId xmlns:a16="http://schemas.microsoft.com/office/drawing/2014/main" id="{77483BC6-850B-3DF4-C2D1-F52639A7DD29}"/>
              </a:ext>
            </a:extLst>
          </p:cNvPr>
          <p:cNvSpPr/>
          <p:nvPr/>
        </p:nvSpPr>
        <p:spPr>
          <a:xfrm>
            <a:off x="2665851" y="901106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Cidade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43" name="Conector reto 11">
            <a:extLst>
              <a:ext uri="{FF2B5EF4-FFF2-40B4-BE49-F238E27FC236}">
                <a16:creationId xmlns:a16="http://schemas.microsoft.com/office/drawing/2014/main" id="{4F68C075-271D-B1AD-D749-B646D4D4F5D2}"/>
              </a:ext>
            </a:extLst>
          </p:cNvPr>
          <p:cNvCxnSpPr>
            <a:cxnSpLocks/>
            <a:stCxn id="4" idx="0"/>
            <a:endCxn id="41" idx="4"/>
          </p:cNvCxnSpPr>
          <p:nvPr/>
        </p:nvCxnSpPr>
        <p:spPr>
          <a:xfrm flipV="1">
            <a:off x="2305756" y="938064"/>
            <a:ext cx="209252" cy="664143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 reto 11">
            <a:extLst>
              <a:ext uri="{FF2B5EF4-FFF2-40B4-BE49-F238E27FC236}">
                <a16:creationId xmlns:a16="http://schemas.microsoft.com/office/drawing/2014/main" id="{1AFFE477-8426-16A1-C968-BF63C6F8E34D}"/>
              </a:ext>
            </a:extLst>
          </p:cNvPr>
          <p:cNvCxnSpPr>
            <a:cxnSpLocks/>
            <a:stCxn id="4" idx="0"/>
            <a:endCxn id="42" idx="3"/>
          </p:cNvCxnSpPr>
          <p:nvPr/>
        </p:nvCxnSpPr>
        <p:spPr>
          <a:xfrm flipV="1">
            <a:off x="2305756" y="1341796"/>
            <a:ext cx="655551" cy="260411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reto 11">
            <a:extLst>
              <a:ext uri="{FF2B5EF4-FFF2-40B4-BE49-F238E27FC236}">
                <a16:creationId xmlns:a16="http://schemas.microsoft.com/office/drawing/2014/main" id="{6F77216E-407F-0ADB-8359-558008EC0855}"/>
              </a:ext>
            </a:extLst>
          </p:cNvPr>
          <p:cNvCxnSpPr>
            <a:cxnSpLocks/>
            <a:stCxn id="4" idx="0"/>
            <a:endCxn id="40" idx="5"/>
          </p:cNvCxnSpPr>
          <p:nvPr/>
        </p:nvCxnSpPr>
        <p:spPr>
          <a:xfrm flipH="1" flipV="1">
            <a:off x="1914937" y="1322470"/>
            <a:ext cx="390819" cy="279737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Google Shape;1574;p114">
            <a:extLst>
              <a:ext uri="{FF2B5EF4-FFF2-40B4-BE49-F238E27FC236}">
                <a16:creationId xmlns:a16="http://schemas.microsoft.com/office/drawing/2014/main" id="{631D9F56-8FFE-5051-4B04-F645D05FA290}"/>
              </a:ext>
            </a:extLst>
          </p:cNvPr>
          <p:cNvSpPr/>
          <p:nvPr/>
        </p:nvSpPr>
        <p:spPr>
          <a:xfrm>
            <a:off x="4110761" y="1955810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dashLongHeavy" dirty="0">
                <a:solidFill>
                  <a:schemeClr val="bg1"/>
                </a:solidFill>
                <a:latin typeface="Play"/>
                <a:sym typeface="Play"/>
              </a:rPr>
              <a:t>Número</a:t>
            </a:r>
            <a:endParaRPr sz="1800" u="dashLongHeavy" dirty="0">
              <a:solidFill>
                <a:schemeClr val="bg1"/>
              </a:solidFill>
              <a:latin typeface="Play"/>
              <a:sym typeface="Play"/>
            </a:endParaRPr>
          </a:p>
        </p:txBody>
      </p:sp>
      <p:sp>
        <p:nvSpPr>
          <p:cNvPr id="54" name="Google Shape;1476;p111">
            <a:extLst>
              <a:ext uri="{FF2B5EF4-FFF2-40B4-BE49-F238E27FC236}">
                <a16:creationId xmlns:a16="http://schemas.microsoft.com/office/drawing/2014/main" id="{151F2468-7677-0C24-634C-EE10D741E9F4}"/>
              </a:ext>
            </a:extLst>
          </p:cNvPr>
          <p:cNvSpPr/>
          <p:nvPr/>
        </p:nvSpPr>
        <p:spPr>
          <a:xfrm>
            <a:off x="1383203" y="3134455"/>
            <a:ext cx="1809453" cy="78599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possui</a:t>
            </a:r>
            <a:endParaRPr sz="18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5" name="Google Shape;1476;p111">
            <a:extLst>
              <a:ext uri="{FF2B5EF4-FFF2-40B4-BE49-F238E27FC236}">
                <a16:creationId xmlns:a16="http://schemas.microsoft.com/office/drawing/2014/main" id="{7C95CB98-E19D-F644-95B2-DEAF0CEE6F56}"/>
              </a:ext>
            </a:extLst>
          </p:cNvPr>
          <p:cNvSpPr/>
          <p:nvPr/>
        </p:nvSpPr>
        <p:spPr>
          <a:xfrm>
            <a:off x="7714801" y="2731363"/>
            <a:ext cx="1809453" cy="785990"/>
          </a:xfrm>
          <a:prstGeom prst="diamond">
            <a:avLst/>
          </a:prstGeom>
          <a:solidFill>
            <a:srgbClr val="61A31F"/>
          </a:solidFill>
          <a:ln w="9525" cap="flat" cmpd="sng">
            <a:solidFill>
              <a:srgbClr val="98EC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possui</a:t>
            </a:r>
            <a:endParaRPr sz="18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E9809C59-BA76-94C8-E5DB-AC801604E281}"/>
              </a:ext>
            </a:extLst>
          </p:cNvPr>
          <p:cNvSpPr/>
          <p:nvPr/>
        </p:nvSpPr>
        <p:spPr>
          <a:xfrm>
            <a:off x="7450435" y="4003730"/>
            <a:ext cx="2359605" cy="578743"/>
          </a:xfrm>
          <a:prstGeom prst="rect">
            <a:avLst/>
          </a:prstGeom>
          <a:ln w="1905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dirty="0"/>
              <a:t>Apartamento</a:t>
            </a:r>
          </a:p>
        </p:txBody>
      </p:sp>
      <p:sp>
        <p:nvSpPr>
          <p:cNvPr id="60" name="Google Shape;1574;p114">
            <a:extLst>
              <a:ext uri="{FF2B5EF4-FFF2-40B4-BE49-F238E27FC236}">
                <a16:creationId xmlns:a16="http://schemas.microsoft.com/office/drawing/2014/main" id="{28485C96-3FAE-1FF7-E074-D63BE64FD5BC}"/>
              </a:ext>
            </a:extLst>
          </p:cNvPr>
          <p:cNvSpPr/>
          <p:nvPr/>
        </p:nvSpPr>
        <p:spPr>
          <a:xfrm>
            <a:off x="5353871" y="1543277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 err="1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N_andares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1" name="Google Shape;1574;p114">
            <a:extLst>
              <a:ext uri="{FF2B5EF4-FFF2-40B4-BE49-F238E27FC236}">
                <a16:creationId xmlns:a16="http://schemas.microsoft.com/office/drawing/2014/main" id="{77FBD2A7-63F4-5B42-FEED-29BE64986A82}"/>
              </a:ext>
            </a:extLst>
          </p:cNvPr>
          <p:cNvSpPr/>
          <p:nvPr/>
        </p:nvSpPr>
        <p:spPr>
          <a:xfrm>
            <a:off x="6351568" y="2057924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cores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2" name="Google Shape;1574;p114">
            <a:extLst>
              <a:ext uri="{FF2B5EF4-FFF2-40B4-BE49-F238E27FC236}">
                <a16:creationId xmlns:a16="http://schemas.microsoft.com/office/drawing/2014/main" id="{BA954B94-F995-A888-7CF5-7B84F1EFB4B3}"/>
              </a:ext>
            </a:extLst>
          </p:cNvPr>
          <p:cNvSpPr/>
          <p:nvPr/>
        </p:nvSpPr>
        <p:spPr>
          <a:xfrm>
            <a:off x="6523759" y="2112434"/>
            <a:ext cx="1627489" cy="416492"/>
          </a:xfrm>
          <a:prstGeom prst="ellipse">
            <a:avLst/>
          </a:prstGeom>
          <a:solidFill>
            <a:srgbClr val="674EA7"/>
          </a:solidFill>
          <a:ln w="2857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cores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63" name="Conector reto 11">
            <a:extLst>
              <a:ext uri="{FF2B5EF4-FFF2-40B4-BE49-F238E27FC236}">
                <a16:creationId xmlns:a16="http://schemas.microsoft.com/office/drawing/2014/main" id="{E1F1E3DF-6D0B-7FE8-07A2-D9106F9593AB}"/>
              </a:ext>
            </a:extLst>
          </p:cNvPr>
          <p:cNvCxnSpPr>
            <a:cxnSpLocks/>
            <a:stCxn id="56" idx="0"/>
            <a:endCxn id="60" idx="4"/>
          </p:cNvCxnSpPr>
          <p:nvPr/>
        </p:nvCxnSpPr>
        <p:spPr>
          <a:xfrm flipV="1">
            <a:off x="5900866" y="2059577"/>
            <a:ext cx="461755" cy="696633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ector reto 11">
            <a:extLst>
              <a:ext uri="{FF2B5EF4-FFF2-40B4-BE49-F238E27FC236}">
                <a16:creationId xmlns:a16="http://schemas.microsoft.com/office/drawing/2014/main" id="{2663CD79-3C5D-66D3-9A13-65A90F3CD8B7}"/>
              </a:ext>
            </a:extLst>
          </p:cNvPr>
          <p:cNvCxnSpPr>
            <a:cxnSpLocks/>
            <a:stCxn id="56" idx="0"/>
            <a:endCxn id="53" idx="4"/>
          </p:cNvCxnSpPr>
          <p:nvPr/>
        </p:nvCxnSpPr>
        <p:spPr>
          <a:xfrm flipH="1" flipV="1">
            <a:off x="5119511" y="2472110"/>
            <a:ext cx="781355" cy="284100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ector reto 11">
            <a:extLst>
              <a:ext uri="{FF2B5EF4-FFF2-40B4-BE49-F238E27FC236}">
                <a16:creationId xmlns:a16="http://schemas.microsoft.com/office/drawing/2014/main" id="{294BCFB9-079F-5595-915D-6B9C18C4A0E9}"/>
              </a:ext>
            </a:extLst>
          </p:cNvPr>
          <p:cNvCxnSpPr>
            <a:cxnSpLocks/>
            <a:stCxn id="61" idx="3"/>
            <a:endCxn id="56" idx="0"/>
          </p:cNvCxnSpPr>
          <p:nvPr/>
        </p:nvCxnSpPr>
        <p:spPr>
          <a:xfrm flipH="1">
            <a:off x="5900866" y="2498614"/>
            <a:ext cx="746158" cy="257596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Google Shape;1574;p114">
            <a:extLst>
              <a:ext uri="{FF2B5EF4-FFF2-40B4-BE49-F238E27FC236}">
                <a16:creationId xmlns:a16="http://schemas.microsoft.com/office/drawing/2014/main" id="{161638A4-BE6C-392A-300B-9B971A683E3B}"/>
              </a:ext>
            </a:extLst>
          </p:cNvPr>
          <p:cNvSpPr/>
          <p:nvPr/>
        </p:nvSpPr>
        <p:spPr>
          <a:xfrm>
            <a:off x="10085174" y="3409966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dashLongHeavy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Número</a:t>
            </a:r>
            <a:endParaRPr sz="2400" u="dashLongHeavy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3" name="Google Shape;1574;p114">
            <a:extLst>
              <a:ext uri="{FF2B5EF4-FFF2-40B4-BE49-F238E27FC236}">
                <a16:creationId xmlns:a16="http://schemas.microsoft.com/office/drawing/2014/main" id="{67080027-D400-4B91-A080-1C920E3545C2}"/>
              </a:ext>
            </a:extLst>
          </p:cNvPr>
          <p:cNvSpPr/>
          <p:nvPr/>
        </p:nvSpPr>
        <p:spPr>
          <a:xfrm>
            <a:off x="10085174" y="3920445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Andar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4" name="Google Shape;1574;p114">
            <a:extLst>
              <a:ext uri="{FF2B5EF4-FFF2-40B4-BE49-F238E27FC236}">
                <a16:creationId xmlns:a16="http://schemas.microsoft.com/office/drawing/2014/main" id="{77B383D3-494C-6D63-A215-235CC7B99C0B}"/>
              </a:ext>
            </a:extLst>
          </p:cNvPr>
          <p:cNvSpPr/>
          <p:nvPr/>
        </p:nvSpPr>
        <p:spPr>
          <a:xfrm>
            <a:off x="10085174" y="4453502"/>
            <a:ext cx="2017500" cy="516300"/>
          </a:xfrm>
          <a:prstGeom prst="ellipse">
            <a:avLst/>
          </a:prstGeom>
          <a:solidFill>
            <a:srgbClr val="674EA7"/>
          </a:solidFill>
          <a:ln w="28575" cap="flat" cmpd="sng">
            <a:solidFill>
              <a:schemeClr val="tx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Renda média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6" name="Conector reto 11">
            <a:extLst>
              <a:ext uri="{FF2B5EF4-FFF2-40B4-BE49-F238E27FC236}">
                <a16:creationId xmlns:a16="http://schemas.microsoft.com/office/drawing/2014/main" id="{046101E4-4B69-6D7F-3061-C3E0583465C9}"/>
              </a:ext>
            </a:extLst>
          </p:cNvPr>
          <p:cNvCxnSpPr>
            <a:cxnSpLocks/>
            <a:stCxn id="72" idx="2"/>
            <a:endCxn id="57" idx="3"/>
          </p:cNvCxnSpPr>
          <p:nvPr/>
        </p:nvCxnSpPr>
        <p:spPr>
          <a:xfrm flipH="1">
            <a:off x="9810040" y="3668116"/>
            <a:ext cx="275134" cy="624986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Conector reto 11">
            <a:extLst>
              <a:ext uri="{FF2B5EF4-FFF2-40B4-BE49-F238E27FC236}">
                <a16:creationId xmlns:a16="http://schemas.microsoft.com/office/drawing/2014/main" id="{22998AE8-D20B-8EDB-D955-D069EC7877AD}"/>
              </a:ext>
            </a:extLst>
          </p:cNvPr>
          <p:cNvCxnSpPr>
            <a:cxnSpLocks/>
            <a:stCxn id="73" idx="2"/>
            <a:endCxn id="57" idx="3"/>
          </p:cNvCxnSpPr>
          <p:nvPr/>
        </p:nvCxnSpPr>
        <p:spPr>
          <a:xfrm flipH="1">
            <a:off x="9810040" y="4178595"/>
            <a:ext cx="275134" cy="114507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Conector reto 11">
            <a:extLst>
              <a:ext uri="{FF2B5EF4-FFF2-40B4-BE49-F238E27FC236}">
                <a16:creationId xmlns:a16="http://schemas.microsoft.com/office/drawing/2014/main" id="{46C4D0A2-387B-D626-9052-F406DB4681B5}"/>
              </a:ext>
            </a:extLst>
          </p:cNvPr>
          <p:cNvCxnSpPr>
            <a:cxnSpLocks/>
            <a:stCxn id="74" idx="2"/>
            <a:endCxn id="57" idx="3"/>
          </p:cNvCxnSpPr>
          <p:nvPr/>
        </p:nvCxnSpPr>
        <p:spPr>
          <a:xfrm flipH="1" flipV="1">
            <a:off x="9810040" y="4293102"/>
            <a:ext cx="275134" cy="418550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Google Shape;1574;p114">
            <a:extLst>
              <a:ext uri="{FF2B5EF4-FFF2-40B4-BE49-F238E27FC236}">
                <a16:creationId xmlns:a16="http://schemas.microsoft.com/office/drawing/2014/main" id="{9C2C9FA1-8AAD-CA06-8C13-3DA29FBF7A56}"/>
              </a:ext>
            </a:extLst>
          </p:cNvPr>
          <p:cNvSpPr/>
          <p:nvPr/>
        </p:nvSpPr>
        <p:spPr>
          <a:xfrm>
            <a:off x="1070243" y="4552108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Nome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6" name="Google Shape;1574;p114">
            <a:extLst>
              <a:ext uri="{FF2B5EF4-FFF2-40B4-BE49-F238E27FC236}">
                <a16:creationId xmlns:a16="http://schemas.microsoft.com/office/drawing/2014/main" id="{8148769B-470B-CA6A-DE08-39276D7D7030}"/>
              </a:ext>
            </a:extLst>
          </p:cNvPr>
          <p:cNvSpPr/>
          <p:nvPr/>
        </p:nvSpPr>
        <p:spPr>
          <a:xfrm>
            <a:off x="497508" y="5034029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RG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7" name="Google Shape;1574;p114">
            <a:extLst>
              <a:ext uri="{FF2B5EF4-FFF2-40B4-BE49-F238E27FC236}">
                <a16:creationId xmlns:a16="http://schemas.microsoft.com/office/drawing/2014/main" id="{D56C3E9F-5892-7AF6-2C8F-153B47642F17}"/>
              </a:ext>
            </a:extLst>
          </p:cNvPr>
          <p:cNvSpPr/>
          <p:nvPr/>
        </p:nvSpPr>
        <p:spPr>
          <a:xfrm>
            <a:off x="536960" y="5550329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CPF</a:t>
            </a:r>
            <a:endParaRPr sz="2400" u="sng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8" name="Google Shape;1574;p114">
            <a:extLst>
              <a:ext uri="{FF2B5EF4-FFF2-40B4-BE49-F238E27FC236}">
                <a16:creationId xmlns:a16="http://schemas.microsoft.com/office/drawing/2014/main" id="{03DFB494-5AFE-7631-301A-F9A8C6062418}"/>
              </a:ext>
            </a:extLst>
          </p:cNvPr>
          <p:cNvSpPr/>
          <p:nvPr/>
        </p:nvSpPr>
        <p:spPr>
          <a:xfrm>
            <a:off x="648351" y="6066629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Sexo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9" name="Google Shape;1574;p114">
            <a:extLst>
              <a:ext uri="{FF2B5EF4-FFF2-40B4-BE49-F238E27FC236}">
                <a16:creationId xmlns:a16="http://schemas.microsoft.com/office/drawing/2014/main" id="{85B64E9C-1A65-EF50-7542-0303A305639E}"/>
              </a:ext>
            </a:extLst>
          </p:cNvPr>
          <p:cNvSpPr/>
          <p:nvPr/>
        </p:nvSpPr>
        <p:spPr>
          <a:xfrm>
            <a:off x="2364165" y="6318026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Idade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0" name="Google Shape;1574;p114">
            <a:extLst>
              <a:ext uri="{FF2B5EF4-FFF2-40B4-BE49-F238E27FC236}">
                <a16:creationId xmlns:a16="http://schemas.microsoft.com/office/drawing/2014/main" id="{187B383F-995B-63E9-07FC-B6C256DB83FD}"/>
              </a:ext>
            </a:extLst>
          </p:cNvPr>
          <p:cNvSpPr/>
          <p:nvPr/>
        </p:nvSpPr>
        <p:spPr>
          <a:xfrm>
            <a:off x="4027547" y="6139285"/>
            <a:ext cx="2017500" cy="516300"/>
          </a:xfrm>
          <a:prstGeom prst="ellipse">
            <a:avLst/>
          </a:prstGeom>
          <a:solidFill>
            <a:srgbClr val="674EA7"/>
          </a:solidFill>
          <a:ln w="95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Renda</a:t>
            </a:r>
            <a:endParaRPr sz="2400" dirty="0">
              <a:solidFill>
                <a:schemeClr val="bg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91" name="Conector reto 11">
            <a:extLst>
              <a:ext uri="{FF2B5EF4-FFF2-40B4-BE49-F238E27FC236}">
                <a16:creationId xmlns:a16="http://schemas.microsoft.com/office/drawing/2014/main" id="{5DCD0BE6-BFEB-9B0C-BA9F-B2EF63128261}"/>
              </a:ext>
            </a:extLst>
          </p:cNvPr>
          <p:cNvCxnSpPr>
            <a:cxnSpLocks/>
            <a:stCxn id="85" idx="5"/>
            <a:endCxn id="7" idx="1"/>
          </p:cNvCxnSpPr>
          <p:nvPr/>
        </p:nvCxnSpPr>
        <p:spPr>
          <a:xfrm>
            <a:off x="2792287" y="4992798"/>
            <a:ext cx="295456" cy="486138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Conector reto 11">
            <a:extLst>
              <a:ext uri="{FF2B5EF4-FFF2-40B4-BE49-F238E27FC236}">
                <a16:creationId xmlns:a16="http://schemas.microsoft.com/office/drawing/2014/main" id="{F9948CAB-ADFA-DA93-53AC-867E8AF0C6A5}"/>
              </a:ext>
            </a:extLst>
          </p:cNvPr>
          <p:cNvCxnSpPr>
            <a:cxnSpLocks/>
            <a:stCxn id="86" idx="6"/>
            <a:endCxn id="7" idx="1"/>
          </p:cNvCxnSpPr>
          <p:nvPr/>
        </p:nvCxnSpPr>
        <p:spPr>
          <a:xfrm>
            <a:off x="2515008" y="5292179"/>
            <a:ext cx="572735" cy="186757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Conector reto 11">
            <a:extLst>
              <a:ext uri="{FF2B5EF4-FFF2-40B4-BE49-F238E27FC236}">
                <a16:creationId xmlns:a16="http://schemas.microsoft.com/office/drawing/2014/main" id="{3A5544C9-8CF2-4661-9D32-2E1BFBACC352}"/>
              </a:ext>
            </a:extLst>
          </p:cNvPr>
          <p:cNvCxnSpPr>
            <a:cxnSpLocks/>
            <a:stCxn id="87" idx="6"/>
            <a:endCxn id="7" idx="1"/>
          </p:cNvCxnSpPr>
          <p:nvPr/>
        </p:nvCxnSpPr>
        <p:spPr>
          <a:xfrm flipV="1">
            <a:off x="2554460" y="5478936"/>
            <a:ext cx="533283" cy="329543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Conector reto 11">
            <a:extLst>
              <a:ext uri="{FF2B5EF4-FFF2-40B4-BE49-F238E27FC236}">
                <a16:creationId xmlns:a16="http://schemas.microsoft.com/office/drawing/2014/main" id="{C23C1876-3970-2C7A-483E-DEDBFBE5893D}"/>
              </a:ext>
            </a:extLst>
          </p:cNvPr>
          <p:cNvCxnSpPr>
            <a:cxnSpLocks/>
            <a:stCxn id="88" idx="7"/>
            <a:endCxn id="7" idx="1"/>
          </p:cNvCxnSpPr>
          <p:nvPr/>
        </p:nvCxnSpPr>
        <p:spPr>
          <a:xfrm flipV="1">
            <a:off x="2370395" y="5478936"/>
            <a:ext cx="717348" cy="663303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Conector reto 11">
            <a:extLst>
              <a:ext uri="{FF2B5EF4-FFF2-40B4-BE49-F238E27FC236}">
                <a16:creationId xmlns:a16="http://schemas.microsoft.com/office/drawing/2014/main" id="{096F72A9-AE57-6472-F00F-4AB38040452D}"/>
              </a:ext>
            </a:extLst>
          </p:cNvPr>
          <p:cNvCxnSpPr>
            <a:cxnSpLocks/>
            <a:stCxn id="89" idx="0"/>
            <a:endCxn id="7" idx="1"/>
          </p:cNvCxnSpPr>
          <p:nvPr/>
        </p:nvCxnSpPr>
        <p:spPr>
          <a:xfrm flipH="1" flipV="1">
            <a:off x="3087743" y="5478936"/>
            <a:ext cx="285172" cy="839090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ector reto 11">
            <a:extLst>
              <a:ext uri="{FF2B5EF4-FFF2-40B4-BE49-F238E27FC236}">
                <a16:creationId xmlns:a16="http://schemas.microsoft.com/office/drawing/2014/main" id="{2FE33E08-94EA-0769-40A9-224455E09030}"/>
              </a:ext>
            </a:extLst>
          </p:cNvPr>
          <p:cNvCxnSpPr>
            <a:cxnSpLocks/>
            <a:stCxn id="90" idx="1"/>
            <a:endCxn id="7" idx="1"/>
          </p:cNvCxnSpPr>
          <p:nvPr/>
        </p:nvCxnSpPr>
        <p:spPr>
          <a:xfrm flipH="1" flipV="1">
            <a:off x="3087743" y="5478936"/>
            <a:ext cx="1235260" cy="735959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049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FE8B23-E2D3-CE1A-0080-113E6A008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de hoje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213493-BCD2-CC22-0D06-735D52F04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Fazer o MER para o projeto do grupo</a:t>
            </a:r>
          </a:p>
          <a:p>
            <a:r>
              <a:rPr lang="pt-BR" dirty="0"/>
              <a:t>Entregar via </a:t>
            </a:r>
            <a:r>
              <a:rPr lang="pt-BR" i="1" dirty="0" err="1"/>
              <a:t>Classroom</a:t>
            </a:r>
            <a:r>
              <a:rPr lang="pt-BR" dirty="0"/>
              <a:t> até a próxima aula</a:t>
            </a:r>
          </a:p>
          <a:p>
            <a:pPr lvl="1"/>
            <a:r>
              <a:rPr lang="pt-BR" b="1" dirty="0">
                <a:solidFill>
                  <a:srgbClr val="FF0000"/>
                </a:solidFill>
              </a:rPr>
              <a:t>COLOCAR O NOME DOS MEMBROS DO GRUPO</a:t>
            </a:r>
          </a:p>
          <a:p>
            <a:r>
              <a:rPr lang="pt-BR" dirty="0"/>
              <a:t>Parte da avaliação contínua</a:t>
            </a:r>
          </a:p>
          <a:p>
            <a:r>
              <a:rPr lang="pt-BR" dirty="0"/>
              <a:t>Até 20h40</a:t>
            </a:r>
          </a:p>
        </p:txBody>
      </p:sp>
    </p:spTree>
    <p:extLst>
      <p:ext uri="{BB962C8B-B14F-4D97-AF65-F5344CB8AC3E}">
        <p14:creationId xmlns:p14="http://schemas.microsoft.com/office/powerpoint/2010/main" val="2950500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AA60B-667A-3B1E-5026-7006A72F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aula anterior, vimos...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EAEA1F-22A4-D565-FC85-BCE673025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Conceitos gerais sobre BD, SGBD, SBD e modelos de dados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Modelagem conceitual usando Modelo Entidade-Relacionamento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Modelagem conceitual usando Modelo Entidade-Relacionamento Estendido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endParaRPr lang="pt-BR" dirty="0"/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1883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DE6AB-E006-69C1-28A1-2B01306D4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CC42BC-78D1-9D80-D485-4E19A6F46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1800"/>
              </a:spcBef>
            </a:pPr>
            <a:r>
              <a:rPr lang="pt-BR" dirty="0"/>
              <a:t>Modelo MER Estendido (EER ou MER-</a:t>
            </a:r>
            <a:r>
              <a:rPr lang="pt-BR" dirty="0" err="1"/>
              <a:t>Ex</a:t>
            </a:r>
            <a:r>
              <a:rPr lang="pt-BR" dirty="0"/>
              <a:t>)</a:t>
            </a:r>
          </a:p>
          <a:p>
            <a:pPr>
              <a:spcBef>
                <a:spcPts val="1800"/>
              </a:spcBef>
            </a:pPr>
            <a:r>
              <a:rPr lang="pt-BR" dirty="0"/>
              <a:t>Agregação</a:t>
            </a:r>
          </a:p>
          <a:p>
            <a:pPr lvl="1"/>
            <a:r>
              <a:rPr lang="pt-BR" dirty="0"/>
              <a:t>Definição</a:t>
            </a:r>
          </a:p>
          <a:p>
            <a:pPr lvl="1"/>
            <a:r>
              <a:rPr lang="pt-BR" dirty="0"/>
              <a:t>Componentes</a:t>
            </a:r>
          </a:p>
          <a:p>
            <a:pPr lvl="1"/>
            <a:r>
              <a:rPr lang="pt-BR" dirty="0"/>
              <a:t>Quando utilizar</a:t>
            </a:r>
          </a:p>
          <a:p>
            <a:pPr>
              <a:spcBef>
                <a:spcPts val="1800"/>
              </a:spcBef>
            </a:pPr>
            <a:r>
              <a:rPr lang="pt-BR" dirty="0"/>
              <a:t>Generalização/Especialização</a:t>
            </a:r>
          </a:p>
          <a:p>
            <a:pPr lvl="1"/>
            <a:r>
              <a:rPr lang="pt-BR" dirty="0"/>
              <a:t>Definição</a:t>
            </a:r>
          </a:p>
          <a:p>
            <a:pPr lvl="1"/>
            <a:r>
              <a:rPr lang="pt-BR" dirty="0"/>
              <a:t>Herança</a:t>
            </a:r>
          </a:p>
          <a:p>
            <a:pPr lvl="1"/>
            <a:r>
              <a:rPr lang="pt-BR" dirty="0"/>
              <a:t>Restrições de especialização</a:t>
            </a:r>
          </a:p>
          <a:p>
            <a:pPr lvl="1"/>
            <a:r>
              <a:rPr lang="pt-BR" dirty="0"/>
              <a:t>Múltiplos níveis </a:t>
            </a:r>
          </a:p>
          <a:p>
            <a:pPr lvl="1"/>
            <a:r>
              <a:rPr lang="pt-BR" dirty="0"/>
              <a:t>Quando utilizar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D6B3A8-BBA8-8693-F308-41EE64DAB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última aula...</a:t>
            </a:r>
          </a:p>
        </p:txBody>
      </p:sp>
    </p:spTree>
    <p:extLst>
      <p:ext uri="{BB962C8B-B14F-4D97-AF65-F5344CB8AC3E}">
        <p14:creationId xmlns:p14="http://schemas.microsoft.com/office/powerpoint/2010/main" val="3734255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BC4F4-08BA-9CB3-278E-FE1CECDC4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42D60B-B79E-5A3F-04EB-7AA90BF0C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Conceitos básicos</a:t>
            </a:r>
          </a:p>
          <a:p>
            <a:pPr>
              <a:spcBef>
                <a:spcPts val="2400"/>
              </a:spcBef>
            </a:pPr>
            <a:r>
              <a:rPr lang="pt-BR" b="1" dirty="0"/>
              <a:t>Restrições do Modelo Relacional</a:t>
            </a:r>
          </a:p>
          <a:p>
            <a:pPr>
              <a:spcBef>
                <a:spcPts val="2400"/>
              </a:spcBef>
            </a:pPr>
            <a:r>
              <a:rPr lang="pt-BR" b="1" dirty="0"/>
              <a:t>Operações, restrições e transações</a:t>
            </a:r>
            <a:endParaRPr lang="pt-BR" dirty="0"/>
          </a:p>
          <a:p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682D57-6369-E819-79EF-8BC5D7AA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8B61095-3DB5-957E-2B4C-792F937ECC8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9111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27CF77-B89C-AE23-94DE-6D9AEAE29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Abstração dos dados</a:t>
            </a:r>
          </a:p>
        </p:txBody>
      </p:sp>
      <p:sp>
        <p:nvSpPr>
          <p:cNvPr id="4" name="Google Shape;308;p27">
            <a:extLst>
              <a:ext uri="{FF2B5EF4-FFF2-40B4-BE49-F238E27FC236}">
                <a16:creationId xmlns:a16="http://schemas.microsoft.com/office/drawing/2014/main" id="{F39A08E1-0277-EDC7-7AD6-DBB230B9F009}"/>
              </a:ext>
            </a:extLst>
          </p:cNvPr>
          <p:cNvSpPr txBox="1">
            <a:spLocks noGrp="1"/>
          </p:cNvSpPr>
          <p:nvPr/>
        </p:nvSpPr>
        <p:spPr>
          <a:xfrm>
            <a:off x="2861214" y="5932163"/>
            <a:ext cx="59988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○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○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/>
              <a:t>Modelagem de dados: O ”Três Reinos” - Abstração</a:t>
            </a:r>
            <a:endParaRPr sz="1800" b="1"/>
          </a:p>
        </p:txBody>
      </p:sp>
      <p:pic>
        <p:nvPicPr>
          <p:cNvPr id="5" name="Google Shape;309;p27">
            <a:extLst>
              <a:ext uri="{FF2B5EF4-FFF2-40B4-BE49-F238E27FC236}">
                <a16:creationId xmlns:a16="http://schemas.microsoft.com/office/drawing/2014/main" id="{FB3CB11D-0F62-7ACB-3D6D-E9156F02046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86264" y="2710613"/>
            <a:ext cx="1531146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10;p27">
            <a:extLst>
              <a:ext uri="{FF2B5EF4-FFF2-40B4-BE49-F238E27FC236}">
                <a16:creationId xmlns:a16="http://schemas.microsoft.com/office/drawing/2014/main" id="{4F8C4F38-078F-4D29-3045-104A2DB08C67}"/>
              </a:ext>
            </a:extLst>
          </p:cNvPr>
          <p:cNvSpPr txBox="1"/>
          <p:nvPr/>
        </p:nvSpPr>
        <p:spPr>
          <a:xfrm>
            <a:off x="4979514" y="2187238"/>
            <a:ext cx="176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u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Percepção</a:t>
            </a:r>
            <a:endParaRPr sz="2400" b="1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311;p27">
            <a:extLst>
              <a:ext uri="{FF2B5EF4-FFF2-40B4-BE49-F238E27FC236}">
                <a16:creationId xmlns:a16="http://schemas.microsoft.com/office/drawing/2014/main" id="{CACC13AD-F678-020D-C49A-C0FD221C0CE9}"/>
              </a:ext>
            </a:extLst>
          </p:cNvPr>
          <p:cNvSpPr txBox="1"/>
          <p:nvPr/>
        </p:nvSpPr>
        <p:spPr>
          <a:xfrm>
            <a:off x="8185589" y="4897201"/>
            <a:ext cx="195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u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Modelagem</a:t>
            </a:r>
            <a:endParaRPr sz="2400" b="1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" name="Google Shape;312;p27">
            <a:extLst>
              <a:ext uri="{FF2B5EF4-FFF2-40B4-BE49-F238E27FC236}">
                <a16:creationId xmlns:a16="http://schemas.microsoft.com/office/drawing/2014/main" id="{393D8D0F-7819-8DCB-B424-2058C17D1B8E}"/>
              </a:ext>
            </a:extLst>
          </p:cNvPr>
          <p:cNvSpPr txBox="1"/>
          <p:nvPr/>
        </p:nvSpPr>
        <p:spPr>
          <a:xfrm>
            <a:off x="1453314" y="5123763"/>
            <a:ext cx="2595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u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Implementação</a:t>
            </a:r>
            <a:endParaRPr sz="2400" b="1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" name="Google Shape;313;p27">
            <a:extLst>
              <a:ext uri="{FF2B5EF4-FFF2-40B4-BE49-F238E27FC236}">
                <a16:creationId xmlns:a16="http://schemas.microsoft.com/office/drawing/2014/main" id="{AA075D39-9084-35CC-8A85-FCA35AA27579}"/>
              </a:ext>
            </a:extLst>
          </p:cNvPr>
          <p:cNvSpPr txBox="1"/>
          <p:nvPr/>
        </p:nvSpPr>
        <p:spPr>
          <a:xfrm>
            <a:off x="1766039" y="2187263"/>
            <a:ext cx="137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u="none">
                <a:solidFill>
                  <a:srgbClr val="98EC43"/>
                </a:solidFill>
                <a:latin typeface="Play"/>
                <a:ea typeface="Play"/>
                <a:cs typeface="Play"/>
                <a:sym typeface="Play"/>
              </a:rPr>
              <a:t>Real</a:t>
            </a:r>
            <a:endParaRPr sz="2400" b="1">
              <a:solidFill>
                <a:srgbClr val="98EC43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314;p27">
            <a:extLst>
              <a:ext uri="{FF2B5EF4-FFF2-40B4-BE49-F238E27FC236}">
                <a16:creationId xmlns:a16="http://schemas.microsoft.com/office/drawing/2014/main" id="{FFC6A308-162A-CE3D-87DD-4DE7CF3BCBF2}"/>
              </a:ext>
            </a:extLst>
          </p:cNvPr>
          <p:cNvSpPr txBox="1"/>
          <p:nvPr/>
        </p:nvSpPr>
        <p:spPr>
          <a:xfrm>
            <a:off x="7752391" y="2087688"/>
            <a:ext cx="238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u="none">
                <a:solidFill>
                  <a:srgbClr val="98EC43"/>
                </a:solidFill>
                <a:latin typeface="Play"/>
                <a:ea typeface="Play"/>
                <a:cs typeface="Play"/>
                <a:sym typeface="Play"/>
              </a:rPr>
              <a:t>Imaginário</a:t>
            </a:r>
            <a:endParaRPr sz="2400" b="1">
              <a:solidFill>
                <a:srgbClr val="98EC43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" name="Google Shape;315;p27">
            <a:extLst>
              <a:ext uri="{FF2B5EF4-FFF2-40B4-BE49-F238E27FC236}">
                <a16:creationId xmlns:a16="http://schemas.microsoft.com/office/drawing/2014/main" id="{53517F29-2ACC-A9D9-4255-5F0743C8FC19}"/>
              </a:ext>
            </a:extLst>
          </p:cNvPr>
          <p:cNvSpPr txBox="1"/>
          <p:nvPr/>
        </p:nvSpPr>
        <p:spPr>
          <a:xfrm>
            <a:off x="4315164" y="5585463"/>
            <a:ext cx="30909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u="none">
                <a:solidFill>
                  <a:srgbClr val="98EC43"/>
                </a:solidFill>
                <a:latin typeface="Play"/>
                <a:ea typeface="Play"/>
                <a:cs typeface="Play"/>
                <a:sym typeface="Play"/>
              </a:rPr>
              <a:t>Representação</a:t>
            </a:r>
            <a:endParaRPr sz="2400" b="1">
              <a:solidFill>
                <a:srgbClr val="98EC43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" name="Google Shape;316;p27">
            <a:extLst>
              <a:ext uri="{FF2B5EF4-FFF2-40B4-BE49-F238E27FC236}">
                <a16:creationId xmlns:a16="http://schemas.microsoft.com/office/drawing/2014/main" id="{B1EAD864-5575-F3D4-895C-A752FE980437}"/>
              </a:ext>
            </a:extLst>
          </p:cNvPr>
          <p:cNvSpPr/>
          <p:nvPr/>
        </p:nvSpPr>
        <p:spPr>
          <a:xfrm>
            <a:off x="7651314" y="2479438"/>
            <a:ext cx="2490000" cy="14376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rgbClr val="66666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3" name="Google Shape;317;p27">
            <a:extLst>
              <a:ext uri="{FF2B5EF4-FFF2-40B4-BE49-F238E27FC236}">
                <a16:creationId xmlns:a16="http://schemas.microsoft.com/office/drawing/2014/main" id="{69AA6395-2F3F-7741-2125-3D4B83BCD77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2072" y="2648963"/>
            <a:ext cx="3297091" cy="2936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18;p27">
            <a:extLst>
              <a:ext uri="{FF2B5EF4-FFF2-40B4-BE49-F238E27FC236}">
                <a16:creationId xmlns:a16="http://schemas.microsoft.com/office/drawing/2014/main" id="{60067539-C231-5755-9B35-0B8AA5FBEA2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79727" y="2626725"/>
            <a:ext cx="1134227" cy="11430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319;p27">
            <a:extLst>
              <a:ext uri="{FF2B5EF4-FFF2-40B4-BE49-F238E27FC236}">
                <a16:creationId xmlns:a16="http://schemas.microsoft.com/office/drawing/2014/main" id="{749FE1E9-D043-7E93-9553-F013D580CB9F}"/>
              </a:ext>
            </a:extLst>
          </p:cNvPr>
          <p:cNvCxnSpPr>
            <a:stCxn id="5" idx="0"/>
            <a:endCxn id="14" idx="0"/>
          </p:cNvCxnSpPr>
          <p:nvPr/>
        </p:nvCxnSpPr>
        <p:spPr>
          <a:xfrm rot="-5400000">
            <a:off x="5657337" y="-578887"/>
            <a:ext cx="84000" cy="6495000"/>
          </a:xfrm>
          <a:prstGeom prst="curvedConnector3">
            <a:avLst>
              <a:gd name="adj1" fmla="val 547738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320;p27">
            <a:extLst>
              <a:ext uri="{FF2B5EF4-FFF2-40B4-BE49-F238E27FC236}">
                <a16:creationId xmlns:a16="http://schemas.microsoft.com/office/drawing/2014/main" id="{D13D7BDE-DBE5-8E58-2339-0480CAD9851E}"/>
              </a:ext>
            </a:extLst>
          </p:cNvPr>
          <p:cNvCxnSpPr>
            <a:stCxn id="12" idx="1"/>
          </p:cNvCxnSpPr>
          <p:nvPr/>
        </p:nvCxnSpPr>
        <p:spPr>
          <a:xfrm rot="5400000">
            <a:off x="7613964" y="3827157"/>
            <a:ext cx="1194000" cy="13707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321;p27">
            <a:extLst>
              <a:ext uri="{FF2B5EF4-FFF2-40B4-BE49-F238E27FC236}">
                <a16:creationId xmlns:a16="http://schemas.microsoft.com/office/drawing/2014/main" id="{6BA13FA9-FD46-6B36-A1D0-6A286C6B29A0}"/>
              </a:ext>
            </a:extLst>
          </p:cNvPr>
          <p:cNvCxnSpPr>
            <a:endCxn id="5" idx="2"/>
          </p:cNvCxnSpPr>
          <p:nvPr/>
        </p:nvCxnSpPr>
        <p:spPr>
          <a:xfrm rot="10800000">
            <a:off x="2451837" y="4253663"/>
            <a:ext cx="1736100" cy="9819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Google Shape;322;p27">
            <a:extLst>
              <a:ext uri="{FF2B5EF4-FFF2-40B4-BE49-F238E27FC236}">
                <a16:creationId xmlns:a16="http://schemas.microsoft.com/office/drawing/2014/main" id="{6D8FCFD7-5928-47FF-24CA-8E6AD159C561}"/>
              </a:ext>
            </a:extLst>
          </p:cNvPr>
          <p:cNvSpPr txBox="1">
            <a:spLocks noGrp="1"/>
          </p:cNvSpPr>
          <p:nvPr/>
        </p:nvSpPr>
        <p:spPr>
          <a:xfrm>
            <a:off x="9686164" y="6421638"/>
            <a:ext cx="6687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b="1"/>
          </a:p>
        </p:txBody>
      </p:sp>
    </p:spTree>
    <p:extLst>
      <p:ext uri="{BB962C8B-B14F-4D97-AF65-F5344CB8AC3E}">
        <p14:creationId xmlns:p14="http://schemas.microsoft.com/office/powerpoint/2010/main" val="216027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F9CDB-C511-23C4-CCDC-C631D38E4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de BD Relacional</a:t>
            </a:r>
          </a:p>
        </p:txBody>
      </p:sp>
      <p:sp>
        <p:nvSpPr>
          <p:cNvPr id="4" name="Google Shape;327;p28">
            <a:extLst>
              <a:ext uri="{FF2B5EF4-FFF2-40B4-BE49-F238E27FC236}">
                <a16:creationId xmlns:a16="http://schemas.microsoft.com/office/drawing/2014/main" id="{1FCAA350-63FC-E97B-98C6-40334572096E}"/>
              </a:ext>
            </a:extLst>
          </p:cNvPr>
          <p:cNvSpPr/>
          <p:nvPr/>
        </p:nvSpPr>
        <p:spPr>
          <a:xfrm>
            <a:off x="2121900" y="2262513"/>
            <a:ext cx="1725900" cy="1125000"/>
          </a:xfrm>
          <a:prstGeom prst="cloudCallout">
            <a:avLst>
              <a:gd name="adj1" fmla="val -20833"/>
              <a:gd name="adj2" fmla="val 62500"/>
            </a:avLst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Ideias</a:t>
            </a:r>
            <a:endParaRPr sz="2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328;p28">
            <a:extLst>
              <a:ext uri="{FF2B5EF4-FFF2-40B4-BE49-F238E27FC236}">
                <a16:creationId xmlns:a16="http://schemas.microsoft.com/office/drawing/2014/main" id="{CAAAE882-394F-2121-342F-4B78E3D86F5E}"/>
              </a:ext>
            </a:extLst>
          </p:cNvPr>
          <p:cNvSpPr/>
          <p:nvPr/>
        </p:nvSpPr>
        <p:spPr>
          <a:xfrm>
            <a:off x="5275300" y="2529063"/>
            <a:ext cx="1800000" cy="5919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Modelo ER</a:t>
            </a:r>
            <a:endParaRPr sz="2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329;p28">
            <a:extLst>
              <a:ext uri="{FF2B5EF4-FFF2-40B4-BE49-F238E27FC236}">
                <a16:creationId xmlns:a16="http://schemas.microsoft.com/office/drawing/2014/main" id="{A5384B65-59AA-18E3-FAE6-B1761269177A}"/>
              </a:ext>
            </a:extLst>
          </p:cNvPr>
          <p:cNvSpPr/>
          <p:nvPr/>
        </p:nvSpPr>
        <p:spPr>
          <a:xfrm>
            <a:off x="5275300" y="4104263"/>
            <a:ext cx="1800000" cy="7206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Modelo Relacional</a:t>
            </a:r>
            <a:endParaRPr sz="2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330;p28">
            <a:extLst>
              <a:ext uri="{FF2B5EF4-FFF2-40B4-BE49-F238E27FC236}">
                <a16:creationId xmlns:a16="http://schemas.microsoft.com/office/drawing/2014/main" id="{0FB5829D-2781-E44E-5DFB-B1018D9B9AD6}"/>
              </a:ext>
            </a:extLst>
          </p:cNvPr>
          <p:cNvSpPr/>
          <p:nvPr/>
        </p:nvSpPr>
        <p:spPr>
          <a:xfrm>
            <a:off x="8344175" y="4530213"/>
            <a:ext cx="1725900" cy="1486225"/>
          </a:xfrm>
          <a:prstGeom prst="flowChartMagneticDisk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SGBD Relacional</a:t>
            </a:r>
            <a:endParaRPr sz="24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8" name="Google Shape;331;p28">
            <a:extLst>
              <a:ext uri="{FF2B5EF4-FFF2-40B4-BE49-F238E27FC236}">
                <a16:creationId xmlns:a16="http://schemas.microsoft.com/office/drawing/2014/main" id="{3B253F75-3254-4B72-000A-AF9277AF5030}"/>
              </a:ext>
            </a:extLst>
          </p:cNvPr>
          <p:cNvCxnSpPr>
            <a:stCxn id="4" idx="2"/>
            <a:endCxn id="5" idx="1"/>
          </p:cNvCxnSpPr>
          <p:nvPr/>
        </p:nvCxnSpPr>
        <p:spPr>
          <a:xfrm>
            <a:off x="3846362" y="2825013"/>
            <a:ext cx="1428900" cy="600"/>
          </a:xfrm>
          <a:prstGeom prst="bentConnector3">
            <a:avLst>
              <a:gd name="adj1" fmla="val 49911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cxnSp>
        <p:nvCxnSpPr>
          <p:cNvPr id="9" name="Google Shape;332;p28">
            <a:extLst>
              <a:ext uri="{FF2B5EF4-FFF2-40B4-BE49-F238E27FC236}">
                <a16:creationId xmlns:a16="http://schemas.microsoft.com/office/drawing/2014/main" id="{D8477C96-A7ED-2827-4B09-8D20DA181DE1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-5400000" flipH="1">
            <a:off x="5683900" y="3612363"/>
            <a:ext cx="983400" cy="600"/>
          </a:xfrm>
          <a:prstGeom prst="bentConnector3">
            <a:avLst>
              <a:gd name="adj1" fmla="val 49995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cxnSp>
        <p:nvCxnSpPr>
          <p:cNvPr id="10" name="Google Shape;333;p28">
            <a:extLst>
              <a:ext uri="{FF2B5EF4-FFF2-40B4-BE49-F238E27FC236}">
                <a16:creationId xmlns:a16="http://schemas.microsoft.com/office/drawing/2014/main" id="{9807D7BC-DD2C-5A7A-851C-235F305EAF80}"/>
              </a:ext>
            </a:extLst>
          </p:cNvPr>
          <p:cNvCxnSpPr>
            <a:stCxn id="6" idx="2"/>
            <a:endCxn id="7" idx="2"/>
          </p:cNvCxnSpPr>
          <p:nvPr/>
        </p:nvCxnSpPr>
        <p:spPr>
          <a:xfrm rot="-5400000" flipH="1">
            <a:off x="7035550" y="3964613"/>
            <a:ext cx="448500" cy="2169000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1" name="Google Shape;334;p28">
            <a:extLst>
              <a:ext uri="{FF2B5EF4-FFF2-40B4-BE49-F238E27FC236}">
                <a16:creationId xmlns:a16="http://schemas.microsoft.com/office/drawing/2014/main" id="{CEA792BC-ADA9-DD43-06D8-1578D071609D}"/>
              </a:ext>
            </a:extLst>
          </p:cNvPr>
          <p:cNvSpPr txBox="1">
            <a:spLocks noGrp="1"/>
          </p:cNvSpPr>
          <p:nvPr/>
        </p:nvSpPr>
        <p:spPr>
          <a:xfrm>
            <a:off x="3096600" y="5932163"/>
            <a:ext cx="59988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➔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○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○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◆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Play"/>
              <a:buChar char="●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800" b="1"/>
              <a:t>Projeto de Banco de Dados Relacional</a:t>
            </a:r>
            <a:endParaRPr sz="1800" b="1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3792880-6486-9148-8FE8-BCD9D99194F0}"/>
              </a:ext>
            </a:extLst>
          </p:cNvPr>
          <p:cNvSpPr/>
          <p:nvPr/>
        </p:nvSpPr>
        <p:spPr>
          <a:xfrm>
            <a:off x="5102578" y="3951111"/>
            <a:ext cx="2167200" cy="982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0803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1707F-193E-0964-89EA-20C5179FC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de BD Relacional</a:t>
            </a:r>
          </a:p>
        </p:txBody>
      </p:sp>
      <p:pic>
        <p:nvPicPr>
          <p:cNvPr id="12" name="Google Shape;340;p29">
            <a:extLst>
              <a:ext uri="{FF2B5EF4-FFF2-40B4-BE49-F238E27FC236}">
                <a16:creationId xmlns:a16="http://schemas.microsoft.com/office/drawing/2014/main" id="{F60BC8B0-FEB4-59D7-64AB-7B7403EC5D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53831" y="3519432"/>
            <a:ext cx="4468025" cy="245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41;p29">
            <a:extLst>
              <a:ext uri="{FF2B5EF4-FFF2-40B4-BE49-F238E27FC236}">
                <a16:creationId xmlns:a16="http://schemas.microsoft.com/office/drawing/2014/main" id="{AD792F42-BCA2-60D8-1EFD-F49F005CCB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09118" y="1801370"/>
            <a:ext cx="3829050" cy="171807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42;p29">
            <a:extLst>
              <a:ext uri="{FF2B5EF4-FFF2-40B4-BE49-F238E27FC236}">
                <a16:creationId xmlns:a16="http://schemas.microsoft.com/office/drawing/2014/main" id="{CFF11622-B17B-7B9D-06C5-CAF2A5C6D7D5}"/>
              </a:ext>
            </a:extLst>
          </p:cNvPr>
          <p:cNvSpPr/>
          <p:nvPr/>
        </p:nvSpPr>
        <p:spPr>
          <a:xfrm>
            <a:off x="3024581" y="1739757"/>
            <a:ext cx="1725900" cy="1125000"/>
          </a:xfrm>
          <a:prstGeom prst="cloudCallout">
            <a:avLst>
              <a:gd name="adj1" fmla="val -20833"/>
              <a:gd name="adj2" fmla="val 62500"/>
            </a:avLst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Ideias</a:t>
            </a:r>
            <a:endParaRPr sz="24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5" name="Google Shape;344;p29">
            <a:extLst>
              <a:ext uri="{FF2B5EF4-FFF2-40B4-BE49-F238E27FC236}">
                <a16:creationId xmlns:a16="http://schemas.microsoft.com/office/drawing/2014/main" id="{B1AD0518-749B-F55A-BDA4-0F417FCFAB1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55857" b="14207"/>
          <a:stretch/>
        </p:blipFill>
        <p:spPr>
          <a:xfrm>
            <a:off x="7384043" y="3924782"/>
            <a:ext cx="2479199" cy="2001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345;p29">
            <a:extLst>
              <a:ext uri="{FF2B5EF4-FFF2-40B4-BE49-F238E27FC236}">
                <a16:creationId xmlns:a16="http://schemas.microsoft.com/office/drawing/2014/main" id="{4FF08FE1-93C4-9388-DF10-DF1795560333}"/>
              </a:ext>
            </a:extLst>
          </p:cNvPr>
          <p:cNvCxnSpPr>
            <a:stCxn id="14" idx="1"/>
            <a:endCxn id="12" idx="0"/>
          </p:cNvCxnSpPr>
          <p:nvPr/>
        </p:nvCxnSpPr>
        <p:spPr>
          <a:xfrm rot="-5400000" flipH="1">
            <a:off x="3559931" y="3191159"/>
            <a:ext cx="655800" cy="600"/>
          </a:xfrm>
          <a:prstGeom prst="bentConnector3">
            <a:avLst>
              <a:gd name="adj1" fmla="val 63201"/>
            </a:avLst>
          </a:prstGeom>
          <a:noFill/>
          <a:ln w="38100" cap="flat" cmpd="sng">
            <a:solidFill>
              <a:srgbClr val="98EC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346;p29">
            <a:extLst>
              <a:ext uri="{FF2B5EF4-FFF2-40B4-BE49-F238E27FC236}">
                <a16:creationId xmlns:a16="http://schemas.microsoft.com/office/drawing/2014/main" id="{261D5BAB-EE5F-B603-735E-8D7A7D9DA2E8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rot="10800000" flipH="1">
            <a:off x="6121855" y="2660420"/>
            <a:ext cx="587400" cy="2087400"/>
          </a:xfrm>
          <a:prstGeom prst="curvedConnector3">
            <a:avLst>
              <a:gd name="adj1" fmla="val 49988"/>
            </a:avLst>
          </a:prstGeom>
          <a:noFill/>
          <a:ln w="38100" cap="flat" cmpd="sng">
            <a:solidFill>
              <a:srgbClr val="98EC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347;p29">
            <a:extLst>
              <a:ext uri="{FF2B5EF4-FFF2-40B4-BE49-F238E27FC236}">
                <a16:creationId xmlns:a16="http://schemas.microsoft.com/office/drawing/2014/main" id="{69BCE885-63F5-3575-F36F-E1CF90ADC883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 rot="-5400000" flipH="1">
            <a:off x="8421293" y="3721792"/>
            <a:ext cx="405300" cy="600"/>
          </a:xfrm>
          <a:prstGeom prst="bentConnector3">
            <a:avLst>
              <a:gd name="adj1" fmla="val 50005"/>
            </a:avLst>
          </a:prstGeom>
          <a:noFill/>
          <a:ln w="38100" cap="flat" cmpd="sng">
            <a:solidFill>
              <a:srgbClr val="98EC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267AC0C9-ECDD-4855-74E1-7B295322C1C8}"/>
              </a:ext>
            </a:extLst>
          </p:cNvPr>
          <p:cNvSpPr/>
          <p:nvPr/>
        </p:nvSpPr>
        <p:spPr>
          <a:xfrm>
            <a:off x="6654100" y="1739494"/>
            <a:ext cx="4171344" cy="20010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1196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A0C5F-400A-88FB-EA2A-AD4FD6C6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815921-8F26-8C60-6FA7-7A373531B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48111" cy="4351338"/>
          </a:xfrm>
        </p:spPr>
        <p:txBody>
          <a:bodyPr/>
          <a:lstStyle/>
          <a:p>
            <a:r>
              <a:rPr lang="pt-BR" dirty="0"/>
              <a:t>Criado por E. F. </a:t>
            </a:r>
            <a:r>
              <a:rPr lang="pt-BR" dirty="0" err="1"/>
              <a:t>Codd</a:t>
            </a:r>
            <a:r>
              <a:rPr lang="pt-BR" dirty="0"/>
              <a:t> (IBM)</a:t>
            </a:r>
          </a:p>
          <a:p>
            <a:pPr lvl="1">
              <a:spcBef>
                <a:spcPts val="1800"/>
              </a:spcBef>
            </a:pPr>
            <a:r>
              <a:rPr lang="en-US" dirty="0"/>
              <a:t>“</a:t>
            </a:r>
            <a:r>
              <a:rPr lang="en-US" i="1" dirty="0"/>
              <a:t>A relational model of data for large shared data banks</a:t>
            </a:r>
            <a:r>
              <a:rPr lang="en-US" dirty="0"/>
              <a:t>“. Communications of the ACM, Volume 13 ,  Issue 6, June 1970.</a:t>
            </a:r>
          </a:p>
          <a:p>
            <a:pPr>
              <a:spcBef>
                <a:spcPts val="2400"/>
              </a:spcBef>
            </a:pPr>
            <a:r>
              <a:rPr lang="pt-BR" dirty="0"/>
              <a:t>Modelo de Implementação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Projeto lógico</a:t>
            </a:r>
          </a:p>
          <a:p>
            <a:endParaRPr lang="pt-BR" dirty="0"/>
          </a:p>
        </p:txBody>
      </p:sp>
      <p:pic>
        <p:nvPicPr>
          <p:cNvPr id="1026" name="Picture 2" descr="54 Years of Relational Databases | LearnSQL.com">
            <a:extLst>
              <a:ext uri="{FF2B5EF4-FFF2-40B4-BE49-F238E27FC236}">
                <a16:creationId xmlns:a16="http://schemas.microsoft.com/office/drawing/2014/main" id="{28ED710F-EE0E-D276-5B71-75844BC8A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8929" y="1562717"/>
            <a:ext cx="5596049" cy="3732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dgar F. Codd - Wikipedia">
            <a:extLst>
              <a:ext uri="{FF2B5EF4-FFF2-40B4-BE49-F238E27FC236}">
                <a16:creationId xmlns:a16="http://schemas.microsoft.com/office/drawing/2014/main" id="{7343E6C7-2CE1-197F-3F3C-7D8F75609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0846" y="4076258"/>
            <a:ext cx="1714760" cy="243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693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0C8FA-8799-C390-45B5-BC16E737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485A0E-EA69-79F2-EDFA-EB9E6C453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Primeiras implantações comerciais no início da década de 80</a:t>
            </a:r>
          </a:p>
          <a:p>
            <a:pPr>
              <a:spcBef>
                <a:spcPts val="2400"/>
              </a:spcBef>
            </a:pPr>
            <a:r>
              <a:rPr lang="pt-BR" dirty="0"/>
              <a:t>Desde então, o modelo tem sido implementado em um grande numero de sistemas comerciais ou de código livre</a:t>
            </a:r>
          </a:p>
        </p:txBody>
      </p:sp>
      <p:pic>
        <p:nvPicPr>
          <p:cNvPr id="11266" name="Picture 2" descr="Learn Introduction to Relational Databases | Working with Databases">
            <a:extLst>
              <a:ext uri="{FF2B5EF4-FFF2-40B4-BE49-F238E27FC236}">
                <a16:creationId xmlns:a16="http://schemas.microsoft.com/office/drawing/2014/main" id="{92315212-5B5A-137B-F96D-918145D20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2494" y="3429000"/>
            <a:ext cx="4167012" cy="3333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8860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A23050-1C90-586E-E82D-BD8F41A5C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Processo de projeto de BD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D19A40-74A7-9F00-E562-756BAC530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3010" cy="4351338"/>
          </a:xfrm>
        </p:spPr>
        <p:txBody>
          <a:bodyPr/>
          <a:lstStyle/>
          <a:p>
            <a:r>
              <a:rPr lang="pt-BR" dirty="0"/>
              <a:t>Análise de requisitos</a:t>
            </a:r>
          </a:p>
          <a:p>
            <a:r>
              <a:rPr lang="pt-BR" dirty="0"/>
              <a:t>Projeto conceitual</a:t>
            </a:r>
          </a:p>
          <a:p>
            <a:r>
              <a:rPr lang="pt-BR" b="1" dirty="0"/>
              <a:t>Projeto Lógico</a:t>
            </a:r>
          </a:p>
          <a:p>
            <a:r>
              <a:rPr lang="pt-BR" dirty="0"/>
              <a:t>Projeto físico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98FF88C-EB54-648E-F505-8DC4CF540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210" y="0"/>
            <a:ext cx="5761045" cy="6858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1B0D3EE-57C3-B55B-7C42-8DDDC8A319BE}"/>
              </a:ext>
            </a:extLst>
          </p:cNvPr>
          <p:cNvSpPr/>
          <p:nvPr/>
        </p:nvSpPr>
        <p:spPr>
          <a:xfrm>
            <a:off x="9821332" y="3522133"/>
            <a:ext cx="2099735" cy="64346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555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84346-D5F1-D6C9-30FF-3B99B17F4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D0D997-EAC2-B995-EFCA-EAD9A0666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Conceitos básicos</a:t>
            </a:r>
          </a:p>
          <a:p>
            <a:pPr lvl="1"/>
            <a:r>
              <a:rPr lang="pt-BR" b="1" dirty="0"/>
              <a:t>Domínios, atributos, valores e relações</a:t>
            </a:r>
          </a:p>
          <a:p>
            <a:pPr lvl="1"/>
            <a:r>
              <a:rPr lang="pt-BR" b="1" dirty="0"/>
              <a:t>Características das relações</a:t>
            </a:r>
          </a:p>
          <a:p>
            <a:pPr lvl="1"/>
            <a:r>
              <a:rPr lang="pt-BR" b="1" dirty="0"/>
              <a:t>Notação do modelo relacional</a:t>
            </a:r>
          </a:p>
          <a:p>
            <a:pPr>
              <a:spcBef>
                <a:spcPts val="2400"/>
              </a:spcBef>
            </a:pPr>
            <a:r>
              <a:rPr lang="pt-BR" dirty="0"/>
              <a:t>Restrições do Modelo Relacional</a:t>
            </a:r>
          </a:p>
          <a:p>
            <a:pPr>
              <a:spcBef>
                <a:spcPts val="2400"/>
              </a:spcBef>
            </a:pPr>
            <a:r>
              <a:rPr lang="pt-BR" dirty="0"/>
              <a:t>Operações, restrições e transações</a:t>
            </a:r>
          </a:p>
          <a:p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B49541-09C8-8DE6-F273-745D8D9FF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1ED7C43-9BA5-CB11-2586-016F02CA375C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4540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9F2A9-9A0A-7DFC-79EF-48A1EC45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81E74E-C06B-8BE3-66B8-CEDE037AE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Relaciona os registros de dados por meio de valores</a:t>
            </a:r>
          </a:p>
          <a:p>
            <a:pPr lvl="1"/>
            <a:r>
              <a:rPr lang="pt-BR" dirty="0"/>
              <a:t>Não usa links (endereços)</a:t>
            </a:r>
          </a:p>
          <a:p>
            <a:pPr>
              <a:spcBef>
                <a:spcPts val="2400"/>
              </a:spcBef>
            </a:pPr>
            <a:r>
              <a:rPr lang="pt-BR" dirty="0"/>
              <a:t>Definição baseada em fundamentos matemáticos</a:t>
            </a:r>
          </a:p>
          <a:p>
            <a:pPr lvl="1"/>
            <a:r>
              <a:rPr lang="pt-BR" dirty="0"/>
              <a:t>Cálculo relacional e Álgebra relacional</a:t>
            </a:r>
          </a:p>
          <a:p>
            <a:pPr>
              <a:spcBef>
                <a:spcPts val="2400"/>
              </a:spcBef>
            </a:pPr>
            <a:r>
              <a:rPr lang="pt-BR" dirty="0"/>
              <a:t>Precursor: Sistema R, da IBM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C86B915-B153-FF98-8E60-96C1C5555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006" y="3860448"/>
            <a:ext cx="4129440" cy="2316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099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776A69-41C1-D112-9D7A-80441F3EF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496E0E-C869-745C-F8EE-7403AA208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“O Modelo Relacional representa uma base de dados como uma coleção de </a:t>
            </a:r>
            <a:r>
              <a:rPr lang="pt-BR" i="1" dirty="0"/>
              <a:t>relações</a:t>
            </a:r>
            <a:r>
              <a:rPr lang="pt-BR" dirty="0"/>
              <a:t>” </a:t>
            </a:r>
            <a:r>
              <a:rPr lang="pt-BR" sz="1800" dirty="0"/>
              <a:t>(</a:t>
            </a:r>
            <a:r>
              <a:rPr lang="pt-BR" sz="1800" dirty="0" err="1"/>
              <a:t>Elmasri</a:t>
            </a:r>
            <a:r>
              <a:rPr lang="pt-BR" sz="1800" dirty="0"/>
              <a:t> e </a:t>
            </a:r>
            <a:r>
              <a:rPr lang="pt-BR" sz="1800" dirty="0" err="1"/>
              <a:t>Navathe</a:t>
            </a:r>
            <a:r>
              <a:rPr lang="pt-BR" sz="1800" dirty="0"/>
              <a:t>)</a:t>
            </a:r>
          </a:p>
          <a:p>
            <a:pPr lvl="1"/>
            <a:r>
              <a:rPr lang="pt-BR" dirty="0"/>
              <a:t>Informalmente, cada relação é uma tabela de valores</a:t>
            </a:r>
          </a:p>
          <a:p>
            <a:pPr lvl="1"/>
            <a:r>
              <a:rPr lang="pt-BR" dirty="0"/>
              <a:t>Linha da tabela representa uma entidade ou um fato do mundo real</a:t>
            </a:r>
          </a:p>
          <a:p>
            <a:pPr lvl="1"/>
            <a:r>
              <a:rPr lang="pt-BR" dirty="0"/>
              <a:t>Nomes de tabela e colunas ajudam a interpretar os valores </a:t>
            </a:r>
          </a:p>
          <a:p>
            <a:pPr lvl="1"/>
            <a:r>
              <a:rPr lang="pt-BR" dirty="0"/>
              <a:t>Todos os valores em uma coluna são do mesmo tipo</a:t>
            </a:r>
          </a:p>
          <a:p>
            <a:endParaRPr lang="pt-BR" sz="1800" dirty="0"/>
          </a:p>
          <a:p>
            <a:r>
              <a:rPr lang="pt-BR" dirty="0"/>
              <a:t>Base teórica em Teoria dos Conjuntos</a:t>
            </a:r>
          </a:p>
        </p:txBody>
      </p:sp>
      <p:pic>
        <p:nvPicPr>
          <p:cNvPr id="4098" name="Picture 2" descr="Algebraic logic in database theory | Algebraic Logic Class... | Fiveable">
            <a:extLst>
              <a:ext uri="{FF2B5EF4-FFF2-40B4-BE49-F238E27FC236}">
                <a16:creationId xmlns:a16="http://schemas.microsoft.com/office/drawing/2014/main" id="{2915549B-5F7F-69E7-BAE6-9FE365CB4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951" y="4201935"/>
            <a:ext cx="2426406" cy="2426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951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A8BBE-DE78-9B46-674C-0F336815D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Terminologia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FC9C57-D9AA-954C-8305-231C3747B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Relação </a:t>
            </a:r>
            <a:r>
              <a:rPr lang="pt-BR" dirty="0">
                <a:sym typeface="Wingdings" panose="05000000000000000000" pitchFamily="2" charset="2"/>
              </a:rPr>
              <a:t> Tabela</a:t>
            </a:r>
          </a:p>
          <a:p>
            <a:r>
              <a:rPr lang="pt-BR" dirty="0">
                <a:sym typeface="Wingdings" panose="05000000000000000000" pitchFamily="2" charset="2"/>
              </a:rPr>
              <a:t>Tupla  registro, linha</a:t>
            </a:r>
          </a:p>
          <a:p>
            <a:r>
              <a:rPr lang="pt-BR" dirty="0">
                <a:sym typeface="Wingdings" panose="05000000000000000000" pitchFamily="2" charset="2"/>
              </a:rPr>
              <a:t>Atributo  campo</a:t>
            </a:r>
          </a:p>
          <a:p>
            <a:r>
              <a:rPr lang="pt-BR" i="1" dirty="0" err="1">
                <a:sym typeface="Wingdings" panose="05000000000000000000" pitchFamily="2" charset="2"/>
              </a:rPr>
              <a:t>Relation</a:t>
            </a:r>
            <a:r>
              <a:rPr lang="pt-BR" i="1" dirty="0">
                <a:sym typeface="Wingdings" panose="05000000000000000000" pitchFamily="2" charset="2"/>
              </a:rPr>
              <a:t> </a:t>
            </a:r>
            <a:r>
              <a:rPr lang="pt-BR" i="1" dirty="0" err="1">
                <a:sym typeface="Wingdings" panose="05000000000000000000" pitchFamily="2" charset="2"/>
              </a:rPr>
              <a:t>Intension</a:t>
            </a:r>
            <a:r>
              <a:rPr lang="pt-BR" i="1" dirty="0">
                <a:sym typeface="Wingdings" panose="05000000000000000000" pitchFamily="2" charset="2"/>
              </a:rPr>
              <a:t> </a:t>
            </a:r>
            <a:r>
              <a:rPr lang="pt-BR" dirty="0">
                <a:sym typeface="Wingdings" panose="05000000000000000000" pitchFamily="2" charset="2"/>
              </a:rPr>
              <a:t> esquema</a:t>
            </a:r>
          </a:p>
          <a:p>
            <a:r>
              <a:rPr lang="pt-BR" i="1" dirty="0" err="1">
                <a:sym typeface="Wingdings" panose="05000000000000000000" pitchFamily="2" charset="2"/>
              </a:rPr>
              <a:t>Relation</a:t>
            </a:r>
            <a:r>
              <a:rPr lang="pt-BR" i="1" dirty="0">
                <a:sym typeface="Wingdings" panose="05000000000000000000" pitchFamily="2" charset="2"/>
              </a:rPr>
              <a:t> </a:t>
            </a:r>
            <a:r>
              <a:rPr lang="pt-BR" i="1" dirty="0" err="1">
                <a:sym typeface="Wingdings" panose="05000000000000000000" pitchFamily="2" charset="2"/>
              </a:rPr>
              <a:t>Extension</a:t>
            </a:r>
            <a:r>
              <a:rPr lang="pt-BR" i="1" dirty="0">
                <a:sym typeface="Wingdings" panose="05000000000000000000" pitchFamily="2" charset="2"/>
              </a:rPr>
              <a:t> </a:t>
            </a:r>
            <a:r>
              <a:rPr lang="pt-BR" dirty="0">
                <a:sym typeface="Wingdings" panose="05000000000000000000" pitchFamily="2" charset="2"/>
              </a:rPr>
              <a:t> instância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5355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597A5-043C-7FA7-551C-490B056A5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Domínio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BF21C7-81A4-7B57-A1E9-8CF7D403E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pt-BR" dirty="0"/>
              <a:t>Conjunto de valores atômicos</a:t>
            </a:r>
          </a:p>
          <a:p>
            <a:endParaRPr lang="pt-BR" dirty="0"/>
          </a:p>
          <a:p>
            <a:r>
              <a:rPr lang="pt-BR" dirty="0"/>
              <a:t>Dom(A) = valores que o atributo pode assumir </a:t>
            </a:r>
          </a:p>
          <a:p>
            <a:pPr lvl="1"/>
            <a:endParaRPr lang="pt-BR" dirty="0"/>
          </a:p>
          <a:p>
            <a:r>
              <a:rPr lang="pt-BR" dirty="0"/>
              <a:t>Especificação do domínio:</a:t>
            </a:r>
          </a:p>
          <a:p>
            <a:pPr lvl="1"/>
            <a:r>
              <a:rPr lang="pt-BR" dirty="0"/>
              <a:t>Nome</a:t>
            </a:r>
          </a:p>
          <a:p>
            <a:pPr lvl="1"/>
            <a:r>
              <a:rPr lang="pt-BR" dirty="0"/>
              <a:t>Definição lógica </a:t>
            </a:r>
          </a:p>
          <a:p>
            <a:pPr lvl="1"/>
            <a:r>
              <a:rPr lang="pt-BR" dirty="0"/>
              <a:t>Tipo e formato de dado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ECCBFDB-6E98-0B9F-CB7B-383309146E09}"/>
              </a:ext>
            </a:extLst>
          </p:cNvPr>
          <p:cNvSpPr txBox="1"/>
          <p:nvPr/>
        </p:nvSpPr>
        <p:spPr>
          <a:xfrm>
            <a:off x="6096000" y="2280355"/>
            <a:ext cx="5621867" cy="249299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pt-BR" b="1" i="1" dirty="0"/>
              <a:t>Numero_telefone</a:t>
            </a:r>
            <a:r>
              <a:rPr lang="pt-BR" dirty="0"/>
              <a:t>: conjunto de 11 dígitos válidos no Brasil</a:t>
            </a:r>
          </a:p>
          <a:p>
            <a:pPr>
              <a:spcBef>
                <a:spcPts val="1200"/>
              </a:spcBef>
            </a:pPr>
            <a:r>
              <a:rPr lang="pt-BR" b="1" dirty="0"/>
              <a:t>CPF</a:t>
            </a:r>
            <a:r>
              <a:rPr lang="pt-BR" dirty="0"/>
              <a:t>: conjunto de números de 11 dígitos usado para identificar cidadãos no Brasil</a:t>
            </a:r>
          </a:p>
          <a:p>
            <a:pPr>
              <a:spcBef>
                <a:spcPts val="1200"/>
              </a:spcBef>
            </a:pPr>
            <a:r>
              <a:rPr lang="pt-BR" b="1" dirty="0" err="1"/>
              <a:t>Idade_empregado</a:t>
            </a:r>
            <a:r>
              <a:rPr lang="pt-BR" dirty="0"/>
              <a:t>: idades possíveis de empregados em uma </a:t>
            </a:r>
            <a:r>
              <a:rPr lang="pt-BR" dirty="0" err="1"/>
              <a:t>empersa</a:t>
            </a:r>
            <a:r>
              <a:rPr lang="pt-BR" dirty="0"/>
              <a:t>, cada uma sendo um inteiro entre 15 e 80</a:t>
            </a:r>
          </a:p>
          <a:p>
            <a:pPr>
              <a:spcBef>
                <a:spcPts val="1200"/>
              </a:spcBef>
            </a:pPr>
            <a:r>
              <a:rPr lang="pt-BR" b="1" dirty="0"/>
              <a:t>Nome</a:t>
            </a:r>
            <a:r>
              <a:rPr lang="pt-BR" dirty="0"/>
              <a:t>: conjunto de caracteres que representam o nome de pessoas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DE441E0-F519-9DE8-95C7-E3892470D085}"/>
              </a:ext>
            </a:extLst>
          </p:cNvPr>
          <p:cNvSpPr txBox="1"/>
          <p:nvPr/>
        </p:nvSpPr>
        <p:spPr>
          <a:xfrm>
            <a:off x="6096000" y="4904556"/>
            <a:ext cx="5621867" cy="166199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pt-BR" b="1" i="1" dirty="0"/>
              <a:t>Numero_telefone</a:t>
            </a:r>
            <a:r>
              <a:rPr lang="pt-BR" dirty="0"/>
              <a:t>: (</a:t>
            </a:r>
            <a:r>
              <a:rPr lang="pt-BR" dirty="0" err="1"/>
              <a:t>dd</a:t>
            </a:r>
            <a:r>
              <a:rPr lang="pt-BR" dirty="0"/>
              <a:t>) </a:t>
            </a:r>
            <a:r>
              <a:rPr lang="pt-BR" dirty="0" err="1"/>
              <a:t>ddddd-dddd</a:t>
            </a:r>
            <a:endParaRPr lang="pt-BR" dirty="0"/>
          </a:p>
          <a:p>
            <a:pPr>
              <a:spcBef>
                <a:spcPts val="1200"/>
              </a:spcBef>
            </a:pPr>
            <a:r>
              <a:rPr lang="pt-BR" b="1" dirty="0"/>
              <a:t>CPF</a:t>
            </a:r>
            <a:r>
              <a:rPr lang="pt-BR" dirty="0"/>
              <a:t>: </a:t>
            </a:r>
            <a:r>
              <a:rPr lang="pt-BR" dirty="0" err="1"/>
              <a:t>ddd.ddd.ddd-dd</a:t>
            </a:r>
            <a:endParaRPr lang="pt-BR" dirty="0"/>
          </a:p>
          <a:p>
            <a:pPr>
              <a:spcBef>
                <a:spcPts val="1200"/>
              </a:spcBef>
            </a:pPr>
            <a:r>
              <a:rPr lang="pt-BR" b="1" dirty="0" err="1"/>
              <a:t>Idade_empregado</a:t>
            </a:r>
            <a:r>
              <a:rPr lang="pt-BR" dirty="0"/>
              <a:t>: inteiro entre 15 e 80</a:t>
            </a:r>
          </a:p>
          <a:p>
            <a:pPr>
              <a:spcBef>
                <a:spcPts val="1200"/>
              </a:spcBef>
            </a:pPr>
            <a:r>
              <a:rPr lang="pt-BR" b="1" dirty="0"/>
              <a:t>Nome</a:t>
            </a:r>
            <a:r>
              <a:rPr lang="pt-BR" dirty="0"/>
              <a:t>: </a:t>
            </a:r>
            <a:r>
              <a:rPr lang="pt-BR" dirty="0" err="1"/>
              <a:t>string</a:t>
            </a:r>
            <a:r>
              <a:rPr lang="pt-BR" dirty="0"/>
              <a:t> de até 300 caracteres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C5D65931-A4B5-81EE-6B0C-5EC704570840}"/>
              </a:ext>
            </a:extLst>
          </p:cNvPr>
          <p:cNvCxnSpPr>
            <a:cxnSpLocks/>
          </p:cNvCxnSpPr>
          <p:nvPr/>
        </p:nvCxnSpPr>
        <p:spPr>
          <a:xfrm flipV="1">
            <a:off x="2528711" y="2889956"/>
            <a:ext cx="3646311" cy="1883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8DC38215-E58B-4AA6-862A-561785304BC3}"/>
              </a:ext>
            </a:extLst>
          </p:cNvPr>
          <p:cNvCxnSpPr>
            <a:cxnSpLocks/>
          </p:cNvCxnSpPr>
          <p:nvPr/>
        </p:nvCxnSpPr>
        <p:spPr>
          <a:xfrm flipV="1">
            <a:off x="3702756" y="3014133"/>
            <a:ext cx="2935111" cy="2156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09F42FD7-5653-41D9-B278-05197852E604}"/>
              </a:ext>
            </a:extLst>
          </p:cNvPr>
          <p:cNvCxnSpPr>
            <a:cxnSpLocks/>
          </p:cNvCxnSpPr>
          <p:nvPr/>
        </p:nvCxnSpPr>
        <p:spPr>
          <a:xfrm flipV="1">
            <a:off x="4515556" y="5576711"/>
            <a:ext cx="2122311" cy="95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24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791EF-3741-C75B-0106-C91A4747E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11D72-D7B2-CDBE-B7F0-377E64678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5525FA-77D3-093F-1FB3-4BF405DF6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Valores</a:t>
            </a:r>
          </a:p>
          <a:p>
            <a:pPr lvl="1"/>
            <a:r>
              <a:rPr lang="pt-BR" dirty="0"/>
              <a:t>Dados do mundo real</a:t>
            </a:r>
          </a:p>
          <a:p>
            <a:pPr>
              <a:spcBef>
                <a:spcPts val="2400"/>
              </a:spcBef>
            </a:pPr>
            <a:r>
              <a:rPr lang="pt-BR" b="1" dirty="0"/>
              <a:t>Relações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Representam coleções de objetos, entidades, relacionamentos, etc., do mundo real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Noção intuitiva </a:t>
            </a:r>
            <a:r>
              <a:rPr lang="pt-BR" dirty="0">
                <a:sym typeface="Wingdings" panose="05000000000000000000" pitchFamily="2" charset="2"/>
              </a:rPr>
              <a:t> TABELAS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8350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17227-1E65-4B5B-7CAA-9CE862040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Valores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924B4F-71E2-F16A-C326-8873F6DBE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 relacional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b="1" dirty="0">
                <a:sym typeface="Wingdings" panose="05000000000000000000" pitchFamily="2" charset="2"/>
              </a:rPr>
              <a:t>valores</a:t>
            </a:r>
            <a:r>
              <a:rPr lang="pt-BR" dirty="0">
                <a:sym typeface="Wingdings" panose="05000000000000000000" pitchFamily="2" charset="2"/>
              </a:rPr>
              <a:t> são atômicos!</a:t>
            </a:r>
          </a:p>
          <a:p>
            <a:pPr>
              <a:spcBef>
                <a:spcPts val="2400"/>
              </a:spcBef>
            </a:pPr>
            <a:r>
              <a:rPr lang="pt-BR" dirty="0">
                <a:sym typeface="Wingdings" panose="05000000000000000000" pitchFamily="2" charset="2"/>
              </a:rPr>
              <a:t>Valor atômico:</a:t>
            </a:r>
          </a:p>
          <a:p>
            <a:pPr lvl="1">
              <a:spcBef>
                <a:spcPts val="1800"/>
              </a:spcBef>
            </a:pPr>
            <a:r>
              <a:rPr lang="pt-BR" b="1" dirty="0">
                <a:sym typeface="Wingdings" panose="05000000000000000000" pitchFamily="2" charset="2"/>
              </a:rPr>
              <a:t>Indivisível</a:t>
            </a:r>
            <a:r>
              <a:rPr lang="pt-BR" dirty="0">
                <a:sym typeface="Wingdings" panose="05000000000000000000" pitchFamily="2" charset="2"/>
              </a:rPr>
              <a:t> não pode ser recuperado em partes</a:t>
            </a:r>
          </a:p>
          <a:p>
            <a:pPr lvl="2"/>
            <a:r>
              <a:rPr lang="pt-BR" dirty="0">
                <a:sym typeface="Wingdings" panose="05000000000000000000" pitchFamily="2" charset="2"/>
              </a:rPr>
              <a:t>Ex.: endereço definido como um único atributo textual</a:t>
            </a:r>
          </a:p>
          <a:p>
            <a:pPr lvl="1">
              <a:spcBef>
                <a:spcPts val="1800"/>
              </a:spcBef>
            </a:pPr>
            <a:r>
              <a:rPr lang="pt-BR" b="1" dirty="0">
                <a:sym typeface="Wingdings" panose="05000000000000000000" pitchFamily="2" charset="2"/>
              </a:rPr>
              <a:t>Monovalorado</a:t>
            </a:r>
            <a:r>
              <a:rPr lang="pt-BR" dirty="0">
                <a:sym typeface="Wingdings" panose="05000000000000000000" pitchFamily="2" charset="2"/>
              </a:rPr>
              <a:t>  pode ter apenas um valor</a:t>
            </a:r>
          </a:p>
          <a:p>
            <a:pPr lvl="2"/>
            <a:r>
              <a:rPr lang="pt-BR" dirty="0">
                <a:sym typeface="Wingdings" panose="05000000000000000000" pitchFamily="2" charset="2"/>
              </a:rPr>
              <a:t>Ex.: data de nascimento de uma pessoa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651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FFC7BD-49CF-B516-855C-D7AF41BC4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1947A9-3CBD-A74E-8E74-318953DEF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 intuitivo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F313E95-D765-D865-B17D-EDB065C8B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39" y="2411463"/>
            <a:ext cx="11260121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25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3A6F8-8E97-6E87-2AD5-691E9EB4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D73608-E322-D12D-2402-39818C631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 intuitivo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602C5E0-8613-F972-6239-28D34FA2B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56" y="2394590"/>
            <a:ext cx="9945488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98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C861C-3B5D-E980-9415-E050CA6C8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 de Relação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80059F-71C5-4C79-3EE6-DA9F63F3B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Descreve a relação (tabela)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CA05988-C5DF-8245-F60B-46177EF70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45" y="2703487"/>
            <a:ext cx="10097909" cy="289600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4BC966E-52BD-8CD2-A870-58E6781A3E01}"/>
              </a:ext>
            </a:extLst>
          </p:cNvPr>
          <p:cNvSpPr/>
          <p:nvPr/>
        </p:nvSpPr>
        <p:spPr>
          <a:xfrm>
            <a:off x="6677376" y="2291644"/>
            <a:ext cx="5492044" cy="42012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800" dirty="0"/>
              <a:t>Ex.:</a:t>
            </a:r>
          </a:p>
          <a:p>
            <a:pPr lvl="1"/>
            <a:r>
              <a:rPr lang="pt-BR" sz="2800" b="1" i="1" dirty="0"/>
              <a:t>Aluno</a:t>
            </a:r>
            <a:r>
              <a:rPr lang="pt-BR" sz="2800" b="1" dirty="0"/>
              <a:t>(Nome, RA, Curso)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pt-BR" sz="2800" dirty="0"/>
              <a:t>ou</a:t>
            </a:r>
          </a:p>
          <a:p>
            <a:pPr lvl="1"/>
            <a:r>
              <a:rPr lang="pt-BR" sz="2800" b="1" i="1" dirty="0"/>
              <a:t>Aluno</a:t>
            </a:r>
            <a:r>
              <a:rPr lang="pt-BR" sz="2800" b="1" dirty="0"/>
              <a:t>={Nome, RA, Curso} 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pt-BR" sz="2800" dirty="0"/>
              <a:t>ou</a:t>
            </a:r>
          </a:p>
          <a:p>
            <a:pPr lvl="1"/>
            <a:r>
              <a:rPr lang="pt-BR" sz="2800" b="1" dirty="0"/>
              <a:t>Aluno(Nome: </a:t>
            </a:r>
            <a:r>
              <a:rPr lang="pt-BR" sz="2800" b="1" dirty="0" err="1"/>
              <a:t>string</a:t>
            </a:r>
            <a:r>
              <a:rPr lang="pt-BR" sz="2800" b="1" dirty="0"/>
              <a:t>, RA: </a:t>
            </a:r>
            <a:r>
              <a:rPr lang="pt-BR" sz="2800" b="1" dirty="0" err="1"/>
              <a:t>integer</a:t>
            </a:r>
            <a:r>
              <a:rPr lang="pt-BR" sz="2800" b="1" dirty="0"/>
              <a:t>, Curso: </a:t>
            </a:r>
            <a:r>
              <a:rPr lang="pt-BR" sz="2800" b="1" dirty="0" err="1"/>
              <a:t>string</a:t>
            </a:r>
            <a:r>
              <a:rPr lang="pt-BR" sz="2800" b="1" dirty="0"/>
              <a:t>)  </a:t>
            </a:r>
            <a:r>
              <a:rPr lang="pt-BR" sz="28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2472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71EAA8-BBB0-165C-4AF8-C9AF403B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 de Relação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9054A6-2349-F711-738A-D104E7587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Grau</a:t>
            </a:r>
            <a:r>
              <a:rPr lang="pt-BR" dirty="0"/>
              <a:t> da relação descrita por R</a:t>
            </a:r>
          </a:p>
          <a:p>
            <a:pPr lvl="1"/>
            <a:r>
              <a:rPr lang="pt-BR" dirty="0"/>
              <a:t>Número de atributos em R</a:t>
            </a:r>
          </a:p>
          <a:p>
            <a:pPr lvl="1"/>
            <a:r>
              <a:rPr lang="pt-BR" dirty="0"/>
              <a:t>Ex.:</a:t>
            </a:r>
          </a:p>
          <a:p>
            <a:pPr lvl="2"/>
            <a:r>
              <a:rPr lang="pt-BR" dirty="0"/>
              <a:t>Aluno (Nome, RG, Idade) </a:t>
            </a:r>
            <a:r>
              <a:rPr lang="pt-BR" dirty="0">
                <a:sym typeface="Wingdings" panose="05000000000000000000" pitchFamily="2" charset="2"/>
              </a:rPr>
              <a:t> N = 3</a:t>
            </a:r>
          </a:p>
          <a:p>
            <a:pPr lvl="2"/>
            <a:endParaRPr lang="pt-BR" dirty="0">
              <a:sym typeface="Wingdings" panose="05000000000000000000" pitchFamily="2" charset="2"/>
            </a:endParaRPr>
          </a:p>
          <a:p>
            <a:r>
              <a:rPr lang="pt-BR" b="1" dirty="0">
                <a:sym typeface="Wingdings" panose="05000000000000000000" pitchFamily="2" charset="2"/>
              </a:rPr>
              <a:t>Dom(A</a:t>
            </a:r>
            <a:r>
              <a:rPr lang="pt-BR" b="1" baseline="-25000" dirty="0">
                <a:sym typeface="Wingdings" panose="05000000000000000000" pitchFamily="2" charset="2"/>
              </a:rPr>
              <a:t>i</a:t>
            </a:r>
            <a:r>
              <a:rPr lang="pt-BR" b="1" dirty="0">
                <a:sym typeface="Wingdings" panose="05000000000000000000" pitchFamily="2" charset="2"/>
              </a:rPr>
              <a:t>) </a:t>
            </a:r>
            <a:r>
              <a:rPr lang="pt-BR" dirty="0">
                <a:sym typeface="Wingdings" panose="05000000000000000000" pitchFamily="2" charset="2"/>
              </a:rPr>
              <a:t>– Domínio do atributo A</a:t>
            </a:r>
            <a:r>
              <a:rPr lang="pt-BR" baseline="-25000" dirty="0">
                <a:sym typeface="Wingdings" panose="05000000000000000000" pitchFamily="2" charset="2"/>
              </a:rPr>
              <a:t>i</a:t>
            </a:r>
          </a:p>
          <a:p>
            <a:pPr>
              <a:spcBef>
                <a:spcPts val="2400"/>
              </a:spcBef>
            </a:pPr>
            <a:r>
              <a:rPr lang="pt-BR" b="1" dirty="0">
                <a:sym typeface="Wingdings" panose="05000000000000000000" pitchFamily="2" charset="2"/>
              </a:rPr>
              <a:t>Cardinalidade</a:t>
            </a:r>
            <a:r>
              <a:rPr lang="pt-BR" dirty="0">
                <a:sym typeface="Wingdings" panose="05000000000000000000" pitchFamily="2" charset="2"/>
              </a:rPr>
              <a:t>  quantidade de instâncias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454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2DEF86-80EA-0938-126D-F660DA50A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 de Relação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B27F1C-733F-2B2A-2E82-34430BE41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30B67F6-AEE8-08D4-5470-95C6D3607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62659"/>
            <a:ext cx="10364646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9076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9CB068-0B5F-FCFD-F79E-A0DA01C33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FEC1CC-A0D3-E5ED-D21F-8B057A76E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Especificação dos domínios: 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Nomes de Pessoas</a:t>
            </a:r>
            <a:r>
              <a:rPr lang="pt-BR" dirty="0"/>
              <a:t>: conjunto de todos os nomes possíveis para pessoas – </a:t>
            </a:r>
            <a:r>
              <a:rPr lang="pt-BR" dirty="0" err="1"/>
              <a:t>strings</a:t>
            </a:r>
            <a:r>
              <a:rPr lang="pt-BR" dirty="0"/>
              <a:t> de 60 caracteres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RG</a:t>
            </a:r>
            <a:r>
              <a:rPr lang="pt-BR" dirty="0"/>
              <a:t>: conjunto dos </a:t>
            </a:r>
            <a:r>
              <a:rPr lang="pt-BR" dirty="0" err="1"/>
              <a:t>RGs</a:t>
            </a:r>
            <a:r>
              <a:rPr lang="pt-BR" dirty="0"/>
              <a:t> válidos no Brasil – números de 9 dígitos  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Idade</a:t>
            </a:r>
            <a:r>
              <a:rPr lang="pt-BR" dirty="0"/>
              <a:t>: conjunto de idades possíveis para pessoas – inteiro entre 0 e 100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02385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20FF4-F6FA-7CC6-B006-BB7C1B599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Relação (ou Estado da Relação)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5E61DC-02F9-8AD7-D996-B1046F9B9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72508CD-63C1-4369-9D5B-28CADAD69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16" y="1556655"/>
            <a:ext cx="10478962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6336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AA8F7-1E81-4FDF-9965-19B662D37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 de Relação (ℛ)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58FC83-B4C6-F783-631B-3055F2125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0FEF921-3253-9D93-64C9-1E1FAE570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56" y="1825625"/>
            <a:ext cx="10307488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9985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20D36-97DB-59F8-D6BA-8B5F55997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E2760F-6EE1-61F0-62F4-66C3B153F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Número total de tuplas possíveis: </a:t>
            </a:r>
          </a:p>
          <a:p>
            <a:pPr marL="457200" lvl="1" indent="0">
              <a:buNone/>
            </a:pPr>
            <a:endParaRPr lang="pt-BR" dirty="0"/>
          </a:p>
          <a:p>
            <a:pPr marL="457200" lvl="1" indent="0">
              <a:buNone/>
            </a:pPr>
            <a:endParaRPr lang="pt-BR" dirty="0"/>
          </a:p>
          <a:p>
            <a:pPr marL="457200" lvl="1" indent="0">
              <a:buNone/>
            </a:pPr>
            <a:endParaRPr lang="pt-BR" dirty="0"/>
          </a:p>
          <a:p>
            <a:r>
              <a:rPr lang="pt-BR" dirty="0"/>
              <a:t>R(ℛ) contém apenas as tuplas válidas que representam a situação de um determinado instante do mundo real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59FC54-9361-C8AF-1CD7-6CDBDCB92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504" y="2270765"/>
            <a:ext cx="6356463" cy="78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218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8B0D53-6B19-97F9-414E-A6DB405D8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F74771-CC72-9D7D-C5A8-EB651F7B7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Esquema (</a:t>
            </a:r>
            <a:r>
              <a:rPr lang="pt-BR" i="1" dirty="0"/>
              <a:t>schema</a:t>
            </a:r>
            <a:r>
              <a:rPr lang="pt-BR" dirty="0"/>
              <a:t>) da relação ℛ</a:t>
            </a:r>
          </a:p>
          <a:p>
            <a:pPr lvl="1"/>
            <a:r>
              <a:rPr lang="pt-BR" dirty="0"/>
              <a:t>Mudanças pouco frequentes</a:t>
            </a:r>
          </a:p>
          <a:p>
            <a:pPr lvl="1"/>
            <a:endParaRPr lang="pt-BR" dirty="0"/>
          </a:p>
          <a:p>
            <a:r>
              <a:rPr lang="pt-BR" dirty="0"/>
              <a:t>Relação ℛ</a:t>
            </a:r>
          </a:p>
          <a:p>
            <a:pPr lvl="1"/>
            <a:r>
              <a:rPr lang="pt-BR" dirty="0"/>
              <a:t>Dinâmica, sujeita a operações de atualização dos fatos </a:t>
            </a:r>
          </a:p>
        </p:txBody>
      </p:sp>
    </p:spTree>
    <p:extLst>
      <p:ext uri="{BB962C8B-B14F-4D97-AF65-F5344CB8AC3E}">
        <p14:creationId xmlns:p14="http://schemas.microsoft.com/office/powerpoint/2010/main" val="11736128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A761B2-C117-BB27-8A38-BEF18B8F2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200C93-0281-7421-29B2-5B1C4643E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B602589-32BB-3CB0-7B9C-AC9A5BC90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652" y="1842483"/>
            <a:ext cx="7306695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8331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D8A6F-CBDF-910F-7611-AD0BB9FDE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C044FF-7554-9B4F-4443-4FD0FDF2C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Banco de dados relacional = </a:t>
            </a:r>
            <a:r>
              <a:rPr lang="pt-BR" dirty="0">
                <a:solidFill>
                  <a:srgbClr val="0070C0"/>
                </a:solidFill>
              </a:rPr>
              <a:t>esquema</a:t>
            </a:r>
            <a:r>
              <a:rPr lang="pt-BR" dirty="0"/>
              <a:t> + </a:t>
            </a:r>
            <a:r>
              <a:rPr lang="pt-BR" dirty="0">
                <a:solidFill>
                  <a:srgbClr val="FF0000"/>
                </a:solidFill>
              </a:rPr>
              <a:t>estado atual</a:t>
            </a:r>
          </a:p>
          <a:p>
            <a:endParaRPr lang="pt-BR" dirty="0"/>
          </a:p>
          <a:p>
            <a:r>
              <a:rPr lang="pt-BR" dirty="0">
                <a:solidFill>
                  <a:srgbClr val="0070C0"/>
                </a:solidFill>
              </a:rPr>
              <a:t>Esquema de base de dados relacional </a:t>
            </a:r>
            <a:r>
              <a:rPr lang="pt-BR" dirty="0"/>
              <a:t>= conjunto de esquemas S =  {</a:t>
            </a:r>
            <a:r>
              <a:rPr lang="pt-BR" i="1" dirty="0"/>
              <a:t>R</a:t>
            </a:r>
            <a:r>
              <a:rPr lang="pt-BR" i="1" baseline="-25000" dirty="0"/>
              <a:t>1</a:t>
            </a:r>
            <a:r>
              <a:rPr lang="pt-BR" i="1" dirty="0"/>
              <a:t>, R</a:t>
            </a:r>
            <a:r>
              <a:rPr lang="pt-BR" i="1" baseline="-25000" dirty="0"/>
              <a:t>2</a:t>
            </a:r>
            <a:r>
              <a:rPr lang="pt-BR" i="1" dirty="0"/>
              <a:t>, .., </a:t>
            </a:r>
            <a:r>
              <a:rPr lang="pt-BR" i="1" dirty="0" err="1"/>
              <a:t>R</a:t>
            </a:r>
            <a:r>
              <a:rPr lang="pt-BR" i="1" baseline="-25000" dirty="0" err="1"/>
              <a:t>n</a:t>
            </a:r>
            <a:r>
              <a:rPr lang="pt-BR" dirty="0"/>
              <a:t>} + restrições de integridade IC</a:t>
            </a:r>
          </a:p>
          <a:p>
            <a:endParaRPr lang="pt-BR" dirty="0"/>
          </a:p>
          <a:p>
            <a:r>
              <a:rPr lang="pt-BR" dirty="0">
                <a:solidFill>
                  <a:srgbClr val="FF0000"/>
                </a:solidFill>
              </a:rPr>
              <a:t>Estado atual </a:t>
            </a:r>
            <a:r>
              <a:rPr lang="pt-BR" dirty="0"/>
              <a:t>= conjunto de estados de relações DB = {r</a:t>
            </a:r>
            <a:r>
              <a:rPr lang="pt-BR" i="1" baseline="-25000" dirty="0"/>
              <a:t>1</a:t>
            </a:r>
            <a:r>
              <a:rPr lang="pt-BR" dirty="0"/>
              <a:t>, r</a:t>
            </a:r>
            <a:r>
              <a:rPr lang="pt-BR" i="1" baseline="-25000" dirty="0"/>
              <a:t>2</a:t>
            </a:r>
            <a:r>
              <a:rPr lang="pt-BR" dirty="0"/>
              <a:t>, .., </a:t>
            </a:r>
            <a:r>
              <a:rPr lang="pt-BR" dirty="0" err="1"/>
              <a:t>r</a:t>
            </a:r>
            <a:r>
              <a:rPr lang="pt-BR" i="1" baseline="-25000" dirty="0" err="1"/>
              <a:t>n</a:t>
            </a:r>
            <a:r>
              <a:rPr lang="pt-BR" dirty="0"/>
              <a:t>}</a:t>
            </a:r>
          </a:p>
          <a:p>
            <a:pPr lvl="1"/>
            <a:r>
              <a:rPr lang="pt-BR" dirty="0"/>
              <a:t>r</a:t>
            </a:r>
            <a:r>
              <a:rPr lang="pt-BR" sz="2800" i="1" baseline="-25000" dirty="0"/>
              <a:t>i</a:t>
            </a:r>
            <a:r>
              <a:rPr lang="pt-BR" dirty="0"/>
              <a:t> é um estado de R</a:t>
            </a:r>
            <a:r>
              <a:rPr lang="pt-BR" sz="2800" i="1" baseline="-25000" dirty="0"/>
              <a:t>i </a:t>
            </a:r>
            <a:r>
              <a:rPr lang="pt-BR" dirty="0"/>
              <a:t>e satisfaz as restrições de integridade em IC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38559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6AB88-B51D-B404-D1AF-2412FA2B8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399F7A-FF02-85C2-4092-4596E3DCD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5F3F84-055D-D30E-7206-1E7C5E6D0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Banco de dados relacional = </a:t>
            </a:r>
            <a:r>
              <a:rPr lang="pt-BR" dirty="0">
                <a:solidFill>
                  <a:srgbClr val="0070C0"/>
                </a:solidFill>
              </a:rPr>
              <a:t>esquema</a:t>
            </a:r>
            <a:r>
              <a:rPr lang="pt-BR" dirty="0"/>
              <a:t> + </a:t>
            </a:r>
            <a:r>
              <a:rPr lang="pt-BR" dirty="0">
                <a:solidFill>
                  <a:srgbClr val="FF0000"/>
                </a:solidFill>
              </a:rPr>
              <a:t>estado atual</a:t>
            </a:r>
          </a:p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A8D81E3-74E8-A39D-8970-ADC132D3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987" y="2370667"/>
            <a:ext cx="3472052" cy="435133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6DD6B9B-AE07-44EE-68C9-AD545E46E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024" y="2597820"/>
            <a:ext cx="5077178" cy="389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7791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E23D50-3E6A-B769-F4CA-6C19007C4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das Relações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4449D7-1B75-C040-CD5C-8C0C44CCF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Ordenação de tuplas em uma relação</a:t>
            </a:r>
          </a:p>
          <a:p>
            <a:pPr lvl="1"/>
            <a:r>
              <a:rPr lang="pt-BR" dirty="0"/>
              <a:t>Uma relação (tabela) é definida como um conjunto de registros (tuplas). </a:t>
            </a:r>
          </a:p>
          <a:p>
            <a:pPr lvl="1"/>
            <a:r>
              <a:rPr lang="pt-BR" dirty="0"/>
              <a:t>Elementos de um conjunto não são ordenados</a:t>
            </a:r>
          </a:p>
          <a:p>
            <a:pPr lvl="1"/>
            <a:r>
              <a:rPr lang="pt-BR" dirty="0"/>
              <a:t>Matematicamente, os elementos de uma tabela </a:t>
            </a:r>
            <a:r>
              <a:rPr lang="pt-BR" b="1" dirty="0"/>
              <a:t>não possuem nenhuma ordenação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667179-7554-DE81-7C5D-E85E0A484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02" y="4001294"/>
            <a:ext cx="6868484" cy="2657846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152B973E-73DA-AD3A-5714-F495519AFB85}"/>
              </a:ext>
            </a:extLst>
          </p:cNvPr>
          <p:cNvSpPr/>
          <p:nvPr/>
        </p:nvSpPr>
        <p:spPr>
          <a:xfrm>
            <a:off x="7706684" y="3725333"/>
            <a:ext cx="4282116" cy="276754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  <a:latin typeface="Play"/>
              </a:rPr>
              <a:t>OBS: </a:t>
            </a:r>
            <a:r>
              <a:rPr lang="pt-BR" sz="2400" b="0" i="0" u="none" strike="noStrike" dirty="0">
                <a:solidFill>
                  <a:schemeClr val="tx1"/>
                </a:solidFill>
                <a:effectLst/>
                <a:latin typeface="Play"/>
              </a:rPr>
              <a:t>Na implementação de um SGBDR existe uma </a:t>
            </a:r>
            <a:r>
              <a:rPr lang="pt-BR" sz="2400" b="1" i="0" u="none" strike="noStrike" dirty="0">
                <a:solidFill>
                  <a:schemeClr val="tx1"/>
                </a:solidFill>
                <a:effectLst/>
                <a:latin typeface="Play"/>
              </a:rPr>
              <a:t>ordem física</a:t>
            </a:r>
            <a:r>
              <a:rPr lang="pt-BR" sz="2400" b="0" i="0" u="none" strike="noStrike" dirty="0">
                <a:solidFill>
                  <a:schemeClr val="tx1"/>
                </a:solidFill>
                <a:effectLst/>
                <a:latin typeface="Play"/>
              </a:rPr>
              <a:t> de armazenamento das tuplas, o que pode determinar uma ordem na recuperação dos dados</a:t>
            </a:r>
            <a:endParaRPr lang="pt-B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98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2CB2C5-B797-D239-0726-20166B7CC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das Relações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A38C96-08AE-9615-44EA-9985951E7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Ordenação de valores dentro de uma tupla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Um registro (tupla) é uma lista ordenada de valores, então a ordem dos valores no registro é importante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Modo como é registrado no arquivo de dados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CF419D3-D45D-2619-787B-018837D45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509" y="3922271"/>
            <a:ext cx="7580981" cy="273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19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42DB04B-77F2-5C66-B0BA-4606DD16933C}"/>
              </a:ext>
            </a:extLst>
          </p:cNvPr>
          <p:cNvSpPr/>
          <p:nvPr/>
        </p:nvSpPr>
        <p:spPr>
          <a:xfrm>
            <a:off x="838200" y="4504268"/>
            <a:ext cx="7707489" cy="16726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7786BB-0395-CE60-4436-29EEF9540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das Relações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51933B-E8E3-CEAE-86B3-E2DFAFE07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Valores e NULL nas tuplas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Cada valor em um registro é um valor </a:t>
            </a:r>
            <a:r>
              <a:rPr lang="pt-BR" b="1" u="sng" dirty="0"/>
              <a:t>atômico</a:t>
            </a:r>
            <a:r>
              <a:rPr lang="pt-BR" dirty="0"/>
              <a:t>. Assim, atributos compostos e multivalorados </a:t>
            </a:r>
            <a:r>
              <a:rPr lang="pt-BR" b="1" dirty="0"/>
              <a:t>não são permitidos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Valores </a:t>
            </a:r>
            <a:r>
              <a:rPr lang="pt-BR" b="1" dirty="0"/>
              <a:t>NULL </a:t>
            </a:r>
            <a:r>
              <a:rPr lang="pt-BR" dirty="0"/>
              <a:t>são usados para representar os valores desconhecidos ou que não se aplicam àquele atributo naquele registro</a:t>
            </a:r>
          </a:p>
          <a:p>
            <a:pPr lvl="1">
              <a:spcBef>
                <a:spcPts val="1800"/>
              </a:spcBef>
            </a:pPr>
            <a:endParaRPr lang="pt-BR" dirty="0"/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Aluno = {Nome, RG, Idade}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R(Aluno) = {&lt;José, 12345, 21&gt;, 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		&lt;Pedro, 54321, </a:t>
            </a:r>
            <a:r>
              <a:rPr lang="pt-BR" dirty="0" err="1"/>
              <a:t>null</a:t>
            </a:r>
            <a:r>
              <a:rPr lang="pt-BR" dirty="0"/>
              <a:t> &gt;}</a:t>
            </a:r>
          </a:p>
          <a:p>
            <a:pPr lvl="1">
              <a:spcBef>
                <a:spcPts val="1800"/>
              </a:spcBef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90882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24780-ABE3-59EB-C555-47656B4BE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E2438-10FA-9B2B-1937-F4490247F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das Relações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DF7ADB-4D2D-EB3C-EED7-B428B2FF2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Interpretação e significado de uma Relação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 </a:t>
            </a:r>
            <a:r>
              <a:rPr lang="pt-BR" i="1" dirty="0"/>
              <a:t>schema </a:t>
            </a:r>
            <a:r>
              <a:rPr lang="pt-BR" dirty="0"/>
              <a:t>de uma Relação pode ser interpretado como uma declaração ou um tipo de afirmação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Tuplas são </a:t>
            </a:r>
            <a:r>
              <a:rPr lang="pt-BR" b="1" dirty="0"/>
              <a:t>fatos </a:t>
            </a:r>
            <a:r>
              <a:rPr lang="pt-BR" dirty="0"/>
              <a:t>ou uma instâncias particulares da afirmação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Premissa do </a:t>
            </a:r>
            <a:r>
              <a:rPr lang="pt-BR" b="1" dirty="0"/>
              <a:t>mundo fechado</a:t>
            </a:r>
            <a:r>
              <a:rPr lang="pt-BR" dirty="0"/>
              <a:t>: os únicos fatos verdadeiros no universo são aqueles presentes na extensão (estado) da(s) relação(</a:t>
            </a:r>
            <a:r>
              <a:rPr lang="pt-BR" dirty="0" err="1"/>
              <a:t>ões</a:t>
            </a:r>
            <a:r>
              <a:rPr lang="pt-BR" dirty="0"/>
              <a:t>).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AD616B7-2AB3-AB4A-33DF-8A7F642C6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333" y="4734998"/>
            <a:ext cx="6784622" cy="212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885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41DF7-FAFB-3A4B-02D7-D28CBBC0A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Resumindo...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F7A00E-646F-1D8F-D5B4-CB6D755A4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Cada tupla é distinta: não existem tuplas duplicadas</a:t>
            </a:r>
          </a:p>
          <a:p>
            <a:r>
              <a:rPr lang="pt-BR" dirty="0"/>
              <a:t>Ordem dos atributos não tem importância</a:t>
            </a:r>
          </a:p>
          <a:p>
            <a:r>
              <a:rPr lang="pt-BR" dirty="0"/>
              <a:t>Ordem das tuplas não tem importância (teoricamente)</a:t>
            </a:r>
          </a:p>
          <a:p>
            <a:r>
              <a:rPr lang="pt-BR" dirty="0"/>
              <a:t>Cada célula contém apenas 1 valor</a:t>
            </a:r>
          </a:p>
          <a:p>
            <a:r>
              <a:rPr lang="pt-BR" dirty="0"/>
              <a:t>Cada atributo tem um nome diferente</a:t>
            </a:r>
          </a:p>
          <a:p>
            <a:r>
              <a:rPr lang="pt-BR" dirty="0"/>
              <a:t>Valores de um atributo pertencem a um mesmo domínio</a:t>
            </a:r>
          </a:p>
          <a:p>
            <a:r>
              <a:rPr lang="pt-BR" dirty="0"/>
              <a:t>Nome da relação é distinto de todos os outros nomes de relação de um Modelo Relacional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59088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00E65-42FD-3C56-35EE-D50B5D85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6DD54F-6C71-0469-0346-5E8C2ED6D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Conceitos básicos</a:t>
            </a:r>
          </a:p>
          <a:p>
            <a:pPr>
              <a:spcBef>
                <a:spcPts val="2400"/>
              </a:spcBef>
            </a:pPr>
            <a:r>
              <a:rPr lang="pt-BR" b="1" dirty="0"/>
              <a:t>Restrições do Modelo Relacional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/>
              <a:t>Restrições de domínio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/>
              <a:t>Restrições de chave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/>
              <a:t>Restrições de integridade de entidade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/>
              <a:t>Restrições de integridade referencial</a:t>
            </a:r>
          </a:p>
          <a:p>
            <a:pPr>
              <a:spcBef>
                <a:spcPts val="2400"/>
              </a:spcBef>
            </a:pPr>
            <a:r>
              <a:rPr lang="pt-BR" dirty="0"/>
              <a:t>Operações, restrições e transações</a:t>
            </a:r>
          </a:p>
          <a:p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1E7DC5-6713-C0CC-3BEF-04D903374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B3DCDD8-5907-3959-0D64-B1A9F3000EEA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60889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CB155-A7A4-7A4D-9DF1-2E3BAECE1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1) Restrições de domínio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3D0D2D-CAE6-4E4A-69F6-E81BD51C0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Especificam que o valor de cada atributo A deve ser igual a um valor atômico pertencente a </a:t>
            </a:r>
            <a:r>
              <a:rPr lang="pt-BR" b="1" dirty="0"/>
              <a:t>Dom(A)</a:t>
            </a:r>
            <a:r>
              <a:rPr lang="pt-BR" dirty="0"/>
              <a:t>, em todos os registros a tabela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Restrição de NULL para atributo: determina quando o valor especial NULL é ou não permitido para um atributo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EA44E3E-A982-6FA2-57D8-DE0F2B242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63" y="4142996"/>
            <a:ext cx="6930315" cy="250334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9EC12E7-BA49-BECB-C3ED-18F00FE6D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018" y="4438852"/>
            <a:ext cx="5249008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70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0E125-7E89-C2B0-CBC1-61257E5A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3FD70-AB08-476A-C1A1-FD762273F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Restrições de chave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BDE606-B180-A507-87E7-5966ACC60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Relação = conjunto de tuplas</a:t>
            </a:r>
          </a:p>
          <a:p>
            <a:pPr>
              <a:spcBef>
                <a:spcPts val="2400"/>
              </a:spcBef>
            </a:pPr>
            <a:r>
              <a:rPr lang="pt-BR" dirty="0"/>
              <a:t>Por definição (teoria dos conjuntos), todas as tuplas devem ser distintas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dois registros quaisquer não podem ter a mesma combinação de valores para todos os seus atributos</a:t>
            </a:r>
          </a:p>
          <a:p>
            <a:pPr>
              <a:spcBef>
                <a:spcPts val="2400"/>
              </a:spcBef>
            </a:pPr>
            <a:r>
              <a:rPr lang="pt-BR" dirty="0"/>
              <a:t>Para garantir esta propriedade especifica-se uma </a:t>
            </a:r>
            <a:r>
              <a:rPr lang="pt-BR" b="1" dirty="0"/>
              <a:t>restrição de unicidade</a:t>
            </a:r>
            <a:r>
              <a:rPr lang="pt-BR" dirty="0"/>
              <a:t> (chave)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5EB5A07-FA59-8D8F-32E9-80C9CF79D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971" y="5384998"/>
            <a:ext cx="2734057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8537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112BA-B2A7-28A7-07C0-B76A810D3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A6215-EEE4-FE76-DB12-4EC096919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Restrições de chave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551E25-2E96-4554-4A7C-B7D4286FF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err="1"/>
              <a:t>Superchave</a:t>
            </a:r>
            <a:r>
              <a:rPr lang="pt-BR" b="1" dirty="0"/>
              <a:t> (SK)</a:t>
            </a:r>
            <a:r>
              <a:rPr lang="pt-BR" dirty="0"/>
              <a:t>: qualquer conjunto de atributos que identifique univocamente uma tupla. Toda Relação tem pelo menos uma </a:t>
            </a:r>
            <a:r>
              <a:rPr lang="pt-BR" dirty="0" err="1"/>
              <a:t>superchave</a:t>
            </a:r>
            <a:r>
              <a:rPr lang="pt-BR" dirty="0"/>
              <a:t> – todos os seu atributos. </a:t>
            </a:r>
          </a:p>
          <a:p>
            <a:pPr>
              <a:spcBef>
                <a:spcPts val="2400"/>
              </a:spcBef>
            </a:pPr>
            <a:r>
              <a:rPr lang="pt-BR" b="1" dirty="0"/>
              <a:t>Chave</a:t>
            </a:r>
            <a:r>
              <a:rPr lang="pt-BR" dirty="0"/>
              <a:t>: é uma </a:t>
            </a:r>
            <a:r>
              <a:rPr lang="pt-BR" dirty="0" err="1"/>
              <a:t>superchave</a:t>
            </a:r>
            <a:r>
              <a:rPr lang="pt-BR" dirty="0"/>
              <a:t> de R sem atributos redundantes </a:t>
            </a:r>
            <a:r>
              <a:rPr lang="pt-BR" dirty="0">
                <a:sym typeface="Wingdings" panose="05000000000000000000" pitchFamily="2" charset="2"/>
              </a:rPr>
              <a:t> conjunto mínimo capaz de garantir a restrição de unicidade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C6FF929-4852-14F8-6F92-E27A23D46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89" y="4432217"/>
            <a:ext cx="6439799" cy="181000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D4FAAFA-C2DF-5BC4-34F5-9CD072141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863" y="5337219"/>
            <a:ext cx="6820852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020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9CEF9-04BD-67D6-09A1-A8031D586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70C45-CC2E-D83B-7C82-05DC679B0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Restrições de chave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DD6927-1AD1-425D-89EB-FD62AD25A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err="1"/>
              <a:t>Superchave</a:t>
            </a:r>
            <a:r>
              <a:rPr lang="pt-BR" b="1" dirty="0"/>
              <a:t> (SK)</a:t>
            </a:r>
            <a:r>
              <a:rPr lang="pt-BR" dirty="0"/>
              <a:t>: qualquer conjunto de atributos que identifique univocamente uma tupla. Toda Relação tem pelo menos uma </a:t>
            </a:r>
            <a:r>
              <a:rPr lang="pt-BR" dirty="0" err="1"/>
              <a:t>superchave</a:t>
            </a:r>
            <a:r>
              <a:rPr lang="pt-BR" dirty="0"/>
              <a:t> – todos os seu atributos. </a:t>
            </a:r>
          </a:p>
          <a:p>
            <a:pPr>
              <a:spcBef>
                <a:spcPts val="2400"/>
              </a:spcBef>
            </a:pPr>
            <a:r>
              <a:rPr lang="pt-BR" b="1" dirty="0"/>
              <a:t>Chave</a:t>
            </a:r>
            <a:r>
              <a:rPr lang="pt-BR" dirty="0"/>
              <a:t>: é uma </a:t>
            </a:r>
            <a:r>
              <a:rPr lang="pt-BR" dirty="0" err="1"/>
              <a:t>superchave</a:t>
            </a:r>
            <a:r>
              <a:rPr lang="pt-BR" dirty="0"/>
              <a:t> de R sem atributos redundantes </a:t>
            </a:r>
            <a:r>
              <a:rPr lang="pt-BR" dirty="0">
                <a:sym typeface="Wingdings" panose="05000000000000000000" pitchFamily="2" charset="2"/>
              </a:rPr>
              <a:t> conjunto mínimo capaz de garantir a restrição de unicidade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70C012E-BF60-13DE-3D1E-48E1FFEC5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70527"/>
            <a:ext cx="9754961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6894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BE68-0726-BC6B-C3E4-E7308ED1F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306919-C4D6-2738-3697-A0FFA583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Restrições de chave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059AC9-B6A5-A952-D79A-85303CAB3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Chave:</a:t>
            </a:r>
            <a:r>
              <a:rPr lang="pt-BR" dirty="0"/>
              <a:t> </a:t>
            </a:r>
            <a:r>
              <a:rPr lang="pt-BR" dirty="0" err="1"/>
              <a:t>superchave</a:t>
            </a:r>
            <a:r>
              <a:rPr lang="pt-BR" dirty="0"/>
              <a:t> da qual não se pode retirar nenhum atributo sem perder a propriedade de identificação</a:t>
            </a:r>
          </a:p>
          <a:p>
            <a:pPr lvl="1"/>
            <a:r>
              <a:rPr lang="pt-BR" dirty="0" err="1"/>
              <a:t>Superchave</a:t>
            </a:r>
            <a:r>
              <a:rPr lang="pt-BR" dirty="0"/>
              <a:t> mínima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82A8699-AB3C-DDD7-12A6-0509614A0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731" y="3440289"/>
            <a:ext cx="7792537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7587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56B56-E7F6-852C-6A22-87E7A7DA8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Restrições de chave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4EE134-BB8C-7DF1-72D9-5A2CF2ECC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pt-BR" dirty="0"/>
              <a:t>Em geral, uma Relação R pode ter mais de uma chave (atributo que identifica univocamente uma entidade). Cada uma delas é uma </a:t>
            </a:r>
            <a:r>
              <a:rPr lang="pt-BR" b="1" dirty="0"/>
              <a:t>chave candidata</a:t>
            </a:r>
          </a:p>
          <a:p>
            <a:r>
              <a:rPr lang="pt-BR" dirty="0"/>
              <a:t>É comum escolher uma das chaves candidatas para ser a </a:t>
            </a:r>
            <a:r>
              <a:rPr lang="pt-BR" b="1" dirty="0"/>
              <a:t>chave primária (PK)</a:t>
            </a:r>
            <a:r>
              <a:rPr lang="pt-BR" dirty="0"/>
              <a:t> da relação </a:t>
            </a:r>
          </a:p>
          <a:p>
            <a:r>
              <a:rPr lang="pt-BR" dirty="0"/>
              <a:t>Cada uma das demais chaves candidatas é chamada de </a:t>
            </a:r>
            <a:r>
              <a:rPr lang="pt-BR" b="1" dirty="0"/>
              <a:t>chave única (UNIQUE)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15B6185-993B-9C53-FD05-A3B52E84F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537" y="4463188"/>
            <a:ext cx="4493550" cy="228075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61FF78D-E00F-EA08-0323-08157F41F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957" y="4813144"/>
            <a:ext cx="4673011" cy="177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3413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75405-74CE-C093-BF0D-6548A24D7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Restrições de chave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1793B4-FD41-66E9-6673-98102AA0A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Chaves candidatas podem ser: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Simples</a:t>
            </a:r>
          </a:p>
          <a:p>
            <a:pPr lvl="2"/>
            <a:r>
              <a:rPr lang="pt-BR" dirty="0"/>
              <a:t>Definidas por um único atributo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Compostas</a:t>
            </a:r>
          </a:p>
          <a:p>
            <a:pPr lvl="2"/>
            <a:r>
              <a:rPr lang="pt-BR" dirty="0"/>
              <a:t>Definidas por um conjunto de atributos</a:t>
            </a:r>
          </a:p>
          <a:p>
            <a:pPr lvl="2"/>
            <a:r>
              <a:rPr lang="pt-BR" dirty="0"/>
              <a:t>A combinação de valores não se repete na relação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33061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93376-99AF-FCDA-FB84-86856F07D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29E552-DD65-3536-99C3-BB943E6CB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3) Restrições de integridade de entidade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59DA96-5D36-8E54-BD37-A500C13E9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Garantia de que cada registro em uma relação é </a:t>
            </a:r>
            <a:r>
              <a:rPr lang="pt-BR" b="1" dirty="0"/>
              <a:t>único</a:t>
            </a:r>
            <a:r>
              <a:rPr lang="pt-BR" dirty="0"/>
              <a:t> e </a:t>
            </a:r>
            <a:r>
              <a:rPr lang="pt-BR" b="1" dirty="0"/>
              <a:t>identificável</a:t>
            </a:r>
            <a:r>
              <a:rPr lang="pt-BR" dirty="0"/>
              <a:t> </a:t>
            </a:r>
            <a:r>
              <a:rPr lang="pt-BR" b="1" dirty="0"/>
              <a:t>por uma chave primária</a:t>
            </a:r>
          </a:p>
          <a:p>
            <a:r>
              <a:rPr lang="pt-BR" dirty="0"/>
              <a:t>O valor de uma chave primária (PK) </a:t>
            </a:r>
            <a:r>
              <a:rPr lang="pt-BR" b="1" dirty="0"/>
              <a:t>não pode ser NULL</a:t>
            </a:r>
          </a:p>
          <a:p>
            <a:endParaRPr lang="pt-BR" b="1" dirty="0"/>
          </a:p>
          <a:p>
            <a:endParaRPr lang="pt-BR" b="1" dirty="0"/>
          </a:p>
          <a:p>
            <a:r>
              <a:rPr lang="pt-BR" dirty="0"/>
              <a:t>Se a chave primária for composta por mais de um atributo, nenhum deles pode ser nulo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27AC7F8-DB91-D5A2-0056-0406803F8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310" y="3429714"/>
            <a:ext cx="6649378" cy="57158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4818F78-2567-70DF-1182-3B6D09748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098" y="5314830"/>
            <a:ext cx="9335803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9035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74DCB-99C5-CDD9-3F0A-590932B91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12518-3029-52B7-51F5-2A802A3AF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4) Restrições de integridade referencial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BED091-8002-5107-1F20-5578EF486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especificada entre duas tabelas e usada para manter a consistência entre os seus registros</a:t>
            </a:r>
          </a:p>
          <a:p>
            <a:pPr lvl="1"/>
            <a:r>
              <a:rPr lang="pt-BR" dirty="0"/>
              <a:t>Ex.: uma tupla da Relação A que referencia uma Relação B deve fazer referência a um registro existente na Relação B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37DCC3A-2295-AE7B-B63D-3B3C11773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76" y="3623971"/>
            <a:ext cx="6334480" cy="307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8803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89771-0677-760D-4908-ED9EAC5C8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6559D2-0DDB-C04F-1A7A-2DF0088D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4) Restrições de integridade referencial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6F4E64-DB1B-9801-E82A-B798C48CC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Definida entre duas relações (tabelas)</a:t>
            </a:r>
          </a:p>
          <a:p>
            <a:pPr lvl="1"/>
            <a:r>
              <a:rPr lang="pt-BR" dirty="0"/>
              <a:t>Relaciona tuplas de duas tabelas por meio de </a:t>
            </a:r>
            <a:r>
              <a:rPr lang="pt-BR" b="1" dirty="0"/>
              <a:t>valores de atributos</a:t>
            </a:r>
          </a:p>
          <a:p>
            <a:r>
              <a:rPr lang="pt-BR" dirty="0"/>
              <a:t>Usada para manter consistência entre tuplas de duas tabelas relacionadas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A9642F3-AD75-A8D0-7AF2-31F6455CF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493" y="3631847"/>
            <a:ext cx="6385996" cy="309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1909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2AA5BE-5176-313D-344A-F8185C43E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4) Restrições de integridade referencial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92B171-DD1C-D630-5A6B-AD97826F7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Chave Estrangeira (FK)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Considere dois </a:t>
            </a:r>
            <a:r>
              <a:rPr lang="pt-BR" i="1" dirty="0" err="1"/>
              <a:t>schemas</a:t>
            </a:r>
            <a:r>
              <a:rPr lang="pt-BR" dirty="0"/>
              <a:t> de tabela R</a:t>
            </a:r>
            <a:r>
              <a:rPr lang="pt-BR" baseline="-25000" dirty="0"/>
              <a:t>1</a:t>
            </a:r>
            <a:r>
              <a:rPr lang="pt-BR" dirty="0"/>
              <a:t> e R</a:t>
            </a:r>
            <a:r>
              <a:rPr lang="pt-BR" baseline="-25000" dirty="0"/>
              <a:t>2</a:t>
            </a:r>
            <a:r>
              <a:rPr lang="pt-BR" dirty="0"/>
              <a:t>. Um conjunto de atributos FK no esquema R</a:t>
            </a:r>
            <a:r>
              <a:rPr lang="pt-BR" baseline="-25000" dirty="0"/>
              <a:t>1</a:t>
            </a:r>
            <a:r>
              <a:rPr lang="pt-BR" dirty="0"/>
              <a:t> é uma chave estrangeira de R</a:t>
            </a:r>
            <a:r>
              <a:rPr lang="pt-BR" baseline="-25000" dirty="0"/>
              <a:t>1</a:t>
            </a:r>
            <a:r>
              <a:rPr lang="pt-BR" dirty="0"/>
              <a:t> que referencia R</a:t>
            </a:r>
            <a:r>
              <a:rPr lang="pt-BR" baseline="-25000" dirty="0"/>
              <a:t>2</a:t>
            </a:r>
            <a:r>
              <a:rPr lang="pt-BR" dirty="0"/>
              <a:t> se: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Os atributos em FK tem o mesmo domínio dos atributos da PK em R</a:t>
            </a:r>
            <a:r>
              <a:rPr lang="pt-BR" sz="2400" baseline="-25000" dirty="0"/>
              <a:t>2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O valor de FK no registro r</a:t>
            </a:r>
            <a:r>
              <a:rPr lang="pt-BR" sz="2400" baseline="-25000" dirty="0"/>
              <a:t>1</a:t>
            </a:r>
            <a:r>
              <a:rPr lang="pt-BR" dirty="0"/>
              <a:t> de um estado t</a:t>
            </a:r>
            <a:r>
              <a:rPr lang="pt-BR" sz="2400" baseline="-25000" dirty="0"/>
              <a:t>1</a:t>
            </a:r>
            <a:r>
              <a:rPr lang="pt-BR" dirty="0"/>
              <a:t>(R</a:t>
            </a:r>
            <a:r>
              <a:rPr lang="pt-BR" sz="2400" baseline="-25000" dirty="0"/>
              <a:t>1</a:t>
            </a:r>
            <a:r>
              <a:rPr lang="pt-BR" dirty="0"/>
              <a:t>) ou ocorre como um valor de PK para algum registro r</a:t>
            </a:r>
            <a:r>
              <a:rPr lang="pt-BR" sz="2400" baseline="-25000" dirty="0"/>
              <a:t>2</a:t>
            </a:r>
            <a:r>
              <a:rPr lang="pt-BR" dirty="0"/>
              <a:t> de um estado de t</a:t>
            </a:r>
            <a:r>
              <a:rPr lang="pt-BR" sz="2400" baseline="-25000" dirty="0"/>
              <a:t>2</a:t>
            </a:r>
            <a:r>
              <a:rPr lang="pt-BR" dirty="0"/>
              <a:t>(R</a:t>
            </a:r>
            <a:r>
              <a:rPr lang="pt-BR" sz="2400" baseline="-25000" dirty="0"/>
              <a:t>2</a:t>
            </a:r>
            <a:r>
              <a:rPr lang="pt-BR" dirty="0"/>
              <a:t>) ou é NULL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A4AF3D6-43A0-2013-343F-0DA292A1F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551" y="4777811"/>
            <a:ext cx="1952898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2330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65E023-6234-9D96-6078-B2E71E900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4) Restrições de integridade referencial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915432C-E868-7AC2-1896-6D4B87582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1807"/>
            <a:ext cx="8335538" cy="422969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DEF9D2B-E236-F164-0C22-0595960FAF08}"/>
              </a:ext>
            </a:extLst>
          </p:cNvPr>
          <p:cNvSpPr txBox="1"/>
          <p:nvPr/>
        </p:nvSpPr>
        <p:spPr>
          <a:xfrm>
            <a:off x="5886254" y="4041422"/>
            <a:ext cx="6221703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2400" b="1" dirty="0" err="1"/>
              <a:t>Funcionario</a:t>
            </a:r>
            <a:r>
              <a:rPr lang="pt-BR" sz="2400" b="1" dirty="0"/>
              <a:t>[</a:t>
            </a:r>
            <a:r>
              <a:rPr lang="pt-BR" sz="2400" b="1" dirty="0" err="1"/>
              <a:t>D_Num</a:t>
            </a:r>
            <a:r>
              <a:rPr lang="pt-BR" sz="2400" b="1" dirty="0"/>
              <a:t>] = Departamento[número]</a:t>
            </a:r>
          </a:p>
          <a:p>
            <a:endParaRPr lang="pt-BR" sz="2400" b="1" dirty="0"/>
          </a:p>
          <a:p>
            <a:r>
              <a:rPr lang="pt-BR" sz="2400" b="1" dirty="0"/>
              <a:t>Departamento[</a:t>
            </a:r>
            <a:r>
              <a:rPr lang="pt-BR" sz="2400" b="1" dirty="0" err="1"/>
              <a:t>Gident</a:t>
            </a:r>
            <a:r>
              <a:rPr lang="pt-BR" sz="2400" b="1" dirty="0"/>
              <a:t>] = </a:t>
            </a:r>
            <a:r>
              <a:rPr lang="pt-BR" sz="2400" b="1" dirty="0" err="1"/>
              <a:t>Funcionario</a:t>
            </a:r>
            <a:r>
              <a:rPr lang="pt-BR" sz="2400" b="1" dirty="0"/>
              <a:t>[</a:t>
            </a:r>
            <a:r>
              <a:rPr lang="pt-BR" sz="2400" b="1" dirty="0" err="1"/>
              <a:t>ident</a:t>
            </a:r>
            <a:r>
              <a:rPr lang="pt-BR" sz="2400" b="1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8752637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45BA1-E955-3478-3F0A-6B3105F21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882550-CBA5-AAD9-0B39-34A3A86B1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Criação de domínios (opcional)</a:t>
            </a:r>
          </a:p>
          <a:p>
            <a:pPr>
              <a:spcBef>
                <a:spcPts val="2400"/>
              </a:spcBef>
            </a:pPr>
            <a:r>
              <a:rPr lang="pt-BR" dirty="0"/>
              <a:t>Criação dos esquemas de relação </a:t>
            </a:r>
          </a:p>
          <a:p>
            <a:pPr>
              <a:spcBef>
                <a:spcPts val="2400"/>
              </a:spcBef>
            </a:pPr>
            <a:r>
              <a:rPr lang="pt-BR" dirty="0"/>
              <a:t>Definição de:</a:t>
            </a:r>
          </a:p>
          <a:p>
            <a:pPr lvl="1"/>
            <a:r>
              <a:rPr lang="pt-BR" dirty="0"/>
              <a:t>Restrições de relação</a:t>
            </a:r>
          </a:p>
          <a:p>
            <a:pPr lvl="1"/>
            <a:r>
              <a:rPr lang="pt-BR" dirty="0"/>
              <a:t>Restrições de integridade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63954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403AD-F2CB-5D77-7B5A-F5F7A4510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4C4D89-C857-00FF-B0DD-13910E5CE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Conceitos básicos</a:t>
            </a:r>
          </a:p>
          <a:p>
            <a:pPr>
              <a:spcBef>
                <a:spcPts val="2400"/>
              </a:spcBef>
            </a:pPr>
            <a:r>
              <a:rPr lang="pt-BR" dirty="0"/>
              <a:t>Restrições do Modelo Relacional</a:t>
            </a:r>
          </a:p>
          <a:p>
            <a:pPr>
              <a:spcBef>
                <a:spcPts val="2400"/>
              </a:spcBef>
            </a:pPr>
            <a:r>
              <a:rPr lang="pt-BR" b="1" dirty="0"/>
              <a:t>Operações, restrições e transações</a:t>
            </a:r>
          </a:p>
          <a:p>
            <a:pPr lvl="1"/>
            <a:r>
              <a:rPr lang="pt-BR" b="1" dirty="0"/>
              <a:t>INSERT, DELETE, UPDATE</a:t>
            </a:r>
          </a:p>
          <a:p>
            <a:pPr lvl="1"/>
            <a:r>
              <a:rPr lang="pt-BR" b="1" dirty="0"/>
              <a:t>Transações</a:t>
            </a: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467382-4345-6056-D74E-ADF1CC5EB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2D59579-C828-4CF7-ECFC-E9F96F871D6A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98524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257CA-67A9-591A-BA17-702552B51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no Modelo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8618A5-DFA3-05B0-46E6-2CC921AD1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2 tipos:</a:t>
            </a:r>
          </a:p>
          <a:p>
            <a:pPr lvl="1"/>
            <a:r>
              <a:rPr lang="pt-BR" dirty="0"/>
              <a:t>Recuperação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Modificação</a:t>
            </a:r>
          </a:p>
        </p:txBody>
      </p:sp>
    </p:spTree>
    <p:extLst>
      <p:ext uri="{BB962C8B-B14F-4D97-AF65-F5344CB8AC3E}">
        <p14:creationId xmlns:p14="http://schemas.microsoft.com/office/powerpoint/2010/main" val="25988048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2CB70-B9F4-DDE9-30FA-9748A0187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D9E7F-E6FD-64FB-20DF-D701A053B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no Modelo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190BC2-4E9A-10DF-4691-FF4246205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Recuperação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Operações de álgebra relacional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Uma expressão algébrica forma uma nova relação após aplicar operadores algébricos para um conjunto existente de relações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Usado para consultar banco de dados para recuperar informações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Usuário formula uma consulta que especifica os dados de interesse e uma nova relação é gerada ao aplicar os operadores para recuperar esses dados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 </a:t>
            </a:r>
            <a:r>
              <a:rPr lang="pt-BR" b="1" dirty="0"/>
              <a:t>relação de resultado </a:t>
            </a:r>
            <a:r>
              <a:rPr lang="pt-BR" dirty="0"/>
              <a:t>se torna a resposta para a consulta</a:t>
            </a:r>
          </a:p>
        </p:txBody>
      </p:sp>
    </p:spTree>
    <p:extLst>
      <p:ext uri="{BB962C8B-B14F-4D97-AF65-F5344CB8AC3E}">
        <p14:creationId xmlns:p14="http://schemas.microsoft.com/office/powerpoint/2010/main" val="6200582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CB848-21A6-801C-04F1-92FBDB015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1A466-E4EA-23AD-F717-1C21CDD1B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no Modelo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74FDCD-1249-0709-FF41-91F738FD9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Modificação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Operações básicas que mudam o estado do banco de dados</a:t>
            </a:r>
          </a:p>
          <a:p>
            <a:pPr lvl="2">
              <a:spcBef>
                <a:spcPts val="1200"/>
              </a:spcBef>
            </a:pPr>
            <a:r>
              <a:rPr lang="pt-BR" b="1" dirty="0" err="1"/>
              <a:t>Insert</a:t>
            </a:r>
            <a:r>
              <a:rPr lang="pt-BR" dirty="0"/>
              <a:t>: insere 1 ou mais tuplas em uma relação;</a:t>
            </a:r>
          </a:p>
          <a:p>
            <a:pPr lvl="2">
              <a:spcBef>
                <a:spcPts val="1200"/>
              </a:spcBef>
            </a:pPr>
            <a:r>
              <a:rPr lang="pt-BR" b="1" dirty="0"/>
              <a:t>Delete</a:t>
            </a:r>
            <a:r>
              <a:rPr lang="pt-BR" dirty="0"/>
              <a:t>: remover tuplas de uma relação;</a:t>
            </a:r>
          </a:p>
          <a:p>
            <a:pPr lvl="2">
              <a:spcBef>
                <a:spcPts val="1200"/>
              </a:spcBef>
            </a:pPr>
            <a:r>
              <a:rPr lang="pt-BR" b="1" dirty="0"/>
              <a:t>Update</a:t>
            </a:r>
            <a:r>
              <a:rPr lang="pt-BR" dirty="0"/>
              <a:t>: muda os valores de 1 ou mais atributos em tuplas já existentes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Quando essas operações são aplicadas num banco de dados relacional as restrições de integridade não devem ser violadas</a:t>
            </a:r>
          </a:p>
        </p:txBody>
      </p:sp>
    </p:spTree>
    <p:extLst>
      <p:ext uri="{BB962C8B-B14F-4D97-AF65-F5344CB8AC3E}">
        <p14:creationId xmlns:p14="http://schemas.microsoft.com/office/powerpoint/2010/main" val="11303035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AFE68-8FA1-8211-D8D2-0B0BB077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E4423E-3EE0-6379-DDA0-AB23FD6C4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Operação que fornece uma lista de valores de atributos para uma nova tupla </a:t>
            </a:r>
            <a:r>
              <a:rPr lang="pt-BR" i="1" dirty="0"/>
              <a:t>t </a:t>
            </a:r>
            <a:r>
              <a:rPr lang="pt-BR" dirty="0"/>
              <a:t>a ser inserida em uma relação </a:t>
            </a:r>
            <a:r>
              <a:rPr lang="pt-BR" i="1" dirty="0"/>
              <a:t>R</a:t>
            </a:r>
          </a:p>
          <a:p>
            <a:pPr>
              <a:spcBef>
                <a:spcPts val="2400"/>
              </a:spcBef>
            </a:pPr>
            <a:r>
              <a:rPr lang="pt-BR" dirty="0"/>
              <a:t>Pode violar qualquer uma das 4 restrições</a:t>
            </a:r>
          </a:p>
          <a:p>
            <a:pPr lvl="1">
              <a:spcBef>
                <a:spcPts val="1800"/>
              </a:spcBef>
            </a:pPr>
            <a:r>
              <a:rPr lang="pt-BR" b="1" u="sng" dirty="0"/>
              <a:t>Domínio</a:t>
            </a:r>
            <a:r>
              <a:rPr lang="pt-BR" dirty="0"/>
              <a:t>: se o valor de um atributo não aparece no domínio correspondente ou não é do tipo de dado apropriado</a:t>
            </a:r>
          </a:p>
          <a:p>
            <a:pPr lvl="1">
              <a:spcBef>
                <a:spcPts val="1800"/>
              </a:spcBef>
            </a:pPr>
            <a:r>
              <a:rPr lang="pt-BR" b="1" u="sng" dirty="0"/>
              <a:t>Chave</a:t>
            </a:r>
            <a:r>
              <a:rPr lang="pt-BR" dirty="0"/>
              <a:t>: se um valor de chave na nova tupla t já existe em outra tupla da relação R</a:t>
            </a:r>
          </a:p>
          <a:p>
            <a:pPr lvl="1">
              <a:spcBef>
                <a:spcPts val="1800"/>
              </a:spcBef>
            </a:pPr>
            <a:r>
              <a:rPr lang="pt-BR" b="1" u="sng" dirty="0"/>
              <a:t>Integridade de entidade</a:t>
            </a:r>
            <a:r>
              <a:rPr lang="pt-BR" dirty="0"/>
              <a:t>: se qualquer parte da chave primária da nova tupla é NULL</a:t>
            </a:r>
          </a:p>
          <a:p>
            <a:pPr lvl="1">
              <a:spcBef>
                <a:spcPts val="1800"/>
              </a:spcBef>
            </a:pPr>
            <a:r>
              <a:rPr lang="pt-BR" b="1" u="sng" dirty="0"/>
              <a:t>Integridade referencial</a:t>
            </a:r>
            <a:r>
              <a:rPr lang="pt-BR" dirty="0"/>
              <a:t>: se o valor de qualquer chave estrangeira em t se refere a uma tupla que não existe na relação referenciada</a:t>
            </a:r>
          </a:p>
        </p:txBody>
      </p:sp>
    </p:spTree>
    <p:extLst>
      <p:ext uri="{BB962C8B-B14F-4D97-AF65-F5344CB8AC3E}">
        <p14:creationId xmlns:p14="http://schemas.microsoft.com/office/powerpoint/2010/main" val="707666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64E48-D708-F649-C3A6-77B58F548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FAE75D-0C0D-68EB-0618-99CDCA722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Caso uma inserção viole uma ou mais restrições, o padrão é </a:t>
            </a:r>
            <a:r>
              <a:rPr lang="pt-BR" b="1" dirty="0">
                <a:solidFill>
                  <a:srgbClr val="FF0000"/>
                </a:solidFill>
              </a:rPr>
              <a:t>rejeitar </a:t>
            </a:r>
            <a:r>
              <a:rPr lang="pt-BR" dirty="0"/>
              <a:t>a operação de inserção</a:t>
            </a:r>
          </a:p>
          <a:p>
            <a:pPr>
              <a:spcBef>
                <a:spcPts val="2400"/>
              </a:spcBef>
            </a:pPr>
            <a:r>
              <a:rPr lang="pt-BR" dirty="0"/>
              <a:t>SGBD deve fornecer uma razão para o usuário do porquê a inserção foi rejeitada</a:t>
            </a:r>
          </a:p>
        </p:txBody>
      </p:sp>
    </p:spTree>
    <p:extLst>
      <p:ext uri="{BB962C8B-B14F-4D97-AF65-F5344CB8AC3E}">
        <p14:creationId xmlns:p14="http://schemas.microsoft.com/office/powerpoint/2010/main" val="10866941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57DB-2167-B601-FF04-4C2DDC3F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C2E0B8-543F-DF9A-9AD4-F3D45C5FB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FBC37CC-B1DC-B3EC-0F08-473874E7C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418" y="19756"/>
            <a:ext cx="5638380" cy="683824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09F7C19-1ECC-E10F-0B4E-882FF1F44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13" y="1962206"/>
            <a:ext cx="5144218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20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31D5A-9008-7010-F01F-5FAA9B33E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INSERT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C1C8805-5C8A-CF0F-248F-79DCF599EF6F}"/>
              </a:ext>
            </a:extLst>
          </p:cNvPr>
          <p:cNvSpPr txBox="1"/>
          <p:nvPr/>
        </p:nvSpPr>
        <p:spPr>
          <a:xfrm>
            <a:off x="5518509" y="210091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800" b="1" i="0" u="none" strike="noStrike" baseline="0" dirty="0" err="1">
                <a:latin typeface="MinionPro-Regular"/>
              </a:rPr>
              <a:t>Insert</a:t>
            </a:r>
            <a:r>
              <a:rPr lang="pt-BR" sz="1800" b="0" i="0" u="none" strike="noStrike" baseline="0" dirty="0">
                <a:latin typeface="MinionPro-Regular"/>
              </a:rPr>
              <a:t> &lt;‘Cecilia’, ‘F’, ‘</a:t>
            </a:r>
            <a:r>
              <a:rPr lang="pt-BR" sz="1800" b="0" i="0" u="none" strike="noStrike" baseline="0" dirty="0" err="1">
                <a:latin typeface="MinionPro-Regular"/>
              </a:rPr>
              <a:t>Kolonsky</a:t>
            </a:r>
            <a:r>
              <a:rPr lang="pt-BR" sz="1800" b="0" i="0" u="none" strike="noStrike" baseline="0" dirty="0">
                <a:latin typeface="MinionPro-Regular"/>
              </a:rPr>
              <a:t>’, </a:t>
            </a:r>
            <a:r>
              <a:rPr lang="pt-BR" sz="1600" b="0" i="0" u="none" strike="noStrike" baseline="0" dirty="0">
                <a:latin typeface="AkzidenzGroteskBE-Regular"/>
              </a:rPr>
              <a:t>NULL</a:t>
            </a:r>
            <a:r>
              <a:rPr lang="pt-BR" sz="1800" b="0" i="0" u="none" strike="noStrike" baseline="0" dirty="0">
                <a:latin typeface="MinionPro-Regular"/>
              </a:rPr>
              <a:t>, ‘1960-04-05’, ‘6357 </a:t>
            </a:r>
            <a:r>
              <a:rPr lang="pt-BR" sz="1800" b="0" i="0" u="none" strike="noStrike" baseline="0" dirty="0" err="1">
                <a:latin typeface="MinionPro-Regular"/>
              </a:rPr>
              <a:t>Windy</a:t>
            </a:r>
            <a:r>
              <a:rPr lang="pt-BR" sz="1800" b="0" i="0" u="none" strike="noStrike" baseline="0" dirty="0">
                <a:latin typeface="MinionPro-Regular"/>
              </a:rPr>
              <a:t> Lane, Katy, </a:t>
            </a:r>
            <a:r>
              <a:rPr lang="en-US" sz="1800" b="0" i="0" u="none" strike="noStrike" baseline="0" dirty="0">
                <a:latin typeface="MinionPro-Regular"/>
              </a:rPr>
              <a:t>TX’, F, 28000, </a:t>
            </a:r>
            <a:r>
              <a:rPr lang="en-US" sz="1600" b="0" i="0" u="none" strike="noStrike" baseline="0" dirty="0">
                <a:latin typeface="AkzidenzGroteskBE-Regular"/>
              </a:rPr>
              <a:t>NULL</a:t>
            </a:r>
            <a:r>
              <a:rPr lang="en-US" sz="1800" b="0" i="0" u="none" strike="noStrike" baseline="0" dirty="0">
                <a:latin typeface="MinionPro-Regular"/>
              </a:rPr>
              <a:t>, 4&gt; </a:t>
            </a:r>
            <a:r>
              <a:rPr lang="en-US" sz="1800" b="1" i="0" u="none" strike="noStrike" baseline="0" dirty="0">
                <a:latin typeface="MinionPro-Regular"/>
              </a:rPr>
              <a:t>into</a:t>
            </a:r>
            <a:r>
              <a:rPr lang="en-US" sz="1800" b="0" i="0" u="none" strike="noStrike" baseline="0" dirty="0">
                <a:latin typeface="MinionPro-Regular"/>
              </a:rPr>
              <a:t> </a:t>
            </a:r>
            <a:r>
              <a:rPr lang="en-US" sz="1600" b="1" i="0" u="none" strike="noStrike" baseline="0" dirty="0">
                <a:latin typeface="AkzidenzGroteskBE-Regular"/>
              </a:rPr>
              <a:t>EMPLOYEE</a:t>
            </a:r>
            <a:endParaRPr lang="pt-BR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A5337E3-835B-ECD6-FECA-74EB0406E451}"/>
              </a:ext>
            </a:extLst>
          </p:cNvPr>
          <p:cNvSpPr txBox="1"/>
          <p:nvPr/>
        </p:nvSpPr>
        <p:spPr>
          <a:xfrm>
            <a:off x="5518509" y="3149694"/>
            <a:ext cx="629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800" b="1" i="0" u="none" strike="noStrike" baseline="0" dirty="0" err="1">
                <a:latin typeface="MinionPro-Regular"/>
              </a:rPr>
              <a:t>Insert</a:t>
            </a:r>
            <a:r>
              <a:rPr lang="pt-BR" sz="1800" b="0" i="0" u="none" strike="noStrike" baseline="0" dirty="0">
                <a:latin typeface="MinionPro-Regular"/>
              </a:rPr>
              <a:t> &lt;‘Alicia’, ‘J’, ‘Zelaya’, ‘999887777’, ‘1960-04-05’, ‘6357 </a:t>
            </a:r>
            <a:r>
              <a:rPr lang="pt-BR" sz="1800" b="0" i="0" u="none" strike="noStrike" baseline="0" dirty="0" err="1">
                <a:latin typeface="MinionPro-Regular"/>
              </a:rPr>
              <a:t>Windy</a:t>
            </a:r>
            <a:r>
              <a:rPr lang="pt-BR" sz="1800" b="0" i="0" u="none" strike="noStrike" baseline="0" dirty="0">
                <a:latin typeface="MinionPro-Regular"/>
              </a:rPr>
              <a:t> Lane, Katy, </a:t>
            </a:r>
            <a:r>
              <a:rPr lang="en-US" sz="1800" b="0" i="0" u="none" strike="noStrike" baseline="0" dirty="0">
                <a:latin typeface="MinionPro-Regular"/>
              </a:rPr>
              <a:t>TX’, F, 28000, ‘987654321’, 4&gt; </a:t>
            </a:r>
            <a:r>
              <a:rPr lang="en-US" sz="1800" b="1" i="0" u="none" strike="noStrike" baseline="0" dirty="0">
                <a:latin typeface="MinionPro-Regular"/>
              </a:rPr>
              <a:t>into </a:t>
            </a:r>
            <a:r>
              <a:rPr lang="en-US" sz="1800" b="1" i="0" u="none" strike="noStrike" baseline="0" dirty="0">
                <a:latin typeface="AkzidenzGroteskBE-Regular"/>
              </a:rPr>
              <a:t>EMPLOYEE</a:t>
            </a:r>
            <a:endParaRPr lang="pt-BR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45942BF-1E1F-C2C5-79C6-0A42A4D5EDEC}"/>
              </a:ext>
            </a:extLst>
          </p:cNvPr>
          <p:cNvSpPr txBox="1"/>
          <p:nvPr/>
        </p:nvSpPr>
        <p:spPr>
          <a:xfrm>
            <a:off x="5518509" y="42905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latin typeface="MinionPro-Regular"/>
              </a:rPr>
              <a:t>Insert</a:t>
            </a:r>
            <a:r>
              <a:rPr lang="en-US" sz="1800" b="0" i="0" u="none" strike="noStrike" baseline="0" dirty="0">
                <a:latin typeface="MinionPro-Regular"/>
              </a:rPr>
              <a:t> &lt;‘Cecilia’, ‘F’, ‘</a:t>
            </a:r>
            <a:r>
              <a:rPr lang="en-US" sz="1800" b="0" i="0" u="none" strike="noStrike" baseline="0" dirty="0" err="1">
                <a:latin typeface="MinionPro-Regular"/>
              </a:rPr>
              <a:t>Kolonsky</a:t>
            </a:r>
            <a:r>
              <a:rPr lang="en-US" sz="1800" b="0" i="0" u="none" strike="noStrike" baseline="0" dirty="0">
                <a:latin typeface="MinionPro-Regular"/>
              </a:rPr>
              <a:t>’, ‘677678989’, ‘1960-04-05’, ‘6357 Windswept, Katy, TX’, F, 28000, ‘987654321’, 7&gt; </a:t>
            </a:r>
            <a:r>
              <a:rPr lang="en-US" sz="1800" b="1" i="0" u="none" strike="noStrike" baseline="0" dirty="0">
                <a:latin typeface="MinionPro-Regular"/>
              </a:rPr>
              <a:t>into </a:t>
            </a:r>
            <a:r>
              <a:rPr lang="en-US" sz="1800" b="1" i="0" u="none" strike="noStrike" baseline="0" dirty="0">
                <a:latin typeface="AkzidenzGroteskBE-Regular"/>
              </a:rPr>
              <a:t>EMPLOYEE</a:t>
            </a:r>
            <a:endParaRPr lang="pt-BR" b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30F68EA-4E0B-A0CB-6E1D-46E335A68100}"/>
              </a:ext>
            </a:extLst>
          </p:cNvPr>
          <p:cNvSpPr txBox="1"/>
          <p:nvPr/>
        </p:nvSpPr>
        <p:spPr>
          <a:xfrm>
            <a:off x="5518509" y="577793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800" b="1" i="0" u="none" strike="noStrike" baseline="0" dirty="0" err="1">
                <a:latin typeface="MinionPro-Regular"/>
              </a:rPr>
              <a:t>Insert</a:t>
            </a:r>
            <a:r>
              <a:rPr lang="pt-BR" sz="1800" b="0" i="0" u="none" strike="noStrike" baseline="0" dirty="0">
                <a:latin typeface="MinionPro-Regular"/>
              </a:rPr>
              <a:t> &lt;‘Cecilia’, ‘F’, ‘</a:t>
            </a:r>
            <a:r>
              <a:rPr lang="pt-BR" sz="1800" b="0" i="0" u="none" strike="noStrike" baseline="0" dirty="0" err="1">
                <a:latin typeface="MinionPro-Regular"/>
              </a:rPr>
              <a:t>Kolonsky</a:t>
            </a:r>
            <a:r>
              <a:rPr lang="pt-BR" sz="1800" b="0" i="0" u="none" strike="noStrike" baseline="0" dirty="0">
                <a:latin typeface="MinionPro-Regular"/>
              </a:rPr>
              <a:t>’, ‘677678989’, ‘1960-04-05’, ‘6357 </a:t>
            </a:r>
            <a:r>
              <a:rPr lang="pt-BR" sz="1800" b="0" i="0" u="none" strike="noStrike" baseline="0" dirty="0" err="1">
                <a:latin typeface="MinionPro-Regular"/>
              </a:rPr>
              <a:t>Windy</a:t>
            </a:r>
            <a:r>
              <a:rPr lang="pt-BR" sz="1800" b="0" i="0" u="none" strike="noStrike" baseline="0" dirty="0">
                <a:latin typeface="MinionPro-Regular"/>
              </a:rPr>
              <a:t> Lane, </a:t>
            </a:r>
            <a:r>
              <a:rPr lang="en-US" sz="1800" b="0" i="0" u="none" strike="noStrike" baseline="0" dirty="0">
                <a:latin typeface="MinionPro-Regular"/>
              </a:rPr>
              <a:t>Katy, TX’, F, 28000, </a:t>
            </a:r>
            <a:r>
              <a:rPr lang="en-US" sz="1800" b="0" i="0" u="none" strike="noStrike" baseline="0" dirty="0">
                <a:latin typeface="AkzidenzGroteskBE-Regular"/>
              </a:rPr>
              <a:t>NULL</a:t>
            </a:r>
            <a:r>
              <a:rPr lang="en-US" sz="1800" b="0" i="0" u="none" strike="noStrike" baseline="0" dirty="0">
                <a:latin typeface="MinionPro-Regular"/>
              </a:rPr>
              <a:t>, 4&gt; </a:t>
            </a:r>
            <a:r>
              <a:rPr lang="en-US" sz="1800" b="1" i="0" u="none" strike="noStrike" baseline="0" dirty="0">
                <a:latin typeface="MinionPro-Regular"/>
              </a:rPr>
              <a:t>into </a:t>
            </a:r>
            <a:r>
              <a:rPr lang="en-US" sz="1800" b="1" i="0" u="none" strike="noStrike" baseline="0" dirty="0">
                <a:latin typeface="AkzidenzGroteskBE-Regular"/>
              </a:rPr>
              <a:t>EMPLOYEE</a:t>
            </a:r>
            <a:endParaRPr lang="pt-BR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E1D17EF-8C58-0FD7-89FE-0D11EC5E002A}"/>
              </a:ext>
            </a:extLst>
          </p:cNvPr>
          <p:cNvSpPr txBox="1"/>
          <p:nvPr/>
        </p:nvSpPr>
        <p:spPr>
          <a:xfrm>
            <a:off x="6400800" y="2741517"/>
            <a:ext cx="463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Viola a integridade de entidade (NULL para </a:t>
            </a:r>
            <a:r>
              <a:rPr lang="pt-BR" dirty="0" err="1">
                <a:solidFill>
                  <a:srgbClr val="FF0000"/>
                </a:solidFill>
              </a:rPr>
              <a:t>ssn</a:t>
            </a:r>
            <a:r>
              <a:rPr lang="pt-BR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8F84FDC-498F-B8ED-DB9C-A12F561B9D90}"/>
              </a:ext>
            </a:extLst>
          </p:cNvPr>
          <p:cNvSpPr txBox="1"/>
          <p:nvPr/>
        </p:nvSpPr>
        <p:spPr>
          <a:xfrm>
            <a:off x="6400799" y="3796024"/>
            <a:ext cx="3883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Viola a restrição de chave (</a:t>
            </a:r>
            <a:r>
              <a:rPr lang="pt-BR" dirty="0" err="1">
                <a:solidFill>
                  <a:srgbClr val="FF0000"/>
                </a:solidFill>
              </a:rPr>
              <a:t>ssn</a:t>
            </a:r>
            <a:r>
              <a:rPr lang="pt-BR" dirty="0">
                <a:solidFill>
                  <a:srgbClr val="FF0000"/>
                </a:solidFill>
              </a:rPr>
              <a:t> já existe)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2B242FC-9341-E028-BDB3-3C7E906F3D82}"/>
              </a:ext>
            </a:extLst>
          </p:cNvPr>
          <p:cNvSpPr txBox="1"/>
          <p:nvPr/>
        </p:nvSpPr>
        <p:spPr>
          <a:xfrm>
            <a:off x="6400799" y="4960239"/>
            <a:ext cx="4741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Viola a integridade referencial (</a:t>
            </a:r>
            <a:r>
              <a:rPr lang="pt-BR" dirty="0" err="1">
                <a:solidFill>
                  <a:srgbClr val="FF0000"/>
                </a:solidFill>
              </a:rPr>
              <a:t>Dno</a:t>
            </a:r>
            <a:r>
              <a:rPr lang="pt-BR" dirty="0">
                <a:solidFill>
                  <a:srgbClr val="FF0000"/>
                </a:solidFill>
              </a:rPr>
              <a:t> não referencia departamento existente)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5F2C20B-1285-0FE3-905C-3F500DA55422}"/>
              </a:ext>
            </a:extLst>
          </p:cNvPr>
          <p:cNvSpPr txBox="1"/>
          <p:nvPr/>
        </p:nvSpPr>
        <p:spPr>
          <a:xfrm>
            <a:off x="6400799" y="6424264"/>
            <a:ext cx="4741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Atende todas as restrições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26D234D5-CADF-1F8B-CF2E-433D6F51F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9871" y="53737"/>
            <a:ext cx="5638380" cy="683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028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EE77F-3466-0B51-9BF9-A675BCF8A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DELETE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11001C-2D99-E97F-7F44-30FE69562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 violar apenas a restrição de integridade referencial</a:t>
            </a:r>
          </a:p>
          <a:p>
            <a:pPr>
              <a:spcBef>
                <a:spcPts val="2400"/>
              </a:spcBef>
            </a:pPr>
            <a:r>
              <a:rPr lang="pt-BR" dirty="0"/>
              <a:t>Caso a tupla sendo removida é referenciada por chaves estrangeiras de outras tuplas no banco de dados</a:t>
            </a:r>
          </a:p>
          <a:p>
            <a:pPr>
              <a:spcBef>
                <a:spcPts val="2400"/>
              </a:spcBef>
            </a:pPr>
            <a:r>
              <a:rPr lang="pt-BR" dirty="0"/>
              <a:t>Para especificar uma remoção, é aplicada uma condição sobre os atributos da relação para selecionar das tuplas a serem apagadas</a:t>
            </a:r>
          </a:p>
        </p:txBody>
      </p:sp>
    </p:spTree>
    <p:extLst>
      <p:ext uri="{BB962C8B-B14F-4D97-AF65-F5344CB8AC3E}">
        <p14:creationId xmlns:p14="http://schemas.microsoft.com/office/powerpoint/2010/main" val="39468475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29854-4425-CB9C-BA60-BBB9CDA96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DELETE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779533-BF1F-9AA8-8905-9255960C1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3 opções caso a operação cause uma violação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Restrita</a:t>
            </a:r>
            <a:r>
              <a:rPr lang="pt-BR" dirty="0"/>
              <a:t>: rejeita a remoção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Cascata</a:t>
            </a:r>
            <a:r>
              <a:rPr lang="pt-BR" dirty="0"/>
              <a:t>: tentativa de propagar a remoção ao remover tuplas que referenciam as tuplas sendo removidas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Valor NULL ou padrão (default)</a:t>
            </a:r>
            <a:r>
              <a:rPr lang="pt-BR" dirty="0"/>
              <a:t>: modifica o valor do atributo que faz referência, mudando seu valor para NULL ou algum valor padrão válido para a tupla (sem violar integridade de entidade)</a:t>
            </a:r>
          </a:p>
          <a:p>
            <a:pPr>
              <a:spcBef>
                <a:spcPts val="1800"/>
              </a:spcBef>
            </a:pPr>
            <a:r>
              <a:rPr lang="pt-BR" dirty="0"/>
              <a:t>SGBD permite que o projetista do BD determine qual das opções se aplica em caso de violações de integridade</a:t>
            </a:r>
          </a:p>
        </p:txBody>
      </p:sp>
    </p:spTree>
    <p:extLst>
      <p:ext uri="{BB962C8B-B14F-4D97-AF65-F5344CB8AC3E}">
        <p14:creationId xmlns:p14="http://schemas.microsoft.com/office/powerpoint/2010/main" val="459951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1E116-66F7-2A81-6114-6C2E33427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DELETE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632367B-F061-EE59-D8A5-B369414B4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38380" cy="683824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2B1F28D-8C22-206F-3857-AB1AFC4D1384}"/>
              </a:ext>
            </a:extLst>
          </p:cNvPr>
          <p:cNvSpPr txBox="1"/>
          <p:nvPr/>
        </p:nvSpPr>
        <p:spPr>
          <a:xfrm>
            <a:off x="5845887" y="1732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latin typeface="MinionPro-Regular"/>
              </a:rPr>
              <a:t>Delete</a:t>
            </a:r>
            <a:r>
              <a:rPr lang="en-US" sz="1800" b="0" i="0" u="none" strike="noStrike" baseline="0" dirty="0">
                <a:latin typeface="MinionPro-Regular"/>
              </a:rPr>
              <a:t> a </a:t>
            </a:r>
            <a:r>
              <a:rPr lang="en-US" sz="1800" b="0" i="0" u="none" strike="noStrike" baseline="0" dirty="0" err="1">
                <a:latin typeface="MinionPro-Regular"/>
              </a:rPr>
              <a:t>tupla</a:t>
            </a:r>
            <a:r>
              <a:rPr lang="en-US" sz="1800" b="0" i="0" u="none" strike="noStrike" baseline="0" dirty="0">
                <a:latin typeface="MinionPro-Regular"/>
              </a:rPr>
              <a:t> </a:t>
            </a:r>
            <a:r>
              <a:rPr lang="en-US" sz="1800" b="0" i="0" u="none" strike="noStrike" baseline="0" dirty="0">
                <a:latin typeface="AkzidenzGroteskBE-Regular"/>
              </a:rPr>
              <a:t>WORKS_ON </a:t>
            </a:r>
            <a:r>
              <a:rPr lang="en-US" sz="1800" b="0" i="0" u="none" strike="noStrike" baseline="0" dirty="0">
                <a:latin typeface="MinionPro-Regular"/>
              </a:rPr>
              <a:t>com </a:t>
            </a:r>
            <a:r>
              <a:rPr lang="en-US" sz="1800" b="0" i="0" u="none" strike="noStrike" baseline="0" dirty="0" err="1">
                <a:latin typeface="AkzidenzGroteskBE-Regular"/>
              </a:rPr>
              <a:t>Essn</a:t>
            </a:r>
            <a:r>
              <a:rPr lang="en-US" sz="1800" b="0" i="0" u="none" strike="noStrike" baseline="0" dirty="0">
                <a:latin typeface="AkzidenzGroteskBE-Regular"/>
              </a:rPr>
              <a:t> </a:t>
            </a:r>
            <a:r>
              <a:rPr lang="en-US" sz="1800" b="0" i="0" u="none" strike="noStrike" baseline="0" dirty="0">
                <a:latin typeface="MinionPro-Regular"/>
              </a:rPr>
              <a:t>= ‘999887777’ e </a:t>
            </a:r>
            <a:r>
              <a:rPr lang="en-US" sz="1800" b="0" i="0" u="none" strike="noStrike" baseline="0" dirty="0" err="1">
                <a:latin typeface="AkzidenzGroteskBE-Regular"/>
              </a:rPr>
              <a:t>Pno</a:t>
            </a:r>
            <a:r>
              <a:rPr lang="en-US" sz="1800" b="0" i="0" u="none" strike="noStrike" baseline="0" dirty="0">
                <a:latin typeface="AkzidenzGroteskBE-Regular"/>
              </a:rPr>
              <a:t> </a:t>
            </a:r>
            <a:r>
              <a:rPr lang="en-US" sz="1800" b="0" i="0" u="none" strike="noStrike" baseline="0" dirty="0">
                <a:latin typeface="MinionPro-Regular"/>
              </a:rPr>
              <a:t>= 10</a:t>
            </a:r>
            <a:endParaRPr lang="pt-BR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18ADC16-2D35-B517-FC07-8057B4205F77}"/>
              </a:ext>
            </a:extLst>
          </p:cNvPr>
          <p:cNvSpPr txBox="1"/>
          <p:nvPr/>
        </p:nvSpPr>
        <p:spPr>
          <a:xfrm>
            <a:off x="6576714" y="2143938"/>
            <a:ext cx="4741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Atende todas as restrições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A58C9F6-A1E4-9849-B1A8-A7FF247FC1A7}"/>
              </a:ext>
            </a:extLst>
          </p:cNvPr>
          <p:cNvSpPr txBox="1"/>
          <p:nvPr/>
        </p:nvSpPr>
        <p:spPr>
          <a:xfrm>
            <a:off x="5845887" y="30652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latin typeface="MinionPro-Regular"/>
              </a:rPr>
              <a:t>Delete</a:t>
            </a:r>
            <a:r>
              <a:rPr lang="en-US" sz="1800" b="0" i="0" u="none" strike="noStrike" baseline="0" dirty="0">
                <a:latin typeface="MinionPro-Regular"/>
              </a:rPr>
              <a:t> a </a:t>
            </a:r>
            <a:r>
              <a:rPr lang="en-US" sz="1800" b="0" i="0" u="none" strike="noStrike" baseline="0" dirty="0" err="1">
                <a:latin typeface="MinionPro-Regular"/>
              </a:rPr>
              <a:t>tupla</a:t>
            </a:r>
            <a:r>
              <a:rPr lang="en-US" sz="1800" b="0" i="0" u="none" strike="noStrike" baseline="0" dirty="0">
                <a:latin typeface="MinionPro-Regular"/>
              </a:rPr>
              <a:t> </a:t>
            </a:r>
            <a:r>
              <a:rPr lang="en-US" sz="1800" b="0" i="0" u="none" strike="noStrike" baseline="0" dirty="0">
                <a:latin typeface="AkzidenzGroteskBE-Regular"/>
              </a:rPr>
              <a:t>EMPLOYEE </a:t>
            </a:r>
            <a:r>
              <a:rPr lang="en-US" sz="1800" b="0" i="0" u="none" strike="noStrike" baseline="0" dirty="0">
                <a:latin typeface="MinionPro-Regular"/>
              </a:rPr>
              <a:t>com </a:t>
            </a:r>
            <a:r>
              <a:rPr lang="en-US" sz="1800" b="0" i="0" u="none" strike="noStrike" baseline="0" dirty="0" err="1">
                <a:latin typeface="AkzidenzGroteskBE-Regular"/>
              </a:rPr>
              <a:t>Essn</a:t>
            </a:r>
            <a:r>
              <a:rPr lang="en-US" sz="1800" b="0" i="0" u="none" strike="noStrike" baseline="0" dirty="0">
                <a:latin typeface="AkzidenzGroteskBE-Regular"/>
              </a:rPr>
              <a:t> </a:t>
            </a:r>
            <a:r>
              <a:rPr lang="en-US" sz="1800" b="0" i="0" u="none" strike="noStrike" baseline="0" dirty="0">
                <a:latin typeface="MinionPro-Regular"/>
              </a:rPr>
              <a:t>= ‘999887777’</a:t>
            </a:r>
            <a:endParaRPr lang="pt-BR" b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D3A4CF-0138-CD1A-3922-D68B72DD6910}"/>
              </a:ext>
            </a:extLst>
          </p:cNvPr>
          <p:cNvSpPr txBox="1"/>
          <p:nvPr/>
        </p:nvSpPr>
        <p:spPr>
          <a:xfrm>
            <a:off x="5845887" y="4758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latin typeface="MinionPro-Regular"/>
              </a:rPr>
              <a:t>Delete</a:t>
            </a:r>
            <a:r>
              <a:rPr lang="en-US" sz="1800" b="0" i="0" u="none" strike="noStrike" baseline="0" dirty="0">
                <a:latin typeface="MinionPro-Regular"/>
              </a:rPr>
              <a:t> a </a:t>
            </a:r>
            <a:r>
              <a:rPr lang="en-US" sz="1800" b="0" i="0" u="none" strike="noStrike" baseline="0" dirty="0" err="1">
                <a:latin typeface="MinionPro-Regular"/>
              </a:rPr>
              <a:t>tupla</a:t>
            </a:r>
            <a:r>
              <a:rPr lang="en-US" sz="1800" b="0" i="0" u="none" strike="noStrike" baseline="0" dirty="0">
                <a:latin typeface="MinionPro-Regular"/>
              </a:rPr>
              <a:t> </a:t>
            </a:r>
            <a:r>
              <a:rPr lang="en-US" sz="1800" b="0" i="0" u="none" strike="noStrike" baseline="0" dirty="0">
                <a:latin typeface="AkzidenzGroteskBE-Regular"/>
              </a:rPr>
              <a:t>WORKS_ON </a:t>
            </a:r>
            <a:r>
              <a:rPr lang="en-US" sz="1800" b="0" i="0" u="none" strike="noStrike" baseline="0" dirty="0">
                <a:latin typeface="MinionPro-Regular"/>
              </a:rPr>
              <a:t>com </a:t>
            </a:r>
            <a:r>
              <a:rPr lang="en-US" sz="1800" b="0" i="0" u="none" strike="noStrike" baseline="0" dirty="0" err="1">
                <a:latin typeface="AkzidenzGroteskBE-Regular"/>
              </a:rPr>
              <a:t>Essn</a:t>
            </a:r>
            <a:r>
              <a:rPr lang="en-US" sz="1800" b="0" i="0" u="none" strike="noStrike" baseline="0" dirty="0">
                <a:latin typeface="AkzidenzGroteskBE-Regular"/>
              </a:rPr>
              <a:t> </a:t>
            </a:r>
            <a:r>
              <a:rPr lang="en-US" sz="1800" b="0" i="0" u="none" strike="noStrike" baseline="0" dirty="0">
                <a:latin typeface="MinionPro-Regular"/>
              </a:rPr>
              <a:t>= ‘</a:t>
            </a:r>
            <a:r>
              <a:rPr lang="pt-BR" sz="1800" b="0" i="0" u="none" strike="noStrike" baseline="0" dirty="0">
                <a:latin typeface="MinionPro-Regular"/>
              </a:rPr>
              <a:t>333445555’</a:t>
            </a:r>
            <a:endParaRPr lang="pt-BR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02C649E-FE58-1EF9-875E-5D0CFE324624}"/>
              </a:ext>
            </a:extLst>
          </p:cNvPr>
          <p:cNvSpPr txBox="1"/>
          <p:nvPr/>
        </p:nvSpPr>
        <p:spPr>
          <a:xfrm>
            <a:off x="6576714" y="3513859"/>
            <a:ext cx="4971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Viola a integridade referencial </a:t>
            </a:r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 existem tuplas em WORKS_ON que referenciam essa tupla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257F720-B92D-429E-B5D2-A17E3BB31433}"/>
              </a:ext>
            </a:extLst>
          </p:cNvPr>
          <p:cNvSpPr txBox="1"/>
          <p:nvPr/>
        </p:nvSpPr>
        <p:spPr>
          <a:xfrm>
            <a:off x="6576714" y="5341713"/>
            <a:ext cx="49718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Viola a integridade referencial </a:t>
            </a:r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 existem tuplas em WORKS_ON, DEPARTMENT e DEPENDENT que referenciam essa tupla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15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8BDE3-E939-CB9F-BA84-F9A712A82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UPDATE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D0714D-0F55-938A-A665-32AD38D2A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Modifica os valores de 1 ou mais valores dos atributos em uma tupla em uma relação </a:t>
            </a:r>
            <a:r>
              <a:rPr lang="pt-BR" i="1" dirty="0"/>
              <a:t>R</a:t>
            </a:r>
            <a:endParaRPr lang="pt-BR" dirty="0"/>
          </a:p>
          <a:p>
            <a:pPr>
              <a:spcBef>
                <a:spcPts val="2400"/>
              </a:spcBef>
            </a:pPr>
            <a:r>
              <a:rPr lang="pt-BR" dirty="0"/>
              <a:t>É necessário especificar uma condição sobre os atributos da relação para selecionar a(s) tupla(s) a serem modificadas</a:t>
            </a:r>
          </a:p>
        </p:txBody>
      </p:sp>
    </p:spTree>
    <p:extLst>
      <p:ext uri="{BB962C8B-B14F-4D97-AF65-F5344CB8AC3E}">
        <p14:creationId xmlns:p14="http://schemas.microsoft.com/office/powerpoint/2010/main" val="11395637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CD682-45A1-4A5F-19A1-3E1147012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UPDATE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4E602C-F3FF-4370-B837-58791657B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Atualizar valores de atributos que não são chaves geralmente não causam problema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SGBD ainda precisa confirmar se novo valor pertence ao domínio e tipo de dado</a:t>
            </a:r>
          </a:p>
          <a:p>
            <a:pPr>
              <a:spcBef>
                <a:spcPts val="2400"/>
              </a:spcBef>
            </a:pPr>
            <a:r>
              <a:rPr lang="pt-BR" dirty="0"/>
              <a:t>Modificar o valor de uma chave primária (PK) é similar ao DELETE e INSERT de outra tupla em seu lugar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Ambos os conjuntos de validações se aplicam neste caso</a:t>
            </a:r>
          </a:p>
        </p:txBody>
      </p:sp>
    </p:spTree>
    <p:extLst>
      <p:ext uri="{BB962C8B-B14F-4D97-AF65-F5344CB8AC3E}">
        <p14:creationId xmlns:p14="http://schemas.microsoft.com/office/powerpoint/2010/main" val="14500071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FEAD61-DF25-6715-D527-85B8E0D87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UPDATE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9163BBB-A013-05A7-1CB2-7B24EC1D358E}"/>
              </a:ext>
            </a:extLst>
          </p:cNvPr>
          <p:cNvSpPr txBox="1"/>
          <p:nvPr/>
        </p:nvSpPr>
        <p:spPr>
          <a:xfrm>
            <a:off x="5845886" y="1732647"/>
            <a:ext cx="6267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latin typeface="MinionPro-Regular"/>
              </a:rPr>
              <a:t>Update</a:t>
            </a:r>
            <a:r>
              <a:rPr lang="en-US" sz="1800" b="0" i="0" u="none" strike="noStrike" baseline="0" dirty="0">
                <a:latin typeface="MinionPro-Regular"/>
              </a:rPr>
              <a:t> o </a:t>
            </a:r>
            <a:r>
              <a:rPr lang="en-US" sz="1800" b="0" i="0" u="none" strike="noStrike" baseline="0" dirty="0" err="1">
                <a:latin typeface="AkzidenzGroteskBE-Regular"/>
              </a:rPr>
              <a:t>Dno</a:t>
            </a:r>
            <a:r>
              <a:rPr lang="en-US" sz="1800" b="0" i="0" u="none" strike="noStrike" baseline="0" dirty="0">
                <a:latin typeface="AkzidenzGroteskBE-Regular"/>
              </a:rPr>
              <a:t> </a:t>
            </a:r>
            <a:r>
              <a:rPr lang="en-US" sz="1800" b="0" i="0" u="none" strike="noStrike" baseline="0" dirty="0">
                <a:latin typeface="MinionPro-Regular"/>
              </a:rPr>
              <a:t>da </a:t>
            </a:r>
            <a:r>
              <a:rPr lang="en-US" sz="1800" b="0" i="0" u="none" strike="noStrike" baseline="0" dirty="0" err="1">
                <a:latin typeface="MinionPro-Regular"/>
              </a:rPr>
              <a:t>tupla</a:t>
            </a:r>
            <a:r>
              <a:rPr lang="en-US" sz="1800" b="0" i="0" u="none" strike="noStrike" baseline="0" dirty="0">
                <a:latin typeface="MinionPro-Regular"/>
              </a:rPr>
              <a:t> </a:t>
            </a:r>
            <a:r>
              <a:rPr lang="en-US" sz="1800" b="0" i="0" u="none" strike="noStrike" baseline="0" dirty="0">
                <a:latin typeface="AkzidenzGroteskBE-Regular"/>
              </a:rPr>
              <a:t>EMPLOYEE com </a:t>
            </a:r>
            <a:r>
              <a:rPr lang="en-US" sz="1800" b="0" i="0" u="none" strike="noStrike" baseline="0" dirty="0" err="1">
                <a:latin typeface="AkzidenzGroteskBE-Regular"/>
              </a:rPr>
              <a:t>Ssn</a:t>
            </a:r>
            <a:r>
              <a:rPr lang="en-US" sz="1800" b="0" i="0" u="none" strike="noStrike" baseline="0" dirty="0">
                <a:latin typeface="AkzidenzGroteskBE-Regular"/>
              </a:rPr>
              <a:t> </a:t>
            </a:r>
            <a:r>
              <a:rPr lang="en-US" sz="1800" b="0" i="0" u="none" strike="noStrike" baseline="0" dirty="0">
                <a:latin typeface="MinionPro-Regular"/>
              </a:rPr>
              <a:t>= ‘999887777’ para 1</a:t>
            </a:r>
            <a:endParaRPr lang="pt-BR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20705B8-E5A7-DA81-8101-30003934154A}"/>
              </a:ext>
            </a:extLst>
          </p:cNvPr>
          <p:cNvSpPr txBox="1"/>
          <p:nvPr/>
        </p:nvSpPr>
        <p:spPr>
          <a:xfrm>
            <a:off x="6576714" y="2143938"/>
            <a:ext cx="4741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Atende todas as restrições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CA9A261-F2F2-70C6-D8EB-CE3A602C88DE}"/>
              </a:ext>
            </a:extLst>
          </p:cNvPr>
          <p:cNvSpPr txBox="1"/>
          <p:nvPr/>
        </p:nvSpPr>
        <p:spPr>
          <a:xfrm>
            <a:off x="5845887" y="3065247"/>
            <a:ext cx="6267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latin typeface="MinionPro-Regular"/>
              </a:rPr>
              <a:t>Update</a:t>
            </a:r>
            <a:r>
              <a:rPr lang="en-US" sz="1800" b="0" i="0" u="none" strike="noStrike" baseline="0" dirty="0">
                <a:latin typeface="MinionPro-Regular"/>
              </a:rPr>
              <a:t> o </a:t>
            </a:r>
            <a:r>
              <a:rPr lang="en-US" sz="1800" b="0" i="0" u="none" strike="noStrike" baseline="0" dirty="0" err="1">
                <a:latin typeface="AkzidenzGroteskBE-Regular"/>
              </a:rPr>
              <a:t>Dno</a:t>
            </a:r>
            <a:r>
              <a:rPr lang="en-US" sz="1800" b="0" i="0" u="none" strike="noStrike" baseline="0" dirty="0">
                <a:latin typeface="AkzidenzGroteskBE-Regular"/>
              </a:rPr>
              <a:t> </a:t>
            </a:r>
            <a:r>
              <a:rPr lang="en-US" sz="1800" b="0" i="0" u="none" strike="noStrike" baseline="0" dirty="0">
                <a:latin typeface="MinionPro-Regular"/>
              </a:rPr>
              <a:t>da </a:t>
            </a:r>
            <a:r>
              <a:rPr lang="en-US" sz="1800" b="0" i="0" u="none" strike="noStrike" baseline="0" dirty="0" err="1">
                <a:latin typeface="MinionPro-Regular"/>
              </a:rPr>
              <a:t>tupla</a:t>
            </a:r>
            <a:r>
              <a:rPr lang="en-US" sz="1800" b="0" i="0" u="none" strike="noStrike" baseline="0" dirty="0">
                <a:latin typeface="MinionPro-Regular"/>
              </a:rPr>
              <a:t> </a:t>
            </a:r>
            <a:r>
              <a:rPr lang="en-US" sz="1800" b="0" i="0" u="none" strike="noStrike" baseline="0" dirty="0">
                <a:latin typeface="AkzidenzGroteskBE-Regular"/>
              </a:rPr>
              <a:t>EMPLOYEE </a:t>
            </a:r>
            <a:r>
              <a:rPr lang="en-US" sz="1800" b="0" i="0" u="none" strike="noStrike" baseline="0" dirty="0">
                <a:latin typeface="MinionPro-Regular"/>
              </a:rPr>
              <a:t>com </a:t>
            </a:r>
            <a:r>
              <a:rPr lang="en-US" sz="1800" b="0" i="0" u="none" strike="noStrike" baseline="0" dirty="0" err="1">
                <a:latin typeface="AkzidenzGroteskBE-Regular"/>
              </a:rPr>
              <a:t>Ssn</a:t>
            </a:r>
            <a:r>
              <a:rPr lang="en-US" sz="1800" b="0" i="0" u="none" strike="noStrike" baseline="0" dirty="0">
                <a:latin typeface="AkzidenzGroteskBE-Regular"/>
              </a:rPr>
              <a:t> </a:t>
            </a:r>
            <a:r>
              <a:rPr lang="en-US" sz="1800" b="0" i="0" u="none" strike="noStrike" baseline="0" dirty="0">
                <a:latin typeface="MinionPro-Regular"/>
              </a:rPr>
              <a:t>= ‘999887777’ para 7</a:t>
            </a:r>
            <a:endParaRPr lang="pt-BR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8ED02EB-C276-1878-7A12-6A1D2CA1184D}"/>
              </a:ext>
            </a:extLst>
          </p:cNvPr>
          <p:cNvSpPr txBox="1"/>
          <p:nvPr/>
        </p:nvSpPr>
        <p:spPr>
          <a:xfrm>
            <a:off x="5845887" y="47583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latin typeface="MinionPro-Regular"/>
              </a:rPr>
              <a:t>Update</a:t>
            </a:r>
            <a:r>
              <a:rPr lang="en-US" sz="1800" b="0" i="0" u="none" strike="noStrike" baseline="0" dirty="0">
                <a:latin typeface="MinionPro-Regular"/>
              </a:rPr>
              <a:t> o </a:t>
            </a:r>
            <a:r>
              <a:rPr lang="en-US" sz="1800" b="0" i="0" u="none" strike="noStrike" baseline="0" dirty="0" err="1">
                <a:latin typeface="MinionPro-Regular"/>
              </a:rPr>
              <a:t>Ssn</a:t>
            </a:r>
            <a:r>
              <a:rPr lang="en-US" sz="1800" b="0" i="0" u="none" strike="noStrike" baseline="0" dirty="0">
                <a:latin typeface="MinionPro-Regular"/>
              </a:rPr>
              <a:t> da </a:t>
            </a:r>
            <a:r>
              <a:rPr lang="en-US" sz="1800" b="0" i="0" u="none" strike="noStrike" baseline="0" dirty="0" err="1">
                <a:latin typeface="MinionPro-Regular"/>
              </a:rPr>
              <a:t>tupla</a:t>
            </a:r>
            <a:r>
              <a:rPr lang="en-US" sz="1800" b="0" i="0" u="none" strike="noStrike" baseline="0" dirty="0">
                <a:latin typeface="MinionPro-Regular"/>
              </a:rPr>
              <a:t> </a:t>
            </a:r>
            <a:r>
              <a:rPr lang="en-US" sz="1800" b="0" i="0" u="none" strike="noStrike" baseline="0" dirty="0">
                <a:latin typeface="AkzidenzGroteskBE-Regular"/>
              </a:rPr>
              <a:t>EMPLOYEE </a:t>
            </a:r>
            <a:r>
              <a:rPr lang="en-US" sz="1800" b="0" i="0" u="none" strike="noStrike" baseline="0" dirty="0">
                <a:latin typeface="MinionPro-Regular"/>
              </a:rPr>
              <a:t>com </a:t>
            </a:r>
            <a:r>
              <a:rPr lang="en-US" sz="1800" b="0" i="0" u="none" strike="noStrike" baseline="0" dirty="0" err="1">
                <a:latin typeface="AkzidenzGroteskBE-Regular"/>
              </a:rPr>
              <a:t>Ssn</a:t>
            </a:r>
            <a:r>
              <a:rPr lang="en-US" sz="1800" b="0" i="0" u="none" strike="noStrike" baseline="0" dirty="0">
                <a:latin typeface="AkzidenzGroteskBE-Regular"/>
              </a:rPr>
              <a:t> </a:t>
            </a:r>
            <a:r>
              <a:rPr lang="en-US" sz="1800" b="0" i="0" u="none" strike="noStrike" baseline="0" dirty="0">
                <a:latin typeface="MinionPro-Regular"/>
              </a:rPr>
              <a:t>= ‘999887777’ para ‘987654321’.</a:t>
            </a:r>
            <a:endParaRPr lang="pt-BR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9B8985E-91F0-E1C1-9DB8-D5206A0C13B1}"/>
              </a:ext>
            </a:extLst>
          </p:cNvPr>
          <p:cNvSpPr txBox="1"/>
          <p:nvPr/>
        </p:nvSpPr>
        <p:spPr>
          <a:xfrm>
            <a:off x="6576714" y="3513859"/>
            <a:ext cx="4971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Viola a integridade referencial </a:t>
            </a:r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 não existe Departamento com </a:t>
            </a:r>
            <a:r>
              <a:rPr lang="pt-BR" dirty="0" err="1">
                <a:solidFill>
                  <a:srgbClr val="FF0000"/>
                </a:solidFill>
                <a:sym typeface="Wingdings" panose="05000000000000000000" pitchFamily="2" charset="2"/>
              </a:rPr>
              <a:t>Dnumber</a:t>
            </a:r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 = 7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F4B8B52-B0DA-7E00-FDE8-E6D22FFEFEBB}"/>
              </a:ext>
            </a:extLst>
          </p:cNvPr>
          <p:cNvSpPr txBox="1"/>
          <p:nvPr/>
        </p:nvSpPr>
        <p:spPr>
          <a:xfrm>
            <a:off x="6576714" y="5341713"/>
            <a:ext cx="49718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Viola a integridade referencial </a:t>
            </a:r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 existem tuplas que referenciam essa tupla</a:t>
            </a:r>
          </a:p>
          <a:p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Viola restrição de chave  chave primária já existe</a:t>
            </a:r>
            <a:endParaRPr lang="pt-BR" dirty="0">
              <a:solidFill>
                <a:srgbClr val="FF0000"/>
              </a:solidFill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666B6A5-06EF-CAB0-1655-5F074EBFB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38380" cy="683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70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C2676-98EB-EDBB-CED8-B5CC4522B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994CEC-61D7-2F13-5D38-B4F3B08B3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94244" cy="4351338"/>
          </a:xfrm>
        </p:spPr>
        <p:txBody>
          <a:bodyPr>
            <a:normAutofit/>
          </a:bodyPr>
          <a:lstStyle/>
          <a:p>
            <a:r>
              <a:rPr lang="pt-BR" dirty="0"/>
              <a:t>Trata-se de um programa que executa algumas operações em um banco de dados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ler tuplas, aplicar inserções, atualizações ou remoções no BD</a:t>
            </a:r>
          </a:p>
          <a:p>
            <a:pPr>
              <a:spcBef>
                <a:spcPts val="2400"/>
              </a:spcBef>
            </a:pPr>
            <a:r>
              <a:rPr lang="pt-BR" dirty="0"/>
              <a:t>Ao final da transação, o banco de dados deve estar em um estado válido ou consistente, que satisfaça todas as restrições especificadas no esquema do banco de dados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F8A6F6F-265F-956C-73FF-BACDA545F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112" y="4566447"/>
            <a:ext cx="5841776" cy="212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966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1FC5BA-467B-1F2A-02EB-25CAEC302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8D03C0-393B-8070-9B1D-CAF12D57F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pt-BR" dirty="0"/>
              <a:t>Uma transação pode envolver qualquer número de operações de recuperação ou de atualização</a:t>
            </a:r>
          </a:p>
          <a:p>
            <a:pPr lvl="1"/>
            <a:r>
              <a:rPr lang="pt-BR" dirty="0"/>
              <a:t>Devem formar uma unidade de trabalho atômica no BD</a:t>
            </a:r>
          </a:p>
          <a:p>
            <a:pPr>
              <a:spcBef>
                <a:spcPts val="2400"/>
              </a:spcBef>
            </a:pPr>
            <a:r>
              <a:rPr lang="pt-BR" dirty="0"/>
              <a:t>Casos em SGBD reais: milhares de transações por segundo</a:t>
            </a:r>
          </a:p>
          <a:p>
            <a:endParaRPr lang="pt-BR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2C5A294-43C4-9EE8-93A7-8BE84E72F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417" y="4262967"/>
            <a:ext cx="2561166" cy="2048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454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9C353-1EE1-39A4-F720-69F624ED6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459458-D052-EDED-1283-6B6784E43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DF8D499-B88B-17B0-B477-1AAEE8ACC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5" y="337706"/>
            <a:ext cx="11422069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2364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BAD68-3CBE-DF63-6189-1E3C625E9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5D4710-8B7C-EAEA-C1E6-D2E90B7F4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D0CCBD8-3CE3-914C-6451-BE30A7934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86" y="475838"/>
            <a:ext cx="11660227" cy="59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68221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DACA6-7178-E094-CE30-4E3B7A6A5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44835A-1A33-B45A-0516-59DA69C4C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5E7CAC-5E76-BCE3-D956-505F17B98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44" y="442495"/>
            <a:ext cx="11726912" cy="597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166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8BCDF-8806-C49F-F139-24622FB2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62F806-5965-C85A-6DB3-92CF0BB63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pt-BR" sz="1800" b="0" i="0" u="none" strike="noStrike" baseline="0" dirty="0">
                <a:latin typeface="DejaVuSans"/>
              </a:rPr>
              <a:t>ELMASRI, Ramez; NAVATHE, </a:t>
            </a:r>
            <a:r>
              <a:rPr lang="pt-BR" sz="1800" b="0" i="0" u="none" strike="noStrike" baseline="0" dirty="0" err="1">
                <a:latin typeface="DejaVuSans"/>
              </a:rPr>
              <a:t>Shamkant</a:t>
            </a:r>
            <a:r>
              <a:rPr lang="pt-BR" sz="1800" b="0" i="0" u="none" strike="noStrike" baseline="0" dirty="0">
                <a:latin typeface="DejaVuSans"/>
              </a:rPr>
              <a:t> B</a:t>
            </a:r>
            <a:r>
              <a:rPr lang="pt-BR" sz="1800" b="1" i="0" u="none" strike="noStrike" baseline="0" dirty="0">
                <a:latin typeface="DejaVuSans"/>
              </a:rPr>
              <a:t>. Sistemas de Banco de Dados</a:t>
            </a:r>
            <a:r>
              <a:rPr lang="pt-BR" sz="1800" b="0" i="0" u="none" strike="noStrike" baseline="0" dirty="0">
                <a:latin typeface="DejaVuSans"/>
              </a:rPr>
              <a:t>. 7. ed. São Paulo: Pearson Universidades, 2019. 1152 p. ISBN-13 978-8543025001.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SILBERSCHATZ, Abraham; KORTH, Henry F.; SUDARSHAN, S. </a:t>
            </a:r>
            <a:r>
              <a:rPr lang="pt-BR" sz="1800" b="1" i="0" u="none" strike="noStrike" baseline="0" dirty="0">
                <a:latin typeface="DejaVuSans"/>
              </a:rPr>
              <a:t>Sistema de Banco de Dados.</a:t>
            </a:r>
            <a:r>
              <a:rPr lang="pt-BR" sz="1800" b="0" i="0" u="none" strike="noStrike" baseline="0" dirty="0">
                <a:latin typeface="DejaVuSans"/>
              </a:rPr>
              <a:t> 7. ed. Rio de Janeiro: GEN LTC, 2020. 754 p. ISBN-13 978-8595157330.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DATE, Christopher J. Introdução a Sistemas de Bancos de Dados. GEN LTC, 2004</a:t>
            </a:r>
          </a:p>
          <a:p>
            <a:pPr algn="l"/>
            <a:r>
              <a:rPr lang="pt-BR" sz="1800" dirty="0"/>
              <a:t>Notas de aulas, prof. Leonardo </a:t>
            </a:r>
            <a:r>
              <a:rPr lang="pt-BR" sz="1800" dirty="0" err="1"/>
              <a:t>Tórtoro</a:t>
            </a:r>
            <a:r>
              <a:rPr lang="pt-BR" sz="1800" dirty="0"/>
              <a:t> Pereira (DEMAC/UNESP). </a:t>
            </a:r>
            <a:r>
              <a:rPr lang="pt-BR" sz="1800" b="1" dirty="0"/>
              <a:t>Sistemas de Banco de Dados- Parte 01.</a:t>
            </a:r>
          </a:p>
          <a:p>
            <a:pPr algn="l"/>
            <a:r>
              <a:rPr lang="pt-BR" sz="1800" dirty="0"/>
              <a:t>PAVLO, Andy; PATEL, </a:t>
            </a:r>
            <a:r>
              <a:rPr lang="pt-BR" sz="1800" dirty="0" err="1"/>
              <a:t>Jinglesh</a:t>
            </a:r>
            <a:r>
              <a:rPr lang="pt-BR" sz="1800" dirty="0"/>
              <a:t> (Carnegie Mellon </a:t>
            </a:r>
            <a:r>
              <a:rPr lang="pt-BR" sz="1800" dirty="0" err="1"/>
              <a:t>University</a:t>
            </a:r>
            <a:r>
              <a:rPr lang="pt-BR" sz="1800" dirty="0"/>
              <a:t>)</a:t>
            </a:r>
            <a:r>
              <a:rPr lang="pt-BR" sz="1800" b="1" dirty="0"/>
              <a:t>. </a:t>
            </a:r>
            <a:r>
              <a:rPr lang="pt-BR" sz="1800" b="1" dirty="0" err="1"/>
              <a:t>Databse</a:t>
            </a:r>
            <a:r>
              <a:rPr lang="pt-BR" sz="1800" b="1" dirty="0"/>
              <a:t> Systems (15-445). </a:t>
            </a:r>
            <a:r>
              <a:rPr lang="pt-BR" sz="1800" dirty="0">
                <a:hlinkClick r:id="rId3"/>
              </a:rPr>
              <a:t>https://15445.courses.cs.cmu.edu/spring2026/slides/01-relationalmodel.pdf</a:t>
            </a:r>
            <a:r>
              <a:rPr lang="pt-BR" sz="1800" dirty="0"/>
              <a:t>.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009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73682</TotalTime>
  <Words>3088</Words>
  <Application>Microsoft Office PowerPoint</Application>
  <PresentationFormat>Widescreen</PresentationFormat>
  <Paragraphs>485</Paragraphs>
  <Slides>74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74</vt:i4>
      </vt:variant>
    </vt:vector>
  </HeadingPairs>
  <TitlesOfParts>
    <vt:vector size="83" baseType="lpstr">
      <vt:lpstr>AkzidenzGroteskBE-Regular</vt:lpstr>
      <vt:lpstr>Arial</vt:lpstr>
      <vt:lpstr>Calibri</vt:lpstr>
      <vt:lpstr>Calibri Light</vt:lpstr>
      <vt:lpstr>DejaVuSans</vt:lpstr>
      <vt:lpstr>MinionPro-Regular</vt:lpstr>
      <vt:lpstr>Play</vt:lpstr>
      <vt:lpstr>Wingdings</vt:lpstr>
      <vt:lpstr>Tema do Office</vt:lpstr>
      <vt:lpstr>Apresentação do PowerPoint</vt:lpstr>
      <vt:lpstr>Exercício 1 – Site de cinemas</vt:lpstr>
      <vt:lpstr>Apresentação do PowerPoint</vt:lpstr>
      <vt:lpstr>Exercício 2 - Habitação</vt:lpstr>
      <vt:lpstr>Apresentação do PowerPoint</vt:lpstr>
      <vt:lpstr>Atividade de hoje</vt:lpstr>
      <vt:lpstr>Na aula anterior, vimos...</vt:lpstr>
      <vt:lpstr>Na última aula...</vt:lpstr>
      <vt:lpstr>Agenda</vt:lpstr>
      <vt:lpstr>Abstração dos dados</vt:lpstr>
      <vt:lpstr>Projeto de BD Relacional</vt:lpstr>
      <vt:lpstr>Projeto de BD Relacional</vt:lpstr>
      <vt:lpstr>Modelo relacional</vt:lpstr>
      <vt:lpstr>Modelo relacional</vt:lpstr>
      <vt:lpstr>Processo de projeto de BD</vt:lpstr>
      <vt:lpstr>Agenda</vt:lpstr>
      <vt:lpstr>Modelo Relacional</vt:lpstr>
      <vt:lpstr>Modelo Relacional</vt:lpstr>
      <vt:lpstr>Terminologia</vt:lpstr>
      <vt:lpstr>Domínio</vt:lpstr>
      <vt:lpstr>Modelo Relacional</vt:lpstr>
      <vt:lpstr>Valores</vt:lpstr>
      <vt:lpstr>Modelo Relacional</vt:lpstr>
      <vt:lpstr>Modelo Relacional</vt:lpstr>
      <vt:lpstr>Esquema de Relação</vt:lpstr>
      <vt:lpstr>Esquema de Relação</vt:lpstr>
      <vt:lpstr>Esquema de Relação</vt:lpstr>
      <vt:lpstr>Exemplo</vt:lpstr>
      <vt:lpstr>Relação (ou Estado da Relação)</vt:lpstr>
      <vt:lpstr>Esquema de Relação (ℛ)</vt:lpstr>
      <vt:lpstr>Relação</vt:lpstr>
      <vt:lpstr>Relação</vt:lpstr>
      <vt:lpstr>Relação</vt:lpstr>
      <vt:lpstr>Projeto lógico</vt:lpstr>
      <vt:lpstr>Projeto lógico</vt:lpstr>
      <vt:lpstr>Características das Relações</vt:lpstr>
      <vt:lpstr>Características das Relações</vt:lpstr>
      <vt:lpstr>Características das Relações</vt:lpstr>
      <vt:lpstr>Características das Relações</vt:lpstr>
      <vt:lpstr>Resumindo...</vt:lpstr>
      <vt:lpstr>Agenda</vt:lpstr>
      <vt:lpstr>1) Restrições de domínio</vt:lpstr>
      <vt:lpstr>2) Restrições de chave</vt:lpstr>
      <vt:lpstr>2) Restrições de chave</vt:lpstr>
      <vt:lpstr>2) Restrições de chave</vt:lpstr>
      <vt:lpstr>2) Restrições de chave</vt:lpstr>
      <vt:lpstr>2) Restrições de chave</vt:lpstr>
      <vt:lpstr>2) Restrições de chave</vt:lpstr>
      <vt:lpstr>3) Restrições de integridade de entidade</vt:lpstr>
      <vt:lpstr>4) Restrições de integridade referencial</vt:lpstr>
      <vt:lpstr>4) Restrições de integridade referencial</vt:lpstr>
      <vt:lpstr>4) Restrições de integridade referencial</vt:lpstr>
      <vt:lpstr>4) Restrições de integridade referencial</vt:lpstr>
      <vt:lpstr>Projeto lógico</vt:lpstr>
      <vt:lpstr>Agenda</vt:lpstr>
      <vt:lpstr>Operações no Modelo Relacional</vt:lpstr>
      <vt:lpstr>Operações no Modelo Relacional</vt:lpstr>
      <vt:lpstr>Operações no Modelo Relacional</vt:lpstr>
      <vt:lpstr>INSERT</vt:lpstr>
      <vt:lpstr>INSERT</vt:lpstr>
      <vt:lpstr>Exemplo</vt:lpstr>
      <vt:lpstr>INSERT</vt:lpstr>
      <vt:lpstr>DELETE</vt:lpstr>
      <vt:lpstr>DELETE</vt:lpstr>
      <vt:lpstr>DELETE</vt:lpstr>
      <vt:lpstr>UPDATE</vt:lpstr>
      <vt:lpstr>UPDATE</vt:lpstr>
      <vt:lpstr>UPDATE</vt:lpstr>
      <vt:lpstr>Transação</vt:lpstr>
      <vt:lpstr>Transação</vt:lpstr>
      <vt:lpstr>Apresentação do PowerPoint</vt:lpstr>
      <vt:lpstr>Apresentação do PowerPoint</vt:lpstr>
      <vt:lpstr>Apresentação do PowerPoint</vt:lpstr>
      <vt:lpstr>Referências bibliográficas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Elias Penteado</dc:creator>
  <cp:lastModifiedBy>Author</cp:lastModifiedBy>
  <cp:revision>2116</cp:revision>
  <dcterms:created xsi:type="dcterms:W3CDTF">2024-08-08T20:58:28Z</dcterms:created>
  <dcterms:modified xsi:type="dcterms:W3CDTF">2026-04-09T01:32:14Z</dcterms:modified>
</cp:coreProperties>
</file>