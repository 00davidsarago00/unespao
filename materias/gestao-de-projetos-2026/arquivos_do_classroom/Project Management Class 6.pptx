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958" r:id="rId3"/>
    <p:sldId id="382" r:id="rId4"/>
    <p:sldId id="1335" r:id="rId5"/>
    <p:sldId id="959" r:id="rId6"/>
    <p:sldId id="743" r:id="rId7"/>
    <p:sldId id="716" r:id="rId8"/>
    <p:sldId id="531" r:id="rId9"/>
    <p:sldId id="628" r:id="rId10"/>
    <p:sldId id="702" r:id="rId11"/>
    <p:sldId id="739" r:id="rId12"/>
    <p:sldId id="374" r:id="rId13"/>
    <p:sldId id="759" r:id="rId14"/>
    <p:sldId id="960" r:id="rId15"/>
    <p:sldId id="961" r:id="rId16"/>
    <p:sldId id="764" r:id="rId17"/>
    <p:sldId id="763" r:id="rId18"/>
    <p:sldId id="765" r:id="rId19"/>
    <p:sldId id="766" r:id="rId20"/>
    <p:sldId id="768" r:id="rId21"/>
    <p:sldId id="769" r:id="rId22"/>
    <p:sldId id="770" r:id="rId23"/>
    <p:sldId id="809" r:id="rId24"/>
    <p:sldId id="808" r:id="rId25"/>
    <p:sldId id="771" r:id="rId26"/>
    <p:sldId id="772" r:id="rId27"/>
    <p:sldId id="774" r:id="rId28"/>
    <p:sldId id="815" r:id="rId29"/>
    <p:sldId id="820" r:id="rId30"/>
    <p:sldId id="816" r:id="rId31"/>
    <p:sldId id="818" r:id="rId32"/>
    <p:sldId id="791" r:id="rId33"/>
    <p:sldId id="1336" r:id="rId34"/>
    <p:sldId id="793" r:id="rId35"/>
    <p:sldId id="718" r:id="rId36"/>
    <p:sldId id="717" r:id="rId37"/>
    <p:sldId id="751" r:id="rId38"/>
    <p:sldId id="752" r:id="rId39"/>
    <p:sldId id="792" r:id="rId40"/>
    <p:sldId id="719" r:id="rId41"/>
    <p:sldId id="796" r:id="rId42"/>
    <p:sldId id="720" r:id="rId43"/>
    <p:sldId id="729" r:id="rId44"/>
    <p:sldId id="788" r:id="rId45"/>
    <p:sldId id="753" r:id="rId46"/>
    <p:sldId id="754" r:id="rId47"/>
    <p:sldId id="725" r:id="rId48"/>
    <p:sldId id="795" r:id="rId49"/>
    <p:sldId id="755" r:id="rId50"/>
    <p:sldId id="782" r:id="rId51"/>
    <p:sldId id="726" r:id="rId52"/>
    <p:sldId id="819" r:id="rId53"/>
    <p:sldId id="727" r:id="rId54"/>
    <p:sldId id="730" r:id="rId55"/>
    <p:sldId id="731" r:id="rId56"/>
    <p:sldId id="732" r:id="rId57"/>
    <p:sldId id="733" r:id="rId58"/>
    <p:sldId id="734" r:id="rId59"/>
    <p:sldId id="783" r:id="rId60"/>
    <p:sldId id="790" r:id="rId61"/>
    <p:sldId id="810" r:id="rId62"/>
    <p:sldId id="735" r:id="rId63"/>
    <p:sldId id="749" r:id="rId64"/>
    <p:sldId id="736" r:id="rId65"/>
    <p:sldId id="740" r:id="rId66"/>
    <p:sldId id="789" r:id="rId67"/>
    <p:sldId id="798" r:id="rId68"/>
    <p:sldId id="800" r:id="rId69"/>
    <p:sldId id="802" r:id="rId70"/>
    <p:sldId id="801" r:id="rId71"/>
    <p:sldId id="811" r:id="rId72"/>
    <p:sldId id="674" r:id="rId73"/>
    <p:sldId id="748" r:id="rId7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958"/>
            <p14:sldId id="382"/>
            <p14:sldId id="1335"/>
            <p14:sldId id="959"/>
            <p14:sldId id="743"/>
            <p14:sldId id="716"/>
            <p14:sldId id="531"/>
            <p14:sldId id="628"/>
            <p14:sldId id="702"/>
            <p14:sldId id="739"/>
          </p14:sldIdLst>
        </p14:section>
        <p14:section name="Introdução" id="{14EFEFA0-C1A5-45D4-B781-AD9C2CA07C4B}">
          <p14:sldIdLst>
            <p14:sldId id="374"/>
            <p14:sldId id="759"/>
            <p14:sldId id="960"/>
            <p14:sldId id="961"/>
            <p14:sldId id="764"/>
            <p14:sldId id="763"/>
            <p14:sldId id="765"/>
            <p14:sldId id="766"/>
            <p14:sldId id="768"/>
            <p14:sldId id="769"/>
            <p14:sldId id="770"/>
            <p14:sldId id="809"/>
            <p14:sldId id="808"/>
            <p14:sldId id="771"/>
            <p14:sldId id="772"/>
            <p14:sldId id="774"/>
            <p14:sldId id="815"/>
            <p14:sldId id="820"/>
            <p14:sldId id="816"/>
            <p14:sldId id="818"/>
            <p14:sldId id="791"/>
            <p14:sldId id="1336"/>
            <p14:sldId id="793"/>
            <p14:sldId id="718"/>
            <p14:sldId id="717"/>
            <p14:sldId id="751"/>
            <p14:sldId id="752"/>
            <p14:sldId id="792"/>
            <p14:sldId id="719"/>
            <p14:sldId id="796"/>
            <p14:sldId id="720"/>
            <p14:sldId id="729"/>
            <p14:sldId id="788"/>
            <p14:sldId id="753"/>
            <p14:sldId id="754"/>
            <p14:sldId id="725"/>
            <p14:sldId id="795"/>
            <p14:sldId id="755"/>
            <p14:sldId id="782"/>
            <p14:sldId id="726"/>
            <p14:sldId id="819"/>
            <p14:sldId id="727"/>
            <p14:sldId id="730"/>
            <p14:sldId id="731"/>
            <p14:sldId id="732"/>
            <p14:sldId id="733"/>
            <p14:sldId id="734"/>
            <p14:sldId id="783"/>
            <p14:sldId id="790"/>
            <p14:sldId id="810"/>
            <p14:sldId id="735"/>
            <p14:sldId id="749"/>
            <p14:sldId id="736"/>
            <p14:sldId id="740"/>
            <p14:sldId id="789"/>
            <p14:sldId id="798"/>
            <p14:sldId id="800"/>
            <p14:sldId id="802"/>
            <p14:sldId id="801"/>
            <p14:sldId id="811"/>
            <p14:sldId id="674"/>
          </p14:sldIdLst>
        </p14:section>
        <p14:section name="Plano de projeto" id="{65295B0D-E309-449D-8240-66B9D784998F}">
          <p14:sldIdLst>
            <p14:sldId id="7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768" autoAdjust="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ommons.org/CHAOS_Report_on_IT_Project_Outcome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derosiaux.medium.com/the-90-cost-reduction-myth-in-ai-assisted-development-14d11c89f8d8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reddit.com/r/learnprogramming/comments/e8y596/the_9090_rule/" TargetMode="External"/><Relationship Id="rId5" Type="http://schemas.openxmlformats.org/officeDocument/2006/relationships/hyperlink" Target="https://betterembsw.blogspot.com/2017/10/top-five-embedded-software-management.html" TargetMode="External"/><Relationship Id="rId4" Type="http://schemas.openxmlformats.org/officeDocument/2006/relationships/hyperlink" Target="https://ufem.com.br/regra-90-90-cronograma-de-estudos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Limitações</a:t>
            </a:r>
            <a:r>
              <a:rPr lang="pt-BR" dirty="0"/>
              <a:t>: </a:t>
            </a:r>
            <a:br>
              <a:rPr lang="pt-BR" dirty="0"/>
            </a:br>
            <a:r>
              <a:rPr lang="pt-BR" b="1" dirty="0"/>
              <a:t>Experiência</a:t>
            </a:r>
            <a:r>
              <a:rPr lang="pt-BR" dirty="0"/>
              <a:t>: não se apoia em dado, método ou histórico</a:t>
            </a:r>
            <a:br>
              <a:rPr lang="pt-BR" dirty="0"/>
            </a:br>
            <a:r>
              <a:rPr lang="pt-BR" b="1" dirty="0"/>
              <a:t>EAP</a:t>
            </a:r>
            <a:r>
              <a:rPr lang="pt-BR" dirty="0"/>
              <a:t>: depende da experiência e da granularidade de quem fez</a:t>
            </a:r>
          </a:p>
          <a:p>
            <a:r>
              <a:rPr lang="pt-BR" b="1" dirty="0"/>
              <a:t>COCOMO</a:t>
            </a:r>
            <a:r>
              <a:rPr lang="pt-BR" dirty="0"/>
              <a:t>: superestima projetos pequenos</a:t>
            </a:r>
          </a:p>
          <a:p>
            <a:r>
              <a:rPr lang="pt-BR" b="1" dirty="0"/>
              <a:t>Story Points</a:t>
            </a:r>
            <a:r>
              <a:rPr lang="pt-BR" dirty="0"/>
              <a:t>: ignora custo fixo/overhead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523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Sucesso</a:t>
            </a:r>
            <a:r>
              <a:rPr lang="pt-BR" dirty="0"/>
              <a:t>: no prazo, dentro do orçamento e com resultado satisfatório para o cliente — não necessariamente com 100% do escopo original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Por trás disso, a base do CHAOS rastreia seis atributos individuais por projeto - {no orçamento, no prazo, no alvo (escopo), valor, na meta e satisfação} - e a partir da combinação desses seis atributos classifica cada projeto em uma das três categorias: bem-sucedido, desafiado (passou do prazo/orçamento ou entregou menos do que o planejado, mas foi concluído) ou falhou (trabalho cancelado antes da entrega) </a:t>
            </a:r>
            <a:r>
              <a:rPr lang="pt-BR" dirty="0">
                <a:hlinkClick r:id="rId3"/>
              </a:rPr>
              <a:t>CHAOS Report </a:t>
            </a:r>
            <a:r>
              <a:rPr lang="pt-BR" dirty="0" err="1">
                <a:hlinkClick r:id="rId3"/>
              </a:rPr>
              <a:t>on</a:t>
            </a:r>
            <a:r>
              <a:rPr lang="pt-BR" dirty="0">
                <a:hlinkClick r:id="rId3"/>
              </a:rPr>
              <a:t> IT Project </a:t>
            </a:r>
            <a:r>
              <a:rPr lang="pt-BR" dirty="0" err="1">
                <a:hlinkClick r:id="rId3"/>
              </a:rPr>
              <a:t>Outcomes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443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u="none" strike="noStrike" dirty="0">
                <a:effectLst/>
                <a:latin typeface="Google Sans"/>
              </a:rPr>
              <a:t>Falácia do planejamento</a:t>
            </a:r>
            <a:r>
              <a:rPr lang="pt-BR" b="0" u="none" strike="noStrike" dirty="0">
                <a:effectLst/>
                <a:latin typeface="Google Sans"/>
              </a:rPr>
              <a:t>: A tendência de imaginar um cenário perfeito sem interrupções.</a:t>
            </a:r>
          </a:p>
          <a:p>
            <a:r>
              <a:rPr lang="pt-BR" b="1" u="none" strike="noStrike" dirty="0">
                <a:effectLst/>
                <a:latin typeface="Google Sans"/>
              </a:rPr>
              <a:t>Etapas ocultas</a:t>
            </a:r>
            <a:r>
              <a:rPr lang="pt-BR" b="0" u="none" strike="noStrike" dirty="0">
                <a:effectLst/>
                <a:latin typeface="Google Sans"/>
              </a:rPr>
              <a:t>: Problemas que só aparecem durante a execução do trabalho.</a:t>
            </a:r>
          </a:p>
          <a:p>
            <a:r>
              <a:rPr lang="pt-BR" b="1" u="none" strike="noStrike" dirty="0">
                <a:effectLst/>
                <a:latin typeface="Google Sans"/>
              </a:rPr>
              <a:t>Natureza recursiva</a:t>
            </a:r>
            <a:r>
              <a:rPr lang="pt-BR" b="0" u="none" strike="noStrike" dirty="0">
                <a:effectLst/>
                <a:latin typeface="Google Sans"/>
              </a:rPr>
              <a:t>: Adicionar margem de folga não resolve, pois a própria folga é consumida por imprevistos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521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u="none" strike="noStrike" dirty="0">
                <a:effectLst/>
                <a:latin typeface="Google Sans"/>
              </a:rPr>
              <a:t>Primeira fase:</a:t>
            </a:r>
            <a:r>
              <a:rPr lang="pt-BR" b="0" u="none" strike="noStrike" dirty="0">
                <a:effectLst/>
                <a:latin typeface="Google Sans"/>
              </a:rPr>
              <a:t> O desenvolvimento inicial e a escrita do código principal parecem avançar rápido e cobrem a maior parte do escopo visível. [</a:t>
            </a:r>
            <a:r>
              <a:rPr lang="pt-BR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pt-BR" b="0" u="none" strike="noStrike" dirty="0">
                <a:effectLst/>
                <a:latin typeface="Google Sans"/>
              </a:rPr>
              <a:t>, </a:t>
            </a:r>
            <a:r>
              <a:rPr lang="pt-BR" b="0" u="none" strike="noStrike" dirty="0">
                <a:effectLst/>
                <a:latin typeface="Google Sans"/>
                <a:hlinkClick r:id="rId4"/>
              </a:rPr>
              <a:t>2</a:t>
            </a:r>
            <a:r>
              <a:rPr lang="pt-BR" b="0" u="none" strike="noStrike" dirty="0">
                <a:effectLst/>
                <a:latin typeface="Google Sans"/>
              </a:rPr>
              <a:t>, </a:t>
            </a:r>
            <a:r>
              <a:rPr lang="pt-BR" b="0" u="none" strike="noStrike" dirty="0">
                <a:effectLst/>
                <a:latin typeface="Google Sans"/>
                <a:hlinkClick r:id="rId5"/>
              </a:rPr>
              <a:t>3</a:t>
            </a:r>
            <a:r>
              <a:rPr lang="pt-BR" b="0" u="none" strike="noStrike" dirty="0">
                <a:effectLst/>
                <a:latin typeface="Google Sans"/>
              </a:rPr>
              <a:t>]</a:t>
            </a:r>
          </a:p>
          <a:p>
            <a:r>
              <a:rPr lang="pt-BR" b="1" u="none" strike="noStrike" dirty="0">
                <a:effectLst/>
                <a:latin typeface="Google Sans"/>
              </a:rPr>
              <a:t>Segunda fase:</a:t>
            </a:r>
            <a:r>
              <a:rPr lang="pt-BR" b="0" u="none" strike="noStrike" dirty="0">
                <a:effectLst/>
                <a:latin typeface="Google Sans"/>
              </a:rPr>
              <a:t> Os ajustes finais, testes, correção de bugs ocultos e problemas de integração exigem muito mais esforço do que o planejado. [</a:t>
            </a:r>
            <a:r>
              <a:rPr lang="pt-BR" b="0" u="none" strike="noStrike" dirty="0">
                <a:effectLst/>
                <a:latin typeface="Google Sans"/>
                <a:hlinkClick r:id="rId6"/>
              </a:rPr>
              <a:t>1</a:t>
            </a:r>
            <a:r>
              <a:rPr lang="pt-BR" b="0" u="none" strike="noStrike" dirty="0">
                <a:effectLst/>
                <a:latin typeface="Google Sans"/>
              </a:rPr>
              <a:t>, </a:t>
            </a:r>
            <a:r>
              <a:rPr lang="pt-BR" b="0" u="none" strike="noStrike" dirty="0">
                <a:effectLst/>
                <a:latin typeface="Google Sans"/>
                <a:hlinkClick r:id="rId4"/>
              </a:rPr>
              <a:t>2</a:t>
            </a:r>
            <a:r>
              <a:rPr lang="pt-BR" b="0" u="none" strike="noStrike" dirty="0">
                <a:effectLst/>
                <a:latin typeface="Google Sans"/>
              </a:rPr>
              <a:t>]</a:t>
            </a:r>
          </a:p>
          <a:p>
            <a:r>
              <a:rPr lang="pt-BR" b="1" u="none" strike="noStrike" dirty="0">
                <a:effectLst/>
                <a:latin typeface="Google Sans"/>
              </a:rPr>
              <a:t>Mensagem central:</a:t>
            </a:r>
            <a:r>
              <a:rPr lang="pt-BR" b="0" u="none" strike="noStrike" dirty="0">
                <a:effectLst/>
                <a:latin typeface="Google Sans"/>
              </a:rPr>
              <a:t> É um lembrete bem-humorado de que a reta final de qualquer projeto complexo sempre demora muito mais do que o esperado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329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431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ED45-8D8D-A74D-2315-EF4D0A5F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4D90B2-86E4-F7F4-5883-6CB0046FF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CDCCD3-B2A5-DE95-9604-3F449E371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D3AB43-947D-7130-C40F-F45EA7B72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974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1DF0-D1AF-F511-D6DC-0BA3A090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4ACFC18-B919-20C5-A480-ABFBEE61A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6FC9A4-E33A-4011-267D-1648919F4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B4511B-992B-1468-8A70-C28330BA1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58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414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Lei de Hofstadter e Lei 90-90!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289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1h15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96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>
                <a:sym typeface="Wingdings" panose="05000000000000000000" pitchFamily="2" charset="2"/>
              </a:rPr>
              <a:t>(para projetos estratégicos);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568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506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2h  -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F5B4B0-69AB-7A1A-0DD5-CE2BF2F3832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0457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runo.penteado@unesp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details/21862f54-e601-4949-afa7-76a124fb8bb2" TargetMode="External"/><Relationship Id="rId2" Type="http://schemas.openxmlformats.org/officeDocument/2006/relationships/hyperlink" Target="https://create.kahoot.it/details/8911f161-6872-43f8-ad90-a490c848d2b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ghts.sei.cmu.edu/documents/4171/2018_017_001_517052.pdf" TargetMode="External"/><Relationship Id="rId2" Type="http://schemas.openxmlformats.org/officeDocument/2006/relationships/hyperlink" Target="https://bdm.unb.br/bitstream/10483/20412/1/2017_DandaraAranha_MaxwellCardoso_tcc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csus.edu/indiv/v/velianitis/161/chaosrepor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lead.com.br/blog/gestao-projetos-ia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Bell_Labs" TargetMode="External"/><Relationship Id="rId4" Type="http://schemas.openxmlformats.org/officeDocument/2006/relationships/hyperlink" Target="https://en.wikipedia.org/w/index.php?title=Tom_Cargill&amp;action=edit&amp;redlink=1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leomurta.github.i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isciplinas.usp.br/pluginfile.php/3341179/mod_resource/content/1/Aula08-Estimativas%20de%20Projeto.pdf" TargetMode="Externa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Aula 6 </a:t>
            </a:r>
            <a:br>
              <a:rPr lang="pt-BR" dirty="0"/>
            </a:br>
            <a:r>
              <a:rPr lang="pt-BR" dirty="0"/>
              <a:t>Cronograma e orçamento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bruno.penteado@unesp.br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CFF3D-2556-B633-08FE-9427C4F2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das aulas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9556CB4-2D43-C77A-D78A-D1E4C59EC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246851"/>
              </p:ext>
            </p:extLst>
          </p:nvPr>
        </p:nvGraphicFramePr>
        <p:xfrm>
          <a:off x="3106964" y="1690688"/>
          <a:ext cx="6499260" cy="4827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7225">
                  <a:extLst>
                    <a:ext uri="{9D8B030D-6E8A-4147-A177-3AD203B41FA5}">
                      <a16:colId xmlns:a16="http://schemas.microsoft.com/office/drawing/2014/main" val="4293976345"/>
                    </a:ext>
                  </a:extLst>
                </a:gridCol>
                <a:gridCol w="5322035">
                  <a:extLst>
                    <a:ext uri="{9D8B030D-6E8A-4147-A177-3AD203B41FA5}">
                      <a16:colId xmlns:a16="http://schemas.microsoft.com/office/drawing/2014/main" val="165566104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</a:txBody>
                  <a:tcPr marL="7620" marR="7620" marT="7620" marB="0" anchor="b"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6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Conteúdo planejado</a:t>
                      </a:r>
                    </a:p>
                  </a:txBody>
                  <a:tcPr marL="7620" marR="7620" marT="7620" marB="0" anchor="b"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4744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06/mar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Plano de aulas da disciplina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74356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13/mar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Introdução e conceitos de Gestão de Projetos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2282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20/mar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Complexidade do software e Introdução à Gestão de Projetos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58034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27/mar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Alinhamento estratégico e Escopo de projeto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26048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03/abr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Feriado - Sexta santa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115168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10/abr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PMBOK e gerenciamento de escopo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9857129"/>
                  </a:ext>
                </a:extLst>
              </a:tr>
              <a:tr h="2787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17/</a:t>
                      </a:r>
                      <a:r>
                        <a:rPr lang="pt-B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abr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EAP Moscow - Estimativa com EAP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18685562"/>
                  </a:ext>
                </a:extLst>
              </a:tr>
              <a:tr h="7381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24/abr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COCOMO e Story Points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20309569"/>
                  </a:ext>
                </a:extLst>
              </a:tr>
              <a:tr h="27390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01/mai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Feriado - Dia do Trabalho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24366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08/mai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63002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07/08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Cronograma e orçamento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239670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14/08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Riscos e equipe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484628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21/08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Qualidade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65891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28/08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Gerenciamento de configuração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94901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04/09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Monitoramento, controle e encerramento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05157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10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18/09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Apresentação de seminários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995800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Exame final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97851"/>
                  </a:ext>
                </a:extLst>
              </a:tr>
            </a:tbl>
          </a:graphicData>
        </a:graphic>
      </p:graphicFrame>
      <p:sp>
        <p:nvSpPr>
          <p:cNvPr id="3" name="Chave Esquerda 2">
            <a:extLst>
              <a:ext uri="{FF2B5EF4-FFF2-40B4-BE49-F238E27FC236}">
                <a16:creationId xmlns:a16="http://schemas.microsoft.com/office/drawing/2014/main" id="{64B1E8DB-B378-4748-969D-7BEBE64C8E6E}"/>
              </a:ext>
            </a:extLst>
          </p:cNvPr>
          <p:cNvSpPr/>
          <p:nvPr/>
        </p:nvSpPr>
        <p:spPr>
          <a:xfrm>
            <a:off x="2732808" y="4530436"/>
            <a:ext cx="258213" cy="19877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001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Nas aulas anteriores,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Estimativas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Definição de métricas</a:t>
            </a:r>
          </a:p>
          <a:p>
            <a:pPr lvl="2"/>
            <a:r>
              <a:rPr lang="pt-BR" dirty="0"/>
              <a:t>Tamanho e funcionalidade</a:t>
            </a:r>
            <a:endParaRPr lang="pt-BR" b="1" dirty="0"/>
          </a:p>
          <a:p>
            <a:pPr lvl="1">
              <a:spcBef>
                <a:spcPts val="2400"/>
              </a:spcBef>
            </a:pPr>
            <a:r>
              <a:rPr lang="pt-BR" dirty="0"/>
              <a:t>Método tradicional</a:t>
            </a:r>
          </a:p>
          <a:p>
            <a:pPr lvl="2"/>
            <a:r>
              <a:rPr lang="pt-BR" dirty="0"/>
              <a:t>Linhas de código (LOC)</a:t>
            </a:r>
          </a:p>
          <a:p>
            <a:pPr lvl="2"/>
            <a:r>
              <a:rPr lang="pt-BR" dirty="0"/>
              <a:t>Análise de ponto por função (fronteira, elementos, contagem, ajuste, conversão)</a:t>
            </a:r>
            <a:endParaRPr lang="pt-BR" b="1" dirty="0"/>
          </a:p>
          <a:p>
            <a:pPr lvl="1">
              <a:spcBef>
                <a:spcPts val="2400"/>
              </a:spcBef>
            </a:pPr>
            <a:r>
              <a:rPr lang="pt-BR" dirty="0"/>
              <a:t>Métodos ágeis</a:t>
            </a:r>
          </a:p>
          <a:p>
            <a:pPr lvl="2"/>
            <a:r>
              <a:rPr lang="pt-BR" dirty="0"/>
              <a:t>Story points (</a:t>
            </a:r>
            <a:r>
              <a:rPr lang="pt-BR" dirty="0" err="1"/>
              <a:t>user</a:t>
            </a:r>
            <a:r>
              <a:rPr lang="pt-BR" dirty="0"/>
              <a:t> stories, unidade de medida, velocidade sprint, conversão)</a:t>
            </a:r>
          </a:p>
          <a:p>
            <a:pPr lvl="2"/>
            <a:endParaRPr lang="pt-BR" b="1" dirty="0">
              <a:solidFill>
                <a:srgbClr val="FF0000"/>
              </a:solidFill>
            </a:endParaRPr>
          </a:p>
          <a:p>
            <a:r>
              <a:rPr lang="pt-BR" b="1" dirty="0">
                <a:solidFill>
                  <a:srgbClr val="FF0000"/>
                </a:solidFill>
              </a:rPr>
              <a:t>Resgatem os valores das estimativas e arquivo de EAP do </a:t>
            </a:r>
            <a:r>
              <a:rPr lang="pt-BR" b="1" dirty="0" err="1">
                <a:solidFill>
                  <a:srgbClr val="FF0000"/>
                </a:solidFill>
              </a:rPr>
              <a:t>ProjectLibre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F9B7D-6DA2-19A4-BD2B-EE58B071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DA7BA6-C6A5-C5D9-4406-2C109A268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b="1" dirty="0"/>
              <a:t>Kahoot!</a:t>
            </a:r>
          </a:p>
          <a:p>
            <a:endParaRPr lang="pt-BR" dirty="0"/>
          </a:p>
          <a:p>
            <a:r>
              <a:rPr lang="pt-BR" dirty="0"/>
              <a:t>Treinamento: </a:t>
            </a:r>
            <a:r>
              <a:rPr lang="pt-BR" dirty="0">
                <a:hlinkClick r:id="rId2"/>
              </a:rPr>
              <a:t>https://create.kahoot.it/details/8911f161-6872-43f8-ad90-a490c848d2b4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https://create.kahoot.it/details/21862f54-e601-4949-afa7-76a124fb8bb2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15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70F9D-484F-9AD7-FE8E-58414C63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Discussão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F52F4F-7299-8D34-4752-728439E2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qual valor de custo vocês fechariam o projeto de vocês?</a:t>
            </a:r>
          </a:p>
          <a:p>
            <a:r>
              <a:rPr lang="pt-BR" dirty="0"/>
              <a:t>Quanto/como cobrar?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E5C85BB-486E-3FBE-AEB1-626990AF0E3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88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84C1B-9205-9CB8-307D-98E05635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9B072-6ACC-45EB-8CDF-DB35C9617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Comparativo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E257EB8-CBAA-F413-3EAF-CFB7D9AC8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63247"/>
              </p:ext>
            </p:extLst>
          </p:nvPr>
        </p:nvGraphicFramePr>
        <p:xfrm>
          <a:off x="187960" y="1690688"/>
          <a:ext cx="11816080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024">
                  <a:extLst>
                    <a:ext uri="{9D8B030D-6E8A-4147-A177-3AD203B41FA5}">
                      <a16:colId xmlns:a16="http://schemas.microsoft.com/office/drawing/2014/main" val="2078950193"/>
                    </a:ext>
                  </a:extLst>
                </a:gridCol>
                <a:gridCol w="1324672">
                  <a:extLst>
                    <a:ext uri="{9D8B030D-6E8A-4147-A177-3AD203B41FA5}">
                      <a16:colId xmlns:a16="http://schemas.microsoft.com/office/drawing/2014/main" val="1877315553"/>
                    </a:ext>
                  </a:extLst>
                </a:gridCol>
                <a:gridCol w="1049140">
                  <a:extLst>
                    <a:ext uri="{9D8B030D-6E8A-4147-A177-3AD203B41FA5}">
                      <a16:colId xmlns:a16="http://schemas.microsoft.com/office/drawing/2014/main" val="3595047348"/>
                    </a:ext>
                  </a:extLst>
                </a:gridCol>
                <a:gridCol w="1377659">
                  <a:extLst>
                    <a:ext uri="{9D8B030D-6E8A-4147-A177-3AD203B41FA5}">
                      <a16:colId xmlns:a16="http://schemas.microsoft.com/office/drawing/2014/main" val="3544628514"/>
                    </a:ext>
                  </a:extLst>
                </a:gridCol>
                <a:gridCol w="1208102">
                  <a:extLst>
                    <a:ext uri="{9D8B030D-6E8A-4147-A177-3AD203B41FA5}">
                      <a16:colId xmlns:a16="http://schemas.microsoft.com/office/drawing/2014/main" val="4098427468"/>
                    </a:ext>
                  </a:extLst>
                </a:gridCol>
                <a:gridCol w="1505804">
                  <a:extLst>
                    <a:ext uri="{9D8B030D-6E8A-4147-A177-3AD203B41FA5}">
                      <a16:colId xmlns:a16="http://schemas.microsoft.com/office/drawing/2014/main" val="2130404279"/>
                    </a:ext>
                  </a:extLst>
                </a:gridCol>
                <a:gridCol w="1056576">
                  <a:extLst>
                    <a:ext uri="{9D8B030D-6E8A-4147-A177-3AD203B41FA5}">
                      <a16:colId xmlns:a16="http://schemas.microsoft.com/office/drawing/2014/main" val="1942622991"/>
                    </a:ext>
                  </a:extLst>
                </a:gridCol>
                <a:gridCol w="1340623">
                  <a:extLst>
                    <a:ext uri="{9D8B030D-6E8A-4147-A177-3AD203B41FA5}">
                      <a16:colId xmlns:a16="http://schemas.microsoft.com/office/drawing/2014/main" val="4109759742"/>
                    </a:ext>
                  </a:extLst>
                </a:gridCol>
                <a:gridCol w="1427480">
                  <a:extLst>
                    <a:ext uri="{9D8B030D-6E8A-4147-A177-3AD203B41FA5}">
                      <a16:colId xmlns:a16="http://schemas.microsoft.com/office/drawing/2014/main" val="1272409107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Experiência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EAP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COCOMO II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Story Points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495857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Custo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Tempo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Custo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Tempo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Custo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Tempo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Custo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Tempo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5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Fitlog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R$ 92.000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7 meses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R$ 540.000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49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Unespão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R$ 293.000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R$ 356.000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3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Cheflink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R$ 260.000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R$ 710.000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R$ 62.000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8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ConectaPatas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R$ 130.000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R$ 167.000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R$ 1.600.000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18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827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Retroplay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R$ 177.000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R$ 303.000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R$ 188.000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8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 err="1"/>
                        <a:t>BarberTime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R$ 80.000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R$ 751.000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14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R$ 129.000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 meses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3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131623"/>
                  </a:ext>
                </a:extLst>
              </a:tr>
            </a:tbl>
          </a:graphicData>
        </a:graphic>
      </p:graphicFrame>
      <p:pic>
        <p:nvPicPr>
          <p:cNvPr id="7" name="Picture 2" descr="Propriedades psicométricas na avaliação de instrumentos: avaliação da confiabilidade  e da validade">
            <a:extLst>
              <a:ext uri="{FF2B5EF4-FFF2-40B4-BE49-F238E27FC236}">
                <a16:creationId xmlns:a16="http://schemas.microsoft.com/office/drawing/2014/main" id="{3794BC8E-2E2F-2AF7-838D-9BF855C4A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10" y="4716155"/>
            <a:ext cx="7479070" cy="261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6471D93-C951-6894-214A-25646BD696D0}"/>
              </a:ext>
            </a:extLst>
          </p:cNvPr>
          <p:cNvSpPr/>
          <p:nvPr/>
        </p:nvSpPr>
        <p:spPr>
          <a:xfrm>
            <a:off x="4270663" y="612208"/>
            <a:ext cx="3470564" cy="15296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Se vocês tivessem que dar um valor amanhã, o que fariam?</a:t>
            </a:r>
          </a:p>
        </p:txBody>
      </p:sp>
    </p:spTree>
    <p:extLst>
      <p:ext uri="{BB962C8B-B14F-4D97-AF65-F5344CB8AC3E}">
        <p14:creationId xmlns:p14="http://schemas.microsoft.com/office/powerpoint/2010/main" val="294307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61077-F7C9-4399-F787-BD151F18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1BA2E6-548A-7F51-5D29-AABA86373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91" y="1690688"/>
            <a:ext cx="5858028" cy="51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3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376FF-90EA-9C4F-DC07-F31F9F5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14B55-9E67-EC4C-B3E0-F3F47E97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01FFA8-F008-8618-2CEE-D65519E8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14" y="365125"/>
            <a:ext cx="7733619" cy="638827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3C709B-AE3E-74F3-FF30-586AB2729E2E}"/>
              </a:ext>
            </a:extLst>
          </p:cNvPr>
          <p:cNvSpPr/>
          <p:nvPr/>
        </p:nvSpPr>
        <p:spPr>
          <a:xfrm>
            <a:off x="1919815" y="5225143"/>
            <a:ext cx="2877964" cy="1632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09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DA329-E429-F9DF-509C-AEED5E69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5 – Estimar a duração das 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7F625-B3BB-40B3-6BBA-F927D5A4C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Cada atividade tem uma </a:t>
            </a:r>
            <a:r>
              <a:rPr lang="pt-BR" b="1" dirty="0"/>
              <a:t>duração esperada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Caso a atividade seja ainda muito grande, será complexo determinar a sua duração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Neste caso, decompõe-se a atividade</a:t>
            </a:r>
          </a:p>
          <a:p>
            <a:pPr>
              <a:spcBef>
                <a:spcPts val="3600"/>
              </a:spcBef>
            </a:pPr>
            <a:r>
              <a:rPr lang="pt-BR" dirty="0"/>
              <a:t>Existem diferentes técnicas para estipular a duração da atividade, dentre elas: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Opinião de especialista (consenso)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Estimativa por analogia (projeto anterior)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Estimativa paramétrica (fórmula)</a:t>
            </a:r>
          </a:p>
        </p:txBody>
      </p:sp>
    </p:spTree>
    <p:extLst>
      <p:ext uri="{BB962C8B-B14F-4D97-AF65-F5344CB8AC3E}">
        <p14:creationId xmlns:p14="http://schemas.microsoft.com/office/powerpoint/2010/main" val="2603745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DA329-E429-F9DF-509C-AEED5E69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6 – Estimar o custo das 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7F625-B3BB-40B3-6BBA-F927D5A4C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Tendo em mãos:</a:t>
            </a:r>
          </a:p>
          <a:p>
            <a:pPr lvl="1"/>
            <a:r>
              <a:rPr lang="pt-BR" dirty="0"/>
              <a:t>Os recursos necessários para a execução das atividades;</a:t>
            </a:r>
          </a:p>
          <a:p>
            <a:pPr lvl="1"/>
            <a:r>
              <a:rPr lang="pt-BR" dirty="0"/>
              <a:t>O esforço estimado das atividades;</a:t>
            </a:r>
          </a:p>
          <a:p>
            <a:pPr>
              <a:spcBef>
                <a:spcPts val="3600"/>
              </a:spcBef>
            </a:pPr>
            <a:r>
              <a:rPr lang="pt-BR" dirty="0"/>
              <a:t>Recursos diferentes influenciam diferentemente nos custos: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Humanos</a:t>
            </a:r>
            <a:r>
              <a:rPr lang="pt-BR" dirty="0"/>
              <a:t>: valor por hora * duração em horas;</a:t>
            </a:r>
          </a:p>
          <a:p>
            <a:pPr lvl="2"/>
            <a:r>
              <a:rPr lang="pt-BR" dirty="0"/>
              <a:t>Varia conforma a </a:t>
            </a:r>
            <a:r>
              <a:rPr lang="pt-BR" u="sng" dirty="0"/>
              <a:t>especialidade</a:t>
            </a:r>
            <a:r>
              <a:rPr lang="pt-BR" dirty="0"/>
              <a:t> e a </a:t>
            </a:r>
            <a:r>
              <a:rPr lang="pt-BR" u="sng" dirty="0"/>
              <a:t>experiência</a:t>
            </a:r>
            <a:r>
              <a:rPr lang="pt-BR" dirty="0"/>
              <a:t>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Capital</a:t>
            </a:r>
            <a:r>
              <a:rPr lang="pt-BR" dirty="0"/>
              <a:t>: valor do recurso * número de recursos; 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equipamentos, aquisição de software;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Consumo</a:t>
            </a:r>
            <a:r>
              <a:rPr lang="pt-BR" dirty="0"/>
              <a:t>: valor do recurso * </a:t>
            </a:r>
            <a:r>
              <a:rPr lang="pt-BR" dirty="0" err="1"/>
              <a:t>qtd</a:t>
            </a:r>
            <a:r>
              <a:rPr lang="pt-BR" dirty="0"/>
              <a:t> necessária para a atividade;</a:t>
            </a:r>
          </a:p>
          <a:p>
            <a:pPr lvl="2"/>
            <a:r>
              <a:rPr lang="pt-BR" dirty="0" err="1"/>
              <a:t>Ex</a:t>
            </a:r>
            <a:r>
              <a:rPr lang="pt-BR" dirty="0"/>
              <a:t>: aluguel, </a:t>
            </a:r>
            <a:r>
              <a:rPr lang="pt-BR" dirty="0" err="1"/>
              <a:t>subscriptions</a:t>
            </a:r>
            <a:r>
              <a:rPr lang="pt-BR" dirty="0"/>
              <a:t>, viagens;</a:t>
            </a:r>
          </a:p>
        </p:txBody>
      </p:sp>
    </p:spTree>
    <p:extLst>
      <p:ext uri="{BB962C8B-B14F-4D97-AF65-F5344CB8AC3E}">
        <p14:creationId xmlns:p14="http://schemas.microsoft.com/office/powerpoint/2010/main" val="2431672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B24B7-A599-0186-C301-50FA75D3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Materiais complementares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79581-50C6-696B-64B0-B0C124B3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Aranha, D.P.; Cardoso, M.O. (2017). </a:t>
            </a:r>
            <a:r>
              <a:rPr lang="pt-BR" sz="2000" b="1" dirty="0"/>
              <a:t>Métodos e Métricas para Estimativas e Planejamento de Projetos Ágeis de Software: Estudo Comparativo entre Pontos de Função e </a:t>
            </a:r>
            <a:r>
              <a:rPr lang="pt-BR" sz="2000" b="1" dirty="0" err="1"/>
              <a:t>Story</a:t>
            </a:r>
            <a:r>
              <a:rPr lang="pt-BR" sz="2000" b="1" dirty="0"/>
              <a:t> Points</a:t>
            </a:r>
            <a:r>
              <a:rPr lang="pt-BR" sz="2000" dirty="0"/>
              <a:t>. TCC de Graduação em Engenharia de Software: </a:t>
            </a:r>
            <a:r>
              <a:rPr lang="pt-BR" sz="2000" dirty="0">
                <a:hlinkClick r:id="rId2"/>
              </a:rPr>
              <a:t>https://bdm.unb.br/bitstream/10483/20412/1/2017_DandaraAranha_MaxwellCardoso_tcc.pdf</a:t>
            </a:r>
            <a:r>
              <a:rPr lang="pt-BR" sz="2000" dirty="0"/>
              <a:t> </a:t>
            </a:r>
          </a:p>
          <a:p>
            <a:pPr>
              <a:spcBef>
                <a:spcPts val="2400"/>
              </a:spcBef>
            </a:pPr>
            <a:r>
              <a:rPr lang="pt-BR" sz="2000" dirty="0"/>
              <a:t>Boehm (2018). </a:t>
            </a:r>
            <a:r>
              <a:rPr lang="en-US" sz="2000" b="1" dirty="0"/>
              <a:t>Agile Software Development Cost Modeling for the US DoD</a:t>
            </a:r>
            <a:r>
              <a:rPr lang="pt-BR" sz="600" dirty="0">
                <a:solidFill>
                  <a:prstClr val="white"/>
                </a:solidFill>
                <a:latin typeface="Calibri" panose="020F0502020204030204"/>
              </a:rPr>
              <a:t>.</a:t>
            </a:r>
            <a:r>
              <a:rPr lang="pt-BR" sz="2000" dirty="0"/>
              <a:t> </a:t>
            </a:r>
            <a:r>
              <a:rPr lang="pt-BR" sz="2000" dirty="0">
                <a:hlinkClick r:id="rId3"/>
              </a:rPr>
              <a:t>https://insights.sei.cmu.edu/documents/4171/2018_017_001_517052.pdf</a:t>
            </a:r>
            <a:r>
              <a:rPr lang="pt-BR" sz="2000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115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definição de </a:t>
            </a:r>
            <a:r>
              <a:rPr lang="pt-BR" b="1" dirty="0"/>
              <a:t>cronograma</a:t>
            </a:r>
            <a:r>
              <a:rPr lang="pt-BR" dirty="0"/>
              <a:t>: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b="1" dirty="0"/>
              <a:t>Introdução sobre cronogramas;</a:t>
            </a:r>
          </a:p>
          <a:p>
            <a:pPr marL="1428750" lvl="2" indent="-514350">
              <a:spcBef>
                <a:spcPts val="1200"/>
              </a:spcBef>
              <a:buFont typeface="+mj-lt"/>
              <a:buAutoNum type="romanLcPeriod"/>
            </a:pPr>
            <a:r>
              <a:rPr lang="pt-BR" b="1" dirty="0"/>
              <a:t>Problema do tempo para execução de projetos de software</a:t>
            </a:r>
            <a:r>
              <a:rPr lang="pt-BR" dirty="0"/>
              <a:t>;</a:t>
            </a:r>
          </a:p>
          <a:p>
            <a:pPr marL="1428750" lvl="2" indent="-514350">
              <a:spcBef>
                <a:spcPts val="1200"/>
              </a:spcBef>
              <a:buFont typeface="+mj-lt"/>
              <a:buAutoNum type="romanLcPeriod"/>
            </a:pPr>
            <a:r>
              <a:rPr lang="pt-BR" dirty="0"/>
              <a:t>Programação de projetos;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romanLcPeriod"/>
            </a:pPr>
            <a:r>
              <a:rPr lang="pt-BR" dirty="0"/>
              <a:t>Representação de cronogramas</a:t>
            </a:r>
          </a:p>
          <a:p>
            <a:pPr lvl="3"/>
            <a:r>
              <a:rPr lang="pt-BR" dirty="0"/>
              <a:t>Gráfico de </a:t>
            </a:r>
            <a:r>
              <a:rPr lang="pt-BR" dirty="0" err="1"/>
              <a:t>Gantt</a:t>
            </a:r>
            <a:r>
              <a:rPr lang="pt-BR" dirty="0"/>
              <a:t>, COM, alocação de recursos;</a:t>
            </a:r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Orçamento</a:t>
            </a:r>
          </a:p>
          <a:p>
            <a:pPr marL="1428750" lvl="2" indent="-514350">
              <a:spcBef>
                <a:spcPts val="1200"/>
              </a:spcBef>
              <a:buFont typeface="+mj-lt"/>
              <a:buAutoNum type="romanLcPeriod"/>
            </a:pPr>
            <a:r>
              <a:rPr lang="pt-BR" dirty="0"/>
              <a:t>Preço;</a:t>
            </a:r>
          </a:p>
          <a:p>
            <a:pPr marL="1371600" lvl="2" indent="-457200">
              <a:spcBef>
                <a:spcPts val="1200"/>
              </a:spcBef>
              <a:buFont typeface="+mj-lt"/>
              <a:buAutoNum type="romanLcPeriod"/>
            </a:pPr>
            <a:r>
              <a:rPr lang="pt-BR" dirty="0"/>
              <a:t>Cronograma físico-financeiro;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hoje: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55E550-36C8-EB05-68E8-8A19D46BF18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36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835CA-0B90-726B-CCF0-59003CC3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Sucesso em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DB3A3-5B28-0739-4070-36B955170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Atrasos no prazo e estouro de custos*</a:t>
            </a:r>
          </a:p>
          <a:p>
            <a:pPr lvl="1"/>
            <a:r>
              <a:rPr lang="pt-BR" dirty="0"/>
              <a:t>(</a:t>
            </a:r>
            <a:r>
              <a:rPr lang="pt-BR" dirty="0">
                <a:hlinkClick r:id="rId2"/>
              </a:rPr>
              <a:t>CHAOS REPORT, 2015</a:t>
            </a:r>
            <a:r>
              <a:rPr lang="pt-BR" dirty="0"/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D6AF97-C5B7-9D08-FD5F-B52122E65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978" y="3201611"/>
            <a:ext cx="4124901" cy="21529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A188D30-7B85-E223-9D06-57EA5D60B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657" y="3173032"/>
            <a:ext cx="3877216" cy="218152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839EEAA-2CEC-A43B-A8AC-D8E1D59BCFC1}"/>
              </a:ext>
            </a:extLst>
          </p:cNvPr>
          <p:cNvSpPr txBox="1"/>
          <p:nvPr/>
        </p:nvSpPr>
        <p:spPr>
          <a:xfrm>
            <a:off x="6665872" y="6364514"/>
            <a:ext cx="4386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* 365 empresas e 8.380 projetos de software; 2011-2015</a:t>
            </a:r>
          </a:p>
        </p:txBody>
      </p:sp>
    </p:spTree>
    <p:extLst>
      <p:ext uri="{BB962C8B-B14F-4D97-AF65-F5344CB8AC3E}">
        <p14:creationId xmlns:p14="http://schemas.microsoft.com/office/powerpoint/2010/main" val="254830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0E34A-099A-9F94-D9B5-47B9ACC7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Sucesso em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BE0985-EDB5-8B1D-5E88-C0875656E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8F010C-B97F-205D-F53C-A451A041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12022228" cy="518232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E73E666-A72A-D57D-E02F-101FF9425821}"/>
              </a:ext>
            </a:extLst>
          </p:cNvPr>
          <p:cNvSpPr txBox="1"/>
          <p:nvPr/>
        </p:nvSpPr>
        <p:spPr>
          <a:xfrm>
            <a:off x="4299658" y="6581001"/>
            <a:ext cx="3592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4"/>
              </a:rPr>
              <a:t>https://www.techlead.com.br/blog/gestao-projetos-ia/</a:t>
            </a:r>
            <a:r>
              <a:rPr lang="pt-B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6506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E16A-8CEB-A83E-5077-8EC970C1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01F7E-5168-874A-FB40-112C981B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Sucesso em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2BF591-7D15-0115-5D78-090BCC463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524904-F031-576E-A8A2-AB40766A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62" y="1558736"/>
            <a:ext cx="11187476" cy="516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46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5B19F649-4E7A-5F77-37F7-889E6F86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318" y="2343150"/>
            <a:ext cx="21431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AB8EB0-62F6-A8FF-294D-E302A4BB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Hofstadter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50FF3B-D726-2F2A-38EE-9030CB40286E}"/>
              </a:ext>
            </a:extLst>
          </p:cNvPr>
          <p:cNvSpPr txBox="1"/>
          <p:nvPr/>
        </p:nvSpPr>
        <p:spPr>
          <a:xfrm>
            <a:off x="486151" y="4612259"/>
            <a:ext cx="3385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u="none" strike="noStrike" dirty="0">
                <a:effectLst/>
                <a:latin typeface="Arial" panose="020B0604020202020204" pitchFamily="34" charset="0"/>
              </a:rPr>
              <a:t>Douglas Hofstadter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pt-BR" b="0" i="0" u="none" strike="noStrike" dirty="0">
                <a:effectLst/>
                <a:latin typeface="Arial" panose="020B0604020202020204" pitchFamily="34" charset="0"/>
              </a:rPr>
              <a:t>Stanford (~1979)</a:t>
            </a:r>
            <a:endParaRPr lang="pt-BR" dirty="0"/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3A1ACB3C-E38A-2CAC-8152-72B69E3AF483}"/>
              </a:ext>
            </a:extLst>
          </p:cNvPr>
          <p:cNvSpPr/>
          <p:nvPr/>
        </p:nvSpPr>
        <p:spPr>
          <a:xfrm>
            <a:off x="4405690" y="2104118"/>
            <a:ext cx="5739795" cy="2032454"/>
          </a:xfrm>
          <a:prstGeom prst="wedgeRoundRectCallout">
            <a:avLst>
              <a:gd name="adj1" fmla="val -74894"/>
              <a:gd name="adj2" fmla="val -3378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Sempre </a:t>
            </a:r>
            <a:r>
              <a:rPr lang="pt-BR" sz="2400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leva mais tempo do que você espera,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mesmo quando você leva em conta a Lei de Hofstadter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E6FCFF-C39D-D13E-0301-594572307F16}"/>
              </a:ext>
            </a:extLst>
          </p:cNvPr>
          <p:cNvSpPr txBox="1"/>
          <p:nvPr/>
        </p:nvSpPr>
        <p:spPr>
          <a:xfrm>
            <a:off x="266700" y="5874993"/>
            <a:ext cx="1165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Usada em discussões de técnicas de melhoria de </a:t>
            </a:r>
            <a:r>
              <a:rPr lang="pt-BR" b="1" dirty="0"/>
              <a:t>produtividade</a:t>
            </a:r>
            <a:r>
              <a:rPr lang="pt-BR" dirty="0"/>
              <a:t>.</a:t>
            </a:r>
          </a:p>
          <a:p>
            <a:pPr algn="ctr"/>
            <a:r>
              <a:rPr lang="pt-BR" dirty="0"/>
              <a:t>Concebida no contexto do desenvolvimento de jogos de xadrez no computador (10 anos para “bater um campeão mundial”)</a:t>
            </a:r>
          </a:p>
        </p:txBody>
      </p:sp>
    </p:spTree>
    <p:extLst>
      <p:ext uri="{BB962C8B-B14F-4D97-AF65-F5344CB8AC3E}">
        <p14:creationId xmlns:p14="http://schemas.microsoft.com/office/powerpoint/2010/main" val="1555218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B8EB0-62F6-A8FF-294D-E302A4BB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dos 90-90</a:t>
            </a:r>
          </a:p>
        </p:txBody>
      </p:sp>
      <p:pic>
        <p:nvPicPr>
          <p:cNvPr id="7170" name="Picture 2" descr="Tom Cargill — Coalition for Global Prosperity">
            <a:extLst>
              <a:ext uri="{FF2B5EF4-FFF2-40B4-BE49-F238E27FC236}">
                <a16:creationId xmlns:a16="http://schemas.microsoft.com/office/drawing/2014/main" id="{E9A912BF-A619-CAA1-EB67-ED293421DB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1" r="17524" b="11429"/>
          <a:stretch/>
        </p:blipFill>
        <p:spPr bwMode="auto">
          <a:xfrm>
            <a:off x="8577943" y="2035628"/>
            <a:ext cx="2921585" cy="27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B50FF3B-D726-2F2A-38EE-9030CB40286E}"/>
              </a:ext>
            </a:extLst>
          </p:cNvPr>
          <p:cNvSpPr txBox="1"/>
          <p:nvPr/>
        </p:nvSpPr>
        <p:spPr>
          <a:xfrm>
            <a:off x="8346006" y="4847708"/>
            <a:ext cx="338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u="none" strike="noStrike" dirty="0">
                <a:effectLst/>
                <a:latin typeface="Arial" panose="020B0604020202020204" pitchFamily="34" charset="0"/>
                <a:hlinkClick r:id="rId4" tooltip="Tom Cargill (page does not exist)"/>
              </a:rPr>
              <a:t>Tom Cargill</a:t>
            </a:r>
            <a:r>
              <a:rPr lang="pt-B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pt-BR" b="0" i="0" u="none" strike="noStrike" dirty="0">
                <a:effectLst/>
                <a:latin typeface="Arial" panose="020B0604020202020204" pitchFamily="34" charset="0"/>
                <a:hlinkClick r:id="rId5"/>
              </a:rPr>
              <a:t>Bell </a:t>
            </a:r>
            <a:r>
              <a:rPr lang="pt-BR" b="0" i="0" u="none" strike="noStrike" dirty="0" err="1">
                <a:effectLst/>
                <a:latin typeface="Arial" panose="020B0604020202020204" pitchFamily="34" charset="0"/>
                <a:hlinkClick r:id="rId5"/>
              </a:rPr>
              <a:t>Labs</a:t>
            </a:r>
            <a:r>
              <a:rPr lang="pt-BR" b="0" i="0" u="none" strike="noStrike" dirty="0">
                <a:effectLst/>
                <a:latin typeface="Arial" panose="020B0604020202020204" pitchFamily="34" charset="0"/>
              </a:rPr>
              <a:t> (~1985)</a:t>
            </a:r>
            <a:endParaRPr lang="pt-BR" dirty="0"/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3A1ACB3C-E38A-2CAC-8152-72B69E3AF483}"/>
              </a:ext>
            </a:extLst>
          </p:cNvPr>
          <p:cNvSpPr/>
          <p:nvPr/>
        </p:nvSpPr>
        <p:spPr>
          <a:xfrm>
            <a:off x="1107318" y="2725649"/>
            <a:ext cx="5739795" cy="2928257"/>
          </a:xfrm>
          <a:prstGeom prst="wedgeRoundRectCallout">
            <a:avLst>
              <a:gd name="adj1" fmla="val 92949"/>
              <a:gd name="adj2" fmla="val -1603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Os </a:t>
            </a:r>
            <a:r>
              <a:rPr lang="pt-BR" sz="2400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primeiros 90%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do código representam os </a:t>
            </a:r>
            <a:r>
              <a:rPr lang="pt-BR" sz="2400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primeiros 90% 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do tempo de desenvolvimento. Os </a:t>
            </a:r>
            <a:r>
              <a:rPr lang="pt-BR" sz="2400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10% restantes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do código representam os </a:t>
            </a:r>
            <a:r>
              <a:rPr lang="pt-BR" sz="2400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outros 90% 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do tempo de desenvolvimento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E6FCFF-C39D-D13E-0301-594572307F16}"/>
              </a:ext>
            </a:extLst>
          </p:cNvPr>
          <p:cNvSpPr txBox="1"/>
          <p:nvPr/>
        </p:nvSpPr>
        <p:spPr>
          <a:xfrm>
            <a:off x="696687" y="6128657"/>
            <a:ext cx="10802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Alusão à notoriedade dos projetos de desenvolvimento de software que ultrapassam significativamente seus cronogramas </a:t>
            </a:r>
            <a:r>
              <a:rPr lang="pt-BR" dirty="0">
                <a:sym typeface="Wingdings" panose="05000000000000000000" pitchFamily="2" charset="2"/>
              </a:rPr>
              <a:t> em geral, leva-se mais tempo e codificação do que o esperado para se completar um projeto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464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90E81-5ECE-CA02-E5F0-D95D1E8B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Estimativas de esforço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D5E8C0-11E7-EDD0-A1B8-D86840F99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Estimativas e cronogramas frequentemente tem </a:t>
            </a:r>
            <a:r>
              <a:rPr lang="pt-BR" b="1" dirty="0"/>
              <a:t>pressão por prazo </a:t>
            </a:r>
            <a:r>
              <a:rPr lang="pt-BR" dirty="0"/>
              <a:t>de entrega</a:t>
            </a:r>
          </a:p>
          <a:p>
            <a:pPr lvl="1"/>
            <a:r>
              <a:rPr lang="pt-BR" dirty="0"/>
              <a:t>Oportunidade de mercado, atendimento a leis...</a:t>
            </a:r>
          </a:p>
          <a:p>
            <a:pPr lvl="1"/>
            <a:endParaRPr lang="pt-BR" dirty="0"/>
          </a:p>
          <a:p>
            <a:r>
              <a:rPr lang="pt-BR" dirty="0"/>
              <a:t>Papel do gerente de projeto: </a:t>
            </a:r>
          </a:p>
          <a:p>
            <a:pPr lvl="1"/>
            <a:r>
              <a:rPr lang="pt-BR" dirty="0"/>
              <a:t>“</a:t>
            </a:r>
            <a:r>
              <a:rPr lang="pt-BR" i="1" dirty="0"/>
              <a:t>proteger sua equipe contra pressões [de cronograma] indevidas... [e] enviar a pressão de volta para aqueles que a originaram</a:t>
            </a:r>
            <a:r>
              <a:rPr lang="pt-BR" dirty="0"/>
              <a:t>”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554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6DB1D-317F-6D46-1E03-D9ACBA95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Cenário comum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E1BF36-8F92-2006-249E-D62B98479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Suponha que sua equipe tenha sido encarregada de lançar um produto no mercado em 9 meses</a:t>
            </a:r>
          </a:p>
          <a:p>
            <a:pPr>
              <a:spcBef>
                <a:spcPts val="2400"/>
              </a:spcBef>
            </a:pPr>
            <a:r>
              <a:rPr lang="pt-BR" dirty="0"/>
              <a:t>Após análise cuidadosa das estimativas descobre-se que o esforço levará 14 meses para o produto, como solicitado inicialmente;</a:t>
            </a:r>
          </a:p>
          <a:p>
            <a:pPr algn="l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9BF9CF3-18A6-FDE2-8A4A-BB18AB71BAF7}"/>
              </a:ext>
            </a:extLst>
          </p:cNvPr>
          <p:cNvSpPr/>
          <p:nvPr/>
        </p:nvSpPr>
        <p:spPr>
          <a:xfrm>
            <a:off x="707571" y="4354285"/>
            <a:ext cx="3799114" cy="13498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O que fazer?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013874-30D7-5FB1-4DB3-B5603D07F9B6}"/>
              </a:ext>
            </a:extLst>
          </p:cNvPr>
          <p:cNvSpPr txBox="1"/>
          <p:nvPr/>
        </p:nvSpPr>
        <p:spPr>
          <a:xfrm>
            <a:off x="4778828" y="3862718"/>
            <a:ext cx="43045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Pedir para alterar data? Recusar o trabalho?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CDABFF-89C2-C84F-DE08-BE7872FF4DE2}"/>
              </a:ext>
            </a:extLst>
          </p:cNvPr>
          <p:cNvSpPr txBox="1"/>
          <p:nvPr/>
        </p:nvSpPr>
        <p:spPr>
          <a:xfrm>
            <a:off x="4778828" y="4377378"/>
            <a:ext cx="7293429" cy="22159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Possibilidades: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Estimar detalhadamente usando dados históricos;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Adotar estratégia incremental para criar plano de garantia da entrega das funcionalidades críticas no prazo imposto;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Reunir com cliente e expor a inviabilidade do prazo, indicando experiências passadas;</a:t>
            </a:r>
          </a:p>
        </p:txBody>
      </p:sp>
    </p:spTree>
    <p:extLst>
      <p:ext uri="{BB962C8B-B14F-4D97-AF65-F5344CB8AC3E}">
        <p14:creationId xmlns:p14="http://schemas.microsoft.com/office/powerpoint/2010/main" val="11701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A47D4-E1E8-4662-732C-8EF51C88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C64DBC-681C-FD09-3FDD-4EFDB666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9770" cy="4351338"/>
          </a:xfrm>
        </p:spPr>
        <p:txBody>
          <a:bodyPr/>
          <a:lstStyle/>
          <a:p>
            <a:r>
              <a:rPr lang="pt-BR" dirty="0"/>
              <a:t>Estimamos </a:t>
            </a:r>
            <a:r>
              <a:rPr lang="pt-BR" dirty="0">
                <a:solidFill>
                  <a:srgbClr val="FF0000"/>
                </a:solidFill>
              </a:rPr>
              <a:t>tamanho</a:t>
            </a:r>
            <a:r>
              <a:rPr lang="pt-BR" dirty="0"/>
              <a:t>, </a:t>
            </a:r>
            <a:r>
              <a:rPr lang="pt-BR" dirty="0">
                <a:solidFill>
                  <a:schemeClr val="accent1"/>
                </a:solidFill>
              </a:rPr>
              <a:t>esforço</a:t>
            </a:r>
            <a:r>
              <a:rPr lang="pt-BR" dirty="0"/>
              <a:t>, </a:t>
            </a:r>
            <a:r>
              <a:rPr lang="pt-BR" dirty="0">
                <a:solidFill>
                  <a:schemeClr val="accent6"/>
                </a:solidFill>
              </a:rPr>
              <a:t>custo</a:t>
            </a:r>
          </a:p>
          <a:p>
            <a:pPr lvl="1">
              <a:spcBef>
                <a:spcPts val="1800"/>
              </a:spcBef>
            </a:pPr>
            <a:r>
              <a:rPr lang="pt-BR" dirty="0" err="1"/>
              <a:t>Ex</a:t>
            </a:r>
            <a:r>
              <a:rPr lang="pt-BR" dirty="0"/>
              <a:t>: projeto levará </a:t>
            </a:r>
            <a:r>
              <a:rPr lang="pt-BR" b="1" i="1" dirty="0"/>
              <a:t>72 pessoas-mês </a:t>
            </a:r>
            <a:r>
              <a:rPr lang="pt-BR" dirty="0"/>
              <a:t>de esforço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Como alocar recursos?</a:t>
            </a:r>
          </a:p>
          <a:p>
            <a:pPr lvl="2"/>
            <a:r>
              <a:rPr lang="pt-BR" dirty="0"/>
              <a:t>1 pessoa em 72 meses?</a:t>
            </a:r>
          </a:p>
          <a:p>
            <a:pPr lvl="2"/>
            <a:r>
              <a:rPr lang="pt-BR" dirty="0"/>
              <a:t>72 pessoas em 1 mês?</a:t>
            </a:r>
          </a:p>
          <a:p>
            <a:pPr lvl="2"/>
            <a:r>
              <a:rPr lang="pt-BR" dirty="0"/>
              <a:t>6 pessoas em 12 meses?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Adicionar mais pessoas após um certo </a:t>
            </a:r>
            <a:r>
              <a:rPr lang="pt-BR" b="1" dirty="0"/>
              <a:t>ponto ótimo </a:t>
            </a:r>
            <a:r>
              <a:rPr lang="pt-BR" dirty="0"/>
              <a:t>traz taxas decrescentes de retorno</a:t>
            </a:r>
          </a:p>
        </p:txBody>
      </p:sp>
      <p:sp>
        <p:nvSpPr>
          <p:cNvPr id="4" name="AutoShape 2" descr="Fred Brooks - Wikipedia">
            <a:extLst>
              <a:ext uri="{FF2B5EF4-FFF2-40B4-BE49-F238E27FC236}">
                <a16:creationId xmlns:a16="http://schemas.microsoft.com/office/drawing/2014/main" id="{386FB61A-A7EB-AC03-AC68-E9D35EAFF1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54A0C44-113F-294E-F007-F4FD395742C7}"/>
              </a:ext>
            </a:extLst>
          </p:cNvPr>
          <p:cNvGrpSpPr/>
          <p:nvPr/>
        </p:nvGrpSpPr>
        <p:grpSpPr>
          <a:xfrm>
            <a:off x="7135585" y="4175908"/>
            <a:ext cx="3385458" cy="2454357"/>
            <a:chOff x="7135585" y="4175908"/>
            <a:chExt cx="3385458" cy="245435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3013BB0-A2DC-575E-A7AB-8C5BDAB46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27970" y="4175908"/>
              <a:ext cx="2600688" cy="1771897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4430933-D8C7-8252-E8F1-25F573BCDA41}"/>
                </a:ext>
              </a:extLst>
            </p:cNvPr>
            <p:cNvSpPr txBox="1"/>
            <p:nvPr/>
          </p:nvSpPr>
          <p:spPr>
            <a:xfrm>
              <a:off x="7135585" y="5983934"/>
              <a:ext cx="338545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b="0" i="0" u="none" strike="noStrike" dirty="0">
                  <a:effectLst/>
                  <a:latin typeface="Arial" panose="020B0604020202020204" pitchFamily="34" charset="0"/>
                </a:rPr>
                <a:t>Frederick Brooks</a:t>
              </a:r>
              <a:r>
                <a:rPr lang="pt-BR" b="0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, </a:t>
              </a:r>
              <a:r>
                <a:rPr lang="pt-BR" b="1" i="1" dirty="0" err="1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Mythical</a:t>
              </a:r>
              <a:r>
                <a:rPr lang="pt-BR" b="1" i="1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 Man-</a:t>
              </a:r>
              <a:r>
                <a:rPr lang="pt-BR" b="1" i="1" dirty="0" err="1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Month</a:t>
              </a:r>
              <a:r>
                <a:rPr lang="pt-BR" b="1" i="0" u="none" strike="noStrike" dirty="0">
                  <a:effectLst/>
                  <a:latin typeface="Arial" panose="020B0604020202020204" pitchFamily="34" charset="0"/>
                </a:rPr>
                <a:t> </a:t>
              </a:r>
              <a:r>
                <a:rPr lang="pt-BR" b="0" i="0" u="none" strike="noStrike" dirty="0">
                  <a:effectLst/>
                  <a:latin typeface="Arial" panose="020B0604020202020204" pitchFamily="34" charset="0"/>
                </a:rPr>
                <a:t>(~1975)</a:t>
              </a:r>
              <a:endParaRPr lang="pt-BR" dirty="0"/>
            </a:p>
          </p:txBody>
        </p:sp>
      </p:grpSp>
      <p:sp>
        <p:nvSpPr>
          <p:cNvPr id="10" name="Balão de Fala: Retângulo com Cantos Arredondados 9">
            <a:extLst>
              <a:ext uri="{FF2B5EF4-FFF2-40B4-BE49-F238E27FC236}">
                <a16:creationId xmlns:a16="http://schemas.microsoft.com/office/drawing/2014/main" id="{AC8B655C-06FE-1D7D-5DE7-72AFE19B7820}"/>
              </a:ext>
            </a:extLst>
          </p:cNvPr>
          <p:cNvSpPr/>
          <p:nvPr/>
        </p:nvSpPr>
        <p:spPr>
          <a:xfrm>
            <a:off x="7527970" y="2298555"/>
            <a:ext cx="4544287" cy="1771897"/>
          </a:xfrm>
          <a:prstGeom prst="wedgeRoundRectCallout">
            <a:avLst>
              <a:gd name="adj1" fmla="val 3461"/>
              <a:gd name="adj2" fmla="val 7822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Lei de Brooks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: “Adicionar mais pessoas (</a:t>
            </a:r>
            <a:r>
              <a:rPr lang="pt-BR" sz="2400" b="0" i="1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recursos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) a um projeto já atrasado o tornará ainda mais atrasado.”</a:t>
            </a:r>
            <a:endParaRPr lang="pt-BR" sz="2400" dirty="0"/>
          </a:p>
        </p:txBody>
      </p: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E9336526-9037-E0A8-7A56-030CE30F57BC}"/>
              </a:ext>
            </a:extLst>
          </p:cNvPr>
          <p:cNvSpPr/>
          <p:nvPr/>
        </p:nvSpPr>
        <p:spPr>
          <a:xfrm>
            <a:off x="1313188" y="5265344"/>
            <a:ext cx="5739795" cy="1364921"/>
          </a:xfrm>
          <a:prstGeom prst="wedgeRoundRectCallout">
            <a:avLst>
              <a:gd name="adj1" fmla="val 62035"/>
              <a:gd name="adj2" fmla="val -50479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“Você não pode ter </a:t>
            </a:r>
            <a:r>
              <a:rPr lang="pt-BR" sz="2400" b="1" i="1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um bebê em um mês com nove mulheres </a:t>
            </a:r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(embora possa ser divertido tentar).”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251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D41B4-D175-1C9B-D965-637FF9F1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</a:t>
            </a:r>
            <a:r>
              <a:rPr lang="pt-BR" i="1" dirty="0"/>
              <a:t>Brooks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08A01-1910-9F59-42D3-A21A30A2C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Adding manpower to a late software project makes it later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.“</a:t>
            </a:r>
          </a:p>
          <a:p>
            <a:pPr>
              <a:spcBef>
                <a:spcPts val="2400"/>
              </a:spcBef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Simplificação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generalista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</a:rPr>
              <a:t>Premissas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Leva tempo para </a:t>
            </a:r>
            <a:r>
              <a:rPr lang="pt-BR" b="1" dirty="0"/>
              <a:t>pessoas se tornarem produtivas </a:t>
            </a:r>
            <a:r>
              <a:rPr lang="pt-BR" dirty="0"/>
              <a:t>(tempo de “aceleração”);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Custo de comunicação </a:t>
            </a:r>
            <a:r>
              <a:rPr lang="pt-BR" dirty="0"/>
              <a:t>aumenta conforme o número de pessoas aumenta;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Adicionar mais pessoas pode ajudar em tarefas altamente paralelizáveis (</a:t>
            </a:r>
            <a:r>
              <a:rPr lang="pt-BR" dirty="0" err="1"/>
              <a:t>ex</a:t>
            </a:r>
            <a:r>
              <a:rPr lang="pt-BR" dirty="0"/>
              <a:t>: quebrar pedras, limpar quartos), mas engenharia de software é trabalho especializado;</a:t>
            </a:r>
          </a:p>
          <a:p>
            <a:pPr lvl="2"/>
            <a:r>
              <a:rPr lang="en-US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"nine women can't make a baby in one month"</a:t>
            </a:r>
            <a:endParaRPr lang="pt-BR" i="1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959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D41B4-D175-1C9B-D965-637FF9F1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 de </a:t>
            </a:r>
            <a:r>
              <a:rPr lang="pt-BR" i="1" dirty="0"/>
              <a:t>Brooks</a:t>
            </a:r>
            <a:r>
              <a:rPr lang="pt-BR" dirty="0"/>
              <a:t> - Soluções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08A01-1910-9F59-42D3-A21A30A2C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800"/>
              </a:spcBef>
            </a:pPr>
            <a:r>
              <a:rPr lang="pt-BR" sz="2000" b="1" dirty="0">
                <a:solidFill>
                  <a:srgbClr val="202122"/>
                </a:solidFill>
                <a:latin typeface="Arial" panose="020B0604020202020204" pitchFamily="34" charset="0"/>
              </a:rPr>
              <a:t>Lei só se aplica a projetos atrasados</a:t>
            </a: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Projetos podem ser recolocados em ordem no início do projeto;</a:t>
            </a: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Projeto atrasado ou cronograma otimista?</a:t>
            </a:r>
          </a:p>
          <a:p>
            <a:pPr>
              <a:spcBef>
                <a:spcPts val="1800"/>
              </a:spcBef>
            </a:pPr>
            <a:r>
              <a:rPr lang="pt-BR" sz="2000" b="1" dirty="0">
                <a:solidFill>
                  <a:srgbClr val="202122"/>
                </a:solidFill>
                <a:latin typeface="Arial" panose="020B0604020202020204" pitchFamily="34" charset="0"/>
              </a:rPr>
              <a:t>Quantidade, qualidade e papel das pessoas contam</a:t>
            </a: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Adicionar mais pessoas que o necessário </a:t>
            </a:r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capacidade extra compensa o treinamento e a comunicação;</a:t>
            </a:r>
            <a:endParaRPr lang="pt-BR" sz="1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Adicionar pessoas com expertise complementares (</a:t>
            </a:r>
            <a:r>
              <a:rPr lang="pt-BR" sz="1800" dirty="0" err="1">
                <a:solidFill>
                  <a:srgbClr val="202122"/>
                </a:solidFill>
                <a:latin typeface="Arial" panose="020B0604020202020204" pitchFamily="34" charset="0"/>
              </a:rPr>
              <a:t>ex</a:t>
            </a:r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: qualidade);</a:t>
            </a: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Relações (conhecer base de código, ter amizade com membros do projeto) – nem todo trabalho é igual;</a:t>
            </a:r>
            <a:endParaRPr lang="pt-BR" sz="1800" dirty="0"/>
          </a:p>
          <a:p>
            <a:pPr>
              <a:spcBef>
                <a:spcPts val="1800"/>
              </a:spcBef>
            </a:pPr>
            <a:r>
              <a:rPr lang="pt-BR" sz="2000" b="1" dirty="0"/>
              <a:t>Segmentação da equipe diminui custos de comunicação</a:t>
            </a: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Equipes pequenas resolvem subproblemas pequenos; equipe de topo resolve as integrações;</a:t>
            </a:r>
          </a:p>
          <a:p>
            <a:pPr lvl="1"/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Uso de </a:t>
            </a:r>
            <a:r>
              <a:rPr lang="pt-BR" sz="1800" i="1" dirty="0">
                <a:solidFill>
                  <a:srgbClr val="202122"/>
                </a:solidFill>
                <a:latin typeface="Arial" panose="020B0604020202020204" pitchFamily="34" charset="0"/>
              </a:rPr>
              <a:t>design </a:t>
            </a:r>
            <a:r>
              <a:rPr lang="pt-BR" sz="1800" i="1" dirty="0" err="1">
                <a:solidFill>
                  <a:srgbClr val="202122"/>
                </a:solidFill>
                <a:latin typeface="Arial" panose="020B0604020202020204" pitchFamily="34" charset="0"/>
              </a:rPr>
              <a:t>patterns</a:t>
            </a:r>
            <a:r>
              <a:rPr lang="pt-BR" sz="1800" i="1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(divisão de responsabilidades);</a:t>
            </a:r>
          </a:p>
          <a:p>
            <a:pPr>
              <a:spcBef>
                <a:spcPts val="1800"/>
              </a:spcBef>
            </a:pPr>
            <a:r>
              <a:rPr lang="pt-BR" sz="2000" b="1" dirty="0"/>
              <a:t>Plano Bermuda</a:t>
            </a:r>
          </a:p>
          <a:p>
            <a:pPr lvl="1">
              <a:spcBef>
                <a:spcPts val="600"/>
              </a:spcBef>
            </a:pPr>
            <a:r>
              <a:rPr lang="pt-BR" sz="1800" dirty="0">
                <a:solidFill>
                  <a:srgbClr val="202122"/>
                </a:solidFill>
                <a:latin typeface="Arial" panose="020B0604020202020204" pitchFamily="34" charset="0"/>
              </a:rPr>
              <a:t>Desenvolvedores são removidos do projeto (mandados pra Bermuda – país do Caribe)</a:t>
            </a:r>
          </a:p>
        </p:txBody>
      </p:sp>
    </p:spTree>
    <p:extLst>
      <p:ext uri="{BB962C8B-B14F-4D97-AF65-F5344CB8AC3E}">
        <p14:creationId xmlns:p14="http://schemas.microsoft.com/office/powerpoint/2010/main" val="384303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01168-BB97-1109-849D-05759158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do 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52B049-95C8-5573-B66E-963419604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Até aqui supusemos que a Duração do Projeto é o Esforço dividido pelo tempo – </a:t>
            </a:r>
            <a:r>
              <a:rPr lang="pt-BR" b="1" i="1" dirty="0"/>
              <a:t>mas isso é real</a:t>
            </a:r>
            <a:r>
              <a:rPr lang="pt-BR" dirty="0"/>
              <a:t>?</a:t>
            </a:r>
          </a:p>
        </p:txBody>
      </p:sp>
      <p:pic>
        <p:nvPicPr>
          <p:cNvPr id="2050" name="Picture 2" descr="Project team - Free business and finance icons">
            <a:extLst>
              <a:ext uri="{FF2B5EF4-FFF2-40B4-BE49-F238E27FC236}">
                <a16:creationId xmlns:a16="http://schemas.microsoft.com/office/drawing/2014/main" id="{F55A0E27-79F6-4D91-2388-96828C939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13" y="3193473"/>
            <a:ext cx="2545773" cy="254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36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C25A6-7DD8-6258-C756-92C16487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61E6C-EC4F-B700-18F9-431386D7A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1970: Larry Putnam analisou 200+ projetos e software militares e industriais para responder pergunta: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“</a:t>
            </a:r>
            <a:r>
              <a:rPr lang="pt-BR" i="1" dirty="0"/>
              <a:t>Como o esforço e o tempo de um projeto de software se relacionam?</a:t>
            </a:r>
            <a:r>
              <a:rPr lang="pt-BR" dirty="0"/>
              <a:t>”</a:t>
            </a:r>
          </a:p>
          <a:p>
            <a:pPr lvl="2"/>
            <a:r>
              <a:rPr lang="pt-BR" dirty="0"/>
              <a:t>Prazo de entrega, quantas pessoas ativas por mês, tamanho do SW, produtividade medida</a:t>
            </a:r>
          </a:p>
          <a:p>
            <a:pPr lvl="2"/>
            <a:endParaRPr lang="pt-BR" dirty="0"/>
          </a:p>
          <a:p>
            <a:r>
              <a:rPr lang="pt-BR" dirty="0"/>
              <a:t>Esforço não cresce linearmente com o tempo</a:t>
            </a:r>
          </a:p>
          <a:p>
            <a:pPr lvl="1"/>
            <a:r>
              <a:rPr lang="pt-BR" dirty="0"/>
              <a:t>Curva muito parecida entre diferentes projetos (formato de sino)</a:t>
            </a:r>
          </a:p>
          <a:p>
            <a:pPr lvl="1"/>
            <a:endParaRPr lang="pt-BR" dirty="0"/>
          </a:p>
          <a:p>
            <a:r>
              <a:rPr lang="pt-BR" dirty="0"/>
              <a:t>Tamanho cresce proporcionalmente ao esforço dividido pela duração, mas </a:t>
            </a:r>
            <a:r>
              <a:rPr lang="pt-BR" b="1" dirty="0"/>
              <a:t>não de forma linear</a:t>
            </a:r>
          </a:p>
          <a:p>
            <a:pPr>
              <a:spcBef>
                <a:spcPts val="2400"/>
              </a:spcBef>
            </a:pPr>
            <a:r>
              <a:rPr lang="pt-BR" dirty="0"/>
              <a:t>Projetos com </a:t>
            </a:r>
            <a:r>
              <a:rPr lang="pt-BR" b="1" dirty="0"/>
              <a:t>prazo muito reduzido </a:t>
            </a:r>
            <a:r>
              <a:rPr lang="pt-BR" dirty="0"/>
              <a:t>exigiam muito mais esforço total</a:t>
            </a:r>
          </a:p>
          <a:p>
            <a:pPr>
              <a:spcBef>
                <a:spcPts val="2400"/>
              </a:spcBef>
            </a:pPr>
            <a:r>
              <a:rPr lang="pt-BR" dirty="0"/>
              <a:t>Modelo predizia com boa precisão o # de pessoas ao longo do tempo e o esforço total</a:t>
            </a:r>
          </a:p>
        </p:txBody>
      </p:sp>
    </p:spTree>
    <p:extLst>
      <p:ext uri="{BB962C8B-B14F-4D97-AF65-F5344CB8AC3E}">
        <p14:creationId xmlns:p14="http://schemas.microsoft.com/office/powerpoint/2010/main" val="413570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E2741-9877-3184-91E3-8D647305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393C0-EC2A-E7E9-98CD-B901C0E24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Adicionar pessoas a um projeto aumenta os </a:t>
            </a:r>
            <a:r>
              <a:rPr lang="pt-BR" sz="2400" b="1" u="sng" dirty="0"/>
              <a:t>custos de modo linear</a:t>
            </a:r>
            <a:r>
              <a:rPr lang="pt-BR" sz="2400" dirty="0"/>
              <a:t>, mas sua </a:t>
            </a:r>
            <a:r>
              <a:rPr lang="pt-BR" sz="2400" b="1" u="sng" dirty="0"/>
              <a:t>duração não</a:t>
            </a:r>
          </a:p>
          <a:p>
            <a:pPr>
              <a:spcBef>
                <a:spcPts val="1800"/>
              </a:spcBef>
            </a:pPr>
            <a:r>
              <a:rPr lang="pt-BR" sz="2400" i="1" dirty="0"/>
              <a:t>Putnam </a:t>
            </a:r>
            <a:r>
              <a:rPr lang="pt-BR" sz="2400" i="1" dirty="0" err="1"/>
              <a:t>Norden</a:t>
            </a:r>
            <a:r>
              <a:rPr lang="pt-BR" sz="2400" i="1" dirty="0"/>
              <a:t> </a:t>
            </a:r>
            <a:r>
              <a:rPr lang="pt-BR" sz="2400" dirty="0"/>
              <a:t>descobriu que projetos que </a:t>
            </a:r>
            <a:r>
              <a:rPr lang="pt-BR" sz="2400" b="1" u="sng" dirty="0"/>
              <a:t>exigem comunicação e aprendizado </a:t>
            </a:r>
            <a:r>
              <a:rPr lang="pt-BR" sz="2400" dirty="0"/>
              <a:t>(como os de software), segue uma distribuição de Raleigh (esforço x tempo)</a:t>
            </a:r>
          </a:p>
        </p:txBody>
      </p:sp>
      <p:pic>
        <p:nvPicPr>
          <p:cNvPr id="12290" name="Picture 2" descr="RUP - Rational Unified Process">
            <a:extLst>
              <a:ext uri="{FF2B5EF4-FFF2-40B4-BE49-F238E27FC236}">
                <a16:creationId xmlns:a16="http://schemas.microsoft.com/office/drawing/2014/main" id="{68AF837C-116A-AE6F-F1C9-0AB7508EB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3701257"/>
            <a:ext cx="48768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A Model for Software Development Effort and Cost Estimation">
            <a:extLst>
              <a:ext uri="{FF2B5EF4-FFF2-40B4-BE49-F238E27FC236}">
                <a16:creationId xmlns:a16="http://schemas.microsoft.com/office/drawing/2014/main" id="{D5228F04-F23D-C32C-4363-D230B6025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424" y="4001294"/>
            <a:ext cx="3772947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21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618B1-E507-D282-2901-DC4177D9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B99F0-7C49-EEA0-0461-6498E1199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estimar com histórico de +200 projetos, chegou-se à equação: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E052C3-DD78-89CA-9466-9A4306F00F95}"/>
              </a:ext>
            </a:extLst>
          </p:cNvPr>
          <p:cNvSpPr txBox="1"/>
          <p:nvPr/>
        </p:nvSpPr>
        <p:spPr>
          <a:xfrm>
            <a:off x="4801002" y="3004256"/>
            <a:ext cx="5618641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i="1" dirty="0"/>
              <a:t>L</a:t>
            </a:r>
            <a:r>
              <a:rPr lang="pt-BR" sz="2400" dirty="0"/>
              <a:t> = estimativa de tamanho em </a:t>
            </a:r>
            <a:r>
              <a:rPr lang="pt-BR" sz="2400" dirty="0" err="1"/>
              <a:t>KLOCs</a:t>
            </a:r>
            <a:endParaRPr lang="pt-BR" sz="2400" dirty="0"/>
          </a:p>
          <a:p>
            <a:r>
              <a:rPr lang="pt-BR" sz="2400" i="1" dirty="0"/>
              <a:t>P</a:t>
            </a:r>
            <a:r>
              <a:rPr lang="pt-BR" sz="2400" dirty="0"/>
              <a:t> = constante de tecnologia e maturidade</a:t>
            </a:r>
          </a:p>
          <a:p>
            <a:r>
              <a:rPr lang="pt-BR" sz="2400" i="1" dirty="0"/>
              <a:t>E</a:t>
            </a:r>
            <a:r>
              <a:rPr lang="pt-BR" sz="2400" dirty="0"/>
              <a:t> = </a:t>
            </a:r>
            <a:r>
              <a:rPr lang="pt-BR" sz="2400" b="1" dirty="0"/>
              <a:t>esforço</a:t>
            </a:r>
            <a:r>
              <a:rPr lang="pt-BR" sz="2400" dirty="0"/>
              <a:t> total (em pessoas-mês)</a:t>
            </a:r>
          </a:p>
          <a:p>
            <a:r>
              <a:rPr lang="pt-BR" sz="2400" i="1" dirty="0"/>
              <a:t>t</a:t>
            </a:r>
            <a:r>
              <a:rPr lang="pt-BR" sz="2400" dirty="0"/>
              <a:t> = tempo de desenvolvimento (meses)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7C0D6D5-6E0C-A37F-12EB-5A17A719A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37" y="2538826"/>
            <a:ext cx="2772702" cy="79220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3CA3421-4736-0ABF-ADFF-2EFD2713E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762" y="3655179"/>
            <a:ext cx="1542195" cy="10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141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1ECF0-8AC1-86BD-F433-0126044D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PNR (</a:t>
            </a:r>
            <a:r>
              <a:rPr lang="pt-BR" i="1" dirty="0"/>
              <a:t>Putnam </a:t>
            </a:r>
            <a:r>
              <a:rPr lang="pt-BR" i="1" dirty="0" err="1"/>
              <a:t>Norden</a:t>
            </a:r>
            <a:r>
              <a:rPr lang="pt-BR" i="1" dirty="0"/>
              <a:t>-Rayleigh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060BC-8682-B4CF-9A70-57F5B793D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pt-BR" dirty="0"/>
              <a:t>Cronogramas são elásticos: possível comprimir ou esticar os prazos</a:t>
            </a:r>
          </a:p>
          <a:p>
            <a:pPr lvl="1"/>
            <a:r>
              <a:rPr lang="pt-BR" dirty="0"/>
              <a:t>Relação exponencial entre tempo cronológico e esforço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207A2B-C54F-3B99-D135-B0BD21AD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2494941"/>
            <a:ext cx="9069066" cy="4363059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288665C3-C371-2EDF-E44C-7AEE379DAEA9}"/>
              </a:ext>
            </a:extLst>
          </p:cNvPr>
          <p:cNvGrpSpPr/>
          <p:nvPr/>
        </p:nvGrpSpPr>
        <p:grpSpPr>
          <a:xfrm>
            <a:off x="6122616" y="5040086"/>
            <a:ext cx="1427226" cy="1531555"/>
            <a:chOff x="6122616" y="5040086"/>
            <a:chExt cx="1427226" cy="153155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C92E888-D2CA-2C0B-13B2-59AE9D14F25B}"/>
                </a:ext>
              </a:extLst>
            </p:cNvPr>
            <p:cNvSpPr/>
            <p:nvPr/>
          </p:nvSpPr>
          <p:spPr>
            <a:xfrm>
              <a:off x="6379029" y="5040086"/>
              <a:ext cx="914400" cy="9144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D89FBCA-E38D-C415-F8E0-5E1BF52D3F96}"/>
                </a:ext>
              </a:extLst>
            </p:cNvPr>
            <p:cNvSpPr txBox="1"/>
            <p:nvPr/>
          </p:nvSpPr>
          <p:spPr>
            <a:xfrm>
              <a:off x="6122616" y="5986866"/>
              <a:ext cx="1427226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FF0000"/>
                  </a:solidFill>
                </a:rPr>
                <a:t>Tempo de menor custo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E5B9FC0-7F47-D15B-7A55-BE8865CCD67D}"/>
              </a:ext>
            </a:extLst>
          </p:cNvPr>
          <p:cNvGrpSpPr/>
          <p:nvPr/>
        </p:nvGrpSpPr>
        <p:grpSpPr>
          <a:xfrm>
            <a:off x="2209799" y="2721429"/>
            <a:ext cx="2492828" cy="4063833"/>
            <a:chOff x="2209799" y="2721429"/>
            <a:chExt cx="2492828" cy="4063833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122A755F-5F38-704F-3D9E-50253A2A4662}"/>
                </a:ext>
              </a:extLst>
            </p:cNvPr>
            <p:cNvSpPr/>
            <p:nvPr/>
          </p:nvSpPr>
          <p:spPr>
            <a:xfrm>
              <a:off x="2732315" y="2721429"/>
              <a:ext cx="1427226" cy="34555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0E34D03-BB08-85EB-5F41-E8873A492C01}"/>
                </a:ext>
              </a:extLst>
            </p:cNvPr>
            <p:cNvSpPr txBox="1"/>
            <p:nvPr/>
          </p:nvSpPr>
          <p:spPr>
            <a:xfrm>
              <a:off x="2209799" y="6200487"/>
              <a:ext cx="249282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FF0000"/>
                  </a:solidFill>
                </a:rPr>
                <a:t>Comprimir demais diminui muito a taxa de sucesso</a:t>
              </a:r>
            </a:p>
          </p:txBody>
        </p:sp>
      </p:grpSp>
      <p:sp>
        <p:nvSpPr>
          <p:cNvPr id="12" name="Balão de Fala: Retângulo com Cantos Arredondados 11">
            <a:extLst>
              <a:ext uri="{FF2B5EF4-FFF2-40B4-BE49-F238E27FC236}">
                <a16:creationId xmlns:a16="http://schemas.microsoft.com/office/drawing/2014/main" id="{8B1F35FD-BF16-C3D5-69C1-E241412C67BC}"/>
              </a:ext>
            </a:extLst>
          </p:cNvPr>
          <p:cNvSpPr/>
          <p:nvPr/>
        </p:nvSpPr>
        <p:spPr>
          <a:xfrm>
            <a:off x="7804484" y="4635981"/>
            <a:ext cx="3549316" cy="1675919"/>
          </a:xfrm>
          <a:prstGeom prst="wedgeRoundRectCallout">
            <a:avLst>
              <a:gd name="adj1" fmla="val -61409"/>
              <a:gd name="adj2" fmla="val -162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i="1" dirty="0" err="1">
                <a:solidFill>
                  <a:srgbClr val="252525"/>
                </a:solidFill>
                <a:latin typeface="Roboto" panose="02000000000000000000" pitchFamily="2" charset="0"/>
              </a:rPr>
              <a:t>t</a:t>
            </a:r>
            <a:r>
              <a:rPr lang="pt-BR" sz="2400" b="0" i="1" baseline="-2500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o</a:t>
            </a:r>
            <a:r>
              <a:rPr lang="pt-BR" sz="2400" b="0" i="1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= 2t</a:t>
            </a:r>
            <a:r>
              <a:rPr lang="pt-BR" sz="2400" b="0" i="1" baseline="-2500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</a:t>
            </a:r>
          </a:p>
          <a:p>
            <a:pPr algn="ctr">
              <a:spcBef>
                <a:spcPts val="1200"/>
              </a:spcBef>
            </a:pPr>
            <a:r>
              <a:rPr lang="pt-BR" sz="2000" dirty="0">
                <a:solidFill>
                  <a:srgbClr val="252525"/>
                </a:solidFill>
                <a:latin typeface="Roboto" panose="02000000000000000000" pitchFamily="2" charset="0"/>
              </a:rPr>
              <a:t>Atraso na entrega pode reduzir muito os custos de produção</a:t>
            </a:r>
            <a:endParaRPr lang="pt-BR" sz="2000" dirty="0"/>
          </a:p>
        </p:txBody>
      </p:sp>
      <p:sp>
        <p:nvSpPr>
          <p:cNvPr id="13" name="Balão de Fala: Retângulo com Cantos Arredondados 12">
            <a:extLst>
              <a:ext uri="{FF2B5EF4-FFF2-40B4-BE49-F238E27FC236}">
                <a16:creationId xmlns:a16="http://schemas.microsoft.com/office/drawing/2014/main" id="{C3C6B353-CC3A-4A99-0C56-24CF766C4B24}"/>
              </a:ext>
            </a:extLst>
          </p:cNvPr>
          <p:cNvSpPr/>
          <p:nvPr/>
        </p:nvSpPr>
        <p:spPr>
          <a:xfrm>
            <a:off x="512826" y="4003603"/>
            <a:ext cx="2208063" cy="1675919"/>
          </a:xfrm>
          <a:prstGeom prst="wedgeRoundRectCallout">
            <a:avLst>
              <a:gd name="adj1" fmla="val 80082"/>
              <a:gd name="adj2" fmla="val -2955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/>
              <a:t>Nenhum projeto analisado foi concluído com sucesso aqui</a:t>
            </a:r>
          </a:p>
        </p:txBody>
      </p:sp>
    </p:spTree>
    <p:extLst>
      <p:ext uri="{BB962C8B-B14F-4D97-AF65-F5344CB8AC3E}">
        <p14:creationId xmlns:p14="http://schemas.microsoft.com/office/powerpoint/2010/main" val="257836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EAF74-9062-E043-7332-2D968004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DCE59B-3F99-F1FE-E768-E7CF7B5A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uma fábrica de software estimou um app de delivery usando a Equação de Putnam. Qual o </a:t>
            </a:r>
            <a:r>
              <a:rPr lang="pt-BR" b="1" i="1" dirty="0"/>
              <a:t>esforço </a:t>
            </a:r>
            <a:r>
              <a:rPr lang="pt-BR" dirty="0"/>
              <a:t>(E)?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Tamanho do esforço (L): 40 KLOC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Produtividade da equipe (P): 8 KLOC/</a:t>
            </a:r>
            <a:r>
              <a:rPr lang="pt-BR" dirty="0" err="1"/>
              <a:t>pessoa-ano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Tempo ideal (</a:t>
            </a:r>
            <a:r>
              <a:rPr lang="pt-BR" dirty="0" err="1"/>
              <a:t>T</a:t>
            </a:r>
            <a:r>
              <a:rPr lang="pt-BR" baseline="-25000" dirty="0" err="1"/>
              <a:t>d</a:t>
            </a:r>
            <a:r>
              <a:rPr lang="pt-BR" dirty="0"/>
              <a:t>): 24 meses (2 anos)</a:t>
            </a:r>
          </a:p>
          <a:p>
            <a:pPr lvl="1">
              <a:spcBef>
                <a:spcPts val="1800"/>
              </a:spcBef>
            </a:pPr>
            <a:endParaRPr lang="pt-BR" dirty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Estime o esforço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Estime o esforço para 9 meses (0,75 ano)</a:t>
            </a:r>
          </a:p>
          <a:p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356056-7971-E1BF-899A-988E86E40CF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871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E2DD-E7BF-75DE-5369-C98386B7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C67AD-446F-F615-99F4-745AC4ED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PNR (</a:t>
            </a:r>
            <a:r>
              <a:rPr lang="pt-BR" i="1" dirty="0"/>
              <a:t>Putnam </a:t>
            </a:r>
            <a:r>
              <a:rPr lang="pt-BR" i="1" dirty="0" err="1"/>
              <a:t>Norden</a:t>
            </a:r>
            <a:r>
              <a:rPr lang="pt-BR" i="1" dirty="0"/>
              <a:t>-Rayleigh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7982E6-019B-4F27-B525-65D8DAEC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uma fábrica de software estimou um app de delivery usando a Equação de Putnam. Qual o </a:t>
            </a:r>
            <a:r>
              <a:rPr lang="pt-BR" b="1" i="1" dirty="0"/>
              <a:t>esforço </a:t>
            </a:r>
            <a:r>
              <a:rPr lang="pt-BR" dirty="0"/>
              <a:t>(E)?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Tamanho do esforço (L): 40 KLOC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Produtividade da equipe (P): 8 KLOC/</a:t>
            </a:r>
            <a:r>
              <a:rPr lang="pt-BR" dirty="0" err="1"/>
              <a:t>pessoa-ano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Tempo ideal (</a:t>
            </a:r>
            <a:r>
              <a:rPr lang="pt-BR" dirty="0" err="1"/>
              <a:t>T</a:t>
            </a:r>
            <a:r>
              <a:rPr lang="pt-BR" baseline="-25000" dirty="0" err="1"/>
              <a:t>d</a:t>
            </a:r>
            <a:r>
              <a:rPr lang="pt-BR" dirty="0"/>
              <a:t>): 24 meses (2 anos)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2FCAF3-8C30-E360-EEC0-91B9244A3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89" y="4634446"/>
            <a:ext cx="1542195" cy="10988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75B50DD-75A3-1431-1E16-DBD291FC1185}"/>
                  </a:ext>
                </a:extLst>
              </p:cNvPr>
              <p:cNvSpPr txBox="1"/>
              <p:nvPr/>
            </p:nvSpPr>
            <p:spPr>
              <a:xfrm>
                <a:off x="4133247" y="4634446"/>
                <a:ext cx="7684219" cy="9572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i="1" dirty="0"/>
                  <a:t>E</a:t>
                </a:r>
                <a:r>
                  <a:rPr lang="pt-BR" sz="3600" i="1" baseline="-25000" dirty="0" err="1"/>
                  <a:t>ideal</a:t>
                </a:r>
                <a:r>
                  <a:rPr lang="pt-BR" sz="3600" i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sz="3600" i="1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512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pt-BR" sz="3600" i="1" dirty="0"/>
                  <a:t> =  7,8 homens-ano</a:t>
                </a: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75B50DD-75A3-1431-1E16-DBD291FC1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247" y="4634446"/>
                <a:ext cx="7684219" cy="957250"/>
              </a:xfrm>
              <a:prstGeom prst="rect">
                <a:avLst/>
              </a:prstGeom>
              <a:blipFill>
                <a:blip r:embed="rId4"/>
                <a:stretch>
                  <a:fillRect l="-2379" r="-1427" b="-11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48C97AEA-4D8E-BBB6-4E74-D02843FD4175}"/>
              </a:ext>
            </a:extLst>
          </p:cNvPr>
          <p:cNvSpPr/>
          <p:nvPr/>
        </p:nvSpPr>
        <p:spPr>
          <a:xfrm>
            <a:off x="3409243" y="5955418"/>
            <a:ext cx="4380089" cy="7129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~4 pessoas por 2 ano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CAF279-C9D4-BFF3-8362-8747C627123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3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0103-9945-1AB3-D38E-1C50322D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9F59E-3EC1-287E-68CF-F455EA07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PNR (</a:t>
            </a:r>
            <a:r>
              <a:rPr lang="pt-BR" i="1" dirty="0"/>
              <a:t>Putnam </a:t>
            </a:r>
            <a:r>
              <a:rPr lang="pt-BR" i="1" dirty="0" err="1"/>
              <a:t>Norden</a:t>
            </a:r>
            <a:r>
              <a:rPr lang="pt-BR" i="1" dirty="0"/>
              <a:t>-Rayleigh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45C205-5DD9-47C4-C2A2-E061DC8D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uma fábrica de software estimou um app de delivery usando a Equação de Putnam. </a:t>
            </a:r>
          </a:p>
          <a:p>
            <a:pPr>
              <a:spcBef>
                <a:spcPts val="1800"/>
              </a:spcBef>
            </a:pPr>
            <a:r>
              <a:rPr lang="pt-BR" dirty="0">
                <a:solidFill>
                  <a:srgbClr val="FF0000"/>
                </a:solidFill>
              </a:rPr>
              <a:t>O patrocinador do projeto (cliente) </a:t>
            </a:r>
            <a:r>
              <a:rPr lang="pt-BR" u="sng" dirty="0">
                <a:solidFill>
                  <a:srgbClr val="FF0000"/>
                </a:solidFill>
              </a:rPr>
              <a:t>aceita o preço</a:t>
            </a:r>
            <a:r>
              <a:rPr lang="pt-BR" dirty="0">
                <a:solidFill>
                  <a:srgbClr val="FF0000"/>
                </a:solidFill>
              </a:rPr>
              <a:t>, mas exige a entrega em </a:t>
            </a:r>
            <a:r>
              <a:rPr lang="pt-BR" b="1" u="none" strike="noStrike" dirty="0">
                <a:solidFill>
                  <a:srgbClr val="FF0000"/>
                </a:solidFill>
                <a:effectLst/>
                <a:latin typeface="Google Sans"/>
              </a:rPr>
              <a:t>18 meses (</a:t>
            </a:r>
            <a:r>
              <a:rPr lang="pt-BR" b="1" i="1" u="none" strike="noStrike" dirty="0">
                <a:solidFill>
                  <a:srgbClr val="FF0000"/>
                </a:solidFill>
                <a:effectLst/>
                <a:latin typeface="Google Sans"/>
              </a:rPr>
              <a:t>t</a:t>
            </a:r>
            <a:r>
              <a:rPr lang="pt-BR" b="1" u="none" strike="noStrike" dirty="0">
                <a:solidFill>
                  <a:srgbClr val="FF0000"/>
                </a:solidFill>
                <a:effectLst/>
                <a:latin typeface="Google Sans"/>
              </a:rPr>
              <a:t>)</a:t>
            </a:r>
            <a:r>
              <a:rPr lang="pt-BR" dirty="0">
                <a:solidFill>
                  <a:srgbClr val="FF0000"/>
                </a:solidFill>
              </a:rPr>
              <a:t> em vez de 24, alegando uma janela de mercado imperdível.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E77A93-86AC-17AE-5F21-190B9D74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89" y="4634446"/>
            <a:ext cx="1542195" cy="10988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5B03C4E-4E9D-0971-178D-96F48AA11C74}"/>
                  </a:ext>
                </a:extLst>
              </p:cNvPr>
              <p:cNvSpPr txBox="1"/>
              <p:nvPr/>
            </p:nvSpPr>
            <p:spPr>
              <a:xfrm>
                <a:off x="2864315" y="4634446"/>
                <a:ext cx="8447249" cy="998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i="1" dirty="0"/>
                  <a:t>E</a:t>
                </a:r>
                <a:r>
                  <a:rPr lang="pt-BR" sz="3600" i="1" baseline="-25000" dirty="0" err="1"/>
                  <a:t>ideal</a:t>
                </a:r>
                <a:r>
                  <a:rPr lang="pt-BR" sz="3600" i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pt-BR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pt-BR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1,5</m:t>
                            </m:r>
                          </m:e>
                          <m:sup>
                            <m:r>
                              <a:rPr lang="pt-BR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sz="3600" i="1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512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pt-BR" sz="3600" b="0" i="1" smtClean="0">
                            <a:latin typeface="Cambria Math" panose="02040503050406030204" pitchFamily="18" charset="0"/>
                          </a:rPr>
                          <m:t>5,06</m:t>
                        </m:r>
                      </m:den>
                    </m:f>
                  </m:oMath>
                </a14:m>
                <a:r>
                  <a:rPr lang="pt-BR" sz="3600" i="1" dirty="0"/>
                  <a:t> =  24,7 homens-ano</a:t>
                </a: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5B03C4E-4E9D-0971-178D-96F48AA11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315" y="4634446"/>
                <a:ext cx="8447249" cy="998863"/>
              </a:xfrm>
              <a:prstGeom prst="rect">
                <a:avLst/>
              </a:prstGeom>
              <a:blipFill>
                <a:blip r:embed="rId4"/>
                <a:stretch>
                  <a:fillRect l="-2237" r="-1154" b="-67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44FCC328-91C8-C5C8-1E7A-D66CCF0E575A}"/>
              </a:ext>
            </a:extLst>
          </p:cNvPr>
          <p:cNvSpPr/>
          <p:nvPr/>
        </p:nvSpPr>
        <p:spPr>
          <a:xfrm>
            <a:off x="5923843" y="5955418"/>
            <a:ext cx="4380089" cy="7129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Aumento de 25% no prazo </a:t>
            </a:r>
            <a:r>
              <a:rPr lang="pt-BR" sz="2400" b="1" dirty="0">
                <a:sym typeface="Wingdings" panose="05000000000000000000" pitchFamily="2" charset="2"/>
              </a:rPr>
              <a:t> aumento de 216% no esforço</a:t>
            </a:r>
            <a:endParaRPr lang="pt-BR" sz="2400" b="1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751A41D-6CD2-032A-8FD2-17CB3A22B509}"/>
              </a:ext>
            </a:extLst>
          </p:cNvPr>
          <p:cNvSpPr/>
          <p:nvPr/>
        </p:nvSpPr>
        <p:spPr>
          <a:xfrm>
            <a:off x="5599287" y="3786545"/>
            <a:ext cx="4380089" cy="7129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Se -25% de prazo </a:t>
            </a:r>
            <a:r>
              <a:rPr lang="pt-BR" sz="2400" b="1" dirty="0">
                <a:sym typeface="Wingdings" panose="05000000000000000000" pitchFamily="2" charset="2"/>
              </a:rPr>
              <a:t> +25% de esforço?</a:t>
            </a:r>
            <a:endParaRPr lang="pt-BR" sz="2400" b="1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2AAB94-DEAE-3487-9C8C-AD0263C89F4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748D540-70F6-7227-EDF7-D44BD964740C}"/>
              </a:ext>
            </a:extLst>
          </p:cNvPr>
          <p:cNvSpPr/>
          <p:nvPr/>
        </p:nvSpPr>
        <p:spPr>
          <a:xfrm>
            <a:off x="1190977" y="5955418"/>
            <a:ext cx="4380089" cy="7129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~16 pessoas por 1,5 ano</a:t>
            </a:r>
          </a:p>
        </p:txBody>
      </p:sp>
    </p:spTree>
    <p:extLst>
      <p:ext uri="{BB962C8B-B14F-4D97-AF65-F5344CB8AC3E}">
        <p14:creationId xmlns:p14="http://schemas.microsoft.com/office/powerpoint/2010/main" val="360769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7D167-BB3D-5070-0A29-1DC5CA0A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Curva PNR (</a:t>
            </a:r>
            <a:r>
              <a:rPr lang="pt-BR" i="1" dirty="0"/>
              <a:t>Putnam </a:t>
            </a:r>
            <a:r>
              <a:rPr lang="pt-BR" i="1" dirty="0" err="1"/>
              <a:t>Norden</a:t>
            </a:r>
            <a:r>
              <a:rPr lang="pt-BR" i="1" dirty="0"/>
              <a:t>-Rayleigh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3D0E5B-164E-DFA7-56B8-18C2A467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Caiu em desuso com as metodologias ágeis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KLOC não é mais usada como métrica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Assume pico de esforço no modelo Cascata; sprints são constantes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Variação de pessoal ao longo das fases; equipes ágeis são constantes</a:t>
            </a:r>
          </a:p>
          <a:p>
            <a:pPr lvl="1"/>
            <a:endParaRPr lang="pt-BR" dirty="0"/>
          </a:p>
          <a:p>
            <a:r>
              <a:rPr lang="pt-BR" dirty="0"/>
              <a:t>Conceito ainda se aplica?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Limite da compressão impossível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Validação empírica da Lei de Brooks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Descoberta de defeitos segue a mesma curva de Rayleigh</a:t>
            </a:r>
          </a:p>
        </p:txBody>
      </p:sp>
    </p:spTree>
    <p:extLst>
      <p:ext uri="{BB962C8B-B14F-4D97-AF65-F5344CB8AC3E}">
        <p14:creationId xmlns:p14="http://schemas.microsoft.com/office/powerpoint/2010/main" val="199960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cronogramas;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Problema do tempo para execução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b="1" dirty="0"/>
              <a:t>Programação de projetos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Representação de cronogramas</a:t>
            </a:r>
          </a:p>
          <a:p>
            <a:pPr lvl="3"/>
            <a:r>
              <a:rPr lang="pt-BR" dirty="0"/>
              <a:t>Gráfico de </a:t>
            </a:r>
            <a:r>
              <a:rPr lang="pt-BR" dirty="0" err="1"/>
              <a:t>Gantt</a:t>
            </a:r>
            <a:r>
              <a:rPr lang="pt-BR" dirty="0"/>
              <a:t>, COM, alocação de recursos</a:t>
            </a:r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Orçamento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Preço</a:t>
            </a:r>
          </a:p>
          <a:p>
            <a:pPr marL="1371600" lvl="2" indent="-457200">
              <a:buFont typeface="+mj-lt"/>
              <a:buAutoNum type="romanLcPeriod"/>
            </a:pPr>
            <a:r>
              <a:rPr lang="pt-BR" dirty="0"/>
              <a:t>Cronograma físico-financeiro;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CC6955-573E-7060-DA80-5D557EAB5AF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575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1B033-7251-1A8A-0259-195E715B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C37EC5-CC6A-E2C5-2457-6E11B14D1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Curva de Putnam dá a intuição e um número: esforço total necessário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Não é um plano, mas uma previsão agregada</a:t>
            </a:r>
          </a:p>
          <a:p>
            <a:pPr>
              <a:spcBef>
                <a:spcPts val="2400"/>
              </a:spcBef>
            </a:pPr>
            <a:r>
              <a:rPr lang="pt-BR" dirty="0"/>
              <a:t>Cronograma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Transforma esse número em sequência real de tarefas, pessoas e datas</a:t>
            </a:r>
          </a:p>
        </p:txBody>
      </p:sp>
    </p:spTree>
    <p:extLst>
      <p:ext uri="{BB962C8B-B14F-4D97-AF65-F5344CB8AC3E}">
        <p14:creationId xmlns:p14="http://schemas.microsoft.com/office/powerpoint/2010/main" val="2403636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B625A-B3E1-4DC2-8A19-0C56D31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87ACA-6483-68B2-C886-C2E944AB8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Ação que distribui o esforço estimado por toda a duração planejada do projeto, alocando os esforços para tarefas específicas </a:t>
            </a:r>
          </a:p>
          <a:p>
            <a:pPr>
              <a:spcBef>
                <a:spcPts val="2400"/>
              </a:spcBef>
            </a:pPr>
            <a:r>
              <a:rPr lang="pt-BR" dirty="0"/>
              <a:t>Evolui com o progresso do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Deve servir como </a:t>
            </a:r>
            <a:r>
              <a:rPr lang="pt-BR" b="1" dirty="0"/>
              <a:t>GUIA</a:t>
            </a:r>
            <a:r>
              <a:rPr lang="pt-BR" dirty="0"/>
              <a:t> para </a:t>
            </a:r>
            <a:r>
              <a:rPr lang="pt-BR" b="1" dirty="0">
                <a:solidFill>
                  <a:srgbClr val="FF0000"/>
                </a:solidFill>
              </a:rPr>
              <a:t>acompanhar e controlar cada etapa no processo de software</a:t>
            </a:r>
          </a:p>
        </p:txBody>
      </p:sp>
      <p:pic>
        <p:nvPicPr>
          <p:cNvPr id="2050" name="Picture 2" descr="Work Breakdown Structure (WBS) Template | monday.com">
            <a:extLst>
              <a:ext uri="{FF2B5EF4-FFF2-40B4-BE49-F238E27FC236}">
                <a16:creationId xmlns:a16="http://schemas.microsoft.com/office/drawing/2014/main" id="{E006223E-67EB-15C1-14A3-31649C22E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2" t="25183" r="4838" b="17779"/>
          <a:stretch/>
        </p:blipFill>
        <p:spPr bwMode="auto">
          <a:xfrm>
            <a:off x="3254827" y="4441371"/>
            <a:ext cx="5171682" cy="241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567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0E64A-786C-4561-25A5-B5A1C54A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85040D-72BC-34EF-7090-CB7AC0D16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Elemento-chave do planejamento, ao definir: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Em que </a:t>
            </a:r>
            <a:r>
              <a:rPr lang="pt-BR" b="1" dirty="0"/>
              <a:t>ordem</a:t>
            </a:r>
            <a:r>
              <a:rPr lang="pt-BR" dirty="0"/>
              <a:t> deve ser feito;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Quanto </a:t>
            </a:r>
            <a:r>
              <a:rPr lang="pt-BR" b="1" dirty="0"/>
              <a:t>tempo</a:t>
            </a:r>
            <a:r>
              <a:rPr lang="pt-BR" dirty="0"/>
              <a:t> leva para fazer;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Quem</a:t>
            </a:r>
            <a:r>
              <a:rPr lang="pt-BR" dirty="0"/>
              <a:t> vai fazer;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Quais os </a:t>
            </a:r>
            <a:r>
              <a:rPr lang="pt-BR" b="1" dirty="0"/>
              <a:t>checkpoints</a:t>
            </a:r>
            <a:r>
              <a:rPr lang="pt-BR" dirty="0"/>
              <a:t>;</a:t>
            </a:r>
          </a:p>
          <a:p>
            <a:pPr>
              <a:spcBef>
                <a:spcPts val="2400"/>
              </a:spcBef>
            </a:pPr>
            <a:r>
              <a:rPr lang="pt-BR" dirty="0"/>
              <a:t>Sempre existem, mas em diferentes graus de detalhamento: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Métodos tradicionais</a:t>
            </a:r>
            <a:r>
              <a:rPr lang="pt-BR" dirty="0"/>
              <a:t>: cronograma detalhado com atividades;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Métodos ágeis</a:t>
            </a:r>
            <a:r>
              <a:rPr lang="pt-BR" dirty="0"/>
              <a:t>: cronograma superficial (</a:t>
            </a:r>
            <a:r>
              <a:rPr lang="pt-BR" i="1" dirty="0" err="1"/>
              <a:t>roadmap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900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08249-C078-3A7D-A99A-DFD5D42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EAP (WBS) x Cronograma</a:t>
            </a:r>
          </a:p>
        </p:txBody>
      </p:sp>
      <p:pic>
        <p:nvPicPr>
          <p:cNvPr id="1026" name="Picture 2" descr="4. Project Schedules - Applied Software Project Management [Book]">
            <a:extLst>
              <a:ext uri="{FF2B5EF4-FFF2-40B4-BE49-F238E27FC236}">
                <a16:creationId xmlns:a16="http://schemas.microsoft.com/office/drawing/2014/main" id="{48AF5CC9-FCF3-4866-E858-E2260E171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29" y="2158659"/>
            <a:ext cx="5023719" cy="377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16F28C8-240F-2D22-DA45-C0BF1476C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44" y="2371158"/>
            <a:ext cx="4463142" cy="3347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744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67116-5CD7-93E2-A8B8-B5B89D16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de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73FA6-1F21-2166-C94C-A30DC7961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Quebra-se trabalho total em tarefas separadas e estimar esforço para sua conclusão;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Devem durar entre 4h e 40h (heurística variável) na EAP || Story point &lt; 8;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Ser dividida caso seja maior que isso;</a:t>
            </a:r>
          </a:p>
          <a:p>
            <a:pPr>
              <a:spcBef>
                <a:spcPts val="2400"/>
              </a:spcBef>
            </a:pPr>
            <a:r>
              <a:rPr lang="pt-BR" dirty="0"/>
              <a:t>Definir atividades em paralelo</a:t>
            </a:r>
          </a:p>
          <a:p>
            <a:pPr lvl="1"/>
            <a:r>
              <a:rPr lang="pt-BR" dirty="0"/>
              <a:t>Diferentes pessoas em diferentes componentes;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Necessidade de coordenar e organizar o trabalho;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Não introduzir dependências desnecessárias;</a:t>
            </a:r>
          </a:p>
        </p:txBody>
      </p:sp>
    </p:spTree>
    <p:extLst>
      <p:ext uri="{BB962C8B-B14F-4D97-AF65-F5344CB8AC3E}">
        <p14:creationId xmlns:p14="http://schemas.microsoft.com/office/powerpoint/2010/main" val="60329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67116-5CD7-93E2-A8B8-B5B89D16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de projetos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73FA6-1F21-2166-C94C-A30DC7961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Considerar possibilidade de coisas darem errado</a:t>
            </a:r>
          </a:p>
          <a:p>
            <a:pPr lvl="1"/>
            <a:r>
              <a:rPr lang="pt-BR" dirty="0"/>
              <a:t>Pessoas doentes ou que saem do projeto;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Hardware pode falhar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Software/hardware de apoio ser entregue com atraso;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Componentes novos e tecnicamente avançados demorarem mais tempo que o previsto</a:t>
            </a:r>
          </a:p>
          <a:p>
            <a:pPr lvl="1"/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Prática</a:t>
            </a:r>
            <a:r>
              <a:rPr lang="pt-BR" dirty="0"/>
              <a:t>: estimar como se nada desse errado e aumentar estimativa para cobrir problemas imprevistos;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Fator de contingência: </a:t>
            </a:r>
            <a:r>
              <a:rPr lang="pt-BR" b="1" dirty="0">
                <a:solidFill>
                  <a:srgbClr val="FF0000"/>
                </a:solidFill>
              </a:rPr>
              <a:t>~10% - 30% </a:t>
            </a:r>
            <a:r>
              <a:rPr lang="pt-BR" dirty="0"/>
              <a:t>para o esforço e o tempo;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Depende do tipo de projeto, deadlines, normas seguidas, experiência da equipe</a:t>
            </a:r>
          </a:p>
        </p:txBody>
      </p:sp>
    </p:spTree>
    <p:extLst>
      <p:ext uri="{BB962C8B-B14F-4D97-AF65-F5344CB8AC3E}">
        <p14:creationId xmlns:p14="http://schemas.microsoft.com/office/powerpoint/2010/main" val="144469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E916D-0320-1C00-ACE8-1FD46BD4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281BC6-878F-F3DD-43D6-A36818DC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Centenas de pequenas tarefas devem ocorrer para se atingir o objetivo maior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Algumas estão fora da rotina principal e podem ser completadas sem muita preocupação quanto ao impacto na data de entrega do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Outras tarefas estão no </a:t>
            </a:r>
            <a:r>
              <a:rPr lang="pt-BR" b="1" dirty="0">
                <a:solidFill>
                  <a:srgbClr val="FF0000"/>
                </a:solidFill>
              </a:rPr>
              <a:t>caminho crítico</a:t>
            </a:r>
            <a:r>
              <a:rPr lang="pt-BR" dirty="0"/>
              <a:t>. Se essas tarefas “críticas” atrasarem, o prazo de entrega do projeto inteiro será ameaçado</a:t>
            </a:r>
          </a:p>
        </p:txBody>
      </p:sp>
      <p:pic>
        <p:nvPicPr>
          <p:cNvPr id="1026" name="Picture 2" descr="Project manager - Free business and finance icons">
            <a:extLst>
              <a:ext uri="{FF2B5EF4-FFF2-40B4-BE49-F238E27FC236}">
                <a16:creationId xmlns:a16="http://schemas.microsoft.com/office/drawing/2014/main" id="{23870FF4-39F5-73C9-5ECC-50E434226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971" y="4517572"/>
            <a:ext cx="2207986" cy="22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FE92737-58D0-24E1-CD8E-A99A5A1BFBDD}"/>
              </a:ext>
            </a:extLst>
          </p:cNvPr>
          <p:cNvSpPr txBox="1"/>
          <p:nvPr/>
        </p:nvSpPr>
        <p:spPr>
          <a:xfrm>
            <a:off x="3881443" y="5015547"/>
            <a:ext cx="3554627" cy="14773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b="1" dirty="0"/>
              <a:t>Papel do gerente de projeto</a:t>
            </a:r>
            <a:r>
              <a:rPr lang="pt-BR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Definir todas as tarefas;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Criar rede de interdependências;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Identificar tarefas críticas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Acompanhar o progresso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048553F-21DC-71D0-0FAA-FC747C753C91}"/>
              </a:ext>
            </a:extLst>
          </p:cNvPr>
          <p:cNvGrpSpPr/>
          <p:nvPr/>
        </p:nvGrpSpPr>
        <p:grpSpPr>
          <a:xfrm>
            <a:off x="9367157" y="4757661"/>
            <a:ext cx="2705100" cy="1967897"/>
            <a:chOff x="7135585" y="4175908"/>
            <a:chExt cx="3385458" cy="246284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DAEAF809-16DB-238F-273A-726F24958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7970" y="4175908"/>
              <a:ext cx="2600688" cy="1771897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BF18677-8EFA-FA3D-EA48-DA28E9FA50CC}"/>
                </a:ext>
              </a:extLst>
            </p:cNvPr>
            <p:cNvSpPr txBox="1"/>
            <p:nvPr/>
          </p:nvSpPr>
          <p:spPr>
            <a:xfrm>
              <a:off x="7135585" y="5983934"/>
              <a:ext cx="3385458" cy="6548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0" i="0" u="none" strike="noStrike" dirty="0">
                  <a:effectLst/>
                  <a:latin typeface="Arial" panose="020B0604020202020204" pitchFamily="34" charset="0"/>
                </a:rPr>
                <a:t>Frederick Brooks</a:t>
              </a:r>
              <a:r>
                <a:rPr lang="pt-BR" sz="1400" b="0" i="0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, </a:t>
              </a:r>
              <a:r>
                <a:rPr lang="pt-BR" sz="1400" b="1" i="1" dirty="0" err="1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Mythical</a:t>
              </a:r>
              <a:r>
                <a:rPr lang="pt-BR" sz="1400" b="1" i="1" dirty="0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 Man-</a:t>
              </a:r>
              <a:r>
                <a:rPr lang="pt-BR" sz="1400" b="1" i="1" dirty="0" err="1">
                  <a:solidFill>
                    <a:srgbClr val="202122"/>
                  </a:solidFill>
                  <a:effectLst/>
                  <a:latin typeface="Arial" panose="020B0604020202020204" pitchFamily="34" charset="0"/>
                </a:rPr>
                <a:t>Month</a:t>
              </a:r>
              <a:r>
                <a:rPr lang="pt-BR" sz="1400" b="1" i="0" u="none" strike="noStrike" dirty="0">
                  <a:effectLst/>
                  <a:latin typeface="Arial" panose="020B0604020202020204" pitchFamily="34" charset="0"/>
                </a:rPr>
                <a:t> </a:t>
              </a:r>
              <a:r>
                <a:rPr lang="pt-BR" sz="1400" b="0" i="0" u="none" strike="noStrike" dirty="0">
                  <a:effectLst/>
                  <a:latin typeface="Arial" panose="020B0604020202020204" pitchFamily="34" charset="0"/>
                </a:rPr>
                <a:t>(~1975)</a:t>
              </a:r>
              <a:endParaRPr lang="pt-BR" sz="1400" dirty="0"/>
            </a:p>
          </p:txBody>
        </p:sp>
      </p:grpSp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D32365E1-5A24-0EEB-B31F-140723AC9F87}"/>
              </a:ext>
            </a:extLst>
          </p:cNvPr>
          <p:cNvSpPr/>
          <p:nvPr/>
        </p:nvSpPr>
        <p:spPr>
          <a:xfrm>
            <a:off x="4056388" y="5099027"/>
            <a:ext cx="5739795" cy="1364921"/>
          </a:xfrm>
          <a:prstGeom prst="wedgeRoundRectCallout">
            <a:avLst>
              <a:gd name="adj1" fmla="val 55966"/>
              <a:gd name="adj2" fmla="val -2655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“</a:t>
            </a:r>
            <a:r>
              <a:rPr lang="pt-BR" sz="2400" dirty="0">
                <a:solidFill>
                  <a:srgbClr val="252525"/>
                </a:solidFill>
                <a:latin typeface="Roboto" panose="02000000000000000000" pitchFamily="2" charset="0"/>
              </a:rPr>
              <a:t>Como é que os projetos de software</a:t>
            </a:r>
          </a:p>
          <a:p>
            <a:pPr algn="ctr"/>
            <a:r>
              <a:rPr lang="pt-BR" sz="2400" dirty="0">
                <a:solidFill>
                  <a:srgbClr val="252525"/>
                </a:solidFill>
                <a:latin typeface="Roboto" panose="02000000000000000000" pitchFamily="2" charset="0"/>
              </a:rPr>
              <a:t>acabam atrasando? Um dia de</a:t>
            </a:r>
          </a:p>
          <a:p>
            <a:pPr algn="ctr"/>
            <a:r>
              <a:rPr lang="pt-BR" sz="2400" dirty="0">
                <a:solidFill>
                  <a:srgbClr val="252525"/>
                </a:solidFill>
                <a:latin typeface="Roboto" panose="02000000000000000000" pitchFamily="2" charset="0"/>
              </a:rPr>
              <a:t>cada vez”.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6226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BE2BE-1DE4-544D-04BE-782D122A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Marcos do 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065F6-09A4-F363-E0BB-BDC69B05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Além das atividades, os cronogramas definem os </a:t>
            </a:r>
            <a:r>
              <a:rPr lang="pt-BR" b="1" dirty="0"/>
              <a:t>marcos</a:t>
            </a:r>
            <a:r>
              <a:rPr lang="pt-BR" dirty="0"/>
              <a:t> (</a:t>
            </a:r>
            <a:r>
              <a:rPr lang="pt-BR" i="1" dirty="0" err="1"/>
              <a:t>milestones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Representam o encerramento de algum etapa;</a:t>
            </a:r>
          </a:p>
          <a:p>
            <a:pPr lvl="1"/>
            <a:r>
              <a:rPr lang="pt-BR" dirty="0"/>
              <a:t>Bom momento para avaliar o andamento do projeto;</a:t>
            </a:r>
          </a:p>
          <a:p>
            <a:pPr lvl="1"/>
            <a:r>
              <a:rPr lang="pt-BR" dirty="0"/>
              <a:t>Decisões, entregas, acordos;</a:t>
            </a:r>
          </a:p>
          <a:p>
            <a:pPr lvl="1"/>
            <a:endParaRPr lang="pt-BR" dirty="0"/>
          </a:p>
          <a:p>
            <a:r>
              <a:rPr lang="pt-BR" dirty="0"/>
              <a:t>Viagem longa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B1D696-F084-534C-3D18-05FCFA56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10" y="4360877"/>
            <a:ext cx="9512119" cy="231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4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08249-C078-3A7D-A99A-DFD5D42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Marcos do cronograma</a:t>
            </a:r>
          </a:p>
        </p:txBody>
      </p:sp>
      <p:pic>
        <p:nvPicPr>
          <p:cNvPr id="4098" name="Picture 2" descr="Top 10 Project Milestone Templates with Samples and Examples">
            <a:extLst>
              <a:ext uri="{FF2B5EF4-FFF2-40B4-BE49-F238E27FC236}">
                <a16:creationId xmlns:a16="http://schemas.microsoft.com/office/drawing/2014/main" id="{C24B3A4F-6CC1-155E-04DC-936CFD7D9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9" b="11429"/>
          <a:stretch/>
        </p:blipFill>
        <p:spPr bwMode="auto">
          <a:xfrm>
            <a:off x="0" y="1948543"/>
            <a:ext cx="12192000" cy="469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431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0794B-0F9A-D938-D5EA-431E2FB8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0D9D2E-AC90-36F4-7A74-E98BE45F9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052815-4495-1A35-0C92-7FD65B5D1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0"/>
            <a:ext cx="7034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469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DFAC4-54DF-2A2F-2549-106D0C4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Discussão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A85D81-5606-379D-D274-2D47649B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seriam os </a:t>
            </a:r>
            <a:r>
              <a:rPr lang="pt-BR" i="1" dirty="0" err="1"/>
              <a:t>milestones</a:t>
            </a:r>
            <a:r>
              <a:rPr lang="pt-BR" i="1" dirty="0"/>
              <a:t> </a:t>
            </a:r>
            <a:r>
              <a:rPr lang="pt-BR" dirty="0"/>
              <a:t>do Churrasco da turma?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CEC90A1-8C11-15AA-C8F0-C06DB6A9B89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971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cronogramas;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Problema do tempo para execução</a:t>
            </a:r>
          </a:p>
          <a:p>
            <a:pPr marL="1371600" lvl="2" indent="-457200">
              <a:buFont typeface="+mj-lt"/>
              <a:buAutoNum type="romanLcPeriod"/>
            </a:pPr>
            <a:r>
              <a:rPr lang="pt-BR" dirty="0"/>
              <a:t>Programação de projetos</a:t>
            </a:r>
          </a:p>
          <a:p>
            <a:pPr marL="1371600" lvl="2" indent="-457200">
              <a:buFont typeface="+mj-lt"/>
              <a:buAutoNum type="romanLcPeriod"/>
            </a:pPr>
            <a:r>
              <a:rPr lang="pt-BR" b="1" dirty="0"/>
              <a:t>Representação de cronogramas</a:t>
            </a:r>
          </a:p>
          <a:p>
            <a:pPr lvl="3"/>
            <a:r>
              <a:rPr lang="pt-BR" dirty="0"/>
              <a:t>Gráfico de </a:t>
            </a:r>
            <a:r>
              <a:rPr lang="pt-BR" dirty="0" err="1"/>
              <a:t>Gantt</a:t>
            </a:r>
            <a:r>
              <a:rPr lang="pt-BR" dirty="0"/>
              <a:t>, CPM, alocação de recursos</a:t>
            </a:r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Orçamento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Preço</a:t>
            </a:r>
          </a:p>
          <a:p>
            <a:pPr marL="1371600" lvl="2" indent="-457200">
              <a:buFont typeface="+mj-lt"/>
              <a:buAutoNum type="romanLcPeriod"/>
            </a:pPr>
            <a:r>
              <a:rPr lang="pt-BR" dirty="0"/>
              <a:t>Cronograma físico-financeiro;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CC6955-573E-7060-DA80-5D557EAB5AF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122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90FB3-8933-3097-967B-D608300E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1D702B-5DFB-F57C-7378-B363C77F1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ser representado em forma de </a:t>
            </a:r>
            <a:r>
              <a:rPr lang="pt-BR" b="1" dirty="0"/>
              <a:t>tabelas</a:t>
            </a:r>
          </a:p>
          <a:p>
            <a:pPr lvl="1"/>
            <a:r>
              <a:rPr lang="pt-BR" dirty="0"/>
              <a:t>Dificulta visualização de relacionamentos e dependências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6E8442-D8C3-1389-E3D0-6B7DD4809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112" y="2815695"/>
            <a:ext cx="6849431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168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96040-DB5A-D08F-D3A3-5F14B5F7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FCEF8-480E-286D-F51C-087E080F2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 formas mais comuns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Gráficos de </a:t>
            </a:r>
            <a:r>
              <a:rPr lang="pt-BR" b="1" dirty="0" err="1"/>
              <a:t>Gantt</a:t>
            </a:r>
            <a:r>
              <a:rPr lang="pt-BR" dirty="0"/>
              <a:t> : baseados em calendário e mostram quem é o responsável por cada atividade, tempo previsto (início e fim) e dependências. 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Redes de tarefas</a:t>
            </a:r>
            <a:r>
              <a:rPr lang="pt-BR" dirty="0"/>
              <a:t>: diagramas de rede que mostram as dependências entre as atividades do projeto;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489321-933A-AB7E-D1E8-508D744B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669" y="4376195"/>
            <a:ext cx="4823272" cy="24134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1F19893-7F09-D356-B68C-0A22DFAD4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2" y="4419738"/>
            <a:ext cx="6075469" cy="24134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E788B8C-E7D4-25A7-F21D-B1966C1E6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679" y="4740056"/>
            <a:ext cx="409632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3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BB7AC-D581-B9CF-EC95-E7CEC751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Gráfico de </a:t>
            </a:r>
            <a:r>
              <a:rPr lang="pt-BR" dirty="0" err="1"/>
              <a:t>Gantt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492AD-0CC8-91CB-B30E-D7020692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A0AECF-DD54-3F85-88EB-3651118AF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14" y="1562126"/>
            <a:ext cx="10156371" cy="52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815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C56D2-B914-B3CC-2C42-AD5AA4C2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- Rede de tarefas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2AC6A9-3E78-8991-8AD3-96A2B22A0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1A338B-FED5-FA28-D96E-8AB1FDF6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37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09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19213-DC4D-C8D7-6931-5529859E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Gráfico de alocação de pessoal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3C3091-C74B-F3A6-694D-30CEAE533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Grandes empresas usam várias pessoas num mesmo projeto;</a:t>
            </a:r>
          </a:p>
          <a:p>
            <a:pPr lvl="1"/>
            <a:r>
              <a:rPr lang="pt-BR" dirty="0"/>
              <a:t>Detectar </a:t>
            </a:r>
            <a:r>
              <a:rPr lang="pt-BR" b="1" dirty="0">
                <a:solidFill>
                  <a:srgbClr val="FF0000"/>
                </a:solidFill>
              </a:rPr>
              <a:t>super/</a:t>
            </a:r>
            <a:r>
              <a:rPr lang="pt-BR" b="1" dirty="0" err="1">
                <a:solidFill>
                  <a:srgbClr val="FF0000"/>
                </a:solidFill>
              </a:rPr>
              <a:t>subalocação</a:t>
            </a:r>
            <a:r>
              <a:rPr lang="pt-BR" dirty="0"/>
              <a:t>;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FF5292-737F-B994-89B0-8BE5F4959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21" y="3050539"/>
            <a:ext cx="10911879" cy="28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402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13222-9E0E-49E5-EF7A-C474F6C6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de pessoas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EA14FA-A682-2AA6-E765-CDE7D6FCD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cada tarefa são alocadas uma ou mais pessoas que deverão trabalhar nela;</a:t>
            </a:r>
          </a:p>
          <a:p>
            <a:pPr>
              <a:spcBef>
                <a:spcPts val="2400"/>
              </a:spcBef>
            </a:pPr>
            <a:r>
              <a:rPr lang="pt-BR" b="1" dirty="0"/>
              <a:t>Nem sempre existe pessoa </a:t>
            </a:r>
            <a:r>
              <a:rPr lang="pt-BR" dirty="0"/>
              <a:t>disponíveis nesse momento</a:t>
            </a:r>
          </a:p>
          <a:p>
            <a:pPr lvl="1"/>
            <a:r>
              <a:rPr lang="pt-BR" sz="2000" dirty="0"/>
              <a:t>Quantidade insuficiente na empresa;</a:t>
            </a:r>
          </a:p>
          <a:p>
            <a:pPr lvl="1"/>
            <a:r>
              <a:rPr lang="pt-BR" sz="2000" dirty="0"/>
              <a:t>Especialidade inexistente;</a:t>
            </a:r>
          </a:p>
          <a:p>
            <a:pPr lvl="1"/>
            <a:r>
              <a:rPr lang="pt-BR" sz="2000" dirty="0"/>
              <a:t>São mapeados os papéis sem pessoas disponíveis </a:t>
            </a:r>
            <a:r>
              <a:rPr lang="pt-BR" sz="2000" dirty="0">
                <a:sym typeface="Wingdings" panose="05000000000000000000" pitchFamily="2" charset="2"/>
              </a:rPr>
              <a:t> necessidade de contratação</a:t>
            </a:r>
          </a:p>
          <a:p>
            <a:pPr lvl="2"/>
            <a:r>
              <a:rPr lang="pt-BR" sz="1800" dirty="0">
                <a:sym typeface="Wingdings" panose="05000000000000000000" pitchFamily="2" charset="2"/>
              </a:rPr>
              <a:t>São construídos e atribuídos papéis, para serem preenchidos posteriormente</a:t>
            </a:r>
            <a:endParaRPr lang="pt-BR" sz="1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13B729-E8AF-C720-E6F3-6BA0AA3FE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8908"/>
            <a:ext cx="12192000" cy="14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460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A25BA-8CE4-A41E-EBE1-F284040A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 crítico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1DEF7A-854C-1095-6655-733AA0A5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cronograma define a ordem a e duração das atividades;</a:t>
            </a:r>
          </a:p>
          <a:p>
            <a:pPr>
              <a:spcBef>
                <a:spcPts val="2400"/>
              </a:spcBef>
            </a:pPr>
            <a:r>
              <a:rPr lang="pt-BR" dirty="0"/>
              <a:t>Com isso, certas atividades podem ser executadas </a:t>
            </a:r>
            <a:r>
              <a:rPr lang="pt-BR" b="1" dirty="0"/>
              <a:t>em paralelo</a:t>
            </a:r>
            <a:r>
              <a:rPr lang="pt-BR" dirty="0"/>
              <a:t>;</a:t>
            </a:r>
          </a:p>
          <a:p>
            <a:pPr>
              <a:spcBef>
                <a:spcPts val="2400"/>
              </a:spcBef>
            </a:pPr>
            <a:r>
              <a:rPr lang="pt-BR" dirty="0"/>
              <a:t>Determinas atividades são mais críticas que outras, pois podem impactar no atraso de todo o projeto;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29012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A6959-5E90-7BD0-43AD-8F3FF88C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Caminho crítico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C3DC3B-26AB-193C-4E2B-1BA494CE1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Atenção do gerente de projeto deve estar principalmente nas atividades do </a:t>
            </a:r>
            <a:r>
              <a:rPr lang="pt-BR" b="1" dirty="0">
                <a:solidFill>
                  <a:srgbClr val="FF0000"/>
                </a:solidFill>
              </a:rPr>
              <a:t>caminho crítico</a:t>
            </a:r>
          </a:p>
          <a:p>
            <a:pPr lvl="1"/>
            <a:r>
              <a:rPr lang="pt-BR" dirty="0"/>
              <a:t>Representado com tarefas em </a:t>
            </a:r>
            <a:r>
              <a:rPr lang="pt-BR" b="1" dirty="0">
                <a:solidFill>
                  <a:srgbClr val="FF0000"/>
                </a:solidFill>
              </a:rPr>
              <a:t>vermelho</a:t>
            </a:r>
            <a:r>
              <a:rPr lang="pt-BR" dirty="0"/>
              <a:t> no Gráfico de </a:t>
            </a:r>
            <a:r>
              <a:rPr lang="pt-BR" dirty="0" err="1"/>
              <a:t>Gantt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66C978-C187-75E9-8180-D6B88036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003" y="3078025"/>
            <a:ext cx="6059994" cy="368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095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2904E-94FE-F4E4-D6FA-80E73674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CPM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9D3328-A39E-82DA-A83E-9CC77F0C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Critical</a:t>
            </a:r>
            <a:r>
              <a:rPr lang="pt-BR" i="1" dirty="0"/>
              <a:t> Path </a:t>
            </a:r>
            <a:r>
              <a:rPr lang="pt-BR" i="1" dirty="0" err="1"/>
              <a:t>Method</a:t>
            </a:r>
            <a:r>
              <a:rPr lang="pt-BR" i="1" dirty="0"/>
              <a:t> </a:t>
            </a:r>
            <a:r>
              <a:rPr lang="pt-BR" dirty="0"/>
              <a:t>é uma técnica clássica criada nos anos 50 para encontrar o caminho crítico;</a:t>
            </a:r>
          </a:p>
          <a:p>
            <a:pPr>
              <a:spcBef>
                <a:spcPts val="2400"/>
              </a:spcBef>
            </a:pPr>
            <a:r>
              <a:rPr lang="pt-BR" dirty="0"/>
              <a:t>O caminho crítico contém as atividades que, caso atrasem, atrasarão </a:t>
            </a:r>
            <a:r>
              <a:rPr lang="pt-BR" b="1" dirty="0"/>
              <a:t>o projeto como um todo</a:t>
            </a:r>
            <a:r>
              <a:rPr lang="pt-BR" dirty="0"/>
              <a:t>;</a:t>
            </a:r>
          </a:p>
          <a:p>
            <a:pPr>
              <a:spcBef>
                <a:spcPts val="2400"/>
              </a:spcBef>
            </a:pPr>
            <a:r>
              <a:rPr lang="pt-BR" dirty="0"/>
              <a:t>As atividades que não estão no caminho crítico têm </a:t>
            </a:r>
            <a:r>
              <a:rPr lang="pt-BR" b="1" dirty="0"/>
              <a:t>folga</a:t>
            </a:r>
          </a:p>
          <a:p>
            <a:pPr lvl="1"/>
            <a:r>
              <a:rPr lang="pt-BR" dirty="0"/>
              <a:t>Que também é calculada via CPM;</a:t>
            </a:r>
          </a:p>
          <a:p>
            <a:pPr>
              <a:spcBef>
                <a:spcPts val="2400"/>
              </a:spcBef>
            </a:pPr>
            <a:r>
              <a:rPr lang="pt-BR" dirty="0"/>
              <a:t>As atividades que estão no caminho crítico – quando otimizadas – melhoram o desempenho do projeto como um todo!</a:t>
            </a:r>
          </a:p>
        </p:txBody>
      </p:sp>
    </p:spTree>
    <p:extLst>
      <p:ext uri="{BB962C8B-B14F-4D97-AF65-F5344CB8AC3E}">
        <p14:creationId xmlns:p14="http://schemas.microsoft.com/office/powerpoint/2010/main" val="49149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56E6E-B994-6A0E-7E99-235E4583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CPM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70C491-75E4-5297-8442-0AB330A4C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Construa um grafo: atividades são os nós e as dependências são as arestas direcionadas;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Coloque um nó “Início” e um nó “Fim” para o projeto;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Conecte as atividades </a:t>
            </a:r>
          </a:p>
          <a:p>
            <a:pPr lvl="1"/>
            <a:r>
              <a:rPr lang="pt-BR" dirty="0"/>
              <a:t>sem dependência de entrada com o nó “Início”;</a:t>
            </a:r>
          </a:p>
          <a:p>
            <a:pPr lvl="1"/>
            <a:r>
              <a:rPr lang="pt-BR" dirty="0"/>
              <a:t>sem dependência de saída com o nó “Fim”;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Escreva a duração de cada atividade;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Encontre todos os caminhos entre o início e o fim via busca em profundidade;</a:t>
            </a: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pt-BR" dirty="0"/>
              <a:t>Para cada caminho encontrado, some a duração das atividades;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559531D-CD8D-9B9B-915E-C529203F1544}"/>
              </a:ext>
            </a:extLst>
          </p:cNvPr>
          <p:cNvSpPr/>
          <p:nvPr/>
        </p:nvSpPr>
        <p:spPr>
          <a:xfrm>
            <a:off x="8294914" y="2133599"/>
            <a:ext cx="3668486" cy="3026230"/>
          </a:xfrm>
          <a:prstGeom prst="roundRect">
            <a:avLst>
              <a:gd name="adj" fmla="val 515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u="sng" dirty="0"/>
              <a:t>Caminho crítico</a:t>
            </a:r>
            <a:r>
              <a:rPr lang="pt-BR" dirty="0"/>
              <a:t>: caminho de maior duração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b="1" dirty="0"/>
              <a:t>Reserva (folgas) </a:t>
            </a:r>
            <a:r>
              <a:rPr lang="pt-BR" dirty="0"/>
              <a:t>das atividades do caminho crítico é</a:t>
            </a:r>
            <a:r>
              <a:rPr lang="pt-BR" b="1" dirty="0"/>
              <a:t> 0 </a:t>
            </a:r>
            <a:r>
              <a:rPr lang="pt-BR" dirty="0"/>
              <a:t>(assumindo que projeto deve terminar o quanto antes)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dirty="0"/>
              <a:t>A </a:t>
            </a:r>
            <a:r>
              <a:rPr lang="pt-BR" b="1" dirty="0"/>
              <a:t>reserva</a:t>
            </a:r>
            <a:r>
              <a:rPr lang="pt-BR" dirty="0"/>
              <a:t> das atividades fora do caminho crítico – a duração</a:t>
            </a:r>
          </a:p>
        </p:txBody>
      </p:sp>
    </p:spTree>
    <p:extLst>
      <p:ext uri="{BB962C8B-B14F-4D97-AF65-F5344CB8AC3E}">
        <p14:creationId xmlns:p14="http://schemas.microsoft.com/office/powerpoint/2010/main" val="8995999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F8547-C77F-6318-8F3F-69CC6E6D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CPM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A7BC791-6015-C7CD-9AB9-ADDB8B06A845}"/>
              </a:ext>
            </a:extLst>
          </p:cNvPr>
          <p:cNvGrpSpPr/>
          <p:nvPr/>
        </p:nvGrpSpPr>
        <p:grpSpPr>
          <a:xfrm>
            <a:off x="1576349" y="1550482"/>
            <a:ext cx="9039302" cy="5087603"/>
            <a:chOff x="1576349" y="1550482"/>
            <a:chExt cx="9039302" cy="508760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3DBFF3D-9225-2E4B-EC4E-CD412640B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6349" y="1614486"/>
              <a:ext cx="9039302" cy="5023599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64CA064-DE11-5FD2-31C3-D6D77FA45D4C}"/>
                </a:ext>
              </a:extLst>
            </p:cNvPr>
            <p:cNvSpPr/>
            <p:nvPr/>
          </p:nvSpPr>
          <p:spPr>
            <a:xfrm>
              <a:off x="4136571" y="1550482"/>
              <a:ext cx="3624944" cy="2892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279623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C8A8F-2624-CA79-0566-71B0D8D0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CPM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394CE9A-BDEB-A83F-CD77-379E36A7D990}"/>
              </a:ext>
            </a:extLst>
          </p:cNvPr>
          <p:cNvGrpSpPr/>
          <p:nvPr/>
        </p:nvGrpSpPr>
        <p:grpSpPr>
          <a:xfrm>
            <a:off x="1554428" y="1550482"/>
            <a:ext cx="9037372" cy="5295528"/>
            <a:chOff x="1554428" y="1550482"/>
            <a:chExt cx="9037372" cy="529552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31F9731-CD09-BD99-05F7-B139A325C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4428" y="1550482"/>
              <a:ext cx="9037372" cy="5295528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E6BDED24-3D66-DDD6-2DAE-34E5D7914109}"/>
                </a:ext>
              </a:extLst>
            </p:cNvPr>
            <p:cNvSpPr/>
            <p:nvPr/>
          </p:nvSpPr>
          <p:spPr>
            <a:xfrm>
              <a:off x="4136571" y="1550482"/>
              <a:ext cx="3624944" cy="2892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883095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000FB-D3D6-7EBD-1DEB-9C8E00ED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CPM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7506E9F-7730-A182-AF81-F2216493654A}"/>
              </a:ext>
            </a:extLst>
          </p:cNvPr>
          <p:cNvGrpSpPr/>
          <p:nvPr/>
        </p:nvGrpSpPr>
        <p:grpSpPr>
          <a:xfrm>
            <a:off x="1527341" y="1561368"/>
            <a:ext cx="9064459" cy="5307518"/>
            <a:chOff x="1494683" y="1550482"/>
            <a:chExt cx="9045312" cy="530751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37F82E7-AC05-26E0-CEAF-02D8CC738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4683" y="1589314"/>
              <a:ext cx="9045312" cy="5268686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9AD6185-C6D8-DA6A-1614-9C8AF7DD06DB}"/>
                </a:ext>
              </a:extLst>
            </p:cNvPr>
            <p:cNvSpPr/>
            <p:nvPr/>
          </p:nvSpPr>
          <p:spPr>
            <a:xfrm>
              <a:off x="4136571" y="1550482"/>
              <a:ext cx="3624944" cy="28920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42606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9A421-3C39-E8CE-F873-6E5A7D70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CPM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A659C-F29B-D3F1-E9ED-1A61CBDB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16D9B9-60E2-81E8-6F7E-F6FBE0CFD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577" y="1671636"/>
            <a:ext cx="8538846" cy="518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769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9C002-71C2-99DA-61B2-8A73BA0A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e monitoramento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4E6ABF-97CF-5992-91A0-FE707CC6E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Usando o cronograma como </a:t>
            </a:r>
            <a:r>
              <a:rPr lang="pt-BR" b="1" dirty="0"/>
              <a:t>guia</a:t>
            </a:r>
            <a:r>
              <a:rPr lang="pt-BR" dirty="0"/>
              <a:t>, o gerente de projeto pode rastrear e controlar cada passo durante o processo de desenvolvimento do software </a:t>
            </a:r>
            <a:endParaRPr lang="pt-BR" b="1" dirty="0"/>
          </a:p>
        </p:txBody>
      </p:sp>
      <p:pic>
        <p:nvPicPr>
          <p:cNvPr id="5122" name="Picture 2" descr="Project Manager icon PNG and SVG Vector Free Download">
            <a:extLst>
              <a:ext uri="{FF2B5EF4-FFF2-40B4-BE49-F238E27FC236}">
                <a16:creationId xmlns:a16="http://schemas.microsoft.com/office/drawing/2014/main" id="{72E47748-10DD-ED32-34EC-E4630BD83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358" y="3550127"/>
            <a:ext cx="3741283" cy="294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0166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cronogramas;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Problema do tempo para execução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Programação de projetos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Representação de cronogramas</a:t>
            </a:r>
          </a:p>
          <a:p>
            <a:pPr lvl="3"/>
            <a:r>
              <a:rPr lang="pt-BR" dirty="0"/>
              <a:t>Gráfico de </a:t>
            </a:r>
            <a:r>
              <a:rPr lang="pt-BR" dirty="0" err="1"/>
              <a:t>Gantt</a:t>
            </a:r>
            <a:r>
              <a:rPr lang="pt-BR" dirty="0"/>
              <a:t>, COM, alocação de recursos</a:t>
            </a:r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Orçamento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b="1" dirty="0"/>
              <a:t>Preço</a:t>
            </a:r>
          </a:p>
          <a:p>
            <a:pPr marL="1371600" lvl="2" indent="-457200">
              <a:buFont typeface="+mj-lt"/>
              <a:buAutoNum type="romanLcPeriod"/>
            </a:pPr>
            <a:r>
              <a:rPr lang="pt-BR" dirty="0"/>
              <a:t>Cronograma físico-financeiro;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CC6955-573E-7060-DA80-5D557EAB5AF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54234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4290-0360-6A16-A197-4F9C0B16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EEC42-ABB6-0B41-DD91-D8491B13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7141F7-DE4F-BFB0-5086-A38100A44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FC5A06-C990-4C3B-2F4D-0A39C3DA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14" y="365125"/>
            <a:ext cx="7733619" cy="638827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821978F-52D9-B79B-94E6-E68A509EA4BF}"/>
              </a:ext>
            </a:extLst>
          </p:cNvPr>
          <p:cNvSpPr/>
          <p:nvPr/>
        </p:nvSpPr>
        <p:spPr>
          <a:xfrm>
            <a:off x="4696178" y="5225143"/>
            <a:ext cx="2521051" cy="16328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4970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D6DED-8184-B2BC-C161-819931C6C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8 – Definir o orçamento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519E78-6D4B-43C5-1A6F-3179FB62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Orçamento</a:t>
            </a:r>
            <a:r>
              <a:rPr lang="pt-BR" dirty="0"/>
              <a:t> = </a:t>
            </a:r>
            <a:r>
              <a:rPr lang="pt-BR" b="1" dirty="0"/>
              <a:t>SOMA</a:t>
            </a:r>
            <a:r>
              <a:rPr lang="pt-BR" dirty="0"/>
              <a:t> (</a:t>
            </a:r>
            <a:r>
              <a:rPr lang="pt-BR" i="1" dirty="0"/>
              <a:t>custos atividades </a:t>
            </a:r>
            <a:r>
              <a:rPr lang="pt-BR" dirty="0"/>
              <a:t>+ </a:t>
            </a:r>
            <a:r>
              <a:rPr lang="pt-BR" i="1" dirty="0"/>
              <a:t>margem de lucro</a:t>
            </a:r>
            <a:r>
              <a:rPr lang="pt-BR" dirty="0"/>
              <a:t>);</a:t>
            </a:r>
          </a:p>
          <a:p>
            <a:pPr>
              <a:spcBef>
                <a:spcPts val="2400"/>
              </a:spcBef>
            </a:pPr>
            <a:r>
              <a:rPr lang="pt-BR" dirty="0"/>
              <a:t>Custos podem ser maiores ou menores que o Orçamento</a:t>
            </a:r>
          </a:p>
          <a:p>
            <a:pPr lvl="1"/>
            <a:r>
              <a:rPr lang="pt-BR" dirty="0"/>
              <a:t>Custos &lt; Orçamento </a:t>
            </a:r>
            <a:r>
              <a:rPr lang="pt-BR" dirty="0">
                <a:sym typeface="Wingdings" panose="05000000000000000000" pitchFamily="2" charset="2"/>
              </a:rPr>
              <a:t> visa o lucro;</a:t>
            </a:r>
            <a:endParaRPr lang="pt-BR" dirty="0"/>
          </a:p>
          <a:p>
            <a:pPr lvl="1"/>
            <a:r>
              <a:rPr lang="pt-BR" dirty="0"/>
              <a:t>Custos &gt; Orçamento </a:t>
            </a:r>
            <a:r>
              <a:rPr lang="pt-BR" dirty="0">
                <a:sym typeface="Wingdings" panose="05000000000000000000" pitchFamily="2" charset="2"/>
              </a:rPr>
              <a:t> visa aumentar probabilidade de ganhar o projeto;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EAEBD0D-DA69-7F21-EE35-39979B9EB528}"/>
              </a:ext>
            </a:extLst>
          </p:cNvPr>
          <p:cNvSpPr/>
          <p:nvPr/>
        </p:nvSpPr>
        <p:spPr>
          <a:xfrm>
            <a:off x="729343" y="1690688"/>
            <a:ext cx="9372600" cy="7041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84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EB80D-27E9-D8AC-6DA2-79AE8EF9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do preço do SW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279787-D6AF-CF2E-762F-4326D33C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Durante a </a:t>
            </a:r>
            <a:r>
              <a:rPr lang="pt-BR" b="1" dirty="0"/>
              <a:t>proposta</a:t>
            </a:r>
            <a:r>
              <a:rPr lang="pt-BR" dirty="0"/>
              <a:t> do projeto</a:t>
            </a:r>
          </a:p>
          <a:p>
            <a:pPr lvl="1"/>
            <a:r>
              <a:rPr lang="pt-BR" dirty="0"/>
              <a:t>Ponto de partida </a:t>
            </a:r>
            <a:r>
              <a:rPr lang="pt-BR" dirty="0">
                <a:sym typeface="Wingdings" panose="05000000000000000000" pitchFamily="2" charset="2"/>
              </a:rPr>
              <a:t> calcular custos do projeto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Principais fatores: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Custos de </a:t>
            </a:r>
            <a:r>
              <a:rPr lang="pt-BR" u="sng" dirty="0">
                <a:sym typeface="Wingdings" panose="05000000000000000000" pitchFamily="2" charset="2"/>
              </a:rPr>
              <a:t>esforços</a:t>
            </a:r>
            <a:r>
              <a:rPr lang="pt-BR" dirty="0">
                <a:sym typeface="Wingdings" panose="05000000000000000000" pitchFamily="2" charset="2"/>
              </a:rPr>
              <a:t> (pessoas-mês; salários);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Custos de hardware e software, incluindo bibliotecas e serviços;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Custos de viagens; (deslocamento, hospedagem, alimentação, dias de trabalho)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Custos de treinamento;</a:t>
            </a:r>
          </a:p>
          <a:p>
            <a:pPr lvl="2"/>
            <a:r>
              <a:rPr lang="pt-BR" dirty="0"/>
              <a:t>Custos administrativos; (</a:t>
            </a:r>
            <a:r>
              <a:rPr lang="pt-BR" dirty="0" err="1"/>
              <a:t>ex</a:t>
            </a:r>
            <a:r>
              <a:rPr lang="pt-BR" dirty="0"/>
              <a:t>: entre 5% e 10%);</a:t>
            </a:r>
          </a:p>
          <a:p>
            <a:pPr lvl="2"/>
            <a:r>
              <a:rPr lang="pt-BR" dirty="0"/>
              <a:t>Custos de impostos; (ex.: ISS entre 1% e 3%)</a:t>
            </a:r>
          </a:p>
          <a:p>
            <a:pPr lvl="2"/>
            <a:r>
              <a:rPr lang="pt-BR" dirty="0"/>
              <a:t>Buffer de </a:t>
            </a:r>
            <a:r>
              <a:rPr lang="pt-BR" u="sng" dirty="0"/>
              <a:t>contingência</a:t>
            </a:r>
            <a:r>
              <a:rPr lang="pt-BR" dirty="0"/>
              <a:t> (ex.: entre 10% e 30%)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a maioria, os </a:t>
            </a:r>
            <a:r>
              <a:rPr lang="pt-BR" b="1" dirty="0"/>
              <a:t>custos de esforços são os maiores</a:t>
            </a:r>
          </a:p>
        </p:txBody>
      </p:sp>
    </p:spTree>
    <p:extLst>
      <p:ext uri="{BB962C8B-B14F-4D97-AF65-F5344CB8AC3E}">
        <p14:creationId xmlns:p14="http://schemas.microsoft.com/office/powerpoint/2010/main" val="352212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6FDB6-9B8E-FB7A-E58D-F6ABB8F1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 x Preço x Valor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1FDFD-5A40-A70A-296A-A280EF8AB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Custo</a:t>
            </a:r>
            <a:r>
              <a:rPr lang="pt-BR" dirty="0"/>
              <a:t>: gastos na produção de um bem ou serviço;</a:t>
            </a:r>
          </a:p>
          <a:p>
            <a:r>
              <a:rPr lang="pt-BR" b="1" dirty="0"/>
              <a:t>Preço</a:t>
            </a:r>
            <a:r>
              <a:rPr lang="pt-BR" dirty="0"/>
              <a:t>: o quanto é esperado receber por esse bem ou serviço;</a:t>
            </a:r>
          </a:p>
          <a:p>
            <a:r>
              <a:rPr lang="pt-BR" b="1" dirty="0"/>
              <a:t>Valor</a:t>
            </a:r>
            <a:r>
              <a:rPr lang="pt-BR" dirty="0"/>
              <a:t>: o quanto o bem ou serviço é importante para quem compra;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146" name="Picture 2" descr="Am Como parametrizar o custo e formar corretamente o Preço de Venda no  segmento digital. - ppt carregar">
            <a:extLst>
              <a:ext uri="{FF2B5EF4-FFF2-40B4-BE49-F238E27FC236}">
                <a16:creationId xmlns:a16="http://schemas.microsoft.com/office/drawing/2014/main" id="{92B4E422-EA9B-984F-D26A-4E02CDD44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09" r="12500"/>
          <a:stretch/>
        </p:blipFill>
        <p:spPr bwMode="auto">
          <a:xfrm>
            <a:off x="1502229" y="3631328"/>
            <a:ext cx="3305717" cy="244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3FF24580-ED27-264A-5E64-629447417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114" y="4305527"/>
            <a:ext cx="6095997" cy="109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45BF982-4C39-6048-930B-C64C0AB0692B}"/>
              </a:ext>
            </a:extLst>
          </p:cNvPr>
          <p:cNvSpPr/>
          <p:nvPr/>
        </p:nvSpPr>
        <p:spPr>
          <a:xfrm>
            <a:off x="6629402" y="3616638"/>
            <a:ext cx="4432464" cy="24568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dirty="0"/>
              <a:t>Qual o custo, preço e valor de um guarda-chuva: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Em um dia de sol?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Em um dia de chuva?</a:t>
            </a:r>
          </a:p>
        </p:txBody>
      </p:sp>
    </p:spTree>
    <p:extLst>
      <p:ext uri="{BB962C8B-B14F-4D97-AF65-F5344CB8AC3E}">
        <p14:creationId xmlns:p14="http://schemas.microsoft.com/office/powerpoint/2010/main" val="33744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98338-BBBE-EAC6-F446-EF10D5AC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do preço do SW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0D382035-8690-72C7-61D3-A27E94CE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Basicamente, PREÇO = CUSTOS + LUCRO;</a:t>
            </a:r>
          </a:p>
          <a:p>
            <a:r>
              <a:rPr lang="pt-BR" sz="2400" dirty="0"/>
              <a:t>Mas também questões </a:t>
            </a:r>
            <a:r>
              <a:rPr lang="pt-BR" sz="2400" b="1" dirty="0"/>
              <a:t>organizacionais</a:t>
            </a:r>
            <a:r>
              <a:rPr lang="pt-BR" sz="2400" dirty="0"/>
              <a:t>, </a:t>
            </a:r>
            <a:r>
              <a:rPr lang="pt-BR" sz="2400" b="1" dirty="0"/>
              <a:t>econômicas</a:t>
            </a:r>
            <a:r>
              <a:rPr lang="pt-BR" sz="2400" dirty="0"/>
              <a:t>, </a:t>
            </a:r>
            <a:r>
              <a:rPr lang="pt-BR" sz="2400" b="1" dirty="0"/>
              <a:t>políticas</a:t>
            </a:r>
            <a:r>
              <a:rPr lang="pt-BR" sz="2400" dirty="0"/>
              <a:t> e </a:t>
            </a:r>
            <a:r>
              <a:rPr lang="pt-BR" sz="2400" b="1" dirty="0"/>
              <a:t>comerciais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96E022-DAE9-13A2-0783-CE70C367F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036" y="2648531"/>
            <a:ext cx="8438364" cy="412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382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617C1-8117-908A-638B-4645C3F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pt-BR" dirty="0"/>
              <a:t>Introdução sobre cronogramas;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Problema do tempo para execução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Programação de projetos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Representação de cronogramas</a:t>
            </a:r>
          </a:p>
          <a:p>
            <a:pPr lvl="3"/>
            <a:r>
              <a:rPr lang="pt-BR" dirty="0"/>
              <a:t>Gráfico de </a:t>
            </a:r>
            <a:r>
              <a:rPr lang="pt-BR" dirty="0" err="1"/>
              <a:t>Gantt</a:t>
            </a:r>
            <a:r>
              <a:rPr lang="pt-BR" dirty="0"/>
              <a:t>, COM, alocação de recursos</a:t>
            </a:r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Orçamento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Preço</a:t>
            </a:r>
          </a:p>
          <a:p>
            <a:pPr marL="1371600" lvl="2" indent="-457200">
              <a:buFont typeface="+mj-lt"/>
              <a:buAutoNum type="romanLcPeriod"/>
            </a:pPr>
            <a:r>
              <a:rPr lang="pt-BR" b="1" dirty="0"/>
              <a:t>Cronograma físico-financeiro;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7E6B11-3F58-C3C6-51E5-4D67C8BE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Agenda: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CC6955-573E-7060-DA80-5D557EAB5AF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66031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96394-D309-069A-777B-81E5C58F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físico-financeiro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B5036-6C8F-5B15-85C7-AA07596FC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Cronograma de </a:t>
            </a:r>
            <a:r>
              <a:rPr lang="pt-BR" b="1" dirty="0">
                <a:sym typeface="Wingdings" panose="05000000000000000000" pitchFamily="2" charset="2"/>
              </a:rPr>
              <a:t>desembolso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Orçamento também deve conter o cronograma de desembolsos</a:t>
            </a:r>
          </a:p>
          <a:p>
            <a:pPr lvl="1">
              <a:spcBef>
                <a:spcPts val="1800"/>
              </a:spcBef>
            </a:pPr>
            <a:r>
              <a:rPr lang="pt-BR" dirty="0" err="1">
                <a:sym typeface="Wingdings" panose="05000000000000000000" pitchFamily="2" charset="2"/>
              </a:rPr>
              <a:t>Ex</a:t>
            </a:r>
            <a:r>
              <a:rPr lang="pt-BR" dirty="0">
                <a:sym typeface="Wingdings" panose="05000000000000000000" pitchFamily="2" charset="2"/>
              </a:rPr>
              <a:t>: Orçamento de R$ 100.000,00 com 4 desembolsos semestrais de R$ 25.000,00;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Normalmente os desembolsos são associados a </a:t>
            </a:r>
            <a:r>
              <a:rPr lang="pt-BR" b="1" dirty="0">
                <a:sym typeface="Wingdings" panose="05000000000000000000" pitchFamily="2" charset="2"/>
              </a:rPr>
              <a:t>marcos do projeto</a:t>
            </a:r>
            <a:r>
              <a:rPr lang="pt-BR" dirty="0">
                <a:sym typeface="Wingdings" panose="05000000000000000000" pitchFamily="2" charset="2"/>
              </a:rPr>
              <a:t>!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621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0ED55-5A35-77DD-5D9F-02D0C4D0E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físico-financeiro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868DCF-FF10-3022-798C-3854049EE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51C1F0-647F-38A3-5B93-4D4C8BD65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078" y="2286596"/>
            <a:ext cx="6382608" cy="353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247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B95E5-CBE6-57E7-922D-35A5969B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Detalhamento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2754B-4CCC-5CC7-03C8-5F2EE5D7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Detalhar despesas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Capital</a:t>
            </a:r>
          </a:p>
          <a:p>
            <a:pPr lvl="2"/>
            <a:r>
              <a:rPr lang="pt-BR" dirty="0"/>
              <a:t>Equipamentos adquiridos para execução do projeto;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Correntes</a:t>
            </a:r>
          </a:p>
          <a:p>
            <a:pPr lvl="2"/>
            <a:r>
              <a:rPr lang="pt-BR" dirty="0"/>
              <a:t>Salários, bolsas</a:t>
            </a:r>
          </a:p>
          <a:p>
            <a:pPr lvl="2"/>
            <a:r>
              <a:rPr lang="pt-BR" dirty="0"/>
              <a:t>Passagens, diárias</a:t>
            </a:r>
          </a:p>
          <a:p>
            <a:pPr lvl="2"/>
            <a:r>
              <a:rPr lang="pt-BR" dirty="0"/>
              <a:t>Serviços externos (</a:t>
            </a:r>
            <a:r>
              <a:rPr lang="pt-BR" dirty="0" err="1"/>
              <a:t>ex</a:t>
            </a:r>
            <a:r>
              <a:rPr lang="pt-BR" dirty="0"/>
              <a:t>: consultoria, assinaturas)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5583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A82B9-02F3-6773-8343-18EFDAD9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Detalhamento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D313D8-C2C2-16D6-B1BB-57D76BC5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348" y="2303437"/>
            <a:ext cx="708758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31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A1233-7878-B120-A88C-BD26FC7C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E6B72B-0BA6-21A4-2B2D-983ACE1D1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Revisar valores de esforço do cronograma </a:t>
            </a:r>
            <a:r>
              <a:rPr lang="pt-BR" dirty="0"/>
              <a:t>do projeto de vocês (EAP)</a:t>
            </a:r>
          </a:p>
          <a:p>
            <a:pPr lvl="1"/>
            <a:r>
              <a:rPr lang="pt-BR" dirty="0"/>
              <a:t>Segue a curva em forma de sino Rayleigh?</a:t>
            </a:r>
          </a:p>
          <a:p>
            <a:pPr>
              <a:spcBef>
                <a:spcPts val="1800"/>
              </a:spcBef>
            </a:pPr>
            <a:r>
              <a:rPr lang="pt-BR" dirty="0"/>
              <a:t>Definir os </a:t>
            </a:r>
            <a:r>
              <a:rPr lang="pt-BR" b="1" i="1" dirty="0" err="1"/>
              <a:t>milestones</a:t>
            </a:r>
            <a:r>
              <a:rPr lang="pt-BR" dirty="0"/>
              <a:t> do projeto</a:t>
            </a:r>
          </a:p>
          <a:p>
            <a:pPr lvl="1"/>
            <a:r>
              <a:rPr lang="pt-BR" dirty="0"/>
              <a:t>Ao menos 2 (usar </a:t>
            </a:r>
            <a:r>
              <a:rPr lang="pt-BR" dirty="0" err="1"/>
              <a:t>MoSCoW</a:t>
            </a:r>
            <a:r>
              <a:rPr lang="pt-BR" dirty="0"/>
              <a:t>)</a:t>
            </a:r>
          </a:p>
          <a:p>
            <a:pPr>
              <a:spcBef>
                <a:spcPts val="1800"/>
              </a:spcBef>
            </a:pPr>
            <a:r>
              <a:rPr lang="pt-BR" dirty="0"/>
              <a:t>Definir um </a:t>
            </a:r>
            <a:r>
              <a:rPr lang="pt-BR" b="1" dirty="0"/>
              <a:t>custo total </a:t>
            </a:r>
            <a:r>
              <a:rPr lang="pt-BR" dirty="0"/>
              <a:t>para o projeto</a:t>
            </a:r>
          </a:p>
          <a:p>
            <a:pPr lvl="1"/>
            <a:r>
              <a:rPr lang="pt-BR" dirty="0"/>
              <a:t>PERT com EAP, COCOMO II, Story Points e Pontos de Função</a:t>
            </a:r>
          </a:p>
          <a:p>
            <a:pPr>
              <a:spcBef>
                <a:spcPts val="1800"/>
              </a:spcBef>
            </a:pPr>
            <a:r>
              <a:rPr lang="pt-BR" dirty="0"/>
              <a:t>Definir </a:t>
            </a:r>
            <a:r>
              <a:rPr lang="pt-BR" b="1" dirty="0"/>
              <a:t>preço final</a:t>
            </a:r>
          </a:p>
          <a:p>
            <a:pPr lvl="1"/>
            <a:r>
              <a:rPr lang="pt-BR" dirty="0"/>
              <a:t>Definir um buffer (10-30%) sobre o esforço estimado</a:t>
            </a:r>
          </a:p>
          <a:p>
            <a:pPr lvl="1"/>
            <a:r>
              <a:rPr lang="pt-BR" dirty="0"/>
              <a:t>Aplicar margem de lucro (20-40%)</a:t>
            </a:r>
          </a:p>
          <a:p>
            <a:pPr lvl="1"/>
            <a:r>
              <a:rPr lang="pt-BR" dirty="0"/>
              <a:t>Impostos (3%)</a:t>
            </a:r>
          </a:p>
          <a:p>
            <a:pPr>
              <a:spcBef>
                <a:spcPts val="1800"/>
              </a:spcBef>
            </a:pPr>
            <a:r>
              <a:rPr lang="pt-BR" dirty="0"/>
              <a:t>Definir um </a:t>
            </a:r>
            <a:r>
              <a:rPr lang="pt-BR" b="1" dirty="0"/>
              <a:t>cronograma de desembolso</a:t>
            </a:r>
          </a:p>
          <a:p>
            <a:pPr lvl="1"/>
            <a:r>
              <a:rPr lang="pt-BR" dirty="0" err="1"/>
              <a:t>Qtos</a:t>
            </a:r>
            <a:r>
              <a:rPr lang="pt-BR" dirty="0"/>
              <a:t> pagamentos, quando serão feitos e com quais valores?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58929E-E958-BD50-7B9B-DFE917DE2E0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349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sz="1800" dirty="0"/>
              <a:t>Pressman, R. S., 7ª </a:t>
            </a:r>
            <a:r>
              <a:rPr lang="pt-BR" sz="1800" dirty="0" err="1"/>
              <a:t>ed</a:t>
            </a:r>
            <a:r>
              <a:rPr lang="pt-BR" sz="1800" dirty="0"/>
              <a:t> (2011). Engenharia de software.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PMI. </a:t>
            </a:r>
            <a:r>
              <a:rPr lang="pt-BR" sz="1800" b="1" dirty="0"/>
              <a:t>Um guia do conhecimento em gerenciamento de projetos</a:t>
            </a:r>
            <a:r>
              <a:rPr lang="pt-BR" sz="1800" dirty="0"/>
              <a:t>. Guia PMBOK® 6a. ed. – EUA: Project Management </a:t>
            </a:r>
            <a:r>
              <a:rPr lang="pt-BR" sz="1800" dirty="0" err="1"/>
              <a:t>Institute</a:t>
            </a:r>
            <a:r>
              <a:rPr lang="pt-BR" sz="1800" dirty="0"/>
              <a:t>, 2017. </a:t>
            </a:r>
          </a:p>
          <a:p>
            <a:pPr>
              <a:spcBef>
                <a:spcPts val="1800"/>
              </a:spcBef>
            </a:pPr>
            <a:r>
              <a:rPr lang="pt-BR" sz="1800" dirty="0" err="1"/>
              <a:t>Sommerville</a:t>
            </a:r>
            <a:r>
              <a:rPr lang="pt-BR" sz="1800" dirty="0"/>
              <a:t>. I. </a:t>
            </a:r>
            <a:r>
              <a:rPr lang="pt-BR" sz="1800" b="1" dirty="0"/>
              <a:t>Engenharia de Software</a:t>
            </a:r>
            <a:r>
              <a:rPr lang="pt-BR" sz="1800" dirty="0"/>
              <a:t>, 9ª </a:t>
            </a:r>
            <a:r>
              <a:rPr lang="pt-BR" sz="1800" dirty="0" err="1"/>
              <a:t>ed</a:t>
            </a:r>
            <a:r>
              <a:rPr lang="pt-BR" sz="1800" dirty="0"/>
              <a:t> (2011). 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Notas de aulas, prof. Leonardo Murta (UFF): </a:t>
            </a:r>
            <a:r>
              <a:rPr lang="pt-BR" sz="1800" dirty="0">
                <a:hlinkClick r:id="rId3"/>
              </a:rPr>
              <a:t>https://leomurta.github.io/</a:t>
            </a:r>
            <a:r>
              <a:rPr lang="pt-BR" sz="1800" dirty="0"/>
              <a:t> 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Notas de aulas, Simone Souza (ICMC/USP): </a:t>
            </a:r>
            <a:r>
              <a:rPr lang="pt-BR" sz="1800" dirty="0">
                <a:hlinkClick r:id="rId4"/>
              </a:rPr>
              <a:t>https://edisciplinas.usp.br/pluginfile.php/3341179/mod_resource/content/1/Aula08-Estimativas%20de%20Projeto.pdf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9D29B-DD07-5A37-C5B4-B6124ED0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Critérios de avaliação do Plano </a:t>
            </a:r>
            <a:r>
              <a:rPr lang="pt-BR"/>
              <a:t>de 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218B56-EC4A-43A6-B386-A2C4CFEF1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/>
              <a:t>Geral</a:t>
            </a:r>
            <a:r>
              <a:rPr lang="pt-BR" sz="2400" dirty="0"/>
              <a:t>: fases de projeto e de desenvolvimento presentes;</a:t>
            </a:r>
          </a:p>
          <a:p>
            <a:pPr>
              <a:spcBef>
                <a:spcPts val="1800"/>
              </a:spcBef>
            </a:pPr>
            <a:r>
              <a:rPr lang="pt-BR" sz="2400" b="1" dirty="0"/>
              <a:t>Escopo</a:t>
            </a:r>
            <a:r>
              <a:rPr lang="pt-BR" sz="2400" dirty="0"/>
              <a:t>: bem definidos e decompostos; </a:t>
            </a:r>
          </a:p>
          <a:p>
            <a:pPr>
              <a:spcBef>
                <a:spcPts val="1800"/>
              </a:spcBef>
            </a:pPr>
            <a:r>
              <a:rPr lang="pt-BR" sz="2400" b="1" dirty="0"/>
              <a:t>Estimativas</a:t>
            </a:r>
            <a:r>
              <a:rPr lang="pt-BR" sz="2400" dirty="0"/>
              <a:t>: quantidades apropriadas; coerência entre tarefas similares;</a:t>
            </a:r>
          </a:p>
          <a:p>
            <a:pPr>
              <a:spcBef>
                <a:spcPts val="1800"/>
              </a:spcBef>
            </a:pPr>
            <a:r>
              <a:rPr lang="pt-BR" sz="2400" b="1" dirty="0"/>
              <a:t>Cronograma</a:t>
            </a:r>
            <a:r>
              <a:rPr lang="pt-BR" sz="2400" dirty="0"/>
              <a:t>: definição de </a:t>
            </a:r>
            <a:r>
              <a:rPr lang="pt-BR" sz="2400" i="1" dirty="0" err="1"/>
              <a:t>milestones</a:t>
            </a:r>
            <a:r>
              <a:rPr lang="pt-BR" sz="2400" dirty="0"/>
              <a:t>; caminho crítico; alocação de pessoas com mínimo de horas livres; aquisições</a:t>
            </a:r>
          </a:p>
          <a:p>
            <a:pPr>
              <a:spcBef>
                <a:spcPts val="1800"/>
              </a:spcBef>
            </a:pPr>
            <a:r>
              <a:rPr lang="pt-BR" sz="2400" b="1" dirty="0"/>
              <a:t>Orçamento</a:t>
            </a:r>
            <a:r>
              <a:rPr lang="pt-BR" sz="2400" dirty="0"/>
              <a:t>: estimativa de preço considerando custos administrativos e lucro; presença de cronograma financeiro;</a:t>
            </a:r>
          </a:p>
        </p:txBody>
      </p:sp>
    </p:spTree>
    <p:extLst>
      <p:ext uri="{BB962C8B-B14F-4D97-AF65-F5344CB8AC3E}">
        <p14:creationId xmlns:p14="http://schemas.microsoft.com/office/powerpoint/2010/main" val="3516328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53786</TotalTime>
  <Words>3819</Words>
  <Application>Microsoft Office PowerPoint</Application>
  <PresentationFormat>Widescreen</PresentationFormat>
  <Paragraphs>530</Paragraphs>
  <Slides>73</Slides>
  <Notes>13</Notes>
  <HiddenSlides>2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73</vt:i4>
      </vt:variant>
    </vt:vector>
  </HeadingPairs>
  <TitlesOfParts>
    <vt:vector size="82" baseType="lpstr">
      <vt:lpstr>Aptos Narrow</vt:lpstr>
      <vt:lpstr>Arial</vt:lpstr>
      <vt:lpstr>Calibri</vt:lpstr>
      <vt:lpstr>Calibri Light</vt:lpstr>
      <vt:lpstr>Cambria Math</vt:lpstr>
      <vt:lpstr>Google Sans</vt:lpstr>
      <vt:lpstr>Roboto</vt:lpstr>
      <vt:lpstr>Wingdings</vt:lpstr>
      <vt:lpstr>Tema do Office</vt:lpstr>
      <vt:lpstr>Apresentação do PowerPoint</vt:lpstr>
      <vt:lpstr>Planejamento das aulas</vt:lpstr>
      <vt:lpstr>Nas aulas anteriores, vimos...</vt:lpstr>
      <vt:lpstr>Revisão da disciplina</vt:lpstr>
      <vt:lpstr>Discussão</vt:lpstr>
      <vt:lpstr>Comparativo</vt:lpstr>
      <vt:lpstr>Apresentação do PowerPoint</vt:lpstr>
      <vt:lpstr>Apresentação do PowerPoint</vt:lpstr>
      <vt:lpstr>Passo 5 – Estimar a duração das atividades</vt:lpstr>
      <vt:lpstr>Passo 6 – Estimar o custo das atividades</vt:lpstr>
      <vt:lpstr>Materiais complementares</vt:lpstr>
      <vt:lpstr>Objetivos de hoje:</vt:lpstr>
      <vt:lpstr>Sucesso em projeto</vt:lpstr>
      <vt:lpstr>Sucesso em projeto</vt:lpstr>
      <vt:lpstr>Sucesso em projeto</vt:lpstr>
      <vt:lpstr>Lei de Hofstadter</vt:lpstr>
      <vt:lpstr>Lei dos 90-90</vt:lpstr>
      <vt:lpstr>Estimativas de esforço</vt:lpstr>
      <vt:lpstr>Cenário comum</vt:lpstr>
      <vt:lpstr>Cronogramas</vt:lpstr>
      <vt:lpstr>Lei de Brooks</vt:lpstr>
      <vt:lpstr>Lei de Brooks - Soluções</vt:lpstr>
      <vt:lpstr>Análise do cronograma</vt:lpstr>
      <vt:lpstr>Análise teórica</vt:lpstr>
      <vt:lpstr>Análise teórica</vt:lpstr>
      <vt:lpstr>Análise teórica</vt:lpstr>
      <vt:lpstr>Curva PNR (Putnam Norden-Rayleigh)</vt:lpstr>
      <vt:lpstr>Exercício</vt:lpstr>
      <vt:lpstr>Curva PNR (Putnam Norden-Rayleigh)</vt:lpstr>
      <vt:lpstr>Curva PNR (Putnam Norden-Rayleigh)</vt:lpstr>
      <vt:lpstr>Curva PNR (Putnam Norden-Rayleigh)</vt:lpstr>
      <vt:lpstr>Agenda:</vt:lpstr>
      <vt:lpstr>Cronograma</vt:lpstr>
      <vt:lpstr>Cronograma</vt:lpstr>
      <vt:lpstr>Cronograma</vt:lpstr>
      <vt:lpstr>EAP (WBS) x Cronograma</vt:lpstr>
      <vt:lpstr>Programação de projetos</vt:lpstr>
      <vt:lpstr>Programação de projetos</vt:lpstr>
      <vt:lpstr>Cronograma</vt:lpstr>
      <vt:lpstr>Marcos do cronograma</vt:lpstr>
      <vt:lpstr>Marcos do cronograma</vt:lpstr>
      <vt:lpstr>Apresentação do PowerPoint</vt:lpstr>
      <vt:lpstr>Discussão</vt:lpstr>
      <vt:lpstr>Agenda:</vt:lpstr>
      <vt:lpstr>Representações</vt:lpstr>
      <vt:lpstr>Representações</vt:lpstr>
      <vt:lpstr>Exemplo – Gráfico de Gantt</vt:lpstr>
      <vt:lpstr>Exemplo - Rede de tarefas</vt:lpstr>
      <vt:lpstr>Gráfico de alocação de pessoal</vt:lpstr>
      <vt:lpstr>Alocação de pessoas</vt:lpstr>
      <vt:lpstr>Caminho crítico</vt:lpstr>
      <vt:lpstr>Caminho crítico</vt:lpstr>
      <vt:lpstr>CPM</vt:lpstr>
      <vt:lpstr>Algoritmo CPM</vt:lpstr>
      <vt:lpstr>Algoritmo CPM</vt:lpstr>
      <vt:lpstr>Algoritmo CPM</vt:lpstr>
      <vt:lpstr>Algoritmo CPM</vt:lpstr>
      <vt:lpstr>Exemplo de CPM</vt:lpstr>
      <vt:lpstr>Cronograma e monitoramento</vt:lpstr>
      <vt:lpstr>Agenda:</vt:lpstr>
      <vt:lpstr>Apresentação do PowerPoint</vt:lpstr>
      <vt:lpstr>Passo 8 – Definir o orçamento</vt:lpstr>
      <vt:lpstr>Definição do preço do SW</vt:lpstr>
      <vt:lpstr>Custo x Preço x Valor</vt:lpstr>
      <vt:lpstr>Definição do preço do SW</vt:lpstr>
      <vt:lpstr>Agenda:</vt:lpstr>
      <vt:lpstr>Cronograma físico-financeiro</vt:lpstr>
      <vt:lpstr>Cronograma físico-financeiro</vt:lpstr>
      <vt:lpstr>Detalhamento</vt:lpstr>
      <vt:lpstr>Detalhamento</vt:lpstr>
      <vt:lpstr>Atividade </vt:lpstr>
      <vt:lpstr>Referências bibliográficas</vt:lpstr>
      <vt:lpstr>Critérios de avaliação do Plano de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1053</cp:revision>
  <dcterms:created xsi:type="dcterms:W3CDTF">2024-08-08T20:58:28Z</dcterms:created>
  <dcterms:modified xsi:type="dcterms:W3CDTF">2026-08-07T21:20:50Z</dcterms:modified>
</cp:coreProperties>
</file>