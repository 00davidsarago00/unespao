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256" r:id="rId2"/>
    <p:sldId id="257" r:id="rId3"/>
    <p:sldId id="361" r:id="rId4"/>
    <p:sldId id="337" r:id="rId5"/>
    <p:sldId id="260" r:id="rId6"/>
    <p:sldId id="261" r:id="rId7"/>
    <p:sldId id="263" r:id="rId8"/>
    <p:sldId id="437"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2" r:id="rId24"/>
    <p:sldId id="436" r:id="rId25"/>
    <p:sldId id="418" r:id="rId26"/>
    <p:sldId id="388" r:id="rId27"/>
    <p:sldId id="404" r:id="rId28"/>
    <p:sldId id="389" r:id="rId29"/>
    <p:sldId id="390" r:id="rId30"/>
    <p:sldId id="370" r:id="rId31"/>
    <p:sldId id="391" r:id="rId32"/>
    <p:sldId id="378" r:id="rId33"/>
    <p:sldId id="381" r:id="rId34"/>
    <p:sldId id="379" r:id="rId35"/>
    <p:sldId id="441" r:id="rId36"/>
    <p:sldId id="375" r:id="rId37"/>
    <p:sldId id="383" r:id="rId38"/>
    <p:sldId id="406" r:id="rId39"/>
    <p:sldId id="438" r:id="rId40"/>
    <p:sldId id="342" r:id="rId41"/>
    <p:sldId id="408" r:id="rId42"/>
    <p:sldId id="289" r:id="rId43"/>
    <p:sldId id="363" r:id="rId44"/>
    <p:sldId id="367" r:id="rId45"/>
    <p:sldId id="364" r:id="rId46"/>
    <p:sldId id="366" r:id="rId47"/>
    <p:sldId id="343" r:id="rId48"/>
    <p:sldId id="293" r:id="rId49"/>
    <p:sldId id="295" r:id="rId50"/>
    <p:sldId id="284" r:id="rId51"/>
    <p:sldId id="285" r:id="rId52"/>
    <p:sldId id="368" r:id="rId53"/>
    <p:sldId id="369" r:id="rId54"/>
    <p:sldId id="270" r:id="rId55"/>
    <p:sldId id="271" r:id="rId56"/>
    <p:sldId id="440" r:id="rId57"/>
    <p:sldId id="439" r:id="rId58"/>
    <p:sldId id="426" r:id="rId59"/>
    <p:sldId id="442" r:id="rId60"/>
    <p:sldId id="291" r:id="rId61"/>
    <p:sldId id="273" r:id="rId62"/>
    <p:sldId id="317" r:id="rId63"/>
    <p:sldId id="400" r:id="rId64"/>
    <p:sldId id="318" r:id="rId65"/>
    <p:sldId id="399" r:id="rId66"/>
    <p:sldId id="398" r:id="rId67"/>
    <p:sldId id="409" r:id="rId68"/>
    <p:sldId id="420" r:id="rId6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3307FB0-C6B2-421B-B51F-2E7BE396031B}">
          <p14:sldIdLst>
            <p14:sldId id="256"/>
            <p14:sldId id="257"/>
            <p14:sldId id="361"/>
            <p14:sldId id="337"/>
            <p14:sldId id="260"/>
            <p14:sldId id="261"/>
          </p14:sldIdLst>
        </p14:section>
        <p14:section name="Conexão com ES" id="{F4F270BB-E965-49CA-B756-23EC975BA662}">
          <p14:sldIdLst>
            <p14:sldId id="263"/>
            <p14:sldId id="437"/>
            <p14:sldId id="347"/>
            <p14:sldId id="348"/>
            <p14:sldId id="349"/>
            <p14:sldId id="350"/>
            <p14:sldId id="351"/>
            <p14:sldId id="352"/>
            <p14:sldId id="353"/>
            <p14:sldId id="354"/>
            <p14:sldId id="355"/>
            <p14:sldId id="356"/>
            <p14:sldId id="357"/>
            <p14:sldId id="358"/>
            <p14:sldId id="359"/>
            <p14:sldId id="360"/>
            <p14:sldId id="362"/>
          </p14:sldIdLst>
        </p14:section>
        <p14:section name="Gerenc Complexidade em SW" id="{48D3F391-DC7B-445D-BA1D-AFD05592F4AA}">
          <p14:sldIdLst>
            <p14:sldId id="436"/>
            <p14:sldId id="418"/>
            <p14:sldId id="388"/>
            <p14:sldId id="404"/>
            <p14:sldId id="389"/>
            <p14:sldId id="390"/>
            <p14:sldId id="370"/>
            <p14:sldId id="391"/>
            <p14:sldId id="378"/>
            <p14:sldId id="381"/>
            <p14:sldId id="379"/>
            <p14:sldId id="441"/>
            <p14:sldId id="375"/>
            <p14:sldId id="383"/>
            <p14:sldId id="406"/>
          </p14:sldIdLst>
        </p14:section>
        <p14:section name="Introdução à GP" id="{86394BD2-581B-4FF4-87B3-964F9B7E3E8C}">
          <p14:sldIdLst>
            <p14:sldId id="438"/>
            <p14:sldId id="342"/>
            <p14:sldId id="408"/>
            <p14:sldId id="289"/>
            <p14:sldId id="363"/>
            <p14:sldId id="367"/>
            <p14:sldId id="364"/>
            <p14:sldId id="366"/>
            <p14:sldId id="343"/>
            <p14:sldId id="293"/>
            <p14:sldId id="295"/>
            <p14:sldId id="284"/>
            <p14:sldId id="285"/>
            <p14:sldId id="368"/>
            <p14:sldId id="369"/>
            <p14:sldId id="270"/>
            <p14:sldId id="271"/>
            <p14:sldId id="440"/>
          </p14:sldIdLst>
        </p14:section>
        <p14:section name="Papel do GP" id="{7E8ABC89-F209-4CB2-AAF9-80D9440EF5CD}">
          <p14:sldIdLst>
            <p14:sldId id="439"/>
            <p14:sldId id="426"/>
            <p14:sldId id="442"/>
            <p14:sldId id="291"/>
            <p14:sldId id="273"/>
            <p14:sldId id="317"/>
            <p14:sldId id="400"/>
            <p14:sldId id="318"/>
            <p14:sldId id="399"/>
            <p14:sldId id="398"/>
            <p14:sldId id="409"/>
          </p14:sldIdLst>
        </p14:section>
        <p14:section name="Atividades" id="{2186A430-0BF9-4DFF-987C-DBD05C3A63F8}">
          <p14:sldIdLst>
            <p14:sldId id="42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9" autoAdjust="0"/>
    <p:restoredTop sz="95097" autoAdjust="0"/>
  </p:normalViewPr>
  <p:slideViewPr>
    <p:cSldViewPr snapToGrid="0">
      <p:cViewPr varScale="1">
        <p:scale>
          <a:sx n="76" d="100"/>
          <a:sy n="76" d="100"/>
        </p:scale>
        <p:origin x="888" y="58"/>
      </p:cViewPr>
      <p:guideLst/>
    </p:cSldViewPr>
  </p:slideViewPr>
  <p:notesTextViewPr>
    <p:cViewPr>
      <p:scale>
        <a:sx n="1" d="1"/>
        <a:sy n="1" d="1"/>
      </p:scale>
      <p:origin x="0" y="0"/>
    </p:cViewPr>
  </p:notesTextViewPr>
  <p:notesViewPr>
    <p:cSldViewPr snapToGrid="0">
      <p:cViewPr varScale="1">
        <p:scale>
          <a:sx n="63" d="100"/>
          <a:sy n="63" d="100"/>
        </p:scale>
        <p:origin x="3134" y="6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648DC056-EC86-1D14-6A17-B9CF671802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16341E98-B67C-BDF6-18B5-2E8DDC26E6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C3B5E1-A158-48A7-9E7E-0B53201D65DE}" type="datetimeFigureOut">
              <a:rPr lang="pt-BR" smtClean="0"/>
              <a:t>24/03/2026</a:t>
            </a:fld>
            <a:endParaRPr lang="pt-BR"/>
          </a:p>
        </p:txBody>
      </p:sp>
      <p:sp>
        <p:nvSpPr>
          <p:cNvPr id="4" name="Espaço Reservado para Rodapé 3">
            <a:extLst>
              <a:ext uri="{FF2B5EF4-FFF2-40B4-BE49-F238E27FC236}">
                <a16:creationId xmlns:a16="http://schemas.microsoft.com/office/drawing/2014/main" id="{C4A37A9E-80E3-86C5-CC3D-185F85B38A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CB96474E-157A-54F7-6A34-58668D8B835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EC9D83-3408-479B-AF32-847F7A28B583}" type="slidenum">
              <a:rPr lang="pt-BR" smtClean="0"/>
              <a:t>‹nº›</a:t>
            </a:fld>
            <a:endParaRPr lang="pt-BR"/>
          </a:p>
        </p:txBody>
      </p:sp>
    </p:spTree>
    <p:extLst>
      <p:ext uri="{BB962C8B-B14F-4D97-AF65-F5344CB8AC3E}">
        <p14:creationId xmlns:p14="http://schemas.microsoft.com/office/powerpoint/2010/main" val="3106257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510B7-2C4F-477A-B06B-52F95EA26A07}" type="datetimeFigureOut">
              <a:rPr lang="pt-BR" smtClean="0"/>
              <a:t>24/03/2026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49E112-8E62-415B-ABD8-A813EB2FB888}" type="slidenum">
              <a:rPr lang="pt-BR" smtClean="0"/>
              <a:t>‹nº›</a:t>
            </a:fld>
            <a:endParaRPr lang="pt-BR"/>
          </a:p>
        </p:txBody>
      </p:sp>
    </p:spTree>
    <p:extLst>
      <p:ext uri="{BB962C8B-B14F-4D97-AF65-F5344CB8AC3E}">
        <p14:creationId xmlns:p14="http://schemas.microsoft.com/office/powerpoint/2010/main" val="943353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O que gostaram mais em ESI?</a:t>
            </a:r>
          </a:p>
          <a:p>
            <a:r>
              <a:rPr lang="pt-BR" dirty="0"/>
              <a:t>	projeto prático</a:t>
            </a:r>
          </a:p>
        </p:txBody>
      </p:sp>
      <p:sp>
        <p:nvSpPr>
          <p:cNvPr id="4" name="Espaço Reservado para Número de Slide 3"/>
          <p:cNvSpPr>
            <a:spLocks noGrp="1"/>
          </p:cNvSpPr>
          <p:nvPr>
            <p:ph type="sldNum" sz="quarter" idx="5"/>
          </p:nvPr>
        </p:nvSpPr>
        <p:spPr/>
        <p:txBody>
          <a:bodyPr/>
          <a:lstStyle/>
          <a:p>
            <a:fld id="{BF49E112-8E62-415B-ABD8-A813EB2FB888}" type="slidenum">
              <a:rPr lang="pt-BR" smtClean="0"/>
              <a:t>3</a:t>
            </a:fld>
            <a:endParaRPr lang="pt-BR"/>
          </a:p>
        </p:txBody>
      </p:sp>
    </p:spTree>
    <p:extLst>
      <p:ext uri="{BB962C8B-B14F-4D97-AF65-F5344CB8AC3E}">
        <p14:creationId xmlns:p14="http://schemas.microsoft.com/office/powerpoint/2010/main" val="11521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E1E012C9-B69A-465D-BE2B-CE551A843A77}" type="slidenum">
              <a:rPr lang="pt-BR" smtClean="0"/>
              <a:t>28</a:t>
            </a:fld>
            <a:endParaRPr lang="pt-BR"/>
          </a:p>
        </p:txBody>
      </p:sp>
    </p:spTree>
    <p:extLst>
      <p:ext uri="{BB962C8B-B14F-4D97-AF65-F5344CB8AC3E}">
        <p14:creationId xmlns:p14="http://schemas.microsoft.com/office/powerpoint/2010/main" val="176093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Pressman, capítulo 1.1.2 – Campos de aplicação de software</a:t>
            </a:r>
          </a:p>
        </p:txBody>
      </p:sp>
      <p:sp>
        <p:nvSpPr>
          <p:cNvPr id="4" name="Espaço Reservado para Número de Slide 3"/>
          <p:cNvSpPr>
            <a:spLocks noGrp="1"/>
          </p:cNvSpPr>
          <p:nvPr>
            <p:ph type="sldNum" sz="quarter" idx="5"/>
          </p:nvPr>
        </p:nvSpPr>
        <p:spPr/>
        <p:txBody>
          <a:bodyPr/>
          <a:lstStyle/>
          <a:p>
            <a:fld id="{E1E012C9-B69A-465D-BE2B-CE551A843A77}" type="slidenum">
              <a:rPr lang="pt-BR" smtClean="0"/>
              <a:t>36</a:t>
            </a:fld>
            <a:endParaRPr lang="pt-BR"/>
          </a:p>
        </p:txBody>
      </p:sp>
    </p:spTree>
    <p:extLst>
      <p:ext uri="{BB962C8B-B14F-4D97-AF65-F5344CB8AC3E}">
        <p14:creationId xmlns:p14="http://schemas.microsoft.com/office/powerpoint/2010/main" val="844100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E1E012C9-B69A-465D-BE2B-CE551A843A77}" type="slidenum">
              <a:rPr lang="pt-BR" smtClean="0"/>
              <a:t>42</a:t>
            </a:fld>
            <a:endParaRPr lang="pt-BR"/>
          </a:p>
        </p:txBody>
      </p:sp>
    </p:spTree>
    <p:extLst>
      <p:ext uri="{BB962C8B-B14F-4D97-AF65-F5344CB8AC3E}">
        <p14:creationId xmlns:p14="http://schemas.microsoft.com/office/powerpoint/2010/main" val="3760558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F49E112-8E62-415B-ABD8-A813EB2FB888}" type="slidenum">
              <a:rPr lang="pt-BR" smtClean="0"/>
              <a:t>47</a:t>
            </a:fld>
            <a:endParaRPr lang="pt-BR"/>
          </a:p>
        </p:txBody>
      </p:sp>
    </p:spTree>
    <p:extLst>
      <p:ext uri="{BB962C8B-B14F-4D97-AF65-F5344CB8AC3E}">
        <p14:creationId xmlns:p14="http://schemas.microsoft.com/office/powerpoint/2010/main" val="2018761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https://www.gov.br/int/pt-br/acesso-a-informacao/acoes-e-programas/acoes/estrategia/arquivos/relatorio-gesport-2019-2a-edicao-revisada.pdf</a:t>
            </a:r>
          </a:p>
        </p:txBody>
      </p:sp>
      <p:sp>
        <p:nvSpPr>
          <p:cNvPr id="4" name="Espaço Reservado para Número de Slide 3"/>
          <p:cNvSpPr>
            <a:spLocks noGrp="1"/>
          </p:cNvSpPr>
          <p:nvPr>
            <p:ph type="sldNum" sz="quarter" idx="5"/>
          </p:nvPr>
        </p:nvSpPr>
        <p:spPr/>
        <p:txBody>
          <a:bodyPr/>
          <a:lstStyle/>
          <a:p>
            <a:fld id="{BF49E112-8E62-415B-ABD8-A813EB2FB888}" type="slidenum">
              <a:rPr lang="pt-BR" smtClean="0"/>
              <a:t>56</a:t>
            </a:fld>
            <a:endParaRPr lang="pt-BR"/>
          </a:p>
        </p:txBody>
      </p:sp>
    </p:spTree>
    <p:extLst>
      <p:ext uri="{BB962C8B-B14F-4D97-AF65-F5344CB8AC3E}">
        <p14:creationId xmlns:p14="http://schemas.microsoft.com/office/powerpoint/2010/main" val="3515053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CBO: classificação brasileira de ocupações</a:t>
            </a:r>
          </a:p>
          <a:p>
            <a:r>
              <a:rPr lang="pt-BR" dirty="0"/>
              <a:t>Uma pessoa pode ter vários papeis e responsabilidades, mas apenas 1 cargo e ocupação</a:t>
            </a:r>
          </a:p>
          <a:p>
            <a:r>
              <a:rPr lang="pt-BR" dirty="0" err="1"/>
              <a:t>Ex</a:t>
            </a:r>
            <a:r>
              <a:rPr lang="pt-BR" dirty="0"/>
              <a:t>: https://www.vriconsulting.com.br/trabalhista/ocupacao.php?cbo=212425</a:t>
            </a:r>
          </a:p>
        </p:txBody>
      </p:sp>
      <p:sp>
        <p:nvSpPr>
          <p:cNvPr id="4" name="Espaço Reservado para Número de Slide 3"/>
          <p:cNvSpPr>
            <a:spLocks noGrp="1"/>
          </p:cNvSpPr>
          <p:nvPr>
            <p:ph type="sldNum" sz="quarter" idx="5"/>
          </p:nvPr>
        </p:nvSpPr>
        <p:spPr/>
        <p:txBody>
          <a:bodyPr/>
          <a:lstStyle/>
          <a:p>
            <a:fld id="{E1E012C9-B69A-465D-BE2B-CE551A843A77}" type="slidenum">
              <a:rPr lang="pt-BR" smtClean="0"/>
              <a:t>58</a:t>
            </a:fld>
            <a:endParaRPr lang="pt-BR"/>
          </a:p>
        </p:txBody>
      </p:sp>
    </p:spTree>
    <p:extLst>
      <p:ext uri="{BB962C8B-B14F-4D97-AF65-F5344CB8AC3E}">
        <p14:creationId xmlns:p14="http://schemas.microsoft.com/office/powerpoint/2010/main" val="3867712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4EEE53-4496-A3E2-6A1E-F394610A07E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A6E14C4-6394-A953-363A-3265B13529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58B17E62-4CE8-FA5E-81AB-27EC4D269040}"/>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5" name="Espaço Reservado para Rodapé 4">
            <a:extLst>
              <a:ext uri="{FF2B5EF4-FFF2-40B4-BE49-F238E27FC236}">
                <a16:creationId xmlns:a16="http://schemas.microsoft.com/office/drawing/2014/main" id="{454130A0-4376-BFAD-2C19-0E8710B097E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E46AEA-B3F5-9F8B-1519-1C60D0D93034}"/>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3851857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7996DC-D503-DBDE-FDEA-EF1AEF75910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6CFC341-4D72-A837-B647-7464B505871D}"/>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C613C88-DA31-EF9B-CB63-2C55411C80B3}"/>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5" name="Espaço Reservado para Rodapé 4">
            <a:extLst>
              <a:ext uri="{FF2B5EF4-FFF2-40B4-BE49-F238E27FC236}">
                <a16:creationId xmlns:a16="http://schemas.microsoft.com/office/drawing/2014/main" id="{5EE4FFD4-777E-4291-F5F9-C1162A3212D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B37AC90-32F2-5DF1-70B2-636B06F6E233}"/>
              </a:ext>
            </a:extLst>
          </p:cNvPr>
          <p:cNvSpPr>
            <a:spLocks noGrp="1"/>
          </p:cNvSpPr>
          <p:nvPr>
            <p:ph type="sldNum" sz="quarter" idx="12"/>
          </p:nvPr>
        </p:nvSpPr>
        <p:spPr/>
        <p:txBody>
          <a:bodyPr/>
          <a:lstStyle/>
          <a:p>
            <a:fld id="{6D8C0B3B-A50D-4B14-9D81-A18F38FBA0E7}" type="slidenum">
              <a:rPr lang="pt-BR" smtClean="0"/>
              <a:t>‹nº›</a:t>
            </a:fld>
            <a:endParaRPr lang="pt-BR"/>
          </a:p>
        </p:txBody>
      </p:sp>
      <p:cxnSp>
        <p:nvCxnSpPr>
          <p:cNvPr id="8" name="Conector reto 7">
            <a:extLst>
              <a:ext uri="{FF2B5EF4-FFF2-40B4-BE49-F238E27FC236}">
                <a16:creationId xmlns:a16="http://schemas.microsoft.com/office/drawing/2014/main" id="{A25EA031-D7FE-EFD6-B1F0-B9F04A5977E4}"/>
              </a:ext>
            </a:extLst>
          </p:cNvPr>
          <p:cNvCxnSpPr/>
          <p:nvPr userDrawn="1"/>
        </p:nvCxnSpPr>
        <p:spPr>
          <a:xfrm>
            <a:off x="838200" y="1515204"/>
            <a:ext cx="105156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5925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CF3C25-E803-1FD6-15EE-065624879FD2}"/>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4F4EF64E-0FB2-BB48-7DF6-0C9AA81ADB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9D1C8B2-5D85-B988-CB69-09B11AEE2E0C}"/>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5" name="Espaço Reservado para Rodapé 4">
            <a:extLst>
              <a:ext uri="{FF2B5EF4-FFF2-40B4-BE49-F238E27FC236}">
                <a16:creationId xmlns:a16="http://schemas.microsoft.com/office/drawing/2014/main" id="{B3463100-71C5-06BA-7A2B-C93B1BA247D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FC07F91-108E-B2C3-E6BF-816D7BCAB9A1}"/>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758220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537BA-DEFB-BDBF-86E4-1AB88B870F9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2215E4C-711C-550D-DC6C-36CC1211680D}"/>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FAE5C96C-6557-139C-829B-1E2006E8E4F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078F9F2-431C-5E88-F592-33B5C0615170}"/>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6" name="Espaço Reservado para Rodapé 5">
            <a:extLst>
              <a:ext uri="{FF2B5EF4-FFF2-40B4-BE49-F238E27FC236}">
                <a16:creationId xmlns:a16="http://schemas.microsoft.com/office/drawing/2014/main" id="{AAC75C67-72C7-8FDC-C52F-B7B5F492196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148C1A5-B006-91D7-168C-B7FC435E809B}"/>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217511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688A85-0410-BF11-EF32-3AB351F4BF4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54C2B90-2197-F269-EB61-113C72E13F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2C3DBFA4-22A6-0D4A-BDA8-6551FBF5A9A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D0AAD23-4A7C-83D3-03A4-86524D6684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7006DE9-BC23-B113-D3DF-02E204835E32}"/>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F6B2E737-754B-292E-CAD1-5040BCBE8E88}"/>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8" name="Espaço Reservado para Rodapé 7">
            <a:extLst>
              <a:ext uri="{FF2B5EF4-FFF2-40B4-BE49-F238E27FC236}">
                <a16:creationId xmlns:a16="http://schemas.microsoft.com/office/drawing/2014/main" id="{94F9919B-C697-30EF-D1BE-1A63A15665E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7F4FD2EC-724E-9612-CCBD-58B74958CBC4}"/>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53092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F755A3-EE94-2ADB-DEFA-BF2636879A67}"/>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FDDA6BA-9556-EC1D-F0B4-6EE4FDA0800A}"/>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4" name="Espaço Reservado para Rodapé 3">
            <a:extLst>
              <a:ext uri="{FF2B5EF4-FFF2-40B4-BE49-F238E27FC236}">
                <a16:creationId xmlns:a16="http://schemas.microsoft.com/office/drawing/2014/main" id="{F6FA4AE6-7EB5-C71C-6FC1-EF0B1BF37FAD}"/>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598EB463-39A2-79C1-1FB1-9A304C82A29E}"/>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3869805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47F4E4B-546F-EFED-83B5-C9411073F3B4}"/>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3" name="Espaço Reservado para Rodapé 2">
            <a:extLst>
              <a:ext uri="{FF2B5EF4-FFF2-40B4-BE49-F238E27FC236}">
                <a16:creationId xmlns:a16="http://schemas.microsoft.com/office/drawing/2014/main" id="{5B06F59A-6624-8B29-3DC2-249FD9F1FF9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943035F-A6C7-FEA7-0A8B-98F9D10E42C6}"/>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94726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5757AE-DB7A-FDFD-4C06-C062E520BB6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798E0F6A-1456-7C25-E924-D0F19A3C21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C20A3D52-CAF1-BDA9-7320-84E1446C28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01BAFD6-46CC-C0CA-2A5A-BC1C7F1D6B63}"/>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6" name="Espaço Reservado para Rodapé 5">
            <a:extLst>
              <a:ext uri="{FF2B5EF4-FFF2-40B4-BE49-F238E27FC236}">
                <a16:creationId xmlns:a16="http://schemas.microsoft.com/office/drawing/2014/main" id="{11DA92B0-8D0E-7794-93B9-C9553D87DBA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768B9B0-4579-6F80-C1B8-FA27F8F8AFFE}"/>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284630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0180B8-6386-8AEE-8DC6-C9603A60E1C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2E4419E-7A01-E2CC-F9AD-57C5A56978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6B8ED69-160C-8A04-B9E7-44FA14884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4E3D235-4ABC-B5F2-C284-CDB0EEF00183}"/>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6" name="Espaço Reservado para Rodapé 5">
            <a:extLst>
              <a:ext uri="{FF2B5EF4-FFF2-40B4-BE49-F238E27FC236}">
                <a16:creationId xmlns:a16="http://schemas.microsoft.com/office/drawing/2014/main" id="{3CA32ED8-8A33-D05F-CA92-0C47DEEC198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871FB84-A62F-EFA6-DE59-FD0E1BF446B6}"/>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881755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45591-6F7D-3731-678E-A661D9B1FE38}"/>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F35AD4-D2C4-9745-3F70-17BF94AABB1E}"/>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B56CD63-97B2-201A-2DCA-71CBDC7CD07B}"/>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5" name="Espaço Reservado para Rodapé 4">
            <a:extLst>
              <a:ext uri="{FF2B5EF4-FFF2-40B4-BE49-F238E27FC236}">
                <a16:creationId xmlns:a16="http://schemas.microsoft.com/office/drawing/2014/main" id="{F53D7AB2-93AD-2A37-57DF-8931F33FB47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F55A946-3756-630E-AE00-F9892A126A11}"/>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677141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77F0C07-3A16-8240-12B5-89CAA31641F4}"/>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5F0D0E76-6D0B-EB21-8D58-FAABD73D2DCC}"/>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3B96767-50A1-8291-5946-3894818F77F1}"/>
              </a:ext>
            </a:extLst>
          </p:cNvPr>
          <p:cNvSpPr>
            <a:spLocks noGrp="1"/>
          </p:cNvSpPr>
          <p:nvPr>
            <p:ph type="dt" sz="half" idx="10"/>
          </p:nvPr>
        </p:nvSpPr>
        <p:spPr/>
        <p:txBody>
          <a:bodyPr/>
          <a:lstStyle/>
          <a:p>
            <a:fld id="{5CC9C46D-F5DA-4B24-A20B-D1BB78A23A6D}" type="datetimeFigureOut">
              <a:rPr lang="pt-BR" smtClean="0"/>
              <a:t>24/03/2026</a:t>
            </a:fld>
            <a:endParaRPr lang="pt-BR"/>
          </a:p>
        </p:txBody>
      </p:sp>
      <p:sp>
        <p:nvSpPr>
          <p:cNvPr id="5" name="Espaço Reservado para Rodapé 4">
            <a:extLst>
              <a:ext uri="{FF2B5EF4-FFF2-40B4-BE49-F238E27FC236}">
                <a16:creationId xmlns:a16="http://schemas.microsoft.com/office/drawing/2014/main" id="{B5E42EB6-582F-5FE7-0498-FAF30ADF081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11E3DC5-DF55-B471-4548-6C4B2FCF8C57}"/>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2402735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01508CD1-5410-E1E1-0499-FC995E8D3D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DCC24E9-FE0E-F7B6-3AA9-FF1316735B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64908A4-44C6-8EAE-35C7-7F8CCF0C3F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C9C46D-F5DA-4B24-A20B-D1BB78A23A6D}" type="datetimeFigureOut">
              <a:rPr lang="pt-BR" smtClean="0"/>
              <a:t>24/03/2026</a:t>
            </a:fld>
            <a:endParaRPr lang="pt-BR"/>
          </a:p>
        </p:txBody>
      </p:sp>
      <p:sp>
        <p:nvSpPr>
          <p:cNvPr id="5" name="Espaço Reservado para Rodapé 4">
            <a:extLst>
              <a:ext uri="{FF2B5EF4-FFF2-40B4-BE49-F238E27FC236}">
                <a16:creationId xmlns:a16="http://schemas.microsoft.com/office/drawing/2014/main" id="{5F9C88EC-2A03-0BE8-6096-C618E3788D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83A640D-2AEB-AA52-CE93-6601BE6A22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8C0B3B-A50D-4B14-9D81-A18F38FBA0E7}" type="slidenum">
              <a:rPr lang="pt-BR" smtClean="0"/>
              <a:t>‹nº›</a:t>
            </a:fld>
            <a:endParaRPr lang="pt-BR"/>
          </a:p>
        </p:txBody>
      </p:sp>
      <p:pic>
        <p:nvPicPr>
          <p:cNvPr id="7" name="Imagem 6">
            <a:extLst>
              <a:ext uri="{FF2B5EF4-FFF2-40B4-BE49-F238E27FC236}">
                <a16:creationId xmlns:a16="http://schemas.microsoft.com/office/drawing/2014/main" id="{DB7A203D-BC99-19AC-1440-0053B22389FE}"/>
              </a:ext>
            </a:extLst>
          </p:cNvPr>
          <p:cNvPicPr>
            <a:picLocks noChangeAspect="1"/>
          </p:cNvPicPr>
          <p:nvPr userDrawn="1"/>
        </p:nvPicPr>
        <p:blipFill>
          <a:blip r:embed="rId13"/>
          <a:stretch>
            <a:fillRect/>
          </a:stretch>
        </p:blipFill>
        <p:spPr>
          <a:xfrm>
            <a:off x="8610600" y="104579"/>
            <a:ext cx="3481023" cy="480425"/>
          </a:xfrm>
          <a:prstGeom prst="rect">
            <a:avLst/>
          </a:prstGeom>
        </p:spPr>
      </p:pic>
    </p:spTree>
    <p:extLst>
      <p:ext uri="{BB962C8B-B14F-4D97-AF65-F5344CB8AC3E}">
        <p14:creationId xmlns:p14="http://schemas.microsoft.com/office/powerpoint/2010/main" val="416680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bruno.penteado@unesp.b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stsc.hill.af.mil/crosstalk/1996/01/Boein777.asp"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www.boeing.com/news/techissues/pdf/statsum.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calleam.com/WTPF/?page_id=2086"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unnyday.mit.edu/papers/therac.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xame.com/tecnologia/algoritmo-de-saude-deu-preferencia-a-pacientes-brancos-diz-pesquisa/"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eg"/></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hyperlink" Target="https://www.youtube.com/watch?v=oDXDYjksMds" TargetMode="Externa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researchgate.net/publication/50844135_The_supply_chain_of_enterprise_software_strategy_structure_and_coordination/figures?lo=1" TargetMode="External"/><Relationship Id="rId5" Type="http://schemas.openxmlformats.org/officeDocument/2006/relationships/image" Target="../media/image26.jpeg"/><Relationship Id="rId4" Type="http://schemas.openxmlformats.org/officeDocument/2006/relationships/hyperlink" Target="https://classhall.com/lesson/meaning-classification-and-types-of-application-softwar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mailto:http://www.mtecbo.gov.br/cbosite/pages/downloads.js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gerentesdeprojetos.com/2021/05/27/visao-geral-sobre-estruturas-organizacionais-na-gestao-de-projetos/" TargetMode="External"/><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https://gerentesdeprojetos.com/2021/05/27/visao-geral-sobre-estruturas-organizacionais-na-gestao-de-projetos/" TargetMode="External"/><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gerentesdeprojetos.com/2021/05/27/visao-geral-sobre-estruturas-organizacionais-na-gestao-de-projetos/" TargetMode="External"/><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363E36-76F9-735E-9575-2C58BFBEFFE5}"/>
              </a:ext>
            </a:extLst>
          </p:cNvPr>
          <p:cNvSpPr>
            <a:spLocks noGrp="1"/>
          </p:cNvSpPr>
          <p:nvPr>
            <p:ph type="ctrTitle"/>
          </p:nvPr>
        </p:nvSpPr>
        <p:spPr/>
        <p:txBody>
          <a:bodyPr/>
          <a:lstStyle/>
          <a:p>
            <a:r>
              <a:rPr lang="pt-BR" dirty="0"/>
              <a:t>Gerenciamento de projetos</a:t>
            </a:r>
          </a:p>
        </p:txBody>
      </p:sp>
      <p:sp>
        <p:nvSpPr>
          <p:cNvPr id="3" name="Subtítulo 2">
            <a:extLst>
              <a:ext uri="{FF2B5EF4-FFF2-40B4-BE49-F238E27FC236}">
                <a16:creationId xmlns:a16="http://schemas.microsoft.com/office/drawing/2014/main" id="{CA2B18CC-1058-8B16-C2ED-70631A8204F5}"/>
              </a:ext>
            </a:extLst>
          </p:cNvPr>
          <p:cNvSpPr>
            <a:spLocks noGrp="1"/>
          </p:cNvSpPr>
          <p:nvPr>
            <p:ph type="subTitle" idx="1"/>
          </p:nvPr>
        </p:nvSpPr>
        <p:spPr/>
        <p:txBody>
          <a:bodyPr/>
          <a:lstStyle/>
          <a:p>
            <a:r>
              <a:rPr lang="pt-BR" dirty="0"/>
              <a:t>Bruno Elias Penteado</a:t>
            </a:r>
          </a:p>
          <a:p>
            <a:r>
              <a:rPr lang="pt-BR" i="1" dirty="0">
                <a:hlinkClick r:id="rId2"/>
              </a:rPr>
              <a:t>bruno.penteado@unesp.br</a:t>
            </a:r>
            <a:r>
              <a:rPr lang="pt-BR" i="1" dirty="0"/>
              <a:t> </a:t>
            </a:r>
          </a:p>
        </p:txBody>
      </p:sp>
    </p:spTree>
    <p:extLst>
      <p:ext uri="{BB962C8B-B14F-4D97-AF65-F5344CB8AC3E}">
        <p14:creationId xmlns:p14="http://schemas.microsoft.com/office/powerpoint/2010/main" val="1873261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6585BE-8F15-FDFF-6B15-21F5AD1F09EB}"/>
              </a:ext>
            </a:extLst>
          </p:cNvPr>
          <p:cNvSpPr>
            <a:spLocks noGrp="1"/>
          </p:cNvSpPr>
          <p:nvPr>
            <p:ph type="title"/>
          </p:nvPr>
        </p:nvSpPr>
        <p:spPr/>
        <p:txBody>
          <a:bodyPr/>
          <a:lstStyle/>
          <a:p>
            <a:r>
              <a:rPr lang="pt-BR" dirty="0"/>
              <a:t>Quem sou eu</a:t>
            </a:r>
          </a:p>
        </p:txBody>
      </p:sp>
      <p:sp>
        <p:nvSpPr>
          <p:cNvPr id="3" name="Espaço Reservado para Conteúdo 2">
            <a:extLst>
              <a:ext uri="{FF2B5EF4-FFF2-40B4-BE49-F238E27FC236}">
                <a16:creationId xmlns:a16="http://schemas.microsoft.com/office/drawing/2014/main" id="{832067C6-25FC-7E1B-95BE-C6D88129D21D}"/>
              </a:ext>
            </a:extLst>
          </p:cNvPr>
          <p:cNvSpPr>
            <a:spLocks noGrp="1"/>
          </p:cNvSpPr>
          <p:nvPr>
            <p:ph idx="1"/>
          </p:nvPr>
        </p:nvSpPr>
        <p:spPr/>
        <p:txBody>
          <a:bodyPr>
            <a:normAutofit fontScale="62500" lnSpcReduction="20000"/>
          </a:bodyPr>
          <a:lstStyle/>
          <a:p>
            <a:r>
              <a:rPr lang="pt-BR" dirty="0"/>
              <a:t>Experiência acadêmica </a:t>
            </a:r>
          </a:p>
          <a:p>
            <a:pPr lvl="1"/>
            <a:r>
              <a:rPr lang="pt-BR" dirty="0"/>
              <a:t>Bacharel em SI Unesp Bauru – TCC: Leis e inovações em software no Brasil</a:t>
            </a:r>
          </a:p>
          <a:p>
            <a:pPr lvl="1"/>
            <a:r>
              <a:rPr lang="pt-BR" dirty="0"/>
              <a:t>Mestre em CC Unesp Bauru – Dissertação: reconhecimento facial em e-learning;</a:t>
            </a:r>
          </a:p>
          <a:p>
            <a:pPr lvl="1"/>
            <a:r>
              <a:rPr lang="pt-BR" dirty="0"/>
              <a:t>Doutor em CC ICMC/USP – Tese: infraestrutura de publicação de dados abertos</a:t>
            </a:r>
          </a:p>
          <a:p>
            <a:pPr lvl="1"/>
            <a:r>
              <a:rPr lang="pt-BR" dirty="0"/>
              <a:t>Sanduíche no LIS/Aix-Marseille </a:t>
            </a:r>
            <a:r>
              <a:rPr lang="pt-BR" dirty="0" err="1"/>
              <a:t>Université</a:t>
            </a:r>
            <a:r>
              <a:rPr lang="pt-BR" dirty="0"/>
              <a:t> – Reconhecimento de sinais verbais e não verbais em agentes virtuais;</a:t>
            </a:r>
          </a:p>
          <a:p>
            <a:pPr lvl="1"/>
            <a:r>
              <a:rPr lang="pt-BR" dirty="0"/>
              <a:t>Pós-</a:t>
            </a:r>
            <a:r>
              <a:rPr lang="pt-BR" dirty="0" err="1"/>
              <a:t>doc</a:t>
            </a:r>
            <a:r>
              <a:rPr lang="pt-BR" dirty="0"/>
              <a:t> ICMC/USP – estrutura semântica para dados abertos educacionais</a:t>
            </a:r>
          </a:p>
          <a:p>
            <a:pPr lvl="2"/>
            <a:endParaRPr lang="pt-BR" dirty="0"/>
          </a:p>
          <a:p>
            <a:r>
              <a:rPr lang="pt-BR" dirty="0"/>
              <a:t>Experiência profissional</a:t>
            </a:r>
          </a:p>
          <a:p>
            <a:pPr lvl="1"/>
            <a:r>
              <a:rPr lang="pt-BR" dirty="0"/>
              <a:t>14 anos empresa de desenvolvimento de software educacionais (MSTECH)</a:t>
            </a:r>
          </a:p>
          <a:p>
            <a:pPr lvl="2"/>
            <a:r>
              <a:rPr lang="pt-BR" dirty="0" err="1"/>
              <a:t>Dev</a:t>
            </a:r>
            <a:r>
              <a:rPr lang="pt-BR" dirty="0"/>
              <a:t>, </a:t>
            </a:r>
            <a:r>
              <a:rPr lang="pt-BR" dirty="0" err="1"/>
              <a:t>tester</a:t>
            </a:r>
            <a:r>
              <a:rPr lang="pt-BR" dirty="0"/>
              <a:t>, gerente funcional, suporte, especialista técnico, suporte a vendas</a:t>
            </a:r>
          </a:p>
          <a:p>
            <a:pPr lvl="1"/>
            <a:r>
              <a:rPr lang="pt-BR" dirty="0"/>
              <a:t>5 anos pesquisador de IA na saúde (Fiocruz)</a:t>
            </a:r>
          </a:p>
          <a:p>
            <a:pPr lvl="2"/>
            <a:r>
              <a:rPr lang="pt-BR" dirty="0"/>
              <a:t>Papel da IA na saúde digital, ciência de dados na Epidemiologia</a:t>
            </a:r>
          </a:p>
          <a:p>
            <a:pPr lvl="1"/>
            <a:r>
              <a:rPr lang="pt-BR" dirty="0"/>
              <a:t>3 anos gerente de projetos na </a:t>
            </a:r>
            <a:r>
              <a:rPr lang="pt-BR" dirty="0" err="1"/>
              <a:t>Unespetro</a:t>
            </a:r>
            <a:r>
              <a:rPr lang="pt-BR" dirty="0"/>
              <a:t> (Unesp/Rio Claro)</a:t>
            </a:r>
          </a:p>
          <a:p>
            <a:pPr lvl="2"/>
            <a:r>
              <a:rPr lang="pt-BR" dirty="0"/>
              <a:t>Planejamento de entregas e implantação de ferramentas de IA (PLN, semântica, LLM) dentro da Petrobras</a:t>
            </a:r>
          </a:p>
          <a:p>
            <a:pPr lvl="2"/>
            <a:endParaRPr lang="pt-BR" dirty="0"/>
          </a:p>
          <a:p>
            <a:r>
              <a:rPr lang="pt-BR" dirty="0"/>
              <a:t>Experiência didática</a:t>
            </a:r>
          </a:p>
          <a:p>
            <a:pPr lvl="1"/>
            <a:r>
              <a:rPr lang="pt-BR" dirty="0"/>
              <a:t>Disciplinas de Engenharia de Software II e Laboratório de Banco de dados (DEMAC/2024)</a:t>
            </a:r>
          </a:p>
          <a:p>
            <a:endParaRPr lang="pt-BR" dirty="0"/>
          </a:p>
        </p:txBody>
      </p:sp>
    </p:spTree>
    <p:extLst>
      <p:ext uri="{BB962C8B-B14F-4D97-AF65-F5344CB8AC3E}">
        <p14:creationId xmlns:p14="http://schemas.microsoft.com/office/powerpoint/2010/main" val="148313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BDF34C-97A0-160B-5C94-291DD18692B9}"/>
              </a:ext>
            </a:extLst>
          </p:cNvPr>
          <p:cNvSpPr>
            <a:spLocks noGrp="1"/>
          </p:cNvSpPr>
          <p:nvPr>
            <p:ph type="title"/>
          </p:nvPr>
        </p:nvSpPr>
        <p:spPr/>
        <p:txBody>
          <a:bodyPr/>
          <a:lstStyle/>
          <a:p>
            <a:r>
              <a:rPr lang="pt-BR" dirty="0"/>
              <a:t>Apresentações</a:t>
            </a:r>
          </a:p>
        </p:txBody>
      </p:sp>
      <p:sp>
        <p:nvSpPr>
          <p:cNvPr id="3" name="Espaço Reservado para Conteúdo 2">
            <a:extLst>
              <a:ext uri="{FF2B5EF4-FFF2-40B4-BE49-F238E27FC236}">
                <a16:creationId xmlns:a16="http://schemas.microsoft.com/office/drawing/2014/main" id="{18AB87D7-751C-089F-0FB7-E3C6B9E6B46A}"/>
              </a:ext>
            </a:extLst>
          </p:cNvPr>
          <p:cNvSpPr>
            <a:spLocks noGrp="1"/>
          </p:cNvSpPr>
          <p:nvPr>
            <p:ph idx="1"/>
          </p:nvPr>
        </p:nvSpPr>
        <p:spPr/>
        <p:txBody>
          <a:bodyPr/>
          <a:lstStyle/>
          <a:p>
            <a:r>
              <a:rPr lang="pt-BR" dirty="0"/>
              <a:t>Quem são vocês?</a:t>
            </a:r>
          </a:p>
          <a:p>
            <a:pPr lvl="1"/>
            <a:r>
              <a:rPr lang="pt-BR" dirty="0"/>
              <a:t>Estágio? Projeto de Aplicação? Iniciação Científica?</a:t>
            </a:r>
          </a:p>
          <a:p>
            <a:pPr lvl="1"/>
            <a:r>
              <a:rPr lang="pt-BR" dirty="0"/>
              <a:t>O que achou de Engenharia de Software I / II?</a:t>
            </a:r>
          </a:p>
        </p:txBody>
      </p:sp>
    </p:spTree>
    <p:extLst>
      <p:ext uri="{BB962C8B-B14F-4D97-AF65-F5344CB8AC3E}">
        <p14:creationId xmlns:p14="http://schemas.microsoft.com/office/powerpoint/2010/main" val="3811306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9ACB93-4C08-B2FF-9C4B-494637B13248}"/>
              </a:ext>
            </a:extLst>
          </p:cNvPr>
          <p:cNvSpPr>
            <a:spLocks noGrp="1"/>
          </p:cNvSpPr>
          <p:nvPr>
            <p:ph type="title"/>
          </p:nvPr>
        </p:nvSpPr>
        <p:spPr/>
        <p:txBody>
          <a:bodyPr/>
          <a:lstStyle/>
          <a:p>
            <a:r>
              <a:rPr lang="pt-BR" dirty="0"/>
              <a:t>Objetivos</a:t>
            </a:r>
          </a:p>
        </p:txBody>
      </p:sp>
      <p:sp>
        <p:nvSpPr>
          <p:cNvPr id="3" name="Espaço Reservado para Conteúdo 2">
            <a:extLst>
              <a:ext uri="{FF2B5EF4-FFF2-40B4-BE49-F238E27FC236}">
                <a16:creationId xmlns:a16="http://schemas.microsoft.com/office/drawing/2014/main" id="{09D70975-5D0D-DEBC-897C-BA617BCC5CA7}"/>
              </a:ext>
            </a:extLst>
          </p:cNvPr>
          <p:cNvSpPr>
            <a:spLocks noGrp="1"/>
          </p:cNvSpPr>
          <p:nvPr>
            <p:ph idx="1"/>
          </p:nvPr>
        </p:nvSpPr>
        <p:spPr/>
        <p:txBody>
          <a:bodyPr>
            <a:normAutofit/>
          </a:bodyPr>
          <a:lstStyle/>
          <a:p>
            <a:pPr algn="l">
              <a:spcBef>
                <a:spcPts val="2400"/>
              </a:spcBef>
            </a:pPr>
            <a:r>
              <a:rPr lang="pt-BR" sz="3200" b="0" i="0" u="none" strike="noStrike" baseline="0" dirty="0">
                <a:latin typeface="DejaVuSans"/>
              </a:rPr>
              <a:t>Entender as </a:t>
            </a:r>
            <a:r>
              <a:rPr lang="pt-BR" sz="3200" b="1" i="0" u="none" strike="noStrike" baseline="0" dirty="0">
                <a:latin typeface="DejaVuSans"/>
              </a:rPr>
              <a:t>habilidades</a:t>
            </a:r>
            <a:r>
              <a:rPr lang="pt-BR" sz="3200" b="0" i="0" u="none" strike="noStrike" baseline="0" dirty="0">
                <a:latin typeface="DejaVuSans"/>
              </a:rPr>
              <a:t> essenciais para a realizar a gestão de projetos.</a:t>
            </a:r>
          </a:p>
          <a:p>
            <a:pPr algn="l">
              <a:spcBef>
                <a:spcPts val="2400"/>
              </a:spcBef>
            </a:pPr>
            <a:r>
              <a:rPr lang="pt-BR" sz="3200" b="0" i="0" u="none" strike="noStrike" baseline="0" dirty="0">
                <a:latin typeface="DejaVuSans"/>
              </a:rPr>
              <a:t>Aplicar </a:t>
            </a:r>
            <a:r>
              <a:rPr lang="pt-BR" sz="3200" b="1" i="0" u="none" strike="noStrike" baseline="0" dirty="0">
                <a:latin typeface="DejaVuSans"/>
              </a:rPr>
              <a:t>ferramentas</a:t>
            </a:r>
            <a:r>
              <a:rPr lang="pt-BR" sz="3200" b="0" i="0" u="none" strike="noStrike" baseline="0" dirty="0">
                <a:latin typeface="DejaVuSans"/>
              </a:rPr>
              <a:t> e </a:t>
            </a:r>
            <a:r>
              <a:rPr lang="pt-BR" sz="3200" b="1" i="0" u="none" strike="noStrike" baseline="0" dirty="0">
                <a:latin typeface="DejaVuSans"/>
              </a:rPr>
              <a:t>técnicas</a:t>
            </a:r>
            <a:r>
              <a:rPr lang="pt-BR" sz="3200" b="0" i="0" u="none" strike="noStrike" baseline="0" dirty="0">
                <a:latin typeface="DejaVuSans"/>
              </a:rPr>
              <a:t> da gestão de projetos.</a:t>
            </a:r>
          </a:p>
          <a:p>
            <a:pPr algn="l">
              <a:spcBef>
                <a:spcPts val="2400"/>
              </a:spcBef>
            </a:pPr>
            <a:r>
              <a:rPr lang="pt-BR" sz="3200" b="0" i="0" u="none" strike="noStrike" baseline="0" dirty="0">
                <a:latin typeface="DejaVuSans"/>
              </a:rPr>
              <a:t>E entender como atuar de maneira eficaz em equipes multifuncionais para a execução de projetos.</a:t>
            </a:r>
            <a:endParaRPr lang="pt-BR" sz="4400" dirty="0"/>
          </a:p>
        </p:txBody>
      </p:sp>
    </p:spTree>
    <p:extLst>
      <p:ext uri="{BB962C8B-B14F-4D97-AF65-F5344CB8AC3E}">
        <p14:creationId xmlns:p14="http://schemas.microsoft.com/office/powerpoint/2010/main" val="1004326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AE041F-4246-D014-A2E4-C7AAA1B6D680}"/>
              </a:ext>
            </a:extLst>
          </p:cNvPr>
          <p:cNvSpPr>
            <a:spLocks noGrp="1"/>
          </p:cNvSpPr>
          <p:nvPr>
            <p:ph type="title"/>
          </p:nvPr>
        </p:nvSpPr>
        <p:spPr/>
        <p:txBody>
          <a:bodyPr/>
          <a:lstStyle/>
          <a:p>
            <a:r>
              <a:rPr lang="pt-BR" dirty="0"/>
              <a:t>Expectativas</a:t>
            </a:r>
          </a:p>
        </p:txBody>
      </p:sp>
      <p:sp>
        <p:nvSpPr>
          <p:cNvPr id="3" name="Espaço Reservado para Conteúdo 2">
            <a:extLst>
              <a:ext uri="{FF2B5EF4-FFF2-40B4-BE49-F238E27FC236}">
                <a16:creationId xmlns:a16="http://schemas.microsoft.com/office/drawing/2014/main" id="{7C9408A6-A850-63E2-F560-1AE35358E511}"/>
              </a:ext>
            </a:extLst>
          </p:cNvPr>
          <p:cNvSpPr>
            <a:spLocks noGrp="1"/>
          </p:cNvSpPr>
          <p:nvPr>
            <p:ph idx="1"/>
          </p:nvPr>
        </p:nvSpPr>
        <p:spPr/>
        <p:txBody>
          <a:bodyPr/>
          <a:lstStyle/>
          <a:p>
            <a:r>
              <a:rPr lang="pt-BR" dirty="0"/>
              <a:t>Disciplina importante para profissionais que </a:t>
            </a:r>
            <a:r>
              <a:rPr lang="pt-BR" b="1" dirty="0"/>
              <a:t>trabalharão com software </a:t>
            </a:r>
          </a:p>
          <a:p>
            <a:pPr>
              <a:spcBef>
                <a:spcPts val="2400"/>
              </a:spcBef>
            </a:pPr>
            <a:r>
              <a:rPr lang="pt-BR" dirty="0"/>
              <a:t>Compreender o </a:t>
            </a:r>
            <a:r>
              <a:rPr lang="pt-BR" b="1" dirty="0"/>
              <a:t>contexto geral </a:t>
            </a:r>
            <a:r>
              <a:rPr lang="pt-BR" dirty="0"/>
              <a:t>do desenvolvimento do software</a:t>
            </a:r>
          </a:p>
          <a:p>
            <a:pPr>
              <a:spcBef>
                <a:spcPts val="2400"/>
              </a:spcBef>
            </a:pPr>
            <a:r>
              <a:rPr lang="pt-BR" dirty="0"/>
              <a:t>Compreender e elaborar </a:t>
            </a:r>
            <a:r>
              <a:rPr lang="pt-BR" b="1" dirty="0"/>
              <a:t>tarefas de gestão </a:t>
            </a:r>
            <a:r>
              <a:rPr lang="pt-BR" dirty="0"/>
              <a:t>de projetos</a:t>
            </a:r>
          </a:p>
          <a:p>
            <a:pPr>
              <a:spcBef>
                <a:spcPts val="2400"/>
              </a:spcBef>
            </a:pPr>
            <a:r>
              <a:rPr lang="pt-BR" dirty="0"/>
              <a:t>Trazer </a:t>
            </a:r>
            <a:r>
              <a:rPr lang="pt-BR" b="1" dirty="0"/>
              <a:t>minha experiência </a:t>
            </a:r>
            <a:r>
              <a:rPr lang="pt-BR" dirty="0"/>
              <a:t>com problemas mais comuns</a:t>
            </a:r>
          </a:p>
          <a:p>
            <a:pPr>
              <a:spcBef>
                <a:spcPts val="2400"/>
              </a:spcBef>
            </a:pPr>
            <a:r>
              <a:rPr lang="pt-BR" b="1" dirty="0"/>
              <a:t>Trocar experiências </a:t>
            </a:r>
            <a:r>
              <a:rPr lang="pt-BR" dirty="0"/>
              <a:t>de diferentes contextos, empresas e pessoas</a:t>
            </a:r>
          </a:p>
        </p:txBody>
      </p:sp>
    </p:spTree>
    <p:extLst>
      <p:ext uri="{BB962C8B-B14F-4D97-AF65-F5344CB8AC3E}">
        <p14:creationId xmlns:p14="http://schemas.microsoft.com/office/powerpoint/2010/main" val="319040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B50E60-1EDC-94ED-A402-FD08A912FD2A}"/>
              </a:ext>
            </a:extLst>
          </p:cNvPr>
          <p:cNvSpPr>
            <a:spLocks noGrp="1"/>
          </p:cNvSpPr>
          <p:nvPr>
            <p:ph type="title"/>
          </p:nvPr>
        </p:nvSpPr>
        <p:spPr/>
        <p:txBody>
          <a:bodyPr/>
          <a:lstStyle/>
          <a:p>
            <a:r>
              <a:rPr lang="pt-BR" dirty="0"/>
              <a:t>Avaliação</a:t>
            </a:r>
          </a:p>
        </p:txBody>
      </p:sp>
      <p:sp>
        <p:nvSpPr>
          <p:cNvPr id="3" name="Espaço Reservado para Conteúdo 2">
            <a:extLst>
              <a:ext uri="{FF2B5EF4-FFF2-40B4-BE49-F238E27FC236}">
                <a16:creationId xmlns:a16="http://schemas.microsoft.com/office/drawing/2014/main" id="{E3B2DF09-B7D2-ECEE-2AAF-19FD3309C05B}"/>
              </a:ext>
            </a:extLst>
          </p:cNvPr>
          <p:cNvSpPr>
            <a:spLocks noGrp="1"/>
          </p:cNvSpPr>
          <p:nvPr>
            <p:ph idx="1"/>
          </p:nvPr>
        </p:nvSpPr>
        <p:spPr/>
        <p:txBody>
          <a:bodyPr/>
          <a:lstStyle/>
          <a:p>
            <a:r>
              <a:rPr lang="pt-BR" dirty="0"/>
              <a:t>Prova</a:t>
            </a:r>
          </a:p>
          <a:p>
            <a:r>
              <a:rPr lang="pt-BR" dirty="0"/>
              <a:t>Seminário</a:t>
            </a:r>
          </a:p>
          <a:p>
            <a:r>
              <a:rPr lang="pt-BR" dirty="0"/>
              <a:t>Exercícios</a:t>
            </a:r>
          </a:p>
        </p:txBody>
      </p:sp>
    </p:spTree>
    <p:extLst>
      <p:ext uri="{BB962C8B-B14F-4D97-AF65-F5344CB8AC3E}">
        <p14:creationId xmlns:p14="http://schemas.microsoft.com/office/powerpoint/2010/main" val="1120079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363E36-76F9-735E-9575-2C58BFBEFFE5}"/>
              </a:ext>
            </a:extLst>
          </p:cNvPr>
          <p:cNvSpPr>
            <a:spLocks noGrp="1"/>
          </p:cNvSpPr>
          <p:nvPr>
            <p:ph type="ctrTitle"/>
          </p:nvPr>
        </p:nvSpPr>
        <p:spPr>
          <a:xfrm>
            <a:off x="1524000" y="2048338"/>
            <a:ext cx="9144000" cy="2387600"/>
          </a:xfrm>
        </p:spPr>
        <p:txBody>
          <a:bodyPr>
            <a:normAutofit fontScale="90000"/>
          </a:bodyPr>
          <a:lstStyle/>
          <a:p>
            <a:r>
              <a:rPr lang="pt-BR" dirty="0"/>
              <a:t>Aula 0 </a:t>
            </a:r>
            <a:br>
              <a:rPr lang="pt-BR" dirty="0"/>
            </a:br>
            <a:r>
              <a:rPr lang="pt-BR" dirty="0"/>
              <a:t>Conexão com a Engenharia de Software </a:t>
            </a:r>
          </a:p>
        </p:txBody>
      </p:sp>
      <p:sp>
        <p:nvSpPr>
          <p:cNvPr id="3" name="Subtítulo 2">
            <a:extLst>
              <a:ext uri="{FF2B5EF4-FFF2-40B4-BE49-F238E27FC236}">
                <a16:creationId xmlns:a16="http://schemas.microsoft.com/office/drawing/2014/main" id="{CA2B18CC-1058-8B16-C2ED-70631A8204F5}"/>
              </a:ext>
            </a:extLst>
          </p:cNvPr>
          <p:cNvSpPr>
            <a:spLocks noGrp="1"/>
          </p:cNvSpPr>
          <p:nvPr>
            <p:ph type="subTitle" idx="1"/>
          </p:nvPr>
        </p:nvSpPr>
        <p:spPr>
          <a:xfrm>
            <a:off x="1524000" y="4528013"/>
            <a:ext cx="9144000" cy="1655762"/>
          </a:xfrm>
        </p:spPr>
        <p:txBody>
          <a:bodyPr/>
          <a:lstStyle/>
          <a:p>
            <a:r>
              <a:rPr lang="pt-BR" dirty="0"/>
              <a:t>Bruno Elias Penteado</a:t>
            </a:r>
          </a:p>
        </p:txBody>
      </p:sp>
    </p:spTree>
    <p:extLst>
      <p:ext uri="{BB962C8B-B14F-4D97-AF65-F5344CB8AC3E}">
        <p14:creationId xmlns:p14="http://schemas.microsoft.com/office/powerpoint/2010/main" val="1231054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4634-A269-286A-B29D-93E249994EB0}"/>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D6FED27D-0760-1C35-DE52-D8E23C2BA920}"/>
              </a:ext>
            </a:extLst>
          </p:cNvPr>
          <p:cNvSpPr>
            <a:spLocks noGrp="1"/>
          </p:cNvSpPr>
          <p:nvPr>
            <p:ph idx="1"/>
          </p:nvPr>
        </p:nvSpPr>
        <p:spPr/>
        <p:txBody>
          <a:bodyPr>
            <a:normAutofit/>
          </a:bodyPr>
          <a:lstStyle/>
          <a:p>
            <a:pPr marL="914400" lvl="1" indent="-457200">
              <a:buFont typeface="+mj-lt"/>
              <a:buAutoNum type="arabicPeriod"/>
            </a:pPr>
            <a:r>
              <a:rPr lang="pt-BR" b="1" dirty="0"/>
              <a:t>Conexão com a Engenharia de Software</a:t>
            </a:r>
          </a:p>
          <a:p>
            <a:pPr marL="914400" lvl="1" indent="-457200">
              <a:buFont typeface="+mj-lt"/>
              <a:buAutoNum type="arabicPeriod"/>
            </a:pPr>
            <a:r>
              <a:rPr lang="pt-BR" dirty="0"/>
              <a:t>Complexidade do software</a:t>
            </a:r>
          </a:p>
          <a:p>
            <a:pPr marL="914400" lvl="1" indent="-457200">
              <a:buFont typeface="+mj-lt"/>
              <a:buAutoNum type="arabicPeriod"/>
            </a:pPr>
            <a:r>
              <a:rPr lang="pt-BR" dirty="0"/>
              <a:t>Introdução à gestão de projetos de software</a:t>
            </a:r>
          </a:p>
          <a:p>
            <a:pPr marL="914400" lvl="1" indent="-457200">
              <a:buFont typeface="+mj-lt"/>
              <a:buAutoNum type="arabicPeriod"/>
            </a:pPr>
            <a:r>
              <a:rPr lang="pt-BR" dirty="0"/>
              <a:t>Papel do gerente de projeto</a:t>
            </a:r>
          </a:p>
          <a:p>
            <a:endParaRPr lang="pt-BR" dirty="0"/>
          </a:p>
          <a:p>
            <a:endParaRPr lang="pt-BR" dirty="0"/>
          </a:p>
        </p:txBody>
      </p:sp>
      <p:sp>
        <p:nvSpPr>
          <p:cNvPr id="2" name="Título 1">
            <a:extLst>
              <a:ext uri="{FF2B5EF4-FFF2-40B4-BE49-F238E27FC236}">
                <a16:creationId xmlns:a16="http://schemas.microsoft.com/office/drawing/2014/main" id="{FC88A078-F92D-E322-AB76-AD5C746B6530}"/>
              </a:ext>
            </a:extLst>
          </p:cNvPr>
          <p:cNvSpPr>
            <a:spLocks noGrp="1"/>
          </p:cNvSpPr>
          <p:nvPr>
            <p:ph type="title"/>
          </p:nvPr>
        </p:nvSpPr>
        <p:spPr/>
        <p:txBody>
          <a:bodyPr/>
          <a:lstStyle/>
          <a:p>
            <a:r>
              <a:rPr lang="pt-BR" dirty="0"/>
              <a:t>Objetivos de hoje:</a:t>
            </a:r>
          </a:p>
        </p:txBody>
      </p:sp>
      <p:sp>
        <p:nvSpPr>
          <p:cNvPr id="9" name="Retângulo 8">
            <a:extLst>
              <a:ext uri="{FF2B5EF4-FFF2-40B4-BE49-F238E27FC236}">
                <a16:creationId xmlns:a16="http://schemas.microsoft.com/office/drawing/2014/main" id="{6963FE8A-DA53-5E37-6C8D-13C81E48A3AD}"/>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171850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B9D1A3-B63E-BB1B-3448-07676BB058BC}"/>
              </a:ext>
            </a:extLst>
          </p:cNvPr>
          <p:cNvSpPr>
            <a:spLocks noGrp="1"/>
          </p:cNvSpPr>
          <p:nvPr>
            <p:ph type="title"/>
          </p:nvPr>
        </p:nvSpPr>
        <p:spPr/>
        <p:txBody>
          <a:bodyPr/>
          <a:lstStyle/>
          <a:p>
            <a:r>
              <a:rPr lang="pt-BR" dirty="0"/>
              <a:t>O que é Engenharia de Software?</a:t>
            </a:r>
          </a:p>
        </p:txBody>
      </p:sp>
      <p:sp>
        <p:nvSpPr>
          <p:cNvPr id="3" name="Espaço Reservado para Conteúdo 2">
            <a:extLst>
              <a:ext uri="{FF2B5EF4-FFF2-40B4-BE49-F238E27FC236}">
                <a16:creationId xmlns:a16="http://schemas.microsoft.com/office/drawing/2014/main" id="{B1464A70-D9EC-C169-E8D1-4B31ADE48AAD}"/>
              </a:ext>
            </a:extLst>
          </p:cNvPr>
          <p:cNvSpPr>
            <a:spLocks noGrp="1"/>
          </p:cNvSpPr>
          <p:nvPr>
            <p:ph idx="1"/>
          </p:nvPr>
        </p:nvSpPr>
        <p:spPr/>
        <p:txBody>
          <a:bodyPr/>
          <a:lstStyle/>
          <a:p>
            <a:r>
              <a:rPr lang="pt-BR" dirty="0"/>
              <a:t>“</a:t>
            </a:r>
            <a:r>
              <a:rPr lang="pt-BR" i="1" dirty="0"/>
              <a:t>Engenharia de Software é a aplicação de uma abordagem </a:t>
            </a:r>
            <a:r>
              <a:rPr lang="pt-BR" b="1" i="1" dirty="0"/>
              <a:t>sistemática</a:t>
            </a:r>
            <a:r>
              <a:rPr lang="pt-BR" i="1" dirty="0"/>
              <a:t>, </a:t>
            </a:r>
            <a:r>
              <a:rPr lang="pt-BR" b="1" i="1" dirty="0"/>
              <a:t>disciplinada</a:t>
            </a:r>
            <a:r>
              <a:rPr lang="pt-BR" i="1" dirty="0"/>
              <a:t> e </a:t>
            </a:r>
            <a:r>
              <a:rPr lang="pt-BR" b="1" i="1" dirty="0"/>
              <a:t>quantificável</a:t>
            </a:r>
            <a:r>
              <a:rPr lang="pt-BR" i="1" dirty="0"/>
              <a:t> ao desenvolvimento, operação e manutenção de software</a:t>
            </a:r>
            <a:r>
              <a:rPr lang="pt-BR" dirty="0"/>
              <a:t>”</a:t>
            </a:r>
          </a:p>
          <a:p>
            <a:endParaRPr lang="pt-BR" dirty="0"/>
          </a:p>
        </p:txBody>
      </p:sp>
      <p:pic>
        <p:nvPicPr>
          <p:cNvPr id="11266" name="Picture 2" descr="IEEE Standard Glossary of Software Engineering Terminology/IEEE Std 610.12- 1990 | Amazon.com.br">
            <a:extLst>
              <a:ext uri="{FF2B5EF4-FFF2-40B4-BE49-F238E27FC236}">
                <a16:creationId xmlns:a16="http://schemas.microsoft.com/office/drawing/2014/main" id="{44F6398E-C264-E4A3-CF2B-54826BD47F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4626" y="3012869"/>
            <a:ext cx="2686533" cy="3480006"/>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6894BC17-91FE-879D-0D00-6F3F7953CAE3}"/>
              </a:ext>
            </a:extLst>
          </p:cNvPr>
          <p:cNvSpPr txBox="1"/>
          <p:nvPr/>
        </p:nvSpPr>
        <p:spPr>
          <a:xfrm>
            <a:off x="4255383" y="5936250"/>
            <a:ext cx="2686534" cy="375650"/>
          </a:xfrm>
          <a:prstGeom prst="rect">
            <a:avLst/>
          </a:prstGeom>
          <a:noFill/>
        </p:spPr>
        <p:txBody>
          <a:bodyPr wrap="square">
            <a:spAutoFit/>
          </a:bodyPr>
          <a:lstStyle/>
          <a:p>
            <a:pPr algn="r">
              <a:buNone/>
            </a:pPr>
            <a:r>
              <a:rPr lang="pt-BR" b="1" dirty="0"/>
              <a:t>IEEE </a:t>
            </a:r>
            <a:r>
              <a:rPr lang="pt-BR" b="1" dirty="0" err="1"/>
              <a:t>Std</a:t>
            </a:r>
            <a:r>
              <a:rPr lang="pt-BR" b="1" dirty="0"/>
              <a:t> 610.12 (1990)</a:t>
            </a:r>
          </a:p>
        </p:txBody>
      </p:sp>
    </p:spTree>
    <p:extLst>
      <p:ext uri="{BB962C8B-B14F-4D97-AF65-F5344CB8AC3E}">
        <p14:creationId xmlns:p14="http://schemas.microsoft.com/office/powerpoint/2010/main" val="937720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D6DC84-B3B6-4EEA-1B7B-1C520CD585E9}"/>
              </a:ext>
            </a:extLst>
          </p:cNvPr>
          <p:cNvSpPr>
            <a:spLocks noGrp="1"/>
          </p:cNvSpPr>
          <p:nvPr>
            <p:ph type="title"/>
          </p:nvPr>
        </p:nvSpPr>
        <p:spPr/>
        <p:txBody>
          <a:bodyPr/>
          <a:lstStyle/>
          <a:p>
            <a:r>
              <a:rPr lang="pt-BR" dirty="0"/>
              <a:t>Mas eu já sei modelar e programar!</a:t>
            </a:r>
          </a:p>
        </p:txBody>
      </p:sp>
      <p:sp>
        <p:nvSpPr>
          <p:cNvPr id="3" name="Espaço Reservado para Conteúdo 2">
            <a:extLst>
              <a:ext uri="{FF2B5EF4-FFF2-40B4-BE49-F238E27FC236}">
                <a16:creationId xmlns:a16="http://schemas.microsoft.com/office/drawing/2014/main" id="{4EB5193A-93A9-3C02-0FE6-1943BCB3782C}"/>
              </a:ext>
            </a:extLst>
          </p:cNvPr>
          <p:cNvSpPr>
            <a:spLocks noGrp="1"/>
          </p:cNvSpPr>
          <p:nvPr>
            <p:ph idx="1"/>
          </p:nvPr>
        </p:nvSpPr>
        <p:spPr/>
        <p:txBody>
          <a:bodyPr/>
          <a:lstStyle/>
          <a:p>
            <a:r>
              <a:rPr lang="pt-BR" b="1" dirty="0"/>
              <a:t>Por que </a:t>
            </a:r>
            <a:r>
              <a:rPr lang="pt-BR" dirty="0"/>
              <a:t>preciso de </a:t>
            </a:r>
            <a:r>
              <a:rPr lang="pt-BR" b="1" dirty="0"/>
              <a:t>Gerenciamento de Projetos?</a:t>
            </a:r>
          </a:p>
          <a:p>
            <a:pPr lvl="1"/>
            <a:r>
              <a:rPr lang="pt-BR" b="1" dirty="0"/>
              <a:t>Modelar e programar </a:t>
            </a:r>
            <a:r>
              <a:rPr lang="pt-BR" dirty="0"/>
              <a:t>são parte </a:t>
            </a:r>
            <a:r>
              <a:rPr lang="pt-BR" b="1" dirty="0"/>
              <a:t>importante</a:t>
            </a:r>
            <a:r>
              <a:rPr lang="pt-BR" dirty="0"/>
              <a:t> do processo de Engenharia de Software, </a:t>
            </a:r>
            <a:r>
              <a:rPr lang="pt-BR" b="1" dirty="0"/>
              <a:t>mas não são tudo!</a:t>
            </a:r>
          </a:p>
          <a:p>
            <a:endParaRPr lang="pt-BR" dirty="0"/>
          </a:p>
          <a:p>
            <a:r>
              <a:rPr lang="pt-BR" dirty="0"/>
              <a:t>Precisamos também saber...</a:t>
            </a:r>
          </a:p>
          <a:p>
            <a:pPr lvl="1"/>
            <a:r>
              <a:rPr lang="pt-BR" dirty="0"/>
              <a:t>como estimar um projeto (tamanho, custo, cronograma), </a:t>
            </a:r>
          </a:p>
          <a:p>
            <a:pPr lvl="1"/>
            <a:r>
              <a:rPr lang="pt-BR" dirty="0"/>
              <a:t>como monitorar o andamento de um projeto,</a:t>
            </a:r>
          </a:p>
          <a:p>
            <a:pPr lvl="1"/>
            <a:r>
              <a:rPr lang="pt-BR" dirty="0"/>
              <a:t>como testar o software, </a:t>
            </a:r>
          </a:p>
          <a:p>
            <a:pPr lvl="1"/>
            <a:r>
              <a:rPr lang="pt-BR" dirty="0"/>
              <a:t>como controlar a evolução do software, </a:t>
            </a:r>
          </a:p>
          <a:p>
            <a:pPr lvl="1"/>
            <a:r>
              <a:rPr lang="pt-BR" dirty="0"/>
              <a:t>etc.</a:t>
            </a:r>
          </a:p>
          <a:p>
            <a:endParaRPr lang="pt-BR" dirty="0"/>
          </a:p>
        </p:txBody>
      </p:sp>
      <p:sp>
        <p:nvSpPr>
          <p:cNvPr id="4" name="CaixaDeTexto 3">
            <a:extLst>
              <a:ext uri="{FF2B5EF4-FFF2-40B4-BE49-F238E27FC236}">
                <a16:creationId xmlns:a16="http://schemas.microsoft.com/office/drawing/2014/main" id="{37E2DF7C-F36D-3AD0-AE3E-B58FA7338BB8}"/>
              </a:ext>
            </a:extLst>
          </p:cNvPr>
          <p:cNvSpPr txBox="1"/>
          <p:nvPr/>
        </p:nvSpPr>
        <p:spPr>
          <a:xfrm>
            <a:off x="9086127" y="5440100"/>
            <a:ext cx="2141315"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pt-BR" dirty="0"/>
              <a:t>Créditos: prof. Leonardo Murta (IC/UFF)</a:t>
            </a:r>
          </a:p>
        </p:txBody>
      </p:sp>
    </p:spTree>
    <p:extLst>
      <p:ext uri="{BB962C8B-B14F-4D97-AF65-F5344CB8AC3E}">
        <p14:creationId xmlns:p14="http://schemas.microsoft.com/office/powerpoint/2010/main" val="108607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BF4D2C-144C-7EBE-8F20-7F0518EAC82B}"/>
              </a:ext>
            </a:extLst>
          </p:cNvPr>
          <p:cNvSpPr>
            <a:spLocks noGrp="1"/>
          </p:cNvSpPr>
          <p:nvPr>
            <p:ph type="title"/>
          </p:nvPr>
        </p:nvSpPr>
        <p:spPr/>
        <p:txBody>
          <a:bodyPr/>
          <a:lstStyle/>
          <a:p>
            <a:r>
              <a:rPr lang="pt-BR" dirty="0"/>
              <a:t>Programas de faculdade</a:t>
            </a:r>
          </a:p>
        </p:txBody>
      </p:sp>
      <p:sp>
        <p:nvSpPr>
          <p:cNvPr id="3" name="Espaço Reservado para Conteúdo 2">
            <a:extLst>
              <a:ext uri="{FF2B5EF4-FFF2-40B4-BE49-F238E27FC236}">
                <a16:creationId xmlns:a16="http://schemas.microsoft.com/office/drawing/2014/main" id="{69786DC5-61DB-EF82-795E-34BB5EC567BB}"/>
              </a:ext>
            </a:extLst>
          </p:cNvPr>
          <p:cNvSpPr>
            <a:spLocks noGrp="1"/>
          </p:cNvSpPr>
          <p:nvPr>
            <p:ph idx="1"/>
          </p:nvPr>
        </p:nvSpPr>
        <p:spPr/>
        <p:txBody>
          <a:bodyPr/>
          <a:lstStyle/>
          <a:p>
            <a:r>
              <a:rPr lang="pt-BR" dirty="0"/>
              <a:t>Requisitos estáveis e bem definidos</a:t>
            </a:r>
          </a:p>
          <a:p>
            <a:r>
              <a:rPr lang="pt-BR" dirty="0"/>
              <a:t>Escopo pequeno (1 a 10 KLOCS)</a:t>
            </a:r>
          </a:p>
          <a:p>
            <a:r>
              <a:rPr lang="pt-BR" dirty="0"/>
              <a:t>Prazos razoáveis</a:t>
            </a:r>
          </a:p>
          <a:p>
            <a:r>
              <a:rPr lang="pt-BR" dirty="0"/>
              <a:t>Equipes pequenas</a:t>
            </a:r>
          </a:p>
          <a:p>
            <a:r>
              <a:rPr lang="pt-BR" dirty="0"/>
              <a:t>Mão de obra gratuita</a:t>
            </a:r>
          </a:p>
          <a:p>
            <a:r>
              <a:rPr lang="pt-BR" dirty="0"/>
              <a:t>Não entra em produção</a:t>
            </a:r>
          </a:p>
          <a:p>
            <a:r>
              <a:rPr lang="pt-BR" dirty="0"/>
              <a:t>Não tem usuário</a:t>
            </a:r>
          </a:p>
          <a:p>
            <a:r>
              <a:rPr lang="pt-BR" dirty="0"/>
              <a:t>Não precisa de manutenção</a:t>
            </a:r>
          </a:p>
          <a:p>
            <a:endParaRPr lang="pt-BR" dirty="0"/>
          </a:p>
        </p:txBody>
      </p:sp>
    </p:spTree>
    <p:extLst>
      <p:ext uri="{BB962C8B-B14F-4D97-AF65-F5344CB8AC3E}">
        <p14:creationId xmlns:p14="http://schemas.microsoft.com/office/powerpoint/2010/main" val="450256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E4713E-03FC-FCC9-A589-3615AB33C5AC}"/>
              </a:ext>
            </a:extLst>
          </p:cNvPr>
          <p:cNvSpPr>
            <a:spLocks noGrp="1"/>
          </p:cNvSpPr>
          <p:nvPr>
            <p:ph type="title"/>
          </p:nvPr>
        </p:nvSpPr>
        <p:spPr/>
        <p:txBody>
          <a:bodyPr/>
          <a:lstStyle/>
          <a:p>
            <a:r>
              <a:rPr lang="pt-BR" dirty="0"/>
              <a:t>Programas do “mundo real”</a:t>
            </a:r>
          </a:p>
        </p:txBody>
      </p:sp>
      <p:sp>
        <p:nvSpPr>
          <p:cNvPr id="3" name="Espaço Reservado para Conteúdo 2">
            <a:extLst>
              <a:ext uri="{FF2B5EF4-FFF2-40B4-BE49-F238E27FC236}">
                <a16:creationId xmlns:a16="http://schemas.microsoft.com/office/drawing/2014/main" id="{1FBDE4C3-7C16-6157-123C-AB8CBA51544C}"/>
              </a:ext>
            </a:extLst>
          </p:cNvPr>
          <p:cNvSpPr>
            <a:spLocks noGrp="1"/>
          </p:cNvSpPr>
          <p:nvPr>
            <p:ph idx="1"/>
          </p:nvPr>
        </p:nvSpPr>
        <p:spPr/>
        <p:txBody>
          <a:bodyPr/>
          <a:lstStyle/>
          <a:p>
            <a:r>
              <a:rPr lang="pt-BR" dirty="0"/>
              <a:t>Fazer software no “mundo real” deve considerar fatores como:</a:t>
            </a:r>
          </a:p>
          <a:p>
            <a:pPr lvl="1"/>
            <a:r>
              <a:rPr lang="pt-BR" dirty="0"/>
              <a:t>Escopo</a:t>
            </a:r>
          </a:p>
          <a:p>
            <a:pPr lvl="1"/>
            <a:r>
              <a:rPr lang="pt-BR" dirty="0"/>
              <a:t>Custo</a:t>
            </a:r>
          </a:p>
          <a:p>
            <a:pPr lvl="1"/>
            <a:r>
              <a:rPr lang="pt-BR" dirty="0"/>
              <a:t>Prazo</a:t>
            </a:r>
          </a:p>
          <a:p>
            <a:pPr lvl="1"/>
            <a:r>
              <a:rPr lang="pt-BR" dirty="0"/>
              <a:t>Qualidade</a:t>
            </a:r>
          </a:p>
          <a:p>
            <a:pPr lvl="1"/>
            <a:endParaRPr lang="pt-BR" dirty="0"/>
          </a:p>
          <a:p>
            <a:r>
              <a:rPr lang="pt-BR" dirty="0"/>
              <a:t>Em função do tamanho do software, esses fatores se tornam difíceis de garantir!</a:t>
            </a:r>
          </a:p>
          <a:p>
            <a:endParaRPr lang="pt-BR" dirty="0"/>
          </a:p>
        </p:txBody>
      </p:sp>
    </p:spTree>
    <p:extLst>
      <p:ext uri="{BB962C8B-B14F-4D97-AF65-F5344CB8AC3E}">
        <p14:creationId xmlns:p14="http://schemas.microsoft.com/office/powerpoint/2010/main" val="3355963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BA238E-B7D4-3D2B-689D-3757030A69F5}"/>
              </a:ext>
            </a:extLst>
          </p:cNvPr>
          <p:cNvSpPr>
            <a:spLocks noGrp="1"/>
          </p:cNvSpPr>
          <p:nvPr>
            <p:ph type="title"/>
          </p:nvPr>
        </p:nvSpPr>
        <p:spPr/>
        <p:txBody>
          <a:bodyPr/>
          <a:lstStyle/>
          <a:p>
            <a:r>
              <a:rPr lang="pt-BR" dirty="0"/>
              <a:t>Cenário 1: Agenda Pessoal</a:t>
            </a:r>
          </a:p>
        </p:txBody>
      </p:sp>
      <p:sp>
        <p:nvSpPr>
          <p:cNvPr id="3" name="Espaço Reservado para Conteúdo 2">
            <a:extLst>
              <a:ext uri="{FF2B5EF4-FFF2-40B4-BE49-F238E27FC236}">
                <a16:creationId xmlns:a16="http://schemas.microsoft.com/office/drawing/2014/main" id="{BF6DA257-0830-9F5A-C3B3-F9823C82ABDC}"/>
              </a:ext>
            </a:extLst>
          </p:cNvPr>
          <p:cNvSpPr>
            <a:spLocks noGrp="1"/>
          </p:cNvSpPr>
          <p:nvPr>
            <p:ph idx="1"/>
          </p:nvPr>
        </p:nvSpPr>
        <p:spPr/>
        <p:txBody>
          <a:bodyPr/>
          <a:lstStyle/>
          <a:p>
            <a:r>
              <a:rPr lang="pt-BR" dirty="0"/>
              <a:t>Objetivo</a:t>
            </a:r>
          </a:p>
          <a:p>
            <a:pPr lvl="1"/>
            <a:r>
              <a:rPr lang="pt-BR" dirty="0"/>
              <a:t>Guardar o nome e o aniversário de até 50 pessoas</a:t>
            </a:r>
          </a:p>
          <a:p>
            <a:endParaRPr lang="pt-BR" dirty="0"/>
          </a:p>
          <a:p>
            <a:r>
              <a:rPr lang="pt-BR" dirty="0"/>
              <a:t>Quanto custa para fazer?</a:t>
            </a:r>
          </a:p>
          <a:p>
            <a:r>
              <a:rPr lang="pt-BR" dirty="0"/>
              <a:t>Quanto tempo vai levar para ficar pronto?</a:t>
            </a:r>
          </a:p>
          <a:p>
            <a:r>
              <a:rPr lang="pt-BR" dirty="0"/>
              <a:t>Qual a consequência no caso de defeito?</a:t>
            </a:r>
          </a:p>
          <a:p>
            <a:endParaRPr lang="pt-BR" dirty="0"/>
          </a:p>
        </p:txBody>
      </p:sp>
    </p:spTree>
    <p:extLst>
      <p:ext uri="{BB962C8B-B14F-4D97-AF65-F5344CB8AC3E}">
        <p14:creationId xmlns:p14="http://schemas.microsoft.com/office/powerpoint/2010/main" val="3264641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0D61CF-2BF0-06C9-2769-7CB99C8756B4}"/>
              </a:ext>
            </a:extLst>
          </p:cNvPr>
          <p:cNvSpPr>
            <a:spLocks noGrp="1"/>
          </p:cNvSpPr>
          <p:nvPr>
            <p:ph type="title"/>
          </p:nvPr>
        </p:nvSpPr>
        <p:spPr/>
        <p:txBody>
          <a:bodyPr/>
          <a:lstStyle/>
          <a:p>
            <a:r>
              <a:rPr lang="pt-BR" dirty="0"/>
              <a:t>Cenário 2: Boeing 777</a:t>
            </a:r>
          </a:p>
        </p:txBody>
      </p:sp>
      <p:sp>
        <p:nvSpPr>
          <p:cNvPr id="3" name="Espaço Reservado para Conteúdo 2">
            <a:extLst>
              <a:ext uri="{FF2B5EF4-FFF2-40B4-BE49-F238E27FC236}">
                <a16:creationId xmlns:a16="http://schemas.microsoft.com/office/drawing/2014/main" id="{F9A85C60-32B2-24F5-B4D1-E3DD14CBAF35}"/>
              </a:ext>
            </a:extLst>
          </p:cNvPr>
          <p:cNvSpPr>
            <a:spLocks noGrp="1"/>
          </p:cNvSpPr>
          <p:nvPr>
            <p:ph idx="1"/>
          </p:nvPr>
        </p:nvSpPr>
        <p:spPr/>
        <p:txBody>
          <a:bodyPr/>
          <a:lstStyle/>
          <a:p>
            <a:r>
              <a:rPr lang="pt-BR" dirty="0"/>
              <a:t>Objetivo</a:t>
            </a:r>
          </a:p>
          <a:p>
            <a:pPr lvl="1"/>
            <a:r>
              <a:rPr lang="pt-BR" dirty="0"/>
              <a:t>Controlar todo o hardware do Boeing 777</a:t>
            </a:r>
          </a:p>
          <a:p>
            <a:pPr>
              <a:buNone/>
            </a:pPr>
            <a:endParaRPr lang="pt-BR" dirty="0"/>
          </a:p>
          <a:p>
            <a:r>
              <a:rPr lang="pt-BR" dirty="0"/>
              <a:t>Quanto custa para fazer?</a:t>
            </a:r>
          </a:p>
          <a:p>
            <a:r>
              <a:rPr lang="pt-BR" dirty="0"/>
              <a:t>Quanto tempo vai levar para ficar pronto?</a:t>
            </a:r>
          </a:p>
          <a:p>
            <a:r>
              <a:rPr lang="pt-BR" dirty="0"/>
              <a:t>Qual a consequência no caso de defeito?</a:t>
            </a:r>
          </a:p>
          <a:p>
            <a:endParaRPr lang="pt-BR" dirty="0"/>
          </a:p>
        </p:txBody>
      </p:sp>
      <p:pic>
        <p:nvPicPr>
          <p:cNvPr id="4" name="Picture 2">
            <a:extLst>
              <a:ext uri="{FF2B5EF4-FFF2-40B4-BE49-F238E27FC236}">
                <a16:creationId xmlns:a16="http://schemas.microsoft.com/office/drawing/2014/main" id="{73561237-3851-F14D-FB90-02F9273F3036}"/>
              </a:ext>
            </a:extLst>
          </p:cNvPr>
          <p:cNvPicPr>
            <a:picLocks noChangeAspect="1" noChangeArrowheads="1"/>
          </p:cNvPicPr>
          <p:nvPr/>
        </p:nvPicPr>
        <p:blipFill>
          <a:blip r:embed="rId2" cstate="print"/>
          <a:srcRect/>
          <a:stretch>
            <a:fillRect/>
          </a:stretch>
        </p:blipFill>
        <p:spPr bwMode="auto">
          <a:xfrm>
            <a:off x="8076243" y="1996990"/>
            <a:ext cx="3044185" cy="2285996"/>
          </a:xfrm>
          <a:prstGeom prst="rect">
            <a:avLst/>
          </a:prstGeom>
          <a:noFill/>
          <a:ln w="9525">
            <a:noFill/>
            <a:miter lim="800000"/>
            <a:headEnd/>
            <a:tailEnd/>
          </a:ln>
          <a:effectLst/>
        </p:spPr>
      </p:pic>
    </p:spTree>
    <p:extLst>
      <p:ext uri="{BB962C8B-B14F-4D97-AF65-F5344CB8AC3E}">
        <p14:creationId xmlns:p14="http://schemas.microsoft.com/office/powerpoint/2010/main" val="476571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B9EB4C-AC38-0D1B-AA49-56DFEA5E8B5A}"/>
              </a:ext>
            </a:extLst>
          </p:cNvPr>
          <p:cNvSpPr>
            <a:spLocks noGrp="1"/>
          </p:cNvSpPr>
          <p:nvPr>
            <p:ph type="title"/>
          </p:nvPr>
        </p:nvSpPr>
        <p:spPr/>
        <p:txBody>
          <a:bodyPr/>
          <a:lstStyle/>
          <a:p>
            <a:r>
              <a:rPr lang="pt-BR" dirty="0"/>
              <a:t>Cenário 2: Boeing 777</a:t>
            </a:r>
          </a:p>
        </p:txBody>
      </p:sp>
      <p:sp>
        <p:nvSpPr>
          <p:cNvPr id="3" name="Espaço Reservado para Conteúdo 2">
            <a:extLst>
              <a:ext uri="{FF2B5EF4-FFF2-40B4-BE49-F238E27FC236}">
                <a16:creationId xmlns:a16="http://schemas.microsoft.com/office/drawing/2014/main" id="{8ED73E41-D6C5-0084-EC10-B9D67E127925}"/>
              </a:ext>
            </a:extLst>
          </p:cNvPr>
          <p:cNvSpPr>
            <a:spLocks noGrp="1"/>
          </p:cNvSpPr>
          <p:nvPr>
            <p:ph idx="1"/>
          </p:nvPr>
        </p:nvSpPr>
        <p:spPr/>
        <p:txBody>
          <a:bodyPr>
            <a:normAutofit fontScale="85000" lnSpcReduction="20000"/>
          </a:bodyPr>
          <a:lstStyle/>
          <a:p>
            <a:r>
              <a:rPr lang="pt-BR" dirty="0"/>
              <a:t>Tamanho</a:t>
            </a:r>
          </a:p>
          <a:p>
            <a:pPr lvl="1"/>
            <a:r>
              <a:rPr lang="pt-BR" dirty="0"/>
              <a:t>Mais de 4 milhões de linhas de código</a:t>
            </a:r>
          </a:p>
          <a:p>
            <a:pPr lvl="1"/>
            <a:r>
              <a:rPr lang="pt-BR" dirty="0"/>
              <a:t>Linguagem dominante (&gt;99%): Ada</a:t>
            </a:r>
          </a:p>
          <a:p>
            <a:pPr>
              <a:spcBef>
                <a:spcPts val="2400"/>
              </a:spcBef>
            </a:pPr>
            <a:r>
              <a:rPr lang="pt-BR" dirty="0"/>
              <a:t>Documentação</a:t>
            </a:r>
          </a:p>
          <a:p>
            <a:pPr lvl="1"/>
            <a:r>
              <a:rPr lang="pt-BR" dirty="0"/>
              <a:t>De 100 a 10.000 páginas por </a:t>
            </a:r>
            <a:r>
              <a:rPr lang="pt-BR" dirty="0" err="1"/>
              <a:t>sub-sistema</a:t>
            </a:r>
            <a:endParaRPr lang="pt-BR" dirty="0"/>
          </a:p>
          <a:p>
            <a:pPr lvl="1"/>
            <a:r>
              <a:rPr lang="pt-BR" dirty="0"/>
              <a:t>Total de 79 </a:t>
            </a:r>
            <a:r>
              <a:rPr lang="pt-BR" dirty="0" err="1"/>
              <a:t>sub-sistemas</a:t>
            </a:r>
            <a:r>
              <a:rPr lang="pt-BR" dirty="0"/>
              <a:t> integrados</a:t>
            </a:r>
          </a:p>
          <a:p>
            <a:pPr>
              <a:spcBef>
                <a:spcPts val="2400"/>
              </a:spcBef>
            </a:pPr>
            <a:r>
              <a:rPr lang="pt-BR" dirty="0"/>
              <a:t>Duração</a:t>
            </a:r>
          </a:p>
          <a:p>
            <a:pPr lvl="1"/>
            <a:r>
              <a:rPr lang="pt-BR" dirty="0"/>
              <a:t>4,5 anos de desenvolvimento</a:t>
            </a:r>
          </a:p>
          <a:p>
            <a:pPr>
              <a:spcBef>
                <a:spcPts val="2400"/>
              </a:spcBef>
            </a:pPr>
            <a:r>
              <a:rPr lang="pt-BR" dirty="0"/>
              <a:t>Ampla utilização de Engenharia de Software</a:t>
            </a:r>
          </a:p>
          <a:p>
            <a:pPr>
              <a:spcBef>
                <a:spcPts val="2400"/>
              </a:spcBef>
            </a:pPr>
            <a:r>
              <a:rPr lang="pt-BR" dirty="0"/>
              <a:t>Em operação desde 1995</a:t>
            </a:r>
          </a:p>
          <a:p>
            <a:pPr lvl="1"/>
            <a:r>
              <a:rPr lang="pt-BR" dirty="0"/>
              <a:t>Zero acidentes graves até 2006</a:t>
            </a:r>
          </a:p>
          <a:p>
            <a:endParaRPr lang="pt-BR" dirty="0"/>
          </a:p>
        </p:txBody>
      </p:sp>
      <p:pic>
        <p:nvPicPr>
          <p:cNvPr id="4" name="Picture 2">
            <a:extLst>
              <a:ext uri="{FF2B5EF4-FFF2-40B4-BE49-F238E27FC236}">
                <a16:creationId xmlns:a16="http://schemas.microsoft.com/office/drawing/2014/main" id="{26615321-4F8B-9D52-7049-E28524846345}"/>
              </a:ext>
            </a:extLst>
          </p:cNvPr>
          <p:cNvPicPr>
            <a:picLocks noChangeAspect="1" noChangeArrowheads="1"/>
          </p:cNvPicPr>
          <p:nvPr/>
        </p:nvPicPr>
        <p:blipFill>
          <a:blip r:embed="rId2" cstate="print"/>
          <a:srcRect/>
          <a:stretch>
            <a:fillRect/>
          </a:stretch>
        </p:blipFill>
        <p:spPr bwMode="auto">
          <a:xfrm>
            <a:off x="8298517" y="1928274"/>
            <a:ext cx="2762554" cy="2073020"/>
          </a:xfrm>
          <a:prstGeom prst="rect">
            <a:avLst/>
          </a:prstGeom>
          <a:noFill/>
          <a:ln w="9525">
            <a:noFill/>
            <a:miter lim="800000"/>
            <a:headEnd/>
            <a:tailEnd/>
          </a:ln>
          <a:effectLst/>
        </p:spPr>
      </p:pic>
      <p:sp>
        <p:nvSpPr>
          <p:cNvPr id="5" name="CaixaDeTexto 4">
            <a:extLst>
              <a:ext uri="{FF2B5EF4-FFF2-40B4-BE49-F238E27FC236}">
                <a16:creationId xmlns:a16="http://schemas.microsoft.com/office/drawing/2014/main" id="{A9EEE3F5-5128-2550-15AC-0FD88786995D}"/>
              </a:ext>
            </a:extLst>
          </p:cNvPr>
          <p:cNvSpPr txBox="1"/>
          <p:nvPr/>
        </p:nvSpPr>
        <p:spPr>
          <a:xfrm>
            <a:off x="6004708" y="5317497"/>
            <a:ext cx="6032485" cy="661720"/>
          </a:xfrm>
          <a:prstGeom prst="rect">
            <a:avLst/>
          </a:prstGeom>
          <a:noFill/>
        </p:spPr>
        <p:txBody>
          <a:bodyPr wrap="square" rtlCol="0">
            <a:spAutoFit/>
          </a:bodyPr>
          <a:lstStyle/>
          <a:p>
            <a:pPr algn="ctr">
              <a:spcBef>
                <a:spcPts val="600"/>
              </a:spcBef>
            </a:pPr>
            <a:r>
              <a:rPr lang="pt-BR" sz="1600" dirty="0">
                <a:hlinkClick r:id="rId3"/>
              </a:rPr>
              <a:t>http://www.stsc.hill.af.mil/crosstalk/1996/01/Boein777.asp</a:t>
            </a:r>
            <a:r>
              <a:rPr lang="pt-BR" sz="1600" dirty="0"/>
              <a:t> </a:t>
            </a:r>
          </a:p>
          <a:p>
            <a:pPr algn="ctr">
              <a:spcBef>
                <a:spcPts val="600"/>
              </a:spcBef>
            </a:pPr>
            <a:r>
              <a:rPr lang="pt-BR" sz="1600" dirty="0">
                <a:hlinkClick r:id="rId4"/>
              </a:rPr>
              <a:t>http://www.boeing.com/news/techissues/pdf/statsum.pdf</a:t>
            </a:r>
            <a:r>
              <a:rPr lang="pt-BR" sz="1600" dirty="0"/>
              <a:t> </a:t>
            </a:r>
          </a:p>
        </p:txBody>
      </p:sp>
    </p:spTree>
    <p:extLst>
      <p:ext uri="{BB962C8B-B14F-4D97-AF65-F5344CB8AC3E}">
        <p14:creationId xmlns:p14="http://schemas.microsoft.com/office/powerpoint/2010/main" val="136337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D0016-7B34-A5C9-AD26-83B715031590}"/>
              </a:ext>
            </a:extLst>
          </p:cNvPr>
          <p:cNvSpPr>
            <a:spLocks noGrp="1"/>
          </p:cNvSpPr>
          <p:nvPr>
            <p:ph type="title"/>
          </p:nvPr>
        </p:nvSpPr>
        <p:spPr/>
        <p:txBody>
          <a:bodyPr/>
          <a:lstStyle/>
          <a:p>
            <a:r>
              <a:rPr lang="pt-BR" dirty="0"/>
              <a:t>Desenvolvimento de software....</a:t>
            </a:r>
          </a:p>
        </p:txBody>
      </p:sp>
      <p:sp>
        <p:nvSpPr>
          <p:cNvPr id="3" name="Espaço Reservado para Conteúdo 2">
            <a:extLst>
              <a:ext uri="{FF2B5EF4-FFF2-40B4-BE49-F238E27FC236}">
                <a16:creationId xmlns:a16="http://schemas.microsoft.com/office/drawing/2014/main" id="{7E8BD544-039C-40CC-B47E-00B34072664E}"/>
              </a:ext>
            </a:extLst>
          </p:cNvPr>
          <p:cNvSpPr>
            <a:spLocks noGrp="1"/>
          </p:cNvSpPr>
          <p:nvPr>
            <p:ph idx="1"/>
          </p:nvPr>
        </p:nvSpPr>
        <p:spPr/>
        <p:txBody>
          <a:bodyPr/>
          <a:lstStyle/>
          <a:p>
            <a:r>
              <a:rPr lang="pt-BR" dirty="0"/>
              <a:t>Parte arte, parte engenharia...</a:t>
            </a:r>
          </a:p>
          <a:p>
            <a:pPr lvl="1"/>
            <a:r>
              <a:rPr lang="pt-BR" dirty="0"/>
              <a:t>Se o cantor/ator/pintor errar, a audiência fica chateada</a:t>
            </a:r>
          </a:p>
          <a:p>
            <a:pPr lvl="1"/>
            <a:r>
              <a:rPr lang="pt-BR" dirty="0"/>
              <a:t>Se o engenheiro civil errar o prédio pode cair</a:t>
            </a:r>
          </a:p>
          <a:p>
            <a:pPr lvl="1"/>
            <a:r>
              <a:rPr lang="pt-BR" dirty="0"/>
              <a:t>Se o médico errar o paciente pode morrer</a:t>
            </a:r>
          </a:p>
          <a:p>
            <a:endParaRPr lang="pt-BR" dirty="0"/>
          </a:p>
          <a:p>
            <a:r>
              <a:rPr lang="pt-BR" dirty="0"/>
              <a:t>Se o desenvolvedor de software errar, o que pode acontecer?</a:t>
            </a:r>
          </a:p>
          <a:p>
            <a:endParaRPr lang="pt-BR" dirty="0"/>
          </a:p>
        </p:txBody>
      </p:sp>
    </p:spTree>
    <p:extLst>
      <p:ext uri="{BB962C8B-B14F-4D97-AF65-F5344CB8AC3E}">
        <p14:creationId xmlns:p14="http://schemas.microsoft.com/office/powerpoint/2010/main" val="254213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5FE3FB-3953-1F5D-3463-33C9272AF460}"/>
              </a:ext>
            </a:extLst>
          </p:cNvPr>
          <p:cNvSpPr>
            <a:spLocks noGrp="1"/>
          </p:cNvSpPr>
          <p:nvPr>
            <p:ph type="title"/>
          </p:nvPr>
        </p:nvSpPr>
        <p:spPr/>
        <p:txBody>
          <a:bodyPr/>
          <a:lstStyle/>
          <a:p>
            <a:r>
              <a:rPr lang="pt-BR" dirty="0"/>
              <a:t>Caso real 1: Aeroporto de Denver</a:t>
            </a:r>
          </a:p>
        </p:txBody>
      </p:sp>
      <p:sp>
        <p:nvSpPr>
          <p:cNvPr id="3" name="Espaço Reservado para Conteúdo 2">
            <a:extLst>
              <a:ext uri="{FF2B5EF4-FFF2-40B4-BE49-F238E27FC236}">
                <a16:creationId xmlns:a16="http://schemas.microsoft.com/office/drawing/2014/main" id="{F3EC5537-51D9-B820-0405-42627A645BC9}"/>
              </a:ext>
            </a:extLst>
          </p:cNvPr>
          <p:cNvSpPr>
            <a:spLocks noGrp="1"/>
          </p:cNvSpPr>
          <p:nvPr>
            <p:ph idx="1"/>
          </p:nvPr>
        </p:nvSpPr>
        <p:spPr/>
        <p:txBody>
          <a:bodyPr>
            <a:normAutofit fontScale="70000" lnSpcReduction="20000"/>
          </a:bodyPr>
          <a:lstStyle/>
          <a:p>
            <a:r>
              <a:rPr lang="pt-BR" dirty="0"/>
              <a:t>Sistema de despacho de bagagem do aeroporto de Denver (1995)</a:t>
            </a:r>
          </a:p>
          <a:p>
            <a:endParaRPr lang="pt-BR" dirty="0"/>
          </a:p>
          <a:p>
            <a:r>
              <a:rPr lang="pt-BR" dirty="0"/>
              <a:t>Problema:</a:t>
            </a:r>
          </a:p>
          <a:p>
            <a:pPr lvl="1"/>
            <a:r>
              <a:rPr lang="pt-BR" dirty="0"/>
              <a:t>O sistema nunca funcionou adequadamente</a:t>
            </a:r>
          </a:p>
          <a:p>
            <a:pPr>
              <a:spcBef>
                <a:spcPts val="2400"/>
              </a:spcBef>
            </a:pPr>
            <a:r>
              <a:rPr lang="pt-BR" dirty="0"/>
              <a:t>Causa:</a:t>
            </a:r>
          </a:p>
          <a:p>
            <a:pPr lvl="1"/>
            <a:r>
              <a:rPr lang="pt-BR" dirty="0"/>
              <a:t>Arquitetura extremamente complexa</a:t>
            </a:r>
          </a:p>
          <a:p>
            <a:pPr lvl="1"/>
            <a:r>
              <a:rPr lang="pt-BR" dirty="0"/>
              <a:t>Mudança constante nos requisitos</a:t>
            </a:r>
          </a:p>
          <a:p>
            <a:pPr lvl="1"/>
            <a:r>
              <a:rPr lang="pt-BR" dirty="0"/>
              <a:t>Erros de estimativa de custo e prazo</a:t>
            </a:r>
          </a:p>
          <a:p>
            <a:pPr lvl="1"/>
            <a:r>
              <a:rPr lang="pt-BR" dirty="0"/>
              <a:t>Desprezo aos conselhos de especialistas</a:t>
            </a:r>
          </a:p>
          <a:p>
            <a:pPr lvl="1"/>
            <a:r>
              <a:rPr lang="pt-BR" dirty="0"/>
              <a:t>Intolerância a falhas </a:t>
            </a:r>
          </a:p>
          <a:p>
            <a:pPr>
              <a:spcBef>
                <a:spcPts val="2400"/>
              </a:spcBef>
            </a:pPr>
            <a:r>
              <a:rPr lang="pt-BR" dirty="0"/>
              <a:t>Consequências</a:t>
            </a:r>
          </a:p>
          <a:p>
            <a:pPr lvl="1"/>
            <a:r>
              <a:rPr lang="pt-BR" dirty="0"/>
              <a:t>Entrega de algo muito menor do que o planejado, que foi desativado 10 anos depois</a:t>
            </a:r>
          </a:p>
          <a:p>
            <a:pPr lvl="1"/>
            <a:r>
              <a:rPr lang="pt-BR" dirty="0"/>
              <a:t>Atraso de 16 meses para entregar o aeroporto</a:t>
            </a:r>
          </a:p>
          <a:p>
            <a:pPr lvl="1"/>
            <a:r>
              <a:rPr lang="pt-BR" dirty="0"/>
              <a:t>Prejuízo de US$ 560 milhões e custo mensal de manutenção de US$ 1 milhão</a:t>
            </a:r>
          </a:p>
          <a:p>
            <a:endParaRPr lang="pt-BR" dirty="0"/>
          </a:p>
        </p:txBody>
      </p:sp>
      <p:pic>
        <p:nvPicPr>
          <p:cNvPr id="4" name="Picture 7">
            <a:extLst>
              <a:ext uri="{FF2B5EF4-FFF2-40B4-BE49-F238E27FC236}">
                <a16:creationId xmlns:a16="http://schemas.microsoft.com/office/drawing/2014/main" id="{771F2943-9642-808F-9F3F-F97181DC1EAB}"/>
              </a:ext>
            </a:extLst>
          </p:cNvPr>
          <p:cNvPicPr>
            <a:picLocks noChangeAspect="1"/>
          </p:cNvPicPr>
          <p:nvPr/>
        </p:nvPicPr>
        <p:blipFill>
          <a:blip r:embed="rId2"/>
          <a:stretch>
            <a:fillRect/>
          </a:stretch>
        </p:blipFill>
        <p:spPr>
          <a:xfrm>
            <a:off x="7367812" y="2228850"/>
            <a:ext cx="3810000" cy="2400300"/>
          </a:xfrm>
          <a:prstGeom prst="rect">
            <a:avLst/>
          </a:prstGeom>
        </p:spPr>
      </p:pic>
      <p:sp>
        <p:nvSpPr>
          <p:cNvPr id="5" name="Rectangle 8">
            <a:extLst>
              <a:ext uri="{FF2B5EF4-FFF2-40B4-BE49-F238E27FC236}">
                <a16:creationId xmlns:a16="http://schemas.microsoft.com/office/drawing/2014/main" id="{B3C54C82-24C2-220D-68AA-E320CA5C4DBF}"/>
              </a:ext>
            </a:extLst>
          </p:cNvPr>
          <p:cNvSpPr/>
          <p:nvPr/>
        </p:nvSpPr>
        <p:spPr>
          <a:xfrm>
            <a:off x="7153804" y="4663043"/>
            <a:ext cx="4199996" cy="369332"/>
          </a:xfrm>
          <a:prstGeom prst="rect">
            <a:avLst/>
          </a:prstGeom>
        </p:spPr>
        <p:txBody>
          <a:bodyPr wrap="none">
            <a:spAutoFit/>
          </a:bodyPr>
          <a:lstStyle/>
          <a:p>
            <a:r>
              <a:rPr lang="pt-BR" dirty="0">
                <a:hlinkClick r:id="rId3"/>
              </a:rPr>
              <a:t>http://calleam.com/WTPF/?page_id=2086</a:t>
            </a:r>
            <a:r>
              <a:rPr lang="pt-BR" dirty="0"/>
              <a:t> </a:t>
            </a:r>
          </a:p>
        </p:txBody>
      </p:sp>
    </p:spTree>
    <p:extLst>
      <p:ext uri="{BB962C8B-B14F-4D97-AF65-F5344CB8AC3E}">
        <p14:creationId xmlns:p14="http://schemas.microsoft.com/office/powerpoint/2010/main" val="2669589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303AE0-F637-7DDB-605E-B9639F25A6CB}"/>
              </a:ext>
            </a:extLst>
          </p:cNvPr>
          <p:cNvSpPr>
            <a:spLocks noGrp="1"/>
          </p:cNvSpPr>
          <p:nvPr>
            <p:ph type="title"/>
          </p:nvPr>
        </p:nvSpPr>
        <p:spPr/>
        <p:txBody>
          <a:bodyPr/>
          <a:lstStyle/>
          <a:p>
            <a:r>
              <a:rPr lang="pt-BR" dirty="0"/>
              <a:t>Caso real 2: Therac-25</a:t>
            </a:r>
          </a:p>
        </p:txBody>
      </p:sp>
      <p:sp>
        <p:nvSpPr>
          <p:cNvPr id="3" name="Espaço Reservado para Conteúdo 2">
            <a:extLst>
              <a:ext uri="{FF2B5EF4-FFF2-40B4-BE49-F238E27FC236}">
                <a16:creationId xmlns:a16="http://schemas.microsoft.com/office/drawing/2014/main" id="{4C49EB86-5B54-E9A4-FEED-FCC1749E9F60}"/>
              </a:ext>
            </a:extLst>
          </p:cNvPr>
          <p:cNvSpPr>
            <a:spLocks noGrp="1"/>
          </p:cNvSpPr>
          <p:nvPr>
            <p:ph idx="1"/>
          </p:nvPr>
        </p:nvSpPr>
        <p:spPr/>
        <p:txBody>
          <a:bodyPr>
            <a:normAutofit fontScale="92500" lnSpcReduction="20000"/>
          </a:bodyPr>
          <a:lstStyle/>
          <a:p>
            <a:r>
              <a:rPr lang="pt-BR" dirty="0"/>
              <a:t>Máquina de radioterapia controlada por computador (1982)</a:t>
            </a:r>
          </a:p>
          <a:p>
            <a:endParaRPr lang="pt-BR" dirty="0"/>
          </a:p>
          <a:p>
            <a:r>
              <a:rPr lang="pt-BR" dirty="0"/>
              <a:t>Problema:</a:t>
            </a:r>
          </a:p>
          <a:p>
            <a:pPr lvl="1"/>
            <a:r>
              <a:rPr lang="pt-BR" dirty="0"/>
              <a:t>Doses indevidas de radiação emitidas</a:t>
            </a:r>
          </a:p>
          <a:p>
            <a:pPr>
              <a:spcBef>
                <a:spcPts val="2400"/>
              </a:spcBef>
            </a:pPr>
            <a:r>
              <a:rPr lang="pt-BR" dirty="0"/>
              <a:t>Causa:</a:t>
            </a:r>
          </a:p>
          <a:p>
            <a:pPr lvl="1"/>
            <a:r>
              <a:rPr lang="pt-BR" dirty="0"/>
              <a:t>Interface com usuário inapropriada</a:t>
            </a:r>
          </a:p>
          <a:p>
            <a:pPr lvl="1"/>
            <a:r>
              <a:rPr lang="pt-BR" dirty="0"/>
              <a:t>Documentação deficiente</a:t>
            </a:r>
          </a:p>
          <a:p>
            <a:pPr lvl="1"/>
            <a:r>
              <a:rPr lang="pt-BR" dirty="0"/>
              <a:t>Software reutilizado sem ser adaptado para o novo hardware</a:t>
            </a:r>
          </a:p>
          <a:p>
            <a:pPr lvl="1"/>
            <a:r>
              <a:rPr lang="pt-BR" dirty="0"/>
              <a:t>Software de sensores de falha com defeito</a:t>
            </a:r>
          </a:p>
          <a:p>
            <a:pPr>
              <a:spcBef>
                <a:spcPts val="2400"/>
              </a:spcBef>
            </a:pPr>
            <a:r>
              <a:rPr lang="pt-BR" dirty="0"/>
              <a:t>Consequências</a:t>
            </a:r>
          </a:p>
          <a:p>
            <a:pPr lvl="1"/>
            <a:r>
              <a:rPr lang="pt-BR" dirty="0"/>
              <a:t>Ao menos 5 mortes entre 1985 e 1987</a:t>
            </a:r>
          </a:p>
          <a:p>
            <a:endParaRPr lang="pt-BR" dirty="0"/>
          </a:p>
        </p:txBody>
      </p:sp>
      <p:sp>
        <p:nvSpPr>
          <p:cNvPr id="4" name="CaixaDeTexto 3">
            <a:extLst>
              <a:ext uri="{FF2B5EF4-FFF2-40B4-BE49-F238E27FC236}">
                <a16:creationId xmlns:a16="http://schemas.microsoft.com/office/drawing/2014/main" id="{51BB2B74-2F96-3925-D883-8CFC001B30E6}"/>
              </a:ext>
            </a:extLst>
          </p:cNvPr>
          <p:cNvSpPr txBox="1"/>
          <p:nvPr/>
        </p:nvSpPr>
        <p:spPr>
          <a:xfrm>
            <a:off x="7442688" y="4001294"/>
            <a:ext cx="4412298" cy="369332"/>
          </a:xfrm>
          <a:prstGeom prst="rect">
            <a:avLst/>
          </a:prstGeom>
          <a:noFill/>
        </p:spPr>
        <p:txBody>
          <a:bodyPr wrap="none" rtlCol="0">
            <a:spAutoFit/>
          </a:bodyPr>
          <a:lstStyle/>
          <a:p>
            <a:r>
              <a:rPr lang="pt-BR" dirty="0">
                <a:hlinkClick r:id="rId2"/>
              </a:rPr>
              <a:t>http://sunnyday.mit.edu/papers/therac.pdf</a:t>
            </a:r>
            <a:r>
              <a:rPr lang="pt-BR" dirty="0"/>
              <a:t> </a:t>
            </a:r>
          </a:p>
        </p:txBody>
      </p:sp>
      <p:pic>
        <p:nvPicPr>
          <p:cNvPr id="5" name="Picture 2">
            <a:extLst>
              <a:ext uri="{FF2B5EF4-FFF2-40B4-BE49-F238E27FC236}">
                <a16:creationId xmlns:a16="http://schemas.microsoft.com/office/drawing/2014/main" id="{316DC002-8E17-D102-71E0-370DEA6BB186}"/>
              </a:ext>
            </a:extLst>
          </p:cNvPr>
          <p:cNvPicPr>
            <a:picLocks noChangeAspect="1" noChangeArrowheads="1"/>
          </p:cNvPicPr>
          <p:nvPr/>
        </p:nvPicPr>
        <p:blipFill>
          <a:blip r:embed="rId3" cstate="print"/>
          <a:srcRect/>
          <a:stretch>
            <a:fillRect/>
          </a:stretch>
        </p:blipFill>
        <p:spPr bwMode="auto">
          <a:xfrm>
            <a:off x="8138007" y="2174858"/>
            <a:ext cx="2738440" cy="1796417"/>
          </a:xfrm>
          <a:prstGeom prst="rect">
            <a:avLst/>
          </a:prstGeom>
          <a:noFill/>
          <a:ln w="9525">
            <a:noFill/>
            <a:miter lim="800000"/>
            <a:headEnd/>
            <a:tailEnd/>
          </a:ln>
          <a:effectLst/>
        </p:spPr>
      </p:pic>
    </p:spTree>
    <p:extLst>
      <p:ext uri="{BB962C8B-B14F-4D97-AF65-F5344CB8AC3E}">
        <p14:creationId xmlns:p14="http://schemas.microsoft.com/office/powerpoint/2010/main" val="2262656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CFA78C-CEE9-A04E-9006-0C5FE489D5A5}"/>
              </a:ext>
            </a:extLst>
          </p:cNvPr>
          <p:cNvSpPr>
            <a:spLocks noGrp="1"/>
          </p:cNvSpPr>
          <p:nvPr>
            <p:ph type="title"/>
          </p:nvPr>
        </p:nvSpPr>
        <p:spPr/>
        <p:txBody>
          <a:bodyPr/>
          <a:lstStyle/>
          <a:p>
            <a:r>
              <a:rPr lang="pt-BR" dirty="0"/>
              <a:t>Caso real 3: Ariane 5</a:t>
            </a:r>
          </a:p>
        </p:txBody>
      </p:sp>
      <p:sp>
        <p:nvSpPr>
          <p:cNvPr id="3" name="Espaço Reservado para Conteúdo 2">
            <a:extLst>
              <a:ext uri="{FF2B5EF4-FFF2-40B4-BE49-F238E27FC236}">
                <a16:creationId xmlns:a16="http://schemas.microsoft.com/office/drawing/2014/main" id="{6B70B2EE-570E-544B-6BAF-5C3D5FDD81AC}"/>
              </a:ext>
            </a:extLst>
          </p:cNvPr>
          <p:cNvSpPr>
            <a:spLocks noGrp="1"/>
          </p:cNvSpPr>
          <p:nvPr>
            <p:ph idx="1"/>
          </p:nvPr>
        </p:nvSpPr>
        <p:spPr/>
        <p:txBody>
          <a:bodyPr>
            <a:normAutofit fontScale="92500" lnSpcReduction="10000"/>
          </a:bodyPr>
          <a:lstStyle/>
          <a:p>
            <a:r>
              <a:rPr lang="pt-BR" dirty="0"/>
              <a:t>Foguete lançador de satélites (1996)</a:t>
            </a:r>
          </a:p>
          <a:p>
            <a:endParaRPr lang="pt-BR" dirty="0"/>
          </a:p>
          <a:p>
            <a:r>
              <a:rPr lang="pt-BR" dirty="0"/>
              <a:t>Problema:</a:t>
            </a:r>
          </a:p>
          <a:p>
            <a:pPr lvl="1"/>
            <a:r>
              <a:rPr lang="pt-BR" dirty="0"/>
              <a:t>O foguete se autodestruiu 40 segundos após o lançamento</a:t>
            </a:r>
          </a:p>
          <a:p>
            <a:pPr>
              <a:spcBef>
                <a:spcPts val="2400"/>
              </a:spcBef>
            </a:pPr>
            <a:r>
              <a:rPr lang="pt-BR" dirty="0"/>
              <a:t>Causa:</a:t>
            </a:r>
          </a:p>
          <a:p>
            <a:pPr lvl="1"/>
            <a:r>
              <a:rPr lang="pt-BR" dirty="0"/>
              <a:t>Software reutilizado sem ser adaptado para o novo hardware</a:t>
            </a:r>
          </a:p>
          <a:p>
            <a:pPr lvl="1"/>
            <a:r>
              <a:rPr lang="pt-BR" dirty="0"/>
              <a:t>Ausência de testes deste software em solo</a:t>
            </a:r>
          </a:p>
          <a:p>
            <a:pPr lvl="1"/>
            <a:r>
              <a:rPr lang="pt-BR" dirty="0"/>
              <a:t>Defeito apresentado em </a:t>
            </a:r>
            <a:r>
              <a:rPr lang="pt-BR" dirty="0" err="1"/>
              <a:t>vôo</a:t>
            </a:r>
            <a:endParaRPr lang="pt-BR" dirty="0"/>
          </a:p>
          <a:p>
            <a:pPr>
              <a:spcBef>
                <a:spcPts val="2400"/>
              </a:spcBef>
            </a:pPr>
            <a:r>
              <a:rPr lang="pt-BR" dirty="0"/>
              <a:t>Consequências</a:t>
            </a:r>
          </a:p>
          <a:p>
            <a:pPr lvl="1"/>
            <a:r>
              <a:rPr lang="pt-BR" dirty="0"/>
              <a:t>Prejuízo de mais de US$ 370 milhões</a:t>
            </a:r>
          </a:p>
          <a:p>
            <a:endParaRPr lang="pt-BR" dirty="0"/>
          </a:p>
        </p:txBody>
      </p:sp>
      <p:pic>
        <p:nvPicPr>
          <p:cNvPr id="4" name="Picture 2">
            <a:extLst>
              <a:ext uri="{FF2B5EF4-FFF2-40B4-BE49-F238E27FC236}">
                <a16:creationId xmlns:a16="http://schemas.microsoft.com/office/drawing/2014/main" id="{6AC5F61F-8CD3-EB16-48F9-29C790F2765E}"/>
              </a:ext>
            </a:extLst>
          </p:cNvPr>
          <p:cNvPicPr>
            <a:picLocks noChangeAspect="1" noChangeArrowheads="1"/>
          </p:cNvPicPr>
          <p:nvPr/>
        </p:nvPicPr>
        <p:blipFill>
          <a:blip r:embed="rId2" cstate="print"/>
          <a:srcRect/>
          <a:stretch>
            <a:fillRect/>
          </a:stretch>
        </p:blipFill>
        <p:spPr bwMode="auto">
          <a:xfrm>
            <a:off x="9425006" y="1825625"/>
            <a:ext cx="1928794" cy="2734066"/>
          </a:xfrm>
          <a:prstGeom prst="rect">
            <a:avLst/>
          </a:prstGeom>
          <a:noFill/>
          <a:ln w="9525">
            <a:noFill/>
            <a:miter lim="800000"/>
            <a:headEnd/>
            <a:tailEnd/>
          </a:ln>
          <a:effectLst/>
        </p:spPr>
      </p:pic>
      <p:sp>
        <p:nvSpPr>
          <p:cNvPr id="5" name="CaixaDeTexto 4">
            <a:extLst>
              <a:ext uri="{FF2B5EF4-FFF2-40B4-BE49-F238E27FC236}">
                <a16:creationId xmlns:a16="http://schemas.microsoft.com/office/drawing/2014/main" id="{BF9CAA09-7C56-240F-035E-18695E9A354F}"/>
              </a:ext>
            </a:extLst>
          </p:cNvPr>
          <p:cNvSpPr txBox="1"/>
          <p:nvPr/>
        </p:nvSpPr>
        <p:spPr>
          <a:xfrm>
            <a:off x="7764834" y="4894083"/>
            <a:ext cx="4427166" cy="923330"/>
          </a:xfrm>
          <a:prstGeom prst="rect">
            <a:avLst/>
          </a:prstGeom>
          <a:noFill/>
        </p:spPr>
        <p:txBody>
          <a:bodyPr wrap="square" rtlCol="0">
            <a:spAutoFit/>
          </a:bodyPr>
          <a:lstStyle/>
          <a:p>
            <a:pPr algn="ctr"/>
            <a:r>
              <a:rPr lang="en-US" dirty="0"/>
              <a:t>Dowson, Mark. 1997. The </a:t>
            </a:r>
            <a:r>
              <a:rPr lang="en-US" dirty="0" err="1"/>
              <a:t>Ariane</a:t>
            </a:r>
            <a:r>
              <a:rPr lang="en-US" dirty="0"/>
              <a:t> 5 software failure. </a:t>
            </a:r>
            <a:br>
              <a:rPr lang="en-US" dirty="0"/>
            </a:br>
            <a:r>
              <a:rPr lang="en-US" i="1" dirty="0"/>
              <a:t>SIGSOFT </a:t>
            </a:r>
            <a:r>
              <a:rPr lang="en-US" i="1" dirty="0" err="1"/>
              <a:t>Softw</a:t>
            </a:r>
            <a:r>
              <a:rPr lang="en-US" i="1" dirty="0"/>
              <a:t>. Eng. Notes</a:t>
            </a:r>
            <a:r>
              <a:rPr lang="en-US" dirty="0"/>
              <a:t> 22, no. 2. </a:t>
            </a:r>
          </a:p>
        </p:txBody>
      </p:sp>
    </p:spTree>
    <p:extLst>
      <p:ext uri="{BB962C8B-B14F-4D97-AF65-F5344CB8AC3E}">
        <p14:creationId xmlns:p14="http://schemas.microsoft.com/office/powerpoint/2010/main" val="2257163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2F9F2D-135D-F463-5C5D-E63F8CEA9FF0}"/>
              </a:ext>
            </a:extLst>
          </p:cNvPr>
          <p:cNvSpPr>
            <a:spLocks noGrp="1"/>
          </p:cNvSpPr>
          <p:nvPr>
            <p:ph type="title"/>
          </p:nvPr>
        </p:nvSpPr>
        <p:spPr/>
        <p:txBody>
          <a:bodyPr/>
          <a:lstStyle/>
          <a:p>
            <a:r>
              <a:rPr lang="pt-BR" dirty="0"/>
              <a:t>Casos atuais</a:t>
            </a:r>
          </a:p>
        </p:txBody>
      </p:sp>
      <p:sp>
        <p:nvSpPr>
          <p:cNvPr id="3" name="Espaço Reservado para Conteúdo 2">
            <a:extLst>
              <a:ext uri="{FF2B5EF4-FFF2-40B4-BE49-F238E27FC236}">
                <a16:creationId xmlns:a16="http://schemas.microsoft.com/office/drawing/2014/main" id="{A1F6E21A-9928-D822-66DF-6FF1E1C3D0E3}"/>
              </a:ext>
            </a:extLst>
          </p:cNvPr>
          <p:cNvSpPr>
            <a:spLocks noGrp="1"/>
          </p:cNvSpPr>
          <p:nvPr>
            <p:ph idx="1"/>
          </p:nvPr>
        </p:nvSpPr>
        <p:spPr>
          <a:xfrm>
            <a:off x="838199" y="1825625"/>
            <a:ext cx="8085881" cy="4351338"/>
          </a:xfrm>
        </p:spPr>
        <p:txBody>
          <a:bodyPr>
            <a:normAutofit fontScale="70000" lnSpcReduction="20000"/>
          </a:bodyPr>
          <a:lstStyle/>
          <a:p>
            <a:r>
              <a:rPr lang="pt-BR" b="1" dirty="0" err="1"/>
              <a:t>Crowdstrike</a:t>
            </a:r>
            <a:r>
              <a:rPr lang="pt-BR" dirty="0"/>
              <a:t>: Software de segurança em nuvem </a:t>
            </a:r>
          </a:p>
          <a:p>
            <a:pPr marL="0" indent="0">
              <a:buNone/>
            </a:pPr>
            <a:r>
              <a:rPr lang="pt-BR" dirty="0"/>
              <a:t>(antivírus corporativo para o Azure, </a:t>
            </a:r>
            <a:r>
              <a:rPr lang="pt-BR" b="1" dirty="0"/>
              <a:t>2024</a:t>
            </a:r>
            <a:r>
              <a:rPr lang="pt-BR" dirty="0"/>
              <a:t>)</a:t>
            </a:r>
          </a:p>
          <a:p>
            <a:pPr marL="0" indent="0">
              <a:buNone/>
            </a:pPr>
            <a:endParaRPr lang="pt-BR" dirty="0"/>
          </a:p>
          <a:p>
            <a:r>
              <a:rPr lang="pt-BR" dirty="0"/>
              <a:t>Problema:</a:t>
            </a:r>
          </a:p>
          <a:p>
            <a:pPr lvl="1"/>
            <a:r>
              <a:rPr lang="pt-BR" dirty="0"/>
              <a:t>“Tela azul” no Windows, atingindo serviços que vão</a:t>
            </a:r>
          </a:p>
          <a:p>
            <a:pPr marL="457200" lvl="1" indent="0">
              <a:buNone/>
            </a:pPr>
            <a:r>
              <a:rPr lang="pt-BR" dirty="0"/>
              <a:t>desde a aviação até bancários e de saúde</a:t>
            </a:r>
          </a:p>
          <a:p>
            <a:pPr marL="457200" lvl="1" indent="0">
              <a:buNone/>
            </a:pPr>
            <a:endParaRPr lang="pt-BR" dirty="0"/>
          </a:p>
          <a:p>
            <a:r>
              <a:rPr lang="pt-BR" dirty="0"/>
              <a:t>Causa:</a:t>
            </a:r>
          </a:p>
          <a:p>
            <a:pPr lvl="1"/>
            <a:r>
              <a:rPr lang="pt-BR" dirty="0"/>
              <a:t>Deployment de versão problemática do software </a:t>
            </a:r>
          </a:p>
          <a:p>
            <a:pPr marL="457200" lvl="1" indent="0">
              <a:buNone/>
            </a:pPr>
            <a:r>
              <a:rPr lang="pt-BR" i="1" dirty="0"/>
              <a:t>Falcon Sensor</a:t>
            </a:r>
          </a:p>
          <a:p>
            <a:pPr lvl="1"/>
            <a:r>
              <a:rPr lang="pt-BR" dirty="0"/>
              <a:t>Bug na etapa de controle de qualidade de updates</a:t>
            </a:r>
          </a:p>
          <a:p>
            <a:pPr lvl="1"/>
            <a:endParaRPr lang="pt-BR" dirty="0"/>
          </a:p>
          <a:p>
            <a:r>
              <a:rPr lang="pt-BR" dirty="0"/>
              <a:t>Consequências:</a:t>
            </a:r>
          </a:p>
          <a:p>
            <a:pPr lvl="1"/>
            <a:r>
              <a:rPr lang="pt-BR" b="1" dirty="0"/>
              <a:t>8.5 mi dispositivos deixaram de funcionar </a:t>
            </a:r>
            <a:r>
              <a:rPr lang="pt-BR" dirty="0"/>
              <a:t>(1% de todos com Windows)</a:t>
            </a:r>
          </a:p>
          <a:p>
            <a:pPr lvl="1"/>
            <a:r>
              <a:rPr lang="pt-BR" b="1" dirty="0"/>
              <a:t>Prejuízos</a:t>
            </a:r>
            <a:r>
              <a:rPr lang="pt-BR" dirty="0"/>
              <a:t> de mais de </a:t>
            </a:r>
            <a:r>
              <a:rPr lang="pt-BR" b="1" dirty="0"/>
              <a:t>US$ 5.4 bi </a:t>
            </a:r>
            <a:r>
              <a:rPr lang="pt-BR" dirty="0"/>
              <a:t>somente para empresas Fortune 500</a:t>
            </a:r>
          </a:p>
        </p:txBody>
      </p:sp>
      <p:pic>
        <p:nvPicPr>
          <p:cNvPr id="5" name="Imagem 4">
            <a:extLst>
              <a:ext uri="{FF2B5EF4-FFF2-40B4-BE49-F238E27FC236}">
                <a16:creationId xmlns:a16="http://schemas.microsoft.com/office/drawing/2014/main" id="{351D83E1-D477-3157-59AC-3C04D21F0D45}"/>
              </a:ext>
            </a:extLst>
          </p:cNvPr>
          <p:cNvPicPr>
            <a:picLocks noChangeAspect="1"/>
          </p:cNvPicPr>
          <p:nvPr/>
        </p:nvPicPr>
        <p:blipFill>
          <a:blip r:embed="rId2"/>
          <a:stretch>
            <a:fillRect/>
          </a:stretch>
        </p:blipFill>
        <p:spPr>
          <a:xfrm>
            <a:off x="6833556" y="1688642"/>
            <a:ext cx="5261420" cy="3480715"/>
          </a:xfrm>
          <a:prstGeom prst="rect">
            <a:avLst/>
          </a:prstGeom>
        </p:spPr>
      </p:pic>
    </p:spTree>
    <p:extLst>
      <p:ext uri="{BB962C8B-B14F-4D97-AF65-F5344CB8AC3E}">
        <p14:creationId xmlns:p14="http://schemas.microsoft.com/office/powerpoint/2010/main" val="272583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9CE216-70F4-5ED5-B098-D8FDA9CA2527}"/>
              </a:ext>
            </a:extLst>
          </p:cNvPr>
          <p:cNvSpPr>
            <a:spLocks noGrp="1"/>
          </p:cNvSpPr>
          <p:nvPr>
            <p:ph type="title"/>
          </p:nvPr>
        </p:nvSpPr>
        <p:spPr/>
        <p:txBody>
          <a:bodyPr/>
          <a:lstStyle/>
          <a:p>
            <a:r>
              <a:rPr lang="pt-BR" dirty="0"/>
              <a:t>Casos atuais</a:t>
            </a:r>
          </a:p>
        </p:txBody>
      </p:sp>
      <p:sp>
        <p:nvSpPr>
          <p:cNvPr id="3" name="Espaço Reservado para Conteúdo 2">
            <a:extLst>
              <a:ext uri="{FF2B5EF4-FFF2-40B4-BE49-F238E27FC236}">
                <a16:creationId xmlns:a16="http://schemas.microsoft.com/office/drawing/2014/main" id="{A7F307E8-1CF5-2BD4-3A83-3A036698A23E}"/>
              </a:ext>
            </a:extLst>
          </p:cNvPr>
          <p:cNvSpPr>
            <a:spLocks noGrp="1"/>
          </p:cNvSpPr>
          <p:nvPr>
            <p:ph idx="1"/>
          </p:nvPr>
        </p:nvSpPr>
        <p:spPr/>
        <p:txBody>
          <a:bodyPr>
            <a:normAutofit lnSpcReduction="10000"/>
          </a:bodyPr>
          <a:lstStyle/>
          <a:p>
            <a:r>
              <a:rPr lang="pt-BR" dirty="0"/>
              <a:t>Viés algorítmico em sistemas de IA</a:t>
            </a:r>
          </a:p>
          <a:p>
            <a:endParaRPr lang="pt-BR" dirty="0"/>
          </a:p>
          <a:p>
            <a:r>
              <a:rPr lang="pt-BR" dirty="0"/>
              <a:t>Problema: </a:t>
            </a:r>
          </a:p>
          <a:p>
            <a:pPr lvl="1"/>
            <a:r>
              <a:rPr lang="pt-BR" dirty="0"/>
              <a:t>Tratamento desigual de pessoas em </a:t>
            </a:r>
          </a:p>
          <a:p>
            <a:pPr marL="457200" lvl="1" indent="0">
              <a:buNone/>
            </a:pPr>
            <a:r>
              <a:rPr lang="pt-BR" dirty="0"/>
              <a:t>função de sua etnia</a:t>
            </a:r>
          </a:p>
          <a:p>
            <a:pPr>
              <a:spcBef>
                <a:spcPts val="2400"/>
              </a:spcBef>
            </a:pPr>
            <a:r>
              <a:rPr lang="pt-BR" dirty="0"/>
              <a:t>Causa:</a:t>
            </a:r>
          </a:p>
          <a:p>
            <a:pPr lvl="1"/>
            <a:r>
              <a:rPr lang="pt-BR" dirty="0"/>
              <a:t>Dados de treinamento da IA enviesados</a:t>
            </a:r>
          </a:p>
          <a:p>
            <a:pPr>
              <a:spcBef>
                <a:spcPts val="2400"/>
              </a:spcBef>
            </a:pPr>
            <a:r>
              <a:rPr lang="pt-BR" dirty="0"/>
              <a:t>Consequências: </a:t>
            </a:r>
          </a:p>
          <a:p>
            <a:pPr lvl="1"/>
            <a:r>
              <a:rPr lang="pt-BR" dirty="0"/>
              <a:t>Perpetuamento de desigualdades</a:t>
            </a:r>
          </a:p>
        </p:txBody>
      </p:sp>
      <p:pic>
        <p:nvPicPr>
          <p:cNvPr id="4" name="Google Shape;643;p28">
            <a:extLst>
              <a:ext uri="{FF2B5EF4-FFF2-40B4-BE49-F238E27FC236}">
                <a16:creationId xmlns:a16="http://schemas.microsoft.com/office/drawing/2014/main" id="{5C2BE173-8D13-8B62-07AC-306575A821F3}"/>
              </a:ext>
            </a:extLst>
          </p:cNvPr>
          <p:cNvPicPr preferRelativeResize="0">
            <a:picLocks/>
          </p:cNvPicPr>
          <p:nvPr/>
        </p:nvPicPr>
        <p:blipFill rotWithShape="1">
          <a:blip r:embed="rId2">
            <a:alphaModFix/>
          </a:blip>
          <a:srcRect/>
          <a:stretch/>
        </p:blipFill>
        <p:spPr>
          <a:xfrm>
            <a:off x="6900199" y="1754289"/>
            <a:ext cx="4895850" cy="3667125"/>
          </a:xfrm>
          <a:prstGeom prst="rect">
            <a:avLst/>
          </a:prstGeom>
          <a:noFill/>
          <a:ln>
            <a:noFill/>
          </a:ln>
        </p:spPr>
      </p:pic>
      <p:sp>
        <p:nvSpPr>
          <p:cNvPr id="5" name="Google Shape;645;p28">
            <a:extLst>
              <a:ext uri="{FF2B5EF4-FFF2-40B4-BE49-F238E27FC236}">
                <a16:creationId xmlns:a16="http://schemas.microsoft.com/office/drawing/2014/main" id="{6BE03DB5-0156-A6F8-2E5A-45F8AEF12CAC}"/>
              </a:ext>
            </a:extLst>
          </p:cNvPr>
          <p:cNvSpPr/>
          <p:nvPr/>
        </p:nvSpPr>
        <p:spPr>
          <a:xfrm>
            <a:off x="7455784" y="5556351"/>
            <a:ext cx="45720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pt-BR" sz="1200" b="0" i="0" u="sng" strike="noStrike" cap="none" dirty="0">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https://exame.com/tecnologia/algoritmo-de-saude-deu-preferencia-a-pacientes-brancos-diz-pesquisa/</a:t>
            </a:r>
            <a:r>
              <a:rPr lang="pt-BR" sz="12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620071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1D0225-1AC4-36E7-E7AA-303F3C2FFA72}"/>
              </a:ext>
            </a:extLst>
          </p:cNvPr>
          <p:cNvSpPr>
            <a:spLocks noGrp="1"/>
          </p:cNvSpPr>
          <p:nvPr>
            <p:ph type="title"/>
          </p:nvPr>
        </p:nvSpPr>
        <p:spPr/>
        <p:txBody>
          <a:bodyPr/>
          <a:lstStyle/>
          <a:p>
            <a:r>
              <a:rPr lang="pt-BR" dirty="0"/>
              <a:t>Escopo do curso</a:t>
            </a:r>
          </a:p>
        </p:txBody>
      </p:sp>
      <p:sp>
        <p:nvSpPr>
          <p:cNvPr id="3" name="Espaço Reservado para Conteúdo 2">
            <a:extLst>
              <a:ext uri="{FF2B5EF4-FFF2-40B4-BE49-F238E27FC236}">
                <a16:creationId xmlns:a16="http://schemas.microsoft.com/office/drawing/2014/main" id="{4FAFDF50-C4D1-BD74-FFEC-D09DAE2C9907}"/>
              </a:ext>
            </a:extLst>
          </p:cNvPr>
          <p:cNvSpPr>
            <a:spLocks noGrp="1"/>
          </p:cNvSpPr>
          <p:nvPr>
            <p:ph idx="1"/>
          </p:nvPr>
        </p:nvSpPr>
        <p:spPr/>
        <p:txBody>
          <a:bodyPr/>
          <a:lstStyle/>
          <a:p>
            <a:r>
              <a:rPr lang="pt-BR" dirty="0"/>
              <a:t>Métodos tradicionais (preditivos) e ágeis de Gestão de Projetos</a:t>
            </a:r>
          </a:p>
        </p:txBody>
      </p:sp>
      <p:grpSp>
        <p:nvGrpSpPr>
          <p:cNvPr id="18" name="Agrupar 17">
            <a:extLst>
              <a:ext uri="{FF2B5EF4-FFF2-40B4-BE49-F238E27FC236}">
                <a16:creationId xmlns:a16="http://schemas.microsoft.com/office/drawing/2014/main" id="{1D11CDBC-8D48-DDFF-1C93-EEC61CB1ABDD}"/>
              </a:ext>
            </a:extLst>
          </p:cNvPr>
          <p:cNvGrpSpPr/>
          <p:nvPr/>
        </p:nvGrpSpPr>
        <p:grpSpPr>
          <a:xfrm>
            <a:off x="1253780" y="3013420"/>
            <a:ext cx="9001156" cy="1008112"/>
            <a:chOff x="0" y="1772816"/>
            <a:chExt cx="9001156" cy="1008112"/>
          </a:xfrm>
        </p:grpSpPr>
        <p:sp>
          <p:nvSpPr>
            <p:cNvPr id="5" name="Retângulo de cantos arredondados 11">
              <a:extLst>
                <a:ext uri="{FF2B5EF4-FFF2-40B4-BE49-F238E27FC236}">
                  <a16:creationId xmlns:a16="http://schemas.microsoft.com/office/drawing/2014/main" id="{4E97505D-42FC-A561-C851-12A6B90DEA92}"/>
                </a:ext>
              </a:extLst>
            </p:cNvPr>
            <p:cNvSpPr/>
            <p:nvPr/>
          </p:nvSpPr>
          <p:spPr>
            <a:xfrm>
              <a:off x="2411760" y="1844824"/>
              <a:ext cx="6589396" cy="93610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pt-BR"/>
            </a:p>
          </p:txBody>
        </p:sp>
        <p:sp>
          <p:nvSpPr>
            <p:cNvPr id="9" name="Retângulo de cantos arredondados 19">
              <a:extLst>
                <a:ext uri="{FF2B5EF4-FFF2-40B4-BE49-F238E27FC236}">
                  <a16:creationId xmlns:a16="http://schemas.microsoft.com/office/drawing/2014/main" id="{2EDD030C-D3EE-EE0F-46AC-C28ADAE518FF}"/>
                </a:ext>
              </a:extLst>
            </p:cNvPr>
            <p:cNvSpPr/>
            <p:nvPr/>
          </p:nvSpPr>
          <p:spPr>
            <a:xfrm>
              <a:off x="2483768" y="1988840"/>
              <a:ext cx="1581160"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dirty="0"/>
                <a:t>Gerenciamento de Projetos</a:t>
              </a:r>
            </a:p>
          </p:txBody>
        </p:sp>
        <p:sp>
          <p:nvSpPr>
            <p:cNvPr id="10" name="Retângulo de cantos arredondados 20">
              <a:extLst>
                <a:ext uri="{FF2B5EF4-FFF2-40B4-BE49-F238E27FC236}">
                  <a16:creationId xmlns:a16="http://schemas.microsoft.com/office/drawing/2014/main" id="{DDF5F543-AC29-5CCB-AC07-108E29EE259C}"/>
                </a:ext>
              </a:extLst>
            </p:cNvPr>
            <p:cNvSpPr/>
            <p:nvPr/>
          </p:nvSpPr>
          <p:spPr>
            <a:xfrm>
              <a:off x="7668344" y="1988840"/>
              <a:ext cx="1250165"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t>Gerência de Riscos</a:t>
              </a:r>
            </a:p>
          </p:txBody>
        </p:sp>
        <p:sp>
          <p:nvSpPr>
            <p:cNvPr id="11" name="Retângulo de cantos arredondados 21">
              <a:extLst>
                <a:ext uri="{FF2B5EF4-FFF2-40B4-BE49-F238E27FC236}">
                  <a16:creationId xmlns:a16="http://schemas.microsoft.com/office/drawing/2014/main" id="{D7FC4AD1-EF79-3E87-54D5-CEA6D4F62518}"/>
                </a:ext>
              </a:extLst>
            </p:cNvPr>
            <p:cNvSpPr/>
            <p:nvPr/>
          </p:nvSpPr>
          <p:spPr>
            <a:xfrm>
              <a:off x="4189121" y="1988840"/>
              <a:ext cx="1740162"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t>Monitoramento e Controle</a:t>
              </a:r>
            </a:p>
          </p:txBody>
        </p:sp>
        <p:sp>
          <p:nvSpPr>
            <p:cNvPr id="13" name="Retângulo de cantos arredondados 28">
              <a:extLst>
                <a:ext uri="{FF2B5EF4-FFF2-40B4-BE49-F238E27FC236}">
                  <a16:creationId xmlns:a16="http://schemas.microsoft.com/office/drawing/2014/main" id="{F9625F68-FAB7-9188-14A8-B06278EDA612}"/>
                </a:ext>
              </a:extLst>
            </p:cNvPr>
            <p:cNvSpPr/>
            <p:nvPr/>
          </p:nvSpPr>
          <p:spPr>
            <a:xfrm>
              <a:off x="6053476" y="1988840"/>
              <a:ext cx="1490674"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t>Melhoria de Processos</a:t>
              </a:r>
            </a:p>
          </p:txBody>
        </p:sp>
        <p:sp>
          <p:nvSpPr>
            <p:cNvPr id="14" name="CaixaDeTexto 13">
              <a:extLst>
                <a:ext uri="{FF2B5EF4-FFF2-40B4-BE49-F238E27FC236}">
                  <a16:creationId xmlns:a16="http://schemas.microsoft.com/office/drawing/2014/main" id="{4C39C985-DA60-0F33-1EEC-71D8FAB627AB}"/>
                </a:ext>
              </a:extLst>
            </p:cNvPr>
            <p:cNvSpPr txBox="1"/>
            <p:nvPr/>
          </p:nvSpPr>
          <p:spPr>
            <a:xfrm>
              <a:off x="0" y="1990581"/>
              <a:ext cx="1547664" cy="646331"/>
            </a:xfrm>
            <a:prstGeom prst="rect">
              <a:avLst/>
            </a:prstGeom>
            <a:noFill/>
          </p:spPr>
          <p:txBody>
            <a:bodyPr wrap="square" rtlCol="0">
              <a:spAutoFit/>
            </a:bodyPr>
            <a:lstStyle/>
            <a:p>
              <a:pPr algn="ctr"/>
              <a:r>
                <a:rPr lang="pt-BR" dirty="0"/>
                <a:t>Atividades</a:t>
              </a:r>
              <a:br>
                <a:rPr lang="pt-BR" dirty="0"/>
              </a:br>
              <a:r>
                <a:rPr lang="pt-BR" dirty="0"/>
                <a:t>Gerenciais</a:t>
              </a:r>
            </a:p>
          </p:txBody>
        </p:sp>
        <p:sp>
          <p:nvSpPr>
            <p:cNvPr id="16" name="Elipse 15">
              <a:extLst>
                <a:ext uri="{FF2B5EF4-FFF2-40B4-BE49-F238E27FC236}">
                  <a16:creationId xmlns:a16="http://schemas.microsoft.com/office/drawing/2014/main" id="{F153DFD4-66B1-08A9-65AF-457D722D927A}"/>
                </a:ext>
              </a:extLst>
            </p:cNvPr>
            <p:cNvSpPr/>
            <p:nvPr/>
          </p:nvSpPr>
          <p:spPr>
            <a:xfrm>
              <a:off x="1554504" y="1772816"/>
              <a:ext cx="828154" cy="857256"/>
            </a:xfrm>
            <a:prstGeom prst="ellipse">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ES II</a:t>
              </a:r>
            </a:p>
          </p:txBody>
        </p:sp>
      </p:grpSp>
      <p:grpSp>
        <p:nvGrpSpPr>
          <p:cNvPr id="19" name="Agrupar 18">
            <a:extLst>
              <a:ext uri="{FF2B5EF4-FFF2-40B4-BE49-F238E27FC236}">
                <a16:creationId xmlns:a16="http://schemas.microsoft.com/office/drawing/2014/main" id="{44F4B6DA-C1D0-BBF6-5666-09508B38D81C}"/>
              </a:ext>
            </a:extLst>
          </p:cNvPr>
          <p:cNvGrpSpPr/>
          <p:nvPr/>
        </p:nvGrpSpPr>
        <p:grpSpPr>
          <a:xfrm>
            <a:off x="1253781" y="4539838"/>
            <a:ext cx="9001155" cy="936104"/>
            <a:chOff x="1" y="5373216"/>
            <a:chExt cx="9001155" cy="936104"/>
          </a:xfrm>
        </p:grpSpPr>
        <p:sp>
          <p:nvSpPr>
            <p:cNvPr id="4" name="Retângulo de cantos arredondados 30">
              <a:extLst>
                <a:ext uri="{FF2B5EF4-FFF2-40B4-BE49-F238E27FC236}">
                  <a16:creationId xmlns:a16="http://schemas.microsoft.com/office/drawing/2014/main" id="{38533E3B-0A55-0B2B-2088-38828000581A}"/>
                </a:ext>
              </a:extLst>
            </p:cNvPr>
            <p:cNvSpPr/>
            <p:nvPr/>
          </p:nvSpPr>
          <p:spPr>
            <a:xfrm>
              <a:off x="2411760" y="5373216"/>
              <a:ext cx="6589396" cy="93610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pt-BR"/>
            </a:p>
          </p:txBody>
        </p:sp>
        <p:sp>
          <p:nvSpPr>
            <p:cNvPr id="6" name="Retângulo de cantos arredondados 16">
              <a:extLst>
                <a:ext uri="{FF2B5EF4-FFF2-40B4-BE49-F238E27FC236}">
                  <a16:creationId xmlns:a16="http://schemas.microsoft.com/office/drawing/2014/main" id="{6FE071DE-B5F2-8115-4346-876BA5D35C88}"/>
                </a:ext>
              </a:extLst>
            </p:cNvPr>
            <p:cNvSpPr/>
            <p:nvPr/>
          </p:nvSpPr>
          <p:spPr>
            <a:xfrm>
              <a:off x="5245038" y="5517232"/>
              <a:ext cx="1512168"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t>Gerência de Configuração</a:t>
              </a:r>
            </a:p>
          </p:txBody>
        </p:sp>
        <p:sp>
          <p:nvSpPr>
            <p:cNvPr id="7" name="Retângulo de cantos arredondados 17">
              <a:extLst>
                <a:ext uri="{FF2B5EF4-FFF2-40B4-BE49-F238E27FC236}">
                  <a16:creationId xmlns:a16="http://schemas.microsoft.com/office/drawing/2014/main" id="{520B2AC3-59C3-86ED-D24B-14E6E18179E3}"/>
                </a:ext>
              </a:extLst>
            </p:cNvPr>
            <p:cNvSpPr/>
            <p:nvPr/>
          </p:nvSpPr>
          <p:spPr>
            <a:xfrm>
              <a:off x="2483768" y="5517232"/>
              <a:ext cx="1368152"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t>Garantia da Qualidade</a:t>
              </a:r>
            </a:p>
          </p:txBody>
        </p:sp>
        <p:sp>
          <p:nvSpPr>
            <p:cNvPr id="8" name="Retângulo de cantos arredondados 18">
              <a:extLst>
                <a:ext uri="{FF2B5EF4-FFF2-40B4-BE49-F238E27FC236}">
                  <a16:creationId xmlns:a16="http://schemas.microsoft.com/office/drawing/2014/main" id="{5D77CAC7-A234-6553-4A1C-88780B1BDB6B}"/>
                </a:ext>
              </a:extLst>
            </p:cNvPr>
            <p:cNvSpPr/>
            <p:nvPr/>
          </p:nvSpPr>
          <p:spPr>
            <a:xfrm>
              <a:off x="6913704" y="5517232"/>
              <a:ext cx="2016224"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dirty="0"/>
                <a:t>Verificação, Validação e Testes</a:t>
              </a:r>
            </a:p>
          </p:txBody>
        </p:sp>
        <p:sp>
          <p:nvSpPr>
            <p:cNvPr id="12" name="Retângulo de cantos arredondados 23">
              <a:extLst>
                <a:ext uri="{FF2B5EF4-FFF2-40B4-BE49-F238E27FC236}">
                  <a16:creationId xmlns:a16="http://schemas.microsoft.com/office/drawing/2014/main" id="{2FB7FB30-785D-AC2C-AD41-220D7AC004B1}"/>
                </a:ext>
              </a:extLst>
            </p:cNvPr>
            <p:cNvSpPr/>
            <p:nvPr/>
          </p:nvSpPr>
          <p:spPr>
            <a:xfrm>
              <a:off x="4008419" y="5517232"/>
              <a:ext cx="1080120" cy="6334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dirty="0"/>
                <a:t>Medição e Análise</a:t>
              </a:r>
            </a:p>
          </p:txBody>
        </p:sp>
        <p:sp>
          <p:nvSpPr>
            <p:cNvPr id="15" name="CaixaDeTexto 14">
              <a:extLst>
                <a:ext uri="{FF2B5EF4-FFF2-40B4-BE49-F238E27FC236}">
                  <a16:creationId xmlns:a16="http://schemas.microsoft.com/office/drawing/2014/main" id="{5AADA8C8-806A-63F9-5DDC-01E725CEC9A4}"/>
                </a:ext>
              </a:extLst>
            </p:cNvPr>
            <p:cNvSpPr txBox="1"/>
            <p:nvPr/>
          </p:nvSpPr>
          <p:spPr>
            <a:xfrm>
              <a:off x="1" y="5502412"/>
              <a:ext cx="1547663" cy="646331"/>
            </a:xfrm>
            <a:prstGeom prst="rect">
              <a:avLst/>
            </a:prstGeom>
            <a:noFill/>
          </p:spPr>
          <p:txBody>
            <a:bodyPr wrap="square" rtlCol="0">
              <a:spAutoFit/>
            </a:bodyPr>
            <a:lstStyle/>
            <a:p>
              <a:pPr algn="ctr"/>
              <a:r>
                <a:rPr lang="pt-BR" dirty="0"/>
                <a:t>Atividades de Apoio</a:t>
              </a:r>
            </a:p>
          </p:txBody>
        </p:sp>
        <p:sp>
          <p:nvSpPr>
            <p:cNvPr id="17" name="Elipse 16">
              <a:extLst>
                <a:ext uri="{FF2B5EF4-FFF2-40B4-BE49-F238E27FC236}">
                  <a16:creationId xmlns:a16="http://schemas.microsoft.com/office/drawing/2014/main" id="{C18D180B-68C1-CFED-0564-9BDAD746FB3C}"/>
                </a:ext>
              </a:extLst>
            </p:cNvPr>
            <p:cNvSpPr/>
            <p:nvPr/>
          </p:nvSpPr>
          <p:spPr>
            <a:xfrm>
              <a:off x="1554504" y="5430974"/>
              <a:ext cx="857256" cy="785818"/>
            </a:xfrm>
            <a:prstGeom prst="ellipse">
              <a:avLst/>
            </a:prstGeom>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ES II</a:t>
              </a:r>
            </a:p>
          </p:txBody>
        </p:sp>
      </p:grpSp>
    </p:spTree>
    <p:extLst>
      <p:ext uri="{BB962C8B-B14F-4D97-AF65-F5344CB8AC3E}">
        <p14:creationId xmlns:p14="http://schemas.microsoft.com/office/powerpoint/2010/main" val="3608438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649A18-FC42-4241-ED49-704E05DEC6E4}"/>
              </a:ext>
            </a:extLst>
          </p:cNvPr>
          <p:cNvSpPr>
            <a:spLocks noGrp="1"/>
          </p:cNvSpPr>
          <p:nvPr>
            <p:ph type="title"/>
          </p:nvPr>
        </p:nvSpPr>
        <p:spPr/>
        <p:txBody>
          <a:bodyPr/>
          <a:lstStyle/>
          <a:p>
            <a:r>
              <a:rPr lang="pt-BR" dirty="0"/>
              <a:t>Conteúdo de ES</a:t>
            </a:r>
          </a:p>
        </p:txBody>
      </p:sp>
      <p:sp>
        <p:nvSpPr>
          <p:cNvPr id="3" name="Espaço Reservado para Conteúdo 2">
            <a:extLst>
              <a:ext uri="{FF2B5EF4-FFF2-40B4-BE49-F238E27FC236}">
                <a16:creationId xmlns:a16="http://schemas.microsoft.com/office/drawing/2014/main" id="{D89C7E02-DB76-5C72-2155-B49D6E384440}"/>
              </a:ext>
            </a:extLst>
          </p:cNvPr>
          <p:cNvSpPr>
            <a:spLocks noGrp="1"/>
          </p:cNvSpPr>
          <p:nvPr>
            <p:ph idx="1"/>
          </p:nvPr>
        </p:nvSpPr>
        <p:spPr/>
        <p:txBody>
          <a:bodyPr/>
          <a:lstStyle/>
          <a:p>
            <a:pPr eaLnBrk="1" hangingPunct="1"/>
            <a:r>
              <a:rPr lang="pt-BR" dirty="0"/>
              <a:t>Diversos concursos e oportunidades de emprego exigem conhecimento de Gerenciamento de Projetos de Software</a:t>
            </a:r>
          </a:p>
          <a:p>
            <a:pPr eaLnBrk="1" hangingPunct="1">
              <a:spcBef>
                <a:spcPts val="2400"/>
              </a:spcBef>
            </a:pPr>
            <a:r>
              <a:rPr lang="pt-BR" dirty="0"/>
              <a:t>Alguns exemplos:</a:t>
            </a:r>
          </a:p>
          <a:p>
            <a:endParaRPr lang="pt-BR" dirty="0"/>
          </a:p>
        </p:txBody>
      </p:sp>
      <p:pic>
        <p:nvPicPr>
          <p:cNvPr id="4" name="Picture 3">
            <a:extLst>
              <a:ext uri="{FF2B5EF4-FFF2-40B4-BE49-F238E27FC236}">
                <a16:creationId xmlns:a16="http://schemas.microsoft.com/office/drawing/2014/main" id="{D3A1A3BA-D611-4968-06C6-7B5CFF5AB344}"/>
              </a:ext>
            </a:extLst>
          </p:cNvPr>
          <p:cNvPicPr>
            <a:picLocks noChangeAspect="1" noChangeArrowheads="1"/>
          </p:cNvPicPr>
          <p:nvPr/>
        </p:nvPicPr>
        <p:blipFill>
          <a:blip r:embed="rId2" cstate="print"/>
          <a:srcRect t="4361" b="17151"/>
          <a:stretch>
            <a:fillRect/>
          </a:stretch>
        </p:blipFill>
        <p:spPr bwMode="auto">
          <a:xfrm>
            <a:off x="1844687" y="3728681"/>
            <a:ext cx="1619250" cy="1285884"/>
          </a:xfrm>
          <a:prstGeom prst="rect">
            <a:avLst/>
          </a:prstGeom>
          <a:noFill/>
          <a:ln w="9525">
            <a:noFill/>
            <a:miter lim="800000"/>
            <a:headEnd/>
            <a:tailEnd/>
          </a:ln>
          <a:effectLst/>
        </p:spPr>
      </p:pic>
      <p:pic>
        <p:nvPicPr>
          <p:cNvPr id="5" name="Picture 4">
            <a:extLst>
              <a:ext uri="{FF2B5EF4-FFF2-40B4-BE49-F238E27FC236}">
                <a16:creationId xmlns:a16="http://schemas.microsoft.com/office/drawing/2014/main" id="{066F749E-BCDF-C381-F712-323E1D49BEEC}"/>
              </a:ext>
            </a:extLst>
          </p:cNvPr>
          <p:cNvPicPr>
            <a:picLocks noChangeAspect="1" noChangeArrowheads="1"/>
          </p:cNvPicPr>
          <p:nvPr/>
        </p:nvPicPr>
        <p:blipFill>
          <a:blip r:embed="rId3" cstate="print"/>
          <a:srcRect/>
          <a:stretch>
            <a:fillRect/>
          </a:stretch>
        </p:blipFill>
        <p:spPr bwMode="auto">
          <a:xfrm>
            <a:off x="4702207" y="3871557"/>
            <a:ext cx="1518878" cy="952488"/>
          </a:xfrm>
          <a:prstGeom prst="rect">
            <a:avLst/>
          </a:prstGeom>
          <a:noFill/>
          <a:ln w="9525">
            <a:noFill/>
            <a:miter lim="800000"/>
            <a:headEnd/>
            <a:tailEnd/>
          </a:ln>
          <a:effectLst/>
        </p:spPr>
      </p:pic>
      <p:pic>
        <p:nvPicPr>
          <p:cNvPr id="6" name="Picture 5">
            <a:extLst>
              <a:ext uri="{FF2B5EF4-FFF2-40B4-BE49-F238E27FC236}">
                <a16:creationId xmlns:a16="http://schemas.microsoft.com/office/drawing/2014/main" id="{31110ECD-643C-1640-155D-BEA5E6834E69}"/>
              </a:ext>
            </a:extLst>
          </p:cNvPr>
          <p:cNvPicPr>
            <a:picLocks noChangeAspect="1" noChangeArrowheads="1"/>
          </p:cNvPicPr>
          <p:nvPr/>
        </p:nvPicPr>
        <p:blipFill>
          <a:blip r:embed="rId4" cstate="print"/>
          <a:srcRect/>
          <a:stretch>
            <a:fillRect/>
          </a:stretch>
        </p:blipFill>
        <p:spPr bwMode="auto">
          <a:xfrm>
            <a:off x="7273975" y="3942995"/>
            <a:ext cx="2904110" cy="785818"/>
          </a:xfrm>
          <a:prstGeom prst="rect">
            <a:avLst/>
          </a:prstGeom>
          <a:noFill/>
          <a:ln w="9525">
            <a:noFill/>
            <a:miter lim="800000"/>
            <a:headEnd/>
            <a:tailEnd/>
          </a:ln>
          <a:effectLst/>
        </p:spPr>
      </p:pic>
    </p:spTree>
    <p:extLst>
      <p:ext uri="{BB962C8B-B14F-4D97-AF65-F5344CB8AC3E}">
        <p14:creationId xmlns:p14="http://schemas.microsoft.com/office/powerpoint/2010/main" val="1620722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CAFF-CF02-8148-DFDD-6DEA13B7A2CC}"/>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37D02776-88BB-348B-BE19-7C78F1B7041B}"/>
              </a:ext>
            </a:extLst>
          </p:cNvPr>
          <p:cNvSpPr>
            <a:spLocks noGrp="1"/>
          </p:cNvSpPr>
          <p:nvPr>
            <p:ph idx="1"/>
          </p:nvPr>
        </p:nvSpPr>
        <p:spPr/>
        <p:txBody>
          <a:bodyPr>
            <a:normAutofit/>
          </a:bodyPr>
          <a:lstStyle/>
          <a:p>
            <a:pPr marL="914400" lvl="1" indent="-457200">
              <a:buFont typeface="+mj-lt"/>
              <a:buAutoNum type="arabicPeriod"/>
            </a:pPr>
            <a:r>
              <a:rPr lang="pt-BR" dirty="0"/>
              <a:t>Conexão com a Engenharia de Software</a:t>
            </a:r>
          </a:p>
          <a:p>
            <a:pPr marL="914400" lvl="1" indent="-457200">
              <a:buFont typeface="+mj-lt"/>
              <a:buAutoNum type="arabicPeriod"/>
            </a:pPr>
            <a:r>
              <a:rPr lang="pt-BR" b="1" dirty="0"/>
              <a:t>Complexidade do software</a:t>
            </a:r>
          </a:p>
          <a:p>
            <a:pPr marL="914400" lvl="1" indent="-457200">
              <a:buFont typeface="+mj-lt"/>
              <a:buAutoNum type="arabicPeriod"/>
            </a:pPr>
            <a:r>
              <a:rPr lang="pt-BR" dirty="0"/>
              <a:t>Introdução à gestão de projetos de software</a:t>
            </a:r>
          </a:p>
          <a:p>
            <a:pPr marL="914400" lvl="1" indent="-457200">
              <a:buFont typeface="+mj-lt"/>
              <a:buAutoNum type="arabicPeriod"/>
            </a:pPr>
            <a:r>
              <a:rPr lang="pt-BR" dirty="0"/>
              <a:t>Papel do gerente de projeto</a:t>
            </a:r>
          </a:p>
          <a:p>
            <a:endParaRPr lang="pt-BR" dirty="0"/>
          </a:p>
          <a:p>
            <a:endParaRPr lang="pt-BR" dirty="0"/>
          </a:p>
        </p:txBody>
      </p:sp>
      <p:sp>
        <p:nvSpPr>
          <p:cNvPr id="2" name="Título 1">
            <a:extLst>
              <a:ext uri="{FF2B5EF4-FFF2-40B4-BE49-F238E27FC236}">
                <a16:creationId xmlns:a16="http://schemas.microsoft.com/office/drawing/2014/main" id="{FBED79CD-0AF0-7F2A-2E0C-6606503142E5}"/>
              </a:ext>
            </a:extLst>
          </p:cNvPr>
          <p:cNvSpPr>
            <a:spLocks noGrp="1"/>
          </p:cNvSpPr>
          <p:nvPr>
            <p:ph type="title"/>
          </p:nvPr>
        </p:nvSpPr>
        <p:spPr/>
        <p:txBody>
          <a:bodyPr/>
          <a:lstStyle/>
          <a:p>
            <a:r>
              <a:rPr lang="pt-BR" dirty="0"/>
              <a:t>Objetivos de hoje:</a:t>
            </a:r>
          </a:p>
        </p:txBody>
      </p:sp>
      <p:sp>
        <p:nvSpPr>
          <p:cNvPr id="9" name="Retângulo 8">
            <a:extLst>
              <a:ext uri="{FF2B5EF4-FFF2-40B4-BE49-F238E27FC236}">
                <a16:creationId xmlns:a16="http://schemas.microsoft.com/office/drawing/2014/main" id="{32D0B5FA-C189-D609-30C6-8D648B63E4CF}"/>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08233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99C79B-B45C-6989-68DB-BE4678D0A099}"/>
              </a:ext>
            </a:extLst>
          </p:cNvPr>
          <p:cNvSpPr>
            <a:spLocks noGrp="1"/>
          </p:cNvSpPr>
          <p:nvPr>
            <p:ph type="title"/>
          </p:nvPr>
        </p:nvSpPr>
        <p:spPr/>
        <p:txBody>
          <a:bodyPr/>
          <a:lstStyle/>
          <a:p>
            <a:r>
              <a:rPr lang="pt-BR" dirty="0"/>
              <a:t>Gerenciamento da complexidade</a:t>
            </a:r>
          </a:p>
        </p:txBody>
      </p:sp>
      <p:sp>
        <p:nvSpPr>
          <p:cNvPr id="3" name="Espaço Reservado para Conteúdo 2">
            <a:extLst>
              <a:ext uri="{FF2B5EF4-FFF2-40B4-BE49-F238E27FC236}">
                <a16:creationId xmlns:a16="http://schemas.microsoft.com/office/drawing/2014/main" id="{AF0061CE-6003-2CE5-8124-2A50A343860A}"/>
              </a:ext>
            </a:extLst>
          </p:cNvPr>
          <p:cNvSpPr>
            <a:spLocks noGrp="1"/>
          </p:cNvSpPr>
          <p:nvPr>
            <p:ph idx="1"/>
          </p:nvPr>
        </p:nvSpPr>
        <p:spPr/>
        <p:txBody>
          <a:bodyPr/>
          <a:lstStyle/>
          <a:p>
            <a:r>
              <a:rPr lang="pt-BR" dirty="0"/>
              <a:t>Um pouco de história...</a:t>
            </a:r>
          </a:p>
        </p:txBody>
      </p:sp>
    </p:spTree>
    <p:extLst>
      <p:ext uri="{BB962C8B-B14F-4D97-AF65-F5344CB8AC3E}">
        <p14:creationId xmlns:p14="http://schemas.microsoft.com/office/powerpoint/2010/main" val="38763980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FB03D2-A111-66FD-C34E-844FF77F2AAF}"/>
              </a:ext>
            </a:extLst>
          </p:cNvPr>
          <p:cNvSpPr>
            <a:spLocks noGrp="1"/>
          </p:cNvSpPr>
          <p:nvPr>
            <p:ph type="title"/>
          </p:nvPr>
        </p:nvSpPr>
        <p:spPr/>
        <p:txBody>
          <a:bodyPr/>
          <a:lstStyle/>
          <a:p>
            <a:r>
              <a:rPr lang="pt-BR" dirty="0"/>
              <a:t>Histórico da indústria de software</a:t>
            </a:r>
          </a:p>
        </p:txBody>
      </p:sp>
      <p:sp>
        <p:nvSpPr>
          <p:cNvPr id="3" name="Espaço Reservado para Conteúdo 2">
            <a:extLst>
              <a:ext uri="{FF2B5EF4-FFF2-40B4-BE49-F238E27FC236}">
                <a16:creationId xmlns:a16="http://schemas.microsoft.com/office/drawing/2014/main" id="{A6B5E12E-DCE7-EEF0-750A-891E3B87FF7B}"/>
              </a:ext>
            </a:extLst>
          </p:cNvPr>
          <p:cNvSpPr>
            <a:spLocks noGrp="1"/>
          </p:cNvSpPr>
          <p:nvPr>
            <p:ph idx="1"/>
          </p:nvPr>
        </p:nvSpPr>
        <p:spPr>
          <a:xfrm>
            <a:off x="838200" y="1825625"/>
            <a:ext cx="6590071" cy="4351338"/>
          </a:xfrm>
        </p:spPr>
        <p:txBody>
          <a:bodyPr>
            <a:normAutofit fontScale="92500" lnSpcReduction="20000"/>
          </a:bodyPr>
          <a:lstStyle/>
          <a:p>
            <a:r>
              <a:rPr lang="pt-BR" dirty="0"/>
              <a:t>Anos </a:t>
            </a:r>
            <a:r>
              <a:rPr lang="pt-BR" b="1" dirty="0"/>
              <a:t>1940</a:t>
            </a:r>
            <a:r>
              <a:rPr lang="pt-BR" dirty="0"/>
              <a:t>: primeiro computador eletrônico de uso geral – ENIAC</a:t>
            </a:r>
          </a:p>
          <a:p>
            <a:pPr lvl="1"/>
            <a:r>
              <a:rPr lang="pt-BR" dirty="0"/>
              <a:t>Custo estimado: US$ 500 mil</a:t>
            </a:r>
          </a:p>
          <a:p>
            <a:pPr lvl="1"/>
            <a:r>
              <a:rPr lang="pt-BR" dirty="0"/>
              <a:t>Início da programação de computadores</a:t>
            </a:r>
          </a:p>
          <a:p>
            <a:pPr>
              <a:spcBef>
                <a:spcPts val="2400"/>
              </a:spcBef>
            </a:pPr>
            <a:r>
              <a:rPr lang="pt-BR" dirty="0"/>
              <a:t>Anos </a:t>
            </a:r>
            <a:r>
              <a:rPr lang="pt-BR" b="1" dirty="0"/>
              <a:t>1950</a:t>
            </a:r>
            <a:r>
              <a:rPr lang="pt-BR" dirty="0"/>
              <a:t>: primeiros compiladores e interpretadores</a:t>
            </a:r>
          </a:p>
          <a:p>
            <a:pPr>
              <a:spcBef>
                <a:spcPts val="2400"/>
              </a:spcBef>
            </a:pPr>
            <a:r>
              <a:rPr lang="pt-BR" dirty="0"/>
              <a:t>Anos </a:t>
            </a:r>
            <a:r>
              <a:rPr lang="pt-BR" b="1" dirty="0"/>
              <a:t>1960</a:t>
            </a:r>
            <a:r>
              <a:rPr lang="pt-BR" dirty="0"/>
              <a:t>: primeiro grande software relatado na literatura – IBM OS/360 (1964)</a:t>
            </a:r>
          </a:p>
          <a:p>
            <a:pPr lvl="1"/>
            <a:r>
              <a:rPr lang="pt-BR" dirty="0"/>
              <a:t>Mais de 1.000 programadores</a:t>
            </a:r>
          </a:p>
          <a:p>
            <a:pPr lvl="1"/>
            <a:r>
              <a:rPr lang="pt-BR" dirty="0"/>
              <a:t>Custo estimado: US$ 50 mi por ano</a:t>
            </a:r>
          </a:p>
          <a:p>
            <a:pPr>
              <a:spcBef>
                <a:spcPts val="2400"/>
              </a:spcBef>
            </a:pPr>
            <a:r>
              <a:rPr lang="pt-BR" b="1" dirty="0"/>
              <a:t>1968</a:t>
            </a:r>
            <a:r>
              <a:rPr lang="pt-BR" dirty="0"/>
              <a:t>: </a:t>
            </a:r>
            <a:r>
              <a:rPr lang="pt-BR" i="1" dirty="0"/>
              <a:t>Crise do software</a:t>
            </a:r>
            <a:endParaRPr lang="pt-BR" b="1" dirty="0"/>
          </a:p>
        </p:txBody>
      </p:sp>
      <p:pic>
        <p:nvPicPr>
          <p:cNvPr id="12290" name="Picture 2" descr="Do ENIAC ao notebook: confira a evolução dos computadores nas últimas  décadas | CNN Brasil">
            <a:extLst>
              <a:ext uri="{FF2B5EF4-FFF2-40B4-BE49-F238E27FC236}">
                <a16:creationId xmlns:a16="http://schemas.microsoft.com/office/drawing/2014/main" id="{B14FEBF2-6081-7E29-667F-F5DCB6DAEB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8271" y="2134829"/>
            <a:ext cx="4645742" cy="3484307"/>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Grace Hopper's compiler: Computing's hidden hero - BBC News">
            <a:extLst>
              <a:ext uri="{FF2B5EF4-FFF2-40B4-BE49-F238E27FC236}">
                <a16:creationId xmlns:a16="http://schemas.microsoft.com/office/drawing/2014/main" id="{E82B4DEA-A1C4-FADD-B0ED-A5BE522647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2576" y="2134829"/>
            <a:ext cx="4858119" cy="3484307"/>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a:extLst>
              <a:ext uri="{FF2B5EF4-FFF2-40B4-BE49-F238E27FC236}">
                <a16:creationId xmlns:a16="http://schemas.microsoft.com/office/drawing/2014/main" id="{564FAAB4-E3E7-7D04-2148-4C0D4C420D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2792" y="1194702"/>
            <a:ext cx="2375208" cy="5613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00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292"/>
                                        </p:tgtEl>
                                        <p:attrNameLst>
                                          <p:attrName>style.visibility</p:attrName>
                                        </p:attrNameLst>
                                      </p:cBhvr>
                                      <p:to>
                                        <p:strVal val="visible"/>
                                      </p:to>
                                    </p:set>
                                    <p:animEffect transition="in" filter="fade">
                                      <p:cBhvr>
                                        <p:cTn id="10" dur="500"/>
                                        <p:tgtEl>
                                          <p:spTgt spid="1229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2294"/>
                                        </p:tgtEl>
                                        <p:attrNameLst>
                                          <p:attrName>style.visibility</p:attrName>
                                        </p:attrNameLst>
                                      </p:cBhvr>
                                      <p:to>
                                        <p:strVal val="visible"/>
                                      </p:to>
                                    </p:set>
                                    <p:animEffect transition="in" filter="fade">
                                      <p:cBhvr>
                                        <p:cTn id="24" dur="500"/>
                                        <p:tgtEl>
                                          <p:spTgt spid="1229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F57272-9E89-BCD4-92E0-2C8AAD2C3FC4}"/>
              </a:ext>
            </a:extLst>
          </p:cNvPr>
          <p:cNvSpPr>
            <a:spLocks noGrp="1"/>
          </p:cNvSpPr>
          <p:nvPr>
            <p:ph type="title"/>
          </p:nvPr>
        </p:nvSpPr>
        <p:spPr/>
        <p:txBody>
          <a:bodyPr/>
          <a:lstStyle/>
          <a:p>
            <a:r>
              <a:rPr lang="pt-BR" b="1" i="1" dirty="0"/>
              <a:t>Crise do software - 1968</a:t>
            </a:r>
          </a:p>
        </p:txBody>
      </p:sp>
      <p:sp>
        <p:nvSpPr>
          <p:cNvPr id="3" name="Espaço Reservado para Conteúdo 2">
            <a:extLst>
              <a:ext uri="{FF2B5EF4-FFF2-40B4-BE49-F238E27FC236}">
                <a16:creationId xmlns:a16="http://schemas.microsoft.com/office/drawing/2014/main" id="{954BD1DD-7A06-E87B-246E-22ED6C384289}"/>
              </a:ext>
            </a:extLst>
          </p:cNvPr>
          <p:cNvSpPr>
            <a:spLocks noGrp="1"/>
          </p:cNvSpPr>
          <p:nvPr>
            <p:ph idx="1"/>
          </p:nvPr>
        </p:nvSpPr>
        <p:spPr>
          <a:xfrm>
            <a:off x="838200" y="1825625"/>
            <a:ext cx="6191865" cy="4351338"/>
          </a:xfrm>
        </p:spPr>
        <p:txBody>
          <a:bodyPr>
            <a:normAutofit fontScale="77500" lnSpcReduction="20000"/>
          </a:bodyPr>
          <a:lstStyle/>
          <a:p>
            <a:r>
              <a:rPr lang="pt-BR" dirty="0"/>
              <a:t>Dificuldade de criar programas de computador </a:t>
            </a:r>
            <a:r>
              <a:rPr lang="pt-BR" b="1" dirty="0"/>
              <a:t>úteis e eficientes </a:t>
            </a:r>
            <a:r>
              <a:rPr lang="pt-BR" dirty="0"/>
              <a:t>com </a:t>
            </a:r>
            <a:r>
              <a:rPr lang="pt-BR" b="1" dirty="0"/>
              <a:t>tempo</a:t>
            </a:r>
            <a:r>
              <a:rPr lang="pt-BR" dirty="0"/>
              <a:t> e </a:t>
            </a:r>
            <a:r>
              <a:rPr lang="pt-BR" b="1" dirty="0"/>
              <a:t>custos</a:t>
            </a:r>
            <a:r>
              <a:rPr lang="pt-BR" dirty="0"/>
              <a:t> aceitáveis;</a:t>
            </a:r>
          </a:p>
          <a:p>
            <a:pPr lvl="1"/>
            <a:r>
              <a:rPr lang="pt-BR" dirty="0"/>
              <a:t>Média de 50% mais de tempo para construir;</a:t>
            </a:r>
          </a:p>
          <a:p>
            <a:pPr lvl="1"/>
            <a:r>
              <a:rPr lang="pt-BR" dirty="0"/>
              <a:t>Custo de manutenção 2x maior que o de construção;</a:t>
            </a:r>
          </a:p>
          <a:p>
            <a:pPr>
              <a:spcBef>
                <a:spcPts val="2400"/>
              </a:spcBef>
            </a:pPr>
            <a:r>
              <a:rPr lang="pt-BR" dirty="0"/>
              <a:t>Crise gerada a partir do </a:t>
            </a:r>
            <a:r>
              <a:rPr lang="pt-BR" b="1" dirty="0"/>
              <a:t>crescimento do poder computacional</a:t>
            </a:r>
            <a:r>
              <a:rPr lang="pt-BR" dirty="0"/>
              <a:t> e a complexidade dos problemas;</a:t>
            </a:r>
          </a:p>
          <a:p>
            <a:pPr>
              <a:spcBef>
                <a:spcPts val="2400"/>
              </a:spcBef>
            </a:pPr>
            <a:r>
              <a:rPr lang="pt-BR" dirty="0"/>
              <a:t>Quanto maior a complexidade do SW mais inadequados os métodos de produção disponíveis;</a:t>
            </a:r>
          </a:p>
          <a:p>
            <a:pPr>
              <a:spcBef>
                <a:spcPts val="2400"/>
              </a:spcBef>
            </a:pPr>
            <a:r>
              <a:rPr lang="pt-BR" sz="2500" dirty="0"/>
              <a:t>Manutenção extremamente difícil</a:t>
            </a:r>
          </a:p>
          <a:p>
            <a:pPr>
              <a:spcBef>
                <a:spcPts val="2400"/>
              </a:spcBef>
            </a:pPr>
            <a:r>
              <a:rPr lang="pt-BR" b="1" dirty="0"/>
              <a:t>Solução</a:t>
            </a:r>
            <a:r>
              <a:rPr lang="pt-BR" dirty="0"/>
              <a:t>: estabelecimento da disciplina de </a:t>
            </a:r>
            <a:r>
              <a:rPr lang="pt-BR" i="1" dirty="0"/>
              <a:t>Engenharia de software </a:t>
            </a:r>
            <a:r>
              <a:rPr lang="pt-BR" dirty="0"/>
              <a:t>(formas sistemáticas)</a:t>
            </a:r>
          </a:p>
        </p:txBody>
      </p:sp>
      <p:pic>
        <p:nvPicPr>
          <p:cNvPr id="7170" name="Picture 2" descr="Software Crisis">
            <a:extLst>
              <a:ext uri="{FF2B5EF4-FFF2-40B4-BE49-F238E27FC236}">
                <a16:creationId xmlns:a16="http://schemas.microsoft.com/office/drawing/2014/main" id="{5527ABDB-8111-87A6-18A4-1FDB1E259D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633" y="2130426"/>
            <a:ext cx="4723914" cy="3385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714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FB03D2-A111-66FD-C34E-844FF77F2AAF}"/>
              </a:ext>
            </a:extLst>
          </p:cNvPr>
          <p:cNvSpPr>
            <a:spLocks noGrp="1"/>
          </p:cNvSpPr>
          <p:nvPr>
            <p:ph type="title"/>
          </p:nvPr>
        </p:nvSpPr>
        <p:spPr/>
        <p:txBody>
          <a:bodyPr/>
          <a:lstStyle/>
          <a:p>
            <a:r>
              <a:rPr lang="pt-BR" dirty="0"/>
              <a:t>Histórico da indústria de software</a:t>
            </a:r>
          </a:p>
        </p:txBody>
      </p:sp>
      <p:sp>
        <p:nvSpPr>
          <p:cNvPr id="3" name="Espaço Reservado para Conteúdo 2">
            <a:extLst>
              <a:ext uri="{FF2B5EF4-FFF2-40B4-BE49-F238E27FC236}">
                <a16:creationId xmlns:a16="http://schemas.microsoft.com/office/drawing/2014/main" id="{A6B5E12E-DCE7-EEF0-750A-891E3B87FF7B}"/>
              </a:ext>
            </a:extLst>
          </p:cNvPr>
          <p:cNvSpPr>
            <a:spLocks noGrp="1"/>
          </p:cNvSpPr>
          <p:nvPr>
            <p:ph idx="1"/>
          </p:nvPr>
        </p:nvSpPr>
        <p:spPr/>
        <p:txBody>
          <a:bodyPr>
            <a:normAutofit fontScale="55000" lnSpcReduction="20000"/>
          </a:bodyPr>
          <a:lstStyle/>
          <a:p>
            <a:r>
              <a:rPr lang="pt-BR" dirty="0"/>
              <a:t>Anos </a:t>
            </a:r>
            <a:r>
              <a:rPr lang="pt-BR" b="1" dirty="0"/>
              <a:t>1970</a:t>
            </a:r>
            <a:r>
              <a:rPr lang="pt-BR" dirty="0"/>
              <a:t>: </a:t>
            </a:r>
          </a:p>
          <a:p>
            <a:pPr lvl="1"/>
            <a:r>
              <a:rPr lang="pt-BR" dirty="0"/>
              <a:t>Linguagens estruturadas (sem GO TO)</a:t>
            </a:r>
          </a:p>
          <a:p>
            <a:pPr lvl="1"/>
            <a:r>
              <a:rPr lang="pt-BR" dirty="0"/>
              <a:t>Encapsulamento como forma de domar complexidade</a:t>
            </a:r>
          </a:p>
          <a:p>
            <a:pPr lvl="1"/>
            <a:r>
              <a:rPr lang="pt-BR" dirty="0"/>
              <a:t>Ferramentas CASE</a:t>
            </a:r>
          </a:p>
          <a:p>
            <a:pPr lvl="1"/>
            <a:r>
              <a:rPr lang="pt-BR" dirty="0"/>
              <a:t>Ciclo de vida em Cascata (</a:t>
            </a:r>
            <a:r>
              <a:rPr lang="pt-BR" dirty="0" err="1"/>
              <a:t>Waterfall</a:t>
            </a:r>
            <a:r>
              <a:rPr lang="pt-BR" dirty="0"/>
              <a:t>)</a:t>
            </a:r>
          </a:p>
          <a:p>
            <a:pPr>
              <a:spcBef>
                <a:spcPts val="2400"/>
              </a:spcBef>
            </a:pPr>
            <a:r>
              <a:rPr lang="pt-BR" dirty="0"/>
              <a:t>Anos </a:t>
            </a:r>
            <a:r>
              <a:rPr lang="pt-BR" b="1" dirty="0"/>
              <a:t>1980</a:t>
            </a:r>
            <a:r>
              <a:rPr lang="pt-BR" dirty="0"/>
              <a:t>:</a:t>
            </a:r>
          </a:p>
          <a:p>
            <a:pPr lvl="1"/>
            <a:r>
              <a:rPr lang="pt-BR" dirty="0"/>
              <a:t>Ciclo de vida espiral</a:t>
            </a:r>
          </a:p>
          <a:p>
            <a:pPr lvl="1"/>
            <a:r>
              <a:rPr lang="pt-BR" dirty="0"/>
              <a:t>Linguagens orientadas a objetos</a:t>
            </a:r>
          </a:p>
          <a:p>
            <a:pPr lvl="1"/>
            <a:r>
              <a:rPr lang="pt-BR" dirty="0"/>
              <a:t>Controle de versão </a:t>
            </a:r>
          </a:p>
          <a:p>
            <a:pPr lvl="1"/>
            <a:r>
              <a:rPr lang="pt-BR" dirty="0"/>
              <a:t>Testes</a:t>
            </a:r>
          </a:p>
          <a:p>
            <a:pPr lvl="1"/>
            <a:r>
              <a:rPr lang="pt-BR" dirty="0"/>
              <a:t>Computadores pessoais</a:t>
            </a:r>
          </a:p>
          <a:p>
            <a:pPr>
              <a:spcBef>
                <a:spcPts val="2400"/>
              </a:spcBef>
            </a:pPr>
            <a:r>
              <a:rPr lang="pt-BR" dirty="0"/>
              <a:t>Anos </a:t>
            </a:r>
            <a:r>
              <a:rPr lang="pt-BR" b="1" dirty="0"/>
              <a:t>1990</a:t>
            </a:r>
            <a:r>
              <a:rPr lang="pt-BR" dirty="0"/>
              <a:t>:</a:t>
            </a:r>
          </a:p>
          <a:p>
            <a:pPr lvl="1"/>
            <a:r>
              <a:rPr lang="pt-BR" dirty="0"/>
              <a:t>Processos</a:t>
            </a:r>
          </a:p>
          <a:p>
            <a:pPr lvl="1"/>
            <a:r>
              <a:rPr lang="pt-BR" dirty="0"/>
              <a:t>Modelagem UML</a:t>
            </a:r>
          </a:p>
          <a:p>
            <a:pPr lvl="1"/>
            <a:r>
              <a:rPr lang="pt-BR" dirty="0"/>
              <a:t>Design </a:t>
            </a:r>
            <a:r>
              <a:rPr lang="pt-BR" dirty="0" err="1"/>
              <a:t>patterns</a:t>
            </a:r>
            <a:endParaRPr lang="pt-BR" dirty="0"/>
          </a:p>
          <a:p>
            <a:pPr lvl="1"/>
            <a:r>
              <a:rPr lang="pt-BR" dirty="0"/>
              <a:t>Java</a:t>
            </a:r>
          </a:p>
          <a:p>
            <a:pPr lvl="1"/>
            <a:r>
              <a:rPr lang="pt-BR" dirty="0"/>
              <a:t>Internet (HTML, XML) / </a:t>
            </a:r>
            <a:r>
              <a:rPr lang="pt-BR" dirty="0" err="1"/>
              <a:t>Engines</a:t>
            </a:r>
            <a:r>
              <a:rPr lang="pt-BR" dirty="0"/>
              <a:t> de busca</a:t>
            </a:r>
          </a:p>
        </p:txBody>
      </p:sp>
      <p:pic>
        <p:nvPicPr>
          <p:cNvPr id="13314" name="Picture 2" descr="Computer Aided Software Engineering Tools (CASE)">
            <a:extLst>
              <a:ext uri="{FF2B5EF4-FFF2-40B4-BE49-F238E27FC236}">
                <a16:creationId xmlns:a16="http://schemas.microsoft.com/office/drawing/2014/main" id="{C4BC57E7-7FAC-5F6C-792F-D49F2F405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6017" y="2016919"/>
            <a:ext cx="5105400" cy="3000375"/>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Object Oriented Programming Paradigm I">
            <a:extLst>
              <a:ext uri="{FF2B5EF4-FFF2-40B4-BE49-F238E27FC236}">
                <a16:creationId xmlns:a16="http://schemas.microsoft.com/office/drawing/2014/main" id="{A015F415-FB9B-4752-5B32-FEC780EF6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8366" y="2016919"/>
            <a:ext cx="6062407" cy="3539613"/>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Software Engineering — Software Process and Software Process Models (Part  2) | by Omar Elgabry | OmarElgabry's Blog | Medium">
            <a:extLst>
              <a:ext uri="{FF2B5EF4-FFF2-40B4-BE49-F238E27FC236}">
                <a16:creationId xmlns:a16="http://schemas.microsoft.com/office/drawing/2014/main" id="{BA4B0B14-7D3F-4E1F-B49A-A7B759753E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1957" y="1422656"/>
            <a:ext cx="5049138" cy="4783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431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fade">
                                      <p:cBhvr>
                                        <p:cTn id="19" dur="500"/>
                                        <p:tgtEl>
                                          <p:spTgt spid="3">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fade">
                                      <p:cBhvr>
                                        <p:cTn id="22" dur="500"/>
                                        <p:tgtEl>
                                          <p:spTgt spid="3">
                                            <p:txEl>
                                              <p:pRg st="10" end="1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3316"/>
                                        </p:tgtEl>
                                        <p:attrNameLst>
                                          <p:attrName>style.visibility</p:attrName>
                                        </p:attrNameLst>
                                      </p:cBhvr>
                                      <p:to>
                                        <p:strVal val="visible"/>
                                      </p:to>
                                    </p:set>
                                    <p:animEffect transition="in" filter="fade">
                                      <p:cBhvr>
                                        <p:cTn id="25" dur="500"/>
                                        <p:tgtEl>
                                          <p:spTgt spid="13316"/>
                                        </p:tgtEl>
                                      </p:cBhvr>
                                    </p:animEffect>
                                  </p:childTnLst>
                                </p:cTn>
                              </p:par>
                              <p:par>
                                <p:cTn id="26" presetID="1" presetClass="exit" presetSubtype="0" fill="hold" nodeType="withEffect">
                                  <p:stCondLst>
                                    <p:cond delay="0"/>
                                  </p:stCondLst>
                                  <p:childTnLst>
                                    <p:set>
                                      <p:cBhvr>
                                        <p:cTn id="27" dur="1" fill="hold">
                                          <p:stCondLst>
                                            <p:cond delay="0"/>
                                          </p:stCondLst>
                                        </p:cTn>
                                        <p:tgtEl>
                                          <p:spTgt spid="133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animEffect transition="in" filter="fade">
                                      <p:cBhvr>
                                        <p:cTn id="32" dur="500"/>
                                        <p:tgtEl>
                                          <p:spTgt spid="3">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Effect transition="in" filter="fade">
                                      <p:cBhvr>
                                        <p:cTn id="35" dur="500"/>
                                        <p:tgtEl>
                                          <p:spTgt spid="3">
                                            <p:txEl>
                                              <p:pRg st="12" end="12"/>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3" end="13"/>
                                            </p:txEl>
                                          </p:spTgt>
                                        </p:tgtEl>
                                        <p:attrNameLst>
                                          <p:attrName>style.visibility</p:attrName>
                                        </p:attrNameLst>
                                      </p:cBhvr>
                                      <p:to>
                                        <p:strVal val="visible"/>
                                      </p:to>
                                    </p:set>
                                    <p:animEffect transition="in" filter="fade">
                                      <p:cBhvr>
                                        <p:cTn id="38" dur="500"/>
                                        <p:tgtEl>
                                          <p:spTgt spid="3">
                                            <p:txEl>
                                              <p:pRg st="13" end="13"/>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animEffect transition="in" filter="fade">
                                      <p:cBhvr>
                                        <p:cTn id="41" dur="500"/>
                                        <p:tgtEl>
                                          <p:spTgt spid="3">
                                            <p:txEl>
                                              <p:pRg st="14" end="14"/>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15" end="15"/>
                                            </p:txEl>
                                          </p:spTgt>
                                        </p:tgtEl>
                                        <p:attrNameLst>
                                          <p:attrName>style.visibility</p:attrName>
                                        </p:attrNameLst>
                                      </p:cBhvr>
                                      <p:to>
                                        <p:strVal val="visible"/>
                                      </p:to>
                                    </p:set>
                                    <p:animEffect transition="in" filter="fade">
                                      <p:cBhvr>
                                        <p:cTn id="44" dur="500"/>
                                        <p:tgtEl>
                                          <p:spTgt spid="3">
                                            <p:txEl>
                                              <p:pRg st="15" end="15"/>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Effect transition="in" filter="fade">
                                      <p:cBhvr>
                                        <p:cTn id="47" dur="500"/>
                                        <p:tgtEl>
                                          <p:spTgt spid="3">
                                            <p:txEl>
                                              <p:pRg st="16" end="16"/>
                                            </p:txEl>
                                          </p:spTgt>
                                        </p:tgtEl>
                                      </p:cBhvr>
                                    </p:animEffect>
                                  </p:childTnLst>
                                </p:cTn>
                              </p:par>
                              <p:par>
                                <p:cTn id="48" presetID="1" presetClass="exit" presetSubtype="0" fill="hold" nodeType="withEffect">
                                  <p:stCondLst>
                                    <p:cond delay="0"/>
                                  </p:stCondLst>
                                  <p:childTnLst>
                                    <p:set>
                                      <p:cBhvr>
                                        <p:cTn id="49" dur="1" fill="hold">
                                          <p:stCondLst>
                                            <p:cond delay="0"/>
                                          </p:stCondLst>
                                        </p:cTn>
                                        <p:tgtEl>
                                          <p:spTgt spid="13316"/>
                                        </p:tgtEl>
                                        <p:attrNameLst>
                                          <p:attrName>style.visibility</p:attrName>
                                        </p:attrNameLst>
                                      </p:cBhvr>
                                      <p:to>
                                        <p:strVal val="hidden"/>
                                      </p:to>
                                    </p:set>
                                  </p:childTnLst>
                                </p:cTn>
                              </p:par>
                              <p:par>
                                <p:cTn id="50" presetID="10" presetClass="entr" presetSubtype="0" fill="hold" nodeType="withEffect">
                                  <p:stCondLst>
                                    <p:cond delay="0"/>
                                  </p:stCondLst>
                                  <p:childTnLst>
                                    <p:set>
                                      <p:cBhvr>
                                        <p:cTn id="51" dur="1" fill="hold">
                                          <p:stCondLst>
                                            <p:cond delay="0"/>
                                          </p:stCondLst>
                                        </p:cTn>
                                        <p:tgtEl>
                                          <p:spTgt spid="13318"/>
                                        </p:tgtEl>
                                        <p:attrNameLst>
                                          <p:attrName>style.visibility</p:attrName>
                                        </p:attrNameLst>
                                      </p:cBhvr>
                                      <p:to>
                                        <p:strVal val="visible"/>
                                      </p:to>
                                    </p:set>
                                    <p:animEffect transition="in" filter="fade">
                                      <p:cBhvr>
                                        <p:cTn id="52"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FB03D2-A111-66FD-C34E-844FF77F2AAF}"/>
              </a:ext>
            </a:extLst>
          </p:cNvPr>
          <p:cNvSpPr>
            <a:spLocks noGrp="1"/>
          </p:cNvSpPr>
          <p:nvPr>
            <p:ph type="title"/>
          </p:nvPr>
        </p:nvSpPr>
        <p:spPr/>
        <p:txBody>
          <a:bodyPr/>
          <a:lstStyle/>
          <a:p>
            <a:r>
              <a:rPr lang="pt-BR" dirty="0"/>
              <a:t>Histórico da indústria de software</a:t>
            </a:r>
          </a:p>
        </p:txBody>
      </p:sp>
      <p:sp>
        <p:nvSpPr>
          <p:cNvPr id="3" name="Espaço Reservado para Conteúdo 2">
            <a:extLst>
              <a:ext uri="{FF2B5EF4-FFF2-40B4-BE49-F238E27FC236}">
                <a16:creationId xmlns:a16="http://schemas.microsoft.com/office/drawing/2014/main" id="{A6B5E12E-DCE7-EEF0-750A-891E3B87FF7B}"/>
              </a:ext>
            </a:extLst>
          </p:cNvPr>
          <p:cNvSpPr>
            <a:spLocks noGrp="1"/>
          </p:cNvSpPr>
          <p:nvPr>
            <p:ph idx="1"/>
          </p:nvPr>
        </p:nvSpPr>
        <p:spPr/>
        <p:txBody>
          <a:bodyPr>
            <a:normAutofit fontScale="70000" lnSpcReduction="20000"/>
          </a:bodyPr>
          <a:lstStyle/>
          <a:p>
            <a:r>
              <a:rPr lang="pt-BR" dirty="0"/>
              <a:t>Anos </a:t>
            </a:r>
            <a:r>
              <a:rPr lang="pt-BR" b="1" dirty="0"/>
              <a:t>2000</a:t>
            </a:r>
            <a:r>
              <a:rPr lang="pt-BR" dirty="0"/>
              <a:t>:</a:t>
            </a:r>
          </a:p>
          <a:p>
            <a:pPr lvl="1"/>
            <a:r>
              <a:rPr lang="pt-BR" dirty="0"/>
              <a:t>Métodos ágeis</a:t>
            </a:r>
          </a:p>
          <a:p>
            <a:pPr lvl="1"/>
            <a:r>
              <a:rPr lang="pt-BR" dirty="0"/>
              <a:t>Clean </a:t>
            </a:r>
            <a:r>
              <a:rPr lang="pt-BR" dirty="0" err="1"/>
              <a:t>code</a:t>
            </a:r>
            <a:r>
              <a:rPr lang="pt-BR" dirty="0"/>
              <a:t>, SOLID e o impacto da qualidade</a:t>
            </a:r>
          </a:p>
          <a:p>
            <a:pPr lvl="1"/>
            <a:r>
              <a:rPr lang="pt-BR" dirty="0"/>
              <a:t>Desenvolvimento dirigido por modelos</a:t>
            </a:r>
          </a:p>
          <a:p>
            <a:pPr lvl="1"/>
            <a:r>
              <a:rPr lang="pt-BR" dirty="0"/>
              <a:t>Linhas de produto</a:t>
            </a:r>
          </a:p>
          <a:p>
            <a:pPr lvl="1"/>
            <a:r>
              <a:rPr lang="pt-BR" dirty="0"/>
              <a:t>Experimentação</a:t>
            </a:r>
          </a:p>
          <a:p>
            <a:pPr lvl="1"/>
            <a:r>
              <a:rPr lang="pt-BR" dirty="0"/>
              <a:t>OVERENGINEERING sufocando simplicidade</a:t>
            </a:r>
          </a:p>
          <a:p>
            <a:pPr>
              <a:spcBef>
                <a:spcPts val="2400"/>
              </a:spcBef>
            </a:pPr>
            <a:r>
              <a:rPr lang="pt-BR" dirty="0"/>
              <a:t>Anos </a:t>
            </a:r>
            <a:r>
              <a:rPr lang="pt-BR" b="1" dirty="0"/>
              <a:t>2010-2020</a:t>
            </a:r>
            <a:r>
              <a:rPr lang="pt-BR" dirty="0"/>
              <a:t>:</a:t>
            </a:r>
          </a:p>
          <a:p>
            <a:pPr lvl="1"/>
            <a:r>
              <a:rPr lang="pt-BR" dirty="0" err="1"/>
              <a:t>DevOps</a:t>
            </a:r>
            <a:endParaRPr lang="pt-BR" dirty="0"/>
          </a:p>
          <a:p>
            <a:pPr lvl="1"/>
            <a:r>
              <a:rPr lang="pt-BR" dirty="0"/>
              <a:t>CI/CD (</a:t>
            </a:r>
            <a:r>
              <a:rPr lang="pt-BR" dirty="0" err="1"/>
              <a:t>Continuous</a:t>
            </a:r>
            <a:r>
              <a:rPr lang="pt-BR" dirty="0"/>
              <a:t> </a:t>
            </a:r>
            <a:r>
              <a:rPr lang="pt-BR" dirty="0" err="1"/>
              <a:t>integration</a:t>
            </a:r>
            <a:r>
              <a:rPr lang="pt-BR" dirty="0"/>
              <a:t>, delivery)</a:t>
            </a:r>
          </a:p>
          <a:p>
            <a:pPr lvl="1"/>
            <a:r>
              <a:rPr lang="pt-BR" dirty="0"/>
              <a:t>Smartphones / </a:t>
            </a:r>
            <a:r>
              <a:rPr lang="pt-BR" dirty="0" err="1"/>
              <a:t>AppStores</a:t>
            </a:r>
            <a:endParaRPr lang="pt-BR" dirty="0"/>
          </a:p>
          <a:p>
            <a:pPr lvl="1"/>
            <a:r>
              <a:rPr lang="pt-BR" dirty="0"/>
              <a:t>Software </a:t>
            </a:r>
            <a:r>
              <a:rPr lang="pt-BR" dirty="0" err="1"/>
              <a:t>analytics</a:t>
            </a:r>
            <a:r>
              <a:rPr lang="pt-BR" dirty="0"/>
              <a:t>, machine/</a:t>
            </a:r>
            <a:r>
              <a:rPr lang="pt-BR" dirty="0" err="1"/>
              <a:t>deep</a:t>
            </a:r>
            <a:r>
              <a:rPr lang="pt-BR" dirty="0"/>
              <a:t> learning</a:t>
            </a:r>
          </a:p>
          <a:p>
            <a:pPr>
              <a:spcBef>
                <a:spcPts val="2400"/>
              </a:spcBef>
            </a:pPr>
            <a:r>
              <a:rPr lang="pt-BR" dirty="0"/>
              <a:t>Anos </a:t>
            </a:r>
            <a:r>
              <a:rPr lang="pt-BR" b="1" dirty="0"/>
              <a:t>2020</a:t>
            </a:r>
            <a:r>
              <a:rPr lang="pt-BR" dirty="0"/>
              <a:t>?</a:t>
            </a:r>
          </a:p>
          <a:p>
            <a:pPr lvl="1">
              <a:spcBef>
                <a:spcPts val="600"/>
              </a:spcBef>
            </a:pPr>
            <a:r>
              <a:rPr lang="pt-BR" dirty="0"/>
              <a:t>COVID e transformação digital</a:t>
            </a:r>
          </a:p>
          <a:p>
            <a:pPr lvl="1">
              <a:spcBef>
                <a:spcPts val="600"/>
              </a:spcBef>
            </a:pPr>
            <a:r>
              <a:rPr lang="pt-BR" dirty="0"/>
              <a:t>Assistentes de código </a:t>
            </a:r>
            <a:r>
              <a:rPr lang="pt-BR" dirty="0" err="1"/>
              <a:t>Copilot</a:t>
            </a:r>
            <a:endParaRPr lang="pt-BR" dirty="0"/>
          </a:p>
        </p:txBody>
      </p:sp>
      <p:pic>
        <p:nvPicPr>
          <p:cNvPr id="14338" name="Picture 2" descr="Agile Methodologies: Navigating Change in Software Development">
            <a:extLst>
              <a:ext uri="{FF2B5EF4-FFF2-40B4-BE49-F238E27FC236}">
                <a16:creationId xmlns:a16="http://schemas.microsoft.com/office/drawing/2014/main" id="{EF7FB9EB-018E-D7B8-D752-A46BE15BFE3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958" b="92567" l="0" r="90000">
                        <a14:foregroundMark x1="52656" y1="28050" x2="46016" y2="70827"/>
                        <a14:foregroundMark x1="61563" y1="48808" x2="61563" y2="48808"/>
                        <a14:foregroundMark x1="38125" y1="39130" x2="38125" y2="39130"/>
                        <a14:foregroundMark x1="38359" y1="34642" x2="55859" y2="63815"/>
                        <a14:foregroundMark x1="50234" y1="51052" x2="58828" y2="39551"/>
                        <a14:foregroundMark x1="58594" y1="54558" x2="54844" y2="51893"/>
                      </a14:backgroundRemoval>
                    </a14:imgEffect>
                  </a14:imgLayer>
                </a14:imgProps>
              </a:ext>
              <a:ext uri="{28A0092B-C50C-407E-A947-70E740481C1C}">
                <a14:useLocalDpi xmlns:a14="http://schemas.microsoft.com/office/drawing/2010/main" val="0"/>
              </a:ext>
            </a:extLst>
          </a:blip>
          <a:srcRect/>
          <a:stretch>
            <a:fillRect/>
          </a:stretch>
        </p:blipFill>
        <p:spPr bwMode="auto">
          <a:xfrm>
            <a:off x="7443020" y="2316239"/>
            <a:ext cx="3995325" cy="2225521"/>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Como o DevOps afeta o trabalho do CIO | MANDIC">
            <a:extLst>
              <a:ext uri="{FF2B5EF4-FFF2-40B4-BE49-F238E27FC236}">
                <a16:creationId xmlns:a16="http://schemas.microsoft.com/office/drawing/2014/main" id="{D76E2FDA-DD34-ADC8-FD48-F9C02C5800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499" y="2031384"/>
            <a:ext cx="5432024" cy="2795229"/>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A68E3BB4-97ED-D68B-4F9F-7A6A4096E4C2}"/>
              </a:ext>
            </a:extLst>
          </p:cNvPr>
          <p:cNvSpPr txBox="1"/>
          <p:nvPr/>
        </p:nvSpPr>
        <p:spPr>
          <a:xfrm>
            <a:off x="6553499" y="5943600"/>
            <a:ext cx="5105101" cy="369332"/>
          </a:xfrm>
          <a:prstGeom prst="rect">
            <a:avLst/>
          </a:prstGeom>
          <a:noFill/>
        </p:spPr>
        <p:txBody>
          <a:bodyPr wrap="square">
            <a:spAutoFit/>
          </a:bodyPr>
          <a:lstStyle/>
          <a:p>
            <a:r>
              <a:rPr lang="pt-BR" dirty="0">
                <a:hlinkClick r:id="rId5"/>
              </a:rPr>
              <a:t>https://www.youtube.com/watch?v=oDXDYjksMds</a:t>
            </a:r>
            <a:r>
              <a:rPr lang="pt-BR" dirty="0"/>
              <a:t> </a:t>
            </a:r>
          </a:p>
        </p:txBody>
      </p:sp>
    </p:spTree>
    <p:extLst>
      <p:ext uri="{BB962C8B-B14F-4D97-AF65-F5344CB8AC3E}">
        <p14:creationId xmlns:p14="http://schemas.microsoft.com/office/powerpoint/2010/main" val="112270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8" end="8"/>
                                            </p:txEl>
                                          </p:spTgt>
                                        </p:tgtEl>
                                        <p:attrNameLst>
                                          <p:attrName>style.visibility</p:attrName>
                                        </p:attrNameLst>
                                      </p:cBhvr>
                                      <p:to>
                                        <p:strVal val="visible"/>
                                      </p:to>
                                    </p:set>
                                    <p:animEffect transition="in" filter="fade">
                                      <p:cBhvr>
                                        <p:cTn id="10" dur="500"/>
                                        <p:tgtEl>
                                          <p:spTgt spid="3">
                                            <p:txEl>
                                              <p:pRg st="8" end="8"/>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animEffect transition="in" filter="fade">
                                      <p:cBhvr>
                                        <p:cTn id="13" dur="500"/>
                                        <p:tgtEl>
                                          <p:spTgt spid="3">
                                            <p:txEl>
                                              <p:pRg st="9" end="9"/>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10" end="10"/>
                                            </p:txEl>
                                          </p:spTgt>
                                        </p:tgtEl>
                                        <p:attrNameLst>
                                          <p:attrName>style.visibility</p:attrName>
                                        </p:attrNameLst>
                                      </p:cBhvr>
                                      <p:to>
                                        <p:strVal val="visible"/>
                                      </p:to>
                                    </p:set>
                                    <p:animEffect transition="in" filter="fade">
                                      <p:cBhvr>
                                        <p:cTn id="16" dur="500"/>
                                        <p:tgtEl>
                                          <p:spTgt spid="3">
                                            <p:txEl>
                                              <p:pRg st="10" end="1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Effect transition="in" filter="fade">
                                      <p:cBhvr>
                                        <p:cTn id="19" dur="500"/>
                                        <p:tgtEl>
                                          <p:spTgt spid="3">
                                            <p:txEl>
                                              <p:pRg st="11" end="1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4340"/>
                                        </p:tgtEl>
                                        <p:attrNameLst>
                                          <p:attrName>style.visibility</p:attrName>
                                        </p:attrNameLst>
                                      </p:cBhvr>
                                      <p:to>
                                        <p:strVal val="visible"/>
                                      </p:to>
                                    </p:set>
                                    <p:animEffect transition="in" filter="fade">
                                      <p:cBhvr>
                                        <p:cTn id="22" dur="500"/>
                                        <p:tgtEl>
                                          <p:spTgt spid="14340"/>
                                        </p:tgtEl>
                                      </p:cBhvr>
                                    </p:animEffect>
                                  </p:childTnLst>
                                </p:cTn>
                              </p:par>
                              <p:par>
                                <p:cTn id="23" presetID="1" presetClass="exit" presetSubtype="0" fill="hold" nodeType="withEffect">
                                  <p:stCondLst>
                                    <p:cond delay="0"/>
                                  </p:stCondLst>
                                  <p:childTnLst>
                                    <p:set>
                                      <p:cBhvr>
                                        <p:cTn id="24" dur="1" fill="hold">
                                          <p:stCondLst>
                                            <p:cond delay="0"/>
                                          </p:stCondLst>
                                        </p:cTn>
                                        <p:tgtEl>
                                          <p:spTgt spid="1433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animEffect transition="in" filter="fade">
                                      <p:cBhvr>
                                        <p:cTn id="29" dur="500"/>
                                        <p:tgtEl>
                                          <p:spTgt spid="3">
                                            <p:txEl>
                                              <p:pRg st="12" end="1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13" end="13"/>
                                            </p:txEl>
                                          </p:spTgt>
                                        </p:tgtEl>
                                        <p:attrNameLst>
                                          <p:attrName>style.visibility</p:attrName>
                                        </p:attrNameLst>
                                      </p:cBhvr>
                                      <p:to>
                                        <p:strVal val="visible"/>
                                      </p:to>
                                    </p:set>
                                    <p:animEffect transition="in" filter="fade">
                                      <p:cBhvr>
                                        <p:cTn id="34" dur="500"/>
                                        <p:tgtEl>
                                          <p:spTgt spid="3">
                                            <p:txEl>
                                              <p:pRg st="13" end="1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Effect transition="in" filter="fade">
                                      <p:cBhvr>
                                        <p:cTn id="39" dur="500"/>
                                        <p:tgtEl>
                                          <p:spTgt spid="3">
                                            <p:txEl>
                                              <p:pRg st="14" end="14"/>
                                            </p:txEl>
                                          </p:spTgt>
                                        </p:tgtEl>
                                      </p:cBhvr>
                                    </p:animEffect>
                                  </p:childTnLst>
                                </p:cTn>
                              </p:par>
                              <p:par>
                                <p:cTn id="40" presetID="1" presetClass="exit" presetSubtype="0" fill="hold" nodeType="withEffect">
                                  <p:stCondLst>
                                    <p:cond delay="0"/>
                                  </p:stCondLst>
                                  <p:childTnLst>
                                    <p:set>
                                      <p:cBhvr>
                                        <p:cTn id="41" dur="1" fill="hold">
                                          <p:stCondLst>
                                            <p:cond delay="0"/>
                                          </p:stCondLst>
                                        </p:cTn>
                                        <p:tgtEl>
                                          <p:spTgt spid="143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57EA1C-0820-C936-9161-431380998919}"/>
              </a:ext>
            </a:extLst>
          </p:cNvPr>
          <p:cNvSpPr>
            <a:spLocks noGrp="1"/>
          </p:cNvSpPr>
          <p:nvPr>
            <p:ph type="title"/>
          </p:nvPr>
        </p:nvSpPr>
        <p:spPr/>
        <p:txBody>
          <a:bodyPr/>
          <a:lstStyle/>
          <a:p>
            <a:r>
              <a:rPr lang="pt-BR" dirty="0"/>
              <a:t>Engenharia de software</a:t>
            </a:r>
          </a:p>
        </p:txBody>
      </p:sp>
      <p:sp>
        <p:nvSpPr>
          <p:cNvPr id="3" name="Espaço Reservado para Conteúdo 2">
            <a:extLst>
              <a:ext uri="{FF2B5EF4-FFF2-40B4-BE49-F238E27FC236}">
                <a16:creationId xmlns:a16="http://schemas.microsoft.com/office/drawing/2014/main" id="{4158A802-0586-71DF-83C1-7EAC0FC47846}"/>
              </a:ext>
            </a:extLst>
          </p:cNvPr>
          <p:cNvSpPr>
            <a:spLocks noGrp="1"/>
          </p:cNvSpPr>
          <p:nvPr>
            <p:ph idx="1"/>
          </p:nvPr>
        </p:nvSpPr>
        <p:spPr/>
        <p:txBody>
          <a:bodyPr/>
          <a:lstStyle/>
          <a:p>
            <a:pPr marL="0" indent="0">
              <a:buNone/>
            </a:pPr>
            <a:r>
              <a:rPr lang="pt-BR" b="1" dirty="0"/>
              <a:t>Gerenciamento da complexidade</a:t>
            </a:r>
          </a:p>
          <a:p>
            <a:r>
              <a:rPr lang="pt-BR" sz="2000" dirty="0"/>
              <a:t>Software Boeing 777</a:t>
            </a:r>
          </a:p>
          <a:p>
            <a:r>
              <a:rPr lang="pt-BR" sz="2000" dirty="0"/>
              <a:t>Tamanho</a:t>
            </a:r>
          </a:p>
          <a:p>
            <a:pPr lvl="1"/>
            <a:r>
              <a:rPr lang="pt-BR" sz="1800" dirty="0"/>
              <a:t>Mais de 4 milhões de linhas de código</a:t>
            </a:r>
          </a:p>
          <a:p>
            <a:pPr lvl="1"/>
            <a:r>
              <a:rPr lang="pt-BR" sz="1800" dirty="0"/>
              <a:t>Linguagem dominante (&gt;99%): Ada</a:t>
            </a:r>
          </a:p>
          <a:p>
            <a:r>
              <a:rPr lang="pt-BR" sz="2000" dirty="0"/>
              <a:t>Documentação</a:t>
            </a:r>
          </a:p>
          <a:p>
            <a:pPr lvl="1"/>
            <a:r>
              <a:rPr lang="pt-BR" sz="1800" dirty="0"/>
              <a:t>De 100 a 10.000 páginas por </a:t>
            </a:r>
            <a:r>
              <a:rPr lang="pt-BR" sz="1800" dirty="0" err="1"/>
              <a:t>sub-sistema</a:t>
            </a:r>
            <a:endParaRPr lang="pt-BR" sz="1800" dirty="0"/>
          </a:p>
          <a:p>
            <a:pPr lvl="1"/>
            <a:r>
              <a:rPr lang="pt-BR" sz="1800" dirty="0"/>
              <a:t>Total de 79 </a:t>
            </a:r>
            <a:r>
              <a:rPr lang="pt-BR" sz="1800" dirty="0" err="1"/>
              <a:t>sub-sistemas</a:t>
            </a:r>
            <a:r>
              <a:rPr lang="pt-BR" sz="1800" dirty="0"/>
              <a:t> integrados</a:t>
            </a:r>
          </a:p>
          <a:p>
            <a:r>
              <a:rPr lang="pt-BR" sz="2000" dirty="0"/>
              <a:t>Duração</a:t>
            </a:r>
          </a:p>
          <a:p>
            <a:pPr lvl="1"/>
            <a:r>
              <a:rPr lang="pt-BR" sz="1800" dirty="0"/>
              <a:t>4,5 anos de desenvolvimento</a:t>
            </a:r>
          </a:p>
          <a:p>
            <a:endParaRPr lang="pt-BR" dirty="0"/>
          </a:p>
        </p:txBody>
      </p:sp>
      <p:pic>
        <p:nvPicPr>
          <p:cNvPr id="4" name="Picture 2">
            <a:extLst>
              <a:ext uri="{FF2B5EF4-FFF2-40B4-BE49-F238E27FC236}">
                <a16:creationId xmlns:a16="http://schemas.microsoft.com/office/drawing/2014/main" id="{69CC281C-792B-6D83-3103-A4EBEA5D7574}"/>
              </a:ext>
            </a:extLst>
          </p:cNvPr>
          <p:cNvPicPr>
            <a:picLocks noChangeAspect="1" noChangeArrowheads="1"/>
          </p:cNvPicPr>
          <p:nvPr/>
        </p:nvPicPr>
        <p:blipFill>
          <a:blip r:embed="rId2" cstate="print"/>
          <a:srcRect/>
          <a:stretch>
            <a:fillRect/>
          </a:stretch>
        </p:blipFill>
        <p:spPr bwMode="auto">
          <a:xfrm>
            <a:off x="8076243" y="1996990"/>
            <a:ext cx="3044185" cy="2285996"/>
          </a:xfrm>
          <a:prstGeom prst="rect">
            <a:avLst/>
          </a:prstGeom>
          <a:noFill/>
          <a:ln w="9525">
            <a:noFill/>
            <a:miter lim="800000"/>
            <a:headEnd/>
            <a:tailEnd/>
          </a:ln>
          <a:effectLst/>
        </p:spPr>
      </p:pic>
      <p:pic>
        <p:nvPicPr>
          <p:cNvPr id="5" name="Picture 2">
            <a:extLst>
              <a:ext uri="{FF2B5EF4-FFF2-40B4-BE49-F238E27FC236}">
                <a16:creationId xmlns:a16="http://schemas.microsoft.com/office/drawing/2014/main" id="{D5C7D1FA-5A87-9A49-81EA-059A7D3F126F}"/>
              </a:ext>
            </a:extLst>
          </p:cNvPr>
          <p:cNvPicPr>
            <a:picLocks noChangeAspect="1" noChangeArrowheads="1"/>
          </p:cNvPicPr>
          <p:nvPr/>
        </p:nvPicPr>
        <p:blipFill>
          <a:blip r:embed="rId3" cstate="print"/>
          <a:srcRect/>
          <a:stretch>
            <a:fillRect/>
          </a:stretch>
        </p:blipFill>
        <p:spPr bwMode="auto">
          <a:xfrm>
            <a:off x="8217058" y="4454351"/>
            <a:ext cx="2762554" cy="2073020"/>
          </a:xfrm>
          <a:prstGeom prst="rect">
            <a:avLst/>
          </a:prstGeom>
          <a:noFill/>
          <a:ln w="9525">
            <a:noFill/>
            <a:miter lim="800000"/>
            <a:headEnd/>
            <a:tailEnd/>
          </a:ln>
          <a:effectLst/>
        </p:spPr>
      </p:pic>
    </p:spTree>
    <p:extLst>
      <p:ext uri="{BB962C8B-B14F-4D97-AF65-F5344CB8AC3E}">
        <p14:creationId xmlns:p14="http://schemas.microsoft.com/office/powerpoint/2010/main" val="4056604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1AD96F-AA38-75EA-92A7-E9763A06CDD3}"/>
              </a:ext>
            </a:extLst>
          </p:cNvPr>
          <p:cNvSpPr>
            <a:spLocks noGrp="1"/>
          </p:cNvSpPr>
          <p:nvPr>
            <p:ph type="title"/>
          </p:nvPr>
        </p:nvSpPr>
        <p:spPr/>
        <p:txBody>
          <a:bodyPr/>
          <a:lstStyle/>
          <a:p>
            <a:r>
              <a:rPr lang="pt-BR" dirty="0"/>
              <a:t>Elementos da Engenharia de SW</a:t>
            </a:r>
          </a:p>
        </p:txBody>
      </p:sp>
      <p:sp>
        <p:nvSpPr>
          <p:cNvPr id="3" name="Espaço Reservado para Conteúdo 2">
            <a:extLst>
              <a:ext uri="{FF2B5EF4-FFF2-40B4-BE49-F238E27FC236}">
                <a16:creationId xmlns:a16="http://schemas.microsoft.com/office/drawing/2014/main" id="{5DB62AD3-AAA4-EAC5-A151-E5F4D58D3E5B}"/>
              </a:ext>
            </a:extLst>
          </p:cNvPr>
          <p:cNvSpPr>
            <a:spLocks noGrp="1"/>
          </p:cNvSpPr>
          <p:nvPr>
            <p:ph idx="1"/>
          </p:nvPr>
        </p:nvSpPr>
        <p:spPr>
          <a:xfrm>
            <a:off x="6725266" y="1825625"/>
            <a:ext cx="4628534" cy="4351338"/>
          </a:xfrm>
        </p:spPr>
        <p:txBody>
          <a:bodyPr>
            <a:normAutofit lnSpcReduction="10000"/>
          </a:bodyPr>
          <a:lstStyle/>
          <a:p>
            <a:r>
              <a:rPr lang="pt-BR" b="1" dirty="0"/>
              <a:t>Processo</a:t>
            </a:r>
            <a:r>
              <a:rPr lang="pt-BR" dirty="0"/>
              <a:t>: </a:t>
            </a:r>
          </a:p>
          <a:p>
            <a:pPr lvl="1"/>
            <a:r>
              <a:rPr lang="pt-BR" dirty="0"/>
              <a:t>Define os passos gerais</a:t>
            </a:r>
          </a:p>
          <a:p>
            <a:pPr lvl="1"/>
            <a:r>
              <a:rPr lang="pt-BR" dirty="0"/>
              <a:t>Estrutura o encadeamento de métodos e ferramentas</a:t>
            </a:r>
          </a:p>
          <a:p>
            <a:pPr>
              <a:spcBef>
                <a:spcPts val="2400"/>
              </a:spcBef>
            </a:pPr>
            <a:r>
              <a:rPr lang="pt-BR" b="1" dirty="0"/>
              <a:t>Métodos</a:t>
            </a:r>
            <a:r>
              <a:rPr lang="pt-BR" dirty="0"/>
              <a:t>:</a:t>
            </a:r>
          </a:p>
          <a:p>
            <a:pPr lvl="1"/>
            <a:r>
              <a:rPr lang="pt-BR" dirty="0"/>
              <a:t>Como fazer um passo específico do processo;</a:t>
            </a:r>
          </a:p>
          <a:p>
            <a:pPr>
              <a:spcBef>
                <a:spcPts val="2400"/>
              </a:spcBef>
            </a:pPr>
            <a:r>
              <a:rPr lang="pt-BR" b="1" dirty="0"/>
              <a:t>Ferramentas:</a:t>
            </a:r>
          </a:p>
          <a:p>
            <a:pPr lvl="1"/>
            <a:r>
              <a:rPr lang="pt-BR" dirty="0"/>
              <a:t>Automatizam o processos e os métodos.</a:t>
            </a:r>
          </a:p>
        </p:txBody>
      </p:sp>
      <p:pic>
        <p:nvPicPr>
          <p:cNvPr id="5" name="Imagem 4">
            <a:extLst>
              <a:ext uri="{FF2B5EF4-FFF2-40B4-BE49-F238E27FC236}">
                <a16:creationId xmlns:a16="http://schemas.microsoft.com/office/drawing/2014/main" id="{B0F589D4-0BAA-6288-120D-C31E9D30E63E}"/>
              </a:ext>
            </a:extLst>
          </p:cNvPr>
          <p:cNvPicPr>
            <a:picLocks noChangeAspect="1"/>
          </p:cNvPicPr>
          <p:nvPr/>
        </p:nvPicPr>
        <p:blipFill rotWithShape="1">
          <a:blip r:embed="rId2"/>
          <a:srcRect t="11782"/>
          <a:stretch/>
        </p:blipFill>
        <p:spPr>
          <a:xfrm>
            <a:off x="1157593" y="1732231"/>
            <a:ext cx="4429743" cy="4538126"/>
          </a:xfrm>
          <a:prstGeom prst="rect">
            <a:avLst/>
          </a:prstGeom>
        </p:spPr>
      </p:pic>
    </p:spTree>
    <p:extLst>
      <p:ext uri="{BB962C8B-B14F-4D97-AF65-F5344CB8AC3E}">
        <p14:creationId xmlns:p14="http://schemas.microsoft.com/office/powerpoint/2010/main" val="3442539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9769E-5BAE-3B46-51AA-8D321EF9BAF2}"/>
              </a:ext>
            </a:extLst>
          </p:cNvPr>
          <p:cNvSpPr>
            <a:spLocks noGrp="1"/>
          </p:cNvSpPr>
          <p:nvPr>
            <p:ph type="title"/>
          </p:nvPr>
        </p:nvSpPr>
        <p:spPr/>
        <p:txBody>
          <a:bodyPr/>
          <a:lstStyle/>
          <a:p>
            <a:r>
              <a:rPr lang="pt-BR" dirty="0"/>
              <a:t>Engenharia de software</a:t>
            </a:r>
          </a:p>
        </p:txBody>
      </p:sp>
      <p:sp>
        <p:nvSpPr>
          <p:cNvPr id="3" name="Espaço Reservado para Conteúdo 2">
            <a:extLst>
              <a:ext uri="{FF2B5EF4-FFF2-40B4-BE49-F238E27FC236}">
                <a16:creationId xmlns:a16="http://schemas.microsoft.com/office/drawing/2014/main" id="{B3F90E51-51F1-2F79-103B-E4EA672E78BB}"/>
              </a:ext>
            </a:extLst>
          </p:cNvPr>
          <p:cNvSpPr>
            <a:spLocks noGrp="1"/>
          </p:cNvSpPr>
          <p:nvPr>
            <p:ph idx="1"/>
          </p:nvPr>
        </p:nvSpPr>
        <p:spPr/>
        <p:txBody>
          <a:bodyPr/>
          <a:lstStyle/>
          <a:p>
            <a:r>
              <a:rPr lang="pt-BR" dirty="0"/>
              <a:t>O que torna um projeto </a:t>
            </a:r>
            <a:r>
              <a:rPr lang="pt-BR" b="1" dirty="0"/>
              <a:t>complexo</a:t>
            </a:r>
            <a:r>
              <a:rPr lang="pt-BR" dirty="0"/>
              <a:t>?</a:t>
            </a:r>
          </a:p>
          <a:p>
            <a:pPr lvl="1">
              <a:spcBef>
                <a:spcPts val="1800"/>
              </a:spcBef>
            </a:pPr>
            <a:r>
              <a:rPr lang="pt-BR" dirty="0"/>
              <a:t>Número de </a:t>
            </a:r>
            <a:r>
              <a:rPr lang="pt-BR" dirty="0" err="1"/>
              <a:t>sub-sistemas</a:t>
            </a:r>
            <a:r>
              <a:rPr lang="pt-BR" dirty="0"/>
              <a:t> e elementos relacionados no contexto do projeto;</a:t>
            </a:r>
          </a:p>
          <a:p>
            <a:pPr lvl="1">
              <a:spcBef>
                <a:spcPts val="1800"/>
              </a:spcBef>
            </a:pPr>
            <a:r>
              <a:rPr lang="pt-BR" dirty="0"/>
              <a:t>Número de empresas e pessoas envolvidas na execução do projeto;</a:t>
            </a:r>
          </a:p>
          <a:p>
            <a:pPr lvl="1">
              <a:spcBef>
                <a:spcPts val="1800"/>
              </a:spcBef>
            </a:pPr>
            <a:r>
              <a:rPr lang="pt-BR" dirty="0"/>
              <a:t>Número de áreas de conhecimento relacionadas ao projeto;</a:t>
            </a:r>
          </a:p>
          <a:p>
            <a:pPr lvl="1">
              <a:spcBef>
                <a:spcPts val="1800"/>
              </a:spcBef>
            </a:pPr>
            <a:r>
              <a:rPr lang="pt-BR" dirty="0"/>
              <a:t>Número de fases necessárias na execução do projeto;</a:t>
            </a:r>
          </a:p>
          <a:p>
            <a:pPr lvl="1">
              <a:spcBef>
                <a:spcPts val="1800"/>
              </a:spcBef>
            </a:pPr>
            <a:r>
              <a:rPr lang="pt-BR" dirty="0"/>
              <a:t>Etc.</a:t>
            </a:r>
          </a:p>
        </p:txBody>
      </p:sp>
    </p:spTree>
    <p:extLst>
      <p:ext uri="{BB962C8B-B14F-4D97-AF65-F5344CB8AC3E}">
        <p14:creationId xmlns:p14="http://schemas.microsoft.com/office/powerpoint/2010/main" val="3131990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57EA1C-0820-C936-9161-431380998919}"/>
              </a:ext>
            </a:extLst>
          </p:cNvPr>
          <p:cNvSpPr>
            <a:spLocks noGrp="1"/>
          </p:cNvSpPr>
          <p:nvPr>
            <p:ph type="title"/>
          </p:nvPr>
        </p:nvSpPr>
        <p:spPr/>
        <p:txBody>
          <a:bodyPr/>
          <a:lstStyle/>
          <a:p>
            <a:r>
              <a:rPr lang="pt-BR" dirty="0"/>
              <a:t>Engenharia de software</a:t>
            </a:r>
          </a:p>
        </p:txBody>
      </p:sp>
      <p:sp>
        <p:nvSpPr>
          <p:cNvPr id="3" name="Espaço Reservado para Conteúdo 2">
            <a:extLst>
              <a:ext uri="{FF2B5EF4-FFF2-40B4-BE49-F238E27FC236}">
                <a16:creationId xmlns:a16="http://schemas.microsoft.com/office/drawing/2014/main" id="{4158A802-0586-71DF-83C1-7EAC0FC47846}"/>
              </a:ext>
            </a:extLst>
          </p:cNvPr>
          <p:cNvSpPr>
            <a:spLocks noGrp="1"/>
          </p:cNvSpPr>
          <p:nvPr>
            <p:ph idx="1"/>
          </p:nvPr>
        </p:nvSpPr>
        <p:spPr/>
        <p:txBody>
          <a:bodyPr/>
          <a:lstStyle/>
          <a:p>
            <a:r>
              <a:rPr lang="pt-BR" dirty="0"/>
              <a:t>Como a Engenharia de SW trata a complexidade?</a:t>
            </a:r>
          </a:p>
          <a:p>
            <a:pPr lvl="1">
              <a:spcBef>
                <a:spcPts val="1800"/>
              </a:spcBef>
            </a:pPr>
            <a:r>
              <a:rPr lang="pt-BR" dirty="0"/>
              <a:t>Abstração, modularização e decomposição de sistemas (</a:t>
            </a:r>
            <a:r>
              <a:rPr lang="pt-BR" dirty="0" err="1"/>
              <a:t>Parnas</a:t>
            </a:r>
            <a:r>
              <a:rPr lang="pt-BR" dirty="0"/>
              <a:t>, 1972)</a:t>
            </a:r>
          </a:p>
          <a:p>
            <a:pPr lvl="1">
              <a:spcBef>
                <a:spcPts val="1800"/>
              </a:spcBef>
            </a:pPr>
            <a:r>
              <a:rPr lang="pt-BR" dirty="0"/>
              <a:t>Sistema decomposto em unidades cada vez menores e modularizadas, cada uma lidando com uma única característica (coesão) e dependendo pouco de outros módulos (acoplamento)</a:t>
            </a:r>
          </a:p>
          <a:p>
            <a:pPr lvl="1">
              <a:spcBef>
                <a:spcPts val="1800"/>
              </a:spcBef>
            </a:pPr>
            <a:r>
              <a:rPr lang="pt-BR" dirty="0" err="1"/>
              <a:t>Ex</a:t>
            </a:r>
            <a:r>
              <a:rPr lang="pt-BR" dirty="0"/>
              <a:t>: Orientação a Objetos</a:t>
            </a:r>
          </a:p>
          <a:p>
            <a:pPr lvl="2"/>
            <a:r>
              <a:rPr lang="pt-BR" b="1" dirty="0"/>
              <a:t>Abstrações</a:t>
            </a:r>
            <a:r>
              <a:rPr lang="pt-BR" dirty="0"/>
              <a:t>: classes, objetos, métodos</a:t>
            </a:r>
          </a:p>
          <a:p>
            <a:pPr lvl="2"/>
            <a:r>
              <a:rPr lang="pt-BR" b="1" dirty="0"/>
              <a:t>Modularizações</a:t>
            </a:r>
            <a:r>
              <a:rPr lang="pt-BR" dirty="0"/>
              <a:t>: padrões de projeto, frameworks</a:t>
            </a:r>
          </a:p>
          <a:p>
            <a:pPr lvl="2"/>
            <a:r>
              <a:rPr lang="pt-BR" b="1" dirty="0"/>
              <a:t>Decomposição</a:t>
            </a:r>
            <a:r>
              <a:rPr lang="pt-BR" dirty="0"/>
              <a:t>: herança, polimorfismo</a:t>
            </a:r>
          </a:p>
        </p:txBody>
      </p:sp>
      <p:pic>
        <p:nvPicPr>
          <p:cNvPr id="11266" name="Picture 2" descr="Why Object-Oriented Programming Matters - Apollo Technical LLC">
            <a:extLst>
              <a:ext uri="{FF2B5EF4-FFF2-40B4-BE49-F238E27FC236}">
                <a16:creationId xmlns:a16="http://schemas.microsoft.com/office/drawing/2014/main" id="{5702F6EA-659F-8D75-18C4-23A1A35D5C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726"/>
          <a:stretch/>
        </p:blipFill>
        <p:spPr bwMode="auto">
          <a:xfrm>
            <a:off x="7572837" y="3716592"/>
            <a:ext cx="4314363" cy="2966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58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9769E-5BAE-3B46-51AA-8D321EF9BAF2}"/>
              </a:ext>
            </a:extLst>
          </p:cNvPr>
          <p:cNvSpPr>
            <a:spLocks noGrp="1"/>
          </p:cNvSpPr>
          <p:nvPr>
            <p:ph type="title"/>
          </p:nvPr>
        </p:nvSpPr>
        <p:spPr/>
        <p:txBody>
          <a:bodyPr/>
          <a:lstStyle/>
          <a:p>
            <a:r>
              <a:rPr lang="pt-BR" dirty="0"/>
              <a:t>Engenharia de software</a:t>
            </a:r>
          </a:p>
        </p:txBody>
      </p:sp>
      <p:sp>
        <p:nvSpPr>
          <p:cNvPr id="3" name="Espaço Reservado para Conteúdo 2">
            <a:extLst>
              <a:ext uri="{FF2B5EF4-FFF2-40B4-BE49-F238E27FC236}">
                <a16:creationId xmlns:a16="http://schemas.microsoft.com/office/drawing/2014/main" id="{B3F90E51-51F1-2F79-103B-E4EA672E78BB}"/>
              </a:ext>
            </a:extLst>
          </p:cNvPr>
          <p:cNvSpPr>
            <a:spLocks noGrp="1"/>
          </p:cNvSpPr>
          <p:nvPr>
            <p:ph idx="1"/>
          </p:nvPr>
        </p:nvSpPr>
        <p:spPr/>
        <p:txBody>
          <a:bodyPr>
            <a:normAutofit fontScale="92500" lnSpcReduction="10000"/>
          </a:bodyPr>
          <a:lstStyle/>
          <a:p>
            <a:r>
              <a:rPr lang="pt-BR" dirty="0"/>
              <a:t>Que fatores </a:t>
            </a:r>
            <a:r>
              <a:rPr lang="pt-BR" b="1" dirty="0"/>
              <a:t>dificultam </a:t>
            </a:r>
            <a:r>
              <a:rPr lang="pt-BR" dirty="0"/>
              <a:t>um projeto?</a:t>
            </a:r>
          </a:p>
          <a:p>
            <a:pPr lvl="1">
              <a:spcBef>
                <a:spcPts val="1200"/>
              </a:spcBef>
            </a:pPr>
            <a:r>
              <a:rPr lang="pt-BR" dirty="0"/>
              <a:t>Especificações completas ou imprecisas;</a:t>
            </a:r>
          </a:p>
          <a:p>
            <a:pPr lvl="1">
              <a:spcBef>
                <a:spcPts val="1200"/>
              </a:spcBef>
            </a:pPr>
            <a:r>
              <a:rPr lang="pt-BR" dirty="0"/>
              <a:t>Domínio de conhecimento volátil;</a:t>
            </a:r>
          </a:p>
          <a:p>
            <a:pPr lvl="1">
              <a:spcBef>
                <a:spcPts val="1200"/>
              </a:spcBef>
            </a:pPr>
            <a:r>
              <a:rPr lang="pt-BR" dirty="0"/>
              <a:t>Troca ou heterogeneidade tecnológica;</a:t>
            </a:r>
          </a:p>
          <a:p>
            <a:pPr lvl="1">
              <a:spcBef>
                <a:spcPts val="1200"/>
              </a:spcBef>
            </a:pPr>
            <a:r>
              <a:rPr lang="pt-BR" dirty="0"/>
              <a:t>Mão-de-obra insuficiente ou sem conhecimentos necessários;</a:t>
            </a:r>
          </a:p>
          <a:p>
            <a:pPr lvl="1">
              <a:spcBef>
                <a:spcPts val="1200"/>
              </a:spcBef>
            </a:pPr>
            <a:r>
              <a:rPr lang="pt-BR" dirty="0"/>
              <a:t>Alta rotatividade da equipe;</a:t>
            </a:r>
          </a:p>
          <a:p>
            <a:pPr lvl="1">
              <a:spcBef>
                <a:spcPts val="1200"/>
              </a:spcBef>
            </a:pPr>
            <a:r>
              <a:rPr lang="pt-BR" dirty="0"/>
              <a:t>Verbas inexistentes ou intermitentes;</a:t>
            </a:r>
          </a:p>
          <a:p>
            <a:pPr lvl="1">
              <a:spcBef>
                <a:spcPts val="1200"/>
              </a:spcBef>
            </a:pPr>
            <a:r>
              <a:rPr lang="pt-BR" dirty="0"/>
              <a:t>Influências políticas contradizendo decisões técnicas;</a:t>
            </a:r>
          </a:p>
          <a:p>
            <a:pPr lvl="1"/>
            <a:endParaRPr lang="pt-BR" dirty="0"/>
          </a:p>
          <a:p>
            <a:r>
              <a:rPr lang="pt-BR" dirty="0"/>
              <a:t>Surgimento do </a:t>
            </a:r>
            <a:r>
              <a:rPr lang="pt-BR" b="1" i="1" dirty="0"/>
              <a:t>Gerenciamento de projetos de software</a:t>
            </a:r>
          </a:p>
        </p:txBody>
      </p:sp>
    </p:spTree>
    <p:extLst>
      <p:ext uri="{BB962C8B-B14F-4D97-AF65-F5344CB8AC3E}">
        <p14:creationId xmlns:p14="http://schemas.microsoft.com/office/powerpoint/2010/main" val="157897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A4709B-3C7F-A3C6-C4EC-5CDCEA76E552}"/>
              </a:ext>
            </a:extLst>
          </p:cNvPr>
          <p:cNvSpPr>
            <a:spLocks noGrp="1"/>
          </p:cNvSpPr>
          <p:nvPr>
            <p:ph type="title"/>
          </p:nvPr>
        </p:nvSpPr>
        <p:spPr/>
        <p:txBody>
          <a:bodyPr/>
          <a:lstStyle/>
          <a:p>
            <a:r>
              <a:rPr lang="pt-BR" dirty="0"/>
              <a:t>Gerenciamento de Projetos de SW</a:t>
            </a:r>
          </a:p>
        </p:txBody>
      </p:sp>
      <p:sp>
        <p:nvSpPr>
          <p:cNvPr id="3" name="Espaço Reservado para Conteúdo 2">
            <a:extLst>
              <a:ext uri="{FF2B5EF4-FFF2-40B4-BE49-F238E27FC236}">
                <a16:creationId xmlns:a16="http://schemas.microsoft.com/office/drawing/2014/main" id="{A7054442-BA93-F54F-6731-8B1144DF2967}"/>
              </a:ext>
            </a:extLst>
          </p:cNvPr>
          <p:cNvSpPr>
            <a:spLocks noGrp="1"/>
          </p:cNvSpPr>
          <p:nvPr>
            <p:ph idx="1"/>
          </p:nvPr>
        </p:nvSpPr>
        <p:spPr/>
        <p:txBody>
          <a:bodyPr/>
          <a:lstStyle/>
          <a:p>
            <a:r>
              <a:rPr lang="pt-BR" dirty="0"/>
              <a:t>Surgiu quando se percebeu que </a:t>
            </a:r>
            <a:r>
              <a:rPr lang="pt-BR" b="1" dirty="0"/>
              <a:t>as práticas da engenharia tradicional não funcionavam bem para software</a:t>
            </a:r>
            <a:r>
              <a:rPr lang="pt-BR" dirty="0"/>
              <a:t>, exigindo novas abordagens para lidar com </a:t>
            </a:r>
            <a:r>
              <a:rPr lang="pt-BR" b="1" dirty="0"/>
              <a:t>incerteza, mudança e complexidade</a:t>
            </a:r>
            <a:r>
              <a:rPr lang="pt-BR" dirty="0"/>
              <a:t>.</a:t>
            </a:r>
          </a:p>
        </p:txBody>
      </p:sp>
      <p:pic>
        <p:nvPicPr>
          <p:cNvPr id="1026" name="Picture 2" descr="Windows OS repair – software problems | SOS Computer Fix">
            <a:extLst>
              <a:ext uri="{FF2B5EF4-FFF2-40B4-BE49-F238E27FC236}">
                <a16:creationId xmlns:a16="http://schemas.microsoft.com/office/drawing/2014/main" id="{49610147-C472-F115-13DF-E8083E1825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0833" y="3275832"/>
            <a:ext cx="4930334" cy="3217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890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442F23-0C83-7A8B-E43E-256FD9C1D387}"/>
              </a:ext>
            </a:extLst>
          </p:cNvPr>
          <p:cNvSpPr>
            <a:spLocks noGrp="1"/>
          </p:cNvSpPr>
          <p:nvPr>
            <p:ph type="title"/>
          </p:nvPr>
        </p:nvSpPr>
        <p:spPr/>
        <p:txBody>
          <a:bodyPr/>
          <a:lstStyle/>
          <a:p>
            <a:r>
              <a:rPr lang="pt-BR" dirty="0"/>
              <a:t>Tipos de aplicações</a:t>
            </a:r>
          </a:p>
        </p:txBody>
      </p:sp>
      <p:pic>
        <p:nvPicPr>
          <p:cNvPr id="9218" name="Picture 2" descr="Meaning, Classification and Types of Application Software | ClassHall.com">
            <a:extLst>
              <a:ext uri="{FF2B5EF4-FFF2-40B4-BE49-F238E27FC236}">
                <a16:creationId xmlns:a16="http://schemas.microsoft.com/office/drawing/2014/main" id="{8FD84B1E-7703-CCD4-FF50-E35507368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116" y="1907283"/>
            <a:ext cx="5453742" cy="4051351"/>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C775DF68-786B-6B11-87FF-4434D2E4E497}"/>
              </a:ext>
            </a:extLst>
          </p:cNvPr>
          <p:cNvSpPr txBox="1"/>
          <p:nvPr/>
        </p:nvSpPr>
        <p:spPr>
          <a:xfrm>
            <a:off x="358272" y="6175228"/>
            <a:ext cx="5569430" cy="461665"/>
          </a:xfrm>
          <a:prstGeom prst="rect">
            <a:avLst/>
          </a:prstGeom>
          <a:noFill/>
        </p:spPr>
        <p:txBody>
          <a:bodyPr wrap="square">
            <a:spAutoFit/>
          </a:bodyPr>
          <a:lstStyle/>
          <a:p>
            <a:pPr algn="ctr"/>
            <a:r>
              <a:rPr lang="pt-BR" sz="1200" dirty="0">
                <a:hlinkClick r:id="rId4"/>
              </a:rPr>
              <a:t>https://classhall.com/lesson/meaning-classification-and-types-of-application-software/</a:t>
            </a:r>
            <a:r>
              <a:rPr lang="pt-BR" sz="1200" dirty="0"/>
              <a:t> </a:t>
            </a:r>
          </a:p>
        </p:txBody>
      </p:sp>
      <p:pic>
        <p:nvPicPr>
          <p:cNvPr id="9220" name="Picture 4">
            <a:extLst>
              <a:ext uri="{FF2B5EF4-FFF2-40B4-BE49-F238E27FC236}">
                <a16:creationId xmlns:a16="http://schemas.microsoft.com/office/drawing/2014/main" id="{F4961DB5-B1E4-D15B-26F7-BA0E7A7CCE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3528" y="1943869"/>
            <a:ext cx="4846214" cy="3551366"/>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04E3D337-3434-B578-3FA0-9F336520E69F}"/>
              </a:ext>
            </a:extLst>
          </p:cNvPr>
          <p:cNvSpPr txBox="1"/>
          <p:nvPr/>
        </p:nvSpPr>
        <p:spPr>
          <a:xfrm>
            <a:off x="6457177" y="6175227"/>
            <a:ext cx="5338916" cy="461665"/>
          </a:xfrm>
          <a:prstGeom prst="rect">
            <a:avLst/>
          </a:prstGeom>
          <a:noFill/>
        </p:spPr>
        <p:txBody>
          <a:bodyPr wrap="square">
            <a:spAutoFit/>
          </a:bodyPr>
          <a:lstStyle>
            <a:defPPr>
              <a:defRPr lang="pt-BR"/>
            </a:defPPr>
            <a:lvl1pPr algn="ctr">
              <a:defRPr sz="1200"/>
            </a:lvl1pPr>
          </a:lstStyle>
          <a:p>
            <a:r>
              <a:rPr lang="pt-BR" dirty="0">
                <a:hlinkClick r:id="rId6"/>
              </a:rPr>
              <a:t>https://www.researchgate.net/publication/50844135_The_supply_chain_of_enterprise_software_strategy_structure_and_coordination/figures?lo=1</a:t>
            </a:r>
            <a:r>
              <a:rPr lang="pt-BR" dirty="0"/>
              <a:t> </a:t>
            </a:r>
          </a:p>
        </p:txBody>
      </p:sp>
    </p:spTree>
    <p:extLst>
      <p:ext uri="{BB962C8B-B14F-4D97-AF65-F5344CB8AC3E}">
        <p14:creationId xmlns:p14="http://schemas.microsoft.com/office/powerpoint/2010/main" val="613666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40A0AF-FE6D-4B88-5006-604FC6DAFFD4}"/>
              </a:ext>
            </a:extLst>
          </p:cNvPr>
          <p:cNvSpPr>
            <a:spLocks noGrp="1"/>
          </p:cNvSpPr>
          <p:nvPr>
            <p:ph type="title"/>
          </p:nvPr>
        </p:nvSpPr>
        <p:spPr/>
        <p:txBody>
          <a:bodyPr/>
          <a:lstStyle/>
          <a:p>
            <a:r>
              <a:rPr lang="pt-BR" dirty="0"/>
              <a:t>Contextos diferentes</a:t>
            </a:r>
          </a:p>
        </p:txBody>
      </p:sp>
      <p:sp>
        <p:nvSpPr>
          <p:cNvPr id="3" name="Espaço Reservado para Conteúdo 2">
            <a:extLst>
              <a:ext uri="{FF2B5EF4-FFF2-40B4-BE49-F238E27FC236}">
                <a16:creationId xmlns:a16="http://schemas.microsoft.com/office/drawing/2014/main" id="{03F51248-9219-FFCF-C340-D8A86BFE2DEA}"/>
              </a:ext>
            </a:extLst>
          </p:cNvPr>
          <p:cNvSpPr>
            <a:spLocks noGrp="1"/>
          </p:cNvSpPr>
          <p:nvPr>
            <p:ph idx="1"/>
          </p:nvPr>
        </p:nvSpPr>
        <p:spPr/>
        <p:txBody>
          <a:bodyPr/>
          <a:lstStyle/>
          <a:p>
            <a:r>
              <a:rPr lang="pt-BR" dirty="0"/>
              <a:t>Software produto </a:t>
            </a:r>
            <a:r>
              <a:rPr lang="pt-BR" b="1" i="1" dirty="0"/>
              <a:t>x</a:t>
            </a:r>
            <a:r>
              <a:rPr lang="pt-BR" dirty="0"/>
              <a:t> serviço;</a:t>
            </a:r>
          </a:p>
          <a:p>
            <a:r>
              <a:rPr lang="pt-BR" dirty="0"/>
              <a:t>Empresa grande </a:t>
            </a:r>
            <a:r>
              <a:rPr lang="pt-BR" b="1" i="1" dirty="0"/>
              <a:t>x</a:t>
            </a:r>
            <a:r>
              <a:rPr lang="pt-BR" dirty="0"/>
              <a:t> pequena/média;</a:t>
            </a:r>
          </a:p>
          <a:p>
            <a:r>
              <a:rPr lang="pt-BR" dirty="0"/>
              <a:t>Produção própria </a:t>
            </a:r>
            <a:r>
              <a:rPr lang="pt-BR" b="1" i="1" dirty="0"/>
              <a:t>x</a:t>
            </a:r>
            <a:r>
              <a:rPr lang="pt-BR" dirty="0"/>
              <a:t> venda de projetos de software</a:t>
            </a:r>
          </a:p>
          <a:p>
            <a:r>
              <a:rPr lang="pt-BR" dirty="0" err="1"/>
              <a:t>Start-up</a:t>
            </a:r>
            <a:r>
              <a:rPr lang="pt-BR" dirty="0"/>
              <a:t> </a:t>
            </a:r>
            <a:r>
              <a:rPr lang="pt-BR" b="1" i="1" dirty="0"/>
              <a:t>x</a:t>
            </a:r>
            <a:r>
              <a:rPr lang="pt-BR" dirty="0"/>
              <a:t> setor público;</a:t>
            </a:r>
          </a:p>
          <a:p>
            <a:pPr marL="0" indent="0">
              <a:buNone/>
            </a:pPr>
            <a:r>
              <a:rPr lang="pt-BR" dirty="0"/>
              <a:t>  (...)</a:t>
            </a:r>
          </a:p>
        </p:txBody>
      </p:sp>
      <p:sp>
        <p:nvSpPr>
          <p:cNvPr id="4" name="Retângulo 3">
            <a:extLst>
              <a:ext uri="{FF2B5EF4-FFF2-40B4-BE49-F238E27FC236}">
                <a16:creationId xmlns:a16="http://schemas.microsoft.com/office/drawing/2014/main" id="{A81C97A8-4BD2-B70A-368E-93FCFBE68934}"/>
              </a:ext>
            </a:extLst>
          </p:cNvPr>
          <p:cNvSpPr/>
          <p:nvPr/>
        </p:nvSpPr>
        <p:spPr>
          <a:xfrm>
            <a:off x="5948625" y="4001293"/>
            <a:ext cx="5083168" cy="20779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pt-BR" sz="2800" b="1" u="sng" dirty="0"/>
              <a:t>Não existe </a:t>
            </a:r>
            <a:r>
              <a:rPr lang="pt-BR" sz="2800" dirty="0"/>
              <a:t>método, processo ou ferramenta </a:t>
            </a:r>
            <a:r>
              <a:rPr lang="pt-BR" sz="2800" b="1" dirty="0"/>
              <a:t>que atenda a todos </a:t>
            </a:r>
            <a:r>
              <a:rPr lang="pt-BR" sz="2800" dirty="0"/>
              <a:t>os cenários de forma </a:t>
            </a:r>
            <a:r>
              <a:rPr lang="pt-BR" sz="2800" b="1" dirty="0"/>
              <a:t>ótima</a:t>
            </a:r>
          </a:p>
        </p:txBody>
      </p:sp>
    </p:spTree>
    <p:extLst>
      <p:ext uri="{BB962C8B-B14F-4D97-AF65-F5344CB8AC3E}">
        <p14:creationId xmlns:p14="http://schemas.microsoft.com/office/powerpoint/2010/main" val="190847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9DD9DF-40DD-CC82-CAB3-92DC6AE22FB0}"/>
              </a:ext>
            </a:extLst>
          </p:cNvPr>
          <p:cNvSpPr>
            <a:spLocks noGrp="1"/>
          </p:cNvSpPr>
          <p:nvPr>
            <p:ph type="title"/>
          </p:nvPr>
        </p:nvSpPr>
        <p:spPr/>
        <p:txBody>
          <a:bodyPr/>
          <a:lstStyle/>
          <a:p>
            <a:r>
              <a:rPr lang="pt-BR" dirty="0"/>
              <a:t>Discussão</a:t>
            </a:r>
          </a:p>
        </p:txBody>
      </p:sp>
      <p:sp>
        <p:nvSpPr>
          <p:cNvPr id="3" name="Espaço Reservado para Conteúdo 2">
            <a:extLst>
              <a:ext uri="{FF2B5EF4-FFF2-40B4-BE49-F238E27FC236}">
                <a16:creationId xmlns:a16="http://schemas.microsoft.com/office/drawing/2014/main" id="{A063758E-42C2-3CC0-C501-5E2C353990A0}"/>
              </a:ext>
            </a:extLst>
          </p:cNvPr>
          <p:cNvSpPr>
            <a:spLocks noGrp="1"/>
          </p:cNvSpPr>
          <p:nvPr>
            <p:ph idx="1"/>
          </p:nvPr>
        </p:nvSpPr>
        <p:spPr/>
        <p:txBody>
          <a:bodyPr/>
          <a:lstStyle/>
          <a:p>
            <a:r>
              <a:rPr lang="pt-BR" dirty="0"/>
              <a:t>Que ferramentas, métodos e processos vocês usam nos trabalhos das disciplinas/mercado?</a:t>
            </a:r>
          </a:p>
          <a:p>
            <a:pPr lvl="1"/>
            <a:r>
              <a:rPr lang="pt-BR" dirty="0"/>
              <a:t>Linguagem</a:t>
            </a:r>
          </a:p>
          <a:p>
            <a:pPr lvl="1"/>
            <a:r>
              <a:rPr lang="pt-BR" dirty="0"/>
              <a:t>IDE</a:t>
            </a:r>
          </a:p>
          <a:p>
            <a:pPr lvl="1"/>
            <a:r>
              <a:rPr lang="pt-BR" dirty="0"/>
              <a:t>Frameworks</a:t>
            </a:r>
          </a:p>
        </p:txBody>
      </p:sp>
    </p:spTree>
    <p:extLst>
      <p:ext uri="{BB962C8B-B14F-4D97-AF65-F5344CB8AC3E}">
        <p14:creationId xmlns:p14="http://schemas.microsoft.com/office/powerpoint/2010/main" val="15883553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1D91-314B-DC56-AA46-E451AE7D52F9}"/>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FAD87A01-A895-9FAF-5AD6-5200F4ECE056}"/>
              </a:ext>
            </a:extLst>
          </p:cNvPr>
          <p:cNvSpPr>
            <a:spLocks noGrp="1"/>
          </p:cNvSpPr>
          <p:nvPr>
            <p:ph idx="1"/>
          </p:nvPr>
        </p:nvSpPr>
        <p:spPr/>
        <p:txBody>
          <a:bodyPr>
            <a:normAutofit/>
          </a:bodyPr>
          <a:lstStyle/>
          <a:p>
            <a:pPr marL="914400" lvl="1" indent="-457200">
              <a:buFont typeface="+mj-lt"/>
              <a:buAutoNum type="arabicPeriod"/>
            </a:pPr>
            <a:r>
              <a:rPr lang="pt-BR" dirty="0"/>
              <a:t>Conexão com a Engenharia de Software</a:t>
            </a:r>
          </a:p>
          <a:p>
            <a:pPr marL="914400" lvl="1" indent="-457200">
              <a:buFont typeface="+mj-lt"/>
              <a:buAutoNum type="arabicPeriod"/>
            </a:pPr>
            <a:r>
              <a:rPr lang="pt-BR" dirty="0"/>
              <a:t>Complexidade do software</a:t>
            </a:r>
          </a:p>
          <a:p>
            <a:pPr marL="914400" lvl="1" indent="-457200">
              <a:buFont typeface="+mj-lt"/>
              <a:buAutoNum type="arabicPeriod"/>
            </a:pPr>
            <a:r>
              <a:rPr lang="pt-BR" b="1" dirty="0"/>
              <a:t>Introdução à gestão de projetos de software</a:t>
            </a:r>
          </a:p>
          <a:p>
            <a:pPr marL="914400" lvl="1" indent="-457200">
              <a:buFont typeface="+mj-lt"/>
              <a:buAutoNum type="arabicPeriod"/>
            </a:pPr>
            <a:r>
              <a:rPr lang="pt-BR" dirty="0"/>
              <a:t>Papel do gerente de projeto</a:t>
            </a:r>
          </a:p>
          <a:p>
            <a:endParaRPr lang="pt-BR" dirty="0"/>
          </a:p>
          <a:p>
            <a:endParaRPr lang="pt-BR" dirty="0"/>
          </a:p>
        </p:txBody>
      </p:sp>
      <p:sp>
        <p:nvSpPr>
          <p:cNvPr id="2" name="Título 1">
            <a:extLst>
              <a:ext uri="{FF2B5EF4-FFF2-40B4-BE49-F238E27FC236}">
                <a16:creationId xmlns:a16="http://schemas.microsoft.com/office/drawing/2014/main" id="{7743BDC9-87B3-9DE8-3628-73951F3C1D76}"/>
              </a:ext>
            </a:extLst>
          </p:cNvPr>
          <p:cNvSpPr>
            <a:spLocks noGrp="1"/>
          </p:cNvSpPr>
          <p:nvPr>
            <p:ph type="title"/>
          </p:nvPr>
        </p:nvSpPr>
        <p:spPr/>
        <p:txBody>
          <a:bodyPr/>
          <a:lstStyle/>
          <a:p>
            <a:r>
              <a:rPr lang="pt-BR" dirty="0"/>
              <a:t>Objetivos de hoje:</a:t>
            </a:r>
          </a:p>
        </p:txBody>
      </p:sp>
      <p:sp>
        <p:nvSpPr>
          <p:cNvPr id="9" name="Retângulo 8">
            <a:extLst>
              <a:ext uri="{FF2B5EF4-FFF2-40B4-BE49-F238E27FC236}">
                <a16:creationId xmlns:a16="http://schemas.microsoft.com/office/drawing/2014/main" id="{757DD110-FB5C-29DE-3696-7DEA61530EC6}"/>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172154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861D9A-EA30-9B9A-2334-6E7AF9C29482}"/>
              </a:ext>
            </a:extLst>
          </p:cNvPr>
          <p:cNvSpPr>
            <a:spLocks noGrp="1"/>
          </p:cNvSpPr>
          <p:nvPr>
            <p:ph type="title"/>
          </p:nvPr>
        </p:nvSpPr>
        <p:spPr/>
        <p:txBody>
          <a:bodyPr/>
          <a:lstStyle/>
          <a:p>
            <a:r>
              <a:rPr lang="pt-BR" dirty="0"/>
              <a:t>Projeto?</a:t>
            </a:r>
          </a:p>
        </p:txBody>
      </p:sp>
      <p:sp>
        <p:nvSpPr>
          <p:cNvPr id="3" name="Espaço Reservado para Conteúdo 2">
            <a:extLst>
              <a:ext uri="{FF2B5EF4-FFF2-40B4-BE49-F238E27FC236}">
                <a16:creationId xmlns:a16="http://schemas.microsoft.com/office/drawing/2014/main" id="{771F214F-2275-1B67-CD42-4A25E6349196}"/>
              </a:ext>
            </a:extLst>
          </p:cNvPr>
          <p:cNvSpPr>
            <a:spLocks noGrp="1"/>
          </p:cNvSpPr>
          <p:nvPr>
            <p:ph idx="1"/>
          </p:nvPr>
        </p:nvSpPr>
        <p:spPr/>
        <p:txBody>
          <a:bodyPr/>
          <a:lstStyle/>
          <a:p>
            <a:r>
              <a:rPr lang="pt-BR" dirty="0"/>
              <a:t>É um </a:t>
            </a:r>
            <a:r>
              <a:rPr lang="pt-BR" b="1" dirty="0"/>
              <a:t>esforço</a:t>
            </a:r>
            <a:r>
              <a:rPr lang="pt-BR" dirty="0"/>
              <a:t> </a:t>
            </a:r>
            <a:r>
              <a:rPr lang="pt-BR" b="1" dirty="0"/>
              <a:t>temporário</a:t>
            </a:r>
            <a:r>
              <a:rPr lang="pt-BR" dirty="0"/>
              <a:t> para </a:t>
            </a:r>
            <a:r>
              <a:rPr lang="pt-BR" b="1" dirty="0"/>
              <a:t>criar</a:t>
            </a:r>
            <a:r>
              <a:rPr lang="pt-BR" dirty="0"/>
              <a:t> um produto/serviço </a:t>
            </a:r>
            <a:r>
              <a:rPr lang="pt-BR" b="1" dirty="0"/>
              <a:t>exclusivo</a:t>
            </a:r>
          </a:p>
          <a:p>
            <a:pPr lvl="1">
              <a:spcBef>
                <a:spcPts val="1800"/>
              </a:spcBef>
            </a:pPr>
            <a:r>
              <a:rPr lang="pt-BR" b="1" dirty="0"/>
              <a:t>Esforço</a:t>
            </a:r>
            <a:r>
              <a:rPr lang="pt-BR" dirty="0"/>
              <a:t>: tentativa séria e honesta de fazer algo</a:t>
            </a:r>
          </a:p>
          <a:p>
            <a:pPr lvl="1">
              <a:spcBef>
                <a:spcPts val="1800"/>
              </a:spcBef>
            </a:pPr>
            <a:r>
              <a:rPr lang="pt-BR" b="1" dirty="0"/>
              <a:t>Temporário</a:t>
            </a:r>
            <a:r>
              <a:rPr lang="pt-BR" dirty="0"/>
              <a:t>: tem início e fim bem-definidos</a:t>
            </a:r>
          </a:p>
          <a:p>
            <a:pPr lvl="1">
              <a:spcBef>
                <a:spcPts val="1800"/>
              </a:spcBef>
            </a:pPr>
            <a:r>
              <a:rPr lang="pt-BR" b="1" dirty="0"/>
              <a:t>Criar</a:t>
            </a:r>
            <a:r>
              <a:rPr lang="pt-BR" dirty="0"/>
              <a:t>: construir entregável a partir de matéria-prima (tangível ou intangível)</a:t>
            </a:r>
          </a:p>
          <a:p>
            <a:pPr lvl="1">
              <a:spcBef>
                <a:spcPts val="1800"/>
              </a:spcBef>
            </a:pPr>
            <a:r>
              <a:rPr lang="pt-BR" b="1" dirty="0"/>
              <a:t>Exclusivo</a:t>
            </a:r>
            <a:r>
              <a:rPr lang="pt-BR" dirty="0"/>
              <a:t>: cada projeto é único; cada projeto tem suas particularidades</a:t>
            </a:r>
          </a:p>
          <a:p>
            <a:endParaRPr lang="pt-BR" dirty="0"/>
          </a:p>
        </p:txBody>
      </p:sp>
    </p:spTree>
    <p:extLst>
      <p:ext uri="{BB962C8B-B14F-4D97-AF65-F5344CB8AC3E}">
        <p14:creationId xmlns:p14="http://schemas.microsoft.com/office/powerpoint/2010/main" val="32018041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15B511-3088-A4FD-060B-3FFC2941840F}"/>
              </a:ext>
            </a:extLst>
          </p:cNvPr>
          <p:cNvSpPr>
            <a:spLocks noGrp="1"/>
          </p:cNvSpPr>
          <p:nvPr>
            <p:ph type="title"/>
          </p:nvPr>
        </p:nvSpPr>
        <p:spPr/>
        <p:txBody>
          <a:bodyPr/>
          <a:lstStyle/>
          <a:p>
            <a:r>
              <a:rPr lang="pt-BR" dirty="0"/>
              <a:t>Projetos (relembrando)</a:t>
            </a:r>
          </a:p>
        </p:txBody>
      </p:sp>
      <p:sp>
        <p:nvSpPr>
          <p:cNvPr id="3" name="Espaço Reservado para Conteúdo 2">
            <a:extLst>
              <a:ext uri="{FF2B5EF4-FFF2-40B4-BE49-F238E27FC236}">
                <a16:creationId xmlns:a16="http://schemas.microsoft.com/office/drawing/2014/main" id="{2A1C4F9B-FC60-2CA8-03F2-AFDC85BFEDE4}"/>
              </a:ext>
            </a:extLst>
          </p:cNvPr>
          <p:cNvSpPr>
            <a:spLocks noGrp="1"/>
          </p:cNvSpPr>
          <p:nvPr>
            <p:ph idx="1"/>
          </p:nvPr>
        </p:nvSpPr>
        <p:spPr/>
        <p:txBody>
          <a:bodyPr/>
          <a:lstStyle/>
          <a:p>
            <a:r>
              <a:rPr lang="pt-BR" dirty="0"/>
              <a:t>Meio para </a:t>
            </a:r>
            <a:r>
              <a:rPr lang="pt-BR" b="1" dirty="0"/>
              <a:t>atingir objetivos </a:t>
            </a:r>
            <a:r>
              <a:rPr lang="pt-BR" dirty="0"/>
              <a:t>estratégicos de uma organização</a:t>
            </a:r>
          </a:p>
          <a:p>
            <a:pPr lvl="1"/>
            <a:r>
              <a:rPr lang="pt-BR" dirty="0"/>
              <a:t>Demandas de mercado;</a:t>
            </a:r>
          </a:p>
          <a:p>
            <a:pPr lvl="1"/>
            <a:r>
              <a:rPr lang="pt-BR" dirty="0"/>
              <a:t>Oportunidade ou necessidade estratégica de negócios;</a:t>
            </a:r>
          </a:p>
          <a:p>
            <a:pPr lvl="1"/>
            <a:r>
              <a:rPr lang="pt-BR" dirty="0"/>
              <a:t>Solicitação de cliente;</a:t>
            </a:r>
          </a:p>
          <a:p>
            <a:pPr lvl="1"/>
            <a:r>
              <a:rPr lang="pt-BR" dirty="0"/>
              <a:t>Avanço tecnológico;</a:t>
            </a:r>
          </a:p>
          <a:p>
            <a:pPr lvl="1"/>
            <a:r>
              <a:rPr lang="pt-BR" dirty="0"/>
              <a:t>Requisito legal;</a:t>
            </a:r>
          </a:p>
          <a:p>
            <a:pPr lvl="1"/>
            <a:endParaRPr lang="pt-BR" dirty="0"/>
          </a:p>
          <a:p>
            <a:r>
              <a:rPr lang="pt-BR" i="1" dirty="0"/>
              <a:t>Alinhados a Programas e Portfolios </a:t>
            </a:r>
          </a:p>
          <a:p>
            <a:pPr marL="0" indent="0">
              <a:buNone/>
            </a:pPr>
            <a:r>
              <a:rPr lang="pt-BR" i="1" dirty="0">
                <a:sym typeface="Wingdings" panose="05000000000000000000" pitchFamily="2" charset="2"/>
              </a:rPr>
              <a:t> </a:t>
            </a:r>
            <a:r>
              <a:rPr lang="pt-BR" b="1" i="1" dirty="0">
                <a:sym typeface="Wingdings" panose="05000000000000000000" pitchFamily="2" charset="2"/>
              </a:rPr>
              <a:t>Planejamento estratégico</a:t>
            </a:r>
            <a:endParaRPr lang="pt-BR" b="1" i="1" dirty="0"/>
          </a:p>
        </p:txBody>
      </p:sp>
      <p:pic>
        <p:nvPicPr>
          <p:cNvPr id="10242" name="Picture 2" descr="Strategic planning, plan to overcome difficulty or obstacle to reach goal  or target, team brainstorm or competitor analysis, business success  concept, business team planning for success tactic chart 21824919 Vector  Art at">
            <a:extLst>
              <a:ext uri="{FF2B5EF4-FFF2-40B4-BE49-F238E27FC236}">
                <a16:creationId xmlns:a16="http://schemas.microsoft.com/office/drawing/2014/main" id="{CF18FD3D-E6F3-A8C6-B24B-739D85CCFD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2797" y="3429000"/>
            <a:ext cx="4465074" cy="2976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164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B37573-A568-7FEB-4CE9-C0D2233BA95B}"/>
              </a:ext>
            </a:extLst>
          </p:cNvPr>
          <p:cNvSpPr>
            <a:spLocks noGrp="1"/>
          </p:cNvSpPr>
          <p:nvPr>
            <p:ph type="title"/>
          </p:nvPr>
        </p:nvSpPr>
        <p:spPr/>
        <p:txBody>
          <a:bodyPr/>
          <a:lstStyle/>
          <a:p>
            <a:r>
              <a:rPr lang="pt-BR" dirty="0"/>
              <a:t>Objetivo do Gerenciamento de Projetos</a:t>
            </a:r>
          </a:p>
        </p:txBody>
      </p:sp>
      <p:sp>
        <p:nvSpPr>
          <p:cNvPr id="3" name="Espaço Reservado para Conteúdo 2">
            <a:extLst>
              <a:ext uri="{FF2B5EF4-FFF2-40B4-BE49-F238E27FC236}">
                <a16:creationId xmlns:a16="http://schemas.microsoft.com/office/drawing/2014/main" id="{7B859223-527C-0FBF-4711-4D0C03FC1976}"/>
              </a:ext>
            </a:extLst>
          </p:cNvPr>
          <p:cNvSpPr>
            <a:spLocks noGrp="1"/>
          </p:cNvSpPr>
          <p:nvPr>
            <p:ph idx="1"/>
          </p:nvPr>
        </p:nvSpPr>
        <p:spPr/>
        <p:txBody>
          <a:bodyPr/>
          <a:lstStyle/>
          <a:p>
            <a:r>
              <a:rPr lang="pt-BR" dirty="0"/>
              <a:t>Harmonizar cinco variáveis principais (Pressman):</a:t>
            </a:r>
          </a:p>
          <a:p>
            <a:pPr lvl="1">
              <a:spcBef>
                <a:spcPts val="1200"/>
              </a:spcBef>
            </a:pPr>
            <a:r>
              <a:rPr lang="pt-BR" b="1" dirty="0"/>
              <a:t>Custo</a:t>
            </a:r>
            <a:r>
              <a:rPr lang="pt-BR" dirty="0"/>
              <a:t>: orçamento para o projeto e seu monitoramento ao longo do projeto;</a:t>
            </a:r>
          </a:p>
          <a:p>
            <a:pPr lvl="1">
              <a:spcBef>
                <a:spcPts val="1200"/>
              </a:spcBef>
            </a:pPr>
            <a:r>
              <a:rPr lang="pt-BR" b="1" dirty="0"/>
              <a:t>Tempo</a:t>
            </a:r>
            <a:r>
              <a:rPr lang="pt-BR" dirty="0"/>
              <a:t>: duração necessária para a conclusão do projeto;</a:t>
            </a:r>
          </a:p>
          <a:p>
            <a:pPr lvl="1">
              <a:spcBef>
                <a:spcPts val="1200"/>
              </a:spcBef>
            </a:pPr>
            <a:r>
              <a:rPr lang="pt-BR" b="1" dirty="0"/>
              <a:t>Escopo</a:t>
            </a:r>
            <a:r>
              <a:rPr lang="pt-BR" dirty="0"/>
              <a:t>: funções incluídas ou não no projeto;</a:t>
            </a:r>
          </a:p>
          <a:p>
            <a:pPr lvl="1">
              <a:spcBef>
                <a:spcPts val="1200"/>
              </a:spcBef>
            </a:pPr>
            <a:r>
              <a:rPr lang="pt-BR" b="1" dirty="0"/>
              <a:t>Qualidade</a:t>
            </a:r>
            <a:r>
              <a:rPr lang="pt-BR" dirty="0"/>
              <a:t>: índice de quanto o resultado final satisfaz os objetivos;</a:t>
            </a:r>
          </a:p>
          <a:p>
            <a:pPr lvl="1">
              <a:spcBef>
                <a:spcPts val="1200"/>
              </a:spcBef>
            </a:pPr>
            <a:r>
              <a:rPr lang="pt-BR" b="1" dirty="0"/>
              <a:t>Risco</a:t>
            </a:r>
            <a:r>
              <a:rPr lang="pt-BR" dirty="0"/>
              <a:t>: eventos com potencial de ameaçar o sucesso do projeto;</a:t>
            </a:r>
          </a:p>
        </p:txBody>
      </p:sp>
      <p:pic>
        <p:nvPicPr>
          <p:cNvPr id="4" name="Imagem 3">
            <a:extLst>
              <a:ext uri="{FF2B5EF4-FFF2-40B4-BE49-F238E27FC236}">
                <a16:creationId xmlns:a16="http://schemas.microsoft.com/office/drawing/2014/main" id="{E10F59C6-3A88-B980-0F3E-ADE74DCF1CB3}"/>
              </a:ext>
            </a:extLst>
          </p:cNvPr>
          <p:cNvPicPr>
            <a:picLocks noChangeAspect="1"/>
          </p:cNvPicPr>
          <p:nvPr/>
        </p:nvPicPr>
        <p:blipFill>
          <a:blip r:embed="rId3"/>
          <a:stretch>
            <a:fillRect/>
          </a:stretch>
        </p:blipFill>
        <p:spPr>
          <a:xfrm>
            <a:off x="4773005" y="4760328"/>
            <a:ext cx="2157184" cy="1781792"/>
          </a:xfrm>
          <a:prstGeom prst="rect">
            <a:avLst/>
          </a:prstGeom>
        </p:spPr>
      </p:pic>
      <p:sp>
        <p:nvSpPr>
          <p:cNvPr id="5" name="CaixaDeTexto 4">
            <a:extLst>
              <a:ext uri="{FF2B5EF4-FFF2-40B4-BE49-F238E27FC236}">
                <a16:creationId xmlns:a16="http://schemas.microsoft.com/office/drawing/2014/main" id="{488E97BD-863A-EEFA-77B7-755A9156F0D0}"/>
              </a:ext>
            </a:extLst>
          </p:cNvPr>
          <p:cNvSpPr txBox="1"/>
          <p:nvPr/>
        </p:nvSpPr>
        <p:spPr>
          <a:xfrm>
            <a:off x="7295536" y="4955459"/>
            <a:ext cx="680443" cy="369332"/>
          </a:xfrm>
          <a:prstGeom prst="rect">
            <a:avLst/>
          </a:prstGeom>
          <a:noFill/>
        </p:spPr>
        <p:txBody>
          <a:bodyPr wrap="none" rtlCol="0">
            <a:spAutoFit/>
          </a:bodyPr>
          <a:lstStyle/>
          <a:p>
            <a:r>
              <a:rPr lang="pt-BR" b="1" dirty="0"/>
              <a:t>Risco</a:t>
            </a:r>
          </a:p>
        </p:txBody>
      </p:sp>
      <p:sp>
        <p:nvSpPr>
          <p:cNvPr id="6" name="CaixaDeTexto 5">
            <a:extLst>
              <a:ext uri="{FF2B5EF4-FFF2-40B4-BE49-F238E27FC236}">
                <a16:creationId xmlns:a16="http://schemas.microsoft.com/office/drawing/2014/main" id="{6A1F618D-A74C-4529-D1AA-5969CC117681}"/>
              </a:ext>
            </a:extLst>
          </p:cNvPr>
          <p:cNvSpPr txBox="1"/>
          <p:nvPr/>
        </p:nvSpPr>
        <p:spPr>
          <a:xfrm>
            <a:off x="5500993" y="6514802"/>
            <a:ext cx="680443" cy="369332"/>
          </a:xfrm>
          <a:prstGeom prst="rect">
            <a:avLst/>
          </a:prstGeom>
          <a:noFill/>
        </p:spPr>
        <p:txBody>
          <a:bodyPr wrap="none" rtlCol="0">
            <a:spAutoFit/>
          </a:bodyPr>
          <a:lstStyle/>
          <a:p>
            <a:r>
              <a:rPr lang="pt-BR" b="1" dirty="0"/>
              <a:t>Risco</a:t>
            </a:r>
          </a:p>
        </p:txBody>
      </p:sp>
      <p:sp>
        <p:nvSpPr>
          <p:cNvPr id="7" name="CaixaDeTexto 6">
            <a:extLst>
              <a:ext uri="{FF2B5EF4-FFF2-40B4-BE49-F238E27FC236}">
                <a16:creationId xmlns:a16="http://schemas.microsoft.com/office/drawing/2014/main" id="{ED290EC2-F49C-F24B-0B5F-36A05027D43F}"/>
              </a:ext>
            </a:extLst>
          </p:cNvPr>
          <p:cNvSpPr txBox="1"/>
          <p:nvPr/>
        </p:nvSpPr>
        <p:spPr>
          <a:xfrm>
            <a:off x="3917715" y="4955459"/>
            <a:ext cx="680443" cy="369332"/>
          </a:xfrm>
          <a:prstGeom prst="rect">
            <a:avLst/>
          </a:prstGeom>
          <a:noFill/>
        </p:spPr>
        <p:txBody>
          <a:bodyPr wrap="none" rtlCol="0">
            <a:spAutoFit/>
          </a:bodyPr>
          <a:lstStyle/>
          <a:p>
            <a:r>
              <a:rPr lang="pt-BR" b="1" dirty="0"/>
              <a:t>Risco</a:t>
            </a:r>
          </a:p>
        </p:txBody>
      </p:sp>
    </p:spTree>
    <p:extLst>
      <p:ext uri="{BB962C8B-B14F-4D97-AF65-F5344CB8AC3E}">
        <p14:creationId xmlns:p14="http://schemas.microsoft.com/office/powerpoint/2010/main" val="2030853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163F17-E609-14A6-92C9-AB2269A8C105}"/>
              </a:ext>
            </a:extLst>
          </p:cNvPr>
          <p:cNvSpPr>
            <a:spLocks noGrp="1"/>
          </p:cNvSpPr>
          <p:nvPr>
            <p:ph type="title"/>
          </p:nvPr>
        </p:nvSpPr>
        <p:spPr/>
        <p:txBody>
          <a:bodyPr/>
          <a:lstStyle/>
          <a:p>
            <a:r>
              <a:rPr lang="pt-BR" dirty="0"/>
              <a:t>Gerenciamento de software?</a:t>
            </a:r>
          </a:p>
        </p:txBody>
      </p:sp>
      <p:sp>
        <p:nvSpPr>
          <p:cNvPr id="3" name="Espaço Reservado para Conteúdo 2">
            <a:extLst>
              <a:ext uri="{FF2B5EF4-FFF2-40B4-BE49-F238E27FC236}">
                <a16:creationId xmlns:a16="http://schemas.microsoft.com/office/drawing/2014/main" id="{3F0936DE-B7E3-3BFC-7625-863A0E0D1683}"/>
              </a:ext>
            </a:extLst>
          </p:cNvPr>
          <p:cNvSpPr>
            <a:spLocks noGrp="1"/>
          </p:cNvSpPr>
          <p:nvPr>
            <p:ph idx="1"/>
          </p:nvPr>
        </p:nvSpPr>
        <p:spPr/>
        <p:txBody>
          <a:bodyPr/>
          <a:lstStyle/>
          <a:p>
            <a:r>
              <a:rPr lang="pt-BR" dirty="0"/>
              <a:t>Construir software é igual a construir uma casa?</a:t>
            </a:r>
          </a:p>
          <a:p>
            <a:pPr lvl="1">
              <a:spcBef>
                <a:spcPts val="1800"/>
              </a:spcBef>
            </a:pPr>
            <a:r>
              <a:rPr lang="pt-BR" dirty="0"/>
              <a:t>Software é intangível</a:t>
            </a:r>
          </a:p>
          <a:p>
            <a:pPr lvl="1">
              <a:spcBef>
                <a:spcPts val="1800"/>
              </a:spcBef>
            </a:pPr>
            <a:r>
              <a:rPr lang="pt-BR" dirty="0"/>
              <a:t>Software não está sujeito a leis da natureza ou normas aceitas universalmente</a:t>
            </a:r>
          </a:p>
          <a:p>
            <a:pPr lvl="1">
              <a:spcBef>
                <a:spcPts val="1800"/>
              </a:spcBef>
            </a:pPr>
            <a:r>
              <a:rPr lang="pt-BR" dirty="0"/>
              <a:t>Software não tem economia de escala</a:t>
            </a:r>
          </a:p>
          <a:p>
            <a:endParaRPr lang="pt-BR" dirty="0"/>
          </a:p>
        </p:txBody>
      </p:sp>
    </p:spTree>
    <p:extLst>
      <p:ext uri="{BB962C8B-B14F-4D97-AF65-F5344CB8AC3E}">
        <p14:creationId xmlns:p14="http://schemas.microsoft.com/office/powerpoint/2010/main" val="137847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50E18A-B97D-C68A-F1A7-9965FF2EB2BB}"/>
              </a:ext>
            </a:extLst>
          </p:cNvPr>
          <p:cNvSpPr>
            <a:spLocks noGrp="1"/>
          </p:cNvSpPr>
          <p:nvPr>
            <p:ph type="title"/>
          </p:nvPr>
        </p:nvSpPr>
        <p:spPr/>
        <p:txBody>
          <a:bodyPr/>
          <a:lstStyle/>
          <a:p>
            <a:r>
              <a:rPr lang="pt-BR" dirty="0"/>
              <a:t>Software é Intangível</a:t>
            </a:r>
          </a:p>
        </p:txBody>
      </p:sp>
      <p:sp>
        <p:nvSpPr>
          <p:cNvPr id="3" name="Espaço Reservado para Conteúdo 2">
            <a:extLst>
              <a:ext uri="{FF2B5EF4-FFF2-40B4-BE49-F238E27FC236}">
                <a16:creationId xmlns:a16="http://schemas.microsoft.com/office/drawing/2014/main" id="{8424B0B9-5DEF-6629-BDD2-090E15C31664}"/>
              </a:ext>
            </a:extLst>
          </p:cNvPr>
          <p:cNvSpPr>
            <a:spLocks noGrp="1"/>
          </p:cNvSpPr>
          <p:nvPr>
            <p:ph idx="1"/>
          </p:nvPr>
        </p:nvSpPr>
        <p:spPr/>
        <p:txBody>
          <a:bodyPr/>
          <a:lstStyle/>
          <a:p>
            <a:r>
              <a:rPr lang="pt-BR" dirty="0"/>
              <a:t>Um hambúrguer, um prédio ou uma ponte são produtos concretos</a:t>
            </a:r>
          </a:p>
          <a:p>
            <a:pPr>
              <a:spcBef>
                <a:spcPts val="2400"/>
              </a:spcBef>
            </a:pPr>
            <a:r>
              <a:rPr lang="pt-BR" dirty="0"/>
              <a:t>Software é invisível </a:t>
            </a:r>
          </a:p>
          <a:p>
            <a:pPr lvl="1"/>
            <a:r>
              <a:rPr lang="pt-BR" dirty="0"/>
              <a:t>Em alguns casos, vemos uma possível interface do software, em outros casos, nem isso!</a:t>
            </a:r>
          </a:p>
          <a:p>
            <a:pPr>
              <a:spcBef>
                <a:spcPts val="2400"/>
              </a:spcBef>
            </a:pPr>
            <a:r>
              <a:rPr lang="pt-BR" dirty="0"/>
              <a:t>Software é pouco repetitivo</a:t>
            </a:r>
          </a:p>
          <a:p>
            <a:pPr lvl="1"/>
            <a:r>
              <a:rPr lang="pt-BR" dirty="0"/>
              <a:t>Um prédio de 100 andares pode ter a mesma planta em cada andar</a:t>
            </a:r>
          </a:p>
          <a:p>
            <a:pPr lvl="1"/>
            <a:r>
              <a:rPr lang="pt-BR" dirty="0"/>
              <a:t>Cada parte do software será (deveria ser!) diferente</a:t>
            </a:r>
          </a:p>
          <a:p>
            <a:endParaRPr lang="pt-BR" dirty="0"/>
          </a:p>
        </p:txBody>
      </p:sp>
      <p:pic>
        <p:nvPicPr>
          <p:cNvPr id="5" name="Imagem 4">
            <a:extLst>
              <a:ext uri="{FF2B5EF4-FFF2-40B4-BE49-F238E27FC236}">
                <a16:creationId xmlns:a16="http://schemas.microsoft.com/office/drawing/2014/main" id="{71458A26-2B77-BABD-C618-6FA6F79FA93D}"/>
              </a:ext>
            </a:extLst>
          </p:cNvPr>
          <p:cNvPicPr>
            <a:picLocks noChangeAspect="1"/>
          </p:cNvPicPr>
          <p:nvPr/>
        </p:nvPicPr>
        <p:blipFill>
          <a:blip r:embed="rId2"/>
          <a:stretch>
            <a:fillRect/>
          </a:stretch>
        </p:blipFill>
        <p:spPr>
          <a:xfrm>
            <a:off x="3214435" y="3770854"/>
            <a:ext cx="5763130" cy="2722021"/>
          </a:xfrm>
          <a:prstGeom prst="rect">
            <a:avLst/>
          </a:prstGeom>
        </p:spPr>
      </p:pic>
    </p:spTree>
    <p:extLst>
      <p:ext uri="{BB962C8B-B14F-4D97-AF65-F5344CB8AC3E}">
        <p14:creationId xmlns:p14="http://schemas.microsoft.com/office/powerpoint/2010/main" val="47486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 presetClass="exit" presetSubtype="0" fill="hold" nodeType="withEffect">
                                  <p:stCondLst>
                                    <p:cond delay="0"/>
                                  </p:stCondLst>
                                  <p:childTnLst>
                                    <p:set>
                                      <p:cBhvr>
                                        <p:cTn id="15"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55ACB8-3ADB-0B05-3C91-3734D15019C5}"/>
              </a:ext>
            </a:extLst>
          </p:cNvPr>
          <p:cNvSpPr>
            <a:spLocks noGrp="1"/>
          </p:cNvSpPr>
          <p:nvPr>
            <p:ph type="title"/>
          </p:nvPr>
        </p:nvSpPr>
        <p:spPr/>
        <p:txBody>
          <a:bodyPr/>
          <a:lstStyle/>
          <a:p>
            <a:r>
              <a:rPr lang="pt-BR" dirty="0"/>
              <a:t>Software e as leis da natureza</a:t>
            </a:r>
          </a:p>
        </p:txBody>
      </p:sp>
      <p:sp>
        <p:nvSpPr>
          <p:cNvPr id="3" name="Espaço Reservado para Conteúdo 2">
            <a:extLst>
              <a:ext uri="{FF2B5EF4-FFF2-40B4-BE49-F238E27FC236}">
                <a16:creationId xmlns:a16="http://schemas.microsoft.com/office/drawing/2014/main" id="{9517C502-136E-9070-66D9-5839BB5CE90E}"/>
              </a:ext>
            </a:extLst>
          </p:cNvPr>
          <p:cNvSpPr>
            <a:spLocks noGrp="1"/>
          </p:cNvSpPr>
          <p:nvPr>
            <p:ph idx="1"/>
          </p:nvPr>
        </p:nvSpPr>
        <p:spPr/>
        <p:txBody>
          <a:bodyPr/>
          <a:lstStyle/>
          <a:p>
            <a:r>
              <a:rPr lang="pt-BR" dirty="0"/>
              <a:t>Na construção civil, o espaço da solução é restringido por</a:t>
            </a:r>
          </a:p>
          <a:p>
            <a:pPr lvl="1"/>
            <a:r>
              <a:rPr lang="pt-BR" dirty="0"/>
              <a:t>Leis da natureza (e.g., gravidade)</a:t>
            </a:r>
          </a:p>
          <a:p>
            <a:pPr lvl="1"/>
            <a:r>
              <a:rPr lang="pt-BR" dirty="0"/>
              <a:t>Normas (obrigatórias) internacionais (e.g., ISO)</a:t>
            </a:r>
          </a:p>
          <a:p>
            <a:endParaRPr lang="pt-BR" dirty="0"/>
          </a:p>
          <a:p>
            <a:r>
              <a:rPr lang="pt-BR" dirty="0"/>
              <a:t>Na construção de software, o espaço de opções se assemelha ao das artes</a:t>
            </a:r>
          </a:p>
          <a:p>
            <a:pPr lvl="1"/>
            <a:r>
              <a:rPr lang="pt-BR" dirty="0"/>
              <a:t>Não existem leis da natureza</a:t>
            </a:r>
          </a:p>
          <a:p>
            <a:pPr lvl="1"/>
            <a:r>
              <a:rPr lang="pt-BR" dirty="0"/>
              <a:t>Normas são adotadas por opção</a:t>
            </a:r>
          </a:p>
          <a:p>
            <a:pPr lvl="1"/>
            <a:r>
              <a:rPr lang="pt-BR" dirty="0"/>
              <a:t>Custo, tempo de desenvolvimento</a:t>
            </a:r>
          </a:p>
          <a:p>
            <a:endParaRPr lang="pt-BR" dirty="0"/>
          </a:p>
        </p:txBody>
      </p:sp>
    </p:spTree>
    <p:extLst>
      <p:ext uri="{BB962C8B-B14F-4D97-AF65-F5344CB8AC3E}">
        <p14:creationId xmlns:p14="http://schemas.microsoft.com/office/powerpoint/2010/main" val="649976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496838-C97C-8AA7-92A9-6419AB2158D7}"/>
              </a:ext>
            </a:extLst>
          </p:cNvPr>
          <p:cNvSpPr>
            <a:spLocks noGrp="1"/>
          </p:cNvSpPr>
          <p:nvPr>
            <p:ph type="title"/>
          </p:nvPr>
        </p:nvSpPr>
        <p:spPr/>
        <p:txBody>
          <a:bodyPr/>
          <a:lstStyle/>
          <a:p>
            <a:r>
              <a:rPr lang="pt-BR" dirty="0"/>
              <a:t>Software e a economia de escala	</a:t>
            </a:r>
          </a:p>
        </p:txBody>
      </p:sp>
      <p:sp>
        <p:nvSpPr>
          <p:cNvPr id="3" name="Espaço Reservado para Conteúdo 2">
            <a:extLst>
              <a:ext uri="{FF2B5EF4-FFF2-40B4-BE49-F238E27FC236}">
                <a16:creationId xmlns:a16="http://schemas.microsoft.com/office/drawing/2014/main" id="{84A5A7D8-C14E-7778-A165-38296CCBA608}"/>
              </a:ext>
            </a:extLst>
          </p:cNvPr>
          <p:cNvSpPr>
            <a:spLocks noGrp="1"/>
          </p:cNvSpPr>
          <p:nvPr>
            <p:ph idx="1"/>
          </p:nvPr>
        </p:nvSpPr>
        <p:spPr/>
        <p:txBody>
          <a:bodyPr/>
          <a:lstStyle/>
          <a:p>
            <a:r>
              <a:rPr lang="pt-BR" dirty="0"/>
              <a:t>Quanto maior for a produção, mais barato será proporcionalmente</a:t>
            </a:r>
          </a:p>
          <a:p>
            <a:pPr>
              <a:spcBef>
                <a:spcPts val="2400"/>
              </a:spcBef>
            </a:pPr>
            <a:r>
              <a:rPr lang="pt-BR" dirty="0"/>
              <a:t>Quais desses produtos estão sujeitos a economia de escala?</a:t>
            </a:r>
          </a:p>
          <a:p>
            <a:pPr lvl="1">
              <a:spcBef>
                <a:spcPts val="1200"/>
              </a:spcBef>
            </a:pPr>
            <a:r>
              <a:rPr lang="pt-BR" dirty="0"/>
              <a:t>Refrigerante (350 ml, 600 ml ou 2 litros)</a:t>
            </a:r>
          </a:p>
          <a:p>
            <a:pPr lvl="1">
              <a:spcBef>
                <a:spcPts val="1200"/>
              </a:spcBef>
            </a:pPr>
            <a:r>
              <a:rPr lang="pt-BR" dirty="0"/>
              <a:t>Disco rígido de computador (1, 2 ou 4 TB)</a:t>
            </a:r>
          </a:p>
          <a:p>
            <a:pPr lvl="1">
              <a:spcBef>
                <a:spcPts val="1200"/>
              </a:spcBef>
            </a:pPr>
            <a:r>
              <a:rPr lang="pt-BR" dirty="0"/>
              <a:t>Diamante (1, 10, 100 ou 1.000 gramas)</a:t>
            </a:r>
          </a:p>
          <a:p>
            <a:pPr lvl="1">
              <a:spcBef>
                <a:spcPts val="1200"/>
              </a:spcBef>
            </a:pPr>
            <a:r>
              <a:rPr lang="pt-BR" dirty="0"/>
              <a:t>Prato no restaurante (para 1 ou 2 pessoas)</a:t>
            </a:r>
          </a:p>
          <a:p>
            <a:pPr lvl="1">
              <a:spcBef>
                <a:spcPts val="1200"/>
              </a:spcBef>
            </a:pPr>
            <a:r>
              <a:rPr lang="pt-BR" b="1" dirty="0"/>
              <a:t>Software (10, 100 ou 1.000 KLOCS)</a:t>
            </a:r>
          </a:p>
          <a:p>
            <a:endParaRPr lang="pt-BR" dirty="0"/>
          </a:p>
        </p:txBody>
      </p:sp>
      <p:sp>
        <p:nvSpPr>
          <p:cNvPr id="4" name="Retângulo 3">
            <a:extLst>
              <a:ext uri="{FF2B5EF4-FFF2-40B4-BE49-F238E27FC236}">
                <a16:creationId xmlns:a16="http://schemas.microsoft.com/office/drawing/2014/main" id="{BA5DE655-23EA-637B-367C-8337108968F4}"/>
              </a:ext>
            </a:extLst>
          </p:cNvPr>
          <p:cNvSpPr/>
          <p:nvPr/>
        </p:nvSpPr>
        <p:spPr>
          <a:xfrm>
            <a:off x="7727182" y="3516922"/>
            <a:ext cx="3476730" cy="253218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pt-BR" sz="2800" dirty="0"/>
              <a:t>Software tem economia de escala na </a:t>
            </a:r>
            <a:r>
              <a:rPr lang="pt-BR" sz="2800" b="1" dirty="0"/>
              <a:t>entrega</a:t>
            </a:r>
            <a:r>
              <a:rPr lang="pt-BR" sz="2800" dirty="0"/>
              <a:t> mas não no </a:t>
            </a:r>
            <a:r>
              <a:rPr lang="pt-BR" sz="2800" b="1" dirty="0"/>
              <a:t>desenvolvimento</a:t>
            </a:r>
          </a:p>
        </p:txBody>
      </p:sp>
    </p:spTree>
    <p:extLst>
      <p:ext uri="{BB962C8B-B14F-4D97-AF65-F5344CB8AC3E}">
        <p14:creationId xmlns:p14="http://schemas.microsoft.com/office/powerpoint/2010/main" val="18250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735CF7-C6F0-5AFB-AAA9-C3C7F7DA941C}"/>
              </a:ext>
            </a:extLst>
          </p:cNvPr>
          <p:cNvSpPr>
            <a:spLocks noGrp="1"/>
          </p:cNvSpPr>
          <p:nvPr>
            <p:ph type="title"/>
          </p:nvPr>
        </p:nvSpPr>
        <p:spPr/>
        <p:txBody>
          <a:bodyPr/>
          <a:lstStyle/>
          <a:p>
            <a:r>
              <a:rPr lang="pt-BR" dirty="0"/>
              <a:t>Gerenciamento de software?</a:t>
            </a:r>
          </a:p>
        </p:txBody>
      </p:sp>
      <p:sp>
        <p:nvSpPr>
          <p:cNvPr id="3" name="Espaço Reservado para Conteúdo 2">
            <a:extLst>
              <a:ext uri="{FF2B5EF4-FFF2-40B4-BE49-F238E27FC236}">
                <a16:creationId xmlns:a16="http://schemas.microsoft.com/office/drawing/2014/main" id="{1CA27AA8-B689-24A4-730B-FFB133C0CF47}"/>
              </a:ext>
            </a:extLst>
          </p:cNvPr>
          <p:cNvSpPr>
            <a:spLocks noGrp="1"/>
          </p:cNvSpPr>
          <p:nvPr>
            <p:ph idx="1"/>
          </p:nvPr>
        </p:nvSpPr>
        <p:spPr/>
        <p:txBody>
          <a:bodyPr/>
          <a:lstStyle/>
          <a:p>
            <a:r>
              <a:rPr lang="pt-BR" dirty="0"/>
              <a:t>Gerência de Projetos visa “</a:t>
            </a:r>
            <a:r>
              <a:rPr lang="pt-BR" b="1" dirty="0"/>
              <a:t>aplicar conhecimentos</a:t>
            </a:r>
            <a:r>
              <a:rPr lang="pt-BR" dirty="0"/>
              <a:t>, </a:t>
            </a:r>
            <a:r>
              <a:rPr lang="pt-BR" b="1" dirty="0"/>
              <a:t>habilidades</a:t>
            </a:r>
            <a:r>
              <a:rPr lang="pt-BR" dirty="0"/>
              <a:t>, </a:t>
            </a:r>
            <a:r>
              <a:rPr lang="pt-BR" b="1" dirty="0"/>
              <a:t>ferramentas</a:t>
            </a:r>
            <a:r>
              <a:rPr lang="pt-BR" dirty="0"/>
              <a:t> e </a:t>
            </a:r>
            <a:r>
              <a:rPr lang="pt-BR" b="1" dirty="0"/>
              <a:t>técnicas</a:t>
            </a:r>
            <a:r>
              <a:rPr lang="pt-BR" dirty="0"/>
              <a:t> nas atividades do projeto de maneira a </a:t>
            </a:r>
            <a:r>
              <a:rPr lang="pt-BR" b="1" dirty="0"/>
              <a:t>atingir os objetivos estabelecidos</a:t>
            </a:r>
            <a:r>
              <a:rPr lang="pt-BR" dirty="0"/>
              <a:t>” (PMI, 2004)</a:t>
            </a:r>
          </a:p>
          <a:p>
            <a:endParaRPr lang="pt-BR" dirty="0"/>
          </a:p>
        </p:txBody>
      </p:sp>
      <p:sp>
        <p:nvSpPr>
          <p:cNvPr id="4" name="Retângulo de cantos arredondados 6">
            <a:extLst>
              <a:ext uri="{FF2B5EF4-FFF2-40B4-BE49-F238E27FC236}">
                <a16:creationId xmlns:a16="http://schemas.microsoft.com/office/drawing/2014/main" id="{AEBA245E-1816-9DC8-7321-33F6A54B3313}"/>
              </a:ext>
            </a:extLst>
          </p:cNvPr>
          <p:cNvSpPr/>
          <p:nvPr/>
        </p:nvSpPr>
        <p:spPr>
          <a:xfrm>
            <a:off x="3913526" y="4458956"/>
            <a:ext cx="1620000" cy="72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dirty="0"/>
              <a:t>Planejamento</a:t>
            </a:r>
          </a:p>
        </p:txBody>
      </p:sp>
      <p:sp>
        <p:nvSpPr>
          <p:cNvPr id="5" name="Retângulo de cantos arredondados 7">
            <a:extLst>
              <a:ext uri="{FF2B5EF4-FFF2-40B4-BE49-F238E27FC236}">
                <a16:creationId xmlns:a16="http://schemas.microsoft.com/office/drawing/2014/main" id="{2D62F5A3-9EB6-60EA-D8FE-0D6F4542CF2F}"/>
              </a:ext>
            </a:extLst>
          </p:cNvPr>
          <p:cNvSpPr/>
          <p:nvPr/>
        </p:nvSpPr>
        <p:spPr>
          <a:xfrm>
            <a:off x="6008302" y="3673138"/>
            <a:ext cx="1762876" cy="720000"/>
          </a:xfrm>
          <a:prstGeom prst="roundRect">
            <a:avLst/>
          </a:prstGeom>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dirty="0"/>
              <a:t>Execução</a:t>
            </a:r>
          </a:p>
        </p:txBody>
      </p:sp>
      <p:sp>
        <p:nvSpPr>
          <p:cNvPr id="6" name="Retângulo de cantos arredondados 8">
            <a:extLst>
              <a:ext uri="{FF2B5EF4-FFF2-40B4-BE49-F238E27FC236}">
                <a16:creationId xmlns:a16="http://schemas.microsoft.com/office/drawing/2014/main" id="{615748DD-EA6A-026D-2A2B-F8FC44F86BA1}"/>
              </a:ext>
            </a:extLst>
          </p:cNvPr>
          <p:cNvSpPr/>
          <p:nvPr/>
        </p:nvSpPr>
        <p:spPr>
          <a:xfrm>
            <a:off x="6008302" y="5173336"/>
            <a:ext cx="1762876" cy="720000"/>
          </a:xfrm>
          <a:prstGeom prst="roundRect">
            <a:avLst/>
          </a:prstGeom>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dirty="0"/>
              <a:t>Monitoramento e Controle</a:t>
            </a:r>
          </a:p>
        </p:txBody>
      </p:sp>
      <p:sp>
        <p:nvSpPr>
          <p:cNvPr id="7" name="Seta para cima e para baixo 10">
            <a:extLst>
              <a:ext uri="{FF2B5EF4-FFF2-40B4-BE49-F238E27FC236}">
                <a16:creationId xmlns:a16="http://schemas.microsoft.com/office/drawing/2014/main" id="{7DBA1D96-9FD1-2046-C44E-49806D85D5DC}"/>
              </a:ext>
            </a:extLst>
          </p:cNvPr>
          <p:cNvSpPr/>
          <p:nvPr/>
        </p:nvSpPr>
        <p:spPr>
          <a:xfrm>
            <a:off x="6643604" y="4458956"/>
            <a:ext cx="484632" cy="642942"/>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8" name="Retângulo de cantos arredondados 11">
            <a:extLst>
              <a:ext uri="{FF2B5EF4-FFF2-40B4-BE49-F238E27FC236}">
                <a16:creationId xmlns:a16="http://schemas.microsoft.com/office/drawing/2014/main" id="{D23E514B-C45F-1F63-EE94-8A0162025CD4}"/>
              </a:ext>
            </a:extLst>
          </p:cNvPr>
          <p:cNvSpPr/>
          <p:nvPr/>
        </p:nvSpPr>
        <p:spPr>
          <a:xfrm>
            <a:off x="1841824" y="4458956"/>
            <a:ext cx="1620000" cy="720000"/>
          </a:xfrm>
          <a:prstGeom prst="roundRect">
            <a:avLst/>
          </a:prstGeom>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dirty="0"/>
              <a:t>Iniciação</a:t>
            </a:r>
          </a:p>
        </p:txBody>
      </p:sp>
      <p:sp>
        <p:nvSpPr>
          <p:cNvPr id="9" name="Retângulo de cantos arredondados 12">
            <a:extLst>
              <a:ext uri="{FF2B5EF4-FFF2-40B4-BE49-F238E27FC236}">
                <a16:creationId xmlns:a16="http://schemas.microsoft.com/office/drawing/2014/main" id="{5435A39A-55C1-0920-C38A-2C00F5840E12}"/>
              </a:ext>
            </a:extLst>
          </p:cNvPr>
          <p:cNvSpPr/>
          <p:nvPr/>
        </p:nvSpPr>
        <p:spPr>
          <a:xfrm>
            <a:off x="8151442" y="4458956"/>
            <a:ext cx="1620000" cy="720000"/>
          </a:xfrm>
          <a:prstGeom prst="roundRect">
            <a:avLst/>
          </a:prstGeom>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dirty="0"/>
              <a:t>Encerramento</a:t>
            </a:r>
          </a:p>
        </p:txBody>
      </p:sp>
    </p:spTree>
    <p:extLst>
      <p:ext uri="{BB962C8B-B14F-4D97-AF65-F5344CB8AC3E}">
        <p14:creationId xmlns:p14="http://schemas.microsoft.com/office/powerpoint/2010/main" val="22315629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B9E8EB-4AE4-0055-7F4A-CBB7A834C254}"/>
              </a:ext>
            </a:extLst>
          </p:cNvPr>
          <p:cNvSpPr>
            <a:spLocks noGrp="1"/>
          </p:cNvSpPr>
          <p:nvPr>
            <p:ph type="title"/>
          </p:nvPr>
        </p:nvSpPr>
        <p:spPr/>
        <p:txBody>
          <a:bodyPr/>
          <a:lstStyle/>
          <a:p>
            <a:r>
              <a:rPr lang="pt-BR" dirty="0"/>
              <a:t>Porque Gestão de projetos de software?</a:t>
            </a:r>
          </a:p>
        </p:txBody>
      </p:sp>
      <p:sp>
        <p:nvSpPr>
          <p:cNvPr id="3" name="Espaço Reservado para Conteúdo 2">
            <a:extLst>
              <a:ext uri="{FF2B5EF4-FFF2-40B4-BE49-F238E27FC236}">
                <a16:creationId xmlns:a16="http://schemas.microsoft.com/office/drawing/2014/main" id="{E6FBACAD-D93D-4CF4-67FA-8B86A6C0F444}"/>
              </a:ext>
            </a:extLst>
          </p:cNvPr>
          <p:cNvSpPr>
            <a:spLocks noGrp="1"/>
          </p:cNvSpPr>
          <p:nvPr>
            <p:ph idx="1"/>
          </p:nvPr>
        </p:nvSpPr>
        <p:spPr/>
        <p:txBody>
          <a:bodyPr/>
          <a:lstStyle/>
          <a:p>
            <a:r>
              <a:rPr lang="pt-BR" dirty="0"/>
              <a:t>Considerado crítico para o sucesso de projetos de desenvolvimento de software</a:t>
            </a:r>
          </a:p>
          <a:p>
            <a:pPr>
              <a:spcBef>
                <a:spcPts val="2400"/>
              </a:spcBef>
            </a:pPr>
            <a:r>
              <a:rPr lang="pt-BR" dirty="0"/>
              <a:t>Abordagem estruturada para garantir que o projeto seja:</a:t>
            </a:r>
          </a:p>
          <a:p>
            <a:pPr lvl="1"/>
            <a:r>
              <a:rPr lang="pt-BR" dirty="0"/>
              <a:t>Eficaz na entrega dos requisitos esperados (</a:t>
            </a:r>
            <a:r>
              <a:rPr lang="pt-BR" b="1" dirty="0"/>
              <a:t>escopo</a:t>
            </a:r>
            <a:r>
              <a:rPr lang="pt-BR" dirty="0"/>
              <a:t>)</a:t>
            </a:r>
          </a:p>
          <a:p>
            <a:pPr lvl="1"/>
            <a:r>
              <a:rPr lang="pt-BR" dirty="0"/>
              <a:t>Entregue a tempo (</a:t>
            </a:r>
            <a:r>
              <a:rPr lang="pt-BR" b="1" dirty="0"/>
              <a:t>prazo</a:t>
            </a:r>
            <a:r>
              <a:rPr lang="pt-BR" dirty="0"/>
              <a:t>)</a:t>
            </a:r>
          </a:p>
          <a:p>
            <a:pPr lvl="1"/>
            <a:r>
              <a:rPr lang="pt-BR" dirty="0"/>
              <a:t>Dentro do orçamento (</a:t>
            </a:r>
            <a:r>
              <a:rPr lang="pt-BR" b="1" dirty="0"/>
              <a:t>custo</a:t>
            </a:r>
            <a:r>
              <a:rPr lang="pt-BR" dirty="0"/>
              <a:t>)</a:t>
            </a:r>
          </a:p>
          <a:p>
            <a:pPr lvl="1"/>
            <a:r>
              <a:rPr lang="pt-BR" dirty="0"/>
              <a:t>Atenda a padrões de qualidade (</a:t>
            </a:r>
            <a:r>
              <a:rPr lang="pt-BR" b="1" dirty="0"/>
              <a:t>qualidade</a:t>
            </a:r>
            <a:r>
              <a:rPr lang="pt-BR" dirty="0"/>
              <a:t>)</a:t>
            </a:r>
          </a:p>
        </p:txBody>
      </p:sp>
    </p:spTree>
    <p:extLst>
      <p:ext uri="{BB962C8B-B14F-4D97-AF65-F5344CB8AC3E}">
        <p14:creationId xmlns:p14="http://schemas.microsoft.com/office/powerpoint/2010/main" val="132589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652225-8E26-5937-9FA1-A133AA16BCED}"/>
              </a:ext>
            </a:extLst>
          </p:cNvPr>
          <p:cNvSpPr>
            <a:spLocks noGrp="1"/>
          </p:cNvSpPr>
          <p:nvPr>
            <p:ph type="title"/>
          </p:nvPr>
        </p:nvSpPr>
        <p:spPr/>
        <p:txBody>
          <a:bodyPr/>
          <a:lstStyle/>
          <a:p>
            <a:r>
              <a:rPr lang="pt-BR" dirty="0"/>
              <a:t>Gestão de projetos de software</a:t>
            </a:r>
          </a:p>
        </p:txBody>
      </p:sp>
      <p:sp>
        <p:nvSpPr>
          <p:cNvPr id="3" name="Espaço Reservado para Conteúdo 2">
            <a:extLst>
              <a:ext uri="{FF2B5EF4-FFF2-40B4-BE49-F238E27FC236}">
                <a16:creationId xmlns:a16="http://schemas.microsoft.com/office/drawing/2014/main" id="{0C1F57B1-60A1-299A-7D09-B85A84BC2B6A}"/>
              </a:ext>
            </a:extLst>
          </p:cNvPr>
          <p:cNvSpPr>
            <a:spLocks noGrp="1"/>
          </p:cNvSpPr>
          <p:nvPr>
            <p:ph idx="1"/>
          </p:nvPr>
        </p:nvSpPr>
        <p:spPr/>
        <p:txBody>
          <a:bodyPr>
            <a:normAutofit fontScale="92500" lnSpcReduction="10000"/>
          </a:bodyPr>
          <a:lstStyle/>
          <a:p>
            <a:r>
              <a:rPr lang="pt-BR" dirty="0"/>
              <a:t>Software é </a:t>
            </a:r>
            <a:r>
              <a:rPr lang="pt-BR" b="1" dirty="0"/>
              <a:t>intangível</a:t>
            </a:r>
          </a:p>
          <a:p>
            <a:pPr>
              <a:spcBef>
                <a:spcPts val="2400"/>
              </a:spcBef>
            </a:pPr>
            <a:r>
              <a:rPr lang="pt-BR" dirty="0"/>
              <a:t>Produtos de software, em sua maioria, são feitos para atender </a:t>
            </a:r>
            <a:r>
              <a:rPr lang="pt-BR" b="1" dirty="0"/>
              <a:t>necessidades de um cliente</a:t>
            </a:r>
          </a:p>
          <a:p>
            <a:pPr>
              <a:spcBef>
                <a:spcPts val="2400"/>
              </a:spcBef>
            </a:pPr>
            <a:r>
              <a:rPr lang="pt-BR" dirty="0"/>
              <a:t>Tecnologia básica muda e avança com tanta </a:t>
            </a:r>
            <a:r>
              <a:rPr lang="pt-BR" b="1" dirty="0"/>
              <a:t>frequência e rapidez </a:t>
            </a:r>
            <a:r>
              <a:rPr lang="pt-BR" dirty="0"/>
              <a:t>que a experiência de um produto pode não ser aplicada ao outro</a:t>
            </a:r>
          </a:p>
          <a:p>
            <a:pPr>
              <a:spcBef>
                <a:spcPts val="2400"/>
              </a:spcBef>
            </a:pPr>
            <a:r>
              <a:rPr lang="pt-BR" dirty="0"/>
              <a:t>Restrições de negócio ou de tecnologias criam e aumentam </a:t>
            </a:r>
            <a:r>
              <a:rPr lang="pt-BR" b="1" dirty="0"/>
              <a:t>riscos</a:t>
            </a:r>
            <a:r>
              <a:rPr lang="pt-BR" dirty="0"/>
              <a:t>, sendo necessários gerenciá-los mais eficientemente;</a:t>
            </a:r>
          </a:p>
          <a:p>
            <a:pPr>
              <a:spcBef>
                <a:spcPts val="2400"/>
              </a:spcBef>
            </a:pPr>
            <a:r>
              <a:rPr lang="pt-BR" dirty="0"/>
              <a:t>GPS </a:t>
            </a:r>
            <a:r>
              <a:rPr lang="pt-BR" dirty="0">
                <a:sym typeface="Wingdings" panose="05000000000000000000" pitchFamily="2" charset="2"/>
              </a:rPr>
              <a:t> necessário para </a:t>
            </a:r>
            <a:r>
              <a:rPr lang="pt-BR" b="1" dirty="0">
                <a:solidFill>
                  <a:srgbClr val="FF0000"/>
                </a:solidFill>
                <a:sym typeface="Wingdings" panose="05000000000000000000" pitchFamily="2" charset="2"/>
              </a:rPr>
              <a:t>incorporar requisitos dentro das restrições de tempo e custos</a:t>
            </a:r>
            <a:endParaRPr lang="pt-BR" b="1" dirty="0">
              <a:solidFill>
                <a:srgbClr val="FF0000"/>
              </a:solidFill>
            </a:endParaRPr>
          </a:p>
        </p:txBody>
      </p:sp>
    </p:spTree>
    <p:extLst>
      <p:ext uri="{BB962C8B-B14F-4D97-AF65-F5344CB8AC3E}">
        <p14:creationId xmlns:p14="http://schemas.microsoft.com/office/powerpoint/2010/main" val="17936067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93E712-B3FC-B2DB-FE05-E83CF5FE66EA}"/>
              </a:ext>
            </a:extLst>
          </p:cNvPr>
          <p:cNvSpPr>
            <a:spLocks noGrp="1"/>
          </p:cNvSpPr>
          <p:nvPr>
            <p:ph type="title"/>
          </p:nvPr>
        </p:nvSpPr>
        <p:spPr/>
        <p:txBody>
          <a:bodyPr/>
          <a:lstStyle/>
          <a:p>
            <a:r>
              <a:rPr lang="pt-BR" dirty="0"/>
              <a:t>Características de um projeto</a:t>
            </a:r>
          </a:p>
        </p:txBody>
      </p:sp>
      <p:sp>
        <p:nvSpPr>
          <p:cNvPr id="3" name="Espaço Reservado para Conteúdo 2">
            <a:extLst>
              <a:ext uri="{FF2B5EF4-FFF2-40B4-BE49-F238E27FC236}">
                <a16:creationId xmlns:a16="http://schemas.microsoft.com/office/drawing/2014/main" id="{4D073A81-F456-E0AA-3B77-F4512163F4D6}"/>
              </a:ext>
            </a:extLst>
          </p:cNvPr>
          <p:cNvSpPr>
            <a:spLocks noGrp="1"/>
          </p:cNvSpPr>
          <p:nvPr>
            <p:ph idx="1"/>
          </p:nvPr>
        </p:nvSpPr>
        <p:spPr/>
        <p:txBody>
          <a:bodyPr>
            <a:normAutofit/>
          </a:bodyPr>
          <a:lstStyle/>
          <a:p>
            <a:pPr algn="l"/>
            <a:r>
              <a:rPr lang="pt-BR" b="0" i="0" u="none" strike="noStrike" baseline="0" dirty="0">
                <a:solidFill>
                  <a:srgbClr val="1CAEE5"/>
                </a:solidFill>
                <a:latin typeface="NotoSansSymbols"/>
              </a:rPr>
              <a:t>► </a:t>
            </a:r>
            <a:r>
              <a:rPr lang="pt-BR" b="1" i="0" u="none" strike="noStrike" baseline="0" dirty="0">
                <a:solidFill>
                  <a:srgbClr val="3F3F3F"/>
                </a:solidFill>
                <a:latin typeface="Calibri-Bold"/>
              </a:rPr>
              <a:t>Temporário</a:t>
            </a:r>
          </a:p>
          <a:p>
            <a:pPr lvl="1"/>
            <a:r>
              <a:rPr lang="pt-BR" sz="2000" b="0" i="0" u="none" strike="noStrike" baseline="0" dirty="0">
                <a:solidFill>
                  <a:srgbClr val="1CAEE5"/>
                </a:solidFill>
                <a:latin typeface="NotoSansSymbols"/>
              </a:rPr>
              <a:t>► </a:t>
            </a:r>
            <a:r>
              <a:rPr lang="pt-BR" sz="2000" b="1" i="0" u="none" strike="noStrike" baseline="0" dirty="0">
                <a:solidFill>
                  <a:srgbClr val="3F3F3F"/>
                </a:solidFill>
                <a:latin typeface="Calibri-Bold"/>
              </a:rPr>
              <a:t>Início </a:t>
            </a:r>
            <a:r>
              <a:rPr lang="pt-BR" sz="2000" b="0" i="0" u="none" strike="noStrike" baseline="0" dirty="0">
                <a:solidFill>
                  <a:srgbClr val="3F3F3F"/>
                </a:solidFill>
                <a:latin typeface="Calibri" panose="020F0502020204030204" pitchFamily="34" charset="0"/>
              </a:rPr>
              <a:t>e </a:t>
            </a:r>
            <a:r>
              <a:rPr lang="pt-BR" sz="2000" b="1" i="0" u="none" strike="noStrike" baseline="0" dirty="0">
                <a:solidFill>
                  <a:srgbClr val="3F3F3F"/>
                </a:solidFill>
                <a:latin typeface="Calibri-Bold"/>
              </a:rPr>
              <a:t>fim </a:t>
            </a:r>
            <a:r>
              <a:rPr lang="pt-BR" sz="2000" b="0" i="0" u="none" strike="noStrike" baseline="0" dirty="0">
                <a:solidFill>
                  <a:srgbClr val="3F3F3F"/>
                </a:solidFill>
                <a:latin typeface="Calibri" panose="020F0502020204030204" pitchFamily="34" charset="0"/>
              </a:rPr>
              <a:t>definidos</a:t>
            </a:r>
          </a:p>
          <a:p>
            <a:pPr lvl="1"/>
            <a:r>
              <a:rPr lang="pt-BR" sz="2000" b="0" i="0" u="none" strike="noStrike" baseline="0" dirty="0">
                <a:solidFill>
                  <a:srgbClr val="1CAEE5"/>
                </a:solidFill>
                <a:latin typeface="NotoSansSymbols"/>
              </a:rPr>
              <a:t>► </a:t>
            </a:r>
            <a:r>
              <a:rPr lang="pt-BR" sz="2000" b="0" i="0" u="none" strike="noStrike" baseline="0" dirty="0">
                <a:solidFill>
                  <a:srgbClr val="3F3F3F"/>
                </a:solidFill>
                <a:latin typeface="Calibri" panose="020F0502020204030204" pitchFamily="34" charset="0"/>
              </a:rPr>
              <a:t>O </a:t>
            </a:r>
            <a:r>
              <a:rPr lang="pt-BR" sz="2000" b="1" i="0" u="none" strike="noStrike" baseline="0" dirty="0">
                <a:solidFill>
                  <a:srgbClr val="3F3F3F"/>
                </a:solidFill>
                <a:latin typeface="Calibri-Bold"/>
              </a:rPr>
              <a:t>fim </a:t>
            </a:r>
            <a:r>
              <a:rPr lang="pt-BR" sz="2000" b="0" i="0" u="none" strike="noStrike" baseline="0" dirty="0">
                <a:solidFill>
                  <a:srgbClr val="3F3F3F"/>
                </a:solidFill>
                <a:latin typeface="Calibri" panose="020F0502020204030204" pitchFamily="34" charset="0"/>
              </a:rPr>
              <a:t>é alcançado quando:</a:t>
            </a:r>
          </a:p>
          <a:p>
            <a:pPr lvl="2"/>
            <a:r>
              <a:rPr lang="pt-BR" sz="1600" b="0" i="0" u="none" strike="noStrike" baseline="0" dirty="0">
                <a:solidFill>
                  <a:srgbClr val="1CAEE5"/>
                </a:solidFill>
                <a:latin typeface="NotoSansSymbols"/>
              </a:rPr>
              <a:t>► </a:t>
            </a:r>
            <a:r>
              <a:rPr lang="pt-BR" sz="1600" b="0" i="0" u="none" strike="noStrike" baseline="0" dirty="0">
                <a:solidFill>
                  <a:srgbClr val="3F3F3F"/>
                </a:solidFill>
                <a:latin typeface="Calibri" panose="020F0502020204030204" pitchFamily="34" charset="0"/>
              </a:rPr>
              <a:t>Objetivos foram </a:t>
            </a:r>
            <a:r>
              <a:rPr lang="pt-BR" sz="1600" b="1" i="0" u="none" strike="noStrike" baseline="0" dirty="0">
                <a:solidFill>
                  <a:srgbClr val="3F3F3F"/>
                </a:solidFill>
                <a:latin typeface="Calibri-Bold"/>
              </a:rPr>
              <a:t>alcançados</a:t>
            </a:r>
          </a:p>
          <a:p>
            <a:pPr lvl="2"/>
            <a:r>
              <a:rPr lang="pt-BR" sz="1600" b="0" i="0" u="none" strike="noStrike" baseline="0" dirty="0">
                <a:solidFill>
                  <a:srgbClr val="1CAEE5"/>
                </a:solidFill>
                <a:latin typeface="NotoSansSymbols"/>
              </a:rPr>
              <a:t>► </a:t>
            </a:r>
            <a:r>
              <a:rPr lang="pt-BR" sz="1600" b="0" i="0" u="none" strike="noStrike" baseline="0" dirty="0">
                <a:solidFill>
                  <a:srgbClr val="3F3F3F"/>
                </a:solidFill>
                <a:latin typeface="Calibri" panose="020F0502020204030204" pitchFamily="34" charset="0"/>
              </a:rPr>
              <a:t>Objetivos </a:t>
            </a:r>
            <a:r>
              <a:rPr lang="pt-BR" sz="1600" b="1" i="0" u="none" strike="noStrike" baseline="0" dirty="0">
                <a:solidFill>
                  <a:srgbClr val="3F3F3F"/>
                </a:solidFill>
                <a:latin typeface="Calibri-Bold"/>
              </a:rPr>
              <a:t>não podem </a:t>
            </a:r>
            <a:r>
              <a:rPr lang="pt-BR" sz="1600" b="0" i="0" u="none" strike="noStrike" baseline="0" dirty="0">
                <a:solidFill>
                  <a:srgbClr val="3F3F3F"/>
                </a:solidFill>
                <a:latin typeface="Calibri" panose="020F0502020204030204" pitchFamily="34" charset="0"/>
              </a:rPr>
              <a:t>mais ser alcançados</a:t>
            </a:r>
          </a:p>
          <a:p>
            <a:pPr lvl="2"/>
            <a:r>
              <a:rPr lang="pt-BR" sz="1600" b="0" i="0" u="none" strike="noStrike" baseline="0" dirty="0">
                <a:solidFill>
                  <a:srgbClr val="1CAEE5"/>
                </a:solidFill>
                <a:latin typeface="NotoSansSymbols"/>
              </a:rPr>
              <a:t>► </a:t>
            </a:r>
            <a:r>
              <a:rPr lang="pt-BR" sz="1600" b="0" i="0" u="none" strike="noStrike" baseline="0" dirty="0">
                <a:solidFill>
                  <a:srgbClr val="3F3F3F"/>
                </a:solidFill>
                <a:latin typeface="Calibri" panose="020F0502020204030204" pitchFamily="34" charset="0"/>
              </a:rPr>
              <a:t>Necessidade </a:t>
            </a:r>
            <a:r>
              <a:rPr lang="pt-BR" sz="1600" b="1" i="0" u="none" strike="noStrike" baseline="0" dirty="0">
                <a:solidFill>
                  <a:srgbClr val="3F3F3F"/>
                </a:solidFill>
                <a:latin typeface="Calibri-Bold"/>
              </a:rPr>
              <a:t>deixou de existir</a:t>
            </a:r>
          </a:p>
          <a:p>
            <a:pPr lvl="2"/>
            <a:r>
              <a:rPr lang="pt-BR" sz="1600" b="0" i="0" u="none" strike="noStrike" baseline="0" dirty="0">
                <a:solidFill>
                  <a:srgbClr val="1CAEE5"/>
                </a:solidFill>
                <a:latin typeface="NotoSansSymbols"/>
              </a:rPr>
              <a:t>► </a:t>
            </a:r>
            <a:r>
              <a:rPr lang="pt-BR" sz="1600" b="0" i="0" u="none" strike="noStrike" baseline="0" dirty="0">
                <a:solidFill>
                  <a:srgbClr val="3F3F3F"/>
                </a:solidFill>
                <a:latin typeface="Calibri" panose="020F0502020204030204" pitchFamily="34" charset="0"/>
              </a:rPr>
              <a:t>O projeto foi </a:t>
            </a:r>
            <a:r>
              <a:rPr lang="pt-BR" sz="1600" b="1" i="0" u="none" strike="noStrike" baseline="0" dirty="0">
                <a:solidFill>
                  <a:srgbClr val="3F3F3F"/>
                </a:solidFill>
                <a:latin typeface="Calibri-Bold"/>
              </a:rPr>
              <a:t>inviabilizado </a:t>
            </a:r>
            <a:r>
              <a:rPr lang="pt-BR" sz="1600" b="0" i="0" u="none" strike="noStrike" baseline="0" dirty="0">
                <a:solidFill>
                  <a:srgbClr val="3F3F3F"/>
                </a:solidFill>
                <a:latin typeface="Calibri" panose="020F0502020204030204" pitchFamily="34" charset="0"/>
              </a:rPr>
              <a:t>de alguma forma</a:t>
            </a:r>
          </a:p>
          <a:p>
            <a:pPr lvl="2"/>
            <a:r>
              <a:rPr lang="pt-BR" sz="1600" b="0" i="0" u="none" strike="noStrike" baseline="0" dirty="0">
                <a:solidFill>
                  <a:srgbClr val="1CAEE5"/>
                </a:solidFill>
                <a:latin typeface="NotoSansSymbols"/>
              </a:rPr>
              <a:t>► </a:t>
            </a:r>
            <a:r>
              <a:rPr lang="pt-BR" sz="1600" b="1" i="0" u="none" strike="noStrike" baseline="0" dirty="0">
                <a:solidFill>
                  <a:srgbClr val="3F3F3F"/>
                </a:solidFill>
                <a:latin typeface="Calibri-Bold"/>
              </a:rPr>
              <a:t>Efeitos </a:t>
            </a:r>
            <a:r>
              <a:rPr lang="pt-BR" sz="1600" b="0" i="0" u="none" strike="noStrike" baseline="0" dirty="0">
                <a:solidFill>
                  <a:srgbClr val="3F3F3F"/>
                </a:solidFill>
                <a:latin typeface="Calibri" panose="020F0502020204030204" pitchFamily="34" charset="0"/>
              </a:rPr>
              <a:t>causados pelo projeto </a:t>
            </a:r>
            <a:r>
              <a:rPr lang="pt-BR" sz="1600" b="1" i="0" u="none" strike="noStrike" baseline="0" dirty="0">
                <a:solidFill>
                  <a:srgbClr val="3F3F3F"/>
                </a:solidFill>
                <a:latin typeface="Calibri-Bold"/>
              </a:rPr>
              <a:t>não são temporários</a:t>
            </a:r>
          </a:p>
          <a:p>
            <a:pPr algn="l"/>
            <a:r>
              <a:rPr lang="pt-BR" b="0" i="0" u="none" strike="noStrike" baseline="0" dirty="0">
                <a:solidFill>
                  <a:srgbClr val="1CAEE5"/>
                </a:solidFill>
                <a:latin typeface="NotoSansSymbols"/>
              </a:rPr>
              <a:t>► </a:t>
            </a:r>
            <a:r>
              <a:rPr lang="pt-BR" b="1" i="0" u="none" strike="noStrike" baseline="0" dirty="0">
                <a:solidFill>
                  <a:srgbClr val="3F3F3F"/>
                </a:solidFill>
                <a:latin typeface="Calibri-Bold"/>
              </a:rPr>
              <a:t>Progressivo</a:t>
            </a:r>
          </a:p>
          <a:p>
            <a:pPr lvl="1"/>
            <a:r>
              <a:rPr lang="pt-BR" sz="2000" b="0" i="0" u="none" strike="noStrike" baseline="0" dirty="0">
                <a:solidFill>
                  <a:srgbClr val="1CAEE5"/>
                </a:solidFill>
                <a:latin typeface="NotoSansSymbols"/>
              </a:rPr>
              <a:t>► </a:t>
            </a:r>
            <a:r>
              <a:rPr lang="pt-BR" sz="2000" b="0" i="0" u="none" strike="noStrike" baseline="0" dirty="0">
                <a:solidFill>
                  <a:srgbClr val="3F3F3F"/>
                </a:solidFill>
                <a:latin typeface="Calibri" panose="020F0502020204030204" pitchFamily="34" charset="0"/>
              </a:rPr>
              <a:t>Procede por </a:t>
            </a:r>
            <a:r>
              <a:rPr lang="pt-BR" sz="2000" b="1" i="0" u="none" strike="noStrike" baseline="0" dirty="0">
                <a:solidFill>
                  <a:srgbClr val="3F3F3F"/>
                </a:solidFill>
                <a:latin typeface="Calibri-Bold"/>
              </a:rPr>
              <a:t>etapas</a:t>
            </a:r>
          </a:p>
          <a:p>
            <a:pPr lvl="1"/>
            <a:r>
              <a:rPr lang="pt-BR" sz="2000" b="0" i="0" u="none" strike="noStrike" baseline="0" dirty="0">
                <a:solidFill>
                  <a:srgbClr val="1CAEE5"/>
                </a:solidFill>
                <a:latin typeface="NotoSansSymbols"/>
              </a:rPr>
              <a:t>► </a:t>
            </a:r>
            <a:r>
              <a:rPr lang="pt-BR" sz="2000" b="0" i="0" u="none" strike="noStrike" baseline="0" dirty="0">
                <a:solidFill>
                  <a:srgbClr val="3F3F3F"/>
                </a:solidFill>
                <a:latin typeface="Calibri" panose="020F0502020204030204" pitchFamily="34" charset="0"/>
              </a:rPr>
              <a:t>De forma </a:t>
            </a:r>
            <a:r>
              <a:rPr lang="pt-BR" sz="2000" b="1" i="0" u="none" strike="noStrike" baseline="0" dirty="0">
                <a:solidFill>
                  <a:srgbClr val="3F3F3F"/>
                </a:solidFill>
                <a:latin typeface="Calibri-Bold"/>
              </a:rPr>
              <a:t>incremental</a:t>
            </a:r>
            <a:endParaRPr lang="pt-BR" sz="3600" dirty="0"/>
          </a:p>
        </p:txBody>
      </p:sp>
      <p:pic>
        <p:nvPicPr>
          <p:cNvPr id="4" name="Imagem 3">
            <a:extLst>
              <a:ext uri="{FF2B5EF4-FFF2-40B4-BE49-F238E27FC236}">
                <a16:creationId xmlns:a16="http://schemas.microsoft.com/office/drawing/2014/main" id="{670C90E6-E835-CA89-CD90-E9275915D561}"/>
              </a:ext>
            </a:extLst>
          </p:cNvPr>
          <p:cNvPicPr>
            <a:picLocks noChangeAspect="1"/>
          </p:cNvPicPr>
          <p:nvPr/>
        </p:nvPicPr>
        <p:blipFill>
          <a:blip r:embed="rId2"/>
          <a:stretch>
            <a:fillRect/>
          </a:stretch>
        </p:blipFill>
        <p:spPr>
          <a:xfrm>
            <a:off x="4637674" y="5261766"/>
            <a:ext cx="7173326" cy="1419423"/>
          </a:xfrm>
          <a:prstGeom prst="rect">
            <a:avLst/>
          </a:prstGeom>
        </p:spPr>
      </p:pic>
    </p:spTree>
    <p:extLst>
      <p:ext uri="{BB962C8B-B14F-4D97-AF65-F5344CB8AC3E}">
        <p14:creationId xmlns:p14="http://schemas.microsoft.com/office/powerpoint/2010/main" val="1184783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2E0501-1FB2-919F-DBCB-CC3E14FB64BA}"/>
              </a:ext>
            </a:extLst>
          </p:cNvPr>
          <p:cNvSpPr>
            <a:spLocks noGrp="1"/>
          </p:cNvSpPr>
          <p:nvPr>
            <p:ph type="title"/>
          </p:nvPr>
        </p:nvSpPr>
        <p:spPr/>
        <p:txBody>
          <a:bodyPr/>
          <a:lstStyle/>
          <a:p>
            <a:r>
              <a:rPr lang="pt-BR" dirty="0"/>
              <a:t>Exemplos</a:t>
            </a:r>
          </a:p>
        </p:txBody>
      </p:sp>
      <p:sp>
        <p:nvSpPr>
          <p:cNvPr id="3" name="Espaço Reservado para Conteúdo 2">
            <a:extLst>
              <a:ext uri="{FF2B5EF4-FFF2-40B4-BE49-F238E27FC236}">
                <a16:creationId xmlns:a16="http://schemas.microsoft.com/office/drawing/2014/main" id="{F370CC0B-A58D-2739-07DB-4E1BD2438AD1}"/>
              </a:ext>
            </a:extLst>
          </p:cNvPr>
          <p:cNvSpPr>
            <a:spLocks noGrp="1"/>
          </p:cNvSpPr>
          <p:nvPr>
            <p:ph idx="1"/>
          </p:nvPr>
        </p:nvSpPr>
        <p:spPr/>
        <p:txBody>
          <a:bodyPr/>
          <a:lstStyle/>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Desenvolvimento de novos produtos de software</a:t>
            </a:r>
          </a:p>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Desenvolvimento de novos produtos em geral</a:t>
            </a:r>
          </a:p>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Adquirir e implantar um novo software</a:t>
            </a:r>
          </a:p>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Desenvolver um novo processo de negócio</a:t>
            </a:r>
          </a:p>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Fazer uma campanha de marketing</a:t>
            </a:r>
          </a:p>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Construir uma estrada</a:t>
            </a:r>
          </a:p>
          <a:p>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Terminar a faculdade</a:t>
            </a:r>
          </a:p>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Passar na disciplina de Gerenciamento de Projetos</a:t>
            </a:r>
          </a:p>
          <a:p>
            <a:pPr algn="l"/>
            <a:r>
              <a:rPr lang="pt-BR" sz="1800" b="0" i="0" u="none" strike="noStrike" baseline="0" dirty="0">
                <a:solidFill>
                  <a:srgbClr val="1CAEE5"/>
                </a:solidFill>
                <a:latin typeface="NotoSansSymbols"/>
              </a:rPr>
              <a:t>► </a:t>
            </a:r>
            <a:r>
              <a:rPr lang="pt-BR" sz="1800" b="0" i="0" u="none" strike="noStrike" baseline="0" dirty="0">
                <a:solidFill>
                  <a:srgbClr val="3F3F3F"/>
                </a:solidFill>
                <a:latin typeface="Calibri" panose="020F0502020204030204" pitchFamily="34" charset="0"/>
              </a:rPr>
              <a:t>Assistir a aula até o fim e fazer o exercício</a:t>
            </a:r>
            <a:endParaRPr lang="pt-BR" dirty="0"/>
          </a:p>
        </p:txBody>
      </p:sp>
    </p:spTree>
    <p:extLst>
      <p:ext uri="{BB962C8B-B14F-4D97-AF65-F5344CB8AC3E}">
        <p14:creationId xmlns:p14="http://schemas.microsoft.com/office/powerpoint/2010/main" val="608528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12638-1BCC-93AE-8C05-2583906994E7}"/>
              </a:ext>
            </a:extLst>
          </p:cNvPr>
          <p:cNvSpPr>
            <a:spLocks noGrp="1"/>
          </p:cNvSpPr>
          <p:nvPr>
            <p:ph type="title"/>
          </p:nvPr>
        </p:nvSpPr>
        <p:spPr/>
        <p:txBody>
          <a:bodyPr/>
          <a:lstStyle/>
          <a:p>
            <a:r>
              <a:rPr lang="pt-BR" dirty="0"/>
              <a:t>Exemplos</a:t>
            </a:r>
          </a:p>
        </p:txBody>
      </p:sp>
      <p:sp>
        <p:nvSpPr>
          <p:cNvPr id="3" name="Espaço Reservado para Conteúdo 2">
            <a:extLst>
              <a:ext uri="{FF2B5EF4-FFF2-40B4-BE49-F238E27FC236}">
                <a16:creationId xmlns:a16="http://schemas.microsoft.com/office/drawing/2014/main" id="{FE542C60-EE1B-5388-890C-2EE03195F7F8}"/>
              </a:ext>
            </a:extLst>
          </p:cNvPr>
          <p:cNvSpPr>
            <a:spLocks noGrp="1"/>
          </p:cNvSpPr>
          <p:nvPr>
            <p:ph idx="1"/>
          </p:nvPr>
        </p:nvSpPr>
        <p:spPr/>
        <p:txBody>
          <a:bodyPr/>
          <a:lstStyle/>
          <a:p>
            <a:r>
              <a:rPr lang="pt-BR" dirty="0"/>
              <a:t>Organizar um churrasco da turma</a:t>
            </a:r>
          </a:p>
          <a:p>
            <a:pPr lvl="1"/>
            <a:r>
              <a:rPr lang="pt-BR" dirty="0"/>
              <a:t>Esforço</a:t>
            </a:r>
          </a:p>
          <a:p>
            <a:pPr lvl="1"/>
            <a:r>
              <a:rPr lang="pt-BR" dirty="0"/>
              <a:t>Temporário</a:t>
            </a:r>
          </a:p>
          <a:p>
            <a:pPr lvl="1"/>
            <a:r>
              <a:rPr lang="pt-BR" dirty="0"/>
              <a:t>Criar</a:t>
            </a:r>
          </a:p>
          <a:p>
            <a:pPr lvl="1"/>
            <a:r>
              <a:rPr lang="pt-BR" dirty="0"/>
              <a:t>Único</a:t>
            </a:r>
          </a:p>
          <a:p>
            <a:pPr lvl="2"/>
            <a:endParaRPr lang="pt-BR" dirty="0"/>
          </a:p>
          <a:p>
            <a:r>
              <a:rPr lang="pt-BR" dirty="0"/>
              <a:t>Organizar o processo de churrasco </a:t>
            </a:r>
            <a:r>
              <a:rPr lang="pt-BR" b="1" dirty="0">
                <a:solidFill>
                  <a:srgbClr val="FF0000"/>
                </a:solidFill>
              </a:rPr>
              <a:t>de uma churrascaria</a:t>
            </a:r>
          </a:p>
          <a:p>
            <a:pPr lvl="1"/>
            <a:r>
              <a:rPr lang="pt-BR" dirty="0"/>
              <a:t>Não tem fim</a:t>
            </a:r>
          </a:p>
          <a:p>
            <a:pPr lvl="1"/>
            <a:r>
              <a:rPr lang="pt-BR" dirty="0"/>
              <a:t>Não tem novidade</a:t>
            </a:r>
          </a:p>
          <a:p>
            <a:pPr lvl="1"/>
            <a:r>
              <a:rPr lang="pt-BR" dirty="0"/>
              <a:t>A menos que...</a:t>
            </a:r>
          </a:p>
        </p:txBody>
      </p:sp>
    </p:spTree>
    <p:extLst>
      <p:ext uri="{BB962C8B-B14F-4D97-AF65-F5344CB8AC3E}">
        <p14:creationId xmlns:p14="http://schemas.microsoft.com/office/powerpoint/2010/main" val="113202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fade">
                                      <p:cBhvr>
                                        <p:cTn id="15" dur="500"/>
                                        <p:tgtEl>
                                          <p:spTgt spid="3">
                                            <p:txEl>
                                              <p:pRg st="8" end="8"/>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animEffect transition="in" filter="fade">
                                      <p:cBhvr>
                                        <p:cTn id="1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AA686E-9BC3-2B8F-0EA0-50338813D51D}"/>
              </a:ext>
            </a:extLst>
          </p:cNvPr>
          <p:cNvSpPr>
            <a:spLocks noGrp="1"/>
          </p:cNvSpPr>
          <p:nvPr>
            <p:ph type="title"/>
          </p:nvPr>
        </p:nvSpPr>
        <p:spPr/>
        <p:txBody>
          <a:bodyPr/>
          <a:lstStyle/>
          <a:p>
            <a:r>
              <a:rPr lang="pt-BR" dirty="0"/>
              <a:t>Operações permanentes</a:t>
            </a:r>
          </a:p>
        </p:txBody>
      </p:sp>
      <p:sp>
        <p:nvSpPr>
          <p:cNvPr id="3" name="Espaço Reservado para Conteúdo 2">
            <a:extLst>
              <a:ext uri="{FF2B5EF4-FFF2-40B4-BE49-F238E27FC236}">
                <a16:creationId xmlns:a16="http://schemas.microsoft.com/office/drawing/2014/main" id="{9255FA4F-5621-B9D2-C114-34BEEDF4DD4B}"/>
              </a:ext>
            </a:extLst>
          </p:cNvPr>
          <p:cNvSpPr>
            <a:spLocks noGrp="1"/>
          </p:cNvSpPr>
          <p:nvPr>
            <p:ph idx="1"/>
          </p:nvPr>
        </p:nvSpPr>
        <p:spPr/>
        <p:txBody>
          <a:bodyPr/>
          <a:lstStyle/>
          <a:p>
            <a:r>
              <a:rPr lang="pt-BR" b="1" dirty="0"/>
              <a:t>Processo estabelecido</a:t>
            </a:r>
            <a:endParaRPr lang="pt-BR" dirty="0"/>
          </a:p>
          <a:p>
            <a:pPr lvl="1"/>
            <a:r>
              <a:rPr lang="pt-BR" dirty="0"/>
              <a:t>Também precisam ser gerenciados</a:t>
            </a:r>
          </a:p>
          <a:p>
            <a:pPr lvl="1"/>
            <a:r>
              <a:rPr lang="pt-BR" dirty="0"/>
              <a:t>São </a:t>
            </a:r>
            <a:r>
              <a:rPr lang="pt-BR" b="1" dirty="0"/>
              <a:t>repetitivos</a:t>
            </a:r>
            <a:endParaRPr lang="pt-BR" dirty="0"/>
          </a:p>
          <a:p>
            <a:pPr lvl="1"/>
            <a:r>
              <a:rPr lang="pt-BR" dirty="0"/>
              <a:t>Têm um grau mais alto de </a:t>
            </a:r>
            <a:r>
              <a:rPr lang="pt-BR" b="1" dirty="0"/>
              <a:t>previsibilidade</a:t>
            </a:r>
            <a:endParaRPr lang="pt-BR" dirty="0"/>
          </a:p>
          <a:p>
            <a:pPr lvl="1"/>
            <a:r>
              <a:rPr lang="pt-BR" dirty="0"/>
              <a:t>Exigem </a:t>
            </a:r>
            <a:r>
              <a:rPr lang="pt-BR" b="1" dirty="0"/>
              <a:t>pouca criatividade</a:t>
            </a:r>
          </a:p>
          <a:p>
            <a:pPr lvl="1"/>
            <a:r>
              <a:rPr lang="pt-BR" dirty="0"/>
              <a:t>Em alguns casos, podem ser </a:t>
            </a:r>
            <a:r>
              <a:rPr lang="pt-BR" b="1" dirty="0"/>
              <a:t>automatizados</a:t>
            </a:r>
          </a:p>
          <a:p>
            <a:endParaRPr lang="pt-BR" b="1" dirty="0"/>
          </a:p>
          <a:p>
            <a:r>
              <a:rPr lang="pt-BR" dirty="0"/>
              <a:t>Em suma: são </a:t>
            </a:r>
            <a:r>
              <a:rPr lang="pt-BR" b="1" dirty="0"/>
              <a:t>mais fáceis</a:t>
            </a:r>
            <a:r>
              <a:rPr lang="pt-BR" dirty="0"/>
              <a:t> de serem gerenciados</a:t>
            </a:r>
          </a:p>
        </p:txBody>
      </p:sp>
    </p:spTree>
    <p:extLst>
      <p:ext uri="{BB962C8B-B14F-4D97-AF65-F5344CB8AC3E}">
        <p14:creationId xmlns:p14="http://schemas.microsoft.com/office/powerpoint/2010/main" val="25887928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3AE52-A47D-737C-C0CC-28A40E16BE48}"/>
              </a:ext>
            </a:extLst>
          </p:cNvPr>
          <p:cNvSpPr>
            <a:spLocks noGrp="1"/>
          </p:cNvSpPr>
          <p:nvPr>
            <p:ph type="title"/>
          </p:nvPr>
        </p:nvSpPr>
        <p:spPr/>
        <p:txBody>
          <a:bodyPr/>
          <a:lstStyle/>
          <a:p>
            <a:r>
              <a:rPr lang="pt-BR" dirty="0"/>
              <a:t>Projetos x operações</a:t>
            </a:r>
          </a:p>
        </p:txBody>
      </p:sp>
      <p:graphicFrame>
        <p:nvGraphicFramePr>
          <p:cNvPr id="4" name="Espaço Reservado para Conteúdo 3">
            <a:extLst>
              <a:ext uri="{FF2B5EF4-FFF2-40B4-BE49-F238E27FC236}">
                <a16:creationId xmlns:a16="http://schemas.microsoft.com/office/drawing/2014/main" id="{88DED45D-23F7-D289-CF54-ED455D1106FA}"/>
              </a:ext>
            </a:extLst>
          </p:cNvPr>
          <p:cNvGraphicFramePr>
            <a:graphicFrameLocks noGrp="1"/>
          </p:cNvGraphicFramePr>
          <p:nvPr>
            <p:ph idx="1"/>
            <p:extLst>
              <p:ext uri="{D42A27DB-BD31-4B8C-83A1-F6EECF244321}">
                <p14:modId xmlns:p14="http://schemas.microsoft.com/office/powerpoint/2010/main" val="903714687"/>
              </p:ext>
            </p:extLst>
          </p:nvPr>
        </p:nvGraphicFramePr>
        <p:xfrm>
          <a:off x="2111415" y="2369635"/>
          <a:ext cx="8278581" cy="3108960"/>
        </p:xfrm>
        <a:graphic>
          <a:graphicData uri="http://schemas.openxmlformats.org/drawingml/2006/table">
            <a:tbl>
              <a:tblPr firstRow="1" bandRow="1">
                <a:tableStyleId>{5C22544A-7EE6-4342-B048-85BDC9FD1C3A}</a:tableStyleId>
              </a:tblPr>
              <a:tblGrid>
                <a:gridCol w="4259240">
                  <a:extLst>
                    <a:ext uri="{9D8B030D-6E8A-4147-A177-3AD203B41FA5}">
                      <a16:colId xmlns:a16="http://schemas.microsoft.com/office/drawing/2014/main" val="2205967110"/>
                    </a:ext>
                  </a:extLst>
                </a:gridCol>
                <a:gridCol w="4019341">
                  <a:extLst>
                    <a:ext uri="{9D8B030D-6E8A-4147-A177-3AD203B41FA5}">
                      <a16:colId xmlns:a16="http://schemas.microsoft.com/office/drawing/2014/main" val="673774016"/>
                    </a:ext>
                  </a:extLst>
                </a:gridCol>
              </a:tblGrid>
              <a:tr h="370840">
                <a:tc>
                  <a:txBody>
                    <a:bodyPr/>
                    <a:lstStyle/>
                    <a:p>
                      <a:r>
                        <a:rPr lang="pt-BR" sz="2800" dirty="0"/>
                        <a:t>Projetos</a:t>
                      </a:r>
                    </a:p>
                  </a:txBody>
                  <a:tcPr/>
                </a:tc>
                <a:tc>
                  <a:txBody>
                    <a:bodyPr/>
                    <a:lstStyle/>
                    <a:p>
                      <a:r>
                        <a:rPr lang="pt-BR" sz="2800" dirty="0"/>
                        <a:t>Operações</a:t>
                      </a:r>
                    </a:p>
                  </a:txBody>
                  <a:tcPr/>
                </a:tc>
                <a:extLst>
                  <a:ext uri="{0D108BD9-81ED-4DB2-BD59-A6C34878D82A}">
                    <a16:rowId xmlns:a16="http://schemas.microsoft.com/office/drawing/2014/main" val="3818511025"/>
                  </a:ext>
                </a:extLst>
              </a:tr>
              <a:tr h="370840">
                <a:tc>
                  <a:txBody>
                    <a:bodyPr/>
                    <a:lstStyle/>
                    <a:p>
                      <a:r>
                        <a:rPr lang="pt-BR" sz="2800" dirty="0"/>
                        <a:t>Ligado a planos estratégicos</a:t>
                      </a:r>
                    </a:p>
                  </a:txBody>
                  <a:tcPr/>
                </a:tc>
                <a:tc>
                  <a:txBody>
                    <a:bodyPr/>
                    <a:lstStyle/>
                    <a:p>
                      <a:r>
                        <a:rPr lang="pt-BR" sz="2800" dirty="0"/>
                        <a:t>Sustenta os negócios</a:t>
                      </a:r>
                    </a:p>
                  </a:txBody>
                  <a:tcPr/>
                </a:tc>
                <a:extLst>
                  <a:ext uri="{0D108BD9-81ED-4DB2-BD59-A6C34878D82A}">
                    <a16:rowId xmlns:a16="http://schemas.microsoft.com/office/drawing/2014/main" val="1375110597"/>
                  </a:ext>
                </a:extLst>
              </a:tr>
              <a:tr h="370840">
                <a:tc>
                  <a:txBody>
                    <a:bodyPr/>
                    <a:lstStyle/>
                    <a:p>
                      <a:r>
                        <a:rPr lang="pt-BR" sz="2800" dirty="0"/>
                        <a:t>Temporário</a:t>
                      </a:r>
                    </a:p>
                  </a:txBody>
                  <a:tcPr/>
                </a:tc>
                <a:tc>
                  <a:txBody>
                    <a:bodyPr/>
                    <a:lstStyle/>
                    <a:p>
                      <a:r>
                        <a:rPr lang="pt-BR" sz="2800" dirty="0"/>
                        <a:t>Permanente</a:t>
                      </a:r>
                    </a:p>
                  </a:txBody>
                  <a:tcPr/>
                </a:tc>
                <a:extLst>
                  <a:ext uri="{0D108BD9-81ED-4DB2-BD59-A6C34878D82A}">
                    <a16:rowId xmlns:a16="http://schemas.microsoft.com/office/drawing/2014/main" val="2635174344"/>
                  </a:ext>
                </a:extLst>
              </a:tr>
              <a:tr h="370840">
                <a:tc>
                  <a:txBody>
                    <a:bodyPr/>
                    <a:lstStyle/>
                    <a:p>
                      <a:r>
                        <a:rPr lang="pt-BR" sz="2800" dirty="0"/>
                        <a:t>Original/exclusivo</a:t>
                      </a:r>
                    </a:p>
                  </a:txBody>
                  <a:tcPr/>
                </a:tc>
                <a:tc>
                  <a:txBody>
                    <a:bodyPr/>
                    <a:lstStyle/>
                    <a:p>
                      <a:r>
                        <a:rPr lang="pt-BR" sz="2800" dirty="0"/>
                        <a:t>Repetitivo</a:t>
                      </a:r>
                    </a:p>
                  </a:txBody>
                  <a:tcPr/>
                </a:tc>
                <a:extLst>
                  <a:ext uri="{0D108BD9-81ED-4DB2-BD59-A6C34878D82A}">
                    <a16:rowId xmlns:a16="http://schemas.microsoft.com/office/drawing/2014/main" val="4234306514"/>
                  </a:ext>
                </a:extLst>
              </a:tr>
              <a:tr h="370840">
                <a:tc>
                  <a:txBody>
                    <a:bodyPr/>
                    <a:lstStyle/>
                    <a:p>
                      <a:r>
                        <a:rPr lang="pt-BR" sz="2800" dirty="0"/>
                        <a:t>Resultado incerto</a:t>
                      </a:r>
                    </a:p>
                  </a:txBody>
                  <a:tcPr/>
                </a:tc>
                <a:tc>
                  <a:txBody>
                    <a:bodyPr/>
                    <a:lstStyle/>
                    <a:p>
                      <a:r>
                        <a:rPr lang="pt-BR" sz="2800" dirty="0"/>
                        <a:t>Rotina</a:t>
                      </a:r>
                    </a:p>
                  </a:txBody>
                  <a:tcPr/>
                </a:tc>
                <a:extLst>
                  <a:ext uri="{0D108BD9-81ED-4DB2-BD59-A6C34878D82A}">
                    <a16:rowId xmlns:a16="http://schemas.microsoft.com/office/drawing/2014/main" val="2172629844"/>
                  </a:ext>
                </a:extLst>
              </a:tr>
              <a:tr h="370840">
                <a:tc>
                  <a:txBody>
                    <a:bodyPr/>
                    <a:lstStyle/>
                    <a:p>
                      <a:r>
                        <a:rPr lang="pt-BR" sz="2800" dirty="0"/>
                        <a:t>Busca novos impactos</a:t>
                      </a:r>
                    </a:p>
                  </a:txBody>
                  <a:tcPr/>
                </a:tc>
                <a:tc>
                  <a:txBody>
                    <a:bodyPr/>
                    <a:lstStyle/>
                    <a:p>
                      <a:r>
                        <a:rPr lang="pt-BR" sz="2800" dirty="0"/>
                        <a:t>Padrão conhecido</a:t>
                      </a:r>
                    </a:p>
                  </a:txBody>
                  <a:tcPr/>
                </a:tc>
                <a:extLst>
                  <a:ext uri="{0D108BD9-81ED-4DB2-BD59-A6C34878D82A}">
                    <a16:rowId xmlns:a16="http://schemas.microsoft.com/office/drawing/2014/main" val="2776363260"/>
                  </a:ext>
                </a:extLst>
              </a:tr>
            </a:tbl>
          </a:graphicData>
        </a:graphic>
      </p:graphicFrame>
    </p:spTree>
    <p:extLst>
      <p:ext uri="{BB962C8B-B14F-4D97-AF65-F5344CB8AC3E}">
        <p14:creationId xmlns:p14="http://schemas.microsoft.com/office/powerpoint/2010/main" val="19511125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6E1A05-D46D-9789-D21E-7C09D80780C2}"/>
              </a:ext>
            </a:extLst>
          </p:cNvPr>
          <p:cNvSpPr>
            <a:spLocks noGrp="1"/>
          </p:cNvSpPr>
          <p:nvPr>
            <p:ph type="title"/>
          </p:nvPr>
        </p:nvSpPr>
        <p:spPr/>
        <p:txBody>
          <a:bodyPr/>
          <a:lstStyle/>
          <a:p>
            <a:r>
              <a:rPr lang="pt-BR" dirty="0"/>
              <a:t>Portfólios, programas e (sub)projetos</a:t>
            </a:r>
          </a:p>
        </p:txBody>
      </p:sp>
      <p:pic>
        <p:nvPicPr>
          <p:cNvPr id="5" name="Espaço Reservado para Conteúdo 4">
            <a:extLst>
              <a:ext uri="{FF2B5EF4-FFF2-40B4-BE49-F238E27FC236}">
                <a16:creationId xmlns:a16="http://schemas.microsoft.com/office/drawing/2014/main" id="{560523D1-39BD-AFD2-9156-F53CE21E2B70}"/>
              </a:ext>
            </a:extLst>
          </p:cNvPr>
          <p:cNvPicPr>
            <a:picLocks noGrp="1" noChangeAspect="1"/>
          </p:cNvPicPr>
          <p:nvPr>
            <p:ph idx="1"/>
          </p:nvPr>
        </p:nvPicPr>
        <p:blipFill>
          <a:blip r:embed="rId2"/>
          <a:stretch>
            <a:fillRect/>
          </a:stretch>
        </p:blipFill>
        <p:spPr>
          <a:xfrm>
            <a:off x="838200" y="2384787"/>
            <a:ext cx="4553585" cy="2505425"/>
          </a:xfrm>
        </p:spPr>
      </p:pic>
      <p:pic>
        <p:nvPicPr>
          <p:cNvPr id="1026" name="Picture 2" descr="Projeto, programa e portfólio">
            <a:extLst>
              <a:ext uri="{FF2B5EF4-FFF2-40B4-BE49-F238E27FC236}">
                <a16:creationId xmlns:a16="http://schemas.microsoft.com/office/drawing/2014/main" id="{F86F41B5-73A0-F5D6-D03E-684665DC7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09504"/>
            <a:ext cx="5549759" cy="4283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561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A258C-D1C4-1C0D-8468-14C90D51FA2C}"/>
              </a:ext>
            </a:extLst>
          </p:cNvPr>
          <p:cNvSpPr>
            <a:spLocks noGrp="1"/>
          </p:cNvSpPr>
          <p:nvPr>
            <p:ph type="title"/>
          </p:nvPr>
        </p:nvSpPr>
        <p:spPr/>
        <p:txBody>
          <a:bodyPr/>
          <a:lstStyle/>
          <a:p>
            <a:r>
              <a:rPr lang="pt-BR" dirty="0"/>
              <a:t>Portfólios, programas e (sub)projetos</a:t>
            </a:r>
          </a:p>
        </p:txBody>
      </p:sp>
      <p:sp>
        <p:nvSpPr>
          <p:cNvPr id="3" name="Espaço Reservado para Conteúdo 2">
            <a:extLst>
              <a:ext uri="{FF2B5EF4-FFF2-40B4-BE49-F238E27FC236}">
                <a16:creationId xmlns:a16="http://schemas.microsoft.com/office/drawing/2014/main" id="{F9099ABF-A6E4-8025-FDDF-7814D0381E3C}"/>
              </a:ext>
            </a:extLst>
          </p:cNvPr>
          <p:cNvSpPr>
            <a:spLocks noGrp="1"/>
          </p:cNvSpPr>
          <p:nvPr>
            <p:ph idx="1"/>
          </p:nvPr>
        </p:nvSpPr>
        <p:spPr/>
        <p:txBody>
          <a:bodyPr/>
          <a:lstStyle/>
          <a:p>
            <a:r>
              <a:rPr lang="pt-BR" dirty="0"/>
              <a:t>Exemplo Petrobras</a:t>
            </a:r>
          </a:p>
          <a:p>
            <a:pPr lvl="1">
              <a:spcBef>
                <a:spcPts val="1800"/>
              </a:spcBef>
            </a:pPr>
            <a:r>
              <a:rPr lang="pt-BR" b="1" dirty="0"/>
              <a:t>Portfolio de projetos</a:t>
            </a:r>
            <a:r>
              <a:rPr lang="pt-BR" dirty="0"/>
              <a:t>: estratégia para projetos relacionados a exploração no </a:t>
            </a:r>
            <a:r>
              <a:rPr lang="pt-BR" dirty="0" err="1"/>
              <a:t>pré</a:t>
            </a:r>
            <a:r>
              <a:rPr lang="pt-BR" dirty="0"/>
              <a:t>-sal, transição energética, gás, infraestrutura submarina...</a:t>
            </a:r>
          </a:p>
          <a:p>
            <a:pPr lvl="1">
              <a:spcBef>
                <a:spcPts val="1800"/>
              </a:spcBef>
            </a:pPr>
            <a:r>
              <a:rPr lang="pt-BR" b="1" dirty="0"/>
              <a:t>Programas</a:t>
            </a:r>
            <a:r>
              <a:rPr lang="pt-BR" dirty="0"/>
              <a:t>: transformação digital, robótica, dentre outros de engenharia</a:t>
            </a:r>
          </a:p>
          <a:p>
            <a:pPr lvl="1">
              <a:spcBef>
                <a:spcPts val="1800"/>
              </a:spcBef>
            </a:pPr>
            <a:r>
              <a:rPr lang="pt-BR" b="1" dirty="0"/>
              <a:t>Projetos</a:t>
            </a:r>
            <a:r>
              <a:rPr lang="pt-BR" dirty="0"/>
              <a:t>: </a:t>
            </a:r>
            <a:r>
              <a:rPr lang="pt-BR" dirty="0" err="1"/>
              <a:t>chatbot</a:t>
            </a:r>
            <a:r>
              <a:rPr lang="pt-BR" dirty="0"/>
              <a:t>, mineração de dados, etc.</a:t>
            </a:r>
          </a:p>
        </p:txBody>
      </p:sp>
      <p:sp>
        <p:nvSpPr>
          <p:cNvPr id="4" name="Retângulo 3">
            <a:extLst>
              <a:ext uri="{FF2B5EF4-FFF2-40B4-BE49-F238E27FC236}">
                <a16:creationId xmlns:a16="http://schemas.microsoft.com/office/drawing/2014/main" id="{84F86636-BE74-A1F0-C797-CC10B39F44D5}"/>
              </a:ext>
            </a:extLst>
          </p:cNvPr>
          <p:cNvSpPr/>
          <p:nvPr/>
        </p:nvSpPr>
        <p:spPr>
          <a:xfrm>
            <a:off x="3573863" y="5007094"/>
            <a:ext cx="5044274" cy="105206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pt-BR" sz="2400" b="1" dirty="0"/>
              <a:t>Projeto </a:t>
            </a:r>
            <a:r>
              <a:rPr lang="pt-BR" sz="2400" dirty="0"/>
              <a:t>faz entregas</a:t>
            </a:r>
            <a:r>
              <a:rPr lang="pt-BR" sz="2400" b="1" dirty="0"/>
              <a:t>, Programa </a:t>
            </a:r>
            <a:r>
              <a:rPr lang="pt-BR" sz="2400" dirty="0"/>
              <a:t>gera benefícios</a:t>
            </a:r>
            <a:r>
              <a:rPr lang="pt-BR" sz="2400" b="1" dirty="0"/>
              <a:t>, Portfólio </a:t>
            </a:r>
            <a:r>
              <a:rPr lang="pt-BR" sz="2400" dirty="0"/>
              <a:t>direciona a estratégia</a:t>
            </a:r>
          </a:p>
        </p:txBody>
      </p:sp>
    </p:spTree>
    <p:extLst>
      <p:ext uri="{BB962C8B-B14F-4D97-AF65-F5344CB8AC3E}">
        <p14:creationId xmlns:p14="http://schemas.microsoft.com/office/powerpoint/2010/main" val="1848452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92F70-2C0D-3204-DACF-D8935A5630A6}"/>
            </a:ext>
          </a:extLst>
        </p:cNvPr>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1E3244BC-1A58-7DDD-9620-6A5F49E0545F}"/>
              </a:ext>
            </a:extLst>
          </p:cNvPr>
          <p:cNvSpPr>
            <a:spLocks noGrp="1"/>
          </p:cNvSpPr>
          <p:nvPr>
            <p:ph idx="1"/>
          </p:nvPr>
        </p:nvSpPr>
        <p:spPr/>
        <p:txBody>
          <a:bodyPr>
            <a:normAutofit/>
          </a:bodyPr>
          <a:lstStyle/>
          <a:p>
            <a:pPr marL="914400" lvl="1" indent="-457200">
              <a:buFont typeface="+mj-lt"/>
              <a:buAutoNum type="arabicPeriod"/>
            </a:pPr>
            <a:r>
              <a:rPr lang="pt-BR" dirty="0"/>
              <a:t>Conexão com a Engenharia de Software</a:t>
            </a:r>
          </a:p>
          <a:p>
            <a:pPr marL="914400" lvl="1" indent="-457200">
              <a:buFont typeface="+mj-lt"/>
              <a:buAutoNum type="arabicPeriod"/>
            </a:pPr>
            <a:r>
              <a:rPr lang="pt-BR" dirty="0"/>
              <a:t>Complexidade do software</a:t>
            </a:r>
          </a:p>
          <a:p>
            <a:pPr marL="914400" lvl="1" indent="-457200">
              <a:buFont typeface="+mj-lt"/>
              <a:buAutoNum type="arabicPeriod"/>
            </a:pPr>
            <a:r>
              <a:rPr lang="pt-BR" dirty="0"/>
              <a:t>Introdução à gestão de projetos de software</a:t>
            </a:r>
          </a:p>
          <a:p>
            <a:pPr marL="914400" lvl="1" indent="-457200">
              <a:buFont typeface="+mj-lt"/>
              <a:buAutoNum type="arabicPeriod"/>
            </a:pPr>
            <a:r>
              <a:rPr lang="pt-BR" b="1" dirty="0"/>
              <a:t>Papel do gerente de projeto</a:t>
            </a:r>
          </a:p>
          <a:p>
            <a:endParaRPr lang="pt-BR" dirty="0"/>
          </a:p>
          <a:p>
            <a:endParaRPr lang="pt-BR" dirty="0"/>
          </a:p>
        </p:txBody>
      </p:sp>
      <p:sp>
        <p:nvSpPr>
          <p:cNvPr id="2" name="Título 1">
            <a:extLst>
              <a:ext uri="{FF2B5EF4-FFF2-40B4-BE49-F238E27FC236}">
                <a16:creationId xmlns:a16="http://schemas.microsoft.com/office/drawing/2014/main" id="{AF1EF908-A99C-6E5D-D1AC-CF470B2FEA8F}"/>
              </a:ext>
            </a:extLst>
          </p:cNvPr>
          <p:cNvSpPr>
            <a:spLocks noGrp="1"/>
          </p:cNvSpPr>
          <p:nvPr>
            <p:ph type="title"/>
          </p:nvPr>
        </p:nvSpPr>
        <p:spPr/>
        <p:txBody>
          <a:bodyPr/>
          <a:lstStyle/>
          <a:p>
            <a:r>
              <a:rPr lang="pt-BR" dirty="0"/>
              <a:t>Objetivos de hoje:</a:t>
            </a:r>
          </a:p>
        </p:txBody>
      </p:sp>
      <p:sp>
        <p:nvSpPr>
          <p:cNvPr id="9" name="Retângulo 8">
            <a:extLst>
              <a:ext uri="{FF2B5EF4-FFF2-40B4-BE49-F238E27FC236}">
                <a16:creationId xmlns:a16="http://schemas.microsoft.com/office/drawing/2014/main" id="{E78ED610-A456-2A59-BF4A-1507AEBC4A22}"/>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24019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0BA341-3325-409B-279D-7B743E87C3AC}"/>
              </a:ext>
            </a:extLst>
          </p:cNvPr>
          <p:cNvSpPr>
            <a:spLocks noGrp="1"/>
          </p:cNvSpPr>
          <p:nvPr>
            <p:ph type="title"/>
          </p:nvPr>
        </p:nvSpPr>
        <p:spPr/>
        <p:txBody>
          <a:bodyPr/>
          <a:lstStyle/>
          <a:p>
            <a:r>
              <a:rPr lang="pt-BR" dirty="0"/>
              <a:t>Conceituação</a:t>
            </a:r>
          </a:p>
        </p:txBody>
      </p:sp>
      <p:sp>
        <p:nvSpPr>
          <p:cNvPr id="3" name="Espaço Reservado para Conteúdo 2">
            <a:extLst>
              <a:ext uri="{FF2B5EF4-FFF2-40B4-BE49-F238E27FC236}">
                <a16:creationId xmlns:a16="http://schemas.microsoft.com/office/drawing/2014/main" id="{A38B5CA0-F1C5-45BF-F2C0-F549E3E29202}"/>
              </a:ext>
            </a:extLst>
          </p:cNvPr>
          <p:cNvSpPr>
            <a:spLocks noGrp="1"/>
          </p:cNvSpPr>
          <p:nvPr>
            <p:ph idx="1"/>
          </p:nvPr>
        </p:nvSpPr>
        <p:spPr/>
        <p:txBody>
          <a:bodyPr>
            <a:normAutofit fontScale="85000" lnSpcReduction="20000"/>
          </a:bodyPr>
          <a:lstStyle/>
          <a:p>
            <a:r>
              <a:rPr lang="pt-BR" dirty="0"/>
              <a:t>Atividades/tarefas</a:t>
            </a:r>
          </a:p>
          <a:p>
            <a:pPr lvl="1"/>
            <a:r>
              <a:rPr lang="pt-BR" dirty="0"/>
              <a:t>O que deve ser feito</a:t>
            </a:r>
          </a:p>
          <a:p>
            <a:pPr lvl="2"/>
            <a:r>
              <a:rPr lang="pt-BR" dirty="0" err="1"/>
              <a:t>Ex</a:t>
            </a:r>
            <a:r>
              <a:rPr lang="pt-BR" dirty="0"/>
              <a:t>: elaborar e monitorar cronograma do projeto</a:t>
            </a:r>
          </a:p>
          <a:p>
            <a:pPr>
              <a:spcBef>
                <a:spcPts val="2400"/>
              </a:spcBef>
            </a:pPr>
            <a:r>
              <a:rPr lang="pt-BR" dirty="0"/>
              <a:t>Papel</a:t>
            </a:r>
          </a:p>
          <a:p>
            <a:pPr lvl="1"/>
            <a:r>
              <a:rPr lang="pt-BR" dirty="0"/>
              <a:t>Função dentro do projeto, varia conforme método de trabalho, realiza tarefas</a:t>
            </a:r>
          </a:p>
          <a:p>
            <a:pPr lvl="2"/>
            <a:r>
              <a:rPr lang="pt-BR" dirty="0" err="1"/>
              <a:t>Ex</a:t>
            </a:r>
            <a:r>
              <a:rPr lang="pt-BR" dirty="0"/>
              <a:t>: </a:t>
            </a:r>
            <a:r>
              <a:rPr lang="pt-BR" dirty="0" err="1"/>
              <a:t>ScrumMaster</a:t>
            </a:r>
            <a:r>
              <a:rPr lang="pt-BR" dirty="0"/>
              <a:t>, Gerente de Projeto, Analista</a:t>
            </a:r>
          </a:p>
          <a:p>
            <a:pPr>
              <a:spcBef>
                <a:spcPts val="2400"/>
              </a:spcBef>
            </a:pPr>
            <a:r>
              <a:rPr lang="pt-BR" dirty="0"/>
              <a:t>Cargo</a:t>
            </a:r>
          </a:p>
          <a:p>
            <a:pPr lvl="1"/>
            <a:r>
              <a:rPr lang="pt-BR" dirty="0"/>
              <a:t>Título da pessoa na estrutura organizacional (organograma)</a:t>
            </a:r>
          </a:p>
          <a:p>
            <a:pPr lvl="2"/>
            <a:r>
              <a:rPr lang="pt-BR" dirty="0" err="1"/>
              <a:t>Ex</a:t>
            </a:r>
            <a:r>
              <a:rPr lang="pt-BR" dirty="0"/>
              <a:t>: Coordenador de TI, Analista de BD sênior</a:t>
            </a:r>
          </a:p>
          <a:p>
            <a:pPr>
              <a:spcBef>
                <a:spcPts val="2400"/>
              </a:spcBef>
            </a:pPr>
            <a:r>
              <a:rPr lang="pt-BR" dirty="0"/>
              <a:t>Ocupação</a:t>
            </a:r>
          </a:p>
          <a:p>
            <a:pPr lvl="1"/>
            <a:r>
              <a:rPr lang="pt-BR" dirty="0"/>
              <a:t>Atividade profissional em sentido mais amplo (autoridade técnica/administrativa)</a:t>
            </a:r>
          </a:p>
          <a:p>
            <a:pPr lvl="2"/>
            <a:r>
              <a:rPr lang="pt-BR" dirty="0" err="1"/>
              <a:t>Ex</a:t>
            </a:r>
            <a:r>
              <a:rPr lang="pt-BR" dirty="0"/>
              <a:t>: Gerente de Projetos de TI (</a:t>
            </a:r>
            <a:r>
              <a:rPr lang="pt-BR" dirty="0">
                <a:hlinkClick r:id="rId3"/>
              </a:rPr>
              <a:t>CBO categorias 1425 e 2124 Brasil</a:t>
            </a:r>
            <a:r>
              <a:rPr lang="pt-BR" dirty="0"/>
              <a:t>)</a:t>
            </a:r>
          </a:p>
        </p:txBody>
      </p:sp>
    </p:spTree>
    <p:extLst>
      <p:ext uri="{BB962C8B-B14F-4D97-AF65-F5344CB8AC3E}">
        <p14:creationId xmlns:p14="http://schemas.microsoft.com/office/powerpoint/2010/main" val="383799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Effect transition="in" filter="fade">
                                      <p:cBhvr>
                                        <p:cTn id="26" dur="500"/>
                                        <p:tgtEl>
                                          <p:spTgt spid="3">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Effect transition="in" filter="fade">
                                      <p:cBhvr>
                                        <p:cTn id="31" dur="500"/>
                                        <p:tgtEl>
                                          <p:spTgt spid="3">
                                            <p:txEl>
                                              <p:pRg st="10" end="1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1" end="11"/>
                                            </p:txEl>
                                          </p:spTgt>
                                        </p:tgtEl>
                                        <p:attrNameLst>
                                          <p:attrName>style.visibility</p:attrName>
                                        </p:attrNameLst>
                                      </p:cBhvr>
                                      <p:to>
                                        <p:strVal val="visible"/>
                                      </p:to>
                                    </p:set>
                                    <p:animEffect transition="in" filter="fade">
                                      <p:cBhvr>
                                        <p:cTn id="34"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4551F9-22CA-5247-1504-4EC8CDB61A74}"/>
              </a:ext>
            </a:extLst>
          </p:cNvPr>
          <p:cNvSpPr>
            <a:spLocks noGrp="1"/>
          </p:cNvSpPr>
          <p:nvPr>
            <p:ph type="title"/>
          </p:nvPr>
        </p:nvSpPr>
        <p:spPr/>
        <p:txBody>
          <a:bodyPr/>
          <a:lstStyle/>
          <a:p>
            <a:r>
              <a:rPr lang="pt-BR" dirty="0"/>
              <a:t>Papel do Gestor de Projetos</a:t>
            </a:r>
          </a:p>
        </p:txBody>
      </p:sp>
      <p:sp>
        <p:nvSpPr>
          <p:cNvPr id="3" name="Espaço Reservado para Conteúdo 2">
            <a:extLst>
              <a:ext uri="{FF2B5EF4-FFF2-40B4-BE49-F238E27FC236}">
                <a16:creationId xmlns:a16="http://schemas.microsoft.com/office/drawing/2014/main" id="{E2CCA20C-B4F3-1A14-97CF-D49E7F78F8FD}"/>
              </a:ext>
            </a:extLst>
          </p:cNvPr>
          <p:cNvSpPr>
            <a:spLocks noGrp="1"/>
          </p:cNvSpPr>
          <p:nvPr>
            <p:ph idx="1"/>
          </p:nvPr>
        </p:nvSpPr>
        <p:spPr/>
        <p:txBody>
          <a:bodyPr/>
          <a:lstStyle/>
          <a:p>
            <a:r>
              <a:rPr lang="pt-BR" dirty="0"/>
              <a:t>O GP não faz o produto - ele viabiliza a entrega</a:t>
            </a:r>
          </a:p>
          <a:p>
            <a:r>
              <a:rPr lang="pt-BR" dirty="0"/>
              <a:t>Gerencia restrições (trade-</a:t>
            </a:r>
            <a:r>
              <a:rPr lang="pt-BR" dirty="0" err="1"/>
              <a:t>offs</a:t>
            </a:r>
            <a:r>
              <a:rPr lang="pt-BR" dirty="0"/>
              <a:t>)</a:t>
            </a:r>
          </a:p>
          <a:p>
            <a:r>
              <a:rPr lang="pt-BR" dirty="0"/>
              <a:t>Gerencia pessoas e stakeholders</a:t>
            </a:r>
          </a:p>
          <a:p>
            <a:r>
              <a:rPr lang="pt-BR" dirty="0"/>
              <a:t>Lida com incerteza e risco</a:t>
            </a:r>
          </a:p>
          <a:p>
            <a:r>
              <a:rPr lang="pt-BR" dirty="0"/>
              <a:t>Integra planejamento e execução</a:t>
            </a:r>
          </a:p>
          <a:p>
            <a:r>
              <a:rPr lang="pt-BR" dirty="0"/>
              <a:t>Atua como ponte entre estratégia e operação</a:t>
            </a:r>
          </a:p>
          <a:p>
            <a:r>
              <a:rPr lang="pt-BR" dirty="0"/>
              <a:t>Em software: menos comando, mais facilitação</a:t>
            </a:r>
          </a:p>
        </p:txBody>
      </p:sp>
    </p:spTree>
    <p:extLst>
      <p:ext uri="{BB962C8B-B14F-4D97-AF65-F5344CB8AC3E}">
        <p14:creationId xmlns:p14="http://schemas.microsoft.com/office/powerpoint/2010/main" val="4294540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80DFE8-CEBF-0127-4E24-D7228159894D}"/>
              </a:ext>
            </a:extLst>
          </p:cNvPr>
          <p:cNvSpPr>
            <a:spLocks noGrp="1"/>
          </p:cNvSpPr>
          <p:nvPr>
            <p:ph type="title"/>
          </p:nvPr>
        </p:nvSpPr>
        <p:spPr/>
        <p:txBody>
          <a:bodyPr/>
          <a:lstStyle/>
          <a:p>
            <a:r>
              <a:rPr lang="pt-BR" dirty="0"/>
              <a:t>Papel do Gerente de projetos</a:t>
            </a:r>
          </a:p>
        </p:txBody>
      </p:sp>
      <p:sp>
        <p:nvSpPr>
          <p:cNvPr id="3" name="Espaço Reservado para Conteúdo 2">
            <a:extLst>
              <a:ext uri="{FF2B5EF4-FFF2-40B4-BE49-F238E27FC236}">
                <a16:creationId xmlns:a16="http://schemas.microsoft.com/office/drawing/2014/main" id="{B7D16568-C769-2F66-6C52-C0D2004E2999}"/>
              </a:ext>
            </a:extLst>
          </p:cNvPr>
          <p:cNvSpPr>
            <a:spLocks noGrp="1"/>
          </p:cNvSpPr>
          <p:nvPr>
            <p:ph idx="1"/>
          </p:nvPr>
        </p:nvSpPr>
        <p:spPr/>
        <p:txBody>
          <a:bodyPr/>
          <a:lstStyle/>
          <a:p>
            <a:endParaRPr lang="pt-BR"/>
          </a:p>
        </p:txBody>
      </p:sp>
      <p:pic>
        <p:nvPicPr>
          <p:cNvPr id="5" name="Imagem 4">
            <a:extLst>
              <a:ext uri="{FF2B5EF4-FFF2-40B4-BE49-F238E27FC236}">
                <a16:creationId xmlns:a16="http://schemas.microsoft.com/office/drawing/2014/main" id="{58075D9B-ABF3-5F42-BF3E-EA7E76829130}"/>
              </a:ext>
            </a:extLst>
          </p:cNvPr>
          <p:cNvPicPr>
            <a:picLocks noChangeAspect="1"/>
          </p:cNvPicPr>
          <p:nvPr/>
        </p:nvPicPr>
        <p:blipFill>
          <a:blip r:embed="rId2"/>
          <a:stretch>
            <a:fillRect/>
          </a:stretch>
        </p:blipFill>
        <p:spPr>
          <a:xfrm>
            <a:off x="1451044" y="1690688"/>
            <a:ext cx="8931821" cy="4473814"/>
          </a:xfrm>
          <a:prstGeom prst="rect">
            <a:avLst/>
          </a:prstGeom>
        </p:spPr>
      </p:pic>
    </p:spTree>
    <p:extLst>
      <p:ext uri="{BB962C8B-B14F-4D97-AF65-F5344CB8AC3E}">
        <p14:creationId xmlns:p14="http://schemas.microsoft.com/office/powerpoint/2010/main" val="27491863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82488F-B989-F019-9789-CA475A02D2DB}"/>
              </a:ext>
            </a:extLst>
          </p:cNvPr>
          <p:cNvSpPr>
            <a:spLocks noGrp="1"/>
          </p:cNvSpPr>
          <p:nvPr>
            <p:ph type="title"/>
          </p:nvPr>
        </p:nvSpPr>
        <p:spPr/>
        <p:txBody>
          <a:bodyPr/>
          <a:lstStyle/>
          <a:p>
            <a:r>
              <a:rPr lang="pt-BR" dirty="0"/>
              <a:t>Papel do Gerente de projetos</a:t>
            </a:r>
          </a:p>
        </p:txBody>
      </p:sp>
      <p:sp>
        <p:nvSpPr>
          <p:cNvPr id="3" name="Espaço Reservado para Conteúdo 2">
            <a:extLst>
              <a:ext uri="{FF2B5EF4-FFF2-40B4-BE49-F238E27FC236}">
                <a16:creationId xmlns:a16="http://schemas.microsoft.com/office/drawing/2014/main" id="{626CB8B3-07E6-CE27-C647-2D591EB67EA2}"/>
              </a:ext>
            </a:extLst>
          </p:cNvPr>
          <p:cNvSpPr>
            <a:spLocks noGrp="1"/>
          </p:cNvSpPr>
          <p:nvPr>
            <p:ph idx="1"/>
          </p:nvPr>
        </p:nvSpPr>
        <p:spPr/>
        <p:txBody>
          <a:bodyPr>
            <a:normAutofit lnSpcReduction="10000"/>
          </a:bodyPr>
          <a:lstStyle/>
          <a:p>
            <a:r>
              <a:rPr lang="pt-BR" dirty="0"/>
              <a:t>Profissional responsável por </a:t>
            </a:r>
            <a:r>
              <a:rPr lang="pt-BR" b="1" dirty="0"/>
              <a:t>coordenar</a:t>
            </a:r>
            <a:r>
              <a:rPr lang="pt-BR" dirty="0"/>
              <a:t> a mobilização dos recursos para atingir os objetivos e expectativas</a:t>
            </a:r>
          </a:p>
          <a:p>
            <a:pPr>
              <a:spcBef>
                <a:spcPts val="2400"/>
              </a:spcBef>
            </a:pPr>
            <a:r>
              <a:rPr lang="pt-BR" dirty="0"/>
              <a:t>Raramente atua nas </a:t>
            </a:r>
            <a:r>
              <a:rPr lang="pt-BR" b="1" dirty="0"/>
              <a:t>atividades diretas </a:t>
            </a:r>
            <a:r>
              <a:rPr lang="pt-BR" dirty="0"/>
              <a:t>que produzem resultados do projeto</a:t>
            </a:r>
          </a:p>
          <a:p>
            <a:pPr>
              <a:spcBef>
                <a:spcPts val="2400"/>
              </a:spcBef>
            </a:pPr>
            <a:r>
              <a:rPr lang="pt-BR" dirty="0"/>
              <a:t>Função: gerenciar o </a:t>
            </a:r>
            <a:r>
              <a:rPr lang="pt-BR" b="1" dirty="0"/>
              <a:t>progresso</a:t>
            </a:r>
            <a:r>
              <a:rPr lang="pt-BR" dirty="0"/>
              <a:t> do empreendimento </a:t>
            </a:r>
            <a:r>
              <a:rPr lang="pt-BR" b="1" dirty="0"/>
              <a:t>conforme o plano </a:t>
            </a:r>
            <a:r>
              <a:rPr lang="pt-BR" dirty="0"/>
              <a:t>e verificar/remediar seus desvios</a:t>
            </a:r>
          </a:p>
          <a:p>
            <a:pPr>
              <a:spcBef>
                <a:spcPts val="2400"/>
              </a:spcBef>
            </a:pPr>
            <a:r>
              <a:rPr lang="pt-BR" dirty="0"/>
              <a:t>Responsabilidades</a:t>
            </a:r>
          </a:p>
          <a:p>
            <a:pPr lvl="1"/>
            <a:r>
              <a:rPr lang="pt-BR" dirty="0"/>
              <a:t>Atendimento de </a:t>
            </a:r>
            <a:r>
              <a:rPr lang="pt-BR" b="1" dirty="0"/>
              <a:t>necessidades</a:t>
            </a:r>
            <a:r>
              <a:rPr lang="pt-BR" dirty="0"/>
              <a:t>: tarefas, equipe, individuais</a:t>
            </a:r>
          </a:p>
          <a:p>
            <a:pPr lvl="1"/>
            <a:r>
              <a:rPr lang="pt-BR" dirty="0"/>
              <a:t>Elo entre </a:t>
            </a:r>
            <a:r>
              <a:rPr lang="pt-BR" b="1" dirty="0"/>
              <a:t>estratégia</a:t>
            </a:r>
            <a:r>
              <a:rPr lang="pt-BR" dirty="0"/>
              <a:t> organizacional e equipe do projeto</a:t>
            </a:r>
          </a:p>
          <a:p>
            <a:endParaRPr lang="pt-BR" dirty="0"/>
          </a:p>
        </p:txBody>
      </p:sp>
    </p:spTree>
    <p:extLst>
      <p:ext uri="{BB962C8B-B14F-4D97-AF65-F5344CB8AC3E}">
        <p14:creationId xmlns:p14="http://schemas.microsoft.com/office/powerpoint/2010/main" val="675052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942D0A-169B-0297-3D04-34176E3237F3}"/>
              </a:ext>
            </a:extLst>
          </p:cNvPr>
          <p:cNvSpPr>
            <a:spLocks noGrp="1"/>
          </p:cNvSpPr>
          <p:nvPr>
            <p:ph type="title"/>
          </p:nvPr>
        </p:nvSpPr>
        <p:spPr/>
        <p:txBody>
          <a:bodyPr/>
          <a:lstStyle/>
          <a:p>
            <a:r>
              <a:rPr lang="pt-BR" dirty="0"/>
              <a:t>Papel do GP numa organização</a:t>
            </a:r>
          </a:p>
        </p:txBody>
      </p:sp>
      <p:sp>
        <p:nvSpPr>
          <p:cNvPr id="3" name="Espaço Reservado para Conteúdo 2">
            <a:extLst>
              <a:ext uri="{FF2B5EF4-FFF2-40B4-BE49-F238E27FC236}">
                <a16:creationId xmlns:a16="http://schemas.microsoft.com/office/drawing/2014/main" id="{88853D1D-D8AD-793C-EAA2-D9DA2550309C}"/>
              </a:ext>
            </a:extLst>
          </p:cNvPr>
          <p:cNvSpPr>
            <a:spLocks noGrp="1"/>
          </p:cNvSpPr>
          <p:nvPr>
            <p:ph idx="1"/>
          </p:nvPr>
        </p:nvSpPr>
        <p:spPr/>
        <p:txBody>
          <a:bodyPr>
            <a:normAutofit/>
          </a:bodyPr>
          <a:lstStyle/>
          <a:p>
            <a:r>
              <a:rPr lang="pt-BR" dirty="0"/>
              <a:t>Depende da </a:t>
            </a:r>
            <a:r>
              <a:rPr lang="pt-BR" b="1" dirty="0"/>
              <a:t>estrutura organizacional</a:t>
            </a:r>
          </a:p>
          <a:p>
            <a:pPr lvl="1">
              <a:spcBef>
                <a:spcPts val="1800"/>
              </a:spcBef>
            </a:pPr>
            <a:r>
              <a:rPr lang="pt-BR" dirty="0"/>
              <a:t>Forma como uma empresa organiza, divide e coordena as pessoas para desempenhar suas atividades</a:t>
            </a:r>
          </a:p>
          <a:p>
            <a:pPr lvl="1">
              <a:spcBef>
                <a:spcPts val="1800"/>
              </a:spcBef>
            </a:pPr>
            <a:r>
              <a:rPr lang="pt-BR" dirty="0"/>
              <a:t>Funcionamento articulado, uma complementando a outra</a:t>
            </a:r>
          </a:p>
          <a:p>
            <a:pPr lvl="1">
              <a:spcBef>
                <a:spcPts val="1800"/>
              </a:spcBef>
            </a:pPr>
            <a:r>
              <a:rPr lang="pt-BR" dirty="0"/>
              <a:t>Define as </a:t>
            </a:r>
            <a:r>
              <a:rPr lang="pt-BR" b="1" dirty="0"/>
              <a:t>autoridades</a:t>
            </a:r>
            <a:r>
              <a:rPr lang="pt-BR" dirty="0"/>
              <a:t> e </a:t>
            </a:r>
            <a:r>
              <a:rPr lang="pt-BR" b="1" dirty="0"/>
              <a:t>responsabilidades</a:t>
            </a:r>
            <a:r>
              <a:rPr lang="pt-BR" dirty="0"/>
              <a:t> em níveis departamentais e pessoais;</a:t>
            </a:r>
          </a:p>
          <a:p>
            <a:pPr lvl="1">
              <a:spcBef>
                <a:spcPts val="1800"/>
              </a:spcBef>
            </a:pPr>
            <a:r>
              <a:rPr lang="pt-BR" dirty="0"/>
              <a:t>Continuamento ajustada à </a:t>
            </a:r>
            <a:r>
              <a:rPr lang="pt-BR" b="1" dirty="0"/>
              <a:t>estratégia </a:t>
            </a:r>
            <a:r>
              <a:rPr lang="pt-BR" dirty="0"/>
              <a:t>das empresas</a:t>
            </a:r>
          </a:p>
        </p:txBody>
      </p:sp>
    </p:spTree>
    <p:extLst>
      <p:ext uri="{BB962C8B-B14F-4D97-AF65-F5344CB8AC3E}">
        <p14:creationId xmlns:p14="http://schemas.microsoft.com/office/powerpoint/2010/main" val="40722847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9F58BC-F871-322A-11A8-0B7C30F751BC}"/>
              </a:ext>
            </a:extLst>
          </p:cNvPr>
          <p:cNvSpPr>
            <a:spLocks noGrp="1"/>
          </p:cNvSpPr>
          <p:nvPr>
            <p:ph type="title"/>
          </p:nvPr>
        </p:nvSpPr>
        <p:spPr/>
        <p:txBody>
          <a:bodyPr/>
          <a:lstStyle/>
          <a:p>
            <a:r>
              <a:rPr lang="pt-BR" dirty="0"/>
              <a:t>Estruturas organizacionais</a:t>
            </a:r>
          </a:p>
        </p:txBody>
      </p:sp>
      <p:sp>
        <p:nvSpPr>
          <p:cNvPr id="3" name="Espaço Reservado para Conteúdo 2">
            <a:extLst>
              <a:ext uri="{FF2B5EF4-FFF2-40B4-BE49-F238E27FC236}">
                <a16:creationId xmlns:a16="http://schemas.microsoft.com/office/drawing/2014/main" id="{FADF30CA-9683-58FC-539F-2EBDCE3EF4AE}"/>
              </a:ext>
            </a:extLst>
          </p:cNvPr>
          <p:cNvSpPr>
            <a:spLocks noGrp="1"/>
          </p:cNvSpPr>
          <p:nvPr>
            <p:ph idx="1"/>
          </p:nvPr>
        </p:nvSpPr>
        <p:spPr/>
        <p:txBody>
          <a:bodyPr/>
          <a:lstStyle/>
          <a:p>
            <a:r>
              <a:rPr lang="pt-BR" dirty="0"/>
              <a:t>Funcional</a:t>
            </a:r>
          </a:p>
        </p:txBody>
      </p:sp>
      <p:pic>
        <p:nvPicPr>
          <p:cNvPr id="2050" name="Picture 2">
            <a:extLst>
              <a:ext uri="{FF2B5EF4-FFF2-40B4-BE49-F238E27FC236}">
                <a16:creationId xmlns:a16="http://schemas.microsoft.com/office/drawing/2014/main" id="{A6F047D2-0D28-3DB6-80A6-C5F47FA4B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710" y="1581253"/>
            <a:ext cx="7121961" cy="4840081"/>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423A4291-E127-E3AA-DA3F-219CD1EF21DF}"/>
              </a:ext>
            </a:extLst>
          </p:cNvPr>
          <p:cNvSpPr txBox="1"/>
          <p:nvPr/>
        </p:nvSpPr>
        <p:spPr>
          <a:xfrm>
            <a:off x="133813" y="6504806"/>
            <a:ext cx="11887201" cy="307777"/>
          </a:xfrm>
          <a:prstGeom prst="rect">
            <a:avLst/>
          </a:prstGeom>
          <a:noFill/>
        </p:spPr>
        <p:txBody>
          <a:bodyPr wrap="square">
            <a:spAutoFit/>
          </a:bodyPr>
          <a:lstStyle/>
          <a:p>
            <a:pPr algn="ctr"/>
            <a:r>
              <a:rPr lang="pt-BR" sz="1400" dirty="0">
                <a:hlinkClick r:id="rId3"/>
              </a:rPr>
              <a:t>https://gerentesdeprojetos.com/2021/05/27/visao-geral-sobre-estruturas-organizacionais-na-gestao-de-projetos/</a:t>
            </a:r>
            <a:r>
              <a:rPr lang="pt-BR" sz="1400" dirty="0"/>
              <a:t> </a:t>
            </a:r>
          </a:p>
        </p:txBody>
      </p:sp>
    </p:spTree>
    <p:extLst>
      <p:ext uri="{BB962C8B-B14F-4D97-AF65-F5344CB8AC3E}">
        <p14:creationId xmlns:p14="http://schemas.microsoft.com/office/powerpoint/2010/main" val="30429469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9F58BC-F871-322A-11A8-0B7C30F751BC}"/>
              </a:ext>
            </a:extLst>
          </p:cNvPr>
          <p:cNvSpPr>
            <a:spLocks noGrp="1"/>
          </p:cNvSpPr>
          <p:nvPr>
            <p:ph type="title"/>
          </p:nvPr>
        </p:nvSpPr>
        <p:spPr/>
        <p:txBody>
          <a:bodyPr/>
          <a:lstStyle/>
          <a:p>
            <a:r>
              <a:rPr lang="pt-BR" dirty="0"/>
              <a:t>Estruturas organizacionais</a:t>
            </a:r>
          </a:p>
        </p:txBody>
      </p:sp>
      <p:sp>
        <p:nvSpPr>
          <p:cNvPr id="3" name="Espaço Reservado para Conteúdo 2">
            <a:extLst>
              <a:ext uri="{FF2B5EF4-FFF2-40B4-BE49-F238E27FC236}">
                <a16:creationId xmlns:a16="http://schemas.microsoft.com/office/drawing/2014/main" id="{FADF30CA-9683-58FC-539F-2EBDCE3EF4AE}"/>
              </a:ext>
            </a:extLst>
          </p:cNvPr>
          <p:cNvSpPr>
            <a:spLocks noGrp="1"/>
          </p:cNvSpPr>
          <p:nvPr>
            <p:ph idx="1"/>
          </p:nvPr>
        </p:nvSpPr>
        <p:spPr/>
        <p:txBody>
          <a:bodyPr/>
          <a:lstStyle/>
          <a:p>
            <a:r>
              <a:rPr lang="pt-BR" dirty="0"/>
              <a:t>Projetizada</a:t>
            </a:r>
          </a:p>
        </p:txBody>
      </p:sp>
      <p:pic>
        <p:nvPicPr>
          <p:cNvPr id="3074" name="Picture 2">
            <a:extLst>
              <a:ext uri="{FF2B5EF4-FFF2-40B4-BE49-F238E27FC236}">
                <a16:creationId xmlns:a16="http://schemas.microsoft.com/office/drawing/2014/main" id="{4EFB3B1C-0CFF-65CE-89FE-912A29CFD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5192" y="2465286"/>
            <a:ext cx="9928608" cy="3561888"/>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7FD07313-95EB-89C3-D030-9A9AE7D6AA10}"/>
              </a:ext>
            </a:extLst>
          </p:cNvPr>
          <p:cNvSpPr txBox="1"/>
          <p:nvPr/>
        </p:nvSpPr>
        <p:spPr>
          <a:xfrm>
            <a:off x="133813" y="6504806"/>
            <a:ext cx="11887201" cy="307777"/>
          </a:xfrm>
          <a:prstGeom prst="rect">
            <a:avLst/>
          </a:prstGeom>
          <a:noFill/>
        </p:spPr>
        <p:txBody>
          <a:bodyPr wrap="square">
            <a:spAutoFit/>
          </a:bodyPr>
          <a:lstStyle/>
          <a:p>
            <a:pPr algn="ctr"/>
            <a:r>
              <a:rPr lang="pt-BR" sz="1400" dirty="0">
                <a:hlinkClick r:id="rId3"/>
              </a:rPr>
              <a:t>https://gerentesdeprojetos.com/2021/05/27/visao-geral-sobre-estruturas-organizacionais-na-gestao-de-projetos/</a:t>
            </a:r>
            <a:r>
              <a:rPr lang="pt-BR" sz="1400" dirty="0"/>
              <a:t> </a:t>
            </a:r>
          </a:p>
        </p:txBody>
      </p:sp>
    </p:spTree>
    <p:extLst>
      <p:ext uri="{BB962C8B-B14F-4D97-AF65-F5344CB8AC3E}">
        <p14:creationId xmlns:p14="http://schemas.microsoft.com/office/powerpoint/2010/main" val="3041867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9F58BC-F871-322A-11A8-0B7C30F751BC}"/>
              </a:ext>
            </a:extLst>
          </p:cNvPr>
          <p:cNvSpPr>
            <a:spLocks noGrp="1"/>
          </p:cNvSpPr>
          <p:nvPr>
            <p:ph type="title"/>
          </p:nvPr>
        </p:nvSpPr>
        <p:spPr/>
        <p:txBody>
          <a:bodyPr/>
          <a:lstStyle/>
          <a:p>
            <a:r>
              <a:rPr lang="pt-BR" dirty="0"/>
              <a:t>Estruturas organizacionais</a:t>
            </a:r>
          </a:p>
        </p:txBody>
      </p:sp>
      <p:sp>
        <p:nvSpPr>
          <p:cNvPr id="3" name="Espaço Reservado para Conteúdo 2">
            <a:extLst>
              <a:ext uri="{FF2B5EF4-FFF2-40B4-BE49-F238E27FC236}">
                <a16:creationId xmlns:a16="http://schemas.microsoft.com/office/drawing/2014/main" id="{FADF30CA-9683-58FC-539F-2EBDCE3EF4AE}"/>
              </a:ext>
            </a:extLst>
          </p:cNvPr>
          <p:cNvSpPr>
            <a:spLocks noGrp="1"/>
          </p:cNvSpPr>
          <p:nvPr>
            <p:ph idx="1"/>
          </p:nvPr>
        </p:nvSpPr>
        <p:spPr/>
        <p:txBody>
          <a:bodyPr/>
          <a:lstStyle/>
          <a:p>
            <a:r>
              <a:rPr lang="pt-BR" dirty="0"/>
              <a:t>Matricial</a:t>
            </a:r>
          </a:p>
        </p:txBody>
      </p:sp>
      <p:pic>
        <p:nvPicPr>
          <p:cNvPr id="4098" name="Picture 2">
            <a:extLst>
              <a:ext uri="{FF2B5EF4-FFF2-40B4-BE49-F238E27FC236}">
                <a16:creationId xmlns:a16="http://schemas.microsoft.com/office/drawing/2014/main" id="{E64BA52D-1AF9-6289-8B8F-446E392164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819" y="2160731"/>
            <a:ext cx="7742903" cy="4239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412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CCB65B-5B28-E556-5BFC-E33BC20EDF22}"/>
              </a:ext>
            </a:extLst>
          </p:cNvPr>
          <p:cNvSpPr>
            <a:spLocks noGrp="1"/>
          </p:cNvSpPr>
          <p:nvPr>
            <p:ph type="title"/>
          </p:nvPr>
        </p:nvSpPr>
        <p:spPr/>
        <p:txBody>
          <a:bodyPr/>
          <a:lstStyle/>
          <a:p>
            <a:r>
              <a:rPr lang="pt-BR" dirty="0"/>
              <a:t>Estruturas organizacionais</a:t>
            </a:r>
          </a:p>
        </p:txBody>
      </p:sp>
      <p:pic>
        <p:nvPicPr>
          <p:cNvPr id="1026" name="Picture 2">
            <a:extLst>
              <a:ext uri="{FF2B5EF4-FFF2-40B4-BE49-F238E27FC236}">
                <a16:creationId xmlns:a16="http://schemas.microsoft.com/office/drawing/2014/main" id="{6A6E0111-74A7-B11F-47CD-74F1D5E98C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513" y="2023533"/>
            <a:ext cx="8181340" cy="4135134"/>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4CB2028A-5B64-439D-FA2C-C9EC8D383280}"/>
              </a:ext>
            </a:extLst>
          </p:cNvPr>
          <p:cNvSpPr txBox="1"/>
          <p:nvPr/>
        </p:nvSpPr>
        <p:spPr>
          <a:xfrm>
            <a:off x="1209367" y="6338986"/>
            <a:ext cx="10009239" cy="307777"/>
          </a:xfrm>
          <a:prstGeom prst="rect">
            <a:avLst/>
          </a:prstGeom>
          <a:noFill/>
        </p:spPr>
        <p:txBody>
          <a:bodyPr wrap="square">
            <a:spAutoFit/>
          </a:bodyPr>
          <a:lstStyle/>
          <a:p>
            <a:pPr algn="ctr"/>
            <a:r>
              <a:rPr lang="pt-BR" sz="1400" dirty="0">
                <a:hlinkClick r:id="rId3"/>
              </a:rPr>
              <a:t>https://gerentesdeprojetos.com/2021/05/27/visao-geral-sobre-estruturas-organizacionais-na-gestao-de-projetos/</a:t>
            </a:r>
            <a:r>
              <a:rPr lang="pt-BR" sz="1400" dirty="0"/>
              <a:t> </a:t>
            </a:r>
          </a:p>
        </p:txBody>
      </p:sp>
      <p:sp>
        <p:nvSpPr>
          <p:cNvPr id="4" name="CaixaDeTexto 3">
            <a:extLst>
              <a:ext uri="{FF2B5EF4-FFF2-40B4-BE49-F238E27FC236}">
                <a16:creationId xmlns:a16="http://schemas.microsoft.com/office/drawing/2014/main" id="{719A6AFB-ECA3-31B5-2DD4-FC2C9232E2CC}"/>
              </a:ext>
            </a:extLst>
          </p:cNvPr>
          <p:cNvSpPr txBox="1"/>
          <p:nvPr/>
        </p:nvSpPr>
        <p:spPr>
          <a:xfrm>
            <a:off x="8995788" y="2460565"/>
            <a:ext cx="2991896" cy="3108543"/>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a:r>
              <a:rPr lang="pt-BR" sz="2800" b="1" dirty="0"/>
              <a:t>Quanto mais </a:t>
            </a:r>
            <a:r>
              <a:rPr lang="pt-BR" sz="2800" b="1" dirty="0" err="1"/>
              <a:t>projetizada</a:t>
            </a:r>
            <a:r>
              <a:rPr lang="pt-BR" sz="2800" b="1" dirty="0"/>
              <a:t> a estrutura, maior o poder do gerente de projetos — e maior o foco na entrega.</a:t>
            </a:r>
          </a:p>
        </p:txBody>
      </p:sp>
    </p:spTree>
    <p:extLst>
      <p:ext uri="{BB962C8B-B14F-4D97-AF65-F5344CB8AC3E}">
        <p14:creationId xmlns:p14="http://schemas.microsoft.com/office/powerpoint/2010/main" val="29635108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41F8A-B1A7-1210-1094-017679723ADC}"/>
              </a:ext>
            </a:extLst>
          </p:cNvPr>
          <p:cNvSpPr>
            <a:spLocks noGrp="1"/>
          </p:cNvSpPr>
          <p:nvPr>
            <p:ph type="title"/>
          </p:nvPr>
        </p:nvSpPr>
        <p:spPr/>
        <p:txBody>
          <a:bodyPr/>
          <a:lstStyle/>
          <a:p>
            <a:r>
              <a:rPr lang="pt-BR" dirty="0"/>
              <a:t>Discussão</a:t>
            </a:r>
          </a:p>
        </p:txBody>
      </p:sp>
      <p:sp>
        <p:nvSpPr>
          <p:cNvPr id="3" name="Espaço Reservado para Conteúdo 2">
            <a:extLst>
              <a:ext uri="{FF2B5EF4-FFF2-40B4-BE49-F238E27FC236}">
                <a16:creationId xmlns:a16="http://schemas.microsoft.com/office/drawing/2014/main" id="{1D9098C9-7B1A-B1F5-8BE4-167C01708EA6}"/>
              </a:ext>
            </a:extLst>
          </p:cNvPr>
          <p:cNvSpPr>
            <a:spLocks noGrp="1"/>
          </p:cNvSpPr>
          <p:nvPr>
            <p:ph idx="1"/>
          </p:nvPr>
        </p:nvSpPr>
        <p:spPr/>
        <p:txBody>
          <a:bodyPr/>
          <a:lstStyle/>
          <a:p>
            <a:r>
              <a:rPr lang="pt-BR" dirty="0"/>
              <a:t>Já trabalharam em alguma empresa com alguma dessas configuração?</a:t>
            </a:r>
          </a:p>
        </p:txBody>
      </p:sp>
    </p:spTree>
    <p:extLst>
      <p:ext uri="{BB962C8B-B14F-4D97-AF65-F5344CB8AC3E}">
        <p14:creationId xmlns:p14="http://schemas.microsoft.com/office/powerpoint/2010/main" val="37063379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42EE6F-4949-4C53-75BD-8540179D6AA8}"/>
              </a:ext>
            </a:extLst>
          </p:cNvPr>
          <p:cNvSpPr>
            <a:spLocks noGrp="1"/>
          </p:cNvSpPr>
          <p:nvPr>
            <p:ph type="title"/>
          </p:nvPr>
        </p:nvSpPr>
        <p:spPr/>
        <p:txBody>
          <a:bodyPr/>
          <a:lstStyle/>
          <a:p>
            <a:r>
              <a:rPr lang="pt-BR" dirty="0"/>
              <a:t>Formação de grupos</a:t>
            </a:r>
          </a:p>
        </p:txBody>
      </p:sp>
      <p:sp>
        <p:nvSpPr>
          <p:cNvPr id="3" name="Espaço Reservado para Conteúdo 2">
            <a:extLst>
              <a:ext uri="{FF2B5EF4-FFF2-40B4-BE49-F238E27FC236}">
                <a16:creationId xmlns:a16="http://schemas.microsoft.com/office/drawing/2014/main" id="{CDF8B69B-4BDC-19DD-357B-2D0273F6C92E}"/>
              </a:ext>
            </a:extLst>
          </p:cNvPr>
          <p:cNvSpPr>
            <a:spLocks noGrp="1"/>
          </p:cNvSpPr>
          <p:nvPr>
            <p:ph idx="1"/>
          </p:nvPr>
        </p:nvSpPr>
        <p:spPr/>
        <p:txBody>
          <a:bodyPr>
            <a:normAutofit lnSpcReduction="10000"/>
          </a:bodyPr>
          <a:lstStyle/>
          <a:p>
            <a:r>
              <a:rPr lang="pt-BR" dirty="0"/>
              <a:t>Grupos de 4 pessoas</a:t>
            </a:r>
          </a:p>
          <a:p>
            <a:pPr lvl="1"/>
            <a:r>
              <a:rPr lang="pt-BR" dirty="0"/>
              <a:t>Trabalho prático</a:t>
            </a:r>
          </a:p>
          <a:p>
            <a:pPr>
              <a:spcBef>
                <a:spcPts val="2400"/>
              </a:spcBef>
            </a:pPr>
            <a:r>
              <a:rPr lang="pt-BR" dirty="0"/>
              <a:t>Escolha livre de um projeto</a:t>
            </a:r>
          </a:p>
          <a:p>
            <a:pPr lvl="1"/>
            <a:r>
              <a:rPr lang="pt-BR" dirty="0"/>
              <a:t>Vamos aplicar os conteúdos de aula em cima dele</a:t>
            </a:r>
          </a:p>
          <a:p>
            <a:pPr>
              <a:spcBef>
                <a:spcPts val="2400"/>
              </a:spcBef>
            </a:pPr>
            <a:r>
              <a:rPr lang="pt-BR" dirty="0"/>
              <a:t>Definir a finalidade do projeto</a:t>
            </a:r>
          </a:p>
          <a:p>
            <a:pPr lvl="1"/>
            <a:r>
              <a:rPr lang="pt-BR" dirty="0"/>
              <a:t>Levantar qual a demanda pelo projeto</a:t>
            </a:r>
          </a:p>
          <a:p>
            <a:pPr lvl="1"/>
            <a:r>
              <a:rPr lang="pt-BR" dirty="0"/>
              <a:t>Levantar todas as funcionalidades desejadas (e qual o </a:t>
            </a:r>
            <a:r>
              <a:rPr lang="pt-BR" i="1" dirty="0"/>
              <a:t>core</a:t>
            </a:r>
            <a:r>
              <a:rPr lang="pt-BR" dirty="0"/>
              <a:t>)</a:t>
            </a:r>
          </a:p>
          <a:p>
            <a:pPr lvl="1"/>
            <a:r>
              <a:rPr lang="pt-BR" dirty="0"/>
              <a:t>Projetar arquitetura em alto nível</a:t>
            </a:r>
          </a:p>
          <a:p>
            <a:pPr>
              <a:spcBef>
                <a:spcPts val="2400"/>
              </a:spcBef>
            </a:pPr>
            <a:r>
              <a:rPr lang="pt-BR" dirty="0"/>
              <a:t>Ao final, teremos um </a:t>
            </a:r>
            <a:r>
              <a:rPr lang="pt-BR" b="1" dirty="0"/>
              <a:t>Plano de Projeto</a:t>
            </a:r>
          </a:p>
        </p:txBody>
      </p:sp>
    </p:spTree>
    <p:extLst>
      <p:ext uri="{BB962C8B-B14F-4D97-AF65-F5344CB8AC3E}">
        <p14:creationId xmlns:p14="http://schemas.microsoft.com/office/powerpoint/2010/main" val="280588557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21676</TotalTime>
  <Words>3337</Words>
  <Application>Microsoft Office PowerPoint</Application>
  <PresentationFormat>Widescreen</PresentationFormat>
  <Paragraphs>538</Paragraphs>
  <Slides>68</Slides>
  <Notes>7</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68</vt:i4>
      </vt:variant>
    </vt:vector>
  </HeadingPairs>
  <TitlesOfParts>
    <vt:vector size="76" baseType="lpstr">
      <vt:lpstr>Arial</vt:lpstr>
      <vt:lpstr>Calibri</vt:lpstr>
      <vt:lpstr>Calibri Light</vt:lpstr>
      <vt:lpstr>Calibri-Bold</vt:lpstr>
      <vt:lpstr>DejaVuSans</vt:lpstr>
      <vt:lpstr>NotoSansSymbols</vt:lpstr>
      <vt:lpstr>Wingdings</vt:lpstr>
      <vt:lpstr>Tema do Office</vt:lpstr>
      <vt:lpstr>Gerenciamento de projetos</vt:lpstr>
      <vt:lpstr>Quem sou eu</vt:lpstr>
      <vt:lpstr>Apresentações</vt:lpstr>
      <vt:lpstr>Objetivos</vt:lpstr>
      <vt:lpstr>Expectativas</vt:lpstr>
      <vt:lpstr>Avaliação</vt:lpstr>
      <vt:lpstr>Aula 0  Conexão com a Engenharia de Software </vt:lpstr>
      <vt:lpstr>Objetivos de hoje:</vt:lpstr>
      <vt:lpstr>O que é Engenharia de Software?</vt:lpstr>
      <vt:lpstr>Mas eu já sei modelar e programar!</vt:lpstr>
      <vt:lpstr>Programas de faculdade</vt:lpstr>
      <vt:lpstr>Programas do “mundo real”</vt:lpstr>
      <vt:lpstr>Cenário 1: Agenda Pessoal</vt:lpstr>
      <vt:lpstr>Cenário 2: Boeing 777</vt:lpstr>
      <vt:lpstr>Cenário 2: Boeing 777</vt:lpstr>
      <vt:lpstr>Desenvolvimento de software....</vt:lpstr>
      <vt:lpstr>Caso real 1: Aeroporto de Denver</vt:lpstr>
      <vt:lpstr>Caso real 2: Therac-25</vt:lpstr>
      <vt:lpstr>Caso real 3: Ariane 5</vt:lpstr>
      <vt:lpstr>Casos atuais</vt:lpstr>
      <vt:lpstr>Casos atuais</vt:lpstr>
      <vt:lpstr>Escopo do curso</vt:lpstr>
      <vt:lpstr>Conteúdo de ES</vt:lpstr>
      <vt:lpstr>Objetivos de hoje:</vt:lpstr>
      <vt:lpstr>Gerenciamento da complexidade</vt:lpstr>
      <vt:lpstr>Histórico da indústria de software</vt:lpstr>
      <vt:lpstr>Crise do software - 1968</vt:lpstr>
      <vt:lpstr>Histórico da indústria de software</vt:lpstr>
      <vt:lpstr>Histórico da indústria de software</vt:lpstr>
      <vt:lpstr>Engenharia de software</vt:lpstr>
      <vt:lpstr>Elementos da Engenharia de SW</vt:lpstr>
      <vt:lpstr>Engenharia de software</vt:lpstr>
      <vt:lpstr>Engenharia de software</vt:lpstr>
      <vt:lpstr>Engenharia de software</vt:lpstr>
      <vt:lpstr>Gerenciamento de Projetos de SW</vt:lpstr>
      <vt:lpstr>Tipos de aplicações</vt:lpstr>
      <vt:lpstr>Contextos diferentes</vt:lpstr>
      <vt:lpstr>Discussão</vt:lpstr>
      <vt:lpstr>Objetivos de hoje:</vt:lpstr>
      <vt:lpstr>Projeto?</vt:lpstr>
      <vt:lpstr>Projetos (relembrando)</vt:lpstr>
      <vt:lpstr>Objetivo do Gerenciamento de Projetos</vt:lpstr>
      <vt:lpstr>Gerenciamento de software?</vt:lpstr>
      <vt:lpstr>Software é Intangível</vt:lpstr>
      <vt:lpstr>Software e as leis da natureza</vt:lpstr>
      <vt:lpstr>Software e a economia de escala </vt:lpstr>
      <vt:lpstr>Gerenciamento de software?</vt:lpstr>
      <vt:lpstr>Porque Gestão de projetos de software?</vt:lpstr>
      <vt:lpstr>Gestão de projetos de software</vt:lpstr>
      <vt:lpstr>Características de um projeto</vt:lpstr>
      <vt:lpstr>Exemplos</vt:lpstr>
      <vt:lpstr>Exemplos</vt:lpstr>
      <vt:lpstr>Operações permanentes</vt:lpstr>
      <vt:lpstr>Projetos x operações</vt:lpstr>
      <vt:lpstr>Portfólios, programas e (sub)projetos</vt:lpstr>
      <vt:lpstr>Portfólios, programas e (sub)projetos</vt:lpstr>
      <vt:lpstr>Objetivos de hoje:</vt:lpstr>
      <vt:lpstr>Conceituação</vt:lpstr>
      <vt:lpstr>Papel do Gestor de Projetos</vt:lpstr>
      <vt:lpstr>Papel do Gerente de projetos</vt:lpstr>
      <vt:lpstr>Papel do Gerente de projetos</vt:lpstr>
      <vt:lpstr>Papel do GP numa organização</vt:lpstr>
      <vt:lpstr>Estruturas organizacionais</vt:lpstr>
      <vt:lpstr>Estruturas organizacionais</vt:lpstr>
      <vt:lpstr>Estruturas organizacionais</vt:lpstr>
      <vt:lpstr>Estruturas organizacionais</vt:lpstr>
      <vt:lpstr>Discussão</vt:lpstr>
      <vt:lpstr>Formação de grupos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Bruno Elias Penteado</dc:creator>
  <cp:lastModifiedBy>Author</cp:lastModifiedBy>
  <cp:revision>237</cp:revision>
  <dcterms:created xsi:type="dcterms:W3CDTF">2024-07-27T19:47:06Z</dcterms:created>
  <dcterms:modified xsi:type="dcterms:W3CDTF">2026-03-24T14:12:31Z</dcterms:modified>
</cp:coreProperties>
</file>