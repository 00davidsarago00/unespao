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1"/>
  </p:notesMasterIdLst>
  <p:handoutMasterIdLst>
    <p:handoutMasterId r:id="rId102"/>
  </p:handoutMasterIdLst>
  <p:sldIdLst>
    <p:sldId id="969" r:id="rId2"/>
    <p:sldId id="1019" r:id="rId3"/>
    <p:sldId id="970" r:id="rId4"/>
    <p:sldId id="978" r:id="rId5"/>
    <p:sldId id="998" r:id="rId6"/>
    <p:sldId id="977" r:id="rId7"/>
    <p:sldId id="993" r:id="rId8"/>
    <p:sldId id="992" r:id="rId9"/>
    <p:sldId id="995" r:id="rId10"/>
    <p:sldId id="549" r:id="rId11"/>
    <p:sldId id="960" r:id="rId12"/>
    <p:sldId id="971" r:id="rId13"/>
    <p:sldId id="961" r:id="rId14"/>
    <p:sldId id="999" r:id="rId15"/>
    <p:sldId id="963" r:id="rId16"/>
    <p:sldId id="962" r:id="rId17"/>
    <p:sldId id="959" r:id="rId18"/>
    <p:sldId id="964" r:id="rId19"/>
    <p:sldId id="997" r:id="rId20"/>
    <p:sldId id="1000" r:id="rId21"/>
    <p:sldId id="984" r:id="rId22"/>
    <p:sldId id="976" r:id="rId23"/>
    <p:sldId id="973" r:id="rId24"/>
    <p:sldId id="974" r:id="rId25"/>
    <p:sldId id="975" r:id="rId26"/>
    <p:sldId id="994" r:id="rId27"/>
    <p:sldId id="980" r:id="rId28"/>
    <p:sldId id="981" r:id="rId29"/>
    <p:sldId id="982" r:id="rId30"/>
    <p:sldId id="983" r:id="rId31"/>
    <p:sldId id="1001" r:id="rId32"/>
    <p:sldId id="979" r:id="rId33"/>
    <p:sldId id="988" r:id="rId34"/>
    <p:sldId id="1005" r:id="rId35"/>
    <p:sldId id="986" r:id="rId36"/>
    <p:sldId id="1006" r:id="rId37"/>
    <p:sldId id="987" r:id="rId38"/>
    <p:sldId id="1007" r:id="rId39"/>
    <p:sldId id="1008" r:id="rId40"/>
    <p:sldId id="990" r:id="rId41"/>
    <p:sldId id="1003" r:id="rId42"/>
    <p:sldId id="621" r:id="rId43"/>
    <p:sldId id="583" r:id="rId44"/>
    <p:sldId id="622" r:id="rId45"/>
    <p:sldId id="965" r:id="rId46"/>
    <p:sldId id="630" r:id="rId47"/>
    <p:sldId id="585" r:id="rId48"/>
    <p:sldId id="631" r:id="rId49"/>
    <p:sldId id="634" r:id="rId50"/>
    <p:sldId id="632" r:id="rId51"/>
    <p:sldId id="633" r:id="rId52"/>
    <p:sldId id="1011" r:id="rId53"/>
    <p:sldId id="1009" r:id="rId54"/>
    <p:sldId id="531" r:id="rId55"/>
    <p:sldId id="533" r:id="rId56"/>
    <p:sldId id="610" r:id="rId57"/>
    <p:sldId id="600" r:id="rId58"/>
    <p:sldId id="537" r:id="rId59"/>
    <p:sldId id="601" r:id="rId60"/>
    <p:sldId id="602" r:id="rId61"/>
    <p:sldId id="603" r:id="rId62"/>
    <p:sldId id="605" r:id="rId63"/>
    <p:sldId id="604" r:id="rId64"/>
    <p:sldId id="543" r:id="rId65"/>
    <p:sldId id="966" r:id="rId66"/>
    <p:sldId id="544" r:id="rId67"/>
    <p:sldId id="540" r:id="rId68"/>
    <p:sldId id="606" r:id="rId69"/>
    <p:sldId id="608" r:id="rId70"/>
    <p:sldId id="607" r:id="rId71"/>
    <p:sldId id="1014" r:id="rId72"/>
    <p:sldId id="597" r:id="rId73"/>
    <p:sldId id="565" r:id="rId74"/>
    <p:sldId id="593" r:id="rId75"/>
    <p:sldId id="623" r:id="rId76"/>
    <p:sldId id="624" r:id="rId77"/>
    <p:sldId id="1012" r:id="rId78"/>
    <p:sldId id="626" r:id="rId79"/>
    <p:sldId id="566" r:id="rId80"/>
    <p:sldId id="557" r:id="rId81"/>
    <p:sldId id="598" r:id="rId82"/>
    <p:sldId id="567" r:id="rId83"/>
    <p:sldId id="635" r:id="rId84"/>
    <p:sldId id="636" r:id="rId85"/>
    <p:sldId id="638" r:id="rId86"/>
    <p:sldId id="641" r:id="rId87"/>
    <p:sldId id="571" r:id="rId88"/>
    <p:sldId id="576" r:id="rId89"/>
    <p:sldId id="572" r:id="rId90"/>
    <p:sldId id="573" r:id="rId91"/>
    <p:sldId id="575" r:id="rId92"/>
    <p:sldId id="629" r:id="rId93"/>
    <p:sldId id="639" r:id="rId94"/>
    <p:sldId id="1013" r:id="rId95"/>
    <p:sldId id="1016" r:id="rId96"/>
    <p:sldId id="1017" r:id="rId97"/>
    <p:sldId id="564" r:id="rId98"/>
    <p:sldId id="421" r:id="rId99"/>
    <p:sldId id="592" r:id="rId10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74065" autoAdjust="0"/>
  </p:normalViewPr>
  <p:slideViewPr>
    <p:cSldViewPr snapToGrid="0">
      <p:cViewPr>
        <p:scale>
          <a:sx n="70" d="100"/>
          <a:sy n="70" d="100"/>
        </p:scale>
        <p:origin x="81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3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648DC056-EC86-1D14-6A17-B9CF671802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341E98-B67C-BDF6-18B5-2E8DDC26E6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3B5E1-A158-48A7-9E7E-0B53201D65DE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A37A9E-80E3-86C5-CC3D-185F85B38A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B96474E-157A-54F7-6A34-58668D8B83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C9D83-3408-479B-AF32-847F7A28B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62573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510B7-2C4F-477A-B06B-52F95EA26A07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9E112-8E62-415B-ABD8-A813EB2FB8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353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77FB-2185-6AC9-9617-C43E98953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B1A12E-5438-4214-8589-87E5D76B0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46A74A-6206-D16F-C308-140476CD0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0664BB-E33A-67CE-057E-7704E6447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390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Sistemas com requisitos regulatórios estritos</a:t>
            </a:r>
          </a:p>
          <a:p>
            <a:r>
              <a:rPr lang="pt-BR" dirty="0"/>
              <a:t>Atualização ou migração de sistemas legados</a:t>
            </a:r>
          </a:p>
          <a:p>
            <a:r>
              <a:rPr lang="pt-BR" dirty="0"/>
              <a:t>Customização de COTS</a:t>
            </a:r>
          </a:p>
          <a:p>
            <a:r>
              <a:rPr lang="pt-BR" dirty="0"/>
              <a:t>Projetos com cronogramas rígidos, com restrições bem determinadas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9E112-8E62-415B-ABD8-A813EB2FB88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628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9E112-8E62-415B-ABD8-A813EB2FB888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032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C3440-9BDB-223D-15DA-BE088E929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74C7CA-315C-227C-B603-13D2B798F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57B4F8-C731-EF35-1142-34C0E2F44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F20C86-E11D-B137-1467-B5D07DD38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9E112-8E62-415B-ABD8-A813EB2FB888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72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9E112-8E62-415B-ABD8-A813EB2FB888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165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9E112-8E62-415B-ABD8-A813EB2FB888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2144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Criar atividade no </a:t>
            </a:r>
            <a:r>
              <a:rPr lang="pt-BR" dirty="0" err="1"/>
              <a:t>Classroom</a:t>
            </a:r>
            <a:endParaRPr lang="pt-BR" dirty="0"/>
          </a:p>
          <a:p>
            <a:r>
              <a:rPr lang="pt-BR" dirty="0"/>
              <a:t>Todos os grupos estão com note? Senão tem que deixar pra entregar em casa e só fazer rascunho EAP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9E112-8E62-415B-ABD8-A813EB2FB888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461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9E112-8E62-415B-ABD8-A813EB2FB888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470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I, II e IV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9E112-8E62-415B-ABD8-A813EB2FB888}" type="slidenum">
              <a:rPr lang="pt-BR" smtClean="0"/>
              <a:t>71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4712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80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3813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9E112-8E62-415B-ABD8-A813EB2FB888}" type="slidenum">
              <a:rPr lang="pt-BR" smtClean="0"/>
              <a:t>94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70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9E112-8E62-415B-ABD8-A813EB2FB888}" type="slidenum">
              <a:rPr lang="pt-BR" smtClean="0"/>
              <a:t>95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744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BA0F2-FF51-6F85-2526-35FDB421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DD24504-6AE2-20E5-1613-31F685294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67C114-3BF2-1FEB-AA65-532FC0D63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396636-1D87-E7D7-22AD-F503577F6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9E112-8E62-415B-ABD8-A813EB2FB888}" type="slidenum">
              <a:rPr lang="pt-BR" smtClean="0"/>
              <a:t>96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111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33 alunos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012C9-B69A-465D-BE2B-CE551A843A77}" type="slidenum">
              <a:rPr lang="pt-BR" smtClean="0"/>
              <a:t>98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158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EEE53-4496-A3E2-6A1E-F394610A0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6E14C4-6394-A953-363A-3265B1352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B17E62-4CE8-FA5E-81AB-27EC4D269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C46D-F5DA-4B24-A20B-D1BB78A23A6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4130A0-4376-BFAD-2C19-0E8710B09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E46AEA-B3F5-9F8B-1519-1C60D0D93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0B3B-A50D-4B14-9D81-A18F38FBA0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857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996DC-D503-DBDE-FDEA-EF1AEF759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CFC341-4D72-A837-B647-7464B5058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613C88-DA31-EF9B-CB63-2C55411C8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C46D-F5DA-4B24-A20B-D1BB78A23A6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E4FFD4-777E-4291-F5F9-C1162A321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37AC90-32F2-5DF1-70B2-636B06F6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0B3B-A50D-4B14-9D81-A18F38FBA0E7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25EA031-D7FE-EFD6-B1F0-B9F04A5977E4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925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F3C25-E803-1FD6-15EE-06562487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4EF64E-0FB2-BB48-7DF6-0C9AA81AD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D1C8B2-5D85-B988-CB69-09B11AEE2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C46D-F5DA-4B24-A20B-D1BB78A23A6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463100-71C5-06BA-7A2B-C93B1BA2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C07F91-108E-B2C3-E6BF-816D7BCA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0B3B-A50D-4B14-9D81-A18F38FBA0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220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537BA-DEFB-BDBF-86E4-1AB88B87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15E4C-711C-550D-DC6C-36CC12116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E5C96C-6557-139C-829B-1E2006E8E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78F9F2-431C-5E88-F592-33B5C061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C46D-F5DA-4B24-A20B-D1BB78A23A6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C75C67-72C7-8FDC-C52F-B7B5F492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48C1A5-B006-91D7-168C-B7FC435E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0B3B-A50D-4B14-9D81-A18F38FBA0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5111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88A85-0410-BF11-EF32-3AB351F4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4C2B90-2197-F269-EB61-113C72E13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3DBFA4-22A6-0D4A-BDA8-6551FBF5A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D0AAD23-4A7C-83D3-03A4-86524D668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006DE9-BC23-B113-D3DF-02E204835E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6B2E737-754B-292E-CAD1-5040BCBE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C46D-F5DA-4B24-A20B-D1BB78A23A6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4F9919B-C697-30EF-D1BE-1A63A1566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F4FD2EC-724E-9612-CCBD-58B74958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0B3B-A50D-4B14-9D81-A18F38FBA0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92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755A3-EE94-2ADB-DEFA-BF2636879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FDDA6BA-9556-EC1D-F0B4-6EE4FDA0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C46D-F5DA-4B24-A20B-D1BB78A23A6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FA4AE6-7EB5-C71C-6FC1-EF0B1BF37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98EB463-39A2-79C1-1FB1-9A304C82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0B3B-A50D-4B14-9D81-A18F38FBA0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9805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47F4E4B-546F-EFED-83B5-C9411073F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C46D-F5DA-4B24-A20B-D1BB78A23A6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B06F59A-6624-8B29-3DC2-249FD9F1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43035F-A6C7-FEA7-0A8B-98F9D10E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0B3B-A50D-4B14-9D81-A18F38FBA0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267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757AE-DB7A-FDFD-4C06-C062E520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8E0F6A-1456-7C25-E924-D0F19A3C2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0A3D52-CAF1-BDA9-7320-84E1446C2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1BAFD6-46CC-C0CA-2A5A-BC1C7F1D6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C46D-F5DA-4B24-A20B-D1BB78A23A6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DA92B0-8D0E-7794-93B9-C9553D87D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68B9B0-4579-6F80-C1B8-FA27F8F8A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0B3B-A50D-4B14-9D81-A18F38FBA0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630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180B8-6386-8AEE-8DC6-C9603A60E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E4419E-7A01-E2CC-F9AD-57C5A56978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6B8ED69-160C-8A04-B9E7-44FA14884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E3D235-4ABC-B5F2-C284-CDB0EEF00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C46D-F5DA-4B24-A20B-D1BB78A23A6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A32ED8-8A33-D05F-CA92-0C47DEEC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71FB84-A62F-EFA6-DE59-FD0E1BF44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0B3B-A50D-4B14-9D81-A18F38FBA0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175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45591-6F7D-3731-678E-A661D9B1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F35AD4-D2C4-9745-3F70-17BF94AAB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56CD63-97B2-201A-2DCA-71CBDC7C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C46D-F5DA-4B24-A20B-D1BB78A23A6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3D7AB2-93AD-2A37-57DF-8931F33FB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55A946-3756-630E-AE00-F9892A12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0B3B-A50D-4B14-9D81-A18F38FBA0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141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7F0C07-3A16-8240-12B5-89CAA3164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0D0E76-6D0B-EB21-8D58-FAABD73D2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B96767-50A1-8291-5946-3894818F7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C46D-F5DA-4B24-A20B-D1BB78A23A6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E42EB6-582F-5FE7-0498-FAF30ADF0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1E3DC5-DF55-B471-4548-6C4B2FCF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0B3B-A50D-4B14-9D81-A18F38FBA0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273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1508CD1-5410-E1E1-0499-FC995E8D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CC24E9-FE0E-F7B6-3AA9-FF1316735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4908A4-44C6-8EAE-35C7-7F8CCF0C3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9C46D-F5DA-4B24-A20B-D1BB78A23A6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9C88EC-2A03-0BE8-6096-C618E3788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3A640D-2AEB-AA52-CE93-6601BE6A2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C0B3B-A50D-4B14-9D81-A18F38FBA0E7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7A203D-BC99-19AC-1440-0053B22389F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0457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0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penteado@unesp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tsadeliverything.com/revisiting-the-iterative-incremental-mona-lisa" TargetMode="Externa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pt/image/2691623.html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illustrated.com/2-8-plan-and-manage-scope/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s://edisciplinas.usp.br/course/view.php?id=116957" TargetMode="External"/><Relationship Id="rId2" Type="http://schemas.openxmlformats.org/officeDocument/2006/relationships/hyperlink" Target="https://leomurta.github.i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75E2F-2740-089D-766E-F611A8782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78B0EA8-4830-6933-7CC6-8D1E5D16D2D1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3 </a:t>
            </a:r>
            <a:br>
              <a:rPr lang="pt-BR" dirty="0"/>
            </a:br>
            <a:r>
              <a:rPr lang="pt-BR" dirty="0"/>
              <a:t>PMBOK e Escopo de projetos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EE6661-0DBD-576E-4145-05573BB2EAEE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sz="1800" i="1" dirty="0">
                <a:hlinkClick r:id="rId3"/>
              </a:rPr>
              <a:t>bruno.penteado@unesp.br</a:t>
            </a:r>
            <a:r>
              <a:rPr lang="pt-BR" sz="18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240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36C14-5004-8758-D815-B52049A7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 dos grupos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F842BA-E496-837C-8608-991D4ADA4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- Definir </a:t>
            </a:r>
            <a:r>
              <a:rPr lang="pt-BR" b="1" i="0" dirty="0">
                <a:solidFill>
                  <a:srgbClr val="1F1F1F"/>
                </a:solidFill>
                <a:effectLst/>
                <a:latin typeface="Google Sans"/>
              </a:rPr>
              <a:t>missão e visão da empresa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 de vocês para o projeto: 1 parágrafo cada (missão e visão) ou juntando ambos (olhar exemplos dos slides)</a:t>
            </a:r>
            <a:br>
              <a:rPr lang="pt-BR" dirty="0"/>
            </a:br>
            <a:br>
              <a:rPr lang="pt-BR" dirty="0"/>
            </a:b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- Enquadrar seu </a:t>
            </a:r>
            <a:r>
              <a:rPr lang="pt-BR" b="1" i="0" dirty="0">
                <a:solidFill>
                  <a:srgbClr val="1F1F1F"/>
                </a:solidFill>
                <a:effectLst/>
                <a:latin typeface="Google Sans"/>
              </a:rPr>
              <a:t>projeto alinhado a essa visão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: Como esse software apoia a estratégia? (Um parágrafo argumentando como o software implementa a estratégia)</a:t>
            </a:r>
            <a:br>
              <a:rPr lang="pt-BR" dirty="0"/>
            </a:br>
            <a:br>
              <a:rPr lang="pt-BR" dirty="0"/>
            </a:b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- Criar ao menos </a:t>
            </a:r>
            <a:r>
              <a:rPr lang="pt-BR" b="1" i="0" dirty="0">
                <a:solidFill>
                  <a:srgbClr val="1F1F1F"/>
                </a:solidFill>
                <a:effectLst/>
                <a:latin typeface="Google Sans"/>
              </a:rPr>
              <a:t>1 Objetivo e 3 </a:t>
            </a:r>
            <a:r>
              <a:rPr lang="pt-BR" b="1" i="0" dirty="0" err="1">
                <a:solidFill>
                  <a:srgbClr val="1F1F1F"/>
                </a:solidFill>
                <a:effectLst/>
                <a:latin typeface="Google Sans"/>
              </a:rPr>
              <a:t>KRs</a:t>
            </a:r>
            <a:r>
              <a:rPr lang="pt-BR" b="1" i="0" dirty="0">
                <a:solidFill>
                  <a:srgbClr val="1F1F1F"/>
                </a:solidFill>
                <a:effectLst/>
                <a:latin typeface="Google Sans"/>
              </a:rPr>
              <a:t> 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para o projeto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795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7497D-842C-CA20-7251-C496A45B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Aulas anteriores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6A9881-3A0F-5638-C606-D95B05E73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2000" b="1" dirty="0"/>
              <a:t>Complexidade em projetos de software</a:t>
            </a:r>
            <a:r>
              <a:rPr lang="pt-BR" sz="2000" dirty="0"/>
              <a:t>: incertezas, riscos e escolha de abordagens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000" b="1" dirty="0"/>
              <a:t>Alinhamento estratégico</a:t>
            </a:r>
            <a:r>
              <a:rPr lang="pt-BR" sz="2000" dirty="0"/>
              <a:t>: projetos como geradores de valor</a:t>
            </a:r>
          </a:p>
        </p:txBody>
      </p:sp>
    </p:spTree>
    <p:extLst>
      <p:ext uri="{BB962C8B-B14F-4D97-AF65-F5344CB8AC3E}">
        <p14:creationId xmlns:p14="http://schemas.microsoft.com/office/powerpoint/2010/main" val="3144229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86D44-1F54-0D91-4898-1BCFFDD54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Relembrando...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34EE7C-8D17-538E-0130-DDC3EB986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ym typeface="Wingdings" panose="05000000000000000000" pitchFamily="2" charset="2"/>
              </a:rPr>
              <a:t>Projeto é a </a:t>
            </a:r>
            <a:r>
              <a:rPr lang="pt-BR" b="1" u="sng" dirty="0">
                <a:solidFill>
                  <a:srgbClr val="FF0000"/>
                </a:solidFill>
                <a:sym typeface="Wingdings" panose="05000000000000000000" pitchFamily="2" charset="2"/>
              </a:rPr>
              <a:t>entrega de valor</a:t>
            </a:r>
            <a:r>
              <a:rPr lang="pt-BR" u="sng" dirty="0">
                <a:sym typeface="Wingdings" panose="05000000000000000000" pitchFamily="2" charset="2"/>
              </a:rPr>
              <a:t> </a:t>
            </a:r>
            <a:r>
              <a:rPr lang="pt-BR" dirty="0">
                <a:sym typeface="Wingdings" panose="05000000000000000000" pitchFamily="2" charset="2"/>
              </a:rPr>
              <a:t>dentro de um contexto organizacional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Pedido na última entrega do trabalho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Comprovado por meio do </a:t>
            </a:r>
            <a:r>
              <a:rPr lang="pt-BR" i="1" dirty="0">
                <a:sym typeface="Wingdings" panose="05000000000000000000" pitchFamily="2" charset="2"/>
              </a:rPr>
              <a:t>business case </a:t>
            </a:r>
            <a:r>
              <a:rPr lang="pt-BR" dirty="0">
                <a:sym typeface="Wingdings" panose="05000000000000000000" pitchFamily="2" charset="2"/>
              </a:rPr>
              <a:t>e da valoração do projeto</a:t>
            </a:r>
          </a:p>
          <a:p>
            <a:pPr>
              <a:spcBef>
                <a:spcPts val="2400"/>
              </a:spcBef>
            </a:pPr>
            <a:r>
              <a:rPr lang="pt-BR" dirty="0"/>
              <a:t>Deve estar </a:t>
            </a:r>
            <a:r>
              <a:rPr lang="pt-BR" b="1" dirty="0"/>
              <a:t>alinhado aos objetivos estratégicos</a:t>
            </a:r>
            <a:r>
              <a:rPr lang="pt-BR" dirty="0"/>
              <a:t> da empresa</a:t>
            </a:r>
          </a:p>
          <a:p>
            <a:pPr lvl="1"/>
            <a:r>
              <a:rPr lang="pt-BR" dirty="0"/>
              <a:t>Desdobrado em Portfolios, Programas e Projetos</a:t>
            </a:r>
          </a:p>
          <a:p>
            <a:pPr lvl="1"/>
            <a:r>
              <a:rPr lang="pt-BR" dirty="0"/>
              <a:t>Desdobrado e monitorado por meio de visão do negócio e métricas (</a:t>
            </a:r>
            <a:r>
              <a:rPr lang="pt-BR" dirty="0" err="1"/>
              <a:t>OKRs</a:t>
            </a:r>
            <a:r>
              <a:rPr lang="pt-BR" dirty="0"/>
              <a:t> ou KPIs)</a:t>
            </a:r>
          </a:p>
          <a:p>
            <a:pPr>
              <a:spcBef>
                <a:spcPts val="2400"/>
              </a:spcBef>
            </a:pPr>
            <a:r>
              <a:rPr lang="pt-BR" dirty="0"/>
              <a:t>Veremos processos e ferramentas de gestão para garantir suas entregas dadas as restrições do Triângulo de Ferro</a:t>
            </a:r>
          </a:p>
        </p:txBody>
      </p:sp>
    </p:spTree>
    <p:extLst>
      <p:ext uri="{BB962C8B-B14F-4D97-AF65-F5344CB8AC3E}">
        <p14:creationId xmlns:p14="http://schemas.microsoft.com/office/powerpoint/2010/main" val="331379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F49B5-280D-B30E-E951-00813F3D1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CF6DA8-1A47-578D-431F-03DAF6F59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PMBOK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b="1" dirty="0"/>
              <a:t>Características e aplicação em projetos de software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Eixos estruturantes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Iniciação de projeto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Gerenciamento de escopo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Escopo de projetos preditivos;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Escopo de projetos adaptativos;</a:t>
            </a:r>
          </a:p>
          <a:p>
            <a:pPr marL="914400" lvl="1" indent="-457200">
              <a:buFont typeface="+mj-lt"/>
              <a:buAutoNum type="arabi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DB3AB2-74A2-234F-D8C0-1A25D73E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75A82E2-17B3-990F-14C5-F0CCFD895E6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870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62989-9F7D-1F93-5737-23406ACB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5EC05A-E688-69D5-1CBE-256CA01CD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Documento com conjunto de terminologias padronizadas e diretrizes (corpo de conhecimento) para a gestão de projetos em geral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Lançada em 1996, pelo PMI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Atualmente, 8ª versão (2025)</a:t>
            </a:r>
          </a:p>
          <a:p>
            <a:pPr>
              <a:spcBef>
                <a:spcPts val="2400"/>
              </a:spcBef>
            </a:pPr>
            <a:r>
              <a:rPr lang="pt-BR" dirty="0"/>
              <a:t>Diretrizes e técnicas exclusivas para a gestão de projetos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Mas também com outras práticas de gestão em geral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Trouxe diretrizes ágeis a partir da 6ª edição (2017)</a:t>
            </a:r>
          </a:p>
          <a:p>
            <a:endParaRPr lang="pt-BR" dirty="0">
              <a:sym typeface="Wingdings" panose="05000000000000000000" pitchFamily="2" charset="2"/>
            </a:endParaRPr>
          </a:p>
        </p:txBody>
      </p:sp>
      <p:pic>
        <p:nvPicPr>
          <p:cNvPr id="2050" name="Picture 2" descr="Gerenciamento de Projetos com PMI(35h) – Treinar">
            <a:extLst>
              <a:ext uri="{FF2B5EF4-FFF2-40B4-BE49-F238E27FC236}">
                <a16:creationId xmlns:a16="http://schemas.microsoft.com/office/drawing/2014/main" id="{A954F930-0315-67E8-BF98-E11A85124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3" b="26357"/>
          <a:stretch/>
        </p:blipFill>
        <p:spPr bwMode="auto">
          <a:xfrm>
            <a:off x="8472378" y="4829107"/>
            <a:ext cx="3298668" cy="161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66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0D2CC-38B8-7CDE-9845-4E11F13D7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03BD5-4784-B534-4A7E-04BB3ACE4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6521B7-9475-4558-1B7B-608EE5341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22029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8ª versão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Enfatiza a crucial importância da </a:t>
            </a:r>
            <a:r>
              <a:rPr lang="pt-BR" b="1" dirty="0">
                <a:solidFill>
                  <a:srgbClr val="FF0000"/>
                </a:solidFill>
              </a:rPr>
              <a:t>entrega de valor </a:t>
            </a:r>
            <a:r>
              <a:rPr lang="pt-BR" dirty="0"/>
              <a:t>de um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Todos os projetos são </a:t>
            </a:r>
            <a:r>
              <a:rPr lang="pt-BR" b="1" dirty="0">
                <a:solidFill>
                  <a:srgbClr val="FF0000"/>
                </a:solidFill>
              </a:rPr>
              <a:t>investimentos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Novas técnicas de análise de investimento em projetos</a:t>
            </a:r>
          </a:p>
          <a:p>
            <a:pPr>
              <a:spcBef>
                <a:spcPts val="2400"/>
              </a:spcBef>
            </a:pPr>
            <a:r>
              <a:rPr lang="pt-BR" dirty="0"/>
              <a:t>Foco no </a:t>
            </a:r>
            <a:r>
              <a:rPr lang="pt-BR" b="1" dirty="0"/>
              <a:t>valor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vimos na semana passada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Oferece um guia (não prescritivo) sobre como aplicar conhecimentos, técnicas e ferramentas para aumentar a chance de sucesso em projetos </a:t>
            </a:r>
          </a:p>
          <a:p>
            <a:endParaRPr lang="pt-BR" dirty="0">
              <a:sym typeface="Wingdings" panose="05000000000000000000" pitchFamily="2" charset="2"/>
            </a:endParaRPr>
          </a:p>
        </p:txBody>
      </p:sp>
      <p:pic>
        <p:nvPicPr>
          <p:cNvPr id="3074" name="Picture 2" descr="A Guide to the Project Management Body of Knowledge (Pmbok(r) Guide) -  Eighth Edition | Amazon.com.br">
            <a:extLst>
              <a:ext uri="{FF2B5EF4-FFF2-40B4-BE49-F238E27FC236}">
                <a16:creationId xmlns:a16="http://schemas.microsoft.com/office/drawing/2014/main" id="{3AABE672-653D-E66E-CBFD-321C54CAA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246" y="2435040"/>
            <a:ext cx="2513553" cy="329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21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E5A85-EED1-3456-A78D-275827D9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9962F-43D1-1845-37CC-2A0EEFF43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780FB2-287B-4062-EBC5-932B5FBC4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Versões específicas:</a:t>
            </a: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Software </a:t>
            </a:r>
            <a:r>
              <a:rPr lang="en-US" i="1" dirty="0"/>
              <a:t>Extension to the PMBOK Guide (5a </a:t>
            </a:r>
            <a:r>
              <a:rPr lang="en-US" i="1" dirty="0" err="1"/>
              <a:t>edição</a:t>
            </a:r>
            <a:r>
              <a:rPr lang="en-US" i="1" dirty="0"/>
              <a:t>, 2013)</a:t>
            </a:r>
          </a:p>
          <a:p>
            <a:pPr lvl="1"/>
            <a:r>
              <a:rPr lang="en-US" i="1" dirty="0"/>
              <a:t>Construction Extension to the PMBOK Guide</a:t>
            </a:r>
          </a:p>
          <a:p>
            <a:pPr lvl="1"/>
            <a:r>
              <a:rPr lang="en-US" i="1" dirty="0"/>
              <a:t>Government Extension to the PMBOK Guide</a:t>
            </a:r>
          </a:p>
          <a:p>
            <a:pPr lvl="1"/>
            <a:endParaRPr lang="en-US" i="1" dirty="0"/>
          </a:p>
          <a:p>
            <a:r>
              <a:rPr lang="pt-BR" noProof="0" dirty="0"/>
              <a:t>Descrevem práticas e conhecimentos adicionais</a:t>
            </a:r>
            <a:r>
              <a:rPr lang="pt-BR" dirty="0"/>
              <a:t> e com algumas adaptações aos existentes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Processos aplicáveis para gerenciar projetos com ciclo de vida adaptativo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8834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2A349A-1414-49D0-D89B-CA00EFDF9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D7CB20-659E-9BF0-0239-5BCAD4DB3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Desafios de projetos de software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 software é um produto </a:t>
            </a:r>
            <a:r>
              <a:rPr lang="pt-BR" b="1" dirty="0"/>
              <a:t>intangível</a:t>
            </a:r>
            <a:r>
              <a:rPr lang="pt-BR" dirty="0"/>
              <a:t> e </a:t>
            </a:r>
            <a:r>
              <a:rPr lang="pt-BR" b="1" dirty="0"/>
              <a:t>maleável</a:t>
            </a:r>
            <a:r>
              <a:rPr lang="pt-BR" dirty="0"/>
              <a:t>; o código-fonte do software é um texto escrito.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Os </a:t>
            </a:r>
            <a:r>
              <a:rPr lang="pt-BR" b="1" dirty="0"/>
              <a:t>requisitos mudam frequentemente </a:t>
            </a:r>
            <a:r>
              <a:rPr lang="pt-BR" dirty="0"/>
              <a:t>durante um projeto de software à medida que o conhecimento é adquirido e o escopo do projeto e do produto emergem.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 software executável </a:t>
            </a:r>
            <a:r>
              <a:rPr lang="pt-BR" b="1" dirty="0"/>
              <a:t>não é um produto independente</a:t>
            </a:r>
            <a:r>
              <a:rPr lang="pt-BR" dirty="0"/>
              <a:t>. Ele é executado em hardware computacional e geralmente faz parte de um sistema composto por diversos componentes de hardware, outros softwares e procedimentos manuais.</a:t>
            </a:r>
          </a:p>
        </p:txBody>
      </p:sp>
    </p:spTree>
    <p:extLst>
      <p:ext uri="{BB962C8B-B14F-4D97-AF65-F5344CB8AC3E}">
        <p14:creationId xmlns:p14="http://schemas.microsoft.com/office/powerpoint/2010/main" val="2746389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76738-07F1-CBF2-21C3-77C45129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de desenvolvimento de projetos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D18408-9723-B051-5E7C-7AEB2F5BA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Planejamento está presente em </a:t>
            </a:r>
            <a:r>
              <a:rPr lang="pt-BR" b="1" dirty="0"/>
              <a:t>todos os processos</a:t>
            </a:r>
          </a:p>
          <a:p>
            <a:pPr>
              <a:spcBef>
                <a:spcPts val="2400"/>
              </a:spcBef>
            </a:pPr>
            <a:r>
              <a:rPr lang="pt-BR" dirty="0"/>
              <a:t>Qual a diferença?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Quantidade de planejamento</a:t>
            </a:r>
            <a:r>
              <a:rPr lang="pt-BR" b="1" dirty="0"/>
              <a:t> prévio </a:t>
            </a:r>
            <a:r>
              <a:rPr lang="pt-BR" dirty="0"/>
              <a:t>e </a:t>
            </a:r>
            <a:r>
              <a:rPr lang="pt-BR" b="1" dirty="0"/>
              <a:t>momento</a:t>
            </a:r>
            <a:r>
              <a:rPr lang="pt-BR" dirty="0"/>
              <a:t> em que acontecem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Execução serial x execução iterativa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56FA0CC6-88C3-7C33-A09E-5940E77EE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069" y="4175666"/>
            <a:ext cx="5782482" cy="2600688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10B3BF5D-7ADC-A9D4-35C5-20E7026B1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30461"/>
            <a:ext cx="3588801" cy="198143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284ED27-8121-08C7-E2D9-2E0C56E21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131" y="4588316"/>
            <a:ext cx="3464869" cy="177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B16FC-DE89-59A0-C03A-D4B60DB2B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Preditivas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990EF6-4524-7DBC-ED1F-C7B9F0BE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79901" cy="4667250"/>
          </a:xfrm>
        </p:spPr>
        <p:txBody>
          <a:bodyPr>
            <a:normAutofit/>
          </a:bodyPr>
          <a:lstStyle/>
          <a:p>
            <a:r>
              <a:rPr lang="pt-BR" dirty="0"/>
              <a:t>Cascata, Dirigida a Plano, Tradicional</a:t>
            </a:r>
          </a:p>
          <a:p>
            <a:pPr>
              <a:spcBef>
                <a:spcPts val="2400"/>
              </a:spcBef>
            </a:pPr>
            <a:r>
              <a:rPr lang="pt-BR" dirty="0"/>
              <a:t>Ótima quando o </a:t>
            </a:r>
            <a:r>
              <a:rPr lang="pt-BR" b="1" dirty="0"/>
              <a:t>escopo do projeto pode ser estabilizado</a:t>
            </a:r>
            <a:r>
              <a:rPr lang="pt-BR" dirty="0"/>
              <a:t> logo no início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Pode ser faseado em grandes projetos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CD5660-C361-E9A0-81D7-F6BF65E41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848" y="4248944"/>
            <a:ext cx="4391912" cy="242485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FB927E6-06AD-73E0-2CE2-A78F68965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088" y="1574166"/>
            <a:ext cx="4308176" cy="2674778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FE46FC9-53F4-55D2-6E6D-15B85A8B4EF2}"/>
              </a:ext>
            </a:extLst>
          </p:cNvPr>
          <p:cNvSpPr/>
          <p:nvPr/>
        </p:nvSpPr>
        <p:spPr>
          <a:xfrm>
            <a:off x="2110154" y="5094514"/>
            <a:ext cx="2793442" cy="12058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Exemplos?</a:t>
            </a:r>
          </a:p>
        </p:txBody>
      </p:sp>
    </p:spTree>
    <p:extLst>
      <p:ext uri="{BB962C8B-B14F-4D97-AF65-F5344CB8AC3E}">
        <p14:creationId xmlns:p14="http://schemas.microsoft.com/office/powerpoint/2010/main" val="3152825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E9115-B4CC-7066-27BE-8AE2C2E0F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FE806F-FCB9-4840-4F40-3C740FCA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Preditivas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AB4DCC-723E-4509-ECDD-B1959FB00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79901" cy="4667250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pt-BR" dirty="0"/>
              <a:t>Grandes projetos com investimento significativo ou supervisão regulatória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Exigem mecanismos robustos de controle de mudança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Reavaliação cuidadosa entre as fases do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Ex.: certos projetos exigem </a:t>
            </a:r>
            <a:r>
              <a:rPr lang="pt-BR" b="1" i="1" dirty="0" err="1"/>
              <a:t>stage-gates</a:t>
            </a:r>
            <a:r>
              <a:rPr lang="pt-BR" dirty="0"/>
              <a:t> para que reguladores avaliem se produto demonstra viabilidade para continuidade (dispositivos ou medicamentos)</a:t>
            </a:r>
            <a:endParaRPr lang="pt-BR" b="1" i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CF37A40-ECA5-2A8E-7857-826BF8141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848" y="4248944"/>
            <a:ext cx="4391912" cy="242485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D29802F-B35F-2BD8-1FB2-B73604C30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088" y="1574166"/>
            <a:ext cx="4308176" cy="267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970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4A751-1290-3683-833C-A0ED5CAD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adaptativas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E4468C-DE8F-D1D7-40F6-2BC6D93F4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55197" cy="4351338"/>
          </a:xfrm>
        </p:spPr>
        <p:txBody>
          <a:bodyPr>
            <a:normAutofit/>
          </a:bodyPr>
          <a:lstStyle/>
          <a:p>
            <a:r>
              <a:rPr lang="pt-BR" dirty="0"/>
              <a:t>Dirigida a mudança ou </a:t>
            </a:r>
            <a:r>
              <a:rPr lang="pt-BR" i="1" dirty="0"/>
              <a:t>ágil</a:t>
            </a:r>
          </a:p>
          <a:p>
            <a:pPr>
              <a:spcBef>
                <a:spcPts val="2400"/>
              </a:spcBef>
            </a:pPr>
            <a:r>
              <a:rPr lang="pt-BR" dirty="0"/>
              <a:t>Útil quando os requisitos do projeto e sua solução técnica estão sujeitos a um alto nível de </a:t>
            </a:r>
            <a:r>
              <a:rPr lang="pt-BR" b="1" dirty="0"/>
              <a:t>incerteza</a:t>
            </a:r>
            <a:r>
              <a:rPr lang="pt-BR" dirty="0"/>
              <a:t> e </a:t>
            </a:r>
            <a:r>
              <a:rPr lang="pt-BR" b="1" dirty="0"/>
              <a:t>volatilidade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Requisitos são progressivamente elaborados, modificados ou substituídos conforme feedback dos stakeholders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C346DBD-35AB-A3E8-0A6D-EEDEBF096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397" y="1825625"/>
            <a:ext cx="5585756" cy="286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7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E7FD3-8D91-042C-2F66-880D39384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crementing Mona Lisa">
            <a:extLst>
              <a:ext uri="{FF2B5EF4-FFF2-40B4-BE49-F238E27FC236}">
                <a16:creationId xmlns:a16="http://schemas.microsoft.com/office/drawing/2014/main" id="{9B77DBBB-653C-50DD-6830-9766F22AE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758" y="4755440"/>
            <a:ext cx="4675834" cy="12631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2305848-3630-3691-363F-FB4F0FCE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adaptativas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240663-66CC-DA94-1E87-6E9518A67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pt-BR" dirty="0"/>
              <a:t>Entrega o produto final em 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incrementos</a:t>
            </a:r>
            <a:r>
              <a:rPr lang="pt-BR" dirty="0"/>
              <a:t> pequenos, que já agregam valor e que são construídos uns sobre os outros até o produto final; 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iterações</a:t>
            </a:r>
            <a:r>
              <a:rPr lang="pt-BR" dirty="0"/>
              <a:t>, que refina continuamente suas funcionalidades e sua qualidade</a:t>
            </a:r>
          </a:p>
          <a:p>
            <a:pPr>
              <a:spcBef>
                <a:spcPts val="2400"/>
              </a:spcBef>
            </a:pPr>
            <a:r>
              <a:rPr lang="pt-BR" dirty="0"/>
              <a:t>Agendamento baseado em fluxo (</a:t>
            </a:r>
            <a:r>
              <a:rPr lang="pt-BR" i="1" dirty="0" err="1"/>
              <a:t>Kanban</a:t>
            </a:r>
            <a:r>
              <a:rPr lang="pt-BR" i="1" dirty="0"/>
              <a:t>, Lean</a:t>
            </a:r>
            <a:r>
              <a:rPr lang="pt-BR" dirty="0"/>
              <a:t>)</a:t>
            </a:r>
          </a:p>
        </p:txBody>
      </p:sp>
      <p:pic>
        <p:nvPicPr>
          <p:cNvPr id="1028" name="Picture 4" descr="Iterating Mona Lisa">
            <a:extLst>
              <a:ext uri="{FF2B5EF4-FFF2-40B4-BE49-F238E27FC236}">
                <a16:creationId xmlns:a16="http://schemas.microsoft.com/office/drawing/2014/main" id="{39C761A6-DE3B-3412-7655-B1B07DE1B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955" y="4755441"/>
            <a:ext cx="4678679" cy="12631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800A22E-C984-84B6-A7A1-4528D8B7320B}"/>
              </a:ext>
            </a:extLst>
          </p:cNvPr>
          <p:cNvSpPr txBox="1"/>
          <p:nvPr/>
        </p:nvSpPr>
        <p:spPr>
          <a:xfrm>
            <a:off x="2565496" y="6157208"/>
            <a:ext cx="7578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hlinkClick r:id="rId5"/>
              </a:rPr>
              <a:t>https://itsadeliverything.com/revisiting-the-iterative-incremental-mona-lisa</a:t>
            </a:r>
            <a:r>
              <a:rPr lang="pt-B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8996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D86BE-82E0-F267-3208-442E9BE1A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adaptativas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8C0FA-9F5E-826F-5B3F-AE5F1B2A2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49336" cy="4351338"/>
          </a:xfrm>
        </p:spPr>
        <p:txBody>
          <a:bodyPr>
            <a:normAutofit fontScale="92500" lnSpcReduction="20000"/>
          </a:bodyPr>
          <a:lstStyle/>
          <a:p>
            <a:r>
              <a:rPr lang="pt-BR" sz="3000" dirty="0"/>
              <a:t>Exemplos de métodos adaptativos (ágeis), conforme </a:t>
            </a:r>
            <a:r>
              <a:rPr lang="pt-BR" sz="3000" b="1" dirty="0"/>
              <a:t>grau de cobertura</a:t>
            </a:r>
            <a:r>
              <a:rPr lang="pt-BR" sz="3000" dirty="0"/>
              <a:t> (eixo y) e </a:t>
            </a:r>
            <a:r>
              <a:rPr lang="pt-BR" sz="3000" b="1" dirty="0"/>
              <a:t>detalhamento das atividades </a:t>
            </a:r>
            <a:r>
              <a:rPr lang="pt-BR" sz="3000" dirty="0"/>
              <a:t>(eixo x)</a:t>
            </a:r>
          </a:p>
          <a:p>
            <a:pPr>
              <a:spcBef>
                <a:spcPts val="2400"/>
              </a:spcBef>
            </a:pPr>
            <a:r>
              <a:rPr lang="pt-BR" dirty="0"/>
              <a:t>Aplicações: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Projetos de design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Desenvolvimento de novos produtos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Projetos digitais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548B09-3484-8CF3-0385-EA41ADF09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324" y="1825625"/>
            <a:ext cx="7515657" cy="467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39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EA742-F421-8232-A438-DEC5F166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híbridas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9CC7C2-44FE-E6CF-B8B7-29EEF3795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Combinação de aspectos das abordagens preditivas e adaptativas</a:t>
            </a:r>
          </a:p>
          <a:p>
            <a:r>
              <a:rPr lang="pt-BR" dirty="0"/>
              <a:t>Muito usado na prática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Combina </a:t>
            </a:r>
            <a:r>
              <a:rPr lang="pt-BR" b="1" dirty="0"/>
              <a:t>flexibilidade</a:t>
            </a:r>
            <a:r>
              <a:rPr lang="pt-BR" dirty="0"/>
              <a:t> para se adaptar a condições de mudanças enquanto mantém </a:t>
            </a:r>
            <a:r>
              <a:rPr lang="pt-BR" b="1" dirty="0"/>
              <a:t>controle</a:t>
            </a:r>
            <a:r>
              <a:rPr lang="pt-BR" dirty="0"/>
              <a:t> sobre aspectos previsíveis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Projetos de TI em geral: desenvolvimento de software + implantação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143D5A0-7CA9-4E84-38DA-CA6D131DD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26" y="4248327"/>
            <a:ext cx="5801535" cy="11145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9E4FCBD-51DD-3C02-C454-777FD0060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55" y="5581112"/>
            <a:ext cx="5877745" cy="112410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4BAFC8B-B6CA-5B4E-4D1F-43855DDD4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834" y="4238279"/>
            <a:ext cx="5849166" cy="114316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4D77B91-A799-FAD9-B9E1-84FE91AB9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649" y="5581240"/>
            <a:ext cx="5801535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2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1F569-2484-845D-ED9F-98D05F54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Abordagens de desenvolvimento de projetos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F1946E-36F3-A5B6-82F5-BD550CC08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26275" cy="4351338"/>
          </a:xfrm>
        </p:spPr>
        <p:txBody>
          <a:bodyPr/>
          <a:lstStyle/>
          <a:p>
            <a:r>
              <a:rPr lang="pt-BR" dirty="0"/>
              <a:t>Baseada na </a:t>
            </a:r>
            <a:r>
              <a:rPr lang="pt-BR" b="1" dirty="0"/>
              <a:t>natureza do projeto</a:t>
            </a:r>
          </a:p>
          <a:p>
            <a:pPr lvl="1"/>
            <a:r>
              <a:rPr lang="pt-BR" dirty="0"/>
              <a:t>Decidido pelo Gerente do Projeto</a:t>
            </a:r>
          </a:p>
          <a:p>
            <a:pPr lvl="1"/>
            <a:r>
              <a:rPr lang="pt-BR" dirty="0"/>
              <a:t>Consulta com Equipe de Gerência</a:t>
            </a:r>
          </a:p>
          <a:p>
            <a:pPr>
              <a:spcBef>
                <a:spcPts val="2400"/>
              </a:spcBef>
            </a:pPr>
            <a:r>
              <a:rPr lang="pt-BR" dirty="0"/>
              <a:t>Adotados conforme grau de flexibilidade  das restrições do </a:t>
            </a:r>
            <a:r>
              <a:rPr lang="pt-BR" b="1" dirty="0"/>
              <a:t>Triângulo de Ferro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Principalmente do Escopo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Graus de </a:t>
            </a:r>
            <a:r>
              <a:rPr lang="pt-BR" b="1" u="sng" dirty="0"/>
              <a:t>clareza</a:t>
            </a:r>
            <a:r>
              <a:rPr lang="pt-BR" dirty="0"/>
              <a:t> e </a:t>
            </a:r>
            <a:r>
              <a:rPr lang="pt-BR" b="1" u="sng" dirty="0"/>
              <a:t>estabilidade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b="1" u="sng" dirty="0">
                <a:sym typeface="Wingdings" panose="05000000000000000000" pitchFamily="2" charset="2"/>
              </a:rPr>
              <a:t> </a:t>
            </a:r>
            <a:r>
              <a:rPr lang="pt-BR" dirty="0">
                <a:sym typeface="Wingdings" panose="05000000000000000000" pitchFamily="2" charset="2"/>
              </a:rPr>
              <a:t>complexidade e incerteza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E7FE96C-1C4F-2F94-CB15-023C68358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260" y="2388580"/>
            <a:ext cx="3288191" cy="27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5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C86F3-A704-8D7D-A5FF-10227329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Fatores para seleção de abordagem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937F1A-8D9A-4A1B-1CC9-5FDF218E2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Entregáveis</a:t>
            </a:r>
          </a:p>
          <a:p>
            <a:pPr lvl="1"/>
            <a:r>
              <a:rPr lang="pt-BR" dirty="0"/>
              <a:t>Grau de inovação, estabilidade dos requisitos, facilidade de mudança, riscos, requisitos de segurança, feedback, regulações</a:t>
            </a:r>
          </a:p>
          <a:p>
            <a:pPr>
              <a:spcBef>
                <a:spcPts val="2400"/>
              </a:spcBef>
            </a:pPr>
            <a:r>
              <a:rPr lang="pt-BR" dirty="0"/>
              <a:t>Projeto</a:t>
            </a:r>
          </a:p>
          <a:p>
            <a:pPr lvl="1"/>
            <a:r>
              <a:rPr lang="pt-BR" dirty="0"/>
              <a:t>Stakeholders, restrições de cronograma, incerteza financeira, tamanho e complexidade do projeto, experiencia da equipe, interdependências </a:t>
            </a:r>
          </a:p>
          <a:p>
            <a:pPr>
              <a:spcBef>
                <a:spcPts val="2400"/>
              </a:spcBef>
            </a:pPr>
            <a:r>
              <a:rPr lang="pt-BR" dirty="0"/>
              <a:t>Organização</a:t>
            </a:r>
          </a:p>
          <a:p>
            <a:pPr lvl="1"/>
            <a:r>
              <a:rPr lang="pt-BR" dirty="0"/>
              <a:t>Estrutura organizacional, cultura, capacidade organizacional, tamanho e localização da equipe do projeto</a:t>
            </a:r>
          </a:p>
          <a:p>
            <a:pPr>
              <a:spcBef>
                <a:spcPts val="2400"/>
              </a:spcBef>
            </a:pPr>
            <a:r>
              <a:rPr lang="pt-BR" dirty="0"/>
              <a:t>Cadência de entregas</a:t>
            </a:r>
          </a:p>
          <a:p>
            <a:pPr lvl="1"/>
            <a:r>
              <a:rPr lang="pt-BR" dirty="0"/>
              <a:t>Entrega única x múltiplas entregas, periódica x contínua</a:t>
            </a:r>
          </a:p>
        </p:txBody>
      </p:sp>
    </p:spTree>
    <p:extLst>
      <p:ext uri="{BB962C8B-B14F-4D97-AF65-F5344CB8AC3E}">
        <p14:creationId xmlns:p14="http://schemas.microsoft.com/office/powerpoint/2010/main" val="394028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85A72-74ED-6301-3CAC-45F53A56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57E861-BDBC-1114-6E77-9435F10ED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PMBOK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Características e aplicação em projetos de software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b="1" dirty="0"/>
              <a:t>Eixos estruturantes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Iniciação de projeto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Gerenciamento de escopo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Escopo de projetos preditivos;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Escopo de projetos adaptativos;</a:t>
            </a:r>
          </a:p>
          <a:p>
            <a:pPr marL="914400" lvl="1" indent="-457200">
              <a:buFont typeface="+mj-lt"/>
              <a:buAutoNum type="arabi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198325-4835-4A15-0E31-03FBDDFF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CCB152E-AA8D-9103-376A-14F7F9BE3DE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1866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B07DB-1CFE-C7CD-02E3-6BC1B304E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Eixos estruturantes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74E8D3-F99B-8996-B2A5-977096F20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Fases do ciclo de vida de projetos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Domínios de Performance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Processos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Customização</a:t>
            </a:r>
          </a:p>
        </p:txBody>
      </p:sp>
    </p:spTree>
    <p:extLst>
      <p:ext uri="{BB962C8B-B14F-4D97-AF65-F5344CB8AC3E}">
        <p14:creationId xmlns:p14="http://schemas.microsoft.com/office/powerpoint/2010/main" val="1059445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FAC99-1023-EBD7-D5A9-2EE591D0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F15EA-6377-92A9-4271-775278D7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66889-85D5-D56C-B61D-81A36978E481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Ciclo de vida de um projeto</a:t>
            </a:r>
          </a:p>
          <a:p>
            <a:pPr lvl="1"/>
            <a:r>
              <a:rPr lang="pt-BR" b="1" dirty="0"/>
              <a:t>Áreas de foco</a:t>
            </a:r>
            <a:r>
              <a:rPr lang="pt-BR" dirty="0"/>
              <a:t> (</a:t>
            </a:r>
            <a:r>
              <a:rPr lang="pt-BR" i="1" dirty="0"/>
              <a:t>Focus Area</a:t>
            </a:r>
            <a:r>
              <a:rPr lang="pt-BR" dirty="0"/>
              <a:t>) da gestão de projetos (fases)</a:t>
            </a:r>
          </a:p>
        </p:txBody>
      </p:sp>
      <p:sp>
        <p:nvSpPr>
          <p:cNvPr id="4" name="Retângulo de cantos arredondados 6">
            <a:extLst>
              <a:ext uri="{FF2B5EF4-FFF2-40B4-BE49-F238E27FC236}">
                <a16:creationId xmlns:a16="http://schemas.microsoft.com/office/drawing/2014/main" id="{FD3A30B4-1425-45EE-D9FB-EBD62AEC6885}"/>
              </a:ext>
            </a:extLst>
          </p:cNvPr>
          <p:cNvSpPr/>
          <p:nvPr/>
        </p:nvSpPr>
        <p:spPr>
          <a:xfrm>
            <a:off x="3773746" y="3641294"/>
            <a:ext cx="1620000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Planejamento</a:t>
            </a:r>
          </a:p>
        </p:txBody>
      </p:sp>
      <p:sp>
        <p:nvSpPr>
          <p:cNvPr id="5" name="Retângulo de cantos arredondados 7">
            <a:extLst>
              <a:ext uri="{FF2B5EF4-FFF2-40B4-BE49-F238E27FC236}">
                <a16:creationId xmlns:a16="http://schemas.microsoft.com/office/drawing/2014/main" id="{4627765F-5276-A06B-DA63-EB33C58DB32F}"/>
              </a:ext>
            </a:extLst>
          </p:cNvPr>
          <p:cNvSpPr/>
          <p:nvPr/>
        </p:nvSpPr>
        <p:spPr>
          <a:xfrm>
            <a:off x="5999150" y="2855476"/>
            <a:ext cx="1762876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Execução</a:t>
            </a:r>
          </a:p>
        </p:txBody>
      </p:sp>
      <p:sp>
        <p:nvSpPr>
          <p:cNvPr id="6" name="Retângulo de cantos arredondados 8">
            <a:extLst>
              <a:ext uri="{FF2B5EF4-FFF2-40B4-BE49-F238E27FC236}">
                <a16:creationId xmlns:a16="http://schemas.microsoft.com/office/drawing/2014/main" id="{012F0E9C-138E-8F0B-A1C3-623CED568D13}"/>
              </a:ext>
            </a:extLst>
          </p:cNvPr>
          <p:cNvSpPr/>
          <p:nvPr/>
        </p:nvSpPr>
        <p:spPr>
          <a:xfrm>
            <a:off x="5999150" y="4355674"/>
            <a:ext cx="1762876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Monitoramento e Controle</a:t>
            </a:r>
          </a:p>
        </p:txBody>
      </p:sp>
      <p:sp>
        <p:nvSpPr>
          <p:cNvPr id="7" name="Seta para cima e para baixo 10">
            <a:extLst>
              <a:ext uri="{FF2B5EF4-FFF2-40B4-BE49-F238E27FC236}">
                <a16:creationId xmlns:a16="http://schemas.microsoft.com/office/drawing/2014/main" id="{BB72F9D4-9DA3-DA33-76B4-CBB250480A72}"/>
              </a:ext>
            </a:extLst>
          </p:cNvPr>
          <p:cNvSpPr/>
          <p:nvPr/>
        </p:nvSpPr>
        <p:spPr>
          <a:xfrm>
            <a:off x="6634452" y="3641294"/>
            <a:ext cx="484632" cy="64294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8" name="Retângulo de cantos arredondados 11">
            <a:extLst>
              <a:ext uri="{FF2B5EF4-FFF2-40B4-BE49-F238E27FC236}">
                <a16:creationId xmlns:a16="http://schemas.microsoft.com/office/drawing/2014/main" id="{27548853-4BCA-4D29-C603-DE8FECC127E9}"/>
              </a:ext>
            </a:extLst>
          </p:cNvPr>
          <p:cNvSpPr/>
          <p:nvPr/>
        </p:nvSpPr>
        <p:spPr>
          <a:xfrm>
            <a:off x="1430751" y="3641294"/>
            <a:ext cx="1620000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Iniciação</a:t>
            </a:r>
          </a:p>
        </p:txBody>
      </p:sp>
      <p:sp>
        <p:nvSpPr>
          <p:cNvPr id="9" name="Retângulo de cantos arredondados 12">
            <a:extLst>
              <a:ext uri="{FF2B5EF4-FFF2-40B4-BE49-F238E27FC236}">
                <a16:creationId xmlns:a16="http://schemas.microsoft.com/office/drawing/2014/main" id="{EEEF21E4-23DD-F3B7-6280-CDC775E2126A}"/>
              </a:ext>
            </a:extLst>
          </p:cNvPr>
          <p:cNvSpPr/>
          <p:nvPr/>
        </p:nvSpPr>
        <p:spPr>
          <a:xfrm>
            <a:off x="8614558" y="3641294"/>
            <a:ext cx="1620000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Encerramento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EE843E-489C-BA8D-022C-64BA5DCCB7FE}"/>
              </a:ext>
            </a:extLst>
          </p:cNvPr>
          <p:cNvSpPr txBox="1"/>
          <p:nvPr/>
        </p:nvSpPr>
        <p:spPr>
          <a:xfrm>
            <a:off x="1363748" y="5050949"/>
            <a:ext cx="175400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i="1" dirty="0"/>
              <a:t>Business case</a:t>
            </a:r>
          </a:p>
          <a:p>
            <a:pPr algn="ctr"/>
            <a:r>
              <a:rPr lang="pt-BR" sz="1600" dirty="0"/>
              <a:t>Termo da Abertura</a:t>
            </a:r>
          </a:p>
          <a:p>
            <a:pPr algn="ctr"/>
            <a:endParaRPr lang="pt-BR" sz="16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54B6C93-587E-C516-71E9-AD692F3733FE}"/>
              </a:ext>
            </a:extLst>
          </p:cNvPr>
          <p:cNvSpPr txBox="1"/>
          <p:nvPr/>
        </p:nvSpPr>
        <p:spPr>
          <a:xfrm>
            <a:off x="8035492" y="5049013"/>
            <a:ext cx="27781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Termo de aceite/encerramento</a:t>
            </a:r>
          </a:p>
          <a:p>
            <a:pPr algn="ctr"/>
            <a:r>
              <a:rPr lang="pt-BR" sz="1600" dirty="0"/>
              <a:t>Lições aprendidas</a:t>
            </a:r>
          </a:p>
          <a:p>
            <a:pPr algn="ctr"/>
            <a:r>
              <a:rPr lang="pt-BR" sz="1600" dirty="0"/>
              <a:t>Relatório final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4768082-CBCE-566C-3E47-8FC5E030105F}"/>
              </a:ext>
            </a:extLst>
          </p:cNvPr>
          <p:cNvSpPr txBox="1"/>
          <p:nvPr/>
        </p:nvSpPr>
        <p:spPr>
          <a:xfrm>
            <a:off x="3795517" y="4715674"/>
            <a:ext cx="157645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EAP</a:t>
            </a:r>
          </a:p>
          <a:p>
            <a:pPr algn="ctr"/>
            <a:r>
              <a:rPr lang="pt-BR" sz="1600" dirty="0"/>
              <a:t>Cronograma</a:t>
            </a:r>
          </a:p>
          <a:p>
            <a:pPr algn="ctr"/>
            <a:r>
              <a:rPr lang="pt-BR" sz="1600" dirty="0"/>
              <a:t>Orçamento</a:t>
            </a:r>
          </a:p>
          <a:p>
            <a:pPr algn="ctr"/>
            <a:r>
              <a:rPr lang="pt-BR" sz="1600" dirty="0"/>
              <a:t>Riscos</a:t>
            </a:r>
          </a:p>
          <a:p>
            <a:pPr algn="ctr"/>
            <a:r>
              <a:rPr lang="pt-BR" sz="1600" dirty="0"/>
              <a:t>Qualidade</a:t>
            </a:r>
          </a:p>
          <a:p>
            <a:pPr algn="ctr"/>
            <a:r>
              <a:rPr lang="pt-BR" sz="1600" dirty="0"/>
              <a:t>Comunicação</a:t>
            </a:r>
          </a:p>
          <a:p>
            <a:pPr algn="ctr"/>
            <a:r>
              <a:rPr lang="pt-BR" sz="1600" dirty="0"/>
              <a:t>Recursos/equipe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C8AB70-79E7-8936-6580-AFDAB9A71148}"/>
              </a:ext>
            </a:extLst>
          </p:cNvPr>
          <p:cNvSpPr txBox="1"/>
          <p:nvPr/>
        </p:nvSpPr>
        <p:spPr>
          <a:xfrm>
            <a:off x="7794711" y="2890713"/>
            <a:ext cx="2067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Relatório de progresso</a:t>
            </a:r>
          </a:p>
          <a:p>
            <a:pPr algn="ctr"/>
            <a:r>
              <a:rPr lang="pt-BR" sz="1600" dirty="0"/>
              <a:t>Registro de mudanças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C0F74A7-476F-250E-EEC0-0641EBB69CAB}"/>
              </a:ext>
            </a:extLst>
          </p:cNvPr>
          <p:cNvSpPr txBox="1"/>
          <p:nvPr/>
        </p:nvSpPr>
        <p:spPr>
          <a:xfrm>
            <a:off x="5549295" y="5331227"/>
            <a:ext cx="2541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Indicadores de desempenho</a:t>
            </a:r>
          </a:p>
          <a:p>
            <a:pPr algn="ctr"/>
            <a:r>
              <a:rPr lang="pt-BR" sz="1600" dirty="0"/>
              <a:t>Mudanças e correções</a:t>
            </a:r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697837AD-7030-EAB7-7FEA-818DF218BD3C}"/>
              </a:ext>
            </a:extLst>
          </p:cNvPr>
          <p:cNvSpPr/>
          <p:nvPr/>
        </p:nvSpPr>
        <p:spPr>
          <a:xfrm>
            <a:off x="3220985" y="3799604"/>
            <a:ext cx="38252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6E4713E6-9A10-C07B-67EB-EB2520D5171E}"/>
              </a:ext>
            </a:extLst>
          </p:cNvPr>
          <p:cNvSpPr/>
          <p:nvPr/>
        </p:nvSpPr>
        <p:spPr>
          <a:xfrm>
            <a:off x="5597259" y="3799604"/>
            <a:ext cx="38252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0B6E6F0F-E248-A32C-19CC-5909190B7E9A}"/>
              </a:ext>
            </a:extLst>
          </p:cNvPr>
          <p:cNvSpPr/>
          <p:nvPr/>
        </p:nvSpPr>
        <p:spPr>
          <a:xfrm>
            <a:off x="8084416" y="3799604"/>
            <a:ext cx="38252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6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65EFB-2D1C-BA29-184B-75033B93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Esforço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1D5468-286C-B2B9-DB9B-02A001A39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251851-A487-53E7-D9E7-03876FFAC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947935" cy="395078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37BD936-E32F-DF99-2163-E27F69288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023" y="2719625"/>
            <a:ext cx="7494755" cy="385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7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82218-0543-423D-6578-473BF2F8A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23130C-EAFD-383E-CF7E-964834CA4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462116" cy="4887691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pt-BR" b="1" dirty="0"/>
              <a:t>Domínios de Desempenho </a:t>
            </a:r>
            <a:r>
              <a:rPr lang="pt-BR" dirty="0"/>
              <a:t>(</a:t>
            </a:r>
            <a:r>
              <a:rPr lang="pt-BR" i="1" dirty="0"/>
              <a:t>Performance </a:t>
            </a:r>
            <a:r>
              <a:rPr lang="pt-BR" i="1" dirty="0" err="1"/>
              <a:t>Domains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Escopo</a:t>
            </a:r>
          </a:p>
          <a:p>
            <a:pPr lvl="1"/>
            <a:r>
              <a:rPr lang="pt-BR" dirty="0"/>
              <a:t>Cronograma</a:t>
            </a:r>
          </a:p>
          <a:p>
            <a:pPr lvl="1"/>
            <a:r>
              <a:rPr lang="pt-BR" dirty="0"/>
              <a:t>Finança</a:t>
            </a:r>
          </a:p>
          <a:p>
            <a:pPr lvl="1"/>
            <a:r>
              <a:rPr lang="pt-BR" dirty="0"/>
              <a:t>Risco</a:t>
            </a:r>
          </a:p>
          <a:p>
            <a:pPr lvl="1"/>
            <a:r>
              <a:rPr lang="pt-BR" dirty="0"/>
              <a:t>Recursos</a:t>
            </a:r>
          </a:p>
          <a:p>
            <a:pPr lvl="1"/>
            <a:r>
              <a:rPr lang="pt-BR" dirty="0"/>
              <a:t>Stakeholders</a:t>
            </a:r>
          </a:p>
          <a:p>
            <a:pPr lvl="1"/>
            <a:r>
              <a:rPr lang="pt-BR" dirty="0"/>
              <a:t>Governança</a:t>
            </a:r>
          </a:p>
          <a:p>
            <a:pPr>
              <a:spcBef>
                <a:spcPts val="2400"/>
              </a:spcBef>
            </a:pPr>
            <a:r>
              <a:rPr lang="pt-BR" dirty="0"/>
              <a:t>Áreas de atenção contínua que devem ser gerenciadas ao longo de todo o projeto</a:t>
            </a:r>
          </a:p>
          <a:p>
            <a:pPr>
              <a:spcBef>
                <a:spcPts val="2400"/>
              </a:spcBef>
            </a:pPr>
            <a:r>
              <a:rPr lang="pt-BR" dirty="0"/>
              <a:t>Não são sequenciais, mas interdependentes e contínuos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90A3C4-54F6-7E9C-9A02-0940AA5B9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251" y="1996478"/>
            <a:ext cx="5580857" cy="349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146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2AA35-9D5D-E458-E3C0-CFB3AD21B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F78E486-D5B6-746F-A157-45840B536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5655" y="0"/>
            <a:ext cx="5396345" cy="6877696"/>
          </a:xfr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59343ACA-6D1F-14B1-8B0C-89D9748964C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39634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pt-BR" dirty="0"/>
              <a:t>Processos (40)</a:t>
            </a:r>
          </a:p>
          <a:p>
            <a:pPr lvl="1"/>
            <a:r>
              <a:rPr lang="pt-BR" dirty="0"/>
              <a:t>Entradas</a:t>
            </a:r>
          </a:p>
          <a:p>
            <a:pPr lvl="1"/>
            <a:r>
              <a:rPr lang="pt-BR" dirty="0"/>
              <a:t>Ferramentas e técnicas</a:t>
            </a:r>
          </a:p>
          <a:p>
            <a:pPr lvl="1"/>
            <a:r>
              <a:rPr lang="pt-BR" dirty="0"/>
              <a:t>Saídas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60272BA-5C67-276E-142E-9D55DCBA9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67" y="3635374"/>
            <a:ext cx="5166533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2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37DB39-15AE-96F5-BCA3-F83BDF53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PMBOK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F4E64C-2575-1497-8223-A1BE9E989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pt-BR" dirty="0"/>
              <a:t>Adaptação, customização (</a:t>
            </a:r>
            <a:r>
              <a:rPr lang="pt-BR" i="1" dirty="0" err="1"/>
              <a:t>Tailoring</a:t>
            </a:r>
            <a:r>
              <a:rPr lang="pt-BR" dirty="0"/>
              <a:t>)</a:t>
            </a:r>
          </a:p>
          <a:p>
            <a:pPr>
              <a:spcBef>
                <a:spcPts val="2400"/>
              </a:spcBef>
            </a:pPr>
            <a:r>
              <a:rPr lang="pt-BR" dirty="0"/>
              <a:t>Considerações e exemplos que ilustram como podem ser aplicados ajustes contextuais para os processos individuais ou para todo o domínio de performance</a:t>
            </a:r>
          </a:p>
        </p:txBody>
      </p:sp>
    </p:spTree>
    <p:extLst>
      <p:ext uri="{BB962C8B-B14F-4D97-AF65-F5344CB8AC3E}">
        <p14:creationId xmlns:p14="http://schemas.microsoft.com/office/powerpoint/2010/main" val="89946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C4F99-2A7B-05DE-6D36-B665B2F28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DE7901-BD0C-D599-BEA5-E99D60AE3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Começamos entendendo por que o projeto existe (valor), depois decidimos como fazê-lo (abordagem), e só então planejamos e executamos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1506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0692E-576C-D332-43CA-C6C9E192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E7ECC9-82D9-85C2-44C3-2B3B22061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 </a:t>
            </a:r>
            <a:r>
              <a:rPr lang="pt-BR" b="1" dirty="0"/>
              <a:t>PMBOK (Project Management Body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Knowledge</a:t>
            </a:r>
            <a:r>
              <a:rPr lang="pt-BR" b="1" dirty="0"/>
              <a:t>)</a:t>
            </a:r>
            <a:r>
              <a:rPr lang="pt-BR" dirty="0"/>
              <a:t> pode ser corretamente definido como: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pt-BR" dirty="0"/>
              <a:t>A) Uma metodologia rígida que define etapas obrigatórias para todos os projetos</a:t>
            </a:r>
            <a:br>
              <a:rPr lang="pt-BR" dirty="0"/>
            </a:br>
            <a:endParaRPr lang="pt-BR" dirty="0"/>
          </a:p>
          <a:p>
            <a:pPr marL="457200" lvl="1" indent="0">
              <a:spcBef>
                <a:spcPts val="1200"/>
              </a:spcBef>
              <a:buNone/>
            </a:pPr>
            <a:r>
              <a:rPr lang="pt-BR" dirty="0"/>
              <a:t>B) Um guia de boas práticas que orienta o gerenciamento de projetos, sem prescrever uma única forma de execução</a:t>
            </a:r>
            <a:br>
              <a:rPr lang="pt-BR" dirty="0"/>
            </a:br>
            <a:endParaRPr lang="pt-BR" dirty="0"/>
          </a:p>
          <a:p>
            <a:pPr marL="457200" lvl="1" indent="0">
              <a:spcBef>
                <a:spcPts val="1200"/>
              </a:spcBef>
              <a:buNone/>
            </a:pPr>
            <a:r>
              <a:rPr lang="pt-BR" dirty="0"/>
              <a:t>C) Um framework exclusivo para projetos de software ágil</a:t>
            </a:r>
            <a:br>
              <a:rPr lang="pt-BR" dirty="0"/>
            </a:br>
            <a:endParaRPr lang="pt-BR" dirty="0"/>
          </a:p>
          <a:p>
            <a:pPr marL="457200" lvl="1" indent="0">
              <a:spcBef>
                <a:spcPts val="1200"/>
              </a:spcBef>
              <a:buNone/>
            </a:pPr>
            <a:r>
              <a:rPr lang="pt-BR" dirty="0"/>
              <a:t>D) Um conjunto de ferramentas voltadas apenas ao planejamento de projetos</a:t>
            </a:r>
            <a:br>
              <a:rPr lang="pt-BR" dirty="0"/>
            </a:br>
            <a:endParaRPr lang="pt-BR" dirty="0"/>
          </a:p>
          <a:p>
            <a:pPr marL="457200" lvl="1" indent="0">
              <a:spcBef>
                <a:spcPts val="1200"/>
              </a:spcBef>
              <a:buNone/>
            </a:pPr>
            <a:r>
              <a:rPr lang="pt-BR" dirty="0"/>
              <a:t>E) Um padrão que substitui completamente outras metodologias de gestão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93A6B72-82CA-66F9-015A-7F56F33927D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1489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41535-D89F-0635-3151-A1FCD981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D2BB41-E046-5C36-BE89-BBE61CEB1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 acordo com o PMBOK, as fases clássicas do ciclo de vida de um projeto são:</a:t>
            </a:r>
          </a:p>
          <a:p>
            <a:pPr marL="914400" lvl="1" indent="-457200">
              <a:spcBef>
                <a:spcPts val="1800"/>
              </a:spcBef>
              <a:buAutoNum type="alphaUcParenR"/>
            </a:pPr>
            <a:r>
              <a:rPr lang="pt-BR" dirty="0"/>
              <a:t>Iniciação, Planejamento, Execução, Testes e Encerramento</a:t>
            </a:r>
          </a:p>
          <a:p>
            <a:pPr marL="914400" lvl="1" indent="-457200">
              <a:spcBef>
                <a:spcPts val="1800"/>
              </a:spcBef>
              <a:buAutoNum type="alphaUcParenR"/>
            </a:pPr>
            <a:r>
              <a:rPr lang="pt-BR" dirty="0"/>
              <a:t>Planejamento, Execução, Monitoramento, Controle e Implantação</a:t>
            </a:r>
          </a:p>
          <a:p>
            <a:pPr marL="914400" lvl="1" indent="-457200">
              <a:spcBef>
                <a:spcPts val="1800"/>
              </a:spcBef>
              <a:buAutoNum type="alphaUcParenR"/>
            </a:pPr>
            <a:r>
              <a:rPr lang="pt-BR" dirty="0"/>
              <a:t>Iniciação, Planejamento, Execução, Monitoramento e Controle, Encerramento</a:t>
            </a:r>
          </a:p>
          <a:p>
            <a:pPr marL="914400" lvl="1" indent="-457200">
              <a:spcBef>
                <a:spcPts val="1800"/>
              </a:spcBef>
              <a:buAutoNum type="alphaUcParenR"/>
            </a:pPr>
            <a:r>
              <a:rPr lang="pt-BR" dirty="0"/>
              <a:t>Análise, Projeto, Implementação, Testes e Manutenção</a:t>
            </a:r>
          </a:p>
          <a:p>
            <a:pPr marL="914400" lvl="1" indent="-457200">
              <a:spcBef>
                <a:spcPts val="1800"/>
              </a:spcBef>
              <a:buAutoNum type="alphaUcParenR"/>
            </a:pPr>
            <a:r>
              <a:rPr lang="pt-BR" dirty="0"/>
              <a:t>Iniciação, Execução, Validação e Encerramento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CCBD36-9F29-3987-39B5-5212E8D62EA8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959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C88D2-EA07-25DA-0970-26623F451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7C0331-2555-ED93-EE34-B921C85DB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No PMBOK atual, os domínios de desempenho são melhor compreendidos como: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A) Etapas sequenciais que devem ser seguidas do início ao fim do projeto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B) Áreas de conhecimento isoladas aplicadas apenas no planejamento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C) Conjuntos de atividades que substituem completamente os processos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D) Áreas de atenção contínua que devem ser gerenciadas ao longo de todo o projeto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E) Fases específicas do ciclo de vida do projeto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CE2F0DD-B089-4001-8024-BE538B8D57E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63677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BD416-6D9B-3A76-3D8B-822078178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E37295-C517-814F-6DE2-D25E6C80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equipe vai desenvolver um sistema cujos requisitos ainda não estão totalmente claros e podem mudar com frequência.</a:t>
            </a:r>
          </a:p>
          <a:p>
            <a:endParaRPr lang="pt-BR" dirty="0"/>
          </a:p>
          <a:p>
            <a:r>
              <a:rPr lang="pt-BR" dirty="0"/>
              <a:t>Qual abordagem (preditiva, ágil ou híbrida) seria mais adequada nesse caso?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7D60048-703B-9E70-6ADB-E71F8C32C79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4011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0AD9A-ABE4-C912-9A23-15C8A6736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88E7F-754F-3BAF-01E7-28C5EAFC9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PMBOK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Características e aplicação em projetos de software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Eixos estruturantes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b="1" dirty="0"/>
              <a:t>Iniciação de projeto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Gerenciamento de escopo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Escopo de projetos preditivos;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Escopo de projetos adaptativos;</a:t>
            </a:r>
          </a:p>
          <a:p>
            <a:pPr marL="914400" lvl="1" indent="-457200">
              <a:buFont typeface="+mj-lt"/>
              <a:buAutoNum type="arabi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13435D-D77D-62E0-ABA8-656868A5B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5005307-A2A2-6FAF-7A03-F92521059B7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9451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B5C14-7395-7BE3-7A53-892C376DD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634C49-667F-CAA1-01E0-D2DCA6DF8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7455" cy="4351338"/>
          </a:xfrm>
        </p:spPr>
        <p:txBody>
          <a:bodyPr/>
          <a:lstStyle/>
          <a:p>
            <a:r>
              <a:rPr lang="pt-BR" dirty="0"/>
              <a:t>2 processos: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Iniciação do projeto/fase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Identificação das partes interessadas (</a:t>
            </a:r>
            <a:r>
              <a:rPr lang="pt-BR" i="1" dirty="0"/>
              <a:t>stakeholders</a:t>
            </a:r>
            <a:r>
              <a:rPr lang="pt-BR" dirty="0"/>
              <a:t>)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9AC665FD-F5DE-0497-1170-F1AA874C8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655" y="0"/>
            <a:ext cx="5396345" cy="687769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3FE8E25-9760-E76E-0CD3-EDA1246D4930}"/>
              </a:ext>
            </a:extLst>
          </p:cNvPr>
          <p:cNvSpPr/>
          <p:nvPr/>
        </p:nvSpPr>
        <p:spPr>
          <a:xfrm>
            <a:off x="7581416" y="341974"/>
            <a:ext cx="879676" cy="64928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668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0B61E-2C7B-D3DF-D24E-F158407B1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Identificação das partes interessadas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F21A9D-5F36-F82C-1917-F71A0F30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Necessidade de identificar quem são as pessoas/grupos/organizações envolvidas na execução ao projeto e documentar:</a:t>
            </a:r>
          </a:p>
          <a:p>
            <a:pPr lvl="1"/>
            <a:r>
              <a:rPr lang="pt-BR" dirty="0"/>
              <a:t>Interesses</a:t>
            </a:r>
          </a:p>
          <a:p>
            <a:pPr lvl="1"/>
            <a:r>
              <a:rPr lang="pt-BR" dirty="0"/>
              <a:t>Envolvimento</a:t>
            </a:r>
          </a:p>
          <a:p>
            <a:pPr lvl="1"/>
            <a:r>
              <a:rPr lang="pt-BR" dirty="0"/>
              <a:t>Interdependências</a:t>
            </a:r>
          </a:p>
          <a:p>
            <a:pPr lvl="1"/>
            <a:r>
              <a:rPr lang="pt-BR" dirty="0"/>
              <a:t>Influência</a:t>
            </a:r>
          </a:p>
          <a:p>
            <a:pPr lvl="1"/>
            <a:r>
              <a:rPr lang="pt-BR" dirty="0"/>
              <a:t>Impacto potencial no sucesso do projeto</a:t>
            </a:r>
          </a:p>
          <a:p>
            <a:pPr lvl="1"/>
            <a:endParaRPr lang="pt-BR" dirty="0"/>
          </a:p>
          <a:p>
            <a:r>
              <a:rPr lang="pt-BR" dirty="0"/>
              <a:t>Deve ser revisado ao longo do projeto</a:t>
            </a:r>
          </a:p>
        </p:txBody>
      </p:sp>
    </p:spTree>
    <p:extLst>
      <p:ext uri="{BB962C8B-B14F-4D97-AF65-F5344CB8AC3E}">
        <p14:creationId xmlns:p14="http://schemas.microsoft.com/office/powerpoint/2010/main" val="3371898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CA4B3-0DD7-95E3-B302-D7E215250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Identificação das partes interessadas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825E2C-9FE1-5C8F-9533-66968A397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E1CC3A-E218-3151-541F-D8FBE7150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201" y="1547833"/>
            <a:ext cx="6529598" cy="521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531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E11A5-D6EF-EAAC-AEF1-9EFD9F4C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65E08A-C14D-F023-34C6-A1A8DB616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Autoriza </a:t>
            </a:r>
            <a:r>
              <a:rPr lang="pt-BR" b="1" dirty="0"/>
              <a:t>oficialmente</a:t>
            </a:r>
            <a:r>
              <a:rPr lang="pt-BR" dirty="0"/>
              <a:t> o início do projeto</a:t>
            </a:r>
          </a:p>
          <a:p>
            <a:pPr>
              <a:spcBef>
                <a:spcPts val="2400"/>
              </a:spcBef>
            </a:pPr>
            <a:r>
              <a:rPr lang="pt-BR" dirty="0"/>
              <a:t>Concede ao GP a </a:t>
            </a:r>
            <a:r>
              <a:rPr lang="pt-BR" b="1" dirty="0"/>
              <a:t>autoridade de alocar recursos </a:t>
            </a:r>
            <a:r>
              <a:rPr lang="pt-BR" dirty="0"/>
              <a:t>organizacionais a atividades do projeto ao criar um </a:t>
            </a:r>
            <a:r>
              <a:rPr lang="pt-BR" i="1" u="sng" dirty="0"/>
              <a:t>Termo de Abertura de Projeto </a:t>
            </a:r>
            <a:r>
              <a:rPr lang="pt-BR" dirty="0"/>
              <a:t>(TAP)</a:t>
            </a:r>
          </a:p>
          <a:p>
            <a:pPr>
              <a:spcBef>
                <a:spcPts val="2400"/>
              </a:spcBef>
            </a:pPr>
            <a:r>
              <a:rPr lang="pt-BR" dirty="0"/>
              <a:t>A autorização (via TAP) estabelece a </a:t>
            </a:r>
            <a:r>
              <a:rPr lang="pt-BR" b="1" dirty="0"/>
              <a:t>ligação</a:t>
            </a:r>
            <a:r>
              <a:rPr lang="pt-BR" dirty="0"/>
              <a:t> entre o </a:t>
            </a:r>
            <a:r>
              <a:rPr lang="pt-BR" u="sng" dirty="0"/>
              <a:t>projeto</a:t>
            </a:r>
            <a:r>
              <a:rPr lang="pt-BR" dirty="0"/>
              <a:t>, o </a:t>
            </a:r>
            <a:r>
              <a:rPr lang="pt-BR" i="1" u="sng" dirty="0"/>
              <a:t>business case </a:t>
            </a:r>
            <a:r>
              <a:rPr lang="pt-BR" dirty="0"/>
              <a:t>e os </a:t>
            </a:r>
            <a:r>
              <a:rPr lang="pt-BR" i="1" u="sng" dirty="0"/>
              <a:t>objetivos estratégicos </a:t>
            </a:r>
            <a:r>
              <a:rPr lang="pt-BR" dirty="0"/>
              <a:t>da organização</a:t>
            </a:r>
          </a:p>
          <a:p>
            <a:pPr>
              <a:spcBef>
                <a:spcPts val="2400"/>
              </a:spcBef>
            </a:pPr>
            <a:r>
              <a:rPr lang="pt-BR" dirty="0"/>
              <a:t>Ocorre geralmente 1 vez por projeto</a:t>
            </a:r>
          </a:p>
        </p:txBody>
      </p:sp>
    </p:spTree>
    <p:extLst>
      <p:ext uri="{BB962C8B-B14F-4D97-AF65-F5344CB8AC3E}">
        <p14:creationId xmlns:p14="http://schemas.microsoft.com/office/powerpoint/2010/main" val="156576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99DB9-E68D-F5C9-E0C8-1294BAFF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Iniciação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4CB717-B278-5749-DC33-DD7A829DD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13071" cy="4351338"/>
          </a:xfrm>
        </p:spPr>
        <p:txBody>
          <a:bodyPr/>
          <a:lstStyle/>
          <a:p>
            <a:r>
              <a:rPr lang="pt-BR" dirty="0"/>
              <a:t>Termo de Abertura de Projeto (</a:t>
            </a:r>
            <a:r>
              <a:rPr lang="pt-BR" i="1" dirty="0"/>
              <a:t>Project Charter</a:t>
            </a:r>
            <a:r>
              <a:rPr lang="pt-BR" dirty="0"/>
              <a:t>)</a:t>
            </a:r>
          </a:p>
          <a:p>
            <a:pPr>
              <a:spcBef>
                <a:spcPts val="2400"/>
              </a:spcBef>
            </a:pPr>
            <a:r>
              <a:rPr lang="pt-BR" dirty="0"/>
              <a:t>TAP: formaliza a parceria entre a contratante e a executora</a:t>
            </a:r>
          </a:p>
          <a:p>
            <a:pPr>
              <a:spcBef>
                <a:spcPts val="2400"/>
              </a:spcBef>
            </a:pPr>
            <a:r>
              <a:rPr lang="pt-BR" dirty="0"/>
              <a:t>Documento que formaliza como o </a:t>
            </a:r>
            <a:r>
              <a:rPr lang="pt-BR" i="1" dirty="0"/>
              <a:t>business case </a:t>
            </a:r>
            <a:r>
              <a:rPr lang="pt-BR" dirty="0"/>
              <a:t>será explorado via projeto</a:t>
            </a:r>
          </a:p>
        </p:txBody>
      </p:sp>
      <p:pic>
        <p:nvPicPr>
          <p:cNvPr id="4098" name="Picture 2" descr="O que é o Termo de Abertura do Projeto (TAP)? Como desenvolvê-lo?">
            <a:extLst>
              <a:ext uri="{FF2B5EF4-FFF2-40B4-BE49-F238E27FC236}">
                <a16:creationId xmlns:a16="http://schemas.microsoft.com/office/drawing/2014/main" id="{A1154893-996A-2555-E56A-6DC33D50B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251" y="1825625"/>
            <a:ext cx="481284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3354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BBB50-8EC9-FD01-018E-D02D783A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B3C0CB-5F34-A2C4-64BA-874652251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TAP busca responder às seguintes questões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Por que o projeto está sendo executado?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Quem estará engajado no projeto?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Sobre o que é o projeto?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Onde ele vai acontecer?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Quando ele vai se iniciar e terminar?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Como ele será conduzido?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Quem é o cliente?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Quais são os critérios de sucesso do projeto?</a:t>
            </a:r>
          </a:p>
        </p:txBody>
      </p:sp>
    </p:spTree>
    <p:extLst>
      <p:ext uri="{BB962C8B-B14F-4D97-AF65-F5344CB8AC3E}">
        <p14:creationId xmlns:p14="http://schemas.microsoft.com/office/powerpoint/2010/main" val="3526573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4AE03-6D22-1EC7-5F30-027ABAEAC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7DBE19-EA76-F3B4-7642-97F0D8060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981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Um gerente de projetos elaborou um TAP contendo descrição detalhada das funcionalidades do sistema, cronograma completo, orçamento detalhado e plano de testes. Com base nas boas práticas do </a:t>
            </a:r>
            <a:r>
              <a:rPr lang="pt-BR" b="1" dirty="0"/>
              <a:t>Project Management </a:t>
            </a:r>
            <a:r>
              <a:rPr lang="pt-BR" b="1" dirty="0" err="1"/>
              <a:t>Institute</a:t>
            </a:r>
            <a:r>
              <a:rPr lang="pt-BR" dirty="0"/>
              <a:t>, assinale a alternativa </a:t>
            </a:r>
            <a:r>
              <a:rPr lang="pt-BR" b="1" dirty="0"/>
              <a:t>CORRETA</a:t>
            </a:r>
            <a:r>
              <a:rPr lang="pt-BR" dirty="0"/>
              <a:t>: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A) O TAP está adequado, pois deve conter o máximo de detalhes possível para evitar ambiguidades.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B) O TAP está incorreto, pois deve conter apenas informações técnicas do produto a ser desenvolvido.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C) O TAP está inadequado, pois deveria focar em objetivos, justificativa e escopo de alto nível, e não em planejamento detalhado.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D) O TAP está incompleto, pois deveria incluir código-fonte inicial para validação técnica.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0E3AA2-2E41-0A15-D6CF-9B3BB7820EA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9144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D3B58-31C8-4239-890D-13BDB51C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141BFA-D073-DA15-96B0-7279D93B4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2967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Uma organização aprovou informalmente a ideia de um projeto com base em uma necessidade operacional urgente. A equipe iniciou o desenvolvimento diretamente, definindo funcionalidades com os usuários, sem identificar formalmente stakeholders nem documentar objetivos claros. À luz das boas práticas do </a:t>
            </a:r>
            <a:r>
              <a:rPr lang="pt-BR" b="1" dirty="0"/>
              <a:t>PMBOK </a:t>
            </a:r>
            <a:r>
              <a:rPr lang="pt-BR" b="1" dirty="0" err="1"/>
              <a:t>Guide</a:t>
            </a:r>
            <a:r>
              <a:rPr lang="pt-BR" dirty="0"/>
              <a:t>, assinale a alternativa </a:t>
            </a:r>
            <a:r>
              <a:rPr lang="pt-BR" b="1" dirty="0"/>
              <a:t>CORRETA</a:t>
            </a:r>
            <a:r>
              <a:rPr lang="pt-BR" dirty="0"/>
              <a:t>: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A) A abordagem é adequada, pois em contextos de urgência a formalização do projeto pode ser ignorada sem impacto significativo.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B) A ausência de identificação de stakeholders e de um Termo de Abertura compromete o alinhamento e pode gerar retrabalho e conflitos ao longo do projeto.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C) A definição de funcionalidades com usuários substitui integralmente a necessidade de um TAP.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D) O TAP é um documento exclusivo de projetos preditivos, não sendo necessário em contextos mais dinâmicos.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191C03A-CACA-A9DE-79D4-8AFDD683A5D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3670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8B4EE-3573-B20E-C918-150134A1B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de TAP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429689-BEE2-2C90-ABCE-9093B6ED5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66235" cy="4351338"/>
          </a:xfrm>
        </p:spPr>
        <p:txBody>
          <a:bodyPr/>
          <a:lstStyle/>
          <a:p>
            <a:r>
              <a:rPr lang="pt-BR" dirty="0"/>
              <a:t>Disponível no </a:t>
            </a:r>
            <a:r>
              <a:rPr lang="pt-BR" i="1" dirty="0" err="1"/>
              <a:t>Classroom</a:t>
            </a:r>
            <a:endParaRPr lang="pt-BR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8F89E60-5054-1EEE-E280-025E2CA85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801" y="558478"/>
            <a:ext cx="7488199" cy="601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57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77936-D280-AAF7-302B-493AB8BBC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F3066-BECA-BED2-12B1-FE5373351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PMBOK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Características e aplicação em projetos de software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Eixos estruturantes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Iniciação de projeto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b="1" dirty="0"/>
              <a:t>Gerenciamento de escopo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Escopo de projetos preditivos;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Escopo de projetos ágeis;</a:t>
            </a:r>
          </a:p>
          <a:p>
            <a:pPr marL="914400" lvl="1" indent="-457200">
              <a:buFont typeface="+mj-lt"/>
              <a:buAutoNum type="arabi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184C1B-071E-A0C6-9170-98FF5022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B74E073-3F6D-8747-B5D3-1AD4A69FE67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58720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676A0-4DC5-602A-3C11-8C1D4A782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b="1" i="1" dirty="0"/>
              <a:t>escopo</a:t>
            </a:r>
            <a:r>
              <a:rPr lang="pt-BR" dirty="0"/>
              <a:t>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C297FF-5A0C-36C5-43E5-732369F8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4200" cy="4351338"/>
          </a:xfrm>
        </p:spPr>
        <p:txBody>
          <a:bodyPr>
            <a:normAutofit lnSpcReduction="10000"/>
          </a:bodyPr>
          <a:lstStyle/>
          <a:p>
            <a:r>
              <a:rPr lang="pt-BR" sz="2600" dirty="0"/>
              <a:t>Definição detalhada do </a:t>
            </a:r>
            <a:r>
              <a:rPr lang="pt-BR" sz="2600" b="1" dirty="0"/>
              <a:t>trabalho necessário para entregar </a:t>
            </a:r>
            <a:r>
              <a:rPr lang="pt-BR" sz="2600" dirty="0"/>
              <a:t>um produto, serviço ou resultado com as características e funções especificadas;</a:t>
            </a:r>
          </a:p>
          <a:p>
            <a:pPr>
              <a:spcBef>
                <a:spcPts val="2400"/>
              </a:spcBef>
            </a:pPr>
            <a:r>
              <a:rPr lang="pt-BR" sz="2600" dirty="0"/>
              <a:t>Estabelece os </a:t>
            </a:r>
            <a:r>
              <a:rPr lang="pt-BR" sz="2600" b="1" dirty="0"/>
              <a:t>limites do projeto</a:t>
            </a:r>
            <a:r>
              <a:rPr lang="pt-BR" sz="2600" dirty="0"/>
              <a:t>, definindo o que está e o que não está incluso</a:t>
            </a:r>
          </a:p>
          <a:p>
            <a:pPr>
              <a:spcBef>
                <a:spcPts val="2400"/>
              </a:spcBef>
            </a:pPr>
            <a:r>
              <a:rPr lang="pt-BR" sz="2600" dirty="0"/>
              <a:t>Serve como um </a:t>
            </a:r>
            <a:r>
              <a:rPr lang="pt-BR" sz="2600" b="1" dirty="0"/>
              <a:t>guia para a equipe </a:t>
            </a:r>
            <a:r>
              <a:rPr lang="pt-BR" sz="2600" dirty="0"/>
              <a:t>e garantindo que o </a:t>
            </a:r>
            <a:r>
              <a:rPr lang="pt-BR" sz="2600" b="1" dirty="0"/>
              <a:t>resultado final atenda às expectativas </a:t>
            </a:r>
            <a:r>
              <a:rPr lang="pt-BR" sz="2600" dirty="0"/>
              <a:t>das partes interessadas. </a:t>
            </a:r>
          </a:p>
        </p:txBody>
      </p:sp>
      <p:pic>
        <p:nvPicPr>
          <p:cNvPr id="3074" name="Picture 2" descr="3 Things Every Software Project Manager Should Do to Manage Scope">
            <a:extLst>
              <a:ext uri="{FF2B5EF4-FFF2-40B4-BE49-F238E27FC236}">
                <a16:creationId xmlns:a16="http://schemas.microsoft.com/office/drawing/2014/main" id="{DC568654-F172-4B7B-F33A-EAC876059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320" y="2816066"/>
            <a:ext cx="4740910" cy="237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2844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37FE7-25B2-B11C-77C8-ECF3BD4CE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de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A3F036-0F19-3EB5-F333-15C11AED7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Gestão de projetos objetiva harmonizar as seguintes restrições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DEF6A90-8B3F-D622-F320-E0E97FBCB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20" y="2823348"/>
            <a:ext cx="4153480" cy="3010320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7C82A21-C9BD-7C94-A2A5-FE31011573A2}"/>
              </a:ext>
            </a:extLst>
          </p:cNvPr>
          <p:cNvSpPr/>
          <p:nvPr/>
        </p:nvSpPr>
        <p:spPr>
          <a:xfrm>
            <a:off x="6264544" y="3059058"/>
            <a:ext cx="4992736" cy="188447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↑ escopo</a:t>
            </a:r>
            <a:r>
              <a:rPr lang="pt-BR" sz="2400" dirty="0"/>
              <a:t>: ↑ tempo e    ↑ custo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↓ tempo</a:t>
            </a:r>
            <a:r>
              <a:rPr lang="pt-BR" sz="2400" dirty="0"/>
              <a:t>:  ↓ escopo ou ↑ custo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↓ custo</a:t>
            </a:r>
            <a:r>
              <a:rPr lang="pt-BR" sz="2400" dirty="0"/>
              <a:t>:    ↓ escopo ou ↑ prazo</a:t>
            </a:r>
          </a:p>
        </p:txBody>
      </p:sp>
    </p:spTree>
    <p:extLst>
      <p:ext uri="{BB962C8B-B14F-4D97-AF65-F5344CB8AC3E}">
        <p14:creationId xmlns:p14="http://schemas.microsoft.com/office/powerpoint/2010/main" val="33341893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CF85F8-2388-CCFD-4EBC-F819CD3B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Ponto crítico em projetos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58094B1-2613-C5F8-6D20-5ABB11C0D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97" y="1994853"/>
            <a:ext cx="8375605" cy="4193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199A1CF-9CBE-16F0-F3C8-1898E5DB5F06}"/>
              </a:ext>
            </a:extLst>
          </p:cNvPr>
          <p:cNvSpPr/>
          <p:nvPr/>
        </p:nvSpPr>
        <p:spPr>
          <a:xfrm>
            <a:off x="2355735" y="4425634"/>
            <a:ext cx="7109812" cy="188447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Necessidade de gerenciar sistematicamente o escopo de um sistema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0766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464116-BBC6-61DF-01F6-A4D97C771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Processos de gestão de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3D1BBA-98E2-7085-F80C-F1BD3DBAB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PMBOK (8ª edição)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A2822F6F-6196-68C2-E6CE-897920237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655" y="0"/>
            <a:ext cx="5396345" cy="687769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5DF7F1F-A77A-BBCB-65CA-E727044BE51B}"/>
              </a:ext>
            </a:extLst>
          </p:cNvPr>
          <p:cNvSpPr/>
          <p:nvPr/>
        </p:nvSpPr>
        <p:spPr>
          <a:xfrm>
            <a:off x="7581415" y="1825625"/>
            <a:ext cx="4525703" cy="11027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6CE8227-9A8D-B6D0-B112-F427B7157B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02"/>
          <a:stretch/>
        </p:blipFill>
        <p:spPr>
          <a:xfrm>
            <a:off x="2216522" y="2377010"/>
            <a:ext cx="77589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4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5DCD0-76DA-5022-4006-0CD5EB042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Escopo de produto x Escopo de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ACDD3F-FC4E-8BB9-471D-AF3B9363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041" y="1825625"/>
            <a:ext cx="5776122" cy="4351338"/>
          </a:xfrm>
        </p:spPr>
        <p:txBody>
          <a:bodyPr>
            <a:normAutofit fontScale="92500" lnSpcReduction="20000"/>
          </a:bodyPr>
          <a:lstStyle/>
          <a:p>
            <a:r>
              <a:rPr lang="pt-BR" b="1" u="sng" dirty="0"/>
              <a:t>Produto</a:t>
            </a:r>
            <a:r>
              <a:rPr lang="pt-BR" dirty="0"/>
              <a:t>: </a:t>
            </a:r>
            <a:r>
              <a:rPr lang="pt-BR" i="1" dirty="0"/>
              <a:t>“o que será entregue”</a:t>
            </a:r>
            <a:r>
              <a:rPr lang="pt-BR" dirty="0"/>
              <a:t>.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Refere-se às características e </a:t>
            </a:r>
            <a:r>
              <a:rPr lang="pt-BR" b="1" dirty="0"/>
              <a:t>funcionalidades</a:t>
            </a:r>
            <a:r>
              <a:rPr lang="pt-BR" dirty="0"/>
              <a:t> do software.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Exemplo: “</a:t>
            </a:r>
            <a:r>
              <a:rPr lang="pt-BR" i="1" dirty="0"/>
              <a:t>Sistema web com login, cadastro, relatórios e dashboard em tempo real.”</a:t>
            </a:r>
          </a:p>
          <a:p>
            <a:pPr>
              <a:spcBef>
                <a:spcPts val="2400"/>
              </a:spcBef>
            </a:pPr>
            <a:r>
              <a:rPr lang="pt-BR" b="1" u="sng" dirty="0"/>
              <a:t>Projeto</a:t>
            </a:r>
            <a:r>
              <a:rPr lang="pt-BR" dirty="0"/>
              <a:t>: </a:t>
            </a:r>
            <a:r>
              <a:rPr lang="pt-BR" i="1" dirty="0"/>
              <a:t>“como será entregue”</a:t>
            </a:r>
            <a:r>
              <a:rPr lang="pt-BR" dirty="0"/>
              <a:t>.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Refere-se ao </a:t>
            </a:r>
            <a:r>
              <a:rPr lang="pt-BR" b="1" dirty="0"/>
              <a:t>trabalho</a:t>
            </a:r>
            <a:r>
              <a:rPr lang="pt-BR" dirty="0"/>
              <a:t>, </a:t>
            </a:r>
            <a:r>
              <a:rPr lang="pt-BR" b="1" dirty="0"/>
              <a:t>processos</a:t>
            </a:r>
            <a:r>
              <a:rPr lang="pt-BR" dirty="0"/>
              <a:t> e </a:t>
            </a:r>
            <a:r>
              <a:rPr lang="pt-BR" b="1" dirty="0"/>
              <a:t>recursos</a:t>
            </a:r>
            <a:r>
              <a:rPr lang="pt-BR" dirty="0"/>
              <a:t> necessários.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Exemplo: “</a:t>
            </a:r>
            <a:r>
              <a:rPr lang="pt-BR" i="1" dirty="0"/>
              <a:t>Equipe de 5 </a:t>
            </a:r>
            <a:r>
              <a:rPr lang="pt-BR" i="1" dirty="0" err="1"/>
              <a:t>devs</a:t>
            </a:r>
            <a:r>
              <a:rPr lang="pt-BR" i="1" dirty="0"/>
              <a:t>, 2 meses de desenvolvimento, reuniões semanais de acompanhamento</a:t>
            </a:r>
            <a:r>
              <a:rPr lang="pt-BR" dirty="0"/>
              <a:t>.”</a:t>
            </a:r>
          </a:p>
          <a:p>
            <a:endParaRPr lang="pt-BR" dirty="0"/>
          </a:p>
        </p:txBody>
      </p:sp>
      <p:pic>
        <p:nvPicPr>
          <p:cNvPr id="9218" name="Picture 2" descr="Diferença entre escopo do projeto e escopo do produto">
            <a:extLst>
              <a:ext uri="{FF2B5EF4-FFF2-40B4-BE49-F238E27FC236}">
                <a16:creationId xmlns:a16="http://schemas.microsoft.com/office/drawing/2014/main" id="{F45CBDB3-89F7-12DA-6217-27E1C67A4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035" y="1960562"/>
            <a:ext cx="6086837" cy="43513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8457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A183E-E205-3815-F4EA-98F66B5E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Discussão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E0AED9-B544-743D-1A68-8101E8359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Que tarefas estão no escopo do </a:t>
            </a:r>
            <a:r>
              <a:rPr lang="pt-BR" b="1" dirty="0"/>
              <a:t>projeto</a:t>
            </a:r>
            <a:r>
              <a:rPr lang="pt-BR" dirty="0"/>
              <a:t> mas não do </a:t>
            </a:r>
            <a:r>
              <a:rPr lang="pt-BR" b="1" dirty="0"/>
              <a:t>produto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Planejamento (iniciação, custos, cronograma, escopo)</a:t>
            </a:r>
          </a:p>
          <a:p>
            <a:pPr lvl="1"/>
            <a:r>
              <a:rPr lang="pt-BR" dirty="0"/>
              <a:t>Gerenciamento e comunicação </a:t>
            </a:r>
          </a:p>
          <a:p>
            <a:pPr lvl="1"/>
            <a:r>
              <a:rPr lang="pt-BR" dirty="0"/>
              <a:t>Gestão de qualidade, de riscos</a:t>
            </a:r>
          </a:p>
          <a:p>
            <a:pPr lvl="1"/>
            <a:r>
              <a:rPr lang="pt-BR" dirty="0"/>
              <a:t>Reuniões</a:t>
            </a:r>
          </a:p>
          <a:p>
            <a:pPr lvl="1"/>
            <a:r>
              <a:rPr lang="pt-BR" dirty="0"/>
              <a:t>Viagens (passagem, hospedagem, alimentação, diária de trabalho)</a:t>
            </a:r>
          </a:p>
          <a:p>
            <a:pPr lvl="1"/>
            <a:r>
              <a:rPr lang="pt-BR" dirty="0"/>
              <a:t>Divulgação</a:t>
            </a:r>
          </a:p>
          <a:p>
            <a:pPr lvl="1"/>
            <a:r>
              <a:rPr lang="pt-BR" dirty="0"/>
              <a:t>Treinamentos (tecnologia, processo, domínio, etc.)</a:t>
            </a:r>
          </a:p>
          <a:p>
            <a:pPr lvl="1"/>
            <a:r>
              <a:rPr lang="pt-BR" dirty="0"/>
              <a:t>Implantação</a:t>
            </a:r>
          </a:p>
          <a:p>
            <a:pPr lvl="1"/>
            <a:r>
              <a:rPr lang="pt-BR" dirty="0"/>
              <a:t>Contratação de serviço (cloud, consultoria...)</a:t>
            </a:r>
          </a:p>
          <a:p>
            <a:pPr lvl="1"/>
            <a:r>
              <a:rPr lang="pt-BR" dirty="0"/>
              <a:t>Incidência de impostos (</a:t>
            </a:r>
            <a:r>
              <a:rPr lang="pt-BR" dirty="0" err="1"/>
              <a:t>ex</a:t>
            </a:r>
            <a:r>
              <a:rPr lang="pt-BR" dirty="0"/>
              <a:t>: ISS)</a:t>
            </a:r>
          </a:p>
          <a:p>
            <a:pPr lvl="1"/>
            <a:r>
              <a:rPr lang="pt-BR" dirty="0"/>
              <a:t>Custos administrativos (gerenciamento, controle da empresa)</a:t>
            </a:r>
          </a:p>
        </p:txBody>
      </p:sp>
    </p:spTree>
    <p:extLst>
      <p:ext uri="{BB962C8B-B14F-4D97-AF65-F5344CB8AC3E}">
        <p14:creationId xmlns:p14="http://schemas.microsoft.com/office/powerpoint/2010/main" val="400213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50C30-45DB-CE4D-4672-409F79F4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Escopo positivo x negativo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0D26FE-E5FC-5BB8-269A-8FB232CE6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u="sng" dirty="0"/>
              <a:t>Positivo</a:t>
            </a:r>
            <a:r>
              <a:rPr lang="pt-BR" dirty="0"/>
              <a:t>: tudo o que será feito e entregue</a:t>
            </a:r>
          </a:p>
          <a:p>
            <a:pPr lvl="1">
              <a:spcBef>
                <a:spcPts val="1200"/>
              </a:spcBef>
            </a:pPr>
            <a:r>
              <a:rPr lang="pt-BR" dirty="0" err="1"/>
              <a:t>Ex</a:t>
            </a:r>
            <a:r>
              <a:rPr lang="pt-BR" dirty="0"/>
              <a:t>: “</a:t>
            </a:r>
            <a:r>
              <a:rPr lang="pt-BR" i="1" dirty="0"/>
              <a:t>O sistema permitirá cadastro de usuários com autenticação.</a:t>
            </a:r>
            <a:r>
              <a:rPr lang="pt-BR" dirty="0"/>
              <a:t>”</a:t>
            </a:r>
          </a:p>
          <a:p>
            <a:pPr>
              <a:spcBef>
                <a:spcPts val="2400"/>
              </a:spcBef>
            </a:pPr>
            <a:r>
              <a:rPr lang="pt-BR" b="1" u="sng" dirty="0"/>
              <a:t>Negativo</a:t>
            </a:r>
            <a:r>
              <a:rPr lang="pt-BR" dirty="0"/>
              <a:t>: o que explicitamente não será entregue</a:t>
            </a:r>
          </a:p>
          <a:p>
            <a:pPr lvl="1">
              <a:spcBef>
                <a:spcPts val="1200"/>
              </a:spcBef>
            </a:pPr>
            <a:r>
              <a:rPr lang="pt-BR" dirty="0" err="1"/>
              <a:t>Ex</a:t>
            </a:r>
            <a:r>
              <a:rPr lang="pt-BR" dirty="0"/>
              <a:t>: “</a:t>
            </a:r>
            <a:r>
              <a:rPr lang="pt-BR" i="1" dirty="0"/>
              <a:t>Não haverá integração com redes sociais na versão inicial.</a:t>
            </a:r>
            <a:r>
              <a:rPr lang="pt-BR" dirty="0"/>
              <a:t>”</a:t>
            </a:r>
          </a:p>
          <a:p>
            <a:pPr lvl="1">
              <a:spcBef>
                <a:spcPts val="1800"/>
              </a:spcBef>
            </a:pPr>
            <a:endParaRPr lang="pt-BR" sz="1800" dirty="0"/>
          </a:p>
          <a:p>
            <a:pPr>
              <a:spcBef>
                <a:spcPts val="1800"/>
              </a:spcBef>
            </a:pPr>
            <a:r>
              <a:rPr lang="pt-BR" dirty="0"/>
              <a:t>Delimita </a:t>
            </a:r>
            <a:r>
              <a:rPr lang="pt-BR" b="1" dirty="0"/>
              <a:t>fronteiras </a:t>
            </a:r>
            <a:r>
              <a:rPr lang="pt-BR" dirty="0"/>
              <a:t>sobre o que será entregue</a:t>
            </a:r>
          </a:p>
          <a:p>
            <a:pPr>
              <a:spcBef>
                <a:spcPts val="1800"/>
              </a:spcBef>
            </a:pPr>
            <a:r>
              <a:rPr lang="pt-BR" b="1" dirty="0"/>
              <a:t>Evita interpretações ambíguas </a:t>
            </a:r>
            <a:r>
              <a:rPr lang="pt-BR" dirty="0"/>
              <a:t>do produto e do projeto</a:t>
            </a:r>
          </a:p>
        </p:txBody>
      </p:sp>
    </p:spTree>
    <p:extLst>
      <p:ext uri="{BB962C8B-B14F-4D97-AF65-F5344CB8AC3E}">
        <p14:creationId xmlns:p14="http://schemas.microsoft.com/office/powerpoint/2010/main" val="16932339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21F14-B102-FFB1-BF01-4FB1B0F5F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308A7-565F-51FB-4A6A-159C0A57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Premissas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33D99D-C731-D581-BE22-4ED7A2AAD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Hipóteses que assumimos como verdadeiras</a:t>
            </a:r>
            <a:r>
              <a:rPr lang="pt-BR" dirty="0"/>
              <a:t> para planejar o projeto, mesmo sem garantias</a:t>
            </a:r>
          </a:p>
          <a:p>
            <a:pPr lvl="1">
              <a:spcBef>
                <a:spcPts val="1200"/>
              </a:spcBef>
            </a:pPr>
            <a:r>
              <a:rPr lang="pt-BR" dirty="0" err="1"/>
              <a:t>Ex</a:t>
            </a:r>
            <a:r>
              <a:rPr lang="pt-BR" dirty="0"/>
              <a:t>: “</a:t>
            </a:r>
            <a:r>
              <a:rPr lang="pt-BR" i="1" dirty="0"/>
              <a:t>Assumimos que haverá internet estável na escola para rodar o sistema</a:t>
            </a:r>
            <a:r>
              <a:rPr lang="pt-BR" dirty="0"/>
              <a:t>.”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“</a:t>
            </a:r>
            <a:r>
              <a:rPr lang="pt-BR" i="1" dirty="0"/>
              <a:t>A equipe de desenvolvimento terá acesso aos recursos necessários (hardware, software, etc.)”</a:t>
            </a:r>
          </a:p>
          <a:p>
            <a:pPr lvl="1">
              <a:spcBef>
                <a:spcPts val="1200"/>
              </a:spcBef>
            </a:pPr>
            <a:r>
              <a:rPr lang="pt-BR" i="1" dirty="0"/>
              <a:t>A equipe possui as competências técnicas e comportamentais para as tarefas do projeto</a:t>
            </a:r>
          </a:p>
          <a:p>
            <a:pPr lvl="1">
              <a:spcBef>
                <a:spcPts val="1200"/>
              </a:spcBef>
            </a:pPr>
            <a:r>
              <a:rPr lang="pt-BR" i="1" dirty="0"/>
              <a:t>Os sistemas legados funcionarão até ao final do projeto. </a:t>
            </a:r>
          </a:p>
          <a:p>
            <a:pPr>
              <a:spcBef>
                <a:spcPts val="2400"/>
              </a:spcBef>
            </a:pPr>
            <a:r>
              <a:rPr lang="pt-BR" dirty="0"/>
              <a:t>Se a premissa não se confirmar, pode gerar </a:t>
            </a:r>
            <a:r>
              <a:rPr lang="pt-BR" b="1" dirty="0"/>
              <a:t>risco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42888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8203E-AD68-17F1-AB66-CD877A56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8F9DE9-3FA6-33FA-1AA5-BA7C3E024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Limitações impostas ao projeto</a:t>
            </a:r>
            <a:r>
              <a:rPr lang="pt-BR" dirty="0"/>
              <a:t>, fora do controle da equipe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Exemplos: </a:t>
            </a:r>
          </a:p>
          <a:p>
            <a:pPr lvl="2">
              <a:spcBef>
                <a:spcPts val="1800"/>
              </a:spcBef>
            </a:pPr>
            <a:r>
              <a:rPr lang="pt-BR" i="1" dirty="0"/>
              <a:t>Prazo fixo de 4 meses (</a:t>
            </a:r>
            <a:r>
              <a:rPr lang="pt-BR" b="1" i="1" dirty="0"/>
              <a:t>restrição de tempo</a:t>
            </a:r>
            <a:r>
              <a:rPr lang="pt-BR" i="1" dirty="0"/>
              <a:t>).</a:t>
            </a:r>
          </a:p>
          <a:p>
            <a:pPr lvl="2">
              <a:spcBef>
                <a:spcPts val="1800"/>
              </a:spcBef>
            </a:pPr>
            <a:r>
              <a:rPr lang="pt-BR" dirty="0"/>
              <a:t>Orçamento máximo de R$ 50.000 (</a:t>
            </a:r>
            <a:r>
              <a:rPr lang="pt-BR" b="1" dirty="0"/>
              <a:t>restrição de custo</a:t>
            </a:r>
            <a:r>
              <a:rPr lang="pt-BR" dirty="0"/>
              <a:t>).</a:t>
            </a:r>
            <a:r>
              <a:rPr lang="pt-BR" i="1" dirty="0"/>
              <a:t>A equipe possui as competências técnicas e comportamentais para as tarefas do projeto</a:t>
            </a:r>
          </a:p>
          <a:p>
            <a:pPr lvl="2">
              <a:spcBef>
                <a:spcPts val="1800"/>
              </a:spcBef>
            </a:pPr>
            <a:r>
              <a:rPr lang="pt-BR" i="1" dirty="0"/>
              <a:t>Uso obrigatório de banco de dados PostgreSQL (</a:t>
            </a:r>
            <a:r>
              <a:rPr lang="pt-BR" b="1" i="1" dirty="0"/>
              <a:t>restrição técnica</a:t>
            </a:r>
            <a:r>
              <a:rPr lang="pt-BR" i="1" dirty="0"/>
              <a:t>).</a:t>
            </a:r>
          </a:p>
          <a:p>
            <a:pPr>
              <a:spcBef>
                <a:spcPts val="2400"/>
              </a:spcBef>
            </a:pPr>
            <a:r>
              <a:rPr lang="pt-BR" b="1" dirty="0"/>
              <a:t>No triângulo de ferro</a:t>
            </a:r>
            <a:r>
              <a:rPr lang="pt-BR" dirty="0"/>
              <a:t>: restrições estão justamente nas arestas (tempo, custo, escopo).</a:t>
            </a:r>
          </a:p>
        </p:txBody>
      </p:sp>
    </p:spTree>
    <p:extLst>
      <p:ext uri="{BB962C8B-B14F-4D97-AF65-F5344CB8AC3E}">
        <p14:creationId xmlns:p14="http://schemas.microsoft.com/office/powerpoint/2010/main" val="15730211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90D20-6BC4-32DA-AD0D-7D269889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Mapeamento de Entregas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DE00FC-4CB2-C60B-EB8F-EF6AA8E83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será entregue ao final?</a:t>
            </a:r>
          </a:p>
          <a:p>
            <a:pPr lvl="1"/>
            <a:r>
              <a:rPr lang="pt-BR" dirty="0"/>
              <a:t>Um aplicativo móvel?</a:t>
            </a:r>
          </a:p>
          <a:p>
            <a:pPr lvl="1"/>
            <a:r>
              <a:rPr lang="pt-BR" dirty="0"/>
              <a:t>Um serviço em servidor Web?</a:t>
            </a:r>
          </a:p>
          <a:p>
            <a:pPr lvl="1"/>
            <a:r>
              <a:rPr lang="pt-BR" dirty="0"/>
              <a:t>Um pacote de software instalado em laboratórios?</a:t>
            </a:r>
          </a:p>
          <a:p>
            <a:pPr lvl="1"/>
            <a:r>
              <a:rPr lang="pt-BR" dirty="0"/>
              <a:t>Um hardware inteligente?</a:t>
            </a:r>
          </a:p>
          <a:p>
            <a:pPr lvl="1"/>
            <a:r>
              <a:rPr lang="pt-BR" dirty="0"/>
              <a:t>Um modelo preditivo?</a:t>
            </a:r>
          </a:p>
        </p:txBody>
      </p:sp>
    </p:spTree>
    <p:extLst>
      <p:ext uri="{BB962C8B-B14F-4D97-AF65-F5344CB8AC3E}">
        <p14:creationId xmlns:p14="http://schemas.microsoft.com/office/powerpoint/2010/main" val="5543693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209F5-484C-4DA3-F2A9-D64BCB89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E4CC64-07F1-E83C-D7F2-780B2B485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1527858"/>
            <a:ext cx="11963401" cy="5330141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Durante a definição de escopo de um projeto de software, a equipe registrou os seguintes itens: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pt-BR" dirty="0"/>
              <a:t>I. O sistema deverá permitir cadastro e autenticação de usuários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pt-BR" dirty="0"/>
              <a:t>II. O projeto não inclui desenvolvimento de aplicativo mobile nesta fase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pt-BR" dirty="0"/>
              <a:t>III. Assume-se que os usuários terão acesso à internet durante o uso do sistema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pt-BR" dirty="0"/>
              <a:t>IV. O prazo máximo para entrega do sistema é de 4 meses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pt-BR" dirty="0"/>
              <a:t>V. Realização de reuniões semanais de acompanhamento do projeto</a:t>
            </a:r>
          </a:p>
          <a:p>
            <a:pPr>
              <a:spcBef>
                <a:spcPts val="1800"/>
              </a:spcBef>
            </a:pPr>
            <a:r>
              <a:rPr lang="pt-BR" dirty="0"/>
              <a:t>Com base nas boas práticas de ger. de escopo, assinale a alternativa </a:t>
            </a:r>
            <a:r>
              <a:rPr lang="pt-BR" b="1" dirty="0"/>
              <a:t>CORRETA</a:t>
            </a:r>
            <a:r>
              <a:rPr lang="pt-BR" dirty="0"/>
              <a:t>: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A) I e V pertencem ao escopo do produto; II representa uma restrição; III é escopo negativo; IV é premissa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B) I pertence ao escopo do produto; II é escopo negativo; III é premissa; IV é restrição; V pertence ao escopo do projeto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C) I e II pertencem ao escopo do produto; III é restrição; IV é premissa; V é escopo negativo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D) I é escopo do projeto; II é premissa; III é restrição; IV é escopo negativo; V é escopo do produto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6368585-056C-9BB9-C6BC-7A117D96E09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33884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F6987-2D22-FAB7-C896-77F2925A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3DE88B-0928-ED4D-520F-D8710AC3C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PMBOK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Características e aplicação em projetos de software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Eixos estruturantes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Iniciação de projeto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Gerenciamento de escopo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b="1" dirty="0"/>
              <a:t>Escopo de projetos preditivos</a:t>
            </a:r>
            <a:r>
              <a:rPr lang="pt-BR" dirty="0"/>
              <a:t>;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Escopo de projetos ágeis;</a:t>
            </a:r>
          </a:p>
          <a:p>
            <a:pPr marL="914400" lvl="1" indent="-457200">
              <a:buFont typeface="+mj-lt"/>
              <a:buAutoNum type="arabi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AA3B4D-B8F3-4C13-212A-B18558175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55E0FF8-F71E-494E-7868-39B87E89B345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7210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376FF-90EA-9C4F-DC07-F31F9F53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714B55-9E67-EC4C-B3E0-F3F47E977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01FFA8-F008-8618-2CEE-D65519E89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814" y="365125"/>
            <a:ext cx="7733619" cy="638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701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E171E-FF7C-0E2C-9CD9-290DB91A2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1- Especificar o escopo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BB2B14-8A84-CB8F-726B-B8B3E26BB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299" y="1690688"/>
            <a:ext cx="7815329" cy="497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4028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66640-483A-C0A5-7DBD-624606C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Possível 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858263-0023-0BB7-80C2-8D05884F9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a especificação do escopo do Projeto é possível </a:t>
            </a:r>
            <a:r>
              <a:rPr lang="pt-BR" b="1" dirty="0"/>
              <a:t>iniciar com os requisitos do produto</a:t>
            </a:r>
            <a:r>
              <a:rPr lang="pt-BR" dirty="0"/>
              <a:t>;</a:t>
            </a:r>
          </a:p>
          <a:p>
            <a:pPr>
              <a:spcBef>
                <a:spcPts val="2400"/>
              </a:spcBef>
            </a:pPr>
            <a:r>
              <a:rPr lang="pt-BR" dirty="0"/>
              <a:t>O nível de </a:t>
            </a:r>
            <a:r>
              <a:rPr lang="pt-BR" b="1" dirty="0"/>
              <a:t>refinamento</a:t>
            </a:r>
            <a:r>
              <a:rPr lang="pt-BR" dirty="0"/>
              <a:t> deve ser </a:t>
            </a:r>
            <a:r>
              <a:rPr lang="pt-BR" b="1" dirty="0"/>
              <a:t>proporcional</a:t>
            </a:r>
            <a:r>
              <a:rPr lang="pt-BR" dirty="0"/>
              <a:t> ao risco envolvido;</a:t>
            </a:r>
          </a:p>
          <a:p>
            <a:pPr>
              <a:spcBef>
                <a:spcPts val="2400"/>
              </a:spcBef>
            </a:pPr>
            <a:r>
              <a:rPr lang="pt-BR" dirty="0"/>
              <a:t>Diferentes documentos para especificação do Produto:</a:t>
            </a:r>
          </a:p>
          <a:p>
            <a:pPr lvl="1"/>
            <a:r>
              <a:rPr lang="pt-BR" dirty="0"/>
              <a:t>Casos de uso, Documento de Visão (RUP), cenários, narrativa livre...</a:t>
            </a:r>
          </a:p>
          <a:p>
            <a:pPr>
              <a:spcBef>
                <a:spcPts val="2400"/>
              </a:spcBef>
            </a:pPr>
            <a:r>
              <a:rPr lang="pt-BR" dirty="0"/>
              <a:t>O plano deve ser refinado sempre que </a:t>
            </a:r>
            <a:r>
              <a:rPr lang="pt-BR" b="1" dirty="0"/>
              <a:t>mais conhecimento </a:t>
            </a:r>
            <a:r>
              <a:rPr lang="pt-BR" dirty="0"/>
              <a:t>for adquirido (</a:t>
            </a:r>
            <a:r>
              <a:rPr lang="pt-BR" b="1" dirty="0"/>
              <a:t>menor risco</a:t>
            </a:r>
            <a:r>
              <a:rPr lang="pt-BR" dirty="0"/>
              <a:t>);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91681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B41F8-3DC7-9ACE-D34F-AECCCC0C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2 – Detalhar o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B1857-0858-947D-B0D4-41B08D54D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Planejar em baixo detalhamento é atividade propensa a erros;</a:t>
            </a:r>
          </a:p>
          <a:p>
            <a:pPr>
              <a:spcBef>
                <a:spcPts val="2400"/>
              </a:spcBef>
            </a:pPr>
            <a:r>
              <a:rPr lang="pt-BR" dirty="0"/>
              <a:t>Para evitar esse problema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>
                <a:sym typeface="Wingdings" panose="05000000000000000000" pitchFamily="2" charset="2"/>
              </a:rPr>
              <a:t>Dividir e conquistar: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Dividir em problemas menores;</a:t>
            </a:r>
          </a:p>
          <a:p>
            <a:pPr lvl="1"/>
            <a:r>
              <a:rPr lang="pt-BR" dirty="0"/>
              <a:t>Planejar em maior nível de detalhamento;</a:t>
            </a:r>
          </a:p>
          <a:p>
            <a:pPr lvl="1"/>
            <a:r>
              <a:rPr lang="pt-BR" dirty="0"/>
              <a:t>Inferior o planejamento completo a partir da soma das partes;</a:t>
            </a:r>
          </a:p>
          <a:p>
            <a:pPr>
              <a:spcBef>
                <a:spcPts val="2400"/>
              </a:spcBef>
            </a:pPr>
            <a:r>
              <a:rPr lang="pt-BR" dirty="0"/>
              <a:t>Documento resultantes:</a:t>
            </a:r>
          </a:p>
          <a:p>
            <a:pPr lvl="1"/>
            <a:r>
              <a:rPr lang="pt-BR" b="1" dirty="0"/>
              <a:t>Estrutura Analítica do Projeto </a:t>
            </a:r>
            <a:r>
              <a:rPr lang="pt-BR" dirty="0"/>
              <a:t>(</a:t>
            </a:r>
            <a:r>
              <a:rPr lang="pt-BR" i="1" dirty="0"/>
              <a:t>EAP</a:t>
            </a:r>
            <a:r>
              <a:rPr lang="pt-BR" dirty="0"/>
              <a:t>) ou </a:t>
            </a:r>
            <a:r>
              <a:rPr lang="pt-BR" b="1" i="1" dirty="0" err="1"/>
              <a:t>Work</a:t>
            </a:r>
            <a:r>
              <a:rPr lang="pt-BR" b="1" i="1" dirty="0"/>
              <a:t> </a:t>
            </a:r>
            <a:r>
              <a:rPr lang="pt-BR" b="1" i="1" dirty="0" err="1"/>
              <a:t>Breakdown</a:t>
            </a:r>
            <a:r>
              <a:rPr lang="pt-BR" b="1" i="1" dirty="0"/>
              <a:t> </a:t>
            </a:r>
            <a:r>
              <a:rPr lang="pt-BR" b="1" i="1" dirty="0" err="1"/>
              <a:t>Structure</a:t>
            </a:r>
            <a:r>
              <a:rPr lang="pt-BR" b="1" i="1" dirty="0"/>
              <a:t> </a:t>
            </a:r>
            <a:r>
              <a:rPr lang="pt-BR" dirty="0"/>
              <a:t>(</a:t>
            </a:r>
            <a:r>
              <a:rPr lang="pt-BR" i="1" dirty="0"/>
              <a:t>WBS</a:t>
            </a:r>
            <a:r>
              <a:rPr lang="pt-BR" dirty="0"/>
              <a:t>, em inglês)</a:t>
            </a:r>
          </a:p>
        </p:txBody>
      </p:sp>
    </p:spTree>
    <p:extLst>
      <p:ext uri="{BB962C8B-B14F-4D97-AF65-F5344CB8AC3E}">
        <p14:creationId xmlns:p14="http://schemas.microsoft.com/office/powerpoint/2010/main" val="15740059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9F2B1-71BC-E3AB-6ACF-15A0F8C7D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EAP (Estrutura Analítica de Projeto)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E6BD18-BECE-9A72-6D37-5D82D61BB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Técnica criada, em 1962, pelo </a:t>
            </a:r>
            <a:r>
              <a:rPr lang="pt-BR" dirty="0" err="1"/>
              <a:t>DoD</a:t>
            </a:r>
            <a:r>
              <a:rPr lang="pt-BR" dirty="0"/>
              <a:t> e pela NASA</a:t>
            </a:r>
          </a:p>
          <a:p>
            <a:r>
              <a:rPr lang="pt-BR" dirty="0"/>
              <a:t>Oficializada pelo PMI em 1987</a:t>
            </a:r>
          </a:p>
          <a:p>
            <a:r>
              <a:rPr lang="pt-BR" dirty="0"/>
              <a:t>Define </a:t>
            </a:r>
            <a:r>
              <a:rPr lang="pt-BR" b="1" dirty="0"/>
              <a:t>elementos</a:t>
            </a:r>
            <a:r>
              <a:rPr lang="pt-BR" dirty="0"/>
              <a:t> e suas </a:t>
            </a:r>
            <a:r>
              <a:rPr lang="pt-BR" b="1" dirty="0"/>
              <a:t>decomposições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52AA1E-8AF0-52D7-F77C-E41976A870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210" t="45845"/>
          <a:stretch/>
        </p:blipFill>
        <p:spPr>
          <a:xfrm>
            <a:off x="3920647" y="3548690"/>
            <a:ext cx="4396636" cy="318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849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71467-A150-0F17-9786-16C4EF56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da EAP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492BC3-0FBA-4E67-C2FD-DD82D7F9F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determina sequência – apenas </a:t>
            </a:r>
            <a:r>
              <a:rPr lang="pt-BR" b="1" dirty="0"/>
              <a:t>decomposição;</a:t>
            </a:r>
          </a:p>
          <a:p>
            <a:pPr>
              <a:spcBef>
                <a:spcPts val="2400"/>
              </a:spcBef>
            </a:pPr>
            <a:r>
              <a:rPr lang="pt-BR" dirty="0"/>
              <a:t>Precisa ter </a:t>
            </a:r>
            <a:r>
              <a:rPr lang="pt-BR" b="1" dirty="0"/>
              <a:t>100% de cobertura</a:t>
            </a:r>
          </a:p>
          <a:p>
            <a:pPr>
              <a:spcBef>
                <a:spcPts val="2400"/>
              </a:spcBef>
            </a:pPr>
            <a:r>
              <a:rPr lang="pt-BR" dirty="0"/>
              <a:t>O somatório do trabalho das partes deve ser igual ao todo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4DDA3A3-93A9-B275-9D10-13D41118A3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" t="68990" r="5330" b="2224"/>
          <a:stretch/>
        </p:blipFill>
        <p:spPr>
          <a:xfrm>
            <a:off x="1653436" y="4709786"/>
            <a:ext cx="9106422" cy="194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863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9460B-E242-DD06-62D9-DD7682269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da EAP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F82FF6-6F5D-DF7D-EF0B-BDA07F93E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7588" cy="4351338"/>
          </a:xfrm>
        </p:spPr>
        <p:txBody>
          <a:bodyPr>
            <a:normAutofit lnSpcReduction="10000"/>
          </a:bodyPr>
          <a:lstStyle/>
          <a:p>
            <a:r>
              <a:rPr lang="pt-BR" i="1" dirty="0"/>
              <a:t>Primeiro nível</a:t>
            </a:r>
            <a:r>
              <a:rPr lang="pt-BR" dirty="0"/>
              <a:t>: produto completo;</a:t>
            </a:r>
          </a:p>
          <a:p>
            <a:pPr>
              <a:spcBef>
                <a:spcPts val="2400"/>
              </a:spcBef>
            </a:pPr>
            <a:r>
              <a:rPr lang="pt-BR" i="1" dirty="0"/>
              <a:t>Segundo nível</a:t>
            </a:r>
            <a:r>
              <a:rPr lang="pt-BR" dirty="0"/>
              <a:t>: funcionalidades ou fases;</a:t>
            </a:r>
          </a:p>
          <a:p>
            <a:pPr>
              <a:spcBef>
                <a:spcPts val="2400"/>
              </a:spcBef>
            </a:pPr>
            <a:r>
              <a:rPr lang="pt-BR" i="1" dirty="0"/>
              <a:t>Outros níveis</a:t>
            </a:r>
            <a:r>
              <a:rPr lang="pt-BR" dirty="0"/>
              <a:t>: decomposições adicionais ou pacotes de trabalho</a:t>
            </a:r>
          </a:p>
          <a:p>
            <a:pPr>
              <a:spcBef>
                <a:spcPts val="2400"/>
              </a:spcBef>
            </a:pPr>
            <a:r>
              <a:rPr lang="pt-BR" dirty="0"/>
              <a:t>Cada item deve ser </a:t>
            </a:r>
            <a:r>
              <a:rPr lang="pt-BR" b="1" dirty="0"/>
              <a:t>numerado </a:t>
            </a:r>
            <a:r>
              <a:rPr lang="pt-BR" dirty="0"/>
              <a:t>(1.1, 1.4.3, etc.);</a:t>
            </a:r>
          </a:p>
          <a:p>
            <a:endParaRPr lang="pt-BR" dirty="0"/>
          </a:p>
        </p:txBody>
      </p:sp>
      <p:pic>
        <p:nvPicPr>
          <p:cNvPr id="23554" name="Picture 2" descr="JyovSOlOhrKDCnCvCmDBix4Lyi3pIpXw 22Ss1n4OwSByeuZwosK GdDAPNDKed9fRt9 MnI6WK9 EAP - Estrutura Analítica de um Projeto: tudo o que você precisa saber para começar a usar">
            <a:extLst>
              <a:ext uri="{FF2B5EF4-FFF2-40B4-BE49-F238E27FC236}">
                <a16:creationId xmlns:a16="http://schemas.microsoft.com/office/drawing/2014/main" id="{F5069A67-B6E7-07F7-9285-62F5F0C41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788" y="2086845"/>
            <a:ext cx="6205276" cy="350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1350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737C8-7249-A6A8-05A6-9F19929B0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EAP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A38EC4-F0E8-B866-2945-857A1597A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4578" name="Picture 2" descr="Grupo de Processos de um Projeto: Planejamento: Estrutura Analítica do  Projetos (EAP)">
            <a:extLst>
              <a:ext uri="{FF2B5EF4-FFF2-40B4-BE49-F238E27FC236}">
                <a16:creationId xmlns:a16="http://schemas.microsoft.com/office/drawing/2014/main" id="{EAAD9DAA-98EC-3ED8-F906-C59E11E440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2"/>
          <a:stretch/>
        </p:blipFill>
        <p:spPr bwMode="auto">
          <a:xfrm>
            <a:off x="0" y="1690688"/>
            <a:ext cx="12192000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7896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5CC0E-F2D1-200E-4F6D-BDABA706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EAP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C237FC-3F13-C02D-8DF7-56AB83526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6626" name="Picture 2" descr="lktf9tfGSDa9p8OUTcFuwAdqotWTp1XlIIrQsEFK6hTYx97421SMMv6wlgQeAkIAQllEJcS8e6Amtbdnb7ekUMLqrpPIqwjlTm eIKxRirDLh6rqlTvmiump38S WKd3kRaaIq EAP - Estrutura Analítica de um Projeto: tudo o que você precisa saber para começar a usar">
            <a:extLst>
              <a:ext uri="{FF2B5EF4-FFF2-40B4-BE49-F238E27FC236}">
                <a16:creationId xmlns:a16="http://schemas.microsoft.com/office/drawing/2014/main" id="{5B08E2EA-5F37-0A7B-4FB8-88BE05F408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14"/>
          <a:stretch/>
        </p:blipFill>
        <p:spPr bwMode="auto">
          <a:xfrm>
            <a:off x="2399213" y="1580622"/>
            <a:ext cx="7714858" cy="511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3473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180D6-468B-C1D8-DDB6-8FBE781F7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EAP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21F3EC-A2CE-E70C-B3A3-6BD0C6A9C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5602" name="Picture 2" descr="EAP | Universo Projeto">
            <a:extLst>
              <a:ext uri="{FF2B5EF4-FFF2-40B4-BE49-F238E27FC236}">
                <a16:creationId xmlns:a16="http://schemas.microsoft.com/office/drawing/2014/main" id="{EC7F6436-82D6-D1D4-F294-200E7E007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393" y="1690688"/>
            <a:ext cx="7515225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4005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D3116-CA36-EF16-41B8-55FD6D533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Discussão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22036A-E925-CA8C-49BD-82B7920D0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Faça uma EAP para um churrasco da turma:</a:t>
            </a:r>
          </a:p>
        </p:txBody>
      </p:sp>
    </p:spTree>
    <p:extLst>
      <p:ext uri="{BB962C8B-B14F-4D97-AF65-F5344CB8AC3E}">
        <p14:creationId xmlns:p14="http://schemas.microsoft.com/office/powerpoint/2010/main" val="7304572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A5497C-A566-AB23-0832-2297793A7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8ECA1-0251-5C79-DB45-3B0099B7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Discussão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8B807-09C4-9E27-6AB9-2C36563ED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Faça uma EAP para um churrasco a partir da EAP parcial: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A3250BE-7493-DF68-C1B6-CEC3CA8325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088"/>
          <a:stretch/>
        </p:blipFill>
        <p:spPr>
          <a:xfrm>
            <a:off x="1720896" y="2671867"/>
            <a:ext cx="8298361" cy="382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917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37753-DC75-0F97-367D-8E842EF53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C10A28-8028-92F1-05E5-2E89CAFA1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4AD5D0-11A5-FA15-A4C6-EEA89E81D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384" y="0"/>
            <a:ext cx="6257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774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0D194-A641-4267-D0A6-6466B9354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EAP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8B74D4-454A-14B9-5083-FE12F381E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A4020790-BDF0-53D9-2E81-26F7FB02B397}"/>
              </a:ext>
            </a:extLst>
          </p:cNvPr>
          <p:cNvGrpSpPr/>
          <p:nvPr/>
        </p:nvGrpSpPr>
        <p:grpSpPr>
          <a:xfrm>
            <a:off x="1630408" y="1614798"/>
            <a:ext cx="8931183" cy="5217963"/>
            <a:chOff x="1630408" y="1614798"/>
            <a:chExt cx="8931183" cy="521796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8F5AEFD2-6218-85BC-0BD0-25339CC2EF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3004"/>
            <a:stretch/>
          </p:blipFill>
          <p:spPr>
            <a:xfrm>
              <a:off x="1630408" y="1614798"/>
              <a:ext cx="8931183" cy="5217963"/>
            </a:xfrm>
            <a:prstGeom prst="rect">
              <a:avLst/>
            </a:prstGeom>
          </p:spPr>
        </p:pic>
        <p:sp>
          <p:nvSpPr>
            <p:cNvPr id="4" name="Igual a 3">
              <a:extLst>
                <a:ext uri="{FF2B5EF4-FFF2-40B4-BE49-F238E27FC236}">
                  <a16:creationId xmlns:a16="http://schemas.microsoft.com/office/drawing/2014/main" id="{829AAEA3-BB63-7BC6-DCC8-46CC5164F63D}"/>
                </a:ext>
              </a:extLst>
            </p:cNvPr>
            <p:cNvSpPr/>
            <p:nvPr/>
          </p:nvSpPr>
          <p:spPr>
            <a:xfrm>
              <a:off x="5486400" y="4166886"/>
              <a:ext cx="914400" cy="914400"/>
            </a:xfrm>
            <a:prstGeom prst="mathEqual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18664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C1E5A-288D-927D-9723-4C2B9F2B2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EAP – Quando parar de decompor?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4FAE3D-F831-B23A-0D01-DB114E569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Quando for possível </a:t>
            </a:r>
            <a:r>
              <a:rPr lang="pt-BR" b="1" dirty="0"/>
              <a:t>estimar com segurança </a:t>
            </a:r>
            <a:r>
              <a:rPr lang="pt-BR" dirty="0"/>
              <a:t>o tamanho do pacote de trabalho;</a:t>
            </a:r>
          </a:p>
          <a:p>
            <a:pPr>
              <a:spcBef>
                <a:spcPts val="2400"/>
              </a:spcBef>
            </a:pPr>
            <a:r>
              <a:rPr lang="pt-BR" dirty="0"/>
              <a:t>Pacotes muito </a:t>
            </a:r>
            <a:r>
              <a:rPr lang="pt-BR" b="1" dirty="0"/>
              <a:t>grandes:</a:t>
            </a:r>
          </a:p>
          <a:p>
            <a:pPr lvl="1"/>
            <a:r>
              <a:rPr lang="pt-BR" dirty="0"/>
              <a:t>Imprecisão das estimativas;</a:t>
            </a:r>
          </a:p>
          <a:p>
            <a:pPr lvl="1"/>
            <a:r>
              <a:rPr lang="pt-BR" dirty="0"/>
              <a:t>Incapacidade de monitoramento preciso;</a:t>
            </a:r>
          </a:p>
          <a:p>
            <a:pPr>
              <a:spcBef>
                <a:spcPts val="2400"/>
              </a:spcBef>
            </a:pPr>
            <a:r>
              <a:rPr lang="pt-BR" dirty="0"/>
              <a:t>Pacotes muito </a:t>
            </a:r>
            <a:r>
              <a:rPr lang="pt-BR" b="1" dirty="0"/>
              <a:t>pequenos:</a:t>
            </a:r>
          </a:p>
          <a:p>
            <a:pPr lvl="1"/>
            <a:r>
              <a:rPr lang="pt-BR" dirty="0"/>
              <a:t>Ineficiência no planejamento, monitoramento e controle;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4E01E2C-0BB1-36CE-51AA-BD208F18F55C}"/>
              </a:ext>
            </a:extLst>
          </p:cNvPr>
          <p:cNvSpPr/>
          <p:nvPr/>
        </p:nvSpPr>
        <p:spPr>
          <a:xfrm>
            <a:off x="8900931" y="2615878"/>
            <a:ext cx="3206187" cy="28705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/>
              <a:t>Regra 8-80 ou 4-40</a:t>
            </a:r>
          </a:p>
          <a:p>
            <a:pPr algn="ctr">
              <a:spcBef>
                <a:spcPts val="1200"/>
              </a:spcBef>
            </a:pPr>
            <a:r>
              <a:rPr lang="pt-BR" sz="2400" dirty="0"/>
              <a:t>(intervalo de horas para cada pacote de trabalho)</a:t>
            </a:r>
          </a:p>
        </p:txBody>
      </p:sp>
    </p:spTree>
    <p:extLst>
      <p:ext uri="{BB962C8B-B14F-4D97-AF65-F5344CB8AC3E}">
        <p14:creationId xmlns:p14="http://schemas.microsoft.com/office/powerpoint/2010/main" val="187073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F4624-0173-93EF-D03E-2968301E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3 – Defina as 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AC1F3B-F96A-E797-894B-2C79D2BDB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Definir </a:t>
            </a:r>
            <a:r>
              <a:rPr lang="pt-BR" u="sng" dirty="0"/>
              <a:t>para cada pacote de trabalho </a:t>
            </a:r>
            <a:r>
              <a:rPr lang="pt-BR" dirty="0"/>
              <a:t>da EAP:</a:t>
            </a:r>
          </a:p>
          <a:p>
            <a:pPr lvl="1"/>
            <a:r>
              <a:rPr lang="pt-BR" dirty="0"/>
              <a:t>Atividades necessárias;</a:t>
            </a:r>
          </a:p>
          <a:p>
            <a:pPr lvl="1"/>
            <a:r>
              <a:rPr lang="pt-BR" dirty="0"/>
              <a:t>Recursos necessários para a execução das atividades;</a:t>
            </a:r>
          </a:p>
          <a:p>
            <a:pPr lvl="1"/>
            <a:endParaRPr lang="pt-BR" dirty="0"/>
          </a:p>
          <a:p>
            <a:r>
              <a:rPr lang="pt-BR" dirty="0"/>
              <a:t>Ex. </a:t>
            </a:r>
            <a:r>
              <a:rPr lang="pt-BR" b="1" i="1" dirty="0"/>
              <a:t>Churrasco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Atividade “Comprar bebidas”</a:t>
            </a:r>
          </a:p>
          <a:p>
            <a:pPr lvl="2"/>
            <a:r>
              <a:rPr lang="pt-BR" dirty="0"/>
              <a:t>Atividades: ir ao supermercado;</a:t>
            </a:r>
          </a:p>
          <a:p>
            <a:pPr lvl="2"/>
            <a:r>
              <a:rPr lang="pt-BR" dirty="0"/>
              <a:t>Recursos: pessoa, carro, dinheiro;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74128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608FA-5012-B46E-5A95-2E0C0B71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4 – Definir a sequência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6DCD22-7C8F-2AFA-646F-E8838BC56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executar uma determinada atividade, outras já precisam ter sido concluídas (pré-requisitos);</a:t>
            </a:r>
          </a:p>
          <a:p>
            <a:pPr>
              <a:spcBef>
                <a:spcPts val="2400"/>
              </a:spcBef>
            </a:pPr>
            <a:r>
              <a:rPr lang="pt-BR" dirty="0"/>
              <a:t>Necessário definir dependências (sequência) das atividades;</a:t>
            </a:r>
          </a:p>
          <a:p>
            <a:endParaRPr lang="pt-BR" dirty="0"/>
          </a:p>
          <a:p>
            <a:r>
              <a:rPr lang="pt-BR" dirty="0"/>
              <a:t>Ex. </a:t>
            </a:r>
            <a:r>
              <a:rPr lang="pt-BR" b="1" i="1" dirty="0"/>
              <a:t>Churrasco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Pré-requisitos da atividade “Comprar bebidas”</a:t>
            </a:r>
          </a:p>
          <a:p>
            <a:pPr lvl="2"/>
            <a:r>
              <a:rPr lang="pt-BR" dirty="0"/>
              <a:t>Definir quantidade de bebidas;</a:t>
            </a:r>
          </a:p>
          <a:p>
            <a:pPr lvl="2"/>
            <a:r>
              <a:rPr lang="pt-BR" dirty="0"/>
              <a:t>Escolher supermercado com melhor preço;</a:t>
            </a:r>
          </a:p>
        </p:txBody>
      </p:sp>
    </p:spTree>
    <p:extLst>
      <p:ext uri="{BB962C8B-B14F-4D97-AF65-F5344CB8AC3E}">
        <p14:creationId xmlns:p14="http://schemas.microsoft.com/office/powerpoint/2010/main" val="96466646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CF19D-FC90-7D16-CF11-56A23AAA1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CDB4B-C91B-C8BC-E18E-7025E979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D35DD1-4366-7EEE-3DF7-B8FC8A96F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981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Em relação ao gerenciamento de escopo de projetos de software, considere as seguintes afirmações. Quais são verdadeiras?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I- Escopo de projeto é todo o trabalho necessário para se realizar um projeto.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II- Escopo de produto diz respeito às características e funcionalidades que caracterizam um produto.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III- O detalhamento do escopo envolve a subdivisão dos principais subprodutos do projeto em componentes menores e mais manejáveis para se ter condição de diminuir número de mudanças no processo.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pt-BR" b="0" i="0" dirty="0">
                <a:solidFill>
                  <a:srgbClr val="1F1F1F"/>
                </a:solidFill>
                <a:effectLst/>
                <a:latin typeface="docs-Roboto"/>
              </a:rPr>
              <a:t>IV- A EAP não determina a sequência de atividades, mas sim sua decomposição em partes menores e cujo somatório das partes deve ser igual ao todo do projeto (em termos de tempo, custo e recursos)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FE0C3C5-84FD-B969-70A0-44FE238FF28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9768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D5E71-C6C1-66D0-E837-2DAF3FF3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 da incerteza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F6A1B4-B2FF-24C3-E7A8-3322E8001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Descreve a evolução da incerteza ao longo do projeto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DA9678F8-D7E6-5D62-6CC2-C03E52EC20B2}"/>
              </a:ext>
            </a:extLst>
          </p:cNvPr>
          <p:cNvGrpSpPr/>
          <p:nvPr/>
        </p:nvGrpSpPr>
        <p:grpSpPr>
          <a:xfrm>
            <a:off x="590056" y="2781115"/>
            <a:ext cx="5057775" cy="3626680"/>
            <a:chOff x="590056" y="2781115"/>
            <a:chExt cx="5057775" cy="3626680"/>
          </a:xfrm>
        </p:grpSpPr>
        <p:pic>
          <p:nvPicPr>
            <p:cNvPr id="21506" name="Picture 2">
              <a:extLst>
                <a:ext uri="{FF2B5EF4-FFF2-40B4-BE49-F238E27FC236}">
                  <a16:creationId xmlns:a16="http://schemas.microsoft.com/office/drawing/2014/main" id="{5268FD53-C8FA-AF99-55D0-00091D124E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056" y="2781115"/>
              <a:ext cx="5057775" cy="3267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D4C8B443-B104-9A26-3FBB-17C3A3E9836F}"/>
                </a:ext>
              </a:extLst>
            </p:cNvPr>
            <p:cNvSpPr txBox="1"/>
            <p:nvPr/>
          </p:nvSpPr>
          <p:spPr>
            <a:xfrm>
              <a:off x="2291216" y="5946130"/>
              <a:ext cx="16554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/>
                <a:t>Expectativa</a:t>
              </a:r>
              <a:endParaRPr lang="pt-BR" b="1" dirty="0"/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DCCCD03-FDC8-C551-5E97-E86E32D13E92}"/>
              </a:ext>
            </a:extLst>
          </p:cNvPr>
          <p:cNvGrpSpPr/>
          <p:nvPr/>
        </p:nvGrpSpPr>
        <p:grpSpPr>
          <a:xfrm>
            <a:off x="5871916" y="2558496"/>
            <a:ext cx="5705969" cy="3849299"/>
            <a:chOff x="5871916" y="2558496"/>
            <a:chExt cx="5705969" cy="3849299"/>
          </a:xfrm>
        </p:grpSpPr>
        <p:pic>
          <p:nvPicPr>
            <p:cNvPr id="21508" name="Picture 4">
              <a:extLst>
                <a:ext uri="{FF2B5EF4-FFF2-40B4-BE49-F238E27FC236}">
                  <a16:creationId xmlns:a16="http://schemas.microsoft.com/office/drawing/2014/main" id="{428FCCC1-E65D-4BB3-B157-FA12DF125E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1916" y="2558496"/>
              <a:ext cx="5705969" cy="3267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5D508C2C-A8DE-A5E9-7105-2DEBA549DB42}"/>
                </a:ext>
              </a:extLst>
            </p:cNvPr>
            <p:cNvSpPr txBox="1"/>
            <p:nvPr/>
          </p:nvSpPr>
          <p:spPr>
            <a:xfrm>
              <a:off x="8000022" y="5946130"/>
              <a:ext cx="14497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/>
                <a:t>Realidade</a:t>
              </a:r>
              <a:endParaRPr lang="pt-BR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4966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6A95A-04BD-0B9F-C0AA-D3734C3AF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de escopo orientado a plano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A8DC0D-26DC-9772-0509-4D24C1F98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Desvio de escopo</a:t>
            </a:r>
            <a:r>
              <a:rPr lang="pt-BR" dirty="0"/>
              <a:t> “</a:t>
            </a:r>
            <a:r>
              <a:rPr lang="pt-BR" i="1" dirty="0" err="1"/>
              <a:t>Scope</a:t>
            </a:r>
            <a:r>
              <a:rPr lang="pt-BR" i="1" dirty="0"/>
              <a:t> </a:t>
            </a:r>
            <a:r>
              <a:rPr lang="pt-BR" i="1" dirty="0" err="1"/>
              <a:t>creep</a:t>
            </a:r>
            <a:r>
              <a:rPr lang="pt-BR" dirty="0"/>
              <a:t>”: mudança expansiva nos requisitos que começa algum tempo depois que os requisitos são definidos como linha de base no início do projeto e continua ao longo da vida do projeto</a:t>
            </a:r>
          </a:p>
          <a:p>
            <a:pPr>
              <a:spcBef>
                <a:spcPts val="2400"/>
              </a:spcBef>
            </a:pPr>
            <a:endParaRPr lang="pt-BR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C67F3A9-2A5A-AF01-ED35-031D5DB8D4CB}"/>
              </a:ext>
            </a:extLst>
          </p:cNvPr>
          <p:cNvGrpSpPr/>
          <p:nvPr/>
        </p:nvGrpSpPr>
        <p:grpSpPr>
          <a:xfrm>
            <a:off x="3016946" y="3402378"/>
            <a:ext cx="6158108" cy="3151909"/>
            <a:chOff x="3227540" y="3230810"/>
            <a:chExt cx="6158108" cy="3151909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5396FA0-08EF-2484-5F3E-E63D34E56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4520852" y="3365747"/>
              <a:ext cx="2982238" cy="2982238"/>
            </a:xfrm>
            <a:prstGeom prst="rect">
              <a:avLst/>
            </a:prstGeom>
          </p:spPr>
        </p:pic>
        <p:sp>
          <p:nvSpPr>
            <p:cNvPr id="6" name="Balão de Fala: Retângulo 5">
              <a:extLst>
                <a:ext uri="{FF2B5EF4-FFF2-40B4-BE49-F238E27FC236}">
                  <a16:creationId xmlns:a16="http://schemas.microsoft.com/office/drawing/2014/main" id="{E553353B-60BB-9A86-EEFC-8005BF2E3264}"/>
                </a:ext>
              </a:extLst>
            </p:cNvPr>
            <p:cNvSpPr/>
            <p:nvPr/>
          </p:nvSpPr>
          <p:spPr>
            <a:xfrm>
              <a:off x="6901842" y="3230810"/>
              <a:ext cx="2091846" cy="833753"/>
            </a:xfrm>
            <a:prstGeom prst="wedgeRectCallout">
              <a:avLst>
                <a:gd name="adj1" fmla="val -68138"/>
                <a:gd name="adj2" fmla="val 1442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7313" lvl="1">
                <a:spcBef>
                  <a:spcPts val="600"/>
                </a:spcBef>
              </a:pPr>
              <a:r>
                <a:rPr lang="pt-BR" dirty="0"/>
                <a:t>“Sabe o que seria legal?”</a:t>
              </a:r>
            </a:p>
          </p:txBody>
        </p:sp>
        <p:sp>
          <p:nvSpPr>
            <p:cNvPr id="7" name="Balão de Fala: Retângulo 6">
              <a:extLst>
                <a:ext uri="{FF2B5EF4-FFF2-40B4-BE49-F238E27FC236}">
                  <a16:creationId xmlns:a16="http://schemas.microsoft.com/office/drawing/2014/main" id="{2A71CE79-50D0-F5F8-D913-8D7C8702A2A8}"/>
                </a:ext>
              </a:extLst>
            </p:cNvPr>
            <p:cNvSpPr/>
            <p:nvPr/>
          </p:nvSpPr>
          <p:spPr>
            <a:xfrm>
              <a:off x="7111131" y="4364638"/>
              <a:ext cx="2274517" cy="833753"/>
            </a:xfrm>
            <a:prstGeom prst="wedgeRectCallout">
              <a:avLst>
                <a:gd name="adj1" fmla="val -78107"/>
                <a:gd name="adj2" fmla="val -922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4625" lvl="1">
                <a:spcBef>
                  <a:spcPts val="600"/>
                </a:spcBef>
              </a:pPr>
              <a:r>
                <a:rPr lang="pt-BR" dirty="0"/>
                <a:t>“E se adicionarmos mais um botão?”</a:t>
              </a:r>
            </a:p>
          </p:txBody>
        </p:sp>
        <p:sp>
          <p:nvSpPr>
            <p:cNvPr id="8" name="Balão de Fala: Retângulo 7">
              <a:extLst>
                <a:ext uri="{FF2B5EF4-FFF2-40B4-BE49-F238E27FC236}">
                  <a16:creationId xmlns:a16="http://schemas.microsoft.com/office/drawing/2014/main" id="{6C629B97-F7CB-D58B-02A9-FD8CAA1EFA95}"/>
                </a:ext>
              </a:extLst>
            </p:cNvPr>
            <p:cNvSpPr/>
            <p:nvPr/>
          </p:nvSpPr>
          <p:spPr>
            <a:xfrm>
              <a:off x="6998395" y="5478147"/>
              <a:ext cx="2274517" cy="833753"/>
            </a:xfrm>
            <a:prstGeom prst="wedgeRectCallout">
              <a:avLst>
                <a:gd name="adj1" fmla="val -63789"/>
                <a:gd name="adj2" fmla="val -8473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4625" lvl="1">
                <a:spcBef>
                  <a:spcPts val="600"/>
                </a:spcBef>
              </a:pPr>
              <a:r>
                <a:rPr lang="pt-BR" dirty="0"/>
                <a:t>“Não era isso que eu pedi”</a:t>
              </a:r>
            </a:p>
          </p:txBody>
        </p:sp>
        <p:sp>
          <p:nvSpPr>
            <p:cNvPr id="9" name="Balão de Fala: Retângulo 8">
              <a:extLst>
                <a:ext uri="{FF2B5EF4-FFF2-40B4-BE49-F238E27FC236}">
                  <a16:creationId xmlns:a16="http://schemas.microsoft.com/office/drawing/2014/main" id="{DAD3A996-518B-0180-82FC-B90C142C9666}"/>
                </a:ext>
              </a:extLst>
            </p:cNvPr>
            <p:cNvSpPr/>
            <p:nvPr/>
          </p:nvSpPr>
          <p:spPr>
            <a:xfrm>
              <a:off x="3298000" y="3321476"/>
              <a:ext cx="2204057" cy="831054"/>
            </a:xfrm>
            <a:prstGeom prst="wedgeRectCallout">
              <a:avLst>
                <a:gd name="adj1" fmla="val 67256"/>
                <a:gd name="adj2" fmla="val -381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4625" lvl="1">
                <a:spcBef>
                  <a:spcPts val="600"/>
                </a:spcBef>
              </a:pPr>
              <a:r>
                <a:rPr lang="pt-BR" dirty="0"/>
                <a:t>“Vamos adicionar mais uma funcionalidade”</a:t>
              </a:r>
            </a:p>
          </p:txBody>
        </p:sp>
        <p:sp>
          <p:nvSpPr>
            <p:cNvPr id="10" name="Balão de Fala: Retângulo 9">
              <a:extLst>
                <a:ext uri="{FF2B5EF4-FFF2-40B4-BE49-F238E27FC236}">
                  <a16:creationId xmlns:a16="http://schemas.microsoft.com/office/drawing/2014/main" id="{D74C10C9-3C5E-D47F-80EA-39B2954B1410}"/>
                </a:ext>
              </a:extLst>
            </p:cNvPr>
            <p:cNvSpPr/>
            <p:nvPr/>
          </p:nvSpPr>
          <p:spPr>
            <a:xfrm>
              <a:off x="3227540" y="4439989"/>
              <a:ext cx="2274517" cy="833753"/>
            </a:xfrm>
            <a:prstGeom prst="wedgeRectCallout">
              <a:avLst>
                <a:gd name="adj1" fmla="val 70034"/>
                <a:gd name="adj2" fmla="val -8623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4625" lvl="1">
                <a:spcBef>
                  <a:spcPts val="600"/>
                </a:spcBef>
              </a:pPr>
              <a:r>
                <a:rPr lang="pt-BR" dirty="0"/>
                <a:t>“Acabei de perceber que esquecemos...”</a:t>
              </a:r>
            </a:p>
          </p:txBody>
        </p:sp>
        <p:sp>
          <p:nvSpPr>
            <p:cNvPr id="11" name="Balão de Fala: Retângulo 10">
              <a:extLst>
                <a:ext uri="{FF2B5EF4-FFF2-40B4-BE49-F238E27FC236}">
                  <a16:creationId xmlns:a16="http://schemas.microsoft.com/office/drawing/2014/main" id="{5712602A-527A-36E7-A506-CE4CA0549C50}"/>
                </a:ext>
              </a:extLst>
            </p:cNvPr>
            <p:cNvSpPr/>
            <p:nvPr/>
          </p:nvSpPr>
          <p:spPr>
            <a:xfrm>
              <a:off x="3298000" y="5548966"/>
              <a:ext cx="2274517" cy="833753"/>
            </a:xfrm>
            <a:prstGeom prst="wedgeRectCallout">
              <a:avLst>
                <a:gd name="adj1" fmla="val 67281"/>
                <a:gd name="adj2" fmla="val -8473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4625" lvl="1">
                <a:spcBef>
                  <a:spcPts val="600"/>
                </a:spcBef>
              </a:pPr>
              <a:r>
                <a:rPr lang="pt-BR" dirty="0"/>
                <a:t>“Mas eu preciso disso..”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08401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6A95A-04BD-0B9F-C0AA-D3734C3AF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do escopo preditivo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A8DC0D-26DC-9772-0509-4D24C1F98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pt-BR" dirty="0"/>
              <a:t>Objetivo do plano de projeto: 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congelar os requisitos</a:t>
            </a:r>
            <a:r>
              <a:rPr lang="pt-BR" dirty="0"/>
              <a:t> no início do projeto e </a:t>
            </a:r>
            <a:r>
              <a:rPr lang="pt-BR" b="1" dirty="0"/>
              <a:t>controlar a mudança </a:t>
            </a:r>
            <a:r>
              <a:rPr lang="pt-BR" dirty="0"/>
              <a:t>conforme a equipe trabalha para entregar o que foi originalmente definido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Problema que causa atrasos nas entregas e excessos de custos;</a:t>
            </a:r>
          </a:p>
        </p:txBody>
      </p:sp>
      <p:pic>
        <p:nvPicPr>
          <p:cNvPr id="5122" name="Picture 2" descr="How to manage scope creep and use it to your advantage in projects [2025] •  Breeze">
            <a:extLst>
              <a:ext uri="{FF2B5EF4-FFF2-40B4-BE49-F238E27FC236}">
                <a16:creationId xmlns:a16="http://schemas.microsoft.com/office/drawing/2014/main" id="{FE733D68-58BD-5080-9C81-1F92A20AD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6180" y="3902020"/>
            <a:ext cx="4038683" cy="269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1402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2FEE1-A768-B050-9FFE-F41762B83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Gold </a:t>
            </a:r>
            <a:r>
              <a:rPr lang="pt-BR" i="1" dirty="0" err="1"/>
              <a:t>plating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DCDAED-681C-6CC0-8F80-DF356FDD4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440"/>
            <a:ext cx="10515600" cy="4561523"/>
          </a:xfrm>
        </p:spPr>
        <p:txBody>
          <a:bodyPr/>
          <a:lstStyle/>
          <a:p>
            <a:r>
              <a:rPr lang="pt-BR" dirty="0"/>
              <a:t>Excesso de funcionalidades não requisitadas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Entregas além do pedido, sem necessidade ou agregação de valor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Geralmente, propostas pela equipe do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Exemplo: sistema de relatórios ganha gráficos 3D que não agregam valor ao usuário.</a:t>
            </a:r>
          </a:p>
        </p:txBody>
      </p:sp>
      <p:sp>
        <p:nvSpPr>
          <p:cNvPr id="4" name="AutoShape 2" descr="Are You Gold-Plating Your Product? | DanylkoWeb">
            <a:extLst>
              <a:ext uri="{FF2B5EF4-FFF2-40B4-BE49-F238E27FC236}">
                <a16:creationId xmlns:a16="http://schemas.microsoft.com/office/drawing/2014/main" id="{E0DE03A0-73CD-01AA-3093-AF045CA213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7A42F5C-6A32-A421-CB0C-A8A172B17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75" y="3717159"/>
            <a:ext cx="7858125" cy="305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4283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F30D6-516C-2158-85FB-514F133B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Funcionalidades não utilizadas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213E23-F44C-0F12-B98D-976A46BAF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Maior parte das </a:t>
            </a:r>
            <a:r>
              <a:rPr lang="pt-BR" i="1" dirty="0"/>
              <a:t>features </a:t>
            </a:r>
            <a:r>
              <a:rPr lang="pt-BR" dirty="0"/>
              <a:t>projetadas quase nunca são usadas</a:t>
            </a:r>
          </a:p>
        </p:txBody>
      </p:sp>
      <p:pic>
        <p:nvPicPr>
          <p:cNvPr id="6146" name="Picture 2" descr="Pie Chart of Feature Use in Four Internal-Use Products">
            <a:extLst>
              <a:ext uri="{FF2B5EF4-FFF2-40B4-BE49-F238E27FC236}">
                <a16:creationId xmlns:a16="http://schemas.microsoft.com/office/drawing/2014/main" id="{46C878BF-B036-8390-38C1-3BE4B80B0A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31" r="11098"/>
          <a:stretch/>
        </p:blipFill>
        <p:spPr bwMode="auto">
          <a:xfrm>
            <a:off x="2958177" y="2540000"/>
            <a:ext cx="5748943" cy="404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7142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4563C-D41D-6943-70D5-F02F22179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D20BCC-C3B0-BD91-84ED-1F3880D23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PMBOK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Características e aplicação em projetos de software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Eixos estruturantes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Iniciação de projeto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Gerenciamento de escopo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Escopo de projetos preditivos;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rabicPeriod"/>
            </a:pPr>
            <a:r>
              <a:rPr lang="pt-BR" b="1" dirty="0"/>
              <a:t>Escopo de projetos ágeis</a:t>
            </a:r>
            <a:r>
              <a:rPr lang="pt-BR" dirty="0"/>
              <a:t>;</a:t>
            </a:r>
          </a:p>
          <a:p>
            <a:pPr marL="914400" lvl="1" indent="-457200">
              <a:buFont typeface="+mj-lt"/>
              <a:buAutoNum type="arabi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552EA6-D345-1334-5FCD-17F717D0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16BCC10-D3B7-29C9-DCBA-71E0C10F9FB8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6716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C79F6-ADFC-76B7-4BBE-DBE60D5A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82974-DE48-C026-1676-AA0B2EFA7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Respostas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E2E6B7-042E-B748-3304-2B15A2F1A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 err="1"/>
              <a:t>Scope</a:t>
            </a:r>
            <a:r>
              <a:rPr lang="pt-BR" i="1" dirty="0"/>
              <a:t> </a:t>
            </a:r>
            <a:r>
              <a:rPr lang="pt-BR" i="1" dirty="0" err="1"/>
              <a:t>creep</a:t>
            </a:r>
            <a:r>
              <a:rPr lang="pt-BR" i="1" dirty="0"/>
              <a:t> </a:t>
            </a:r>
            <a:r>
              <a:rPr lang="pt-BR" dirty="0">
                <a:sym typeface="Wingdings" panose="05000000000000000000" pitchFamily="2" charset="2"/>
              </a:rPr>
              <a:t></a:t>
            </a:r>
          </a:p>
          <a:p>
            <a:r>
              <a:rPr lang="pt-BR" i="1" dirty="0"/>
              <a:t>Gold </a:t>
            </a:r>
            <a:r>
              <a:rPr lang="pt-BR" i="1" dirty="0" err="1"/>
              <a:t>plating</a:t>
            </a:r>
            <a:r>
              <a:rPr lang="pt-BR" i="1" dirty="0"/>
              <a:t> </a:t>
            </a:r>
            <a:r>
              <a:rPr lang="pt-BR" dirty="0">
                <a:sym typeface="Wingdings" panose="05000000000000000000" pitchFamily="2" charset="2"/>
              </a:rPr>
              <a:t></a:t>
            </a:r>
          </a:p>
          <a:p>
            <a:r>
              <a:rPr lang="pt-BR" dirty="0">
                <a:sym typeface="Wingdings" panose="05000000000000000000" pitchFamily="2" charset="2"/>
              </a:rPr>
              <a:t>Funcionalidades não usadas </a:t>
            </a:r>
          </a:p>
          <a:p>
            <a:r>
              <a:rPr lang="pt-BR" dirty="0">
                <a:sym typeface="Wingdings" panose="05000000000000000000" pitchFamily="2" charset="2"/>
              </a:rPr>
              <a:t>Cone da incerteza 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BA0A5F-D76B-AFA8-9F17-64537E431B6A}"/>
              </a:ext>
            </a:extLst>
          </p:cNvPr>
          <p:cNvSpPr txBox="1"/>
          <p:nvPr/>
        </p:nvSpPr>
        <p:spPr>
          <a:xfrm>
            <a:off x="6268720" y="1898620"/>
            <a:ext cx="5201920" cy="44012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400" dirty="0"/>
              <a:t>Funcionalidade dos incrementos </a:t>
            </a:r>
            <a:r>
              <a:rPr lang="pt-BR" sz="2400" b="1" dirty="0">
                <a:solidFill>
                  <a:srgbClr val="FF0000"/>
                </a:solidFill>
              </a:rPr>
              <a:t>não é </a:t>
            </a:r>
            <a:r>
              <a:rPr lang="pt-BR" sz="2400" dirty="0"/>
              <a:t>toda planejada </a:t>
            </a:r>
            <a:r>
              <a:rPr lang="pt-BR" sz="2400" i="1" dirty="0"/>
              <a:t>no início</a:t>
            </a:r>
            <a:r>
              <a:rPr lang="pt-BR" sz="2400" dirty="0"/>
              <a:t>, mas decidida/refinada </a:t>
            </a:r>
            <a:r>
              <a:rPr lang="pt-BR" sz="2400" b="1" dirty="0"/>
              <a:t>durante o desenvolvimento</a:t>
            </a:r>
          </a:p>
          <a:p>
            <a:pPr algn="l">
              <a:spcBef>
                <a:spcPts val="2400"/>
              </a:spcBef>
            </a:pPr>
            <a:r>
              <a:rPr lang="pt-BR" sz="2400" dirty="0"/>
              <a:t>O que incluir em um incremento depende do </a:t>
            </a:r>
            <a:r>
              <a:rPr lang="pt-BR" sz="2400" b="1" dirty="0"/>
              <a:t>progresso</a:t>
            </a:r>
            <a:r>
              <a:rPr lang="pt-BR" sz="2400" dirty="0"/>
              <a:t> e das </a:t>
            </a:r>
            <a:r>
              <a:rPr lang="pt-BR" sz="2400" b="1" dirty="0"/>
              <a:t>prioridades</a:t>
            </a:r>
            <a:r>
              <a:rPr lang="pt-BR" sz="2400" dirty="0"/>
              <a:t> do cliente</a:t>
            </a:r>
          </a:p>
          <a:p>
            <a:pPr algn="l">
              <a:spcBef>
                <a:spcPts val="2400"/>
              </a:spcBef>
            </a:pPr>
            <a:r>
              <a:rPr lang="pt-BR" sz="2400" dirty="0"/>
              <a:t>Prioridades e necessidades do cliente mudam </a:t>
            </a:r>
            <a:r>
              <a:rPr lang="pt-BR" sz="2400" dirty="0">
                <a:sym typeface="Wingdings" panose="05000000000000000000" pitchFamily="2" charset="2"/>
              </a:rPr>
              <a:t> </a:t>
            </a:r>
            <a:r>
              <a:rPr lang="pt-BR" sz="2400" b="1" dirty="0"/>
              <a:t>plano flexível capaz de acomodar essas mudanças</a:t>
            </a:r>
          </a:p>
        </p:txBody>
      </p:sp>
    </p:spTree>
    <p:extLst>
      <p:ext uri="{BB962C8B-B14F-4D97-AF65-F5344CB8AC3E}">
        <p14:creationId xmlns:p14="http://schemas.microsoft.com/office/powerpoint/2010/main" val="38917870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46F22-F13D-6ECF-AC6D-28282779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Abordagem ágil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750B9-C89E-A43B-393D-2CBC38F59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1489" cy="4351338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pt-BR" i="1" dirty="0"/>
              <a:t>Frameworks </a:t>
            </a:r>
            <a:r>
              <a:rPr lang="pt-BR" dirty="0"/>
              <a:t>ágeis são desenhados para se adaptar a mudanças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Entregas focam funcionalidades+ importantes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Usa elaboração progressiva e </a:t>
            </a:r>
            <a:r>
              <a:rPr lang="pt-BR" b="1" i="1" dirty="0"/>
              <a:t>Planejamento em ondas sucessivas</a:t>
            </a:r>
          </a:p>
          <a:p>
            <a:pPr>
              <a:spcBef>
                <a:spcPts val="2400"/>
              </a:spcBef>
            </a:pPr>
            <a:r>
              <a:rPr lang="pt-BR" i="1" dirty="0"/>
              <a:t>Desvio de escopo </a:t>
            </a:r>
            <a:r>
              <a:rPr lang="pt-BR" dirty="0"/>
              <a:t>não acontece, pois a mudança é esperada e </a:t>
            </a:r>
            <a:r>
              <a:rPr lang="pt-BR" b="1" dirty="0"/>
              <a:t>aceita</a:t>
            </a:r>
            <a:r>
              <a:rPr lang="pt-BR" dirty="0"/>
              <a:t> ao longo do ciclo de vida do projeto</a:t>
            </a:r>
          </a:p>
        </p:txBody>
      </p:sp>
      <p:pic>
        <p:nvPicPr>
          <p:cNvPr id="4098" name="Picture 2" descr="Rolling Wave Planning PowerPoint Presentation Slides - PPT Template">
            <a:extLst>
              <a:ext uri="{FF2B5EF4-FFF2-40B4-BE49-F238E27FC236}">
                <a16:creationId xmlns:a16="http://schemas.microsoft.com/office/drawing/2014/main" id="{B24C4FCF-77C2-703C-8739-D3EF4A90BA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2" r="12122"/>
          <a:stretch/>
        </p:blipFill>
        <p:spPr bwMode="auto">
          <a:xfrm>
            <a:off x="7529689" y="2268080"/>
            <a:ext cx="4509370" cy="302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olling Wave Planning - PM Illustrated">
            <a:extLst>
              <a:ext uri="{FF2B5EF4-FFF2-40B4-BE49-F238E27FC236}">
                <a16:creationId xmlns:a16="http://schemas.microsoft.com/office/drawing/2014/main" id="{42687AB3-CF1C-1A33-550B-D973F8CD6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361" y="5290767"/>
            <a:ext cx="32480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7118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06ED6-CC8C-199F-7EF0-6521D8D2E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Abordagem ágil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BF8DFCA-40B3-5E4D-0C48-F559FD4797C6}"/>
              </a:ext>
            </a:extLst>
          </p:cNvPr>
          <p:cNvSpPr txBox="1"/>
          <p:nvPr/>
        </p:nvSpPr>
        <p:spPr>
          <a:xfrm>
            <a:off x="2822009" y="6176963"/>
            <a:ext cx="6547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/>
              <a:t>Sliger</a:t>
            </a:r>
            <a:r>
              <a:rPr lang="pt-BR" sz="1400" dirty="0"/>
              <a:t>, M. (2010). </a:t>
            </a:r>
            <a:r>
              <a:rPr lang="pt-BR" sz="1400" b="1" dirty="0" err="1"/>
              <a:t>Goodbye</a:t>
            </a:r>
            <a:r>
              <a:rPr lang="pt-BR" sz="1400" b="1" dirty="0"/>
              <a:t>, </a:t>
            </a:r>
            <a:r>
              <a:rPr lang="pt-BR" sz="1400" b="1" dirty="0" err="1"/>
              <a:t>scope</a:t>
            </a:r>
            <a:r>
              <a:rPr lang="pt-BR" sz="1400" b="1" dirty="0"/>
              <a:t> </a:t>
            </a:r>
            <a:r>
              <a:rPr lang="pt-BR" sz="1400" b="1" dirty="0" err="1"/>
              <a:t>creep</a:t>
            </a:r>
            <a:r>
              <a:rPr lang="pt-BR" sz="1400" b="1" dirty="0"/>
              <a:t>—</a:t>
            </a:r>
            <a:r>
              <a:rPr lang="pt-BR" sz="1400" b="1" dirty="0" err="1"/>
              <a:t>hello</a:t>
            </a:r>
            <a:r>
              <a:rPr lang="pt-BR" sz="1400" b="1" dirty="0"/>
              <a:t>, </a:t>
            </a:r>
            <a:r>
              <a:rPr lang="pt-BR" sz="1400" b="1" dirty="0" err="1"/>
              <a:t>agile</a:t>
            </a:r>
            <a:r>
              <a:rPr lang="pt-BR" sz="1400" b="1" dirty="0"/>
              <a:t>!</a:t>
            </a:r>
            <a:r>
              <a:rPr lang="pt-BR" sz="1400" dirty="0"/>
              <a:t> PMI® Global Congress 2010—North </a:t>
            </a:r>
            <a:r>
              <a:rPr lang="pt-BR" sz="1400" dirty="0" err="1"/>
              <a:t>America</a:t>
            </a:r>
            <a:r>
              <a:rPr lang="pt-BR" sz="1400" dirty="0"/>
              <a:t>, Washington, DC. Newtown Square, PA: Project Management </a:t>
            </a:r>
            <a:r>
              <a:rPr lang="pt-BR" sz="1400" dirty="0" err="1"/>
              <a:t>Institute</a:t>
            </a:r>
            <a:r>
              <a:rPr lang="pt-BR" sz="1400" dirty="0"/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B886690-6D0C-1E55-34E9-CC41C973EF1F}"/>
              </a:ext>
            </a:extLst>
          </p:cNvPr>
          <p:cNvSpPr txBox="1"/>
          <p:nvPr/>
        </p:nvSpPr>
        <p:spPr>
          <a:xfrm>
            <a:off x="125261" y="2088363"/>
            <a:ext cx="3306871" cy="3416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u="sng" dirty="0"/>
              <a:t>Tradicional (</a:t>
            </a:r>
            <a:r>
              <a:rPr lang="pt-BR" b="1" u="sng" dirty="0" err="1"/>
              <a:t>bottom-up</a:t>
            </a:r>
            <a:r>
              <a:rPr lang="pt-BR" b="1" u="sng" dirty="0"/>
              <a:t>)</a:t>
            </a:r>
            <a:r>
              <a:rPr lang="pt-BR" b="1" dirty="0"/>
              <a:t>: </a:t>
            </a:r>
            <a:r>
              <a:rPr lang="pt-BR" dirty="0"/>
              <a:t>define o escopo em grau detalhado antes do início do projeto.</a:t>
            </a:r>
          </a:p>
          <a:p>
            <a:endParaRPr lang="pt-BR" dirty="0"/>
          </a:p>
          <a:p>
            <a:r>
              <a:rPr lang="pt-BR" dirty="0"/>
              <a:t>Os requisitos detalhados são fixados e gerência estimam tempo e recursos baseada nesse requisitos</a:t>
            </a:r>
          </a:p>
          <a:p>
            <a:endParaRPr lang="pt-BR" dirty="0"/>
          </a:p>
          <a:p>
            <a:r>
              <a:rPr lang="pt-BR" b="1" dirty="0"/>
              <a:t>Seguir o plano </a:t>
            </a:r>
            <a:r>
              <a:rPr lang="pt-BR" dirty="0"/>
              <a:t>é considerado fator de sucesso (abordagem orientada a plano)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BC7F9E-B073-385A-1566-53451ECC2605}"/>
              </a:ext>
            </a:extLst>
          </p:cNvPr>
          <p:cNvSpPr txBox="1"/>
          <p:nvPr/>
        </p:nvSpPr>
        <p:spPr>
          <a:xfrm>
            <a:off x="8759868" y="2088363"/>
            <a:ext cx="3306871" cy="3416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u="sng" dirty="0"/>
              <a:t>Ágil (top-</a:t>
            </a:r>
            <a:r>
              <a:rPr lang="pt-BR" b="1" u="sng" dirty="0" err="1"/>
              <a:t>down</a:t>
            </a:r>
            <a:r>
              <a:rPr lang="pt-BR" b="1" u="sng" dirty="0"/>
              <a:t>)</a:t>
            </a:r>
            <a:r>
              <a:rPr lang="pt-BR" b="1" dirty="0"/>
              <a:t>: </a:t>
            </a:r>
            <a:r>
              <a:rPr lang="pt-BR" dirty="0"/>
              <a:t>fixa tempo e recursos – menos prováveis de mudarem ao longo do tempo.</a:t>
            </a:r>
          </a:p>
          <a:p>
            <a:endParaRPr lang="pt-BR" dirty="0"/>
          </a:p>
          <a:p>
            <a:r>
              <a:rPr lang="pt-BR" dirty="0"/>
              <a:t>Essas restrições faz com que o foco deve ser em completar o que for mais importante primeiro</a:t>
            </a:r>
          </a:p>
          <a:p>
            <a:endParaRPr lang="pt-BR" dirty="0"/>
          </a:p>
          <a:p>
            <a:r>
              <a:rPr lang="pt-BR" dirty="0"/>
              <a:t>Abordagem </a:t>
            </a:r>
            <a:r>
              <a:rPr lang="pt-BR" b="1" dirty="0"/>
              <a:t>orientada a valor</a:t>
            </a:r>
          </a:p>
          <a:p>
            <a:endParaRPr lang="pt-BR" dirty="0"/>
          </a:p>
          <a:p>
            <a:r>
              <a:rPr lang="pt-BR" dirty="0"/>
              <a:t>Conceitos de eliminação de desperdício e </a:t>
            </a:r>
            <a:r>
              <a:rPr lang="pt-BR" i="1" dirty="0" err="1"/>
              <a:t>just</a:t>
            </a:r>
            <a:r>
              <a:rPr lang="pt-BR" i="1" dirty="0"/>
              <a:t> in time </a:t>
            </a:r>
            <a:r>
              <a:rPr lang="pt-BR" dirty="0"/>
              <a:t>(Lean)</a:t>
            </a:r>
          </a:p>
        </p:txBody>
      </p:sp>
      <p:pic>
        <p:nvPicPr>
          <p:cNvPr id="7170" name="Picture 2" descr="What Is Agile Project Management? | microTOOL">
            <a:extLst>
              <a:ext uri="{FF2B5EF4-FFF2-40B4-BE49-F238E27FC236}">
                <a16:creationId xmlns:a16="http://schemas.microsoft.com/office/drawing/2014/main" id="{CC0956ED-AEA5-7144-382C-D521598D61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" r="3270"/>
          <a:stretch/>
        </p:blipFill>
        <p:spPr bwMode="auto">
          <a:xfrm>
            <a:off x="3515360" y="2661707"/>
            <a:ext cx="5175781" cy="235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44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C497B-22F9-D339-C16A-643C69BC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 da incerteza ágil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A65DAB-CC70-E154-0BDC-28C432D9B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Reduzir a incerteza ao liberar incrementos:</a:t>
            </a:r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92CD9C20-B331-ACB9-0E3D-4EF4FE273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119" y="2735328"/>
            <a:ext cx="4851681" cy="322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402225A-CB7D-3821-F269-05CECC5A0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56" y="2781115"/>
            <a:ext cx="5057775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783D4A4F-527A-CAF8-691A-35BC83442F62}"/>
              </a:ext>
            </a:extLst>
          </p:cNvPr>
          <p:cNvSpPr/>
          <p:nvPr/>
        </p:nvSpPr>
        <p:spPr>
          <a:xfrm rot="16200000">
            <a:off x="5547623" y="3617338"/>
            <a:ext cx="484632" cy="978408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24165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AD1FB-E745-C345-4B84-A1AACEEC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Projetos ágeis (PMI.org)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A60D4F-219A-D8E0-3581-673B81CA1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48778" cy="4351338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Começam com </a:t>
            </a:r>
            <a:r>
              <a:rPr lang="pt-BR" b="1" dirty="0"/>
              <a:t>visão</a:t>
            </a:r>
            <a:r>
              <a:rPr lang="pt-BR" dirty="0"/>
              <a:t> clara do produto</a:t>
            </a:r>
          </a:p>
          <a:p>
            <a:pPr>
              <a:spcBef>
                <a:spcPts val="2400"/>
              </a:spcBef>
            </a:pPr>
            <a:r>
              <a:rPr lang="pt-BR" b="1" dirty="0"/>
              <a:t>Backlog</a:t>
            </a:r>
            <a:r>
              <a:rPr lang="pt-BR" dirty="0"/>
              <a:t> com funcionalidades de alto nível</a:t>
            </a:r>
          </a:p>
          <a:p>
            <a:pPr>
              <a:spcBef>
                <a:spcPts val="2400"/>
              </a:spcBef>
            </a:pPr>
            <a:r>
              <a:rPr lang="pt-BR" dirty="0"/>
              <a:t>Feature mais importante é quebrada em pedaços menores</a:t>
            </a:r>
          </a:p>
          <a:p>
            <a:pPr lvl="1"/>
            <a:r>
              <a:rPr lang="pt-BR" b="1" dirty="0"/>
              <a:t>MMF</a:t>
            </a:r>
            <a:r>
              <a:rPr lang="pt-BR" dirty="0"/>
              <a:t> (</a:t>
            </a:r>
            <a:r>
              <a:rPr lang="pt-BR" i="1" dirty="0" err="1"/>
              <a:t>minimally</a:t>
            </a:r>
            <a:r>
              <a:rPr lang="pt-BR" i="1" dirty="0"/>
              <a:t> </a:t>
            </a:r>
            <a:r>
              <a:rPr lang="pt-BR" i="1" dirty="0" err="1"/>
              <a:t>marketable</a:t>
            </a:r>
            <a:r>
              <a:rPr lang="pt-BR" i="1" dirty="0"/>
              <a:t> feature</a:t>
            </a:r>
            <a:r>
              <a:rPr lang="pt-BR" dirty="0"/>
              <a:t>);</a:t>
            </a:r>
          </a:p>
          <a:p>
            <a:pPr lvl="1"/>
            <a:r>
              <a:rPr lang="pt-BR" dirty="0"/>
              <a:t>Cada um pode ser implementado independentemente em sprints curtos;</a:t>
            </a:r>
          </a:p>
          <a:p>
            <a:pPr>
              <a:spcBef>
                <a:spcPts val="2400"/>
              </a:spcBef>
            </a:pPr>
            <a:r>
              <a:rPr lang="pt-BR" b="1" dirty="0" err="1"/>
              <a:t>MMFs</a:t>
            </a:r>
            <a:r>
              <a:rPr lang="pt-BR" b="1" dirty="0"/>
              <a:t> </a:t>
            </a:r>
            <a:r>
              <a:rPr lang="pt-BR" dirty="0"/>
              <a:t>são agrupados em </a:t>
            </a:r>
            <a:r>
              <a:rPr lang="pt-BR" i="1" dirty="0"/>
              <a:t>releases</a:t>
            </a:r>
          </a:p>
          <a:p>
            <a:pPr lvl="1"/>
            <a:r>
              <a:rPr lang="pt-BR" b="1" dirty="0"/>
              <a:t>MMR</a:t>
            </a:r>
            <a:r>
              <a:rPr lang="pt-BR" dirty="0"/>
              <a:t> (</a:t>
            </a:r>
            <a:r>
              <a:rPr lang="pt-BR" i="1" dirty="0" err="1"/>
              <a:t>minimally</a:t>
            </a:r>
            <a:r>
              <a:rPr lang="pt-BR" i="1" dirty="0"/>
              <a:t> </a:t>
            </a:r>
            <a:r>
              <a:rPr lang="pt-BR" i="1" dirty="0" err="1"/>
              <a:t>marketable</a:t>
            </a:r>
            <a:r>
              <a:rPr lang="pt-BR" i="1" dirty="0"/>
              <a:t> release)</a:t>
            </a:r>
            <a:r>
              <a:rPr lang="pt-BR" dirty="0"/>
              <a:t>;</a:t>
            </a:r>
          </a:p>
          <a:p>
            <a:pPr>
              <a:spcBef>
                <a:spcPts val="2400"/>
              </a:spcBef>
            </a:pPr>
            <a:r>
              <a:rPr lang="pt-BR" dirty="0"/>
              <a:t>Releases planejados usando features de alto nível</a:t>
            </a:r>
          </a:p>
          <a:p>
            <a:pPr lvl="1"/>
            <a:r>
              <a:rPr lang="pt-BR" dirty="0"/>
              <a:t>Ao selecionar </a:t>
            </a:r>
            <a:r>
              <a:rPr lang="pt-BR" dirty="0" err="1"/>
              <a:t>MMFs</a:t>
            </a:r>
            <a:r>
              <a:rPr lang="pt-BR" dirty="0"/>
              <a:t>, o detalhamento do escopo é feito e estimado em dias/horas;</a:t>
            </a:r>
          </a:p>
          <a:p>
            <a:pPr lvl="1"/>
            <a:r>
              <a:rPr lang="pt-BR" dirty="0"/>
              <a:t>Estimativas detalhadas são feitas somente para o trabalho que a equipe fará na próxima sprint;</a:t>
            </a:r>
          </a:p>
          <a:p>
            <a:pPr>
              <a:spcBef>
                <a:spcPts val="2400"/>
              </a:spcBef>
            </a:pPr>
            <a:r>
              <a:rPr lang="pt-BR" dirty="0" err="1"/>
              <a:t>MMRs</a:t>
            </a:r>
            <a:r>
              <a:rPr lang="pt-BR" dirty="0"/>
              <a:t> geram os produtos mínimos de mercado (</a:t>
            </a:r>
            <a:r>
              <a:rPr lang="pt-BR" b="1" dirty="0"/>
              <a:t>MMP</a:t>
            </a:r>
            <a:r>
              <a:rPr lang="pt-BR" dirty="0"/>
              <a:t>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BF69A2B-11B7-42EA-3A49-12340951BE29}"/>
              </a:ext>
            </a:extLst>
          </p:cNvPr>
          <p:cNvSpPr txBox="1"/>
          <p:nvPr/>
        </p:nvSpPr>
        <p:spPr>
          <a:xfrm>
            <a:off x="1942578" y="6488668"/>
            <a:ext cx="8306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https://www.pmi.org/learning/library/project-scope-creep-agile-methodologies-6552</a:t>
            </a:r>
          </a:p>
        </p:txBody>
      </p:sp>
      <p:pic>
        <p:nvPicPr>
          <p:cNvPr id="6" name="Picture 2" descr="Agile Lingo: MVP vs MMF, MMR, or MMP">
            <a:extLst>
              <a:ext uri="{FF2B5EF4-FFF2-40B4-BE49-F238E27FC236}">
                <a16:creationId xmlns:a16="http://schemas.microsoft.com/office/drawing/2014/main" id="{418D58FE-62D3-94BE-F37B-6652782DB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889" y="1690688"/>
            <a:ext cx="4436851" cy="3134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16839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6735C-B1A7-E99B-6165-0B0D6796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ágil de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A88806-CA51-DFDF-E3B7-F78AF1C98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9640A4A-FAFF-8A44-3679-AB6571487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366" y="1589088"/>
            <a:ext cx="8853446" cy="500713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991BE2F-F5DC-9BA9-E4EB-70F2EFE8A13D}"/>
              </a:ext>
            </a:extLst>
          </p:cNvPr>
          <p:cNvSpPr txBox="1"/>
          <p:nvPr/>
        </p:nvSpPr>
        <p:spPr>
          <a:xfrm>
            <a:off x="2651760" y="649287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hlinkClick r:id="rId3"/>
              </a:rPr>
              <a:t>https://www.pmillustrated.com/2-8-plan-and-manage-scope/</a:t>
            </a:r>
            <a:r>
              <a:rPr lang="pt-B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99899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DE024-20AF-9E39-18D8-B74A0133D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ágil de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20E04F-37E2-8344-B6FC-1ECA3EA73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16120" cy="4351338"/>
          </a:xfrm>
        </p:spPr>
        <p:txBody>
          <a:bodyPr/>
          <a:lstStyle/>
          <a:p>
            <a:r>
              <a:rPr lang="pt-BR" dirty="0"/>
              <a:t>Priorização de features</a:t>
            </a:r>
          </a:p>
          <a:p>
            <a:pPr>
              <a:spcBef>
                <a:spcPts val="2400"/>
              </a:spcBef>
            </a:pPr>
            <a:r>
              <a:rPr lang="pt-BR" dirty="0"/>
              <a:t>Manutenção de backlog de produto</a:t>
            </a:r>
          </a:p>
          <a:p>
            <a:pPr>
              <a:spcBef>
                <a:spcPts val="2400"/>
              </a:spcBef>
            </a:pPr>
            <a:r>
              <a:rPr lang="pt-BR" dirty="0"/>
              <a:t>Só é detalhado quando aceito para a </a:t>
            </a:r>
            <a:r>
              <a:rPr lang="pt-BR" i="1" dirty="0"/>
              <a:t>sprint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2054083-FA70-1C4D-E110-F2D2A7D9B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664" y="1690688"/>
            <a:ext cx="5572452" cy="490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8462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3A64C-7B30-F31C-FCB6-42BDC042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MoSCoW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8E319D-7F9A-19E0-99F3-3466B0511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12360" cy="4351338"/>
          </a:xfrm>
        </p:spPr>
        <p:txBody>
          <a:bodyPr/>
          <a:lstStyle/>
          <a:p>
            <a:r>
              <a:rPr lang="pt-BR" dirty="0"/>
              <a:t>Método de </a:t>
            </a:r>
            <a:r>
              <a:rPr lang="pt-BR" b="1" dirty="0"/>
              <a:t>priorização de requisitos</a:t>
            </a:r>
            <a:r>
              <a:rPr lang="pt-BR" dirty="0"/>
              <a:t> muito usado em projetos ágeis</a:t>
            </a:r>
          </a:p>
          <a:p>
            <a:pPr lvl="1">
              <a:spcBef>
                <a:spcPts val="1200"/>
              </a:spcBef>
            </a:pPr>
            <a:r>
              <a:rPr lang="pt-BR" b="1" dirty="0">
                <a:solidFill>
                  <a:srgbClr val="4C2215"/>
                </a:solidFill>
              </a:rPr>
              <a:t>M</a:t>
            </a:r>
            <a:r>
              <a:rPr lang="pt-BR" dirty="0"/>
              <a:t> – essencial para o </a:t>
            </a:r>
            <a:r>
              <a:rPr lang="pt-BR" i="1" dirty="0"/>
              <a:t>release</a:t>
            </a:r>
          </a:p>
          <a:p>
            <a:pPr lvl="1">
              <a:spcBef>
                <a:spcPts val="1200"/>
              </a:spcBef>
            </a:pPr>
            <a:r>
              <a:rPr lang="pt-BR" b="1" dirty="0">
                <a:solidFill>
                  <a:srgbClr val="E5181C"/>
                </a:solidFill>
              </a:rPr>
              <a:t>S</a:t>
            </a:r>
            <a:r>
              <a:rPr lang="pt-BR" dirty="0"/>
              <a:t> – importante, mas não essencial agora</a:t>
            </a:r>
          </a:p>
          <a:p>
            <a:pPr lvl="1">
              <a:spcBef>
                <a:spcPts val="1200"/>
              </a:spcBef>
            </a:pPr>
            <a:r>
              <a:rPr lang="pt-BR" b="1" dirty="0">
                <a:solidFill>
                  <a:srgbClr val="F17B12"/>
                </a:solidFill>
              </a:rPr>
              <a:t>C</a:t>
            </a:r>
            <a:r>
              <a:rPr lang="pt-BR" dirty="0"/>
              <a:t> – desejável, se houver recursos</a:t>
            </a:r>
          </a:p>
          <a:p>
            <a:pPr lvl="1">
              <a:spcBef>
                <a:spcPts val="1200"/>
              </a:spcBef>
            </a:pPr>
            <a:r>
              <a:rPr lang="pt-BR" b="1" dirty="0">
                <a:solidFill>
                  <a:srgbClr val="1FA9D7"/>
                </a:solidFill>
              </a:rPr>
              <a:t>W</a:t>
            </a:r>
            <a:r>
              <a:rPr lang="pt-BR" dirty="0"/>
              <a:t> – escopo negativo</a:t>
            </a:r>
          </a:p>
        </p:txBody>
      </p:sp>
      <p:pic>
        <p:nvPicPr>
          <p:cNvPr id="8194" name="Picture 2" descr="MoSCoW Prioritization Method: How to Use It in Agile [Guide]">
            <a:extLst>
              <a:ext uri="{FF2B5EF4-FFF2-40B4-BE49-F238E27FC236}">
                <a16:creationId xmlns:a16="http://schemas.microsoft.com/office/drawing/2014/main" id="{C468D706-C79C-4C33-7401-162DC67B9E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07" r="16635"/>
          <a:stretch/>
        </p:blipFill>
        <p:spPr bwMode="auto">
          <a:xfrm>
            <a:off x="5664200" y="1730375"/>
            <a:ext cx="56896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0245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475F3-0C4F-3F5D-8825-13C6A099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MoSCoW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9EA6AA-F0BD-9F8D-474C-CE235983C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pt-BR" dirty="0" err="1"/>
              <a:t>Ex</a:t>
            </a:r>
            <a:r>
              <a:rPr lang="pt-BR" dirty="0"/>
              <a:t>: Funcionalidades levantadas pelo cliente de </a:t>
            </a:r>
            <a:r>
              <a:rPr lang="pt-BR" i="1" dirty="0"/>
              <a:t>e-commerce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Cadastro/login de usuários</a:t>
            </a:r>
          </a:p>
          <a:p>
            <a:pPr lvl="1"/>
            <a:r>
              <a:rPr lang="pt-BR" dirty="0"/>
              <a:t>Catálogo de livros</a:t>
            </a:r>
          </a:p>
          <a:p>
            <a:pPr lvl="1"/>
            <a:r>
              <a:rPr lang="pt-BR" dirty="0"/>
              <a:t>Carrinho de compras</a:t>
            </a:r>
          </a:p>
          <a:p>
            <a:pPr lvl="1"/>
            <a:r>
              <a:rPr lang="pt-BR" dirty="0"/>
              <a:t>Pagamento online (PIX/cartão)</a:t>
            </a:r>
          </a:p>
          <a:p>
            <a:pPr lvl="1"/>
            <a:r>
              <a:rPr lang="pt-BR" dirty="0"/>
              <a:t>Avaliação de vendedores</a:t>
            </a:r>
          </a:p>
          <a:p>
            <a:pPr lvl="1"/>
            <a:r>
              <a:rPr lang="pt-BR" dirty="0"/>
              <a:t>Chat entre comprador e vendedor</a:t>
            </a:r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870534E-94C5-6AD4-5860-6818B9826EC2}"/>
              </a:ext>
            </a:extLst>
          </p:cNvPr>
          <p:cNvGraphicFramePr>
            <a:graphicFrameLocks noGrp="1"/>
          </p:cNvGraphicFramePr>
          <p:nvPr/>
        </p:nvGraphicFramePr>
        <p:xfrm>
          <a:off x="6268720" y="2274146"/>
          <a:ext cx="575056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573837964"/>
                    </a:ext>
                  </a:extLst>
                </a:gridCol>
                <a:gridCol w="4927600">
                  <a:extLst>
                    <a:ext uri="{9D8B030D-6E8A-4147-A177-3AD203B41FA5}">
                      <a16:colId xmlns:a16="http://schemas.microsoft.com/office/drawing/2014/main" val="3417293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</a:t>
                      </a:r>
                    </a:p>
                  </a:txBody>
                  <a:tcPr>
                    <a:solidFill>
                      <a:srgbClr val="4C22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Cadastro/login, </a:t>
                      </a:r>
                    </a:p>
                    <a:p>
                      <a:r>
                        <a:rPr lang="pt-BR" dirty="0"/>
                        <a:t>catálogo, </a:t>
                      </a:r>
                    </a:p>
                    <a:p>
                      <a:r>
                        <a:rPr lang="pt-BR" dirty="0"/>
                        <a:t>carrinho, </a:t>
                      </a:r>
                    </a:p>
                    <a:p>
                      <a:r>
                        <a:rPr lang="pt-BR" dirty="0"/>
                        <a:t>pagamento PIX</a:t>
                      </a:r>
                    </a:p>
                  </a:txBody>
                  <a:tcPr>
                    <a:solidFill>
                      <a:srgbClr val="4C22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930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>
                          <a:solidFill>
                            <a:schemeClr val="bg1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E5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Pagamento com cartão,</a:t>
                      </a:r>
                    </a:p>
                    <a:p>
                      <a:r>
                        <a:rPr lang="pt-BR" sz="2000" b="1" dirty="0">
                          <a:solidFill>
                            <a:schemeClr val="bg1"/>
                          </a:solidFill>
                        </a:rPr>
                        <a:t>avaliação de vendedores</a:t>
                      </a:r>
                    </a:p>
                  </a:txBody>
                  <a:tcPr>
                    <a:solidFill>
                      <a:srgbClr val="E518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942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F17B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solidFill>
                            <a:schemeClr val="bg1"/>
                          </a:solidFill>
                        </a:rPr>
                        <a:t>Chat entre comprador e vendedor</a:t>
                      </a:r>
                    </a:p>
                  </a:txBody>
                  <a:tcPr>
                    <a:solidFill>
                      <a:srgbClr val="F17B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95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>
                          <a:solidFill>
                            <a:schemeClr val="bg1"/>
                          </a:solidFill>
                        </a:rPr>
                        <a:t>W</a:t>
                      </a:r>
                    </a:p>
                  </a:txBody>
                  <a:tcPr>
                    <a:solidFill>
                      <a:srgbClr val="1FA9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solidFill>
                            <a:schemeClr val="bg1"/>
                          </a:solidFill>
                        </a:rPr>
                        <a:t>Integração com redes sociais (nesta versão)</a:t>
                      </a:r>
                    </a:p>
                  </a:txBody>
                  <a:tcPr>
                    <a:solidFill>
                      <a:srgbClr val="1FA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342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00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965A0-FAC4-BB3A-0AB8-475EFCAD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Hierarquia das funcionalidades</a:t>
            </a:r>
          </a:p>
        </p:txBody>
      </p:sp>
      <p:pic>
        <p:nvPicPr>
          <p:cNvPr id="7176" name="Picture 8" descr="Product backlog structure">
            <a:extLst>
              <a:ext uri="{FF2B5EF4-FFF2-40B4-BE49-F238E27FC236}">
                <a16:creationId xmlns:a16="http://schemas.microsoft.com/office/drawing/2014/main" id="{D3BBFC20-00CB-D432-17B6-52C52A405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242" y="1828799"/>
            <a:ext cx="9479515" cy="404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BF39E38-795F-58AF-7998-44ED573F0F38}"/>
              </a:ext>
            </a:extLst>
          </p:cNvPr>
          <p:cNvSpPr txBox="1"/>
          <p:nvPr/>
        </p:nvSpPr>
        <p:spPr>
          <a:xfrm>
            <a:off x="2822222" y="633898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/>
              <a:t>https://www.visual-paradigm.com/scrum/theme-epic-user-story-task/</a:t>
            </a:r>
          </a:p>
        </p:txBody>
      </p:sp>
    </p:spTree>
    <p:extLst>
      <p:ext uri="{BB962C8B-B14F-4D97-AF65-F5344CB8AC3E}">
        <p14:creationId xmlns:p14="http://schemas.microsoft.com/office/powerpoint/2010/main" val="427449850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AE34A-CC02-E993-C9E6-CF5DBE1E4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analítica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E2119F2-2913-9CDB-F4BE-AEF0D9A3C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400" y="1690688"/>
            <a:ext cx="9769199" cy="427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07272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51D29-B7AE-182B-2521-727FCBE25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8194" name="Picture 2" descr="Hierarchy of theme, epic, story and task">
            <a:extLst>
              <a:ext uri="{FF2B5EF4-FFF2-40B4-BE49-F238E27FC236}">
                <a16:creationId xmlns:a16="http://schemas.microsoft.com/office/drawing/2014/main" id="{4CFB742A-A6C7-34FC-7214-943BD2E76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1825625"/>
            <a:ext cx="7962900" cy="4864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706097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B1E7A-4023-C63A-53B4-2CC18A50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Monitoramento</a:t>
            </a:r>
          </a:p>
        </p:txBody>
      </p:sp>
      <p:pic>
        <p:nvPicPr>
          <p:cNvPr id="9220" name="Picture 4" descr="epic, user story, task">
            <a:extLst>
              <a:ext uri="{FF2B5EF4-FFF2-40B4-BE49-F238E27FC236}">
                <a16:creationId xmlns:a16="http://schemas.microsoft.com/office/drawing/2014/main" id="{8ACDB333-F0A8-A40A-B2AF-4DE565800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693" y="1706975"/>
            <a:ext cx="7153666" cy="5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91501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DD804-4813-28F8-75D0-86B6B0844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Premissas para funcionamento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23F258-85BD-A23B-19F0-2ED80B674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 err="1"/>
              <a:t>Healthy</a:t>
            </a:r>
            <a:r>
              <a:rPr lang="pt-BR" i="1" dirty="0"/>
              <a:t> pace </a:t>
            </a:r>
            <a:r>
              <a:rPr lang="pt-BR" dirty="0"/>
              <a:t>(limitação de WIP – </a:t>
            </a:r>
            <a:r>
              <a:rPr lang="pt-BR" dirty="0" err="1"/>
              <a:t>Work</a:t>
            </a:r>
            <a:r>
              <a:rPr lang="pt-BR" dirty="0"/>
              <a:t> in </a:t>
            </a:r>
            <a:r>
              <a:rPr lang="pt-BR" dirty="0" err="1"/>
              <a:t>Progress</a:t>
            </a:r>
            <a:r>
              <a:rPr lang="pt-BR" dirty="0"/>
              <a:t>)</a:t>
            </a:r>
          </a:p>
          <a:p>
            <a:pPr>
              <a:spcBef>
                <a:spcPts val="2400"/>
              </a:spcBef>
            </a:pPr>
            <a:r>
              <a:rPr lang="pt-BR" dirty="0"/>
              <a:t>Envolvimento contínuo do cliente</a:t>
            </a:r>
          </a:p>
          <a:p>
            <a:pPr>
              <a:spcBef>
                <a:spcPts val="2400"/>
              </a:spcBef>
            </a:pPr>
            <a:r>
              <a:rPr lang="pt-BR" dirty="0"/>
              <a:t>Equipes pequenas e estáveis (preferencialmente, </a:t>
            </a:r>
            <a:r>
              <a:rPr lang="pt-BR" dirty="0" err="1"/>
              <a:t>co-locadas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122924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EAF82-0F6C-6E0F-97B7-722F3F753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no escopo ágil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F6C63A-38F3-7B50-4693-D96E3F033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Escopo sempre em aberto pode gerar incerteza</a:t>
            </a:r>
          </a:p>
          <a:p>
            <a:pPr lvl="1"/>
            <a:r>
              <a:rPr lang="pt-BR" dirty="0"/>
              <a:t>Backlog dinâmico e mutável – sensação de projeto sem fim</a:t>
            </a:r>
          </a:p>
          <a:p>
            <a:pPr lvl="1"/>
            <a:r>
              <a:rPr lang="pt-BR" dirty="0"/>
              <a:t>Contratos de longa duração(+ de 1 ano) faz incerteza crescer muito</a:t>
            </a:r>
          </a:p>
          <a:p>
            <a:pPr lvl="1"/>
            <a:r>
              <a:rPr lang="pt-BR" dirty="0"/>
              <a:t>Métricas como </a:t>
            </a:r>
            <a:r>
              <a:rPr lang="pt-BR" i="1" dirty="0"/>
              <a:t>velocidade </a:t>
            </a:r>
            <a:r>
              <a:rPr lang="pt-BR" dirty="0"/>
              <a:t>da equipe com projeções</a:t>
            </a:r>
          </a:p>
          <a:p>
            <a:pPr lvl="1"/>
            <a:r>
              <a:rPr lang="pt-BR" dirty="0"/>
              <a:t>“Quando todas as funcionalidades estarão prontas?”</a:t>
            </a:r>
          </a:p>
          <a:p>
            <a:pPr lvl="1"/>
            <a:endParaRPr lang="pt-BR" dirty="0"/>
          </a:p>
          <a:p>
            <a:r>
              <a:rPr lang="pt-BR" dirty="0"/>
              <a:t>Dependência de engajamento constante do cliente</a:t>
            </a:r>
          </a:p>
          <a:p>
            <a:pPr lvl="1"/>
            <a:r>
              <a:rPr lang="pt-BR" dirty="0"/>
              <a:t>Sucesso depende de feedback contínuo</a:t>
            </a:r>
          </a:p>
          <a:p>
            <a:pPr lvl="1"/>
            <a:r>
              <a:rPr lang="pt-BR" dirty="0"/>
              <a:t>PO pode não ter visão estratégica suficiente</a:t>
            </a:r>
          </a:p>
          <a:p>
            <a:pPr lvl="1"/>
            <a:r>
              <a:rPr lang="pt-BR" dirty="0"/>
              <a:t>Resultado: criação de </a:t>
            </a:r>
            <a:r>
              <a:rPr lang="pt-BR" i="1" dirty="0"/>
              <a:t>features </a:t>
            </a:r>
            <a:r>
              <a:rPr lang="pt-BR" dirty="0"/>
              <a:t>menos relevantes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51480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AD429-1043-C0BC-BC31-18777842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no escopo ágil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FA4BF9-021E-CEBF-626F-35336E84F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Contratos fixos ou regulados</a:t>
            </a:r>
          </a:p>
          <a:p>
            <a:pPr lvl="1"/>
            <a:r>
              <a:rPr lang="pt-BR" dirty="0"/>
              <a:t>Certos tipos de contratação (</a:t>
            </a:r>
            <a:r>
              <a:rPr lang="pt-BR" dirty="0" err="1"/>
              <a:t>ex</a:t>
            </a:r>
            <a:r>
              <a:rPr lang="pt-BR" dirty="0"/>
              <a:t>: licitações, escopo fechado) exigem escopo detalhado no início</a:t>
            </a:r>
          </a:p>
          <a:p>
            <a:pPr lvl="1"/>
            <a:r>
              <a:rPr lang="pt-BR" dirty="0"/>
              <a:t>Não há espaço para mudanças contratuais frequentes</a:t>
            </a:r>
          </a:p>
          <a:p>
            <a:pPr marL="457200" lvl="1" indent="0">
              <a:buNone/>
            </a:pPr>
            <a:endParaRPr lang="pt-BR" dirty="0"/>
          </a:p>
          <a:p>
            <a:r>
              <a:rPr lang="pt-BR" dirty="0"/>
              <a:t>Burnout ágil</a:t>
            </a:r>
          </a:p>
          <a:p>
            <a:pPr lvl="1"/>
            <a:r>
              <a:rPr lang="pt-BR" dirty="0"/>
              <a:t>Escopo flexível </a:t>
            </a:r>
            <a:r>
              <a:rPr lang="pt-BR" dirty="0">
                <a:sym typeface="Wingdings" panose="05000000000000000000" pitchFamily="2" charset="2"/>
              </a:rPr>
              <a:t> aumento de pressão de sempre conseguir encaixar algo a mais no próximo sprint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Necessária disciplina para gerenciar o backlog</a:t>
            </a:r>
          </a:p>
          <a:p>
            <a:pPr lvl="1"/>
            <a:endParaRPr lang="pt-BR" dirty="0">
              <a:sym typeface="Wingdings" panose="05000000000000000000" pitchFamily="2" charset="2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3415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D5E4-59BE-B1FE-F89F-F6A083B9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7CE6F-B3F4-2177-2467-2198DD6FB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C4A3C5-D34F-66E9-6522-618E96167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689" y="1690688"/>
            <a:ext cx="11586258" cy="5080502"/>
          </a:xfrm>
        </p:spPr>
        <p:txBody>
          <a:bodyPr>
            <a:noAutofit/>
          </a:bodyPr>
          <a:lstStyle/>
          <a:p>
            <a:pPr algn="l"/>
            <a:r>
              <a:rPr lang="pt-BR" sz="2400" b="0" i="0" dirty="0">
                <a:solidFill>
                  <a:srgbClr val="1F1F1F"/>
                </a:solidFill>
                <a:effectLst/>
                <a:latin typeface="docs-Roboto"/>
              </a:rPr>
              <a:t>Em um projeto de desenvolvimento de software, a forma como o escopo é gerenciado pode variar significativamente entre as abordagens tradicionais orientadas a planos e as abordagens ágeis.  Considerando essas diferenças, qual das alternativas abaixo melhor descreve uma característica distintiva da abordagem ágil em relação ao gerenciamento de escopo?  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000" b="0" i="0" dirty="0">
                <a:solidFill>
                  <a:srgbClr val="1F1F1F"/>
                </a:solidFill>
                <a:effectLst/>
                <a:latin typeface="docs-Roboto"/>
              </a:rPr>
              <a:t>Na abordagem ágil, o escopo do projeto é detalhadamente definido no início e não pode ser alterado durante o ciclo de vida do projeto, garantindo uma entrega precisa conforme o planejado.</a:t>
            </a:r>
            <a:endParaRPr lang="pt-BR" sz="2000" dirty="0">
              <a:solidFill>
                <a:srgbClr val="1F1F1F"/>
              </a:solidFill>
              <a:latin typeface="docs-Roboto"/>
            </a:endParaRPr>
          </a:p>
          <a:p>
            <a:pPr marL="914400" lvl="1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000" b="0" i="0" dirty="0">
                <a:solidFill>
                  <a:srgbClr val="1F1F1F"/>
                </a:solidFill>
                <a:effectLst/>
                <a:latin typeface="docs-Roboto"/>
              </a:rPr>
              <a:t>A abordagem ágil requer que o escopo seja completamente definido antes do início do desenvolvimento, o que minimiza os riscos de mudanças durante o projeto.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000" b="0" i="0" dirty="0">
                <a:solidFill>
                  <a:srgbClr val="1F1F1F"/>
                </a:solidFill>
                <a:effectLst/>
                <a:latin typeface="docs-Roboto"/>
              </a:rPr>
              <a:t>Na abordagem orientada a planos, o escopo é gerenciado de forma flexível e iterativa, permitindo ajustes constantes ao longo do projeto com base no feedback contínuo do cliente.</a:t>
            </a:r>
          </a:p>
          <a:p>
            <a:pPr marL="914400" lvl="1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000" b="0" i="0" dirty="0">
                <a:solidFill>
                  <a:srgbClr val="1F1F1F"/>
                </a:solidFill>
                <a:effectLst/>
                <a:latin typeface="docs-Roboto"/>
              </a:rPr>
              <a:t>A abordagem ágil permite que o escopo seja adaptado ao longo do projeto, com entregas incrementais e frequente reavaliação das prioridades, respondendo melhor às mudanças e necessidades do cliente.</a:t>
            </a:r>
          </a:p>
          <a:p>
            <a:endParaRPr lang="pt-BR" sz="24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3688083-94EB-0173-98E9-704ABDD5F5F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7010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FA5E-9817-BD07-D1DA-90970B59D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7612C-C84B-C8A5-C7F6-EE8D7F04E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687397-875A-8F5D-5722-2DE1928BB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689" y="1690688"/>
            <a:ext cx="11586258" cy="5080502"/>
          </a:xfrm>
        </p:spPr>
        <p:txBody>
          <a:bodyPr>
            <a:noAutofit/>
          </a:bodyPr>
          <a:lstStyle/>
          <a:p>
            <a:pPr algn="l"/>
            <a:r>
              <a:rPr lang="pt-BR" dirty="0">
                <a:solidFill>
                  <a:srgbClr val="1F1F1F"/>
                </a:solidFill>
                <a:latin typeface="docs-Roboto"/>
              </a:rPr>
              <a:t>[FGV/Ministério da Fazendo,2024]  Em gerenciamento ágil de projetos de software com Scrum, uma unidade de documentação que declara cada um dos requisitos da solução desejada, escritos pela perspectiva dos stakeholders envolvidos, indicando quem quer, o que, e o porquê, é denominado</a:t>
            </a:r>
          </a:p>
          <a:p>
            <a:pPr marL="1371600" lvl="2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800" b="0" i="0" dirty="0">
                <a:solidFill>
                  <a:srgbClr val="1F1F1F"/>
                </a:solidFill>
                <a:effectLst/>
                <a:latin typeface="docs-Roboto"/>
              </a:rPr>
              <a:t>Caso de uso</a:t>
            </a:r>
          </a:p>
          <a:p>
            <a:pPr marL="1371600" lvl="2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800" dirty="0">
                <a:solidFill>
                  <a:srgbClr val="1F1F1F"/>
                </a:solidFill>
                <a:latin typeface="docs-Roboto"/>
              </a:rPr>
              <a:t>Estória de usuário</a:t>
            </a:r>
          </a:p>
          <a:p>
            <a:pPr marL="1371600" lvl="2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800" b="0" i="0" dirty="0">
                <a:solidFill>
                  <a:srgbClr val="1F1F1F"/>
                </a:solidFill>
                <a:effectLst/>
                <a:latin typeface="docs-Roboto"/>
              </a:rPr>
              <a:t>Iteração</a:t>
            </a:r>
          </a:p>
          <a:p>
            <a:pPr marL="1371600" lvl="2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800" dirty="0">
                <a:solidFill>
                  <a:srgbClr val="1F1F1F"/>
                </a:solidFill>
                <a:latin typeface="docs-Roboto"/>
              </a:rPr>
              <a:t>Release</a:t>
            </a:r>
          </a:p>
          <a:p>
            <a:pPr marL="1371600" lvl="2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800" b="0" i="0" dirty="0" err="1">
                <a:solidFill>
                  <a:srgbClr val="1F1F1F"/>
                </a:solidFill>
                <a:effectLst/>
                <a:latin typeface="docs-Roboto"/>
              </a:rPr>
              <a:t>Standup</a:t>
            </a:r>
            <a:endParaRPr lang="pt-BR" sz="2800" b="0" i="0" dirty="0">
              <a:solidFill>
                <a:srgbClr val="1F1F1F"/>
              </a:solidFill>
              <a:effectLst/>
              <a:latin typeface="docs-Roboto"/>
            </a:endParaRPr>
          </a:p>
          <a:p>
            <a:endParaRPr lang="pt-BR" sz="24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830B8E-5C0E-954D-7924-E48B28D8C2E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7027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E4EC-CC13-CE14-2C9A-DAB72274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55DFA-55E6-E68F-4900-2D999A59A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25804B-087E-582C-4F0E-89B02AA02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689" y="1690688"/>
            <a:ext cx="11586258" cy="5080502"/>
          </a:xfrm>
        </p:spPr>
        <p:txBody>
          <a:bodyPr>
            <a:noAutofit/>
          </a:bodyPr>
          <a:lstStyle/>
          <a:p>
            <a:pPr algn="l"/>
            <a:r>
              <a:rPr lang="pt-BR" dirty="0">
                <a:solidFill>
                  <a:srgbClr val="1F1F1F"/>
                </a:solidFill>
                <a:latin typeface="docs-Roboto"/>
              </a:rPr>
              <a:t>[FGV/Ministério da Fazendo,2024]  Em gerenciamento ágil de projetos de software com Scrum, uma unidade de documentação que declara cada um dos requisitos da solução desejada, escritos pela perspectiva dos stakeholders envolvidos, indicando quem quer, o que, e o porquê, é denominado</a:t>
            </a:r>
          </a:p>
          <a:p>
            <a:pPr marL="1371600" lvl="2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800" b="0" i="0" dirty="0">
                <a:solidFill>
                  <a:srgbClr val="1F1F1F"/>
                </a:solidFill>
                <a:effectLst/>
                <a:latin typeface="docs-Roboto"/>
              </a:rPr>
              <a:t>Caso de uso</a:t>
            </a:r>
          </a:p>
          <a:p>
            <a:pPr marL="1371600" lvl="2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800" dirty="0">
                <a:solidFill>
                  <a:srgbClr val="1F1F1F"/>
                </a:solidFill>
                <a:latin typeface="docs-Roboto"/>
              </a:rPr>
              <a:t>Estória de usuário</a:t>
            </a:r>
          </a:p>
          <a:p>
            <a:pPr marL="1371600" lvl="2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800" b="0" i="0" dirty="0">
                <a:solidFill>
                  <a:srgbClr val="1F1F1F"/>
                </a:solidFill>
                <a:effectLst/>
                <a:latin typeface="docs-Roboto"/>
              </a:rPr>
              <a:t>Iteração</a:t>
            </a:r>
          </a:p>
          <a:p>
            <a:pPr marL="1371600" lvl="2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800" dirty="0">
                <a:solidFill>
                  <a:srgbClr val="1F1F1F"/>
                </a:solidFill>
                <a:latin typeface="docs-Roboto"/>
              </a:rPr>
              <a:t>Release</a:t>
            </a:r>
          </a:p>
          <a:p>
            <a:pPr marL="1371600" lvl="2" indent="-457200">
              <a:spcBef>
                <a:spcPts val="1200"/>
              </a:spcBef>
              <a:buFont typeface="+mj-lt"/>
              <a:buAutoNum type="alphaLcParenR"/>
            </a:pPr>
            <a:r>
              <a:rPr lang="pt-BR" sz="2800" b="0" i="0" dirty="0" err="1">
                <a:solidFill>
                  <a:srgbClr val="1F1F1F"/>
                </a:solidFill>
                <a:effectLst/>
                <a:latin typeface="docs-Roboto"/>
              </a:rPr>
              <a:t>Standup</a:t>
            </a:r>
            <a:endParaRPr lang="pt-BR" sz="2800" b="0" i="0" dirty="0">
              <a:solidFill>
                <a:srgbClr val="1F1F1F"/>
              </a:solidFill>
              <a:effectLst/>
              <a:latin typeface="docs-Roboto"/>
            </a:endParaRPr>
          </a:p>
          <a:p>
            <a:endParaRPr lang="pt-BR" sz="24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50268F0-C157-7D5C-FE17-085B2FDE368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5130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AE423-F925-32A2-7065-EBF7B3AB2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Próxima aula...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390AA5-E3ED-2B98-389D-D752AC096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Gerenciamento de estimativas de esforços e custos</a:t>
            </a:r>
          </a:p>
          <a:p>
            <a:endParaRPr lang="pt-BR" dirty="0"/>
          </a:p>
          <a:p>
            <a:r>
              <a:rPr lang="pt-BR" dirty="0"/>
              <a:t>Definição de abordagem de desenvolvimento do projeto</a:t>
            </a:r>
          </a:p>
          <a:p>
            <a:r>
              <a:rPr lang="pt-BR" dirty="0"/>
              <a:t>Envio de tabela </a:t>
            </a:r>
            <a:r>
              <a:rPr lang="pt-BR" dirty="0" err="1"/>
              <a:t>MoSCoW</a:t>
            </a:r>
            <a:r>
              <a:rPr lang="pt-BR" dirty="0"/>
              <a:t> com priorização das funcionalidades </a:t>
            </a:r>
          </a:p>
          <a:p>
            <a:r>
              <a:rPr lang="pt-BR" dirty="0"/>
              <a:t>Envio do TAP do projeto de grupo</a:t>
            </a:r>
          </a:p>
          <a:p>
            <a:r>
              <a:rPr lang="pt-BR" dirty="0"/>
              <a:t>Envio de esboço da EAP do projeto de grupo (próxima sexta)</a:t>
            </a:r>
          </a:p>
        </p:txBody>
      </p:sp>
    </p:spTree>
    <p:extLst>
      <p:ext uri="{BB962C8B-B14F-4D97-AF65-F5344CB8AC3E}">
        <p14:creationId xmlns:p14="http://schemas.microsoft.com/office/powerpoint/2010/main" val="116110521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91F4D-5C1F-2793-0275-F261B218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Seminários avançados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0CD9B3-56CC-02F5-F5F0-A18EBCD58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Tópicos: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1- Gerenciamento de software livre </a:t>
            </a:r>
            <a:r>
              <a:rPr lang="pt-BR" b="1" dirty="0"/>
              <a:t>[Guilherme]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2- Gerenciamento de trabalho remoto </a:t>
            </a:r>
            <a:r>
              <a:rPr lang="pt-BR" b="1" dirty="0"/>
              <a:t>[Giovana]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3- Fatores de produtividade no desenvolvimento de software  [</a:t>
            </a:r>
            <a:r>
              <a:rPr lang="pt-BR" b="1" dirty="0"/>
              <a:t>Felipe</a:t>
            </a:r>
            <a:r>
              <a:rPr lang="pt-BR" dirty="0"/>
              <a:t>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4- </a:t>
            </a:r>
            <a:r>
              <a:rPr lang="pt-BR" dirty="0" err="1"/>
              <a:t>LLMs</a:t>
            </a:r>
            <a:r>
              <a:rPr lang="pt-BR" dirty="0"/>
              <a:t> e desenvolvimento de SW [</a:t>
            </a:r>
            <a:r>
              <a:rPr lang="pt-BR" b="1" dirty="0"/>
              <a:t>João</a:t>
            </a:r>
            <a:r>
              <a:rPr lang="pt-BR" dirty="0"/>
              <a:t>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5- Estratégias de implantação de SW (</a:t>
            </a:r>
            <a:r>
              <a:rPr lang="pt-BR" b="1" i="1" dirty="0" err="1"/>
              <a:t>rollout</a:t>
            </a:r>
            <a:r>
              <a:rPr lang="pt-BR" dirty="0"/>
              <a:t>: alfa/beta, A/B, </a:t>
            </a:r>
            <a:r>
              <a:rPr lang="pt-BR" dirty="0" err="1"/>
              <a:t>canary</a:t>
            </a:r>
            <a:r>
              <a:rPr lang="pt-BR" dirty="0"/>
              <a:t> </a:t>
            </a:r>
            <a:r>
              <a:rPr lang="pt-BR" dirty="0" err="1"/>
              <a:t>tests</a:t>
            </a:r>
            <a:r>
              <a:rPr lang="pt-BR" dirty="0"/>
              <a:t>...)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6- Cultura </a:t>
            </a:r>
            <a:r>
              <a:rPr lang="pt-BR" dirty="0" err="1"/>
              <a:t>Ops</a:t>
            </a:r>
            <a:r>
              <a:rPr lang="pt-BR" dirty="0"/>
              <a:t>: </a:t>
            </a:r>
            <a:r>
              <a:rPr lang="pt-BR" dirty="0" err="1"/>
              <a:t>DevOps</a:t>
            </a:r>
            <a:r>
              <a:rPr lang="pt-BR" dirty="0"/>
              <a:t>, </a:t>
            </a:r>
            <a:r>
              <a:rPr lang="pt-BR" dirty="0" err="1"/>
              <a:t>MLOps</a:t>
            </a:r>
            <a:r>
              <a:rPr lang="pt-BR" dirty="0"/>
              <a:t>, </a:t>
            </a:r>
            <a:r>
              <a:rPr lang="pt-BR" dirty="0" err="1"/>
              <a:t>LLMOps</a:t>
            </a:r>
            <a:r>
              <a:rPr lang="pt-BR" dirty="0"/>
              <a:t>, AI </a:t>
            </a:r>
            <a:r>
              <a:rPr lang="pt-BR" dirty="0" err="1"/>
              <a:t>Ops</a:t>
            </a:r>
            <a:r>
              <a:rPr lang="pt-BR" dirty="0"/>
              <a:t> [</a:t>
            </a:r>
            <a:r>
              <a:rPr lang="pt-BR" b="1" dirty="0"/>
              <a:t>Mateus P</a:t>
            </a:r>
            <a:r>
              <a:rPr lang="pt-BR" dirty="0"/>
              <a:t>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7- Computação e as Ciências Sociais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8-Escalabilidade Ágil (</a:t>
            </a:r>
            <a:r>
              <a:rPr lang="pt-BR" dirty="0" err="1"/>
              <a:t>SAFe</a:t>
            </a:r>
            <a:r>
              <a:rPr lang="pt-BR" dirty="0"/>
              <a:t>, </a:t>
            </a:r>
            <a:r>
              <a:rPr lang="pt-BR" dirty="0" err="1"/>
              <a:t>LeSS</a:t>
            </a:r>
            <a:r>
              <a:rPr lang="pt-BR" dirty="0"/>
              <a:t>, Nexus) [</a:t>
            </a:r>
            <a:r>
              <a:rPr lang="pt-BR" b="1" dirty="0"/>
              <a:t>Gustavo</a:t>
            </a:r>
            <a:r>
              <a:rPr lang="pt-BR" dirty="0"/>
              <a:t>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9-Questões culturais em produtos de software </a:t>
            </a:r>
            <a:endParaRPr lang="pt-BR" b="1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03895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E6475-A06E-9E48-9554-C33F34945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7CA4DB-8889-8620-BBFE-E1359D774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 err="1"/>
              <a:t>Sommerville</a:t>
            </a:r>
            <a:r>
              <a:rPr lang="pt-BR" sz="2800" dirty="0"/>
              <a:t>. I. </a:t>
            </a:r>
            <a:r>
              <a:rPr lang="pt-BR" sz="2800" b="1" dirty="0"/>
              <a:t>Engenharia de Software</a:t>
            </a:r>
            <a:r>
              <a:rPr lang="pt-BR" sz="2800" dirty="0"/>
              <a:t>, 9ª </a:t>
            </a:r>
            <a:r>
              <a:rPr lang="pt-BR" sz="2800" dirty="0" err="1"/>
              <a:t>ed</a:t>
            </a:r>
            <a:r>
              <a:rPr lang="pt-BR" sz="2800" dirty="0"/>
              <a:t> (2011). </a:t>
            </a:r>
          </a:p>
          <a:p>
            <a:r>
              <a:rPr lang="pt-BR" sz="2800" dirty="0"/>
              <a:t>PMI. </a:t>
            </a:r>
            <a:r>
              <a:rPr lang="pt-BR" sz="2800" b="1" dirty="0"/>
              <a:t>Um guia do conhecimento em gerenciamento de projetos</a:t>
            </a:r>
            <a:r>
              <a:rPr lang="pt-BR" sz="2800" dirty="0"/>
              <a:t>. Guia PMBOK® 6a. ed. – EUA: Project Management </a:t>
            </a:r>
            <a:r>
              <a:rPr lang="pt-BR" sz="2800" dirty="0" err="1"/>
              <a:t>Institute</a:t>
            </a:r>
            <a:r>
              <a:rPr lang="pt-BR" sz="2800" dirty="0"/>
              <a:t>, 2017. </a:t>
            </a:r>
          </a:p>
          <a:p>
            <a:r>
              <a:rPr lang="pt-BR" sz="2800" dirty="0"/>
              <a:t>Notas de aulas, prof. Leonardo Murta (UFF): </a:t>
            </a:r>
            <a:r>
              <a:rPr lang="pt-BR" sz="2800" dirty="0">
                <a:hlinkClick r:id="rId2"/>
              </a:rPr>
              <a:t>https://leomurta.github.io/</a:t>
            </a:r>
            <a:r>
              <a:rPr lang="pt-BR" sz="2800" dirty="0"/>
              <a:t> </a:t>
            </a:r>
          </a:p>
          <a:p>
            <a:r>
              <a:rPr lang="pt-BR" sz="2800" dirty="0"/>
              <a:t>Notas de aulas, Rosana Braga (ICMC/USP): </a:t>
            </a:r>
            <a:r>
              <a:rPr lang="pt-BR" sz="2800" dirty="0">
                <a:hlinkClick r:id="rId3"/>
              </a:rPr>
              <a:t>https://edisciplinas.usp.br/course/view.php?id=116957</a:t>
            </a:r>
            <a:r>
              <a:rPr lang="pt-BR" sz="2800" dirty="0"/>
              <a:t>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2418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24868</TotalTime>
  <Words>4713</Words>
  <Application>Microsoft Office PowerPoint</Application>
  <PresentationFormat>Widescreen</PresentationFormat>
  <Paragraphs>610</Paragraphs>
  <Slides>99</Slides>
  <Notes>14</Notes>
  <HiddenSlides>2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99</vt:i4>
      </vt:variant>
    </vt:vector>
  </HeadingPairs>
  <TitlesOfParts>
    <vt:vector size="106" baseType="lpstr">
      <vt:lpstr>Arial</vt:lpstr>
      <vt:lpstr>Calibri</vt:lpstr>
      <vt:lpstr>Calibri Light</vt:lpstr>
      <vt:lpstr>docs-Roboto</vt:lpstr>
      <vt:lpstr>Google Sans</vt:lpstr>
      <vt:lpstr>Wingdings</vt:lpstr>
      <vt:lpstr>Tema do Office</vt:lpstr>
      <vt:lpstr>Apresentação do PowerPoint</vt:lpstr>
      <vt:lpstr>Apresentação dos grupos</vt:lpstr>
      <vt:lpstr>Aulas anteriores</vt:lpstr>
      <vt:lpstr>Relembrando...</vt:lpstr>
      <vt:lpstr>Objetivos de hoje:</vt:lpstr>
      <vt:lpstr>PMBOK</vt:lpstr>
      <vt:lpstr>PMBOK</vt:lpstr>
      <vt:lpstr>PMBOK</vt:lpstr>
      <vt:lpstr>PMBOK</vt:lpstr>
      <vt:lpstr>Abordagens de desenvolvimento de projetos</vt:lpstr>
      <vt:lpstr>Abordagens Preditivas</vt:lpstr>
      <vt:lpstr>Abordagens Preditivas</vt:lpstr>
      <vt:lpstr>Abordagens adaptativas</vt:lpstr>
      <vt:lpstr>Abordagens adaptativas</vt:lpstr>
      <vt:lpstr>Abordagens adaptativas</vt:lpstr>
      <vt:lpstr>Abordagens híbridas</vt:lpstr>
      <vt:lpstr>Abordagens de desenvolvimento de projetos</vt:lpstr>
      <vt:lpstr>Fatores para seleção de abordagem</vt:lpstr>
      <vt:lpstr>Objetivos de hoje:</vt:lpstr>
      <vt:lpstr>Eixos estruturantes</vt:lpstr>
      <vt:lpstr>PMBOK</vt:lpstr>
      <vt:lpstr>Esforço</vt:lpstr>
      <vt:lpstr>PMBOK</vt:lpstr>
      <vt:lpstr>PMBOK</vt:lpstr>
      <vt:lpstr>PMBOK</vt:lpstr>
      <vt:lpstr>PMBOK</vt:lpstr>
      <vt:lpstr>Questão 1</vt:lpstr>
      <vt:lpstr>Questão 2</vt:lpstr>
      <vt:lpstr>Questão 3</vt:lpstr>
      <vt:lpstr>Questão 4</vt:lpstr>
      <vt:lpstr>Objetivos de hoje:</vt:lpstr>
      <vt:lpstr>Iniciação</vt:lpstr>
      <vt:lpstr>Identificação das partes interessadas</vt:lpstr>
      <vt:lpstr>Identificação das partes interessadas</vt:lpstr>
      <vt:lpstr>Iniciação</vt:lpstr>
      <vt:lpstr>Iniciação do projeto</vt:lpstr>
      <vt:lpstr>Iniciação</vt:lpstr>
      <vt:lpstr>Questão 1</vt:lpstr>
      <vt:lpstr>Questão 2</vt:lpstr>
      <vt:lpstr>Modelo de TAP</vt:lpstr>
      <vt:lpstr>Objetivos de hoje:</vt:lpstr>
      <vt:lpstr>O que é escopo?</vt:lpstr>
      <vt:lpstr>Planejamento de projeto</vt:lpstr>
      <vt:lpstr>Ponto crítico em projetos</vt:lpstr>
      <vt:lpstr>Processos de gestão de escopo</vt:lpstr>
      <vt:lpstr>Escopo de produto x Escopo de projeto</vt:lpstr>
      <vt:lpstr>Discussão</vt:lpstr>
      <vt:lpstr>Escopo positivo x negativo</vt:lpstr>
      <vt:lpstr>Premissas</vt:lpstr>
      <vt:lpstr>Restrições</vt:lpstr>
      <vt:lpstr>Mapeamento de Entregas</vt:lpstr>
      <vt:lpstr>Questão 1</vt:lpstr>
      <vt:lpstr>Objetivos de hoje:</vt:lpstr>
      <vt:lpstr>Apresentação do PowerPoint</vt:lpstr>
      <vt:lpstr>Passo 1- Especificar o escopo </vt:lpstr>
      <vt:lpstr>Possível solução</vt:lpstr>
      <vt:lpstr>Passo 2 – Detalhar o escopo</vt:lpstr>
      <vt:lpstr>EAP (Estrutura Analítica de Projeto)</vt:lpstr>
      <vt:lpstr>Características da EAP</vt:lpstr>
      <vt:lpstr>Características da EAP</vt:lpstr>
      <vt:lpstr>Exemplos de EAP</vt:lpstr>
      <vt:lpstr>Exemplos de EAP</vt:lpstr>
      <vt:lpstr>Exemplos de EAP</vt:lpstr>
      <vt:lpstr>Discussão</vt:lpstr>
      <vt:lpstr>Discussão</vt:lpstr>
      <vt:lpstr>Apresentação do PowerPoint</vt:lpstr>
      <vt:lpstr>Exemplos de EAP</vt:lpstr>
      <vt:lpstr>EAP – Quando parar de decompor?</vt:lpstr>
      <vt:lpstr>Passo 3 – Defina as atividades</vt:lpstr>
      <vt:lpstr>Passo 4 – Definir a sequência</vt:lpstr>
      <vt:lpstr>Questão 1</vt:lpstr>
      <vt:lpstr>Cone da incerteza</vt:lpstr>
      <vt:lpstr>Problema de escopo orientado a plano</vt:lpstr>
      <vt:lpstr>Problema do escopo preditivo</vt:lpstr>
      <vt:lpstr>Gold plating</vt:lpstr>
      <vt:lpstr>Funcionalidades não utilizadas</vt:lpstr>
      <vt:lpstr>Objetivos de hoje:</vt:lpstr>
      <vt:lpstr>Respostas ágeis</vt:lpstr>
      <vt:lpstr>Abordagem ágil</vt:lpstr>
      <vt:lpstr>Abordagem ágil</vt:lpstr>
      <vt:lpstr>Cone da incerteza ágil</vt:lpstr>
      <vt:lpstr>Projetos ágeis (PMI.org)</vt:lpstr>
      <vt:lpstr>Gestão ágil de escopo</vt:lpstr>
      <vt:lpstr>Gestão ágil de escopo</vt:lpstr>
      <vt:lpstr>MoSCoW</vt:lpstr>
      <vt:lpstr>MoSCoW</vt:lpstr>
      <vt:lpstr>Hierarquia das funcionalidades</vt:lpstr>
      <vt:lpstr>Estrutura analítica</vt:lpstr>
      <vt:lpstr>Exemplo</vt:lpstr>
      <vt:lpstr>Monitoramento</vt:lpstr>
      <vt:lpstr>Premissas para funcionamento</vt:lpstr>
      <vt:lpstr>Problemas no escopo ágil</vt:lpstr>
      <vt:lpstr>Problemas no escopo ágil</vt:lpstr>
      <vt:lpstr>Questão 1</vt:lpstr>
      <vt:lpstr>Questão 2</vt:lpstr>
      <vt:lpstr>Questão 2</vt:lpstr>
      <vt:lpstr>Próxima aula...</vt:lpstr>
      <vt:lpstr>Seminários avançados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444</cp:revision>
  <dcterms:created xsi:type="dcterms:W3CDTF">2024-07-27T19:47:06Z</dcterms:created>
  <dcterms:modified xsi:type="dcterms:W3CDTF">2026-04-11T01:50:02Z</dcterms:modified>
</cp:coreProperties>
</file>