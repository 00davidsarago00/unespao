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9"/>
  </p:notesMasterIdLst>
  <p:handoutMasterIdLst>
    <p:handoutMasterId r:id="rId110"/>
  </p:handoutMasterIdLst>
  <p:sldIdLst>
    <p:sldId id="256" r:id="rId2"/>
    <p:sldId id="631" r:id="rId3"/>
    <p:sldId id="632" r:id="rId4"/>
    <p:sldId id="382" r:id="rId5"/>
    <p:sldId id="531" r:id="rId6"/>
    <p:sldId id="599" r:id="rId7"/>
    <p:sldId id="600" r:id="rId8"/>
    <p:sldId id="608" r:id="rId9"/>
    <p:sldId id="607" r:id="rId10"/>
    <p:sldId id="628" r:id="rId11"/>
    <p:sldId id="702" r:id="rId12"/>
    <p:sldId id="374" r:id="rId13"/>
    <p:sldId id="723" r:id="rId14"/>
    <p:sldId id="733" r:id="rId15"/>
    <p:sldId id="629" r:id="rId16"/>
    <p:sldId id="633" r:id="rId17"/>
    <p:sldId id="774" r:id="rId18"/>
    <p:sldId id="635" r:id="rId19"/>
    <p:sldId id="643" r:id="rId20"/>
    <p:sldId id="720" r:id="rId21"/>
    <p:sldId id="636" r:id="rId22"/>
    <p:sldId id="984" r:id="rId23"/>
    <p:sldId id="974" r:id="rId24"/>
    <p:sldId id="986" r:id="rId25"/>
    <p:sldId id="724" r:id="rId26"/>
    <p:sldId id="640" r:id="rId27"/>
    <p:sldId id="696" r:id="rId28"/>
    <p:sldId id="697" r:id="rId29"/>
    <p:sldId id="694" r:id="rId30"/>
    <p:sldId id="771" r:id="rId31"/>
    <p:sldId id="647" r:id="rId32"/>
    <p:sldId id="985" r:id="rId33"/>
    <p:sldId id="726" r:id="rId34"/>
    <p:sldId id="725" r:id="rId35"/>
    <p:sldId id="601" r:id="rId36"/>
    <p:sldId id="731" r:id="rId37"/>
    <p:sldId id="727" r:id="rId38"/>
    <p:sldId id="728" r:id="rId39"/>
    <p:sldId id="730" r:id="rId40"/>
    <p:sldId id="729" r:id="rId41"/>
    <p:sldId id="772" r:id="rId42"/>
    <p:sldId id="716" r:id="rId43"/>
    <p:sldId id="711" r:id="rId44"/>
    <p:sldId id="655" r:id="rId45"/>
    <p:sldId id="691" r:id="rId46"/>
    <p:sldId id="734" r:id="rId47"/>
    <p:sldId id="656" r:id="rId48"/>
    <p:sldId id="657" r:id="rId49"/>
    <p:sldId id="658" r:id="rId50"/>
    <p:sldId id="699" r:id="rId51"/>
    <p:sldId id="659" r:id="rId52"/>
    <p:sldId id="660" r:id="rId53"/>
    <p:sldId id="773" r:id="rId54"/>
    <p:sldId id="742" r:id="rId55"/>
    <p:sldId id="718" r:id="rId56"/>
    <p:sldId id="704" r:id="rId57"/>
    <p:sldId id="705" r:id="rId58"/>
    <p:sldId id="709" r:id="rId59"/>
    <p:sldId id="744" r:id="rId60"/>
    <p:sldId id="661" r:id="rId61"/>
    <p:sldId id="746" r:id="rId62"/>
    <p:sldId id="755" r:id="rId63"/>
    <p:sldId id="756" r:id="rId64"/>
    <p:sldId id="757" r:id="rId65"/>
    <p:sldId id="703" r:id="rId66"/>
    <p:sldId id="759" r:id="rId67"/>
    <p:sldId id="752" r:id="rId68"/>
    <p:sldId id="758" r:id="rId69"/>
    <p:sldId id="706" r:id="rId70"/>
    <p:sldId id="667" r:id="rId71"/>
    <p:sldId id="662" r:id="rId72"/>
    <p:sldId id="664" r:id="rId73"/>
    <p:sldId id="668" r:id="rId74"/>
    <p:sldId id="614" r:id="rId75"/>
    <p:sldId id="617" r:id="rId76"/>
    <p:sldId id="675" r:id="rId77"/>
    <p:sldId id="676" r:id="rId78"/>
    <p:sldId id="753" r:id="rId79"/>
    <p:sldId id="745" r:id="rId80"/>
    <p:sldId id="707" r:id="rId81"/>
    <p:sldId id="750" r:id="rId82"/>
    <p:sldId id="747" r:id="rId83"/>
    <p:sldId id="751" r:id="rId84"/>
    <p:sldId id="748" r:id="rId85"/>
    <p:sldId id="754" r:id="rId86"/>
    <p:sldId id="708" r:id="rId87"/>
    <p:sldId id="618" r:id="rId88"/>
    <p:sldId id="619" r:id="rId89"/>
    <p:sldId id="765" r:id="rId90"/>
    <p:sldId id="764" r:id="rId91"/>
    <p:sldId id="712" r:id="rId92"/>
    <p:sldId id="766" r:id="rId93"/>
    <p:sldId id="679" r:id="rId94"/>
    <p:sldId id="767" r:id="rId95"/>
    <p:sldId id="680" r:id="rId96"/>
    <p:sldId id="769" r:id="rId97"/>
    <p:sldId id="686" r:id="rId98"/>
    <p:sldId id="682" r:id="rId99"/>
    <p:sldId id="685" r:id="rId100"/>
    <p:sldId id="687" r:id="rId101"/>
    <p:sldId id="688" r:id="rId102"/>
    <p:sldId id="700" r:id="rId103"/>
    <p:sldId id="710" r:id="rId104"/>
    <p:sldId id="689" r:id="rId105"/>
    <p:sldId id="690" r:id="rId106"/>
    <p:sldId id="770" r:id="rId107"/>
    <p:sldId id="768" r:id="rId10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âmbulo" id="{4EC86D00-4420-4C6F-BCD1-3E1D9C03789E}">
          <p14:sldIdLst>
            <p14:sldId id="256"/>
            <p14:sldId id="631"/>
            <p14:sldId id="632"/>
            <p14:sldId id="382"/>
            <p14:sldId id="531"/>
            <p14:sldId id="599"/>
            <p14:sldId id="600"/>
            <p14:sldId id="608"/>
            <p14:sldId id="607"/>
            <p14:sldId id="628"/>
            <p14:sldId id="702"/>
          </p14:sldIdLst>
        </p14:section>
        <p14:section name="Introdução" id="{14EFEFA0-C1A5-45D4-B781-AD9C2CA07C4B}">
          <p14:sldIdLst>
            <p14:sldId id="374"/>
            <p14:sldId id="723"/>
            <p14:sldId id="733"/>
            <p14:sldId id="629"/>
            <p14:sldId id="633"/>
            <p14:sldId id="774"/>
            <p14:sldId id="635"/>
            <p14:sldId id="643"/>
            <p14:sldId id="720"/>
            <p14:sldId id="636"/>
            <p14:sldId id="984"/>
            <p14:sldId id="974"/>
            <p14:sldId id="986"/>
            <p14:sldId id="724"/>
            <p14:sldId id="640"/>
            <p14:sldId id="696"/>
            <p14:sldId id="697"/>
            <p14:sldId id="694"/>
            <p14:sldId id="771"/>
            <p14:sldId id="647"/>
            <p14:sldId id="985"/>
            <p14:sldId id="726"/>
            <p14:sldId id="725"/>
            <p14:sldId id="601"/>
            <p14:sldId id="731"/>
            <p14:sldId id="727"/>
            <p14:sldId id="728"/>
            <p14:sldId id="730"/>
            <p14:sldId id="729"/>
            <p14:sldId id="772"/>
          </p14:sldIdLst>
        </p14:section>
        <p14:section name="LOC" id="{94ABD9BE-1735-46F4-AD65-961E0F2117A3}">
          <p14:sldIdLst>
            <p14:sldId id="716"/>
            <p14:sldId id="711"/>
            <p14:sldId id="655"/>
            <p14:sldId id="691"/>
            <p14:sldId id="734"/>
            <p14:sldId id="656"/>
            <p14:sldId id="657"/>
            <p14:sldId id="658"/>
            <p14:sldId id="699"/>
            <p14:sldId id="659"/>
            <p14:sldId id="660"/>
            <p14:sldId id="773"/>
          </p14:sldIdLst>
        </p14:section>
        <p14:section name="Final da aula" id="{C0A4CCCD-6450-4FD7-97D6-9DDE92E8D184}">
          <p14:sldIdLst>
            <p14:sldId id="742"/>
          </p14:sldIdLst>
        </p14:section>
        <p14:section name="COCOMO II" id="{84B7E05C-1C9D-4B3B-A2AA-AEE6F7AC4B70}">
          <p14:sldIdLst/>
        </p14:section>
        <p14:section name="Story points" id="{DE837957-2A6B-40EF-A235-7901DDCA2A0A}">
          <p14:sldIdLst>
            <p14:sldId id="718"/>
            <p14:sldId id="704"/>
            <p14:sldId id="705"/>
            <p14:sldId id="709"/>
            <p14:sldId id="744"/>
            <p14:sldId id="661"/>
            <p14:sldId id="746"/>
            <p14:sldId id="755"/>
            <p14:sldId id="756"/>
            <p14:sldId id="757"/>
            <p14:sldId id="703"/>
            <p14:sldId id="759"/>
            <p14:sldId id="752"/>
            <p14:sldId id="758"/>
            <p14:sldId id="706"/>
            <p14:sldId id="667"/>
            <p14:sldId id="662"/>
            <p14:sldId id="664"/>
            <p14:sldId id="668"/>
            <p14:sldId id="614"/>
            <p14:sldId id="617"/>
            <p14:sldId id="675"/>
            <p14:sldId id="676"/>
            <p14:sldId id="753"/>
            <p14:sldId id="745"/>
            <p14:sldId id="707"/>
            <p14:sldId id="750"/>
            <p14:sldId id="747"/>
            <p14:sldId id="751"/>
            <p14:sldId id="748"/>
            <p14:sldId id="754"/>
            <p14:sldId id="708"/>
            <p14:sldId id="618"/>
          </p14:sldIdLst>
        </p14:section>
        <p14:section name="Pontos de função" id="{B09C9967-54D0-4FB6-A2D9-2508F2DC3C3F}">
          <p14:sldIdLst>
            <p14:sldId id="619"/>
            <p14:sldId id="765"/>
            <p14:sldId id="764"/>
            <p14:sldId id="712"/>
            <p14:sldId id="766"/>
            <p14:sldId id="679"/>
            <p14:sldId id="767"/>
            <p14:sldId id="680"/>
            <p14:sldId id="769"/>
            <p14:sldId id="686"/>
            <p14:sldId id="682"/>
            <p14:sldId id="685"/>
            <p14:sldId id="687"/>
            <p14:sldId id="688"/>
            <p14:sldId id="700"/>
            <p14:sldId id="710"/>
            <p14:sldId id="689"/>
            <p14:sldId id="690"/>
            <p14:sldId id="770"/>
            <p14:sldId id="768"/>
          </p14:sldIdLst>
        </p14:section>
        <p14:section name="Outros" id="{A42DE013-FA52-4768-9483-29F5A5D533B0}">
          <p14:sldIdLst/>
        </p14:section>
        <p14:section name="Plano de projeto" id="{65295B0D-E309-449D-8240-66B9D784998F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runo Elias Penteado" initials="BE" lastIdx="1" clrIdx="0">
    <p:extLst>
      <p:ext uri="{19B8F6BF-5375-455C-9EA6-DF929625EA0E}">
        <p15:presenceInfo xmlns:p15="http://schemas.microsoft.com/office/powerpoint/2012/main" userId="S::bruno.penteado@unesp.br::bec6b747-612e-4f00-81d1-4fe3c5e6bf7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81" autoAdjust="0"/>
    <p:restoredTop sz="94604" autoAdjust="0"/>
  </p:normalViewPr>
  <p:slideViewPr>
    <p:cSldViewPr snapToGrid="0">
      <p:cViewPr>
        <p:scale>
          <a:sx n="70" d="100"/>
          <a:sy n="70" d="100"/>
        </p:scale>
        <p:origin x="1109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1" d="100"/>
          <a:sy n="61" d="100"/>
        </p:scale>
        <p:origin x="3168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presProps" Target="presProp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viewProps" Target="view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notesMaster" Target="notesMasters/notesMaster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handoutMaster" Target="handoutMasters/handoutMaster1.xml"/><Relationship Id="rId115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commentAuthors" Target="commentAuthor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1A1A9B8-5CE2-4F8C-BDC5-9E45C5628CB8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BF24045A-56AE-43B0-BED8-A6ED87CA5F6C}">
      <dgm:prSet phldrT="[Texto]" custT="1"/>
      <dgm:spPr/>
      <dgm:t>
        <a:bodyPr/>
        <a:lstStyle/>
        <a:p>
          <a:r>
            <a:rPr lang="pt-BR" sz="1600" dirty="0"/>
            <a:t>Técnicas de estimativas de software</a:t>
          </a:r>
        </a:p>
      </dgm:t>
    </dgm:pt>
    <dgm:pt modelId="{6DD15889-239B-4CF6-8F09-F246A02F954E}" type="parTrans" cxnId="{1D528309-491E-4EE1-AA94-A7BDDEA35BEC}">
      <dgm:prSet/>
      <dgm:spPr/>
      <dgm:t>
        <a:bodyPr/>
        <a:lstStyle/>
        <a:p>
          <a:endParaRPr lang="pt-BR" sz="1050"/>
        </a:p>
      </dgm:t>
    </dgm:pt>
    <dgm:pt modelId="{6DDBF0E6-745E-4B4E-94C3-5699A5E322CE}" type="sibTrans" cxnId="{1D528309-491E-4EE1-AA94-A7BDDEA35BEC}">
      <dgm:prSet/>
      <dgm:spPr/>
      <dgm:t>
        <a:bodyPr/>
        <a:lstStyle/>
        <a:p>
          <a:endParaRPr lang="pt-BR" sz="1050"/>
        </a:p>
      </dgm:t>
    </dgm:pt>
    <dgm:pt modelId="{FBB9131E-A862-494A-ABEA-D48B12FB585E}">
      <dgm:prSet phldrT="[Texto]" custT="1"/>
      <dgm:spPr>
        <a:solidFill>
          <a:srgbClr val="4472C4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985" tIns="6985" rIns="6985" bIns="6985" numCol="1" spcCol="1270" anchor="ctr" anchorCtr="0"/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5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Baseado em experiência</a:t>
          </a:r>
        </a:p>
      </dgm:t>
    </dgm:pt>
    <dgm:pt modelId="{9FFB6809-3DC7-497A-8034-939E54F80D08}" type="parTrans" cxnId="{EF8AAFC6-A4DD-4FF4-AD92-E65416406838}">
      <dgm:prSet/>
      <dgm:spPr/>
      <dgm:t>
        <a:bodyPr/>
        <a:lstStyle/>
        <a:p>
          <a:endParaRPr lang="pt-BR" sz="1050"/>
        </a:p>
      </dgm:t>
    </dgm:pt>
    <dgm:pt modelId="{532A5A68-ECDA-497D-A147-49C62B21ACF7}" type="sibTrans" cxnId="{EF8AAFC6-A4DD-4FF4-AD92-E65416406838}">
      <dgm:prSet/>
      <dgm:spPr/>
      <dgm:t>
        <a:bodyPr/>
        <a:lstStyle/>
        <a:p>
          <a:endParaRPr lang="pt-BR" sz="1050"/>
        </a:p>
      </dgm:t>
    </dgm:pt>
    <dgm:pt modelId="{DEB5A818-8580-4EFE-AC5F-F656517A4087}">
      <dgm:prSet phldrT="[Texto]" custT="1"/>
      <dgm:spPr>
        <a:solidFill>
          <a:srgbClr val="4472C4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985" tIns="6985" rIns="6985" bIns="6985" numCol="1" spcCol="1270" anchor="ctr" anchorCtr="0"/>
        <a:lstStyle/>
        <a:p>
          <a:r>
            <a:rPr lang="pt-BR" sz="1050" kern="1200" dirty="0"/>
            <a:t>Baseado em modelo (Paramétricos)</a:t>
          </a:r>
          <a:endParaRPr lang="pt-BR" sz="1400" kern="1200" dirty="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gm:t>
    </dgm:pt>
    <dgm:pt modelId="{3BD6A61A-A091-427B-AEF5-B6853E1B54F1}" type="parTrans" cxnId="{3DE0E142-8B25-4406-AA5B-BE4DBA82BD81}">
      <dgm:prSet/>
      <dgm:spPr/>
      <dgm:t>
        <a:bodyPr/>
        <a:lstStyle/>
        <a:p>
          <a:endParaRPr lang="pt-BR" sz="1050"/>
        </a:p>
      </dgm:t>
    </dgm:pt>
    <dgm:pt modelId="{6BBA69B8-2B59-4A96-839A-4AFE54163718}" type="sibTrans" cxnId="{3DE0E142-8B25-4406-AA5B-BE4DBA82BD81}">
      <dgm:prSet/>
      <dgm:spPr/>
      <dgm:t>
        <a:bodyPr/>
        <a:lstStyle/>
        <a:p>
          <a:endParaRPr lang="pt-BR" sz="1050"/>
        </a:p>
      </dgm:t>
    </dgm:pt>
    <dgm:pt modelId="{B005DA5E-CCC9-4070-8F5D-B54121EAE77E}">
      <dgm:prSet phldrT="[Texto]" custT="1"/>
      <dgm:spPr/>
      <dgm:t>
        <a:bodyPr/>
        <a:lstStyle/>
        <a:p>
          <a:r>
            <a:rPr lang="pt-BR" sz="1200" dirty="0"/>
            <a:t>Orientados a aprendizado</a:t>
          </a:r>
        </a:p>
      </dgm:t>
    </dgm:pt>
    <dgm:pt modelId="{1D3EAC51-A1E4-4500-9DA7-DA1EC9B33A61}" type="parTrans" cxnId="{B6D99A12-1328-464C-872D-1A124FDEB35F}">
      <dgm:prSet/>
      <dgm:spPr/>
      <dgm:t>
        <a:bodyPr/>
        <a:lstStyle/>
        <a:p>
          <a:endParaRPr lang="pt-BR" sz="1050"/>
        </a:p>
      </dgm:t>
    </dgm:pt>
    <dgm:pt modelId="{A5D06D3A-687E-4ACC-A2FF-5A5FB1D98AEA}" type="sibTrans" cxnId="{B6D99A12-1328-464C-872D-1A124FDEB35F}">
      <dgm:prSet/>
      <dgm:spPr/>
      <dgm:t>
        <a:bodyPr/>
        <a:lstStyle/>
        <a:p>
          <a:endParaRPr lang="pt-BR" sz="1050"/>
        </a:p>
      </dgm:t>
    </dgm:pt>
    <dgm:pt modelId="{7142D02C-E4E5-4E56-80A5-B77DE4124DC6}">
      <dgm:prSet phldrT="[Texto]" custT="1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solidFill>
          <a:srgbClr val="4472C4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5715" tIns="5715" rIns="5715" bIns="5715" numCol="1" spcCol="1270" anchor="ctr" anchorCtr="0"/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5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Julgamento de especialista</a:t>
          </a:r>
        </a:p>
      </dgm:t>
    </dgm:pt>
    <dgm:pt modelId="{CB90EEA7-9B7F-4749-8ACF-783AC5975F93}" type="parTrans" cxnId="{3EE57F07-E8AD-47FF-BC1E-28B0C20E8C2E}">
      <dgm:prSet/>
      <dgm:spPr/>
      <dgm:t>
        <a:bodyPr/>
        <a:lstStyle/>
        <a:p>
          <a:endParaRPr lang="pt-BR" sz="1050"/>
        </a:p>
      </dgm:t>
    </dgm:pt>
    <dgm:pt modelId="{B6818093-5E42-4B47-8312-77D9CA4A5288}" type="sibTrans" cxnId="{3EE57F07-E8AD-47FF-BC1E-28B0C20E8C2E}">
      <dgm:prSet/>
      <dgm:spPr/>
      <dgm:t>
        <a:bodyPr/>
        <a:lstStyle/>
        <a:p>
          <a:endParaRPr lang="pt-BR" sz="1050"/>
        </a:p>
      </dgm:t>
    </dgm:pt>
    <dgm:pt modelId="{BBA6BB66-2C05-4EC2-83A0-F94E6253D46E}">
      <dgm:prSet phldrT="[Texto]" custT="1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pt-BR" sz="1050" dirty="0"/>
            <a:t>Pontos de função</a:t>
          </a:r>
        </a:p>
      </dgm:t>
    </dgm:pt>
    <dgm:pt modelId="{996A333F-5F3A-4F19-8555-631803C385FF}" type="parTrans" cxnId="{E0B448FE-9EE5-435C-BD60-C8BE785C694C}">
      <dgm:prSet/>
      <dgm:spPr/>
      <dgm:t>
        <a:bodyPr/>
        <a:lstStyle/>
        <a:p>
          <a:endParaRPr lang="pt-BR" sz="1050"/>
        </a:p>
      </dgm:t>
    </dgm:pt>
    <dgm:pt modelId="{8ECF8F13-64C8-4E6C-BEFB-364DF2E6CE89}" type="sibTrans" cxnId="{E0B448FE-9EE5-435C-BD60-C8BE785C694C}">
      <dgm:prSet/>
      <dgm:spPr/>
      <dgm:t>
        <a:bodyPr/>
        <a:lstStyle/>
        <a:p>
          <a:endParaRPr lang="pt-BR" sz="1050"/>
        </a:p>
      </dgm:t>
    </dgm:pt>
    <dgm:pt modelId="{FDDA7B84-FD63-40BE-9130-97AE6239C4CB}">
      <dgm:prSet phldrT="[Texto]" custT="1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pt-BR" sz="1050" dirty="0"/>
            <a:t>COCOMO</a:t>
          </a:r>
        </a:p>
      </dgm:t>
    </dgm:pt>
    <dgm:pt modelId="{C8DC81FD-AAD9-4CCF-A93E-F4F558814B7F}" type="parTrans" cxnId="{144BDB35-5CA2-4D73-BB8C-6CA21E01F4D8}">
      <dgm:prSet/>
      <dgm:spPr/>
      <dgm:t>
        <a:bodyPr/>
        <a:lstStyle/>
        <a:p>
          <a:endParaRPr lang="pt-BR" sz="1050"/>
        </a:p>
      </dgm:t>
    </dgm:pt>
    <dgm:pt modelId="{175CC0EA-2895-43C0-9733-1D6A0349B000}" type="sibTrans" cxnId="{144BDB35-5CA2-4D73-BB8C-6CA21E01F4D8}">
      <dgm:prSet/>
      <dgm:spPr/>
      <dgm:t>
        <a:bodyPr/>
        <a:lstStyle/>
        <a:p>
          <a:endParaRPr lang="pt-BR" sz="1050"/>
        </a:p>
      </dgm:t>
    </dgm:pt>
    <dgm:pt modelId="{51803571-7219-405D-9E17-724FBE3F487B}">
      <dgm:prSet phldrT="[Texto]" custT="1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pt-BR" sz="1050" dirty="0"/>
            <a:t>Estórias de usuário</a:t>
          </a:r>
        </a:p>
      </dgm:t>
    </dgm:pt>
    <dgm:pt modelId="{C96C4B5A-8554-4D29-AC64-2ED2AFC421BC}" type="parTrans" cxnId="{37CC0414-4342-4AD4-8751-6F0DA6C24836}">
      <dgm:prSet/>
      <dgm:spPr/>
      <dgm:t>
        <a:bodyPr/>
        <a:lstStyle/>
        <a:p>
          <a:endParaRPr lang="pt-BR" sz="1050"/>
        </a:p>
      </dgm:t>
    </dgm:pt>
    <dgm:pt modelId="{95B0F706-DABD-4A9D-8140-0CECC7C0E3D3}" type="sibTrans" cxnId="{37CC0414-4342-4AD4-8751-6F0DA6C24836}">
      <dgm:prSet/>
      <dgm:spPr/>
      <dgm:t>
        <a:bodyPr/>
        <a:lstStyle/>
        <a:p>
          <a:endParaRPr lang="pt-BR" sz="1050"/>
        </a:p>
      </dgm:t>
    </dgm:pt>
    <dgm:pt modelId="{7CA7396C-1FDD-4B70-B225-A9F3A40066B1}">
      <dgm:prSet phldrT="[Texto]" custT="1"/>
      <dgm:spPr/>
      <dgm:t>
        <a:bodyPr/>
        <a:lstStyle/>
        <a:p>
          <a:r>
            <a:rPr lang="pt-BR" sz="1050" dirty="0"/>
            <a:t>Algoritmos de machine learning</a:t>
          </a:r>
        </a:p>
      </dgm:t>
    </dgm:pt>
    <dgm:pt modelId="{EB750181-CB0C-4F01-AD10-E2C75112487B}" type="parTrans" cxnId="{B5DE0B2B-2F82-4FD6-9B0C-7AEB6AFFD4A2}">
      <dgm:prSet/>
      <dgm:spPr/>
      <dgm:t>
        <a:bodyPr/>
        <a:lstStyle/>
        <a:p>
          <a:endParaRPr lang="pt-BR" sz="1050"/>
        </a:p>
      </dgm:t>
    </dgm:pt>
    <dgm:pt modelId="{4B720BBE-F675-4E29-87FE-57F65CD9770C}" type="sibTrans" cxnId="{B5DE0B2B-2F82-4FD6-9B0C-7AEB6AFFD4A2}">
      <dgm:prSet/>
      <dgm:spPr/>
      <dgm:t>
        <a:bodyPr/>
        <a:lstStyle/>
        <a:p>
          <a:endParaRPr lang="pt-BR" sz="1050"/>
        </a:p>
      </dgm:t>
    </dgm:pt>
    <dgm:pt modelId="{E2DEE554-86E6-44A8-841E-FC33D345200F}">
      <dgm:prSet phldrT="[Texto]" custT="1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solidFill>
          <a:srgbClr val="4472C4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5715" tIns="5715" rIns="5715" bIns="5715" numCol="1" spcCol="1270" anchor="ctr" anchorCtr="0"/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5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Preço-para-vencer</a:t>
          </a:r>
        </a:p>
      </dgm:t>
    </dgm:pt>
    <dgm:pt modelId="{9211C432-4984-4462-BD62-FAA7A7F8E883}" type="parTrans" cxnId="{5784DE08-6210-4F3F-9A71-7D1C5B7DE4B0}">
      <dgm:prSet/>
      <dgm:spPr/>
      <dgm:t>
        <a:bodyPr/>
        <a:lstStyle/>
        <a:p>
          <a:endParaRPr lang="pt-BR" sz="1050"/>
        </a:p>
      </dgm:t>
    </dgm:pt>
    <dgm:pt modelId="{E30DAAE0-7974-47B2-BAC8-0793E1AA9486}" type="sibTrans" cxnId="{5784DE08-6210-4F3F-9A71-7D1C5B7DE4B0}">
      <dgm:prSet/>
      <dgm:spPr/>
      <dgm:t>
        <a:bodyPr/>
        <a:lstStyle/>
        <a:p>
          <a:endParaRPr lang="pt-BR" sz="1050"/>
        </a:p>
      </dgm:t>
    </dgm:pt>
    <dgm:pt modelId="{B162AF46-C22D-4968-A2A5-62543BBE22E2}">
      <dgm:prSet phldrT="[Texto]" custT="1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solidFill>
          <a:srgbClr val="4472C4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5080" tIns="5080" rIns="5080" bIns="5080" numCol="1" spcCol="1270" anchor="ctr" anchorCtr="0"/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5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Analogia</a:t>
          </a:r>
        </a:p>
      </dgm:t>
    </dgm:pt>
    <dgm:pt modelId="{CD130441-E081-457C-8344-33C9C50F118E}" type="parTrans" cxnId="{A30CDCC4-32B7-42D7-A794-DE2BA7807018}">
      <dgm:prSet/>
      <dgm:spPr/>
      <dgm:t>
        <a:bodyPr/>
        <a:lstStyle/>
        <a:p>
          <a:endParaRPr lang="pt-BR" sz="1050"/>
        </a:p>
      </dgm:t>
    </dgm:pt>
    <dgm:pt modelId="{E77B0A6A-A61D-4588-BFD8-A6AE2283A9EB}" type="sibTrans" cxnId="{A30CDCC4-32B7-42D7-A794-DE2BA7807018}">
      <dgm:prSet/>
      <dgm:spPr/>
      <dgm:t>
        <a:bodyPr/>
        <a:lstStyle/>
        <a:p>
          <a:endParaRPr lang="pt-BR" sz="1050"/>
        </a:p>
      </dgm:t>
    </dgm:pt>
    <dgm:pt modelId="{CCBC8F0D-6137-4885-85DD-75556DCB040E}">
      <dgm:prSet phldrT="[Texto]" custT="1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ln/>
      </dgm:spPr>
      <dgm:t>
        <a:bodyPr spcFirstLastPara="0" vert="horz" wrap="square" lIns="5715" tIns="5715" rIns="5715" bIns="5715" numCol="1" spcCol="1270" anchor="ctr" anchorCtr="0"/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50" kern="1200" dirty="0" err="1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Bottom-up</a:t>
          </a:r>
          <a:endParaRPr lang="pt-BR" sz="1050" kern="1200" dirty="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gm:t>
    </dgm:pt>
    <dgm:pt modelId="{F0908628-966B-4035-88DB-6EBD32163C5B}" type="parTrans" cxnId="{7EBC17CD-A74A-48F3-A3FD-B2F718C71DFC}">
      <dgm:prSet/>
      <dgm:spPr/>
      <dgm:t>
        <a:bodyPr/>
        <a:lstStyle/>
        <a:p>
          <a:endParaRPr lang="pt-BR" sz="1050"/>
        </a:p>
      </dgm:t>
    </dgm:pt>
    <dgm:pt modelId="{3BEE4C61-36C5-435A-BA1F-A60CF6681528}" type="sibTrans" cxnId="{7EBC17CD-A74A-48F3-A3FD-B2F718C71DFC}">
      <dgm:prSet/>
      <dgm:spPr/>
      <dgm:t>
        <a:bodyPr/>
        <a:lstStyle/>
        <a:p>
          <a:endParaRPr lang="pt-BR" sz="1050"/>
        </a:p>
      </dgm:t>
    </dgm:pt>
    <dgm:pt modelId="{C05102CE-893A-499F-B227-5F1A16D35C0D}">
      <dgm:prSet phldrT="[Texto]" custT="1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solidFill>
          <a:srgbClr val="4472C4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5080" tIns="5080" rIns="5080" bIns="5080" numCol="1" spcCol="1270" anchor="ctr" anchorCtr="0"/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5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Top-</a:t>
          </a:r>
          <a:r>
            <a:rPr lang="pt-BR" sz="1050" kern="1200" dirty="0" err="1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down</a:t>
          </a:r>
          <a:endParaRPr lang="pt-BR" sz="1050" kern="1200" dirty="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gm:t>
    </dgm:pt>
    <dgm:pt modelId="{3AD78536-FB36-45AC-B50C-48D245C74991}" type="parTrans" cxnId="{EE129395-F23A-42C4-ADAE-DDCEAB1E345E}">
      <dgm:prSet/>
      <dgm:spPr/>
      <dgm:t>
        <a:bodyPr/>
        <a:lstStyle/>
        <a:p>
          <a:endParaRPr lang="pt-BR" sz="1050"/>
        </a:p>
      </dgm:t>
    </dgm:pt>
    <dgm:pt modelId="{BBA2CCD5-D77C-4E33-AB54-6AECF636BD1B}" type="sibTrans" cxnId="{EE129395-F23A-42C4-ADAE-DDCEAB1E345E}">
      <dgm:prSet/>
      <dgm:spPr/>
      <dgm:t>
        <a:bodyPr/>
        <a:lstStyle/>
        <a:p>
          <a:endParaRPr lang="pt-BR" sz="1050"/>
        </a:p>
      </dgm:t>
    </dgm:pt>
    <dgm:pt modelId="{3DB71D7F-3DA0-4D1F-9479-078B43FAFD07}" type="pres">
      <dgm:prSet presAssocID="{B1A1A9B8-5CE2-4F8C-BDC5-9E45C5628CB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5FB81A70-74D5-4981-A5AC-45EE62D37FB0}" type="pres">
      <dgm:prSet presAssocID="{BF24045A-56AE-43B0-BED8-A6ED87CA5F6C}" presName="hierRoot1" presStyleCnt="0">
        <dgm:presLayoutVars>
          <dgm:hierBranch val="init"/>
        </dgm:presLayoutVars>
      </dgm:prSet>
      <dgm:spPr/>
    </dgm:pt>
    <dgm:pt modelId="{6ECAB72D-6486-4720-95B3-324A0E5E2BB8}" type="pres">
      <dgm:prSet presAssocID="{BF24045A-56AE-43B0-BED8-A6ED87CA5F6C}" presName="rootComposite1" presStyleCnt="0"/>
      <dgm:spPr/>
    </dgm:pt>
    <dgm:pt modelId="{36E3547F-7521-4CCE-AA66-93B67033582D}" type="pres">
      <dgm:prSet presAssocID="{BF24045A-56AE-43B0-BED8-A6ED87CA5F6C}" presName="rootText1" presStyleLbl="node0" presStyleIdx="0" presStyleCnt="1" custScaleX="223191" custScaleY="190668">
        <dgm:presLayoutVars>
          <dgm:chPref val="3"/>
        </dgm:presLayoutVars>
      </dgm:prSet>
      <dgm:spPr/>
    </dgm:pt>
    <dgm:pt modelId="{F9A462A4-B19B-4ACF-B72B-17F617980EAD}" type="pres">
      <dgm:prSet presAssocID="{BF24045A-56AE-43B0-BED8-A6ED87CA5F6C}" presName="rootConnector1" presStyleLbl="node1" presStyleIdx="0" presStyleCnt="0"/>
      <dgm:spPr/>
    </dgm:pt>
    <dgm:pt modelId="{408910D9-AFE0-4B6D-82AB-5E1DC75342BA}" type="pres">
      <dgm:prSet presAssocID="{BF24045A-56AE-43B0-BED8-A6ED87CA5F6C}" presName="hierChild2" presStyleCnt="0"/>
      <dgm:spPr/>
    </dgm:pt>
    <dgm:pt modelId="{B4C59C37-93AB-49D3-AB04-70D89C6F7AA7}" type="pres">
      <dgm:prSet presAssocID="{9FFB6809-3DC7-497A-8034-939E54F80D08}" presName="Name37" presStyleLbl="parChTrans1D2" presStyleIdx="0" presStyleCnt="3"/>
      <dgm:spPr/>
    </dgm:pt>
    <dgm:pt modelId="{CBFF33EB-1162-4FFF-B60E-EA0314E99DE4}" type="pres">
      <dgm:prSet presAssocID="{FBB9131E-A862-494A-ABEA-D48B12FB585E}" presName="hierRoot2" presStyleCnt="0">
        <dgm:presLayoutVars>
          <dgm:hierBranch val="init"/>
        </dgm:presLayoutVars>
      </dgm:prSet>
      <dgm:spPr/>
    </dgm:pt>
    <dgm:pt modelId="{1FB9EE8A-97D8-4A1F-9A20-A4B080A49E02}" type="pres">
      <dgm:prSet presAssocID="{FBB9131E-A862-494A-ABEA-D48B12FB585E}" presName="rootComposite" presStyleCnt="0"/>
      <dgm:spPr/>
    </dgm:pt>
    <dgm:pt modelId="{30696B27-0668-4893-A078-7AD6DCBAE600}" type="pres">
      <dgm:prSet presAssocID="{FBB9131E-A862-494A-ABEA-D48B12FB585E}" presName="rootText" presStyleLbl="node2" presStyleIdx="0" presStyleCnt="3">
        <dgm:presLayoutVars>
          <dgm:chPref val="3"/>
        </dgm:presLayoutVars>
      </dgm:prSet>
      <dgm:spPr>
        <a:xfrm>
          <a:off x="352551" y="901092"/>
          <a:ext cx="772345" cy="386172"/>
        </a:xfrm>
        <a:prstGeom prst="rect">
          <a:avLst/>
        </a:prstGeom>
      </dgm:spPr>
    </dgm:pt>
    <dgm:pt modelId="{8DA95EAD-D75E-49ED-921D-4AE14E3CAF89}" type="pres">
      <dgm:prSet presAssocID="{FBB9131E-A862-494A-ABEA-D48B12FB585E}" presName="rootConnector" presStyleLbl="node2" presStyleIdx="0" presStyleCnt="3"/>
      <dgm:spPr/>
    </dgm:pt>
    <dgm:pt modelId="{76462254-BC09-44DA-BDE7-E9A63D36BC31}" type="pres">
      <dgm:prSet presAssocID="{FBB9131E-A862-494A-ABEA-D48B12FB585E}" presName="hierChild4" presStyleCnt="0"/>
      <dgm:spPr/>
    </dgm:pt>
    <dgm:pt modelId="{37E9C4D5-06EA-407E-A36A-3C018BE94637}" type="pres">
      <dgm:prSet presAssocID="{CB90EEA7-9B7F-4749-8ACF-783AC5975F93}" presName="Name37" presStyleLbl="parChTrans1D3" presStyleIdx="0" presStyleCnt="9"/>
      <dgm:spPr/>
    </dgm:pt>
    <dgm:pt modelId="{B19F6305-FD7B-4845-9715-B12CFF20E111}" type="pres">
      <dgm:prSet presAssocID="{7142D02C-E4E5-4E56-80A5-B77DE4124DC6}" presName="hierRoot2" presStyleCnt="0">
        <dgm:presLayoutVars>
          <dgm:hierBranch val="init"/>
        </dgm:presLayoutVars>
      </dgm:prSet>
      <dgm:spPr/>
    </dgm:pt>
    <dgm:pt modelId="{B924A4FA-1A5B-4181-B060-76467E9ECA50}" type="pres">
      <dgm:prSet presAssocID="{7142D02C-E4E5-4E56-80A5-B77DE4124DC6}" presName="rootComposite" presStyleCnt="0"/>
      <dgm:spPr/>
    </dgm:pt>
    <dgm:pt modelId="{F433F8D2-051F-4A25-9FB5-7E91FC78A773}" type="pres">
      <dgm:prSet presAssocID="{7142D02C-E4E5-4E56-80A5-B77DE4124DC6}" presName="rootText" presStyleLbl="node3" presStyleIdx="0" presStyleCnt="9">
        <dgm:presLayoutVars>
          <dgm:chPref val="3"/>
        </dgm:presLayoutVars>
      </dgm:prSet>
      <dgm:spPr>
        <a:xfrm>
          <a:off x="1663111" y="1700915"/>
          <a:ext cx="907865" cy="453932"/>
        </a:xfrm>
        <a:prstGeom prst="rect">
          <a:avLst/>
        </a:prstGeom>
      </dgm:spPr>
    </dgm:pt>
    <dgm:pt modelId="{6D07EC6F-D2B3-4F5F-B7BE-C5BF8A5E4F79}" type="pres">
      <dgm:prSet presAssocID="{7142D02C-E4E5-4E56-80A5-B77DE4124DC6}" presName="rootConnector" presStyleLbl="node3" presStyleIdx="0" presStyleCnt="9"/>
      <dgm:spPr/>
    </dgm:pt>
    <dgm:pt modelId="{67E8B4BA-7D11-48BC-A23B-DA1F3079D4E9}" type="pres">
      <dgm:prSet presAssocID="{7142D02C-E4E5-4E56-80A5-B77DE4124DC6}" presName="hierChild4" presStyleCnt="0"/>
      <dgm:spPr/>
    </dgm:pt>
    <dgm:pt modelId="{26907DF7-AF0C-4AA8-AF4F-8844A6388A2E}" type="pres">
      <dgm:prSet presAssocID="{7142D02C-E4E5-4E56-80A5-B77DE4124DC6}" presName="hierChild5" presStyleCnt="0"/>
      <dgm:spPr/>
    </dgm:pt>
    <dgm:pt modelId="{A007763C-06CC-4559-B988-FDCAE8BFFFDA}" type="pres">
      <dgm:prSet presAssocID="{9211C432-4984-4462-BD62-FAA7A7F8E883}" presName="Name37" presStyleLbl="parChTrans1D3" presStyleIdx="1" presStyleCnt="9"/>
      <dgm:spPr/>
    </dgm:pt>
    <dgm:pt modelId="{08F2C2C9-9666-48C2-A1A4-E9CC88969008}" type="pres">
      <dgm:prSet presAssocID="{E2DEE554-86E6-44A8-841E-FC33D345200F}" presName="hierRoot2" presStyleCnt="0">
        <dgm:presLayoutVars>
          <dgm:hierBranch val="init"/>
        </dgm:presLayoutVars>
      </dgm:prSet>
      <dgm:spPr/>
    </dgm:pt>
    <dgm:pt modelId="{B7A7B2CB-20B7-4D5F-AD1A-09B3AC331782}" type="pres">
      <dgm:prSet presAssocID="{E2DEE554-86E6-44A8-841E-FC33D345200F}" presName="rootComposite" presStyleCnt="0"/>
      <dgm:spPr/>
    </dgm:pt>
    <dgm:pt modelId="{29212A2A-2B6E-4394-806D-8FD6055910AC}" type="pres">
      <dgm:prSet presAssocID="{E2DEE554-86E6-44A8-841E-FC33D345200F}" presName="rootText" presStyleLbl="node3" presStyleIdx="1" presStyleCnt="9">
        <dgm:presLayoutVars>
          <dgm:chPref val="3"/>
        </dgm:presLayoutVars>
      </dgm:prSet>
      <dgm:spPr>
        <a:xfrm>
          <a:off x="682186" y="1997807"/>
          <a:ext cx="773042" cy="386521"/>
        </a:xfrm>
        <a:prstGeom prst="rect">
          <a:avLst/>
        </a:prstGeom>
      </dgm:spPr>
    </dgm:pt>
    <dgm:pt modelId="{A52FF806-147D-4EC9-9FED-0C44EB054C4A}" type="pres">
      <dgm:prSet presAssocID="{E2DEE554-86E6-44A8-841E-FC33D345200F}" presName="rootConnector" presStyleLbl="node3" presStyleIdx="1" presStyleCnt="9"/>
      <dgm:spPr/>
    </dgm:pt>
    <dgm:pt modelId="{1A8B98D8-9AD5-488E-A77E-F7703C739C51}" type="pres">
      <dgm:prSet presAssocID="{E2DEE554-86E6-44A8-841E-FC33D345200F}" presName="hierChild4" presStyleCnt="0"/>
      <dgm:spPr/>
    </dgm:pt>
    <dgm:pt modelId="{7E2009E7-DD7D-4E83-A67F-3AC714EFED5B}" type="pres">
      <dgm:prSet presAssocID="{E2DEE554-86E6-44A8-841E-FC33D345200F}" presName="hierChild5" presStyleCnt="0"/>
      <dgm:spPr/>
    </dgm:pt>
    <dgm:pt modelId="{1B19B215-B6E9-4337-A983-8F432941D46F}" type="pres">
      <dgm:prSet presAssocID="{3AD78536-FB36-45AC-B50C-48D245C74991}" presName="Name37" presStyleLbl="parChTrans1D3" presStyleIdx="2" presStyleCnt="9"/>
      <dgm:spPr/>
    </dgm:pt>
    <dgm:pt modelId="{F9C4F010-F87D-4C3E-882E-A1E2BC9DCB9F}" type="pres">
      <dgm:prSet presAssocID="{C05102CE-893A-499F-B227-5F1A16D35C0D}" presName="hierRoot2" presStyleCnt="0">
        <dgm:presLayoutVars>
          <dgm:hierBranch val="init"/>
        </dgm:presLayoutVars>
      </dgm:prSet>
      <dgm:spPr/>
    </dgm:pt>
    <dgm:pt modelId="{C79B08DC-5AB7-4C98-89E7-49B23052086C}" type="pres">
      <dgm:prSet presAssocID="{C05102CE-893A-499F-B227-5F1A16D35C0D}" presName="rootComposite" presStyleCnt="0"/>
      <dgm:spPr/>
    </dgm:pt>
    <dgm:pt modelId="{513301BA-0254-42B8-B088-390108CC8620}" type="pres">
      <dgm:prSet presAssocID="{C05102CE-893A-499F-B227-5F1A16D35C0D}" presName="rootText" presStyleLbl="node3" presStyleIdx="2" presStyleCnt="9">
        <dgm:presLayoutVars>
          <dgm:chPref val="3"/>
        </dgm:presLayoutVars>
      </dgm:prSet>
      <dgm:spPr>
        <a:xfrm>
          <a:off x="392253" y="2546616"/>
          <a:ext cx="772967" cy="386483"/>
        </a:xfrm>
        <a:prstGeom prst="rect">
          <a:avLst/>
        </a:prstGeom>
      </dgm:spPr>
    </dgm:pt>
    <dgm:pt modelId="{9AB4E749-B797-4C3C-B7C0-6EE1DC2D4685}" type="pres">
      <dgm:prSet presAssocID="{C05102CE-893A-499F-B227-5F1A16D35C0D}" presName="rootConnector" presStyleLbl="node3" presStyleIdx="2" presStyleCnt="9"/>
      <dgm:spPr/>
    </dgm:pt>
    <dgm:pt modelId="{5D8644A9-8C53-47E2-8238-D4705FD7A720}" type="pres">
      <dgm:prSet presAssocID="{C05102CE-893A-499F-B227-5F1A16D35C0D}" presName="hierChild4" presStyleCnt="0"/>
      <dgm:spPr/>
    </dgm:pt>
    <dgm:pt modelId="{F18F3D34-4B23-4B50-AEA1-F553DC733628}" type="pres">
      <dgm:prSet presAssocID="{C05102CE-893A-499F-B227-5F1A16D35C0D}" presName="hierChild5" presStyleCnt="0"/>
      <dgm:spPr/>
    </dgm:pt>
    <dgm:pt modelId="{5B5C7259-1FA4-491D-B2BE-243B9C047E9E}" type="pres">
      <dgm:prSet presAssocID="{F0908628-966B-4035-88DB-6EBD32163C5B}" presName="Name37" presStyleLbl="parChTrans1D3" presStyleIdx="3" presStyleCnt="9"/>
      <dgm:spPr/>
    </dgm:pt>
    <dgm:pt modelId="{557793AD-C74B-46EE-96A8-0F155162ABE8}" type="pres">
      <dgm:prSet presAssocID="{CCBC8F0D-6137-4885-85DD-75556DCB040E}" presName="hierRoot2" presStyleCnt="0">
        <dgm:presLayoutVars>
          <dgm:hierBranch val="init"/>
        </dgm:presLayoutVars>
      </dgm:prSet>
      <dgm:spPr/>
    </dgm:pt>
    <dgm:pt modelId="{06F8B321-3D61-49BD-A7B2-7FBCCE7D324A}" type="pres">
      <dgm:prSet presAssocID="{CCBC8F0D-6137-4885-85DD-75556DCB040E}" presName="rootComposite" presStyleCnt="0"/>
      <dgm:spPr/>
    </dgm:pt>
    <dgm:pt modelId="{3EAC7351-3843-46A4-924C-B6613AAE8F8E}" type="pres">
      <dgm:prSet presAssocID="{CCBC8F0D-6137-4885-85DD-75556DCB040E}" presName="rootText" presStyleLbl="node3" presStyleIdx="3" presStyleCnt="9">
        <dgm:presLayoutVars>
          <dgm:chPref val="3"/>
        </dgm:presLayoutVars>
      </dgm:prSet>
      <dgm:spPr>
        <a:xfrm>
          <a:off x="682186" y="3095527"/>
          <a:ext cx="773042" cy="386521"/>
        </a:xfrm>
        <a:prstGeom prst="rect">
          <a:avLst/>
        </a:prstGeom>
      </dgm:spPr>
    </dgm:pt>
    <dgm:pt modelId="{0732785C-F25E-47B4-B5B1-C945A953C5BD}" type="pres">
      <dgm:prSet presAssocID="{CCBC8F0D-6137-4885-85DD-75556DCB040E}" presName="rootConnector" presStyleLbl="node3" presStyleIdx="3" presStyleCnt="9"/>
      <dgm:spPr/>
    </dgm:pt>
    <dgm:pt modelId="{B302F41F-F2BA-4DB1-A6B8-632E989B7052}" type="pres">
      <dgm:prSet presAssocID="{CCBC8F0D-6137-4885-85DD-75556DCB040E}" presName="hierChild4" presStyleCnt="0"/>
      <dgm:spPr/>
    </dgm:pt>
    <dgm:pt modelId="{D0ED759D-2AFE-4BFE-A2F4-910D4B245110}" type="pres">
      <dgm:prSet presAssocID="{CCBC8F0D-6137-4885-85DD-75556DCB040E}" presName="hierChild5" presStyleCnt="0"/>
      <dgm:spPr/>
    </dgm:pt>
    <dgm:pt modelId="{A90CB850-3000-45F0-9A70-AC47EBC9421A}" type="pres">
      <dgm:prSet presAssocID="{CD130441-E081-457C-8344-33C9C50F118E}" presName="Name37" presStyleLbl="parChTrans1D3" presStyleIdx="4" presStyleCnt="9"/>
      <dgm:spPr/>
    </dgm:pt>
    <dgm:pt modelId="{E02C3F33-6EDF-4C58-B6AB-35530DBC20E4}" type="pres">
      <dgm:prSet presAssocID="{B162AF46-C22D-4968-A2A5-62543BBE22E2}" presName="hierRoot2" presStyleCnt="0">
        <dgm:presLayoutVars>
          <dgm:hierBranch val="init"/>
        </dgm:presLayoutVars>
      </dgm:prSet>
      <dgm:spPr/>
    </dgm:pt>
    <dgm:pt modelId="{98402485-6510-46D9-88E7-775262057C1D}" type="pres">
      <dgm:prSet presAssocID="{B162AF46-C22D-4968-A2A5-62543BBE22E2}" presName="rootComposite" presStyleCnt="0"/>
      <dgm:spPr/>
    </dgm:pt>
    <dgm:pt modelId="{ADB5D4B2-2F36-44CF-A2EC-F07125B71179}" type="pres">
      <dgm:prSet presAssocID="{B162AF46-C22D-4968-A2A5-62543BBE22E2}" presName="rootText" presStyleLbl="node3" presStyleIdx="4" presStyleCnt="9">
        <dgm:presLayoutVars>
          <dgm:chPref val="3"/>
        </dgm:presLayoutVars>
      </dgm:prSet>
      <dgm:spPr>
        <a:xfrm>
          <a:off x="389124" y="3102897"/>
          <a:ext cx="774941" cy="387470"/>
        </a:xfrm>
        <a:prstGeom prst="rect">
          <a:avLst/>
        </a:prstGeom>
      </dgm:spPr>
    </dgm:pt>
    <dgm:pt modelId="{D03D348F-E31B-4651-A45A-AC42E78F388F}" type="pres">
      <dgm:prSet presAssocID="{B162AF46-C22D-4968-A2A5-62543BBE22E2}" presName="rootConnector" presStyleLbl="node3" presStyleIdx="4" presStyleCnt="9"/>
      <dgm:spPr/>
    </dgm:pt>
    <dgm:pt modelId="{692B2997-0C1E-4C92-8696-CE64372BD8C4}" type="pres">
      <dgm:prSet presAssocID="{B162AF46-C22D-4968-A2A5-62543BBE22E2}" presName="hierChild4" presStyleCnt="0"/>
      <dgm:spPr/>
    </dgm:pt>
    <dgm:pt modelId="{BAA603B4-CFCE-47FD-936A-86973D16B362}" type="pres">
      <dgm:prSet presAssocID="{B162AF46-C22D-4968-A2A5-62543BBE22E2}" presName="hierChild5" presStyleCnt="0"/>
      <dgm:spPr/>
    </dgm:pt>
    <dgm:pt modelId="{F0067369-49F0-4919-BB59-91C0D42F6A83}" type="pres">
      <dgm:prSet presAssocID="{FBB9131E-A862-494A-ABEA-D48B12FB585E}" presName="hierChild5" presStyleCnt="0"/>
      <dgm:spPr/>
    </dgm:pt>
    <dgm:pt modelId="{ABEA2C9F-5C17-46D6-84BE-6A7BF4AFF40B}" type="pres">
      <dgm:prSet presAssocID="{3BD6A61A-A091-427B-AEF5-B6853E1B54F1}" presName="Name37" presStyleLbl="parChTrans1D2" presStyleIdx="1" presStyleCnt="3"/>
      <dgm:spPr/>
    </dgm:pt>
    <dgm:pt modelId="{2BD4C873-38C0-4A28-8D07-F4D6AF82BFB9}" type="pres">
      <dgm:prSet presAssocID="{DEB5A818-8580-4EFE-AC5F-F656517A4087}" presName="hierRoot2" presStyleCnt="0">
        <dgm:presLayoutVars>
          <dgm:hierBranch val="init"/>
        </dgm:presLayoutVars>
      </dgm:prSet>
      <dgm:spPr/>
    </dgm:pt>
    <dgm:pt modelId="{BB9EF54B-BDF4-4333-8220-17B295DFB7BA}" type="pres">
      <dgm:prSet presAssocID="{DEB5A818-8580-4EFE-AC5F-F656517A4087}" presName="rootComposite" presStyleCnt="0"/>
      <dgm:spPr/>
    </dgm:pt>
    <dgm:pt modelId="{104D1DCF-351B-447B-8457-5BBFD6B42680}" type="pres">
      <dgm:prSet presAssocID="{DEB5A818-8580-4EFE-AC5F-F656517A4087}" presName="rootText" presStyleLbl="node2" presStyleIdx="1" presStyleCnt="3">
        <dgm:presLayoutVars>
          <dgm:chPref val="3"/>
        </dgm:presLayoutVars>
      </dgm:prSet>
      <dgm:spPr>
        <a:xfrm>
          <a:off x="1287090" y="901092"/>
          <a:ext cx="772345" cy="386172"/>
        </a:xfrm>
        <a:prstGeom prst="rect">
          <a:avLst/>
        </a:prstGeom>
      </dgm:spPr>
    </dgm:pt>
    <dgm:pt modelId="{DD703DA6-860C-40BF-8970-F1CE9C9B4B2C}" type="pres">
      <dgm:prSet presAssocID="{DEB5A818-8580-4EFE-AC5F-F656517A4087}" presName="rootConnector" presStyleLbl="node2" presStyleIdx="1" presStyleCnt="3"/>
      <dgm:spPr/>
    </dgm:pt>
    <dgm:pt modelId="{3ACCDCB3-B1A8-4029-9D1D-2EAE47BC48E6}" type="pres">
      <dgm:prSet presAssocID="{DEB5A818-8580-4EFE-AC5F-F656517A4087}" presName="hierChild4" presStyleCnt="0"/>
      <dgm:spPr/>
    </dgm:pt>
    <dgm:pt modelId="{7941678C-826A-40D1-ABC8-EF4014439422}" type="pres">
      <dgm:prSet presAssocID="{996A333F-5F3A-4F19-8555-631803C385FF}" presName="Name37" presStyleLbl="parChTrans1D3" presStyleIdx="5" presStyleCnt="9"/>
      <dgm:spPr/>
    </dgm:pt>
    <dgm:pt modelId="{B786FDB5-174A-453C-AADB-5D16823B00C6}" type="pres">
      <dgm:prSet presAssocID="{BBA6BB66-2C05-4EC2-83A0-F94E6253D46E}" presName="hierRoot2" presStyleCnt="0">
        <dgm:presLayoutVars>
          <dgm:hierBranch val="init"/>
        </dgm:presLayoutVars>
      </dgm:prSet>
      <dgm:spPr/>
    </dgm:pt>
    <dgm:pt modelId="{C1348845-C027-4259-947F-769DD921F649}" type="pres">
      <dgm:prSet presAssocID="{BBA6BB66-2C05-4EC2-83A0-F94E6253D46E}" presName="rootComposite" presStyleCnt="0"/>
      <dgm:spPr/>
    </dgm:pt>
    <dgm:pt modelId="{3340AC50-D557-4F69-B212-B2664F4E9193}" type="pres">
      <dgm:prSet presAssocID="{BBA6BB66-2C05-4EC2-83A0-F94E6253D46E}" presName="rootText" presStyleLbl="node3" presStyleIdx="5" presStyleCnt="9">
        <dgm:presLayoutVars>
          <dgm:chPref val="3"/>
        </dgm:presLayoutVars>
      </dgm:prSet>
      <dgm:spPr/>
    </dgm:pt>
    <dgm:pt modelId="{DECE1CBF-0651-49A1-8FCB-3C9F05BCEAA5}" type="pres">
      <dgm:prSet presAssocID="{BBA6BB66-2C05-4EC2-83A0-F94E6253D46E}" presName="rootConnector" presStyleLbl="node3" presStyleIdx="5" presStyleCnt="9"/>
      <dgm:spPr/>
    </dgm:pt>
    <dgm:pt modelId="{02FE7AB4-9460-44DB-A8C3-35032E0147BD}" type="pres">
      <dgm:prSet presAssocID="{BBA6BB66-2C05-4EC2-83A0-F94E6253D46E}" presName="hierChild4" presStyleCnt="0"/>
      <dgm:spPr/>
    </dgm:pt>
    <dgm:pt modelId="{77BA7EC7-E89D-4582-9CD9-1AD6EACA18CE}" type="pres">
      <dgm:prSet presAssocID="{BBA6BB66-2C05-4EC2-83A0-F94E6253D46E}" presName="hierChild5" presStyleCnt="0"/>
      <dgm:spPr/>
    </dgm:pt>
    <dgm:pt modelId="{3E2D4C08-E293-4D1C-ADB0-CF48C6A82932}" type="pres">
      <dgm:prSet presAssocID="{C8DC81FD-AAD9-4CCF-A93E-F4F558814B7F}" presName="Name37" presStyleLbl="parChTrans1D3" presStyleIdx="6" presStyleCnt="9"/>
      <dgm:spPr/>
    </dgm:pt>
    <dgm:pt modelId="{09F938D7-3270-4B3D-B37E-9E3A107C8019}" type="pres">
      <dgm:prSet presAssocID="{FDDA7B84-FD63-40BE-9130-97AE6239C4CB}" presName="hierRoot2" presStyleCnt="0">
        <dgm:presLayoutVars>
          <dgm:hierBranch val="init"/>
        </dgm:presLayoutVars>
      </dgm:prSet>
      <dgm:spPr/>
    </dgm:pt>
    <dgm:pt modelId="{66F44EEB-476B-4E3E-8C0C-590E50B6DA39}" type="pres">
      <dgm:prSet presAssocID="{FDDA7B84-FD63-40BE-9130-97AE6239C4CB}" presName="rootComposite" presStyleCnt="0"/>
      <dgm:spPr/>
    </dgm:pt>
    <dgm:pt modelId="{522D5E24-DB41-476B-9A1F-06F7D70543B0}" type="pres">
      <dgm:prSet presAssocID="{FDDA7B84-FD63-40BE-9130-97AE6239C4CB}" presName="rootText" presStyleLbl="node3" presStyleIdx="6" presStyleCnt="9">
        <dgm:presLayoutVars>
          <dgm:chPref val="3"/>
        </dgm:presLayoutVars>
      </dgm:prSet>
      <dgm:spPr/>
    </dgm:pt>
    <dgm:pt modelId="{8B7F5C0B-2461-4831-B977-EC5B01657B5B}" type="pres">
      <dgm:prSet presAssocID="{FDDA7B84-FD63-40BE-9130-97AE6239C4CB}" presName="rootConnector" presStyleLbl="node3" presStyleIdx="6" presStyleCnt="9"/>
      <dgm:spPr/>
    </dgm:pt>
    <dgm:pt modelId="{D2A61B19-4B4F-44F8-A928-AFA28DE4A69E}" type="pres">
      <dgm:prSet presAssocID="{FDDA7B84-FD63-40BE-9130-97AE6239C4CB}" presName="hierChild4" presStyleCnt="0"/>
      <dgm:spPr/>
    </dgm:pt>
    <dgm:pt modelId="{CEA5F5F7-C306-41A4-93E6-FC54C6E50B34}" type="pres">
      <dgm:prSet presAssocID="{FDDA7B84-FD63-40BE-9130-97AE6239C4CB}" presName="hierChild5" presStyleCnt="0"/>
      <dgm:spPr/>
    </dgm:pt>
    <dgm:pt modelId="{0EE0B623-50AE-4829-8F9F-1596EA7970C4}" type="pres">
      <dgm:prSet presAssocID="{C96C4B5A-8554-4D29-AC64-2ED2AFC421BC}" presName="Name37" presStyleLbl="parChTrans1D3" presStyleIdx="7" presStyleCnt="9"/>
      <dgm:spPr/>
    </dgm:pt>
    <dgm:pt modelId="{6E034814-3B8C-434B-A9FD-7BFC4060F958}" type="pres">
      <dgm:prSet presAssocID="{51803571-7219-405D-9E17-724FBE3F487B}" presName="hierRoot2" presStyleCnt="0">
        <dgm:presLayoutVars>
          <dgm:hierBranch val="init"/>
        </dgm:presLayoutVars>
      </dgm:prSet>
      <dgm:spPr/>
    </dgm:pt>
    <dgm:pt modelId="{732EFFAF-7663-45F8-A420-7F97BF30354E}" type="pres">
      <dgm:prSet presAssocID="{51803571-7219-405D-9E17-724FBE3F487B}" presName="rootComposite" presStyleCnt="0"/>
      <dgm:spPr/>
    </dgm:pt>
    <dgm:pt modelId="{840230FD-BAFF-4A53-BF56-6C7991DDAF6C}" type="pres">
      <dgm:prSet presAssocID="{51803571-7219-405D-9E17-724FBE3F487B}" presName="rootText" presStyleLbl="node3" presStyleIdx="7" presStyleCnt="9">
        <dgm:presLayoutVars>
          <dgm:chPref val="3"/>
        </dgm:presLayoutVars>
      </dgm:prSet>
      <dgm:spPr/>
    </dgm:pt>
    <dgm:pt modelId="{F370E7D3-43E0-4B73-AE88-93F49E82CEF2}" type="pres">
      <dgm:prSet presAssocID="{51803571-7219-405D-9E17-724FBE3F487B}" presName="rootConnector" presStyleLbl="node3" presStyleIdx="7" presStyleCnt="9"/>
      <dgm:spPr/>
    </dgm:pt>
    <dgm:pt modelId="{B636AE93-090B-48A0-9E28-39C313086B78}" type="pres">
      <dgm:prSet presAssocID="{51803571-7219-405D-9E17-724FBE3F487B}" presName="hierChild4" presStyleCnt="0"/>
      <dgm:spPr/>
    </dgm:pt>
    <dgm:pt modelId="{04E3648B-401B-4CA8-8DDD-02671D241A74}" type="pres">
      <dgm:prSet presAssocID="{51803571-7219-405D-9E17-724FBE3F487B}" presName="hierChild5" presStyleCnt="0"/>
      <dgm:spPr/>
    </dgm:pt>
    <dgm:pt modelId="{F7D63FEC-5E01-4B1F-9422-983B324A85B7}" type="pres">
      <dgm:prSet presAssocID="{DEB5A818-8580-4EFE-AC5F-F656517A4087}" presName="hierChild5" presStyleCnt="0"/>
      <dgm:spPr/>
    </dgm:pt>
    <dgm:pt modelId="{6DB02DB2-39CA-456C-8A26-A58E6463CBA2}" type="pres">
      <dgm:prSet presAssocID="{1D3EAC51-A1E4-4500-9DA7-DA1EC9B33A61}" presName="Name37" presStyleLbl="parChTrans1D2" presStyleIdx="2" presStyleCnt="3"/>
      <dgm:spPr/>
    </dgm:pt>
    <dgm:pt modelId="{21413CF1-C8B1-4AD4-9551-EEDF55D677F5}" type="pres">
      <dgm:prSet presAssocID="{B005DA5E-CCC9-4070-8F5D-B54121EAE77E}" presName="hierRoot2" presStyleCnt="0">
        <dgm:presLayoutVars>
          <dgm:hierBranch val="init"/>
        </dgm:presLayoutVars>
      </dgm:prSet>
      <dgm:spPr/>
    </dgm:pt>
    <dgm:pt modelId="{7BF83F2B-CB54-4573-A92B-D06307420390}" type="pres">
      <dgm:prSet presAssocID="{B005DA5E-CCC9-4070-8F5D-B54121EAE77E}" presName="rootComposite" presStyleCnt="0"/>
      <dgm:spPr/>
    </dgm:pt>
    <dgm:pt modelId="{0531CC85-4BE4-42BB-9941-0C23265DA432}" type="pres">
      <dgm:prSet presAssocID="{B005DA5E-CCC9-4070-8F5D-B54121EAE77E}" presName="rootText" presStyleLbl="node2" presStyleIdx="2" presStyleCnt="3">
        <dgm:presLayoutVars>
          <dgm:chPref val="3"/>
        </dgm:presLayoutVars>
      </dgm:prSet>
      <dgm:spPr/>
    </dgm:pt>
    <dgm:pt modelId="{94ABD043-34BB-4947-9D8F-9E42F0AE9728}" type="pres">
      <dgm:prSet presAssocID="{B005DA5E-CCC9-4070-8F5D-B54121EAE77E}" presName="rootConnector" presStyleLbl="node2" presStyleIdx="2" presStyleCnt="3"/>
      <dgm:spPr/>
    </dgm:pt>
    <dgm:pt modelId="{194E6023-D233-41B9-8818-FF7EF3581D9B}" type="pres">
      <dgm:prSet presAssocID="{B005DA5E-CCC9-4070-8F5D-B54121EAE77E}" presName="hierChild4" presStyleCnt="0"/>
      <dgm:spPr/>
    </dgm:pt>
    <dgm:pt modelId="{61BCD7EF-CA6D-4330-8B1D-0C2B64BCF9C6}" type="pres">
      <dgm:prSet presAssocID="{EB750181-CB0C-4F01-AD10-E2C75112487B}" presName="Name37" presStyleLbl="parChTrans1D3" presStyleIdx="8" presStyleCnt="9"/>
      <dgm:spPr/>
    </dgm:pt>
    <dgm:pt modelId="{BC7085DD-01A6-41FB-B637-2F842EB1A7B8}" type="pres">
      <dgm:prSet presAssocID="{7CA7396C-1FDD-4B70-B225-A9F3A40066B1}" presName="hierRoot2" presStyleCnt="0">
        <dgm:presLayoutVars>
          <dgm:hierBranch val="init"/>
        </dgm:presLayoutVars>
      </dgm:prSet>
      <dgm:spPr/>
    </dgm:pt>
    <dgm:pt modelId="{6CB2B104-6E5E-4235-AAD2-83C716650D68}" type="pres">
      <dgm:prSet presAssocID="{7CA7396C-1FDD-4B70-B225-A9F3A40066B1}" presName="rootComposite" presStyleCnt="0"/>
      <dgm:spPr/>
    </dgm:pt>
    <dgm:pt modelId="{01628E2D-9115-4C9F-B46C-20A5CA6CB030}" type="pres">
      <dgm:prSet presAssocID="{7CA7396C-1FDD-4B70-B225-A9F3A40066B1}" presName="rootText" presStyleLbl="node3" presStyleIdx="8" presStyleCnt="9">
        <dgm:presLayoutVars>
          <dgm:chPref val="3"/>
        </dgm:presLayoutVars>
      </dgm:prSet>
      <dgm:spPr/>
    </dgm:pt>
    <dgm:pt modelId="{41497914-7BE4-4FA0-B3C7-A710AA046A8F}" type="pres">
      <dgm:prSet presAssocID="{7CA7396C-1FDD-4B70-B225-A9F3A40066B1}" presName="rootConnector" presStyleLbl="node3" presStyleIdx="8" presStyleCnt="9"/>
      <dgm:spPr/>
    </dgm:pt>
    <dgm:pt modelId="{DE9A41B5-9C1B-435E-AA8D-A2F097A30214}" type="pres">
      <dgm:prSet presAssocID="{7CA7396C-1FDD-4B70-B225-A9F3A40066B1}" presName="hierChild4" presStyleCnt="0"/>
      <dgm:spPr/>
    </dgm:pt>
    <dgm:pt modelId="{D763CFBC-50D0-4C25-959F-1EE02E984F26}" type="pres">
      <dgm:prSet presAssocID="{7CA7396C-1FDD-4B70-B225-A9F3A40066B1}" presName="hierChild5" presStyleCnt="0"/>
      <dgm:spPr/>
    </dgm:pt>
    <dgm:pt modelId="{B72A9876-750F-440F-935F-B600D92956E1}" type="pres">
      <dgm:prSet presAssocID="{B005DA5E-CCC9-4070-8F5D-B54121EAE77E}" presName="hierChild5" presStyleCnt="0"/>
      <dgm:spPr/>
    </dgm:pt>
    <dgm:pt modelId="{8FD7435C-8313-43F3-A6C0-6333D5658AAA}" type="pres">
      <dgm:prSet presAssocID="{BF24045A-56AE-43B0-BED8-A6ED87CA5F6C}" presName="hierChild3" presStyleCnt="0"/>
      <dgm:spPr/>
    </dgm:pt>
  </dgm:ptLst>
  <dgm:cxnLst>
    <dgm:cxn modelId="{5CF08705-1E81-47AC-81DD-C3F9D5E4B795}" type="presOf" srcId="{DEB5A818-8580-4EFE-AC5F-F656517A4087}" destId="{DD703DA6-860C-40BF-8970-F1CE9C9B4B2C}" srcOrd="1" destOrd="0" presId="urn:microsoft.com/office/officeart/2005/8/layout/orgChart1"/>
    <dgm:cxn modelId="{060BAD05-23B1-4F84-B508-EFCD7BC19116}" type="presOf" srcId="{B005DA5E-CCC9-4070-8F5D-B54121EAE77E}" destId="{0531CC85-4BE4-42BB-9941-0C23265DA432}" srcOrd="0" destOrd="0" presId="urn:microsoft.com/office/officeart/2005/8/layout/orgChart1"/>
    <dgm:cxn modelId="{3EE57F07-E8AD-47FF-BC1E-28B0C20E8C2E}" srcId="{FBB9131E-A862-494A-ABEA-D48B12FB585E}" destId="{7142D02C-E4E5-4E56-80A5-B77DE4124DC6}" srcOrd="0" destOrd="0" parTransId="{CB90EEA7-9B7F-4749-8ACF-783AC5975F93}" sibTransId="{B6818093-5E42-4B47-8312-77D9CA4A5288}"/>
    <dgm:cxn modelId="{7F200808-E984-4FD7-B4E5-9F3AB6ACD5CC}" type="presOf" srcId="{7CA7396C-1FDD-4B70-B225-A9F3A40066B1}" destId="{41497914-7BE4-4FA0-B3C7-A710AA046A8F}" srcOrd="1" destOrd="0" presId="urn:microsoft.com/office/officeart/2005/8/layout/orgChart1"/>
    <dgm:cxn modelId="{5784DE08-6210-4F3F-9A71-7D1C5B7DE4B0}" srcId="{FBB9131E-A862-494A-ABEA-D48B12FB585E}" destId="{E2DEE554-86E6-44A8-841E-FC33D345200F}" srcOrd="1" destOrd="0" parTransId="{9211C432-4984-4462-BD62-FAA7A7F8E883}" sibTransId="{E30DAAE0-7974-47B2-BAC8-0793E1AA9486}"/>
    <dgm:cxn modelId="{1D528309-491E-4EE1-AA94-A7BDDEA35BEC}" srcId="{B1A1A9B8-5CE2-4F8C-BDC5-9E45C5628CB8}" destId="{BF24045A-56AE-43B0-BED8-A6ED87CA5F6C}" srcOrd="0" destOrd="0" parTransId="{6DD15889-239B-4CF6-8F09-F246A02F954E}" sibTransId="{6DDBF0E6-745E-4B4E-94C3-5699A5E322CE}"/>
    <dgm:cxn modelId="{94459D0F-4C96-47D2-B0BA-7009141CA7B3}" type="presOf" srcId="{BBA6BB66-2C05-4EC2-83A0-F94E6253D46E}" destId="{3340AC50-D557-4F69-B212-B2664F4E9193}" srcOrd="0" destOrd="0" presId="urn:microsoft.com/office/officeart/2005/8/layout/orgChart1"/>
    <dgm:cxn modelId="{B6D99A12-1328-464C-872D-1A124FDEB35F}" srcId="{BF24045A-56AE-43B0-BED8-A6ED87CA5F6C}" destId="{B005DA5E-CCC9-4070-8F5D-B54121EAE77E}" srcOrd="2" destOrd="0" parTransId="{1D3EAC51-A1E4-4500-9DA7-DA1EC9B33A61}" sibTransId="{A5D06D3A-687E-4ACC-A2FF-5A5FB1D98AEA}"/>
    <dgm:cxn modelId="{37CC0414-4342-4AD4-8751-6F0DA6C24836}" srcId="{DEB5A818-8580-4EFE-AC5F-F656517A4087}" destId="{51803571-7219-405D-9E17-724FBE3F487B}" srcOrd="2" destOrd="0" parTransId="{C96C4B5A-8554-4D29-AC64-2ED2AFC421BC}" sibTransId="{95B0F706-DABD-4A9D-8140-0CECC7C0E3D3}"/>
    <dgm:cxn modelId="{A6E7B219-0652-4627-9C3F-F4ACD7153433}" type="presOf" srcId="{CD130441-E081-457C-8344-33C9C50F118E}" destId="{A90CB850-3000-45F0-9A70-AC47EBC9421A}" srcOrd="0" destOrd="0" presId="urn:microsoft.com/office/officeart/2005/8/layout/orgChart1"/>
    <dgm:cxn modelId="{6A669821-4FE0-4C73-8F7B-4B1B2FF1CD00}" type="presOf" srcId="{B162AF46-C22D-4968-A2A5-62543BBE22E2}" destId="{D03D348F-E31B-4651-A45A-AC42E78F388F}" srcOrd="1" destOrd="0" presId="urn:microsoft.com/office/officeart/2005/8/layout/orgChart1"/>
    <dgm:cxn modelId="{B5DE0B2B-2F82-4FD6-9B0C-7AEB6AFFD4A2}" srcId="{B005DA5E-CCC9-4070-8F5D-B54121EAE77E}" destId="{7CA7396C-1FDD-4B70-B225-A9F3A40066B1}" srcOrd="0" destOrd="0" parTransId="{EB750181-CB0C-4F01-AD10-E2C75112487B}" sibTransId="{4B720BBE-F675-4E29-87FE-57F65CD9770C}"/>
    <dgm:cxn modelId="{9FB1A530-196E-4A70-9254-54960B136694}" type="presOf" srcId="{C8DC81FD-AAD9-4CCF-A93E-F4F558814B7F}" destId="{3E2D4C08-E293-4D1C-ADB0-CF48C6A82932}" srcOrd="0" destOrd="0" presId="urn:microsoft.com/office/officeart/2005/8/layout/orgChart1"/>
    <dgm:cxn modelId="{B94E5335-E4EA-4012-A623-ABCCD806E0FC}" type="presOf" srcId="{FBB9131E-A862-494A-ABEA-D48B12FB585E}" destId="{30696B27-0668-4893-A078-7AD6DCBAE600}" srcOrd="0" destOrd="0" presId="urn:microsoft.com/office/officeart/2005/8/layout/orgChart1"/>
    <dgm:cxn modelId="{144BDB35-5CA2-4D73-BB8C-6CA21E01F4D8}" srcId="{DEB5A818-8580-4EFE-AC5F-F656517A4087}" destId="{FDDA7B84-FD63-40BE-9130-97AE6239C4CB}" srcOrd="1" destOrd="0" parTransId="{C8DC81FD-AAD9-4CCF-A93E-F4F558814B7F}" sibTransId="{175CC0EA-2895-43C0-9733-1D6A0349B000}"/>
    <dgm:cxn modelId="{7478893D-931A-4A0E-A818-C8103B6D432D}" type="presOf" srcId="{CCBC8F0D-6137-4885-85DD-75556DCB040E}" destId="{0732785C-F25E-47B4-B5B1-C945A953C5BD}" srcOrd="1" destOrd="0" presId="urn:microsoft.com/office/officeart/2005/8/layout/orgChart1"/>
    <dgm:cxn modelId="{C775C73E-1F68-4DD0-8301-BB1A175D814B}" type="presOf" srcId="{FDDA7B84-FD63-40BE-9130-97AE6239C4CB}" destId="{8B7F5C0B-2461-4831-B977-EC5B01657B5B}" srcOrd="1" destOrd="0" presId="urn:microsoft.com/office/officeart/2005/8/layout/orgChart1"/>
    <dgm:cxn modelId="{6607EA3F-C20D-4D4D-B5E3-EC16DE91FD6A}" type="presOf" srcId="{996A333F-5F3A-4F19-8555-631803C385FF}" destId="{7941678C-826A-40D1-ABC8-EF4014439422}" srcOrd="0" destOrd="0" presId="urn:microsoft.com/office/officeart/2005/8/layout/orgChart1"/>
    <dgm:cxn modelId="{9B9F3E5D-A6C3-4D0C-A535-915F4CE5754C}" type="presOf" srcId="{F0908628-966B-4035-88DB-6EBD32163C5B}" destId="{5B5C7259-1FA4-491D-B2BE-243B9C047E9E}" srcOrd="0" destOrd="0" presId="urn:microsoft.com/office/officeart/2005/8/layout/orgChart1"/>
    <dgm:cxn modelId="{B1BAAB5E-7EE5-447B-8FE1-F60D035457BB}" type="presOf" srcId="{E2DEE554-86E6-44A8-841E-FC33D345200F}" destId="{A52FF806-147D-4EC9-9FED-0C44EB054C4A}" srcOrd="1" destOrd="0" presId="urn:microsoft.com/office/officeart/2005/8/layout/orgChart1"/>
    <dgm:cxn modelId="{3DE0E142-8B25-4406-AA5B-BE4DBA82BD81}" srcId="{BF24045A-56AE-43B0-BED8-A6ED87CA5F6C}" destId="{DEB5A818-8580-4EFE-AC5F-F656517A4087}" srcOrd="1" destOrd="0" parTransId="{3BD6A61A-A091-427B-AEF5-B6853E1B54F1}" sibTransId="{6BBA69B8-2B59-4A96-839A-4AFE54163718}"/>
    <dgm:cxn modelId="{BD406744-7C75-43C5-8AFA-9A96E258B69E}" type="presOf" srcId="{C05102CE-893A-499F-B227-5F1A16D35C0D}" destId="{9AB4E749-B797-4C3C-B7C0-6EE1DC2D4685}" srcOrd="1" destOrd="0" presId="urn:microsoft.com/office/officeart/2005/8/layout/orgChart1"/>
    <dgm:cxn modelId="{1AE07164-2CE3-470E-A67B-AA36321BCA6E}" type="presOf" srcId="{C96C4B5A-8554-4D29-AC64-2ED2AFC421BC}" destId="{0EE0B623-50AE-4829-8F9F-1596EA7970C4}" srcOrd="0" destOrd="0" presId="urn:microsoft.com/office/officeart/2005/8/layout/orgChart1"/>
    <dgm:cxn modelId="{82D15C46-8ED5-4F90-B51F-FDE1A77140FF}" type="presOf" srcId="{E2DEE554-86E6-44A8-841E-FC33D345200F}" destId="{29212A2A-2B6E-4394-806D-8FD6055910AC}" srcOrd="0" destOrd="0" presId="urn:microsoft.com/office/officeart/2005/8/layout/orgChart1"/>
    <dgm:cxn modelId="{10C0FA66-79A4-41B9-A45A-550F97AC9A9A}" type="presOf" srcId="{3BD6A61A-A091-427B-AEF5-B6853E1B54F1}" destId="{ABEA2C9F-5C17-46D6-84BE-6A7BF4AFF40B}" srcOrd="0" destOrd="0" presId="urn:microsoft.com/office/officeart/2005/8/layout/orgChart1"/>
    <dgm:cxn modelId="{DF63C967-9BFE-4071-A410-CA9131E58F63}" type="presOf" srcId="{1D3EAC51-A1E4-4500-9DA7-DA1EC9B33A61}" destId="{6DB02DB2-39CA-456C-8A26-A58E6463CBA2}" srcOrd="0" destOrd="0" presId="urn:microsoft.com/office/officeart/2005/8/layout/orgChart1"/>
    <dgm:cxn modelId="{22C1F94C-0A93-43D7-BD84-5E5AC1BC485E}" type="presOf" srcId="{BBA6BB66-2C05-4EC2-83A0-F94E6253D46E}" destId="{DECE1CBF-0651-49A1-8FCB-3C9F05BCEAA5}" srcOrd="1" destOrd="0" presId="urn:microsoft.com/office/officeart/2005/8/layout/orgChart1"/>
    <dgm:cxn modelId="{550C0071-035C-4A5E-A4EA-6638CEC80835}" type="presOf" srcId="{9FFB6809-3DC7-497A-8034-939E54F80D08}" destId="{B4C59C37-93AB-49D3-AB04-70D89C6F7AA7}" srcOrd="0" destOrd="0" presId="urn:microsoft.com/office/officeart/2005/8/layout/orgChart1"/>
    <dgm:cxn modelId="{1C519171-9FF5-4850-8F96-05A3B20D03FF}" type="presOf" srcId="{51803571-7219-405D-9E17-724FBE3F487B}" destId="{F370E7D3-43E0-4B73-AE88-93F49E82CEF2}" srcOrd="1" destOrd="0" presId="urn:microsoft.com/office/officeart/2005/8/layout/orgChart1"/>
    <dgm:cxn modelId="{F7D4157E-A611-4E16-8F52-8EA336B893A9}" type="presOf" srcId="{DEB5A818-8580-4EFE-AC5F-F656517A4087}" destId="{104D1DCF-351B-447B-8457-5BBFD6B42680}" srcOrd="0" destOrd="0" presId="urn:microsoft.com/office/officeart/2005/8/layout/orgChart1"/>
    <dgm:cxn modelId="{6C559982-597B-44D0-B5A6-950B04AC1C3A}" type="presOf" srcId="{7142D02C-E4E5-4E56-80A5-B77DE4124DC6}" destId="{6D07EC6F-D2B3-4F5F-B7BE-C5BF8A5E4F79}" srcOrd="1" destOrd="0" presId="urn:microsoft.com/office/officeart/2005/8/layout/orgChart1"/>
    <dgm:cxn modelId="{8DDEAF83-FFB3-4ABE-BBEB-BCF2BCEC06B2}" type="presOf" srcId="{C05102CE-893A-499F-B227-5F1A16D35C0D}" destId="{513301BA-0254-42B8-B088-390108CC8620}" srcOrd="0" destOrd="0" presId="urn:microsoft.com/office/officeart/2005/8/layout/orgChart1"/>
    <dgm:cxn modelId="{89707C84-670E-4835-9C7D-96F8F9AC62E6}" type="presOf" srcId="{B1A1A9B8-5CE2-4F8C-BDC5-9E45C5628CB8}" destId="{3DB71D7F-3DA0-4D1F-9479-078B43FAFD07}" srcOrd="0" destOrd="0" presId="urn:microsoft.com/office/officeart/2005/8/layout/orgChart1"/>
    <dgm:cxn modelId="{9309A284-D386-4B57-9503-E44FB25C7F92}" type="presOf" srcId="{EB750181-CB0C-4F01-AD10-E2C75112487B}" destId="{61BCD7EF-CA6D-4330-8B1D-0C2B64BCF9C6}" srcOrd="0" destOrd="0" presId="urn:microsoft.com/office/officeart/2005/8/layout/orgChart1"/>
    <dgm:cxn modelId="{32D57788-0FDF-4A38-8B47-5040E0D3B7F5}" type="presOf" srcId="{BF24045A-56AE-43B0-BED8-A6ED87CA5F6C}" destId="{36E3547F-7521-4CCE-AA66-93B67033582D}" srcOrd="0" destOrd="0" presId="urn:microsoft.com/office/officeart/2005/8/layout/orgChart1"/>
    <dgm:cxn modelId="{B91D4893-1413-44BC-B44E-780547A72273}" type="presOf" srcId="{FDDA7B84-FD63-40BE-9130-97AE6239C4CB}" destId="{522D5E24-DB41-476B-9A1F-06F7D70543B0}" srcOrd="0" destOrd="0" presId="urn:microsoft.com/office/officeart/2005/8/layout/orgChart1"/>
    <dgm:cxn modelId="{411CA093-CA35-4303-B78B-7C7C62C1EBAD}" type="presOf" srcId="{BF24045A-56AE-43B0-BED8-A6ED87CA5F6C}" destId="{F9A462A4-B19B-4ACF-B72B-17F617980EAD}" srcOrd="1" destOrd="0" presId="urn:microsoft.com/office/officeart/2005/8/layout/orgChart1"/>
    <dgm:cxn modelId="{EE129395-F23A-42C4-ADAE-DDCEAB1E345E}" srcId="{FBB9131E-A862-494A-ABEA-D48B12FB585E}" destId="{C05102CE-893A-499F-B227-5F1A16D35C0D}" srcOrd="2" destOrd="0" parTransId="{3AD78536-FB36-45AC-B50C-48D245C74991}" sibTransId="{BBA2CCD5-D77C-4E33-AB54-6AECF636BD1B}"/>
    <dgm:cxn modelId="{F5031DA1-5082-429A-965F-38D6AAA4DDC4}" type="presOf" srcId="{3AD78536-FB36-45AC-B50C-48D245C74991}" destId="{1B19B215-B6E9-4337-A983-8F432941D46F}" srcOrd="0" destOrd="0" presId="urn:microsoft.com/office/officeart/2005/8/layout/orgChart1"/>
    <dgm:cxn modelId="{E84A44A6-B8F2-4932-B2CE-CE17C805B02A}" type="presOf" srcId="{7142D02C-E4E5-4E56-80A5-B77DE4124DC6}" destId="{F433F8D2-051F-4A25-9FB5-7E91FC78A773}" srcOrd="0" destOrd="0" presId="urn:microsoft.com/office/officeart/2005/8/layout/orgChart1"/>
    <dgm:cxn modelId="{54391AAC-7978-499A-9A0B-972162076352}" type="presOf" srcId="{CCBC8F0D-6137-4885-85DD-75556DCB040E}" destId="{3EAC7351-3843-46A4-924C-B6613AAE8F8E}" srcOrd="0" destOrd="0" presId="urn:microsoft.com/office/officeart/2005/8/layout/orgChart1"/>
    <dgm:cxn modelId="{F5DD58AF-E212-4573-A734-49DB1E01AA5D}" type="presOf" srcId="{B005DA5E-CCC9-4070-8F5D-B54121EAE77E}" destId="{94ABD043-34BB-4947-9D8F-9E42F0AE9728}" srcOrd="1" destOrd="0" presId="urn:microsoft.com/office/officeart/2005/8/layout/orgChart1"/>
    <dgm:cxn modelId="{C185C4BB-8A41-48D1-9DC6-778DA9850A1F}" type="presOf" srcId="{B162AF46-C22D-4968-A2A5-62543BBE22E2}" destId="{ADB5D4B2-2F36-44CF-A2EC-F07125B71179}" srcOrd="0" destOrd="0" presId="urn:microsoft.com/office/officeart/2005/8/layout/orgChart1"/>
    <dgm:cxn modelId="{A30CDCC4-32B7-42D7-A794-DE2BA7807018}" srcId="{FBB9131E-A862-494A-ABEA-D48B12FB585E}" destId="{B162AF46-C22D-4968-A2A5-62543BBE22E2}" srcOrd="4" destOrd="0" parTransId="{CD130441-E081-457C-8344-33C9C50F118E}" sibTransId="{E77B0A6A-A61D-4588-BFD8-A6AE2283A9EB}"/>
    <dgm:cxn modelId="{EF8AAFC6-A4DD-4FF4-AD92-E65416406838}" srcId="{BF24045A-56AE-43B0-BED8-A6ED87CA5F6C}" destId="{FBB9131E-A862-494A-ABEA-D48B12FB585E}" srcOrd="0" destOrd="0" parTransId="{9FFB6809-3DC7-497A-8034-939E54F80D08}" sibTransId="{532A5A68-ECDA-497D-A147-49C62B21ACF7}"/>
    <dgm:cxn modelId="{240461C8-FCB3-46E7-8C3E-96DF422408B1}" type="presOf" srcId="{FBB9131E-A862-494A-ABEA-D48B12FB585E}" destId="{8DA95EAD-D75E-49ED-921D-4AE14E3CAF89}" srcOrd="1" destOrd="0" presId="urn:microsoft.com/office/officeart/2005/8/layout/orgChart1"/>
    <dgm:cxn modelId="{7EBC17CD-A74A-48F3-A3FD-B2F718C71DFC}" srcId="{FBB9131E-A862-494A-ABEA-D48B12FB585E}" destId="{CCBC8F0D-6137-4885-85DD-75556DCB040E}" srcOrd="3" destOrd="0" parTransId="{F0908628-966B-4035-88DB-6EBD32163C5B}" sibTransId="{3BEE4C61-36C5-435A-BA1F-A60CF6681528}"/>
    <dgm:cxn modelId="{EAF97CD3-9467-49EC-8A7D-FD912006B736}" type="presOf" srcId="{9211C432-4984-4462-BD62-FAA7A7F8E883}" destId="{A007763C-06CC-4559-B988-FDCAE8BFFFDA}" srcOrd="0" destOrd="0" presId="urn:microsoft.com/office/officeart/2005/8/layout/orgChart1"/>
    <dgm:cxn modelId="{986C65DE-0CF5-430C-BABB-13FE0BBBBF5F}" type="presOf" srcId="{7CA7396C-1FDD-4B70-B225-A9F3A40066B1}" destId="{01628E2D-9115-4C9F-B46C-20A5CA6CB030}" srcOrd="0" destOrd="0" presId="urn:microsoft.com/office/officeart/2005/8/layout/orgChart1"/>
    <dgm:cxn modelId="{0F2CDBE7-2A98-4168-BBB9-40700EE3B79A}" type="presOf" srcId="{51803571-7219-405D-9E17-724FBE3F487B}" destId="{840230FD-BAFF-4A53-BF56-6C7991DDAF6C}" srcOrd="0" destOrd="0" presId="urn:microsoft.com/office/officeart/2005/8/layout/orgChart1"/>
    <dgm:cxn modelId="{4B0ADFF6-0698-4272-8CBB-5A4B43272EB6}" type="presOf" srcId="{CB90EEA7-9B7F-4749-8ACF-783AC5975F93}" destId="{37E9C4D5-06EA-407E-A36A-3C018BE94637}" srcOrd="0" destOrd="0" presId="urn:microsoft.com/office/officeart/2005/8/layout/orgChart1"/>
    <dgm:cxn modelId="{E0B448FE-9EE5-435C-BD60-C8BE785C694C}" srcId="{DEB5A818-8580-4EFE-AC5F-F656517A4087}" destId="{BBA6BB66-2C05-4EC2-83A0-F94E6253D46E}" srcOrd="0" destOrd="0" parTransId="{996A333F-5F3A-4F19-8555-631803C385FF}" sibTransId="{8ECF8F13-64C8-4E6C-BEFB-364DF2E6CE89}"/>
    <dgm:cxn modelId="{156FAD08-822B-4AC3-BA9B-F90CA45FC0E9}" type="presParOf" srcId="{3DB71D7F-3DA0-4D1F-9479-078B43FAFD07}" destId="{5FB81A70-74D5-4981-A5AC-45EE62D37FB0}" srcOrd="0" destOrd="0" presId="urn:microsoft.com/office/officeart/2005/8/layout/orgChart1"/>
    <dgm:cxn modelId="{5AFC6B32-A285-4FF0-85DA-198DD8793975}" type="presParOf" srcId="{5FB81A70-74D5-4981-A5AC-45EE62D37FB0}" destId="{6ECAB72D-6486-4720-95B3-324A0E5E2BB8}" srcOrd="0" destOrd="0" presId="urn:microsoft.com/office/officeart/2005/8/layout/orgChart1"/>
    <dgm:cxn modelId="{5FC6941F-9A2A-4F7D-B952-CF7D060C1A1E}" type="presParOf" srcId="{6ECAB72D-6486-4720-95B3-324A0E5E2BB8}" destId="{36E3547F-7521-4CCE-AA66-93B67033582D}" srcOrd="0" destOrd="0" presId="urn:microsoft.com/office/officeart/2005/8/layout/orgChart1"/>
    <dgm:cxn modelId="{4237B926-B4BC-49E9-9648-589EFC3C1F8C}" type="presParOf" srcId="{6ECAB72D-6486-4720-95B3-324A0E5E2BB8}" destId="{F9A462A4-B19B-4ACF-B72B-17F617980EAD}" srcOrd="1" destOrd="0" presId="urn:microsoft.com/office/officeart/2005/8/layout/orgChart1"/>
    <dgm:cxn modelId="{A8C8D553-13B3-4124-B9A0-FF5E3B1BD4F6}" type="presParOf" srcId="{5FB81A70-74D5-4981-A5AC-45EE62D37FB0}" destId="{408910D9-AFE0-4B6D-82AB-5E1DC75342BA}" srcOrd="1" destOrd="0" presId="urn:microsoft.com/office/officeart/2005/8/layout/orgChart1"/>
    <dgm:cxn modelId="{CC13F6FA-CC20-43D6-82C0-06340F78E599}" type="presParOf" srcId="{408910D9-AFE0-4B6D-82AB-5E1DC75342BA}" destId="{B4C59C37-93AB-49D3-AB04-70D89C6F7AA7}" srcOrd="0" destOrd="0" presId="urn:microsoft.com/office/officeart/2005/8/layout/orgChart1"/>
    <dgm:cxn modelId="{8B2E6A99-BB93-497F-8642-C32CD753027D}" type="presParOf" srcId="{408910D9-AFE0-4B6D-82AB-5E1DC75342BA}" destId="{CBFF33EB-1162-4FFF-B60E-EA0314E99DE4}" srcOrd="1" destOrd="0" presId="urn:microsoft.com/office/officeart/2005/8/layout/orgChart1"/>
    <dgm:cxn modelId="{57A2705E-624A-4653-97C5-F8FF892BC1E5}" type="presParOf" srcId="{CBFF33EB-1162-4FFF-B60E-EA0314E99DE4}" destId="{1FB9EE8A-97D8-4A1F-9A20-A4B080A49E02}" srcOrd="0" destOrd="0" presId="urn:microsoft.com/office/officeart/2005/8/layout/orgChart1"/>
    <dgm:cxn modelId="{DF262BCF-C021-4E16-A1DD-DC574B489710}" type="presParOf" srcId="{1FB9EE8A-97D8-4A1F-9A20-A4B080A49E02}" destId="{30696B27-0668-4893-A078-7AD6DCBAE600}" srcOrd="0" destOrd="0" presId="urn:microsoft.com/office/officeart/2005/8/layout/orgChart1"/>
    <dgm:cxn modelId="{98A29180-8383-44AC-BB55-1F5A5E7959CB}" type="presParOf" srcId="{1FB9EE8A-97D8-4A1F-9A20-A4B080A49E02}" destId="{8DA95EAD-D75E-49ED-921D-4AE14E3CAF89}" srcOrd="1" destOrd="0" presId="urn:microsoft.com/office/officeart/2005/8/layout/orgChart1"/>
    <dgm:cxn modelId="{950C07AD-933F-43B8-A2CB-A0328B74E2EA}" type="presParOf" srcId="{CBFF33EB-1162-4FFF-B60E-EA0314E99DE4}" destId="{76462254-BC09-44DA-BDE7-E9A63D36BC31}" srcOrd="1" destOrd="0" presId="urn:microsoft.com/office/officeart/2005/8/layout/orgChart1"/>
    <dgm:cxn modelId="{5BD13CB9-D3BC-4225-8EC5-F722C6FCFA7A}" type="presParOf" srcId="{76462254-BC09-44DA-BDE7-E9A63D36BC31}" destId="{37E9C4D5-06EA-407E-A36A-3C018BE94637}" srcOrd="0" destOrd="0" presId="urn:microsoft.com/office/officeart/2005/8/layout/orgChart1"/>
    <dgm:cxn modelId="{AF1D617C-2CF2-4C0A-BAFC-CAA291978AA3}" type="presParOf" srcId="{76462254-BC09-44DA-BDE7-E9A63D36BC31}" destId="{B19F6305-FD7B-4845-9715-B12CFF20E111}" srcOrd="1" destOrd="0" presId="urn:microsoft.com/office/officeart/2005/8/layout/orgChart1"/>
    <dgm:cxn modelId="{C7BD5930-32F6-4909-B9FB-7B30C0FF82D8}" type="presParOf" srcId="{B19F6305-FD7B-4845-9715-B12CFF20E111}" destId="{B924A4FA-1A5B-4181-B060-76467E9ECA50}" srcOrd="0" destOrd="0" presId="urn:microsoft.com/office/officeart/2005/8/layout/orgChart1"/>
    <dgm:cxn modelId="{02F35A74-4667-455E-A476-4D011F32619D}" type="presParOf" srcId="{B924A4FA-1A5B-4181-B060-76467E9ECA50}" destId="{F433F8D2-051F-4A25-9FB5-7E91FC78A773}" srcOrd="0" destOrd="0" presId="urn:microsoft.com/office/officeart/2005/8/layout/orgChart1"/>
    <dgm:cxn modelId="{7E3CF806-2DFF-4A40-9B11-A652F7BAC403}" type="presParOf" srcId="{B924A4FA-1A5B-4181-B060-76467E9ECA50}" destId="{6D07EC6F-D2B3-4F5F-B7BE-C5BF8A5E4F79}" srcOrd="1" destOrd="0" presId="urn:microsoft.com/office/officeart/2005/8/layout/orgChart1"/>
    <dgm:cxn modelId="{35EF438B-DB70-42E1-B3A9-FDC99312386D}" type="presParOf" srcId="{B19F6305-FD7B-4845-9715-B12CFF20E111}" destId="{67E8B4BA-7D11-48BC-A23B-DA1F3079D4E9}" srcOrd="1" destOrd="0" presId="urn:microsoft.com/office/officeart/2005/8/layout/orgChart1"/>
    <dgm:cxn modelId="{BBAA64F2-37F4-4993-BB70-D7763DACFB70}" type="presParOf" srcId="{B19F6305-FD7B-4845-9715-B12CFF20E111}" destId="{26907DF7-AF0C-4AA8-AF4F-8844A6388A2E}" srcOrd="2" destOrd="0" presId="urn:microsoft.com/office/officeart/2005/8/layout/orgChart1"/>
    <dgm:cxn modelId="{166EF2AC-8491-47BC-9543-5B88640B94E0}" type="presParOf" srcId="{76462254-BC09-44DA-BDE7-E9A63D36BC31}" destId="{A007763C-06CC-4559-B988-FDCAE8BFFFDA}" srcOrd="2" destOrd="0" presId="urn:microsoft.com/office/officeart/2005/8/layout/orgChart1"/>
    <dgm:cxn modelId="{25AB42B1-CE36-4F33-9190-2468E9C50435}" type="presParOf" srcId="{76462254-BC09-44DA-BDE7-E9A63D36BC31}" destId="{08F2C2C9-9666-48C2-A1A4-E9CC88969008}" srcOrd="3" destOrd="0" presId="urn:microsoft.com/office/officeart/2005/8/layout/orgChart1"/>
    <dgm:cxn modelId="{B9A13CE0-8D78-462B-A3E8-30AF57662A26}" type="presParOf" srcId="{08F2C2C9-9666-48C2-A1A4-E9CC88969008}" destId="{B7A7B2CB-20B7-4D5F-AD1A-09B3AC331782}" srcOrd="0" destOrd="0" presId="urn:microsoft.com/office/officeart/2005/8/layout/orgChart1"/>
    <dgm:cxn modelId="{7DF761A9-197B-4F30-93E5-A75EDDAE09D4}" type="presParOf" srcId="{B7A7B2CB-20B7-4D5F-AD1A-09B3AC331782}" destId="{29212A2A-2B6E-4394-806D-8FD6055910AC}" srcOrd="0" destOrd="0" presId="urn:microsoft.com/office/officeart/2005/8/layout/orgChart1"/>
    <dgm:cxn modelId="{57B29F1C-4803-4A20-B36D-98287041B1D0}" type="presParOf" srcId="{B7A7B2CB-20B7-4D5F-AD1A-09B3AC331782}" destId="{A52FF806-147D-4EC9-9FED-0C44EB054C4A}" srcOrd="1" destOrd="0" presId="urn:microsoft.com/office/officeart/2005/8/layout/orgChart1"/>
    <dgm:cxn modelId="{4AF1F0CE-D9FA-4031-9379-DAE397DD5878}" type="presParOf" srcId="{08F2C2C9-9666-48C2-A1A4-E9CC88969008}" destId="{1A8B98D8-9AD5-488E-A77E-F7703C739C51}" srcOrd="1" destOrd="0" presId="urn:microsoft.com/office/officeart/2005/8/layout/orgChart1"/>
    <dgm:cxn modelId="{040E5540-48A8-436A-B026-D8DA50F489F7}" type="presParOf" srcId="{08F2C2C9-9666-48C2-A1A4-E9CC88969008}" destId="{7E2009E7-DD7D-4E83-A67F-3AC714EFED5B}" srcOrd="2" destOrd="0" presId="urn:microsoft.com/office/officeart/2005/8/layout/orgChart1"/>
    <dgm:cxn modelId="{72968BB3-B740-4017-A6F1-EF3330419058}" type="presParOf" srcId="{76462254-BC09-44DA-BDE7-E9A63D36BC31}" destId="{1B19B215-B6E9-4337-A983-8F432941D46F}" srcOrd="4" destOrd="0" presId="urn:microsoft.com/office/officeart/2005/8/layout/orgChart1"/>
    <dgm:cxn modelId="{4C4E6C37-6D4B-4FAE-8604-81F8D60D7FB7}" type="presParOf" srcId="{76462254-BC09-44DA-BDE7-E9A63D36BC31}" destId="{F9C4F010-F87D-4C3E-882E-A1E2BC9DCB9F}" srcOrd="5" destOrd="0" presId="urn:microsoft.com/office/officeart/2005/8/layout/orgChart1"/>
    <dgm:cxn modelId="{3D7597C2-4A03-4BBC-958B-034980529B62}" type="presParOf" srcId="{F9C4F010-F87D-4C3E-882E-A1E2BC9DCB9F}" destId="{C79B08DC-5AB7-4C98-89E7-49B23052086C}" srcOrd="0" destOrd="0" presId="urn:microsoft.com/office/officeart/2005/8/layout/orgChart1"/>
    <dgm:cxn modelId="{7D425EC3-6790-4A87-B357-044BE382CEF2}" type="presParOf" srcId="{C79B08DC-5AB7-4C98-89E7-49B23052086C}" destId="{513301BA-0254-42B8-B088-390108CC8620}" srcOrd="0" destOrd="0" presId="urn:microsoft.com/office/officeart/2005/8/layout/orgChart1"/>
    <dgm:cxn modelId="{154E3C31-9826-4E98-A80D-E3257E9592B1}" type="presParOf" srcId="{C79B08DC-5AB7-4C98-89E7-49B23052086C}" destId="{9AB4E749-B797-4C3C-B7C0-6EE1DC2D4685}" srcOrd="1" destOrd="0" presId="urn:microsoft.com/office/officeart/2005/8/layout/orgChart1"/>
    <dgm:cxn modelId="{387FA0BB-748F-4748-84E5-C1A3A4D7E224}" type="presParOf" srcId="{F9C4F010-F87D-4C3E-882E-A1E2BC9DCB9F}" destId="{5D8644A9-8C53-47E2-8238-D4705FD7A720}" srcOrd="1" destOrd="0" presId="urn:microsoft.com/office/officeart/2005/8/layout/orgChart1"/>
    <dgm:cxn modelId="{22A5679C-40C2-46CA-9ACE-E479FAF68A21}" type="presParOf" srcId="{F9C4F010-F87D-4C3E-882E-A1E2BC9DCB9F}" destId="{F18F3D34-4B23-4B50-AEA1-F553DC733628}" srcOrd="2" destOrd="0" presId="urn:microsoft.com/office/officeart/2005/8/layout/orgChart1"/>
    <dgm:cxn modelId="{057F221F-1BFD-4065-B706-6105484C1500}" type="presParOf" srcId="{76462254-BC09-44DA-BDE7-E9A63D36BC31}" destId="{5B5C7259-1FA4-491D-B2BE-243B9C047E9E}" srcOrd="6" destOrd="0" presId="urn:microsoft.com/office/officeart/2005/8/layout/orgChart1"/>
    <dgm:cxn modelId="{B08056C7-8756-4C28-A901-3CCC6CDCD06C}" type="presParOf" srcId="{76462254-BC09-44DA-BDE7-E9A63D36BC31}" destId="{557793AD-C74B-46EE-96A8-0F155162ABE8}" srcOrd="7" destOrd="0" presId="urn:microsoft.com/office/officeart/2005/8/layout/orgChart1"/>
    <dgm:cxn modelId="{602FE782-27DF-44AA-9CFD-8160D03BE7EA}" type="presParOf" srcId="{557793AD-C74B-46EE-96A8-0F155162ABE8}" destId="{06F8B321-3D61-49BD-A7B2-7FBCCE7D324A}" srcOrd="0" destOrd="0" presId="urn:microsoft.com/office/officeart/2005/8/layout/orgChart1"/>
    <dgm:cxn modelId="{5C7E5D4B-11A6-4A26-814B-DB2FA6FF846B}" type="presParOf" srcId="{06F8B321-3D61-49BD-A7B2-7FBCCE7D324A}" destId="{3EAC7351-3843-46A4-924C-B6613AAE8F8E}" srcOrd="0" destOrd="0" presId="urn:microsoft.com/office/officeart/2005/8/layout/orgChart1"/>
    <dgm:cxn modelId="{08AA34DB-0724-4A8E-BC36-C158E94047A2}" type="presParOf" srcId="{06F8B321-3D61-49BD-A7B2-7FBCCE7D324A}" destId="{0732785C-F25E-47B4-B5B1-C945A953C5BD}" srcOrd="1" destOrd="0" presId="urn:microsoft.com/office/officeart/2005/8/layout/orgChart1"/>
    <dgm:cxn modelId="{6174684D-FA05-4EF5-AC33-3FD853E98536}" type="presParOf" srcId="{557793AD-C74B-46EE-96A8-0F155162ABE8}" destId="{B302F41F-F2BA-4DB1-A6B8-632E989B7052}" srcOrd="1" destOrd="0" presId="urn:microsoft.com/office/officeart/2005/8/layout/orgChart1"/>
    <dgm:cxn modelId="{402CF8B3-C600-4102-81A2-D5A28A4BAB99}" type="presParOf" srcId="{557793AD-C74B-46EE-96A8-0F155162ABE8}" destId="{D0ED759D-2AFE-4BFE-A2F4-910D4B245110}" srcOrd="2" destOrd="0" presId="urn:microsoft.com/office/officeart/2005/8/layout/orgChart1"/>
    <dgm:cxn modelId="{00892D02-3BF2-4059-B201-E03B9048A8E2}" type="presParOf" srcId="{76462254-BC09-44DA-BDE7-E9A63D36BC31}" destId="{A90CB850-3000-45F0-9A70-AC47EBC9421A}" srcOrd="8" destOrd="0" presId="urn:microsoft.com/office/officeart/2005/8/layout/orgChart1"/>
    <dgm:cxn modelId="{0DAB2E21-0BB0-41CA-8317-D6ECBA11ECD9}" type="presParOf" srcId="{76462254-BC09-44DA-BDE7-E9A63D36BC31}" destId="{E02C3F33-6EDF-4C58-B6AB-35530DBC20E4}" srcOrd="9" destOrd="0" presId="urn:microsoft.com/office/officeart/2005/8/layout/orgChart1"/>
    <dgm:cxn modelId="{B367CA25-8991-4F27-B082-784EEA72BBCA}" type="presParOf" srcId="{E02C3F33-6EDF-4C58-B6AB-35530DBC20E4}" destId="{98402485-6510-46D9-88E7-775262057C1D}" srcOrd="0" destOrd="0" presId="urn:microsoft.com/office/officeart/2005/8/layout/orgChart1"/>
    <dgm:cxn modelId="{F94D9187-9AE9-4E4F-942B-6C0E45EB90B3}" type="presParOf" srcId="{98402485-6510-46D9-88E7-775262057C1D}" destId="{ADB5D4B2-2F36-44CF-A2EC-F07125B71179}" srcOrd="0" destOrd="0" presId="urn:microsoft.com/office/officeart/2005/8/layout/orgChart1"/>
    <dgm:cxn modelId="{CF176BE8-6097-434C-AFEA-C5AA4997AB08}" type="presParOf" srcId="{98402485-6510-46D9-88E7-775262057C1D}" destId="{D03D348F-E31B-4651-A45A-AC42E78F388F}" srcOrd="1" destOrd="0" presId="urn:microsoft.com/office/officeart/2005/8/layout/orgChart1"/>
    <dgm:cxn modelId="{E974AD65-C1DA-4A15-ADE4-4306A62BB835}" type="presParOf" srcId="{E02C3F33-6EDF-4C58-B6AB-35530DBC20E4}" destId="{692B2997-0C1E-4C92-8696-CE64372BD8C4}" srcOrd="1" destOrd="0" presId="urn:microsoft.com/office/officeart/2005/8/layout/orgChart1"/>
    <dgm:cxn modelId="{EE74F551-6ED4-4084-B9AB-4FC672FB5D6A}" type="presParOf" srcId="{E02C3F33-6EDF-4C58-B6AB-35530DBC20E4}" destId="{BAA603B4-CFCE-47FD-936A-86973D16B362}" srcOrd="2" destOrd="0" presId="urn:microsoft.com/office/officeart/2005/8/layout/orgChart1"/>
    <dgm:cxn modelId="{26B2DA9B-45F9-461F-BDB3-F12712095E19}" type="presParOf" srcId="{CBFF33EB-1162-4FFF-B60E-EA0314E99DE4}" destId="{F0067369-49F0-4919-BB59-91C0D42F6A83}" srcOrd="2" destOrd="0" presId="urn:microsoft.com/office/officeart/2005/8/layout/orgChart1"/>
    <dgm:cxn modelId="{1C7B7F93-F90F-435E-9DBC-850211D7F307}" type="presParOf" srcId="{408910D9-AFE0-4B6D-82AB-5E1DC75342BA}" destId="{ABEA2C9F-5C17-46D6-84BE-6A7BF4AFF40B}" srcOrd="2" destOrd="0" presId="urn:microsoft.com/office/officeart/2005/8/layout/orgChart1"/>
    <dgm:cxn modelId="{573CFF31-0DD5-41A2-8681-BBA8CF273EB2}" type="presParOf" srcId="{408910D9-AFE0-4B6D-82AB-5E1DC75342BA}" destId="{2BD4C873-38C0-4A28-8D07-F4D6AF82BFB9}" srcOrd="3" destOrd="0" presId="urn:microsoft.com/office/officeart/2005/8/layout/orgChart1"/>
    <dgm:cxn modelId="{7BACEA1E-AFED-4D8C-83E1-73446735A569}" type="presParOf" srcId="{2BD4C873-38C0-4A28-8D07-F4D6AF82BFB9}" destId="{BB9EF54B-BDF4-4333-8220-17B295DFB7BA}" srcOrd="0" destOrd="0" presId="urn:microsoft.com/office/officeart/2005/8/layout/orgChart1"/>
    <dgm:cxn modelId="{DF377BF4-E0D9-42D8-9F12-40AECE1EBA9A}" type="presParOf" srcId="{BB9EF54B-BDF4-4333-8220-17B295DFB7BA}" destId="{104D1DCF-351B-447B-8457-5BBFD6B42680}" srcOrd="0" destOrd="0" presId="urn:microsoft.com/office/officeart/2005/8/layout/orgChart1"/>
    <dgm:cxn modelId="{74E163E2-62D7-42BF-B657-95CBAB2692F5}" type="presParOf" srcId="{BB9EF54B-BDF4-4333-8220-17B295DFB7BA}" destId="{DD703DA6-860C-40BF-8970-F1CE9C9B4B2C}" srcOrd="1" destOrd="0" presId="urn:microsoft.com/office/officeart/2005/8/layout/orgChart1"/>
    <dgm:cxn modelId="{1182F54D-1DBB-4F5C-9F67-C840C95DB5AD}" type="presParOf" srcId="{2BD4C873-38C0-4A28-8D07-F4D6AF82BFB9}" destId="{3ACCDCB3-B1A8-4029-9D1D-2EAE47BC48E6}" srcOrd="1" destOrd="0" presId="urn:microsoft.com/office/officeart/2005/8/layout/orgChart1"/>
    <dgm:cxn modelId="{1C1A523D-805F-4189-94ED-B175B1C81D41}" type="presParOf" srcId="{3ACCDCB3-B1A8-4029-9D1D-2EAE47BC48E6}" destId="{7941678C-826A-40D1-ABC8-EF4014439422}" srcOrd="0" destOrd="0" presId="urn:microsoft.com/office/officeart/2005/8/layout/orgChart1"/>
    <dgm:cxn modelId="{8A1B7DD2-2582-402E-AEA8-10F03C81759D}" type="presParOf" srcId="{3ACCDCB3-B1A8-4029-9D1D-2EAE47BC48E6}" destId="{B786FDB5-174A-453C-AADB-5D16823B00C6}" srcOrd="1" destOrd="0" presId="urn:microsoft.com/office/officeart/2005/8/layout/orgChart1"/>
    <dgm:cxn modelId="{DA8F328D-2AF1-41D4-B699-7F90AFE96703}" type="presParOf" srcId="{B786FDB5-174A-453C-AADB-5D16823B00C6}" destId="{C1348845-C027-4259-947F-769DD921F649}" srcOrd="0" destOrd="0" presId="urn:microsoft.com/office/officeart/2005/8/layout/orgChart1"/>
    <dgm:cxn modelId="{877A1D67-2B0E-4398-A8F9-51CA21CA36C0}" type="presParOf" srcId="{C1348845-C027-4259-947F-769DD921F649}" destId="{3340AC50-D557-4F69-B212-B2664F4E9193}" srcOrd="0" destOrd="0" presId="urn:microsoft.com/office/officeart/2005/8/layout/orgChart1"/>
    <dgm:cxn modelId="{328E7FAC-7A1B-47A8-BB3C-C649EFDAE68F}" type="presParOf" srcId="{C1348845-C027-4259-947F-769DD921F649}" destId="{DECE1CBF-0651-49A1-8FCB-3C9F05BCEAA5}" srcOrd="1" destOrd="0" presId="urn:microsoft.com/office/officeart/2005/8/layout/orgChart1"/>
    <dgm:cxn modelId="{B8ABB746-0BB7-4C65-B7CF-09D92083C4C2}" type="presParOf" srcId="{B786FDB5-174A-453C-AADB-5D16823B00C6}" destId="{02FE7AB4-9460-44DB-A8C3-35032E0147BD}" srcOrd="1" destOrd="0" presId="urn:microsoft.com/office/officeart/2005/8/layout/orgChart1"/>
    <dgm:cxn modelId="{84748DE8-9D4E-4A2C-914C-8F3941A9CA81}" type="presParOf" srcId="{B786FDB5-174A-453C-AADB-5D16823B00C6}" destId="{77BA7EC7-E89D-4582-9CD9-1AD6EACA18CE}" srcOrd="2" destOrd="0" presId="urn:microsoft.com/office/officeart/2005/8/layout/orgChart1"/>
    <dgm:cxn modelId="{3E81171E-DA7C-44E6-BE87-A16512AB6C9E}" type="presParOf" srcId="{3ACCDCB3-B1A8-4029-9D1D-2EAE47BC48E6}" destId="{3E2D4C08-E293-4D1C-ADB0-CF48C6A82932}" srcOrd="2" destOrd="0" presId="urn:microsoft.com/office/officeart/2005/8/layout/orgChart1"/>
    <dgm:cxn modelId="{EC6102CC-F2D0-4B8A-B504-D3936BC4FC5F}" type="presParOf" srcId="{3ACCDCB3-B1A8-4029-9D1D-2EAE47BC48E6}" destId="{09F938D7-3270-4B3D-B37E-9E3A107C8019}" srcOrd="3" destOrd="0" presId="urn:microsoft.com/office/officeart/2005/8/layout/orgChart1"/>
    <dgm:cxn modelId="{A27276E7-F05A-4DD7-8967-2234D822FFB9}" type="presParOf" srcId="{09F938D7-3270-4B3D-B37E-9E3A107C8019}" destId="{66F44EEB-476B-4E3E-8C0C-590E50B6DA39}" srcOrd="0" destOrd="0" presId="urn:microsoft.com/office/officeart/2005/8/layout/orgChart1"/>
    <dgm:cxn modelId="{D2148D58-E43B-4101-AB57-90CE7098FA6A}" type="presParOf" srcId="{66F44EEB-476B-4E3E-8C0C-590E50B6DA39}" destId="{522D5E24-DB41-476B-9A1F-06F7D70543B0}" srcOrd="0" destOrd="0" presId="urn:microsoft.com/office/officeart/2005/8/layout/orgChart1"/>
    <dgm:cxn modelId="{42FE8957-0C2C-4536-AA8B-EC62A31D4ADA}" type="presParOf" srcId="{66F44EEB-476B-4E3E-8C0C-590E50B6DA39}" destId="{8B7F5C0B-2461-4831-B977-EC5B01657B5B}" srcOrd="1" destOrd="0" presId="urn:microsoft.com/office/officeart/2005/8/layout/orgChart1"/>
    <dgm:cxn modelId="{2F997E1E-5C9B-4E52-BB7F-67988DABC5C1}" type="presParOf" srcId="{09F938D7-3270-4B3D-B37E-9E3A107C8019}" destId="{D2A61B19-4B4F-44F8-A928-AFA28DE4A69E}" srcOrd="1" destOrd="0" presId="urn:microsoft.com/office/officeart/2005/8/layout/orgChart1"/>
    <dgm:cxn modelId="{B9BF3C80-3438-49F2-BA71-D537192CB792}" type="presParOf" srcId="{09F938D7-3270-4B3D-B37E-9E3A107C8019}" destId="{CEA5F5F7-C306-41A4-93E6-FC54C6E50B34}" srcOrd="2" destOrd="0" presId="urn:microsoft.com/office/officeart/2005/8/layout/orgChart1"/>
    <dgm:cxn modelId="{8B52A29A-4DA8-41C8-9966-B41216FF0E3F}" type="presParOf" srcId="{3ACCDCB3-B1A8-4029-9D1D-2EAE47BC48E6}" destId="{0EE0B623-50AE-4829-8F9F-1596EA7970C4}" srcOrd="4" destOrd="0" presId="urn:microsoft.com/office/officeart/2005/8/layout/orgChart1"/>
    <dgm:cxn modelId="{1BB5136A-866F-4D90-A29A-8F7662F4ABD6}" type="presParOf" srcId="{3ACCDCB3-B1A8-4029-9D1D-2EAE47BC48E6}" destId="{6E034814-3B8C-434B-A9FD-7BFC4060F958}" srcOrd="5" destOrd="0" presId="urn:microsoft.com/office/officeart/2005/8/layout/orgChart1"/>
    <dgm:cxn modelId="{1E732EDB-98F6-4D0F-9DB7-C64FD072E8DE}" type="presParOf" srcId="{6E034814-3B8C-434B-A9FD-7BFC4060F958}" destId="{732EFFAF-7663-45F8-A420-7F97BF30354E}" srcOrd="0" destOrd="0" presId="urn:microsoft.com/office/officeart/2005/8/layout/orgChart1"/>
    <dgm:cxn modelId="{AD5D1A62-CA2B-4CE3-9D26-DFC81B111BE1}" type="presParOf" srcId="{732EFFAF-7663-45F8-A420-7F97BF30354E}" destId="{840230FD-BAFF-4A53-BF56-6C7991DDAF6C}" srcOrd="0" destOrd="0" presId="urn:microsoft.com/office/officeart/2005/8/layout/orgChart1"/>
    <dgm:cxn modelId="{256C39DF-91BB-48A0-ACEC-EDEE6E5116C0}" type="presParOf" srcId="{732EFFAF-7663-45F8-A420-7F97BF30354E}" destId="{F370E7D3-43E0-4B73-AE88-93F49E82CEF2}" srcOrd="1" destOrd="0" presId="urn:microsoft.com/office/officeart/2005/8/layout/orgChart1"/>
    <dgm:cxn modelId="{79DB71F0-2A8E-4BDA-8E93-E7C7F48CC162}" type="presParOf" srcId="{6E034814-3B8C-434B-A9FD-7BFC4060F958}" destId="{B636AE93-090B-48A0-9E28-39C313086B78}" srcOrd="1" destOrd="0" presId="urn:microsoft.com/office/officeart/2005/8/layout/orgChart1"/>
    <dgm:cxn modelId="{D231B7D9-B5BE-457C-BF01-F3D83B6ADC80}" type="presParOf" srcId="{6E034814-3B8C-434B-A9FD-7BFC4060F958}" destId="{04E3648B-401B-4CA8-8DDD-02671D241A74}" srcOrd="2" destOrd="0" presId="urn:microsoft.com/office/officeart/2005/8/layout/orgChart1"/>
    <dgm:cxn modelId="{786DBB46-BCD2-46DC-9FAF-80B9E31C81F4}" type="presParOf" srcId="{2BD4C873-38C0-4A28-8D07-F4D6AF82BFB9}" destId="{F7D63FEC-5E01-4B1F-9422-983B324A85B7}" srcOrd="2" destOrd="0" presId="urn:microsoft.com/office/officeart/2005/8/layout/orgChart1"/>
    <dgm:cxn modelId="{7C71FF73-177B-4950-B827-A033CB3343FF}" type="presParOf" srcId="{408910D9-AFE0-4B6D-82AB-5E1DC75342BA}" destId="{6DB02DB2-39CA-456C-8A26-A58E6463CBA2}" srcOrd="4" destOrd="0" presId="urn:microsoft.com/office/officeart/2005/8/layout/orgChart1"/>
    <dgm:cxn modelId="{5AA1D7AA-ABAB-4DBC-8D54-D882669FEC63}" type="presParOf" srcId="{408910D9-AFE0-4B6D-82AB-5E1DC75342BA}" destId="{21413CF1-C8B1-4AD4-9551-EEDF55D677F5}" srcOrd="5" destOrd="0" presId="urn:microsoft.com/office/officeart/2005/8/layout/orgChart1"/>
    <dgm:cxn modelId="{DCFFE51C-C8BF-43F5-8B0C-50D13A718694}" type="presParOf" srcId="{21413CF1-C8B1-4AD4-9551-EEDF55D677F5}" destId="{7BF83F2B-CB54-4573-A92B-D06307420390}" srcOrd="0" destOrd="0" presId="urn:microsoft.com/office/officeart/2005/8/layout/orgChart1"/>
    <dgm:cxn modelId="{3323BF42-C77B-4C27-8003-38A853D42BB5}" type="presParOf" srcId="{7BF83F2B-CB54-4573-A92B-D06307420390}" destId="{0531CC85-4BE4-42BB-9941-0C23265DA432}" srcOrd="0" destOrd="0" presId="urn:microsoft.com/office/officeart/2005/8/layout/orgChart1"/>
    <dgm:cxn modelId="{E5C22712-5973-4BDB-90CA-CEDB8B0E9F93}" type="presParOf" srcId="{7BF83F2B-CB54-4573-A92B-D06307420390}" destId="{94ABD043-34BB-4947-9D8F-9E42F0AE9728}" srcOrd="1" destOrd="0" presId="urn:microsoft.com/office/officeart/2005/8/layout/orgChart1"/>
    <dgm:cxn modelId="{F93E8EE9-1832-4DE0-9E3A-377B14839C8D}" type="presParOf" srcId="{21413CF1-C8B1-4AD4-9551-EEDF55D677F5}" destId="{194E6023-D233-41B9-8818-FF7EF3581D9B}" srcOrd="1" destOrd="0" presId="urn:microsoft.com/office/officeart/2005/8/layout/orgChart1"/>
    <dgm:cxn modelId="{AD764DE0-B188-47E5-998E-C7441108491E}" type="presParOf" srcId="{194E6023-D233-41B9-8818-FF7EF3581D9B}" destId="{61BCD7EF-CA6D-4330-8B1D-0C2B64BCF9C6}" srcOrd="0" destOrd="0" presId="urn:microsoft.com/office/officeart/2005/8/layout/orgChart1"/>
    <dgm:cxn modelId="{55FD72F6-A9E2-40DC-8492-AD1F9C6294F0}" type="presParOf" srcId="{194E6023-D233-41B9-8818-FF7EF3581D9B}" destId="{BC7085DD-01A6-41FB-B637-2F842EB1A7B8}" srcOrd="1" destOrd="0" presId="urn:microsoft.com/office/officeart/2005/8/layout/orgChart1"/>
    <dgm:cxn modelId="{4ED5B76E-36E3-424A-82F9-ABE805592A82}" type="presParOf" srcId="{BC7085DD-01A6-41FB-B637-2F842EB1A7B8}" destId="{6CB2B104-6E5E-4235-AAD2-83C716650D68}" srcOrd="0" destOrd="0" presId="urn:microsoft.com/office/officeart/2005/8/layout/orgChart1"/>
    <dgm:cxn modelId="{31902987-ABC0-4C98-B686-40B3BA15D797}" type="presParOf" srcId="{6CB2B104-6E5E-4235-AAD2-83C716650D68}" destId="{01628E2D-9115-4C9F-B46C-20A5CA6CB030}" srcOrd="0" destOrd="0" presId="urn:microsoft.com/office/officeart/2005/8/layout/orgChart1"/>
    <dgm:cxn modelId="{0996B084-B4D5-4EB1-90DA-D9C1C3BF0D10}" type="presParOf" srcId="{6CB2B104-6E5E-4235-AAD2-83C716650D68}" destId="{41497914-7BE4-4FA0-B3C7-A710AA046A8F}" srcOrd="1" destOrd="0" presId="urn:microsoft.com/office/officeart/2005/8/layout/orgChart1"/>
    <dgm:cxn modelId="{7BBE86D1-DF13-425A-88E0-0853636D3563}" type="presParOf" srcId="{BC7085DD-01A6-41FB-B637-2F842EB1A7B8}" destId="{DE9A41B5-9C1B-435E-AA8D-A2F097A30214}" srcOrd="1" destOrd="0" presId="urn:microsoft.com/office/officeart/2005/8/layout/orgChart1"/>
    <dgm:cxn modelId="{D95A360F-5A24-419E-B9A8-EF6848EE1A31}" type="presParOf" srcId="{BC7085DD-01A6-41FB-B637-2F842EB1A7B8}" destId="{D763CFBC-50D0-4C25-959F-1EE02E984F26}" srcOrd="2" destOrd="0" presId="urn:microsoft.com/office/officeart/2005/8/layout/orgChart1"/>
    <dgm:cxn modelId="{ADD9FBCA-817C-44CB-A6A8-9729D79B5629}" type="presParOf" srcId="{21413CF1-C8B1-4AD4-9551-EEDF55D677F5}" destId="{B72A9876-750F-440F-935F-B600D92956E1}" srcOrd="2" destOrd="0" presId="urn:microsoft.com/office/officeart/2005/8/layout/orgChart1"/>
    <dgm:cxn modelId="{0086D67D-7ECF-4123-90CA-3F8669284F44}" type="presParOf" srcId="{5FB81A70-74D5-4981-A5AC-45EE62D37FB0}" destId="{8FD7435C-8313-43F3-A6C0-6333D5658AAA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1A1A9B8-5CE2-4F8C-BDC5-9E45C5628CB8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BF24045A-56AE-43B0-BED8-A6ED87CA5F6C}">
      <dgm:prSet phldrT="[Texto]" custT="1"/>
      <dgm:spPr/>
      <dgm:t>
        <a:bodyPr/>
        <a:lstStyle/>
        <a:p>
          <a:r>
            <a:rPr lang="pt-BR" sz="1400" dirty="0"/>
            <a:t>Técnicas de estimativas de custos de software</a:t>
          </a:r>
        </a:p>
      </dgm:t>
    </dgm:pt>
    <dgm:pt modelId="{6DD15889-239B-4CF6-8F09-F246A02F954E}" type="parTrans" cxnId="{1D528309-491E-4EE1-AA94-A7BDDEA35BEC}">
      <dgm:prSet/>
      <dgm:spPr/>
      <dgm:t>
        <a:bodyPr/>
        <a:lstStyle/>
        <a:p>
          <a:endParaRPr lang="pt-BR" sz="900"/>
        </a:p>
      </dgm:t>
    </dgm:pt>
    <dgm:pt modelId="{6DDBF0E6-745E-4B4E-94C3-5699A5E322CE}" type="sibTrans" cxnId="{1D528309-491E-4EE1-AA94-A7BDDEA35BEC}">
      <dgm:prSet/>
      <dgm:spPr/>
      <dgm:t>
        <a:bodyPr/>
        <a:lstStyle/>
        <a:p>
          <a:endParaRPr lang="pt-BR" sz="900"/>
        </a:p>
      </dgm:t>
    </dgm:pt>
    <dgm:pt modelId="{FBB9131E-A862-494A-ABEA-D48B12FB585E}">
      <dgm:prSet phldrT="[Texto]" custT="1"/>
      <dgm:spPr>
        <a:solidFill>
          <a:srgbClr val="4472C4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985" tIns="6985" rIns="6985" bIns="6985" numCol="1" spcCol="1270" anchor="ctr" anchorCtr="0"/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Métodos não-paramétricos</a:t>
          </a:r>
        </a:p>
      </dgm:t>
    </dgm:pt>
    <dgm:pt modelId="{9FFB6809-3DC7-497A-8034-939E54F80D08}" type="parTrans" cxnId="{EF8AAFC6-A4DD-4FF4-AD92-E65416406838}">
      <dgm:prSet/>
      <dgm:spPr/>
      <dgm:t>
        <a:bodyPr/>
        <a:lstStyle/>
        <a:p>
          <a:endParaRPr lang="pt-BR" sz="900"/>
        </a:p>
      </dgm:t>
    </dgm:pt>
    <dgm:pt modelId="{532A5A68-ECDA-497D-A147-49C62B21ACF7}" type="sibTrans" cxnId="{EF8AAFC6-A4DD-4FF4-AD92-E65416406838}">
      <dgm:prSet/>
      <dgm:spPr/>
      <dgm:t>
        <a:bodyPr/>
        <a:lstStyle/>
        <a:p>
          <a:endParaRPr lang="pt-BR" sz="900"/>
        </a:p>
      </dgm:t>
    </dgm:pt>
    <dgm:pt modelId="{DEB5A818-8580-4EFE-AC5F-F656517A4087}">
      <dgm:prSet phldrT="[Texto]" custT="1"/>
      <dgm:spPr>
        <a:solidFill>
          <a:srgbClr val="4472C4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985" tIns="6985" rIns="6985" bIns="6985" numCol="1" spcCol="1270" anchor="ctr" anchorCtr="0"/>
        <a:lstStyle/>
        <a:p>
          <a:r>
            <a:rPr lang="pt-BR" sz="900" kern="1200" dirty="0"/>
            <a:t>Métodos </a:t>
          </a:r>
          <a:r>
            <a:rPr lang="pt-BR" sz="11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paramétricos</a:t>
          </a:r>
        </a:p>
      </dgm:t>
    </dgm:pt>
    <dgm:pt modelId="{3BD6A61A-A091-427B-AEF5-B6853E1B54F1}" type="parTrans" cxnId="{3DE0E142-8B25-4406-AA5B-BE4DBA82BD81}">
      <dgm:prSet/>
      <dgm:spPr/>
      <dgm:t>
        <a:bodyPr/>
        <a:lstStyle/>
        <a:p>
          <a:endParaRPr lang="pt-BR" sz="900"/>
        </a:p>
      </dgm:t>
    </dgm:pt>
    <dgm:pt modelId="{6BBA69B8-2B59-4A96-839A-4AFE54163718}" type="sibTrans" cxnId="{3DE0E142-8B25-4406-AA5B-BE4DBA82BD81}">
      <dgm:prSet/>
      <dgm:spPr/>
      <dgm:t>
        <a:bodyPr/>
        <a:lstStyle/>
        <a:p>
          <a:endParaRPr lang="pt-BR" sz="900"/>
        </a:p>
      </dgm:t>
    </dgm:pt>
    <dgm:pt modelId="{B005DA5E-CCC9-4070-8F5D-B54121EAE77E}">
      <dgm:prSet phldrT="[Texto]" custT="1"/>
      <dgm:spPr/>
      <dgm:t>
        <a:bodyPr/>
        <a:lstStyle/>
        <a:p>
          <a:r>
            <a:rPr lang="pt-BR" sz="1100" dirty="0"/>
            <a:t>Métodos algorítmicos</a:t>
          </a:r>
        </a:p>
      </dgm:t>
    </dgm:pt>
    <dgm:pt modelId="{1D3EAC51-A1E4-4500-9DA7-DA1EC9B33A61}" type="parTrans" cxnId="{B6D99A12-1328-464C-872D-1A124FDEB35F}">
      <dgm:prSet/>
      <dgm:spPr/>
      <dgm:t>
        <a:bodyPr/>
        <a:lstStyle/>
        <a:p>
          <a:endParaRPr lang="pt-BR" sz="900"/>
        </a:p>
      </dgm:t>
    </dgm:pt>
    <dgm:pt modelId="{A5D06D3A-687E-4ACC-A2FF-5A5FB1D98AEA}" type="sibTrans" cxnId="{B6D99A12-1328-464C-872D-1A124FDEB35F}">
      <dgm:prSet/>
      <dgm:spPr/>
      <dgm:t>
        <a:bodyPr/>
        <a:lstStyle/>
        <a:p>
          <a:endParaRPr lang="pt-BR" sz="900"/>
        </a:p>
      </dgm:t>
    </dgm:pt>
    <dgm:pt modelId="{7142D02C-E4E5-4E56-80A5-B77DE4124DC6}">
      <dgm:prSet phldrT="[Texto]" custT="1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solidFill>
          <a:srgbClr val="4472C4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350" tIns="6350" rIns="6350" bIns="6350" numCol="1" spcCol="1270" anchor="ctr" anchorCtr="0"/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Julgamento de especialista</a:t>
          </a:r>
        </a:p>
      </dgm:t>
    </dgm:pt>
    <dgm:pt modelId="{CB90EEA7-9B7F-4749-8ACF-783AC5975F93}" type="parTrans" cxnId="{3EE57F07-E8AD-47FF-BC1E-28B0C20E8C2E}">
      <dgm:prSet/>
      <dgm:spPr/>
      <dgm:t>
        <a:bodyPr/>
        <a:lstStyle/>
        <a:p>
          <a:endParaRPr lang="pt-BR" sz="900"/>
        </a:p>
      </dgm:t>
    </dgm:pt>
    <dgm:pt modelId="{B6818093-5E42-4B47-8312-77D9CA4A5288}" type="sibTrans" cxnId="{3EE57F07-E8AD-47FF-BC1E-28B0C20E8C2E}">
      <dgm:prSet/>
      <dgm:spPr/>
      <dgm:t>
        <a:bodyPr/>
        <a:lstStyle/>
        <a:p>
          <a:endParaRPr lang="pt-BR" sz="900"/>
        </a:p>
      </dgm:t>
    </dgm:pt>
    <dgm:pt modelId="{BBA6BB66-2C05-4EC2-83A0-F94E6253D46E}">
      <dgm:prSet phldrT="[Texto]" custT="1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ln/>
      </dgm:spPr>
      <dgm:t>
        <a:bodyPr spcFirstLastPara="0" vert="horz" wrap="square" lIns="6350" tIns="6350" rIns="6350" bIns="6350" numCol="1" spcCol="1270" anchor="ctr" anchorCtr="0"/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rPr>
            <a:t>Pontos de função</a:t>
          </a:r>
        </a:p>
      </dgm:t>
    </dgm:pt>
    <dgm:pt modelId="{996A333F-5F3A-4F19-8555-631803C385FF}" type="parTrans" cxnId="{E0B448FE-9EE5-435C-BD60-C8BE785C694C}">
      <dgm:prSet/>
      <dgm:spPr/>
      <dgm:t>
        <a:bodyPr/>
        <a:lstStyle/>
        <a:p>
          <a:endParaRPr lang="pt-BR" sz="900"/>
        </a:p>
      </dgm:t>
    </dgm:pt>
    <dgm:pt modelId="{8ECF8F13-64C8-4E6C-BEFB-364DF2E6CE89}" type="sibTrans" cxnId="{E0B448FE-9EE5-435C-BD60-C8BE785C694C}">
      <dgm:prSet/>
      <dgm:spPr/>
      <dgm:t>
        <a:bodyPr/>
        <a:lstStyle/>
        <a:p>
          <a:endParaRPr lang="pt-BR" sz="900"/>
        </a:p>
      </dgm:t>
    </dgm:pt>
    <dgm:pt modelId="{FDDA7B84-FD63-40BE-9130-97AE6239C4CB}">
      <dgm:prSet phldrT="[Texto]" custT="1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solidFill>
          <a:srgbClr val="4472C4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5715" tIns="5715" rIns="5715" bIns="5715" numCol="1" spcCol="1270" anchor="ctr" anchorCtr="0"/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COCOMO</a:t>
          </a:r>
        </a:p>
      </dgm:t>
    </dgm:pt>
    <dgm:pt modelId="{C8DC81FD-AAD9-4CCF-A93E-F4F558814B7F}" type="parTrans" cxnId="{144BDB35-5CA2-4D73-BB8C-6CA21E01F4D8}">
      <dgm:prSet/>
      <dgm:spPr/>
      <dgm:t>
        <a:bodyPr/>
        <a:lstStyle/>
        <a:p>
          <a:endParaRPr lang="pt-BR" sz="900"/>
        </a:p>
      </dgm:t>
    </dgm:pt>
    <dgm:pt modelId="{175CC0EA-2895-43C0-9733-1D6A0349B000}" type="sibTrans" cxnId="{144BDB35-5CA2-4D73-BB8C-6CA21E01F4D8}">
      <dgm:prSet/>
      <dgm:spPr/>
      <dgm:t>
        <a:bodyPr/>
        <a:lstStyle/>
        <a:p>
          <a:endParaRPr lang="pt-BR" sz="900"/>
        </a:p>
      </dgm:t>
    </dgm:pt>
    <dgm:pt modelId="{51803571-7219-405D-9E17-724FBE3F487B}">
      <dgm:prSet phldrT="[Texto]" custT="1"/>
      <dgm:spPr/>
      <dgm:t>
        <a:bodyPr/>
        <a:lstStyle/>
        <a:p>
          <a:r>
            <a:rPr lang="pt-BR" sz="900" dirty="0"/>
            <a:t>Estórias de usuário</a:t>
          </a:r>
        </a:p>
      </dgm:t>
    </dgm:pt>
    <dgm:pt modelId="{C96C4B5A-8554-4D29-AC64-2ED2AFC421BC}" type="parTrans" cxnId="{37CC0414-4342-4AD4-8751-6F0DA6C24836}">
      <dgm:prSet/>
      <dgm:spPr/>
      <dgm:t>
        <a:bodyPr/>
        <a:lstStyle/>
        <a:p>
          <a:endParaRPr lang="pt-BR" sz="900"/>
        </a:p>
      </dgm:t>
    </dgm:pt>
    <dgm:pt modelId="{95B0F706-DABD-4A9D-8140-0CECC7C0E3D3}" type="sibTrans" cxnId="{37CC0414-4342-4AD4-8751-6F0DA6C24836}">
      <dgm:prSet/>
      <dgm:spPr/>
      <dgm:t>
        <a:bodyPr/>
        <a:lstStyle/>
        <a:p>
          <a:endParaRPr lang="pt-BR" sz="900"/>
        </a:p>
      </dgm:t>
    </dgm:pt>
    <dgm:pt modelId="{7CA7396C-1FDD-4B70-B225-A9F3A40066B1}">
      <dgm:prSet phldrT="[Texto]" custT="1"/>
      <dgm:spPr/>
      <dgm:t>
        <a:bodyPr/>
        <a:lstStyle/>
        <a:p>
          <a:r>
            <a:rPr lang="pt-BR" sz="900" dirty="0"/>
            <a:t>Algoritmos de machine learning</a:t>
          </a:r>
        </a:p>
      </dgm:t>
    </dgm:pt>
    <dgm:pt modelId="{EB750181-CB0C-4F01-AD10-E2C75112487B}" type="parTrans" cxnId="{B5DE0B2B-2F82-4FD6-9B0C-7AEB6AFFD4A2}">
      <dgm:prSet/>
      <dgm:spPr/>
      <dgm:t>
        <a:bodyPr/>
        <a:lstStyle/>
        <a:p>
          <a:endParaRPr lang="pt-BR" sz="900"/>
        </a:p>
      </dgm:t>
    </dgm:pt>
    <dgm:pt modelId="{4B720BBE-F675-4E29-87FE-57F65CD9770C}" type="sibTrans" cxnId="{B5DE0B2B-2F82-4FD6-9B0C-7AEB6AFFD4A2}">
      <dgm:prSet/>
      <dgm:spPr/>
      <dgm:t>
        <a:bodyPr/>
        <a:lstStyle/>
        <a:p>
          <a:endParaRPr lang="pt-BR" sz="900"/>
        </a:p>
      </dgm:t>
    </dgm:pt>
    <dgm:pt modelId="{E2DEE554-86E6-44A8-841E-FC33D345200F}">
      <dgm:prSet phldrT="[Texto]" custT="1"/>
      <dgm:spPr/>
      <dgm:t>
        <a:bodyPr/>
        <a:lstStyle/>
        <a:p>
          <a:r>
            <a:rPr lang="pt-BR" sz="900" dirty="0"/>
            <a:t>Preço-para-vencer</a:t>
          </a:r>
        </a:p>
      </dgm:t>
    </dgm:pt>
    <dgm:pt modelId="{9211C432-4984-4462-BD62-FAA7A7F8E883}" type="parTrans" cxnId="{5784DE08-6210-4F3F-9A71-7D1C5B7DE4B0}">
      <dgm:prSet/>
      <dgm:spPr/>
      <dgm:t>
        <a:bodyPr/>
        <a:lstStyle/>
        <a:p>
          <a:endParaRPr lang="pt-BR" sz="900"/>
        </a:p>
      </dgm:t>
    </dgm:pt>
    <dgm:pt modelId="{E30DAAE0-7974-47B2-BAC8-0793E1AA9486}" type="sibTrans" cxnId="{5784DE08-6210-4F3F-9A71-7D1C5B7DE4B0}">
      <dgm:prSet/>
      <dgm:spPr/>
      <dgm:t>
        <a:bodyPr/>
        <a:lstStyle/>
        <a:p>
          <a:endParaRPr lang="pt-BR" sz="900"/>
        </a:p>
      </dgm:t>
    </dgm:pt>
    <dgm:pt modelId="{B162AF46-C22D-4968-A2A5-62543BBE22E2}">
      <dgm:prSet phldrT="[Texto]" custT="1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solidFill>
          <a:srgbClr val="4472C4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5080" tIns="5080" rIns="5080" bIns="5080" numCol="1" spcCol="1270" anchor="ctr" anchorCtr="0"/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Analogia</a:t>
          </a:r>
        </a:p>
      </dgm:t>
    </dgm:pt>
    <dgm:pt modelId="{CD130441-E081-457C-8344-33C9C50F118E}" type="parTrans" cxnId="{A30CDCC4-32B7-42D7-A794-DE2BA7807018}">
      <dgm:prSet/>
      <dgm:spPr/>
      <dgm:t>
        <a:bodyPr/>
        <a:lstStyle/>
        <a:p>
          <a:endParaRPr lang="pt-BR" sz="900"/>
        </a:p>
      </dgm:t>
    </dgm:pt>
    <dgm:pt modelId="{E77B0A6A-A61D-4588-BFD8-A6AE2283A9EB}" type="sibTrans" cxnId="{A30CDCC4-32B7-42D7-A794-DE2BA7807018}">
      <dgm:prSet/>
      <dgm:spPr/>
      <dgm:t>
        <a:bodyPr/>
        <a:lstStyle/>
        <a:p>
          <a:endParaRPr lang="pt-BR" sz="900"/>
        </a:p>
      </dgm:t>
    </dgm:pt>
    <dgm:pt modelId="{CCBC8F0D-6137-4885-85DD-75556DCB040E}">
      <dgm:prSet phldrT="[Texto]" custT="1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solidFill>
          <a:srgbClr val="4472C4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5715" tIns="5715" rIns="5715" bIns="5715" numCol="1" spcCol="1270" anchor="ctr" anchorCtr="0"/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 err="1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Bottom-up</a:t>
          </a:r>
          <a:endParaRPr lang="pt-BR" sz="900" kern="1200" dirty="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gm:t>
    </dgm:pt>
    <dgm:pt modelId="{F0908628-966B-4035-88DB-6EBD32163C5B}" type="parTrans" cxnId="{7EBC17CD-A74A-48F3-A3FD-B2F718C71DFC}">
      <dgm:prSet/>
      <dgm:spPr/>
      <dgm:t>
        <a:bodyPr/>
        <a:lstStyle/>
        <a:p>
          <a:endParaRPr lang="pt-BR" sz="900"/>
        </a:p>
      </dgm:t>
    </dgm:pt>
    <dgm:pt modelId="{3BEE4C61-36C5-435A-BA1F-A60CF6681528}" type="sibTrans" cxnId="{7EBC17CD-A74A-48F3-A3FD-B2F718C71DFC}">
      <dgm:prSet/>
      <dgm:spPr/>
      <dgm:t>
        <a:bodyPr/>
        <a:lstStyle/>
        <a:p>
          <a:endParaRPr lang="pt-BR" sz="900"/>
        </a:p>
      </dgm:t>
    </dgm:pt>
    <dgm:pt modelId="{C05102CE-893A-499F-B227-5F1A16D35C0D}">
      <dgm:prSet phldrT="[Texto]" custT="1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solidFill>
          <a:srgbClr val="4472C4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5715" tIns="5715" rIns="5715" bIns="5715" numCol="1" spcCol="1270" anchor="ctr" anchorCtr="0"/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Top-</a:t>
          </a:r>
          <a:r>
            <a:rPr lang="pt-BR" sz="900" kern="1200" dirty="0" err="1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down</a:t>
          </a:r>
          <a:endParaRPr lang="pt-BR" sz="900" kern="1200" dirty="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gm:t>
    </dgm:pt>
    <dgm:pt modelId="{3AD78536-FB36-45AC-B50C-48D245C74991}" type="parTrans" cxnId="{EE129395-F23A-42C4-ADAE-DDCEAB1E345E}">
      <dgm:prSet/>
      <dgm:spPr/>
      <dgm:t>
        <a:bodyPr/>
        <a:lstStyle/>
        <a:p>
          <a:endParaRPr lang="pt-BR" sz="900"/>
        </a:p>
      </dgm:t>
    </dgm:pt>
    <dgm:pt modelId="{BBA2CCD5-D77C-4E33-AB54-6AECF636BD1B}" type="sibTrans" cxnId="{EE129395-F23A-42C4-ADAE-DDCEAB1E345E}">
      <dgm:prSet/>
      <dgm:spPr/>
      <dgm:t>
        <a:bodyPr/>
        <a:lstStyle/>
        <a:p>
          <a:endParaRPr lang="pt-BR" sz="900"/>
        </a:p>
      </dgm:t>
    </dgm:pt>
    <dgm:pt modelId="{3DB71D7F-3DA0-4D1F-9479-078B43FAFD07}" type="pres">
      <dgm:prSet presAssocID="{B1A1A9B8-5CE2-4F8C-BDC5-9E45C5628CB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5FB81A70-74D5-4981-A5AC-45EE62D37FB0}" type="pres">
      <dgm:prSet presAssocID="{BF24045A-56AE-43B0-BED8-A6ED87CA5F6C}" presName="hierRoot1" presStyleCnt="0">
        <dgm:presLayoutVars>
          <dgm:hierBranch val="init"/>
        </dgm:presLayoutVars>
      </dgm:prSet>
      <dgm:spPr/>
    </dgm:pt>
    <dgm:pt modelId="{6ECAB72D-6486-4720-95B3-324A0E5E2BB8}" type="pres">
      <dgm:prSet presAssocID="{BF24045A-56AE-43B0-BED8-A6ED87CA5F6C}" presName="rootComposite1" presStyleCnt="0"/>
      <dgm:spPr/>
    </dgm:pt>
    <dgm:pt modelId="{36E3547F-7521-4CCE-AA66-93B67033582D}" type="pres">
      <dgm:prSet presAssocID="{BF24045A-56AE-43B0-BED8-A6ED87CA5F6C}" presName="rootText1" presStyleLbl="node0" presStyleIdx="0" presStyleCnt="1" custScaleX="186694" custScaleY="190668">
        <dgm:presLayoutVars>
          <dgm:chPref val="3"/>
        </dgm:presLayoutVars>
      </dgm:prSet>
      <dgm:spPr/>
    </dgm:pt>
    <dgm:pt modelId="{F9A462A4-B19B-4ACF-B72B-17F617980EAD}" type="pres">
      <dgm:prSet presAssocID="{BF24045A-56AE-43B0-BED8-A6ED87CA5F6C}" presName="rootConnector1" presStyleLbl="node1" presStyleIdx="0" presStyleCnt="0"/>
      <dgm:spPr/>
    </dgm:pt>
    <dgm:pt modelId="{408910D9-AFE0-4B6D-82AB-5E1DC75342BA}" type="pres">
      <dgm:prSet presAssocID="{BF24045A-56AE-43B0-BED8-A6ED87CA5F6C}" presName="hierChild2" presStyleCnt="0"/>
      <dgm:spPr/>
    </dgm:pt>
    <dgm:pt modelId="{B4C59C37-93AB-49D3-AB04-70D89C6F7AA7}" type="pres">
      <dgm:prSet presAssocID="{9FFB6809-3DC7-497A-8034-939E54F80D08}" presName="Name37" presStyleLbl="parChTrans1D2" presStyleIdx="0" presStyleCnt="3"/>
      <dgm:spPr/>
    </dgm:pt>
    <dgm:pt modelId="{CBFF33EB-1162-4FFF-B60E-EA0314E99DE4}" type="pres">
      <dgm:prSet presAssocID="{FBB9131E-A862-494A-ABEA-D48B12FB585E}" presName="hierRoot2" presStyleCnt="0">
        <dgm:presLayoutVars>
          <dgm:hierBranch val="init"/>
        </dgm:presLayoutVars>
      </dgm:prSet>
      <dgm:spPr/>
    </dgm:pt>
    <dgm:pt modelId="{1FB9EE8A-97D8-4A1F-9A20-A4B080A49E02}" type="pres">
      <dgm:prSet presAssocID="{FBB9131E-A862-494A-ABEA-D48B12FB585E}" presName="rootComposite" presStyleCnt="0"/>
      <dgm:spPr/>
    </dgm:pt>
    <dgm:pt modelId="{30696B27-0668-4893-A078-7AD6DCBAE600}" type="pres">
      <dgm:prSet presAssocID="{FBB9131E-A862-494A-ABEA-D48B12FB585E}" presName="rootText" presStyleLbl="node2" presStyleIdx="0" presStyleCnt="3">
        <dgm:presLayoutVars>
          <dgm:chPref val="3"/>
        </dgm:presLayoutVars>
      </dgm:prSet>
      <dgm:spPr>
        <a:xfrm>
          <a:off x="352551" y="901092"/>
          <a:ext cx="772345" cy="386172"/>
        </a:xfrm>
        <a:prstGeom prst="rect">
          <a:avLst/>
        </a:prstGeom>
      </dgm:spPr>
    </dgm:pt>
    <dgm:pt modelId="{8DA95EAD-D75E-49ED-921D-4AE14E3CAF89}" type="pres">
      <dgm:prSet presAssocID="{FBB9131E-A862-494A-ABEA-D48B12FB585E}" presName="rootConnector" presStyleLbl="node2" presStyleIdx="0" presStyleCnt="3"/>
      <dgm:spPr/>
    </dgm:pt>
    <dgm:pt modelId="{76462254-BC09-44DA-BDE7-E9A63D36BC31}" type="pres">
      <dgm:prSet presAssocID="{FBB9131E-A862-494A-ABEA-D48B12FB585E}" presName="hierChild4" presStyleCnt="0"/>
      <dgm:spPr/>
    </dgm:pt>
    <dgm:pt modelId="{37E9C4D5-06EA-407E-A36A-3C018BE94637}" type="pres">
      <dgm:prSet presAssocID="{CB90EEA7-9B7F-4749-8ACF-783AC5975F93}" presName="Name37" presStyleLbl="parChTrans1D3" presStyleIdx="0" presStyleCnt="9"/>
      <dgm:spPr/>
    </dgm:pt>
    <dgm:pt modelId="{B19F6305-FD7B-4845-9715-B12CFF20E111}" type="pres">
      <dgm:prSet presAssocID="{7142D02C-E4E5-4E56-80A5-B77DE4124DC6}" presName="hierRoot2" presStyleCnt="0">
        <dgm:presLayoutVars>
          <dgm:hierBranch val="init"/>
        </dgm:presLayoutVars>
      </dgm:prSet>
      <dgm:spPr/>
    </dgm:pt>
    <dgm:pt modelId="{B924A4FA-1A5B-4181-B060-76467E9ECA50}" type="pres">
      <dgm:prSet presAssocID="{7142D02C-E4E5-4E56-80A5-B77DE4124DC6}" presName="rootComposite" presStyleCnt="0"/>
      <dgm:spPr/>
    </dgm:pt>
    <dgm:pt modelId="{F433F8D2-051F-4A25-9FB5-7E91FC78A773}" type="pres">
      <dgm:prSet presAssocID="{7142D02C-E4E5-4E56-80A5-B77DE4124DC6}" presName="rootText" presStyleLbl="node3" presStyleIdx="0" presStyleCnt="9">
        <dgm:presLayoutVars>
          <dgm:chPref val="3"/>
        </dgm:presLayoutVars>
      </dgm:prSet>
      <dgm:spPr>
        <a:xfrm>
          <a:off x="221702" y="1724912"/>
          <a:ext cx="880570" cy="440285"/>
        </a:xfrm>
        <a:prstGeom prst="rect">
          <a:avLst/>
        </a:prstGeom>
      </dgm:spPr>
    </dgm:pt>
    <dgm:pt modelId="{6D07EC6F-D2B3-4F5F-B7BE-C5BF8A5E4F79}" type="pres">
      <dgm:prSet presAssocID="{7142D02C-E4E5-4E56-80A5-B77DE4124DC6}" presName="rootConnector" presStyleLbl="node3" presStyleIdx="0" presStyleCnt="9"/>
      <dgm:spPr/>
    </dgm:pt>
    <dgm:pt modelId="{67E8B4BA-7D11-48BC-A23B-DA1F3079D4E9}" type="pres">
      <dgm:prSet presAssocID="{7142D02C-E4E5-4E56-80A5-B77DE4124DC6}" presName="hierChild4" presStyleCnt="0"/>
      <dgm:spPr/>
    </dgm:pt>
    <dgm:pt modelId="{26907DF7-AF0C-4AA8-AF4F-8844A6388A2E}" type="pres">
      <dgm:prSet presAssocID="{7142D02C-E4E5-4E56-80A5-B77DE4124DC6}" presName="hierChild5" presStyleCnt="0"/>
      <dgm:spPr/>
    </dgm:pt>
    <dgm:pt modelId="{A007763C-06CC-4559-B988-FDCAE8BFFFDA}" type="pres">
      <dgm:prSet presAssocID="{9211C432-4984-4462-BD62-FAA7A7F8E883}" presName="Name37" presStyleLbl="parChTrans1D3" presStyleIdx="1" presStyleCnt="9"/>
      <dgm:spPr/>
    </dgm:pt>
    <dgm:pt modelId="{08F2C2C9-9666-48C2-A1A4-E9CC88969008}" type="pres">
      <dgm:prSet presAssocID="{E2DEE554-86E6-44A8-841E-FC33D345200F}" presName="hierRoot2" presStyleCnt="0">
        <dgm:presLayoutVars>
          <dgm:hierBranch val="init"/>
        </dgm:presLayoutVars>
      </dgm:prSet>
      <dgm:spPr/>
    </dgm:pt>
    <dgm:pt modelId="{B7A7B2CB-20B7-4D5F-AD1A-09B3AC331782}" type="pres">
      <dgm:prSet presAssocID="{E2DEE554-86E6-44A8-841E-FC33D345200F}" presName="rootComposite" presStyleCnt="0"/>
      <dgm:spPr/>
    </dgm:pt>
    <dgm:pt modelId="{29212A2A-2B6E-4394-806D-8FD6055910AC}" type="pres">
      <dgm:prSet presAssocID="{E2DEE554-86E6-44A8-841E-FC33D345200F}" presName="rootText" presStyleLbl="node3" presStyleIdx="1" presStyleCnt="9">
        <dgm:presLayoutVars>
          <dgm:chPref val="3"/>
        </dgm:presLayoutVars>
      </dgm:prSet>
      <dgm:spPr/>
    </dgm:pt>
    <dgm:pt modelId="{A52FF806-147D-4EC9-9FED-0C44EB054C4A}" type="pres">
      <dgm:prSet presAssocID="{E2DEE554-86E6-44A8-841E-FC33D345200F}" presName="rootConnector" presStyleLbl="node3" presStyleIdx="1" presStyleCnt="9"/>
      <dgm:spPr/>
    </dgm:pt>
    <dgm:pt modelId="{1A8B98D8-9AD5-488E-A77E-F7703C739C51}" type="pres">
      <dgm:prSet presAssocID="{E2DEE554-86E6-44A8-841E-FC33D345200F}" presName="hierChild4" presStyleCnt="0"/>
      <dgm:spPr/>
    </dgm:pt>
    <dgm:pt modelId="{7E2009E7-DD7D-4E83-A67F-3AC714EFED5B}" type="pres">
      <dgm:prSet presAssocID="{E2DEE554-86E6-44A8-841E-FC33D345200F}" presName="hierChild5" presStyleCnt="0"/>
      <dgm:spPr/>
    </dgm:pt>
    <dgm:pt modelId="{1B19B215-B6E9-4337-A983-8F432941D46F}" type="pres">
      <dgm:prSet presAssocID="{3AD78536-FB36-45AC-B50C-48D245C74991}" presName="Name37" presStyleLbl="parChTrans1D3" presStyleIdx="2" presStyleCnt="9"/>
      <dgm:spPr/>
    </dgm:pt>
    <dgm:pt modelId="{F9C4F010-F87D-4C3E-882E-A1E2BC9DCB9F}" type="pres">
      <dgm:prSet presAssocID="{C05102CE-893A-499F-B227-5F1A16D35C0D}" presName="hierRoot2" presStyleCnt="0">
        <dgm:presLayoutVars>
          <dgm:hierBranch val="init"/>
        </dgm:presLayoutVars>
      </dgm:prSet>
      <dgm:spPr/>
    </dgm:pt>
    <dgm:pt modelId="{C79B08DC-5AB7-4C98-89E7-49B23052086C}" type="pres">
      <dgm:prSet presAssocID="{C05102CE-893A-499F-B227-5F1A16D35C0D}" presName="rootComposite" presStyleCnt="0"/>
      <dgm:spPr/>
    </dgm:pt>
    <dgm:pt modelId="{513301BA-0254-42B8-B088-390108CC8620}" type="pres">
      <dgm:prSet presAssocID="{C05102CE-893A-499F-B227-5F1A16D35C0D}" presName="rootText" presStyleLbl="node3" presStyleIdx="2" presStyleCnt="9">
        <dgm:presLayoutVars>
          <dgm:chPref val="3"/>
        </dgm:presLayoutVars>
      </dgm:prSet>
      <dgm:spPr>
        <a:xfrm>
          <a:off x="682186" y="2546667"/>
          <a:ext cx="773042" cy="386521"/>
        </a:xfrm>
        <a:prstGeom prst="rect">
          <a:avLst/>
        </a:prstGeom>
      </dgm:spPr>
    </dgm:pt>
    <dgm:pt modelId="{9AB4E749-B797-4C3C-B7C0-6EE1DC2D4685}" type="pres">
      <dgm:prSet presAssocID="{C05102CE-893A-499F-B227-5F1A16D35C0D}" presName="rootConnector" presStyleLbl="node3" presStyleIdx="2" presStyleCnt="9"/>
      <dgm:spPr/>
    </dgm:pt>
    <dgm:pt modelId="{5D8644A9-8C53-47E2-8238-D4705FD7A720}" type="pres">
      <dgm:prSet presAssocID="{C05102CE-893A-499F-B227-5F1A16D35C0D}" presName="hierChild4" presStyleCnt="0"/>
      <dgm:spPr/>
    </dgm:pt>
    <dgm:pt modelId="{F18F3D34-4B23-4B50-AEA1-F553DC733628}" type="pres">
      <dgm:prSet presAssocID="{C05102CE-893A-499F-B227-5F1A16D35C0D}" presName="hierChild5" presStyleCnt="0"/>
      <dgm:spPr/>
    </dgm:pt>
    <dgm:pt modelId="{5B5C7259-1FA4-491D-B2BE-243B9C047E9E}" type="pres">
      <dgm:prSet presAssocID="{F0908628-966B-4035-88DB-6EBD32163C5B}" presName="Name37" presStyleLbl="parChTrans1D3" presStyleIdx="3" presStyleCnt="9"/>
      <dgm:spPr/>
    </dgm:pt>
    <dgm:pt modelId="{557793AD-C74B-46EE-96A8-0F155162ABE8}" type="pres">
      <dgm:prSet presAssocID="{CCBC8F0D-6137-4885-85DD-75556DCB040E}" presName="hierRoot2" presStyleCnt="0">
        <dgm:presLayoutVars>
          <dgm:hierBranch val="init"/>
        </dgm:presLayoutVars>
      </dgm:prSet>
      <dgm:spPr/>
    </dgm:pt>
    <dgm:pt modelId="{06F8B321-3D61-49BD-A7B2-7FBCCE7D324A}" type="pres">
      <dgm:prSet presAssocID="{CCBC8F0D-6137-4885-85DD-75556DCB040E}" presName="rootComposite" presStyleCnt="0"/>
      <dgm:spPr/>
    </dgm:pt>
    <dgm:pt modelId="{3EAC7351-3843-46A4-924C-B6613AAE8F8E}" type="pres">
      <dgm:prSet presAssocID="{CCBC8F0D-6137-4885-85DD-75556DCB040E}" presName="rootText" presStyleLbl="node3" presStyleIdx="3" presStyleCnt="9">
        <dgm:presLayoutVars>
          <dgm:chPref val="3"/>
        </dgm:presLayoutVars>
      </dgm:prSet>
      <dgm:spPr>
        <a:xfrm>
          <a:off x="682186" y="3095527"/>
          <a:ext cx="773042" cy="386521"/>
        </a:xfrm>
        <a:prstGeom prst="rect">
          <a:avLst/>
        </a:prstGeom>
      </dgm:spPr>
    </dgm:pt>
    <dgm:pt modelId="{0732785C-F25E-47B4-B5B1-C945A953C5BD}" type="pres">
      <dgm:prSet presAssocID="{CCBC8F0D-6137-4885-85DD-75556DCB040E}" presName="rootConnector" presStyleLbl="node3" presStyleIdx="3" presStyleCnt="9"/>
      <dgm:spPr/>
    </dgm:pt>
    <dgm:pt modelId="{B302F41F-F2BA-4DB1-A6B8-632E989B7052}" type="pres">
      <dgm:prSet presAssocID="{CCBC8F0D-6137-4885-85DD-75556DCB040E}" presName="hierChild4" presStyleCnt="0"/>
      <dgm:spPr/>
    </dgm:pt>
    <dgm:pt modelId="{D0ED759D-2AFE-4BFE-A2F4-910D4B245110}" type="pres">
      <dgm:prSet presAssocID="{CCBC8F0D-6137-4885-85DD-75556DCB040E}" presName="hierChild5" presStyleCnt="0"/>
      <dgm:spPr/>
    </dgm:pt>
    <dgm:pt modelId="{A90CB850-3000-45F0-9A70-AC47EBC9421A}" type="pres">
      <dgm:prSet presAssocID="{CD130441-E081-457C-8344-33C9C50F118E}" presName="Name37" presStyleLbl="parChTrans1D3" presStyleIdx="4" presStyleCnt="9"/>
      <dgm:spPr/>
    </dgm:pt>
    <dgm:pt modelId="{E02C3F33-6EDF-4C58-B6AB-35530DBC20E4}" type="pres">
      <dgm:prSet presAssocID="{B162AF46-C22D-4968-A2A5-62543BBE22E2}" presName="hierRoot2" presStyleCnt="0">
        <dgm:presLayoutVars>
          <dgm:hierBranch val="init"/>
        </dgm:presLayoutVars>
      </dgm:prSet>
      <dgm:spPr/>
    </dgm:pt>
    <dgm:pt modelId="{98402485-6510-46D9-88E7-775262057C1D}" type="pres">
      <dgm:prSet presAssocID="{B162AF46-C22D-4968-A2A5-62543BBE22E2}" presName="rootComposite" presStyleCnt="0"/>
      <dgm:spPr/>
    </dgm:pt>
    <dgm:pt modelId="{ADB5D4B2-2F36-44CF-A2EC-F07125B71179}" type="pres">
      <dgm:prSet presAssocID="{B162AF46-C22D-4968-A2A5-62543BBE22E2}" presName="rootText" presStyleLbl="node3" presStyleIdx="4" presStyleCnt="9">
        <dgm:presLayoutVars>
          <dgm:chPref val="3"/>
        </dgm:presLayoutVars>
      </dgm:prSet>
      <dgm:spPr>
        <a:xfrm>
          <a:off x="389124" y="3102897"/>
          <a:ext cx="774941" cy="387470"/>
        </a:xfrm>
        <a:prstGeom prst="rect">
          <a:avLst/>
        </a:prstGeom>
      </dgm:spPr>
    </dgm:pt>
    <dgm:pt modelId="{D03D348F-E31B-4651-A45A-AC42E78F388F}" type="pres">
      <dgm:prSet presAssocID="{B162AF46-C22D-4968-A2A5-62543BBE22E2}" presName="rootConnector" presStyleLbl="node3" presStyleIdx="4" presStyleCnt="9"/>
      <dgm:spPr/>
    </dgm:pt>
    <dgm:pt modelId="{692B2997-0C1E-4C92-8696-CE64372BD8C4}" type="pres">
      <dgm:prSet presAssocID="{B162AF46-C22D-4968-A2A5-62543BBE22E2}" presName="hierChild4" presStyleCnt="0"/>
      <dgm:spPr/>
    </dgm:pt>
    <dgm:pt modelId="{BAA603B4-CFCE-47FD-936A-86973D16B362}" type="pres">
      <dgm:prSet presAssocID="{B162AF46-C22D-4968-A2A5-62543BBE22E2}" presName="hierChild5" presStyleCnt="0"/>
      <dgm:spPr/>
    </dgm:pt>
    <dgm:pt modelId="{F0067369-49F0-4919-BB59-91C0D42F6A83}" type="pres">
      <dgm:prSet presAssocID="{FBB9131E-A862-494A-ABEA-D48B12FB585E}" presName="hierChild5" presStyleCnt="0"/>
      <dgm:spPr/>
    </dgm:pt>
    <dgm:pt modelId="{ABEA2C9F-5C17-46D6-84BE-6A7BF4AFF40B}" type="pres">
      <dgm:prSet presAssocID="{3BD6A61A-A091-427B-AEF5-B6853E1B54F1}" presName="Name37" presStyleLbl="parChTrans1D2" presStyleIdx="1" presStyleCnt="3"/>
      <dgm:spPr/>
    </dgm:pt>
    <dgm:pt modelId="{2BD4C873-38C0-4A28-8D07-F4D6AF82BFB9}" type="pres">
      <dgm:prSet presAssocID="{DEB5A818-8580-4EFE-AC5F-F656517A4087}" presName="hierRoot2" presStyleCnt="0">
        <dgm:presLayoutVars>
          <dgm:hierBranch val="init"/>
        </dgm:presLayoutVars>
      </dgm:prSet>
      <dgm:spPr/>
    </dgm:pt>
    <dgm:pt modelId="{BB9EF54B-BDF4-4333-8220-17B295DFB7BA}" type="pres">
      <dgm:prSet presAssocID="{DEB5A818-8580-4EFE-AC5F-F656517A4087}" presName="rootComposite" presStyleCnt="0"/>
      <dgm:spPr/>
    </dgm:pt>
    <dgm:pt modelId="{104D1DCF-351B-447B-8457-5BBFD6B42680}" type="pres">
      <dgm:prSet presAssocID="{DEB5A818-8580-4EFE-AC5F-F656517A4087}" presName="rootText" presStyleLbl="node2" presStyleIdx="1" presStyleCnt="3">
        <dgm:presLayoutVars>
          <dgm:chPref val="3"/>
        </dgm:presLayoutVars>
      </dgm:prSet>
      <dgm:spPr>
        <a:xfrm>
          <a:off x="1287090" y="901092"/>
          <a:ext cx="772345" cy="386172"/>
        </a:xfrm>
        <a:prstGeom prst="rect">
          <a:avLst/>
        </a:prstGeom>
      </dgm:spPr>
    </dgm:pt>
    <dgm:pt modelId="{DD703DA6-860C-40BF-8970-F1CE9C9B4B2C}" type="pres">
      <dgm:prSet presAssocID="{DEB5A818-8580-4EFE-AC5F-F656517A4087}" presName="rootConnector" presStyleLbl="node2" presStyleIdx="1" presStyleCnt="3"/>
      <dgm:spPr/>
    </dgm:pt>
    <dgm:pt modelId="{3ACCDCB3-B1A8-4029-9D1D-2EAE47BC48E6}" type="pres">
      <dgm:prSet presAssocID="{DEB5A818-8580-4EFE-AC5F-F656517A4087}" presName="hierChild4" presStyleCnt="0"/>
      <dgm:spPr/>
    </dgm:pt>
    <dgm:pt modelId="{7941678C-826A-40D1-ABC8-EF4014439422}" type="pres">
      <dgm:prSet presAssocID="{996A333F-5F3A-4F19-8555-631803C385FF}" presName="Name37" presStyleLbl="parChTrans1D3" presStyleIdx="5" presStyleCnt="9"/>
      <dgm:spPr/>
    </dgm:pt>
    <dgm:pt modelId="{B786FDB5-174A-453C-AADB-5D16823B00C6}" type="pres">
      <dgm:prSet presAssocID="{BBA6BB66-2C05-4EC2-83A0-F94E6253D46E}" presName="hierRoot2" presStyleCnt="0">
        <dgm:presLayoutVars>
          <dgm:hierBranch val="init"/>
        </dgm:presLayoutVars>
      </dgm:prSet>
      <dgm:spPr/>
    </dgm:pt>
    <dgm:pt modelId="{C1348845-C027-4259-947F-769DD921F649}" type="pres">
      <dgm:prSet presAssocID="{BBA6BB66-2C05-4EC2-83A0-F94E6253D46E}" presName="rootComposite" presStyleCnt="0"/>
      <dgm:spPr/>
    </dgm:pt>
    <dgm:pt modelId="{3340AC50-D557-4F69-B212-B2664F4E9193}" type="pres">
      <dgm:prSet presAssocID="{BBA6BB66-2C05-4EC2-83A0-F94E6253D46E}" presName="rootText" presStyleLbl="node3" presStyleIdx="5" presStyleCnt="9">
        <dgm:presLayoutVars>
          <dgm:chPref val="3"/>
        </dgm:presLayoutVars>
      </dgm:prSet>
      <dgm:spPr>
        <a:xfrm>
          <a:off x="1617567" y="1448948"/>
          <a:ext cx="773042" cy="386521"/>
        </a:xfrm>
        <a:prstGeom prst="rect">
          <a:avLst/>
        </a:prstGeom>
      </dgm:spPr>
    </dgm:pt>
    <dgm:pt modelId="{DECE1CBF-0651-49A1-8FCB-3C9F05BCEAA5}" type="pres">
      <dgm:prSet presAssocID="{BBA6BB66-2C05-4EC2-83A0-F94E6253D46E}" presName="rootConnector" presStyleLbl="node3" presStyleIdx="5" presStyleCnt="9"/>
      <dgm:spPr/>
    </dgm:pt>
    <dgm:pt modelId="{02FE7AB4-9460-44DB-A8C3-35032E0147BD}" type="pres">
      <dgm:prSet presAssocID="{BBA6BB66-2C05-4EC2-83A0-F94E6253D46E}" presName="hierChild4" presStyleCnt="0"/>
      <dgm:spPr/>
    </dgm:pt>
    <dgm:pt modelId="{77BA7EC7-E89D-4582-9CD9-1AD6EACA18CE}" type="pres">
      <dgm:prSet presAssocID="{BBA6BB66-2C05-4EC2-83A0-F94E6253D46E}" presName="hierChild5" presStyleCnt="0"/>
      <dgm:spPr/>
    </dgm:pt>
    <dgm:pt modelId="{3E2D4C08-E293-4D1C-ADB0-CF48C6A82932}" type="pres">
      <dgm:prSet presAssocID="{C8DC81FD-AAD9-4CCF-A93E-F4F558814B7F}" presName="Name37" presStyleLbl="parChTrans1D3" presStyleIdx="6" presStyleCnt="9"/>
      <dgm:spPr/>
    </dgm:pt>
    <dgm:pt modelId="{09F938D7-3270-4B3D-B37E-9E3A107C8019}" type="pres">
      <dgm:prSet presAssocID="{FDDA7B84-FD63-40BE-9130-97AE6239C4CB}" presName="hierRoot2" presStyleCnt="0">
        <dgm:presLayoutVars>
          <dgm:hierBranch val="init"/>
        </dgm:presLayoutVars>
      </dgm:prSet>
      <dgm:spPr/>
    </dgm:pt>
    <dgm:pt modelId="{66F44EEB-476B-4E3E-8C0C-590E50B6DA39}" type="pres">
      <dgm:prSet presAssocID="{FDDA7B84-FD63-40BE-9130-97AE6239C4CB}" presName="rootComposite" presStyleCnt="0"/>
      <dgm:spPr/>
    </dgm:pt>
    <dgm:pt modelId="{522D5E24-DB41-476B-9A1F-06F7D70543B0}" type="pres">
      <dgm:prSet presAssocID="{FDDA7B84-FD63-40BE-9130-97AE6239C4CB}" presName="rootText" presStyleLbl="node3" presStyleIdx="6" presStyleCnt="9">
        <dgm:presLayoutVars>
          <dgm:chPref val="3"/>
        </dgm:presLayoutVars>
      </dgm:prSet>
      <dgm:spPr>
        <a:xfrm>
          <a:off x="1617567" y="1997807"/>
          <a:ext cx="773042" cy="386521"/>
        </a:xfrm>
        <a:prstGeom prst="rect">
          <a:avLst/>
        </a:prstGeom>
      </dgm:spPr>
    </dgm:pt>
    <dgm:pt modelId="{8B7F5C0B-2461-4831-B977-EC5B01657B5B}" type="pres">
      <dgm:prSet presAssocID="{FDDA7B84-FD63-40BE-9130-97AE6239C4CB}" presName="rootConnector" presStyleLbl="node3" presStyleIdx="6" presStyleCnt="9"/>
      <dgm:spPr/>
    </dgm:pt>
    <dgm:pt modelId="{D2A61B19-4B4F-44F8-A928-AFA28DE4A69E}" type="pres">
      <dgm:prSet presAssocID="{FDDA7B84-FD63-40BE-9130-97AE6239C4CB}" presName="hierChild4" presStyleCnt="0"/>
      <dgm:spPr/>
    </dgm:pt>
    <dgm:pt modelId="{CEA5F5F7-C306-41A4-93E6-FC54C6E50B34}" type="pres">
      <dgm:prSet presAssocID="{FDDA7B84-FD63-40BE-9130-97AE6239C4CB}" presName="hierChild5" presStyleCnt="0"/>
      <dgm:spPr/>
    </dgm:pt>
    <dgm:pt modelId="{0EE0B623-50AE-4829-8F9F-1596EA7970C4}" type="pres">
      <dgm:prSet presAssocID="{C96C4B5A-8554-4D29-AC64-2ED2AFC421BC}" presName="Name37" presStyleLbl="parChTrans1D3" presStyleIdx="7" presStyleCnt="9"/>
      <dgm:spPr/>
    </dgm:pt>
    <dgm:pt modelId="{6E034814-3B8C-434B-A9FD-7BFC4060F958}" type="pres">
      <dgm:prSet presAssocID="{51803571-7219-405D-9E17-724FBE3F487B}" presName="hierRoot2" presStyleCnt="0">
        <dgm:presLayoutVars>
          <dgm:hierBranch val="init"/>
        </dgm:presLayoutVars>
      </dgm:prSet>
      <dgm:spPr/>
    </dgm:pt>
    <dgm:pt modelId="{732EFFAF-7663-45F8-A420-7F97BF30354E}" type="pres">
      <dgm:prSet presAssocID="{51803571-7219-405D-9E17-724FBE3F487B}" presName="rootComposite" presStyleCnt="0"/>
      <dgm:spPr/>
    </dgm:pt>
    <dgm:pt modelId="{840230FD-BAFF-4A53-BF56-6C7991DDAF6C}" type="pres">
      <dgm:prSet presAssocID="{51803571-7219-405D-9E17-724FBE3F487B}" presName="rootText" presStyleLbl="node3" presStyleIdx="7" presStyleCnt="9">
        <dgm:presLayoutVars>
          <dgm:chPref val="3"/>
        </dgm:presLayoutVars>
      </dgm:prSet>
      <dgm:spPr/>
    </dgm:pt>
    <dgm:pt modelId="{F370E7D3-43E0-4B73-AE88-93F49E82CEF2}" type="pres">
      <dgm:prSet presAssocID="{51803571-7219-405D-9E17-724FBE3F487B}" presName="rootConnector" presStyleLbl="node3" presStyleIdx="7" presStyleCnt="9"/>
      <dgm:spPr/>
    </dgm:pt>
    <dgm:pt modelId="{B636AE93-090B-48A0-9E28-39C313086B78}" type="pres">
      <dgm:prSet presAssocID="{51803571-7219-405D-9E17-724FBE3F487B}" presName="hierChild4" presStyleCnt="0"/>
      <dgm:spPr/>
    </dgm:pt>
    <dgm:pt modelId="{04E3648B-401B-4CA8-8DDD-02671D241A74}" type="pres">
      <dgm:prSet presAssocID="{51803571-7219-405D-9E17-724FBE3F487B}" presName="hierChild5" presStyleCnt="0"/>
      <dgm:spPr/>
    </dgm:pt>
    <dgm:pt modelId="{F7D63FEC-5E01-4B1F-9422-983B324A85B7}" type="pres">
      <dgm:prSet presAssocID="{DEB5A818-8580-4EFE-AC5F-F656517A4087}" presName="hierChild5" presStyleCnt="0"/>
      <dgm:spPr/>
    </dgm:pt>
    <dgm:pt modelId="{6DB02DB2-39CA-456C-8A26-A58E6463CBA2}" type="pres">
      <dgm:prSet presAssocID="{1D3EAC51-A1E4-4500-9DA7-DA1EC9B33A61}" presName="Name37" presStyleLbl="parChTrans1D2" presStyleIdx="2" presStyleCnt="3"/>
      <dgm:spPr/>
    </dgm:pt>
    <dgm:pt modelId="{21413CF1-C8B1-4AD4-9551-EEDF55D677F5}" type="pres">
      <dgm:prSet presAssocID="{B005DA5E-CCC9-4070-8F5D-B54121EAE77E}" presName="hierRoot2" presStyleCnt="0">
        <dgm:presLayoutVars>
          <dgm:hierBranch val="init"/>
        </dgm:presLayoutVars>
      </dgm:prSet>
      <dgm:spPr/>
    </dgm:pt>
    <dgm:pt modelId="{7BF83F2B-CB54-4573-A92B-D06307420390}" type="pres">
      <dgm:prSet presAssocID="{B005DA5E-CCC9-4070-8F5D-B54121EAE77E}" presName="rootComposite" presStyleCnt="0"/>
      <dgm:spPr/>
    </dgm:pt>
    <dgm:pt modelId="{0531CC85-4BE4-42BB-9941-0C23265DA432}" type="pres">
      <dgm:prSet presAssocID="{B005DA5E-CCC9-4070-8F5D-B54121EAE77E}" presName="rootText" presStyleLbl="node2" presStyleIdx="2" presStyleCnt="3">
        <dgm:presLayoutVars>
          <dgm:chPref val="3"/>
        </dgm:presLayoutVars>
      </dgm:prSet>
      <dgm:spPr/>
    </dgm:pt>
    <dgm:pt modelId="{94ABD043-34BB-4947-9D8F-9E42F0AE9728}" type="pres">
      <dgm:prSet presAssocID="{B005DA5E-CCC9-4070-8F5D-B54121EAE77E}" presName="rootConnector" presStyleLbl="node2" presStyleIdx="2" presStyleCnt="3"/>
      <dgm:spPr/>
    </dgm:pt>
    <dgm:pt modelId="{194E6023-D233-41B9-8818-FF7EF3581D9B}" type="pres">
      <dgm:prSet presAssocID="{B005DA5E-CCC9-4070-8F5D-B54121EAE77E}" presName="hierChild4" presStyleCnt="0"/>
      <dgm:spPr/>
    </dgm:pt>
    <dgm:pt modelId="{61BCD7EF-CA6D-4330-8B1D-0C2B64BCF9C6}" type="pres">
      <dgm:prSet presAssocID="{EB750181-CB0C-4F01-AD10-E2C75112487B}" presName="Name37" presStyleLbl="parChTrans1D3" presStyleIdx="8" presStyleCnt="9"/>
      <dgm:spPr/>
    </dgm:pt>
    <dgm:pt modelId="{BC7085DD-01A6-41FB-B637-2F842EB1A7B8}" type="pres">
      <dgm:prSet presAssocID="{7CA7396C-1FDD-4B70-B225-A9F3A40066B1}" presName="hierRoot2" presStyleCnt="0">
        <dgm:presLayoutVars>
          <dgm:hierBranch val="init"/>
        </dgm:presLayoutVars>
      </dgm:prSet>
      <dgm:spPr/>
    </dgm:pt>
    <dgm:pt modelId="{6CB2B104-6E5E-4235-AAD2-83C716650D68}" type="pres">
      <dgm:prSet presAssocID="{7CA7396C-1FDD-4B70-B225-A9F3A40066B1}" presName="rootComposite" presStyleCnt="0"/>
      <dgm:spPr/>
    </dgm:pt>
    <dgm:pt modelId="{01628E2D-9115-4C9F-B46C-20A5CA6CB030}" type="pres">
      <dgm:prSet presAssocID="{7CA7396C-1FDD-4B70-B225-A9F3A40066B1}" presName="rootText" presStyleLbl="node3" presStyleIdx="8" presStyleCnt="9">
        <dgm:presLayoutVars>
          <dgm:chPref val="3"/>
        </dgm:presLayoutVars>
      </dgm:prSet>
      <dgm:spPr/>
    </dgm:pt>
    <dgm:pt modelId="{41497914-7BE4-4FA0-B3C7-A710AA046A8F}" type="pres">
      <dgm:prSet presAssocID="{7CA7396C-1FDD-4B70-B225-A9F3A40066B1}" presName="rootConnector" presStyleLbl="node3" presStyleIdx="8" presStyleCnt="9"/>
      <dgm:spPr/>
    </dgm:pt>
    <dgm:pt modelId="{DE9A41B5-9C1B-435E-AA8D-A2F097A30214}" type="pres">
      <dgm:prSet presAssocID="{7CA7396C-1FDD-4B70-B225-A9F3A40066B1}" presName="hierChild4" presStyleCnt="0"/>
      <dgm:spPr/>
    </dgm:pt>
    <dgm:pt modelId="{D763CFBC-50D0-4C25-959F-1EE02E984F26}" type="pres">
      <dgm:prSet presAssocID="{7CA7396C-1FDD-4B70-B225-A9F3A40066B1}" presName="hierChild5" presStyleCnt="0"/>
      <dgm:spPr/>
    </dgm:pt>
    <dgm:pt modelId="{B72A9876-750F-440F-935F-B600D92956E1}" type="pres">
      <dgm:prSet presAssocID="{B005DA5E-CCC9-4070-8F5D-B54121EAE77E}" presName="hierChild5" presStyleCnt="0"/>
      <dgm:spPr/>
    </dgm:pt>
    <dgm:pt modelId="{8FD7435C-8313-43F3-A6C0-6333D5658AAA}" type="pres">
      <dgm:prSet presAssocID="{BF24045A-56AE-43B0-BED8-A6ED87CA5F6C}" presName="hierChild3" presStyleCnt="0"/>
      <dgm:spPr/>
    </dgm:pt>
  </dgm:ptLst>
  <dgm:cxnLst>
    <dgm:cxn modelId="{5CF08705-1E81-47AC-81DD-C3F9D5E4B795}" type="presOf" srcId="{DEB5A818-8580-4EFE-AC5F-F656517A4087}" destId="{DD703DA6-860C-40BF-8970-F1CE9C9B4B2C}" srcOrd="1" destOrd="0" presId="urn:microsoft.com/office/officeart/2005/8/layout/orgChart1"/>
    <dgm:cxn modelId="{060BAD05-23B1-4F84-B508-EFCD7BC19116}" type="presOf" srcId="{B005DA5E-CCC9-4070-8F5D-B54121EAE77E}" destId="{0531CC85-4BE4-42BB-9941-0C23265DA432}" srcOrd="0" destOrd="0" presId="urn:microsoft.com/office/officeart/2005/8/layout/orgChart1"/>
    <dgm:cxn modelId="{3EE57F07-E8AD-47FF-BC1E-28B0C20E8C2E}" srcId="{FBB9131E-A862-494A-ABEA-D48B12FB585E}" destId="{7142D02C-E4E5-4E56-80A5-B77DE4124DC6}" srcOrd="0" destOrd="0" parTransId="{CB90EEA7-9B7F-4749-8ACF-783AC5975F93}" sibTransId="{B6818093-5E42-4B47-8312-77D9CA4A5288}"/>
    <dgm:cxn modelId="{7F200808-E984-4FD7-B4E5-9F3AB6ACD5CC}" type="presOf" srcId="{7CA7396C-1FDD-4B70-B225-A9F3A40066B1}" destId="{41497914-7BE4-4FA0-B3C7-A710AA046A8F}" srcOrd="1" destOrd="0" presId="urn:microsoft.com/office/officeart/2005/8/layout/orgChart1"/>
    <dgm:cxn modelId="{5784DE08-6210-4F3F-9A71-7D1C5B7DE4B0}" srcId="{FBB9131E-A862-494A-ABEA-D48B12FB585E}" destId="{E2DEE554-86E6-44A8-841E-FC33D345200F}" srcOrd="1" destOrd="0" parTransId="{9211C432-4984-4462-BD62-FAA7A7F8E883}" sibTransId="{E30DAAE0-7974-47B2-BAC8-0793E1AA9486}"/>
    <dgm:cxn modelId="{1D528309-491E-4EE1-AA94-A7BDDEA35BEC}" srcId="{B1A1A9B8-5CE2-4F8C-BDC5-9E45C5628CB8}" destId="{BF24045A-56AE-43B0-BED8-A6ED87CA5F6C}" srcOrd="0" destOrd="0" parTransId="{6DD15889-239B-4CF6-8F09-F246A02F954E}" sibTransId="{6DDBF0E6-745E-4B4E-94C3-5699A5E322CE}"/>
    <dgm:cxn modelId="{94459D0F-4C96-47D2-B0BA-7009141CA7B3}" type="presOf" srcId="{BBA6BB66-2C05-4EC2-83A0-F94E6253D46E}" destId="{3340AC50-D557-4F69-B212-B2664F4E9193}" srcOrd="0" destOrd="0" presId="urn:microsoft.com/office/officeart/2005/8/layout/orgChart1"/>
    <dgm:cxn modelId="{B6D99A12-1328-464C-872D-1A124FDEB35F}" srcId="{BF24045A-56AE-43B0-BED8-A6ED87CA5F6C}" destId="{B005DA5E-CCC9-4070-8F5D-B54121EAE77E}" srcOrd="2" destOrd="0" parTransId="{1D3EAC51-A1E4-4500-9DA7-DA1EC9B33A61}" sibTransId="{A5D06D3A-687E-4ACC-A2FF-5A5FB1D98AEA}"/>
    <dgm:cxn modelId="{37CC0414-4342-4AD4-8751-6F0DA6C24836}" srcId="{DEB5A818-8580-4EFE-AC5F-F656517A4087}" destId="{51803571-7219-405D-9E17-724FBE3F487B}" srcOrd="2" destOrd="0" parTransId="{C96C4B5A-8554-4D29-AC64-2ED2AFC421BC}" sibTransId="{95B0F706-DABD-4A9D-8140-0CECC7C0E3D3}"/>
    <dgm:cxn modelId="{A6E7B219-0652-4627-9C3F-F4ACD7153433}" type="presOf" srcId="{CD130441-E081-457C-8344-33C9C50F118E}" destId="{A90CB850-3000-45F0-9A70-AC47EBC9421A}" srcOrd="0" destOrd="0" presId="urn:microsoft.com/office/officeart/2005/8/layout/orgChart1"/>
    <dgm:cxn modelId="{6A669821-4FE0-4C73-8F7B-4B1B2FF1CD00}" type="presOf" srcId="{B162AF46-C22D-4968-A2A5-62543BBE22E2}" destId="{D03D348F-E31B-4651-A45A-AC42E78F388F}" srcOrd="1" destOrd="0" presId="urn:microsoft.com/office/officeart/2005/8/layout/orgChart1"/>
    <dgm:cxn modelId="{B5DE0B2B-2F82-4FD6-9B0C-7AEB6AFFD4A2}" srcId="{B005DA5E-CCC9-4070-8F5D-B54121EAE77E}" destId="{7CA7396C-1FDD-4B70-B225-A9F3A40066B1}" srcOrd="0" destOrd="0" parTransId="{EB750181-CB0C-4F01-AD10-E2C75112487B}" sibTransId="{4B720BBE-F675-4E29-87FE-57F65CD9770C}"/>
    <dgm:cxn modelId="{9FB1A530-196E-4A70-9254-54960B136694}" type="presOf" srcId="{C8DC81FD-AAD9-4CCF-A93E-F4F558814B7F}" destId="{3E2D4C08-E293-4D1C-ADB0-CF48C6A82932}" srcOrd="0" destOrd="0" presId="urn:microsoft.com/office/officeart/2005/8/layout/orgChart1"/>
    <dgm:cxn modelId="{B94E5335-E4EA-4012-A623-ABCCD806E0FC}" type="presOf" srcId="{FBB9131E-A862-494A-ABEA-D48B12FB585E}" destId="{30696B27-0668-4893-A078-7AD6DCBAE600}" srcOrd="0" destOrd="0" presId="urn:microsoft.com/office/officeart/2005/8/layout/orgChart1"/>
    <dgm:cxn modelId="{144BDB35-5CA2-4D73-BB8C-6CA21E01F4D8}" srcId="{DEB5A818-8580-4EFE-AC5F-F656517A4087}" destId="{FDDA7B84-FD63-40BE-9130-97AE6239C4CB}" srcOrd="1" destOrd="0" parTransId="{C8DC81FD-AAD9-4CCF-A93E-F4F558814B7F}" sibTransId="{175CC0EA-2895-43C0-9733-1D6A0349B000}"/>
    <dgm:cxn modelId="{7478893D-931A-4A0E-A818-C8103B6D432D}" type="presOf" srcId="{CCBC8F0D-6137-4885-85DD-75556DCB040E}" destId="{0732785C-F25E-47B4-B5B1-C945A953C5BD}" srcOrd="1" destOrd="0" presId="urn:microsoft.com/office/officeart/2005/8/layout/orgChart1"/>
    <dgm:cxn modelId="{C775C73E-1F68-4DD0-8301-BB1A175D814B}" type="presOf" srcId="{FDDA7B84-FD63-40BE-9130-97AE6239C4CB}" destId="{8B7F5C0B-2461-4831-B977-EC5B01657B5B}" srcOrd="1" destOrd="0" presId="urn:microsoft.com/office/officeart/2005/8/layout/orgChart1"/>
    <dgm:cxn modelId="{6607EA3F-C20D-4D4D-B5E3-EC16DE91FD6A}" type="presOf" srcId="{996A333F-5F3A-4F19-8555-631803C385FF}" destId="{7941678C-826A-40D1-ABC8-EF4014439422}" srcOrd="0" destOrd="0" presId="urn:microsoft.com/office/officeart/2005/8/layout/orgChart1"/>
    <dgm:cxn modelId="{9B9F3E5D-A6C3-4D0C-A535-915F4CE5754C}" type="presOf" srcId="{F0908628-966B-4035-88DB-6EBD32163C5B}" destId="{5B5C7259-1FA4-491D-B2BE-243B9C047E9E}" srcOrd="0" destOrd="0" presId="urn:microsoft.com/office/officeart/2005/8/layout/orgChart1"/>
    <dgm:cxn modelId="{B1BAAB5E-7EE5-447B-8FE1-F60D035457BB}" type="presOf" srcId="{E2DEE554-86E6-44A8-841E-FC33D345200F}" destId="{A52FF806-147D-4EC9-9FED-0C44EB054C4A}" srcOrd="1" destOrd="0" presId="urn:microsoft.com/office/officeart/2005/8/layout/orgChart1"/>
    <dgm:cxn modelId="{3DE0E142-8B25-4406-AA5B-BE4DBA82BD81}" srcId="{BF24045A-56AE-43B0-BED8-A6ED87CA5F6C}" destId="{DEB5A818-8580-4EFE-AC5F-F656517A4087}" srcOrd="1" destOrd="0" parTransId="{3BD6A61A-A091-427B-AEF5-B6853E1B54F1}" sibTransId="{6BBA69B8-2B59-4A96-839A-4AFE54163718}"/>
    <dgm:cxn modelId="{BD406744-7C75-43C5-8AFA-9A96E258B69E}" type="presOf" srcId="{C05102CE-893A-499F-B227-5F1A16D35C0D}" destId="{9AB4E749-B797-4C3C-B7C0-6EE1DC2D4685}" srcOrd="1" destOrd="0" presId="urn:microsoft.com/office/officeart/2005/8/layout/orgChart1"/>
    <dgm:cxn modelId="{1AE07164-2CE3-470E-A67B-AA36321BCA6E}" type="presOf" srcId="{C96C4B5A-8554-4D29-AC64-2ED2AFC421BC}" destId="{0EE0B623-50AE-4829-8F9F-1596EA7970C4}" srcOrd="0" destOrd="0" presId="urn:microsoft.com/office/officeart/2005/8/layout/orgChart1"/>
    <dgm:cxn modelId="{82D15C46-8ED5-4F90-B51F-FDE1A77140FF}" type="presOf" srcId="{E2DEE554-86E6-44A8-841E-FC33D345200F}" destId="{29212A2A-2B6E-4394-806D-8FD6055910AC}" srcOrd="0" destOrd="0" presId="urn:microsoft.com/office/officeart/2005/8/layout/orgChart1"/>
    <dgm:cxn modelId="{10C0FA66-79A4-41B9-A45A-550F97AC9A9A}" type="presOf" srcId="{3BD6A61A-A091-427B-AEF5-B6853E1B54F1}" destId="{ABEA2C9F-5C17-46D6-84BE-6A7BF4AFF40B}" srcOrd="0" destOrd="0" presId="urn:microsoft.com/office/officeart/2005/8/layout/orgChart1"/>
    <dgm:cxn modelId="{DF63C967-9BFE-4071-A410-CA9131E58F63}" type="presOf" srcId="{1D3EAC51-A1E4-4500-9DA7-DA1EC9B33A61}" destId="{6DB02DB2-39CA-456C-8A26-A58E6463CBA2}" srcOrd="0" destOrd="0" presId="urn:microsoft.com/office/officeart/2005/8/layout/orgChart1"/>
    <dgm:cxn modelId="{22C1F94C-0A93-43D7-BD84-5E5AC1BC485E}" type="presOf" srcId="{BBA6BB66-2C05-4EC2-83A0-F94E6253D46E}" destId="{DECE1CBF-0651-49A1-8FCB-3C9F05BCEAA5}" srcOrd="1" destOrd="0" presId="urn:microsoft.com/office/officeart/2005/8/layout/orgChart1"/>
    <dgm:cxn modelId="{550C0071-035C-4A5E-A4EA-6638CEC80835}" type="presOf" srcId="{9FFB6809-3DC7-497A-8034-939E54F80D08}" destId="{B4C59C37-93AB-49D3-AB04-70D89C6F7AA7}" srcOrd="0" destOrd="0" presId="urn:microsoft.com/office/officeart/2005/8/layout/orgChart1"/>
    <dgm:cxn modelId="{1C519171-9FF5-4850-8F96-05A3B20D03FF}" type="presOf" srcId="{51803571-7219-405D-9E17-724FBE3F487B}" destId="{F370E7D3-43E0-4B73-AE88-93F49E82CEF2}" srcOrd="1" destOrd="0" presId="urn:microsoft.com/office/officeart/2005/8/layout/orgChart1"/>
    <dgm:cxn modelId="{F7D4157E-A611-4E16-8F52-8EA336B893A9}" type="presOf" srcId="{DEB5A818-8580-4EFE-AC5F-F656517A4087}" destId="{104D1DCF-351B-447B-8457-5BBFD6B42680}" srcOrd="0" destOrd="0" presId="urn:microsoft.com/office/officeart/2005/8/layout/orgChart1"/>
    <dgm:cxn modelId="{6C559982-597B-44D0-B5A6-950B04AC1C3A}" type="presOf" srcId="{7142D02C-E4E5-4E56-80A5-B77DE4124DC6}" destId="{6D07EC6F-D2B3-4F5F-B7BE-C5BF8A5E4F79}" srcOrd="1" destOrd="0" presId="urn:microsoft.com/office/officeart/2005/8/layout/orgChart1"/>
    <dgm:cxn modelId="{8DDEAF83-FFB3-4ABE-BBEB-BCF2BCEC06B2}" type="presOf" srcId="{C05102CE-893A-499F-B227-5F1A16D35C0D}" destId="{513301BA-0254-42B8-B088-390108CC8620}" srcOrd="0" destOrd="0" presId="urn:microsoft.com/office/officeart/2005/8/layout/orgChart1"/>
    <dgm:cxn modelId="{89707C84-670E-4835-9C7D-96F8F9AC62E6}" type="presOf" srcId="{B1A1A9B8-5CE2-4F8C-BDC5-9E45C5628CB8}" destId="{3DB71D7F-3DA0-4D1F-9479-078B43FAFD07}" srcOrd="0" destOrd="0" presId="urn:microsoft.com/office/officeart/2005/8/layout/orgChart1"/>
    <dgm:cxn modelId="{9309A284-D386-4B57-9503-E44FB25C7F92}" type="presOf" srcId="{EB750181-CB0C-4F01-AD10-E2C75112487B}" destId="{61BCD7EF-CA6D-4330-8B1D-0C2B64BCF9C6}" srcOrd="0" destOrd="0" presId="urn:microsoft.com/office/officeart/2005/8/layout/orgChart1"/>
    <dgm:cxn modelId="{32D57788-0FDF-4A38-8B47-5040E0D3B7F5}" type="presOf" srcId="{BF24045A-56AE-43B0-BED8-A6ED87CA5F6C}" destId="{36E3547F-7521-4CCE-AA66-93B67033582D}" srcOrd="0" destOrd="0" presId="urn:microsoft.com/office/officeart/2005/8/layout/orgChart1"/>
    <dgm:cxn modelId="{B91D4893-1413-44BC-B44E-780547A72273}" type="presOf" srcId="{FDDA7B84-FD63-40BE-9130-97AE6239C4CB}" destId="{522D5E24-DB41-476B-9A1F-06F7D70543B0}" srcOrd="0" destOrd="0" presId="urn:microsoft.com/office/officeart/2005/8/layout/orgChart1"/>
    <dgm:cxn modelId="{411CA093-CA35-4303-B78B-7C7C62C1EBAD}" type="presOf" srcId="{BF24045A-56AE-43B0-BED8-A6ED87CA5F6C}" destId="{F9A462A4-B19B-4ACF-B72B-17F617980EAD}" srcOrd="1" destOrd="0" presId="urn:microsoft.com/office/officeart/2005/8/layout/orgChart1"/>
    <dgm:cxn modelId="{EE129395-F23A-42C4-ADAE-DDCEAB1E345E}" srcId="{FBB9131E-A862-494A-ABEA-D48B12FB585E}" destId="{C05102CE-893A-499F-B227-5F1A16D35C0D}" srcOrd="2" destOrd="0" parTransId="{3AD78536-FB36-45AC-B50C-48D245C74991}" sibTransId="{BBA2CCD5-D77C-4E33-AB54-6AECF636BD1B}"/>
    <dgm:cxn modelId="{F5031DA1-5082-429A-965F-38D6AAA4DDC4}" type="presOf" srcId="{3AD78536-FB36-45AC-B50C-48D245C74991}" destId="{1B19B215-B6E9-4337-A983-8F432941D46F}" srcOrd="0" destOrd="0" presId="urn:microsoft.com/office/officeart/2005/8/layout/orgChart1"/>
    <dgm:cxn modelId="{E84A44A6-B8F2-4932-B2CE-CE17C805B02A}" type="presOf" srcId="{7142D02C-E4E5-4E56-80A5-B77DE4124DC6}" destId="{F433F8D2-051F-4A25-9FB5-7E91FC78A773}" srcOrd="0" destOrd="0" presId="urn:microsoft.com/office/officeart/2005/8/layout/orgChart1"/>
    <dgm:cxn modelId="{54391AAC-7978-499A-9A0B-972162076352}" type="presOf" srcId="{CCBC8F0D-6137-4885-85DD-75556DCB040E}" destId="{3EAC7351-3843-46A4-924C-B6613AAE8F8E}" srcOrd="0" destOrd="0" presId="urn:microsoft.com/office/officeart/2005/8/layout/orgChart1"/>
    <dgm:cxn modelId="{F5DD58AF-E212-4573-A734-49DB1E01AA5D}" type="presOf" srcId="{B005DA5E-CCC9-4070-8F5D-B54121EAE77E}" destId="{94ABD043-34BB-4947-9D8F-9E42F0AE9728}" srcOrd="1" destOrd="0" presId="urn:microsoft.com/office/officeart/2005/8/layout/orgChart1"/>
    <dgm:cxn modelId="{C185C4BB-8A41-48D1-9DC6-778DA9850A1F}" type="presOf" srcId="{B162AF46-C22D-4968-A2A5-62543BBE22E2}" destId="{ADB5D4B2-2F36-44CF-A2EC-F07125B71179}" srcOrd="0" destOrd="0" presId="urn:microsoft.com/office/officeart/2005/8/layout/orgChart1"/>
    <dgm:cxn modelId="{A30CDCC4-32B7-42D7-A794-DE2BA7807018}" srcId="{FBB9131E-A862-494A-ABEA-D48B12FB585E}" destId="{B162AF46-C22D-4968-A2A5-62543BBE22E2}" srcOrd="4" destOrd="0" parTransId="{CD130441-E081-457C-8344-33C9C50F118E}" sibTransId="{E77B0A6A-A61D-4588-BFD8-A6AE2283A9EB}"/>
    <dgm:cxn modelId="{EF8AAFC6-A4DD-4FF4-AD92-E65416406838}" srcId="{BF24045A-56AE-43B0-BED8-A6ED87CA5F6C}" destId="{FBB9131E-A862-494A-ABEA-D48B12FB585E}" srcOrd="0" destOrd="0" parTransId="{9FFB6809-3DC7-497A-8034-939E54F80D08}" sibTransId="{532A5A68-ECDA-497D-A147-49C62B21ACF7}"/>
    <dgm:cxn modelId="{240461C8-FCB3-46E7-8C3E-96DF422408B1}" type="presOf" srcId="{FBB9131E-A862-494A-ABEA-D48B12FB585E}" destId="{8DA95EAD-D75E-49ED-921D-4AE14E3CAF89}" srcOrd="1" destOrd="0" presId="urn:microsoft.com/office/officeart/2005/8/layout/orgChart1"/>
    <dgm:cxn modelId="{7EBC17CD-A74A-48F3-A3FD-B2F718C71DFC}" srcId="{FBB9131E-A862-494A-ABEA-D48B12FB585E}" destId="{CCBC8F0D-6137-4885-85DD-75556DCB040E}" srcOrd="3" destOrd="0" parTransId="{F0908628-966B-4035-88DB-6EBD32163C5B}" sibTransId="{3BEE4C61-36C5-435A-BA1F-A60CF6681528}"/>
    <dgm:cxn modelId="{EAF97CD3-9467-49EC-8A7D-FD912006B736}" type="presOf" srcId="{9211C432-4984-4462-BD62-FAA7A7F8E883}" destId="{A007763C-06CC-4559-B988-FDCAE8BFFFDA}" srcOrd="0" destOrd="0" presId="urn:microsoft.com/office/officeart/2005/8/layout/orgChart1"/>
    <dgm:cxn modelId="{986C65DE-0CF5-430C-BABB-13FE0BBBBF5F}" type="presOf" srcId="{7CA7396C-1FDD-4B70-B225-A9F3A40066B1}" destId="{01628E2D-9115-4C9F-B46C-20A5CA6CB030}" srcOrd="0" destOrd="0" presId="urn:microsoft.com/office/officeart/2005/8/layout/orgChart1"/>
    <dgm:cxn modelId="{0F2CDBE7-2A98-4168-BBB9-40700EE3B79A}" type="presOf" srcId="{51803571-7219-405D-9E17-724FBE3F487B}" destId="{840230FD-BAFF-4A53-BF56-6C7991DDAF6C}" srcOrd="0" destOrd="0" presId="urn:microsoft.com/office/officeart/2005/8/layout/orgChart1"/>
    <dgm:cxn modelId="{4B0ADFF6-0698-4272-8CBB-5A4B43272EB6}" type="presOf" srcId="{CB90EEA7-9B7F-4749-8ACF-783AC5975F93}" destId="{37E9C4D5-06EA-407E-A36A-3C018BE94637}" srcOrd="0" destOrd="0" presId="urn:microsoft.com/office/officeart/2005/8/layout/orgChart1"/>
    <dgm:cxn modelId="{E0B448FE-9EE5-435C-BD60-C8BE785C694C}" srcId="{DEB5A818-8580-4EFE-AC5F-F656517A4087}" destId="{BBA6BB66-2C05-4EC2-83A0-F94E6253D46E}" srcOrd="0" destOrd="0" parTransId="{996A333F-5F3A-4F19-8555-631803C385FF}" sibTransId="{8ECF8F13-64C8-4E6C-BEFB-364DF2E6CE89}"/>
    <dgm:cxn modelId="{156FAD08-822B-4AC3-BA9B-F90CA45FC0E9}" type="presParOf" srcId="{3DB71D7F-3DA0-4D1F-9479-078B43FAFD07}" destId="{5FB81A70-74D5-4981-A5AC-45EE62D37FB0}" srcOrd="0" destOrd="0" presId="urn:microsoft.com/office/officeart/2005/8/layout/orgChart1"/>
    <dgm:cxn modelId="{5AFC6B32-A285-4FF0-85DA-198DD8793975}" type="presParOf" srcId="{5FB81A70-74D5-4981-A5AC-45EE62D37FB0}" destId="{6ECAB72D-6486-4720-95B3-324A0E5E2BB8}" srcOrd="0" destOrd="0" presId="urn:microsoft.com/office/officeart/2005/8/layout/orgChart1"/>
    <dgm:cxn modelId="{5FC6941F-9A2A-4F7D-B952-CF7D060C1A1E}" type="presParOf" srcId="{6ECAB72D-6486-4720-95B3-324A0E5E2BB8}" destId="{36E3547F-7521-4CCE-AA66-93B67033582D}" srcOrd="0" destOrd="0" presId="urn:microsoft.com/office/officeart/2005/8/layout/orgChart1"/>
    <dgm:cxn modelId="{4237B926-B4BC-49E9-9648-589EFC3C1F8C}" type="presParOf" srcId="{6ECAB72D-6486-4720-95B3-324A0E5E2BB8}" destId="{F9A462A4-B19B-4ACF-B72B-17F617980EAD}" srcOrd="1" destOrd="0" presId="urn:microsoft.com/office/officeart/2005/8/layout/orgChart1"/>
    <dgm:cxn modelId="{A8C8D553-13B3-4124-B9A0-FF5E3B1BD4F6}" type="presParOf" srcId="{5FB81A70-74D5-4981-A5AC-45EE62D37FB0}" destId="{408910D9-AFE0-4B6D-82AB-5E1DC75342BA}" srcOrd="1" destOrd="0" presId="urn:microsoft.com/office/officeart/2005/8/layout/orgChart1"/>
    <dgm:cxn modelId="{CC13F6FA-CC20-43D6-82C0-06340F78E599}" type="presParOf" srcId="{408910D9-AFE0-4B6D-82AB-5E1DC75342BA}" destId="{B4C59C37-93AB-49D3-AB04-70D89C6F7AA7}" srcOrd="0" destOrd="0" presId="urn:microsoft.com/office/officeart/2005/8/layout/orgChart1"/>
    <dgm:cxn modelId="{8B2E6A99-BB93-497F-8642-C32CD753027D}" type="presParOf" srcId="{408910D9-AFE0-4B6D-82AB-5E1DC75342BA}" destId="{CBFF33EB-1162-4FFF-B60E-EA0314E99DE4}" srcOrd="1" destOrd="0" presId="urn:microsoft.com/office/officeart/2005/8/layout/orgChart1"/>
    <dgm:cxn modelId="{57A2705E-624A-4653-97C5-F8FF892BC1E5}" type="presParOf" srcId="{CBFF33EB-1162-4FFF-B60E-EA0314E99DE4}" destId="{1FB9EE8A-97D8-4A1F-9A20-A4B080A49E02}" srcOrd="0" destOrd="0" presId="urn:microsoft.com/office/officeart/2005/8/layout/orgChart1"/>
    <dgm:cxn modelId="{DF262BCF-C021-4E16-A1DD-DC574B489710}" type="presParOf" srcId="{1FB9EE8A-97D8-4A1F-9A20-A4B080A49E02}" destId="{30696B27-0668-4893-A078-7AD6DCBAE600}" srcOrd="0" destOrd="0" presId="urn:microsoft.com/office/officeart/2005/8/layout/orgChart1"/>
    <dgm:cxn modelId="{98A29180-8383-44AC-BB55-1F5A5E7959CB}" type="presParOf" srcId="{1FB9EE8A-97D8-4A1F-9A20-A4B080A49E02}" destId="{8DA95EAD-D75E-49ED-921D-4AE14E3CAF89}" srcOrd="1" destOrd="0" presId="urn:microsoft.com/office/officeart/2005/8/layout/orgChart1"/>
    <dgm:cxn modelId="{950C07AD-933F-43B8-A2CB-A0328B74E2EA}" type="presParOf" srcId="{CBFF33EB-1162-4FFF-B60E-EA0314E99DE4}" destId="{76462254-BC09-44DA-BDE7-E9A63D36BC31}" srcOrd="1" destOrd="0" presId="urn:microsoft.com/office/officeart/2005/8/layout/orgChart1"/>
    <dgm:cxn modelId="{5BD13CB9-D3BC-4225-8EC5-F722C6FCFA7A}" type="presParOf" srcId="{76462254-BC09-44DA-BDE7-E9A63D36BC31}" destId="{37E9C4D5-06EA-407E-A36A-3C018BE94637}" srcOrd="0" destOrd="0" presId="urn:microsoft.com/office/officeart/2005/8/layout/orgChart1"/>
    <dgm:cxn modelId="{AF1D617C-2CF2-4C0A-BAFC-CAA291978AA3}" type="presParOf" srcId="{76462254-BC09-44DA-BDE7-E9A63D36BC31}" destId="{B19F6305-FD7B-4845-9715-B12CFF20E111}" srcOrd="1" destOrd="0" presId="urn:microsoft.com/office/officeart/2005/8/layout/orgChart1"/>
    <dgm:cxn modelId="{C7BD5930-32F6-4909-B9FB-7B30C0FF82D8}" type="presParOf" srcId="{B19F6305-FD7B-4845-9715-B12CFF20E111}" destId="{B924A4FA-1A5B-4181-B060-76467E9ECA50}" srcOrd="0" destOrd="0" presId="urn:microsoft.com/office/officeart/2005/8/layout/orgChart1"/>
    <dgm:cxn modelId="{02F35A74-4667-455E-A476-4D011F32619D}" type="presParOf" srcId="{B924A4FA-1A5B-4181-B060-76467E9ECA50}" destId="{F433F8D2-051F-4A25-9FB5-7E91FC78A773}" srcOrd="0" destOrd="0" presId="urn:microsoft.com/office/officeart/2005/8/layout/orgChart1"/>
    <dgm:cxn modelId="{7E3CF806-2DFF-4A40-9B11-A652F7BAC403}" type="presParOf" srcId="{B924A4FA-1A5B-4181-B060-76467E9ECA50}" destId="{6D07EC6F-D2B3-4F5F-B7BE-C5BF8A5E4F79}" srcOrd="1" destOrd="0" presId="urn:microsoft.com/office/officeart/2005/8/layout/orgChart1"/>
    <dgm:cxn modelId="{35EF438B-DB70-42E1-B3A9-FDC99312386D}" type="presParOf" srcId="{B19F6305-FD7B-4845-9715-B12CFF20E111}" destId="{67E8B4BA-7D11-48BC-A23B-DA1F3079D4E9}" srcOrd="1" destOrd="0" presId="urn:microsoft.com/office/officeart/2005/8/layout/orgChart1"/>
    <dgm:cxn modelId="{BBAA64F2-37F4-4993-BB70-D7763DACFB70}" type="presParOf" srcId="{B19F6305-FD7B-4845-9715-B12CFF20E111}" destId="{26907DF7-AF0C-4AA8-AF4F-8844A6388A2E}" srcOrd="2" destOrd="0" presId="urn:microsoft.com/office/officeart/2005/8/layout/orgChart1"/>
    <dgm:cxn modelId="{166EF2AC-8491-47BC-9543-5B88640B94E0}" type="presParOf" srcId="{76462254-BC09-44DA-BDE7-E9A63D36BC31}" destId="{A007763C-06CC-4559-B988-FDCAE8BFFFDA}" srcOrd="2" destOrd="0" presId="urn:microsoft.com/office/officeart/2005/8/layout/orgChart1"/>
    <dgm:cxn modelId="{25AB42B1-CE36-4F33-9190-2468E9C50435}" type="presParOf" srcId="{76462254-BC09-44DA-BDE7-E9A63D36BC31}" destId="{08F2C2C9-9666-48C2-A1A4-E9CC88969008}" srcOrd="3" destOrd="0" presId="urn:microsoft.com/office/officeart/2005/8/layout/orgChart1"/>
    <dgm:cxn modelId="{B9A13CE0-8D78-462B-A3E8-30AF57662A26}" type="presParOf" srcId="{08F2C2C9-9666-48C2-A1A4-E9CC88969008}" destId="{B7A7B2CB-20B7-4D5F-AD1A-09B3AC331782}" srcOrd="0" destOrd="0" presId="urn:microsoft.com/office/officeart/2005/8/layout/orgChart1"/>
    <dgm:cxn modelId="{7DF761A9-197B-4F30-93E5-A75EDDAE09D4}" type="presParOf" srcId="{B7A7B2CB-20B7-4D5F-AD1A-09B3AC331782}" destId="{29212A2A-2B6E-4394-806D-8FD6055910AC}" srcOrd="0" destOrd="0" presId="urn:microsoft.com/office/officeart/2005/8/layout/orgChart1"/>
    <dgm:cxn modelId="{57B29F1C-4803-4A20-B36D-98287041B1D0}" type="presParOf" srcId="{B7A7B2CB-20B7-4D5F-AD1A-09B3AC331782}" destId="{A52FF806-147D-4EC9-9FED-0C44EB054C4A}" srcOrd="1" destOrd="0" presId="urn:microsoft.com/office/officeart/2005/8/layout/orgChart1"/>
    <dgm:cxn modelId="{4AF1F0CE-D9FA-4031-9379-DAE397DD5878}" type="presParOf" srcId="{08F2C2C9-9666-48C2-A1A4-E9CC88969008}" destId="{1A8B98D8-9AD5-488E-A77E-F7703C739C51}" srcOrd="1" destOrd="0" presId="urn:microsoft.com/office/officeart/2005/8/layout/orgChart1"/>
    <dgm:cxn modelId="{040E5540-48A8-436A-B026-D8DA50F489F7}" type="presParOf" srcId="{08F2C2C9-9666-48C2-A1A4-E9CC88969008}" destId="{7E2009E7-DD7D-4E83-A67F-3AC714EFED5B}" srcOrd="2" destOrd="0" presId="urn:microsoft.com/office/officeart/2005/8/layout/orgChart1"/>
    <dgm:cxn modelId="{72968BB3-B740-4017-A6F1-EF3330419058}" type="presParOf" srcId="{76462254-BC09-44DA-BDE7-E9A63D36BC31}" destId="{1B19B215-B6E9-4337-A983-8F432941D46F}" srcOrd="4" destOrd="0" presId="urn:microsoft.com/office/officeart/2005/8/layout/orgChart1"/>
    <dgm:cxn modelId="{4C4E6C37-6D4B-4FAE-8604-81F8D60D7FB7}" type="presParOf" srcId="{76462254-BC09-44DA-BDE7-E9A63D36BC31}" destId="{F9C4F010-F87D-4C3E-882E-A1E2BC9DCB9F}" srcOrd="5" destOrd="0" presId="urn:microsoft.com/office/officeart/2005/8/layout/orgChart1"/>
    <dgm:cxn modelId="{3D7597C2-4A03-4BBC-958B-034980529B62}" type="presParOf" srcId="{F9C4F010-F87D-4C3E-882E-A1E2BC9DCB9F}" destId="{C79B08DC-5AB7-4C98-89E7-49B23052086C}" srcOrd="0" destOrd="0" presId="urn:microsoft.com/office/officeart/2005/8/layout/orgChart1"/>
    <dgm:cxn modelId="{7D425EC3-6790-4A87-B357-044BE382CEF2}" type="presParOf" srcId="{C79B08DC-5AB7-4C98-89E7-49B23052086C}" destId="{513301BA-0254-42B8-B088-390108CC8620}" srcOrd="0" destOrd="0" presId="urn:microsoft.com/office/officeart/2005/8/layout/orgChart1"/>
    <dgm:cxn modelId="{154E3C31-9826-4E98-A80D-E3257E9592B1}" type="presParOf" srcId="{C79B08DC-5AB7-4C98-89E7-49B23052086C}" destId="{9AB4E749-B797-4C3C-B7C0-6EE1DC2D4685}" srcOrd="1" destOrd="0" presId="urn:microsoft.com/office/officeart/2005/8/layout/orgChart1"/>
    <dgm:cxn modelId="{387FA0BB-748F-4748-84E5-C1A3A4D7E224}" type="presParOf" srcId="{F9C4F010-F87D-4C3E-882E-A1E2BC9DCB9F}" destId="{5D8644A9-8C53-47E2-8238-D4705FD7A720}" srcOrd="1" destOrd="0" presId="urn:microsoft.com/office/officeart/2005/8/layout/orgChart1"/>
    <dgm:cxn modelId="{22A5679C-40C2-46CA-9ACE-E479FAF68A21}" type="presParOf" srcId="{F9C4F010-F87D-4C3E-882E-A1E2BC9DCB9F}" destId="{F18F3D34-4B23-4B50-AEA1-F553DC733628}" srcOrd="2" destOrd="0" presId="urn:microsoft.com/office/officeart/2005/8/layout/orgChart1"/>
    <dgm:cxn modelId="{057F221F-1BFD-4065-B706-6105484C1500}" type="presParOf" srcId="{76462254-BC09-44DA-BDE7-E9A63D36BC31}" destId="{5B5C7259-1FA4-491D-B2BE-243B9C047E9E}" srcOrd="6" destOrd="0" presId="urn:microsoft.com/office/officeart/2005/8/layout/orgChart1"/>
    <dgm:cxn modelId="{B08056C7-8756-4C28-A901-3CCC6CDCD06C}" type="presParOf" srcId="{76462254-BC09-44DA-BDE7-E9A63D36BC31}" destId="{557793AD-C74B-46EE-96A8-0F155162ABE8}" srcOrd="7" destOrd="0" presId="urn:microsoft.com/office/officeart/2005/8/layout/orgChart1"/>
    <dgm:cxn modelId="{602FE782-27DF-44AA-9CFD-8160D03BE7EA}" type="presParOf" srcId="{557793AD-C74B-46EE-96A8-0F155162ABE8}" destId="{06F8B321-3D61-49BD-A7B2-7FBCCE7D324A}" srcOrd="0" destOrd="0" presId="urn:microsoft.com/office/officeart/2005/8/layout/orgChart1"/>
    <dgm:cxn modelId="{5C7E5D4B-11A6-4A26-814B-DB2FA6FF846B}" type="presParOf" srcId="{06F8B321-3D61-49BD-A7B2-7FBCCE7D324A}" destId="{3EAC7351-3843-46A4-924C-B6613AAE8F8E}" srcOrd="0" destOrd="0" presId="urn:microsoft.com/office/officeart/2005/8/layout/orgChart1"/>
    <dgm:cxn modelId="{08AA34DB-0724-4A8E-BC36-C158E94047A2}" type="presParOf" srcId="{06F8B321-3D61-49BD-A7B2-7FBCCE7D324A}" destId="{0732785C-F25E-47B4-B5B1-C945A953C5BD}" srcOrd="1" destOrd="0" presId="urn:microsoft.com/office/officeart/2005/8/layout/orgChart1"/>
    <dgm:cxn modelId="{6174684D-FA05-4EF5-AC33-3FD853E98536}" type="presParOf" srcId="{557793AD-C74B-46EE-96A8-0F155162ABE8}" destId="{B302F41F-F2BA-4DB1-A6B8-632E989B7052}" srcOrd="1" destOrd="0" presId="urn:microsoft.com/office/officeart/2005/8/layout/orgChart1"/>
    <dgm:cxn modelId="{402CF8B3-C600-4102-81A2-D5A28A4BAB99}" type="presParOf" srcId="{557793AD-C74B-46EE-96A8-0F155162ABE8}" destId="{D0ED759D-2AFE-4BFE-A2F4-910D4B245110}" srcOrd="2" destOrd="0" presId="urn:microsoft.com/office/officeart/2005/8/layout/orgChart1"/>
    <dgm:cxn modelId="{00892D02-3BF2-4059-B201-E03B9048A8E2}" type="presParOf" srcId="{76462254-BC09-44DA-BDE7-E9A63D36BC31}" destId="{A90CB850-3000-45F0-9A70-AC47EBC9421A}" srcOrd="8" destOrd="0" presId="urn:microsoft.com/office/officeart/2005/8/layout/orgChart1"/>
    <dgm:cxn modelId="{0DAB2E21-0BB0-41CA-8317-D6ECBA11ECD9}" type="presParOf" srcId="{76462254-BC09-44DA-BDE7-E9A63D36BC31}" destId="{E02C3F33-6EDF-4C58-B6AB-35530DBC20E4}" srcOrd="9" destOrd="0" presId="urn:microsoft.com/office/officeart/2005/8/layout/orgChart1"/>
    <dgm:cxn modelId="{B367CA25-8991-4F27-B082-784EEA72BBCA}" type="presParOf" srcId="{E02C3F33-6EDF-4C58-B6AB-35530DBC20E4}" destId="{98402485-6510-46D9-88E7-775262057C1D}" srcOrd="0" destOrd="0" presId="urn:microsoft.com/office/officeart/2005/8/layout/orgChart1"/>
    <dgm:cxn modelId="{F94D9187-9AE9-4E4F-942B-6C0E45EB90B3}" type="presParOf" srcId="{98402485-6510-46D9-88E7-775262057C1D}" destId="{ADB5D4B2-2F36-44CF-A2EC-F07125B71179}" srcOrd="0" destOrd="0" presId="urn:microsoft.com/office/officeart/2005/8/layout/orgChart1"/>
    <dgm:cxn modelId="{CF176BE8-6097-434C-AFEA-C5AA4997AB08}" type="presParOf" srcId="{98402485-6510-46D9-88E7-775262057C1D}" destId="{D03D348F-E31B-4651-A45A-AC42E78F388F}" srcOrd="1" destOrd="0" presId="urn:microsoft.com/office/officeart/2005/8/layout/orgChart1"/>
    <dgm:cxn modelId="{E974AD65-C1DA-4A15-ADE4-4306A62BB835}" type="presParOf" srcId="{E02C3F33-6EDF-4C58-B6AB-35530DBC20E4}" destId="{692B2997-0C1E-4C92-8696-CE64372BD8C4}" srcOrd="1" destOrd="0" presId="urn:microsoft.com/office/officeart/2005/8/layout/orgChart1"/>
    <dgm:cxn modelId="{EE74F551-6ED4-4084-B9AB-4FC672FB5D6A}" type="presParOf" srcId="{E02C3F33-6EDF-4C58-B6AB-35530DBC20E4}" destId="{BAA603B4-CFCE-47FD-936A-86973D16B362}" srcOrd="2" destOrd="0" presId="urn:microsoft.com/office/officeart/2005/8/layout/orgChart1"/>
    <dgm:cxn modelId="{26B2DA9B-45F9-461F-BDB3-F12712095E19}" type="presParOf" srcId="{CBFF33EB-1162-4FFF-B60E-EA0314E99DE4}" destId="{F0067369-49F0-4919-BB59-91C0D42F6A83}" srcOrd="2" destOrd="0" presId="urn:microsoft.com/office/officeart/2005/8/layout/orgChart1"/>
    <dgm:cxn modelId="{1C7B7F93-F90F-435E-9DBC-850211D7F307}" type="presParOf" srcId="{408910D9-AFE0-4B6D-82AB-5E1DC75342BA}" destId="{ABEA2C9F-5C17-46D6-84BE-6A7BF4AFF40B}" srcOrd="2" destOrd="0" presId="urn:microsoft.com/office/officeart/2005/8/layout/orgChart1"/>
    <dgm:cxn modelId="{573CFF31-0DD5-41A2-8681-BBA8CF273EB2}" type="presParOf" srcId="{408910D9-AFE0-4B6D-82AB-5E1DC75342BA}" destId="{2BD4C873-38C0-4A28-8D07-F4D6AF82BFB9}" srcOrd="3" destOrd="0" presId="urn:microsoft.com/office/officeart/2005/8/layout/orgChart1"/>
    <dgm:cxn modelId="{7BACEA1E-AFED-4D8C-83E1-73446735A569}" type="presParOf" srcId="{2BD4C873-38C0-4A28-8D07-F4D6AF82BFB9}" destId="{BB9EF54B-BDF4-4333-8220-17B295DFB7BA}" srcOrd="0" destOrd="0" presId="urn:microsoft.com/office/officeart/2005/8/layout/orgChart1"/>
    <dgm:cxn modelId="{DF377BF4-E0D9-42D8-9F12-40AECE1EBA9A}" type="presParOf" srcId="{BB9EF54B-BDF4-4333-8220-17B295DFB7BA}" destId="{104D1DCF-351B-447B-8457-5BBFD6B42680}" srcOrd="0" destOrd="0" presId="urn:microsoft.com/office/officeart/2005/8/layout/orgChart1"/>
    <dgm:cxn modelId="{74E163E2-62D7-42BF-B657-95CBAB2692F5}" type="presParOf" srcId="{BB9EF54B-BDF4-4333-8220-17B295DFB7BA}" destId="{DD703DA6-860C-40BF-8970-F1CE9C9B4B2C}" srcOrd="1" destOrd="0" presId="urn:microsoft.com/office/officeart/2005/8/layout/orgChart1"/>
    <dgm:cxn modelId="{1182F54D-1DBB-4F5C-9F67-C840C95DB5AD}" type="presParOf" srcId="{2BD4C873-38C0-4A28-8D07-F4D6AF82BFB9}" destId="{3ACCDCB3-B1A8-4029-9D1D-2EAE47BC48E6}" srcOrd="1" destOrd="0" presId="urn:microsoft.com/office/officeart/2005/8/layout/orgChart1"/>
    <dgm:cxn modelId="{1C1A523D-805F-4189-94ED-B175B1C81D41}" type="presParOf" srcId="{3ACCDCB3-B1A8-4029-9D1D-2EAE47BC48E6}" destId="{7941678C-826A-40D1-ABC8-EF4014439422}" srcOrd="0" destOrd="0" presId="urn:microsoft.com/office/officeart/2005/8/layout/orgChart1"/>
    <dgm:cxn modelId="{8A1B7DD2-2582-402E-AEA8-10F03C81759D}" type="presParOf" srcId="{3ACCDCB3-B1A8-4029-9D1D-2EAE47BC48E6}" destId="{B786FDB5-174A-453C-AADB-5D16823B00C6}" srcOrd="1" destOrd="0" presId="urn:microsoft.com/office/officeart/2005/8/layout/orgChart1"/>
    <dgm:cxn modelId="{DA8F328D-2AF1-41D4-B699-7F90AFE96703}" type="presParOf" srcId="{B786FDB5-174A-453C-AADB-5D16823B00C6}" destId="{C1348845-C027-4259-947F-769DD921F649}" srcOrd="0" destOrd="0" presId="urn:microsoft.com/office/officeart/2005/8/layout/orgChart1"/>
    <dgm:cxn modelId="{877A1D67-2B0E-4398-A8F9-51CA21CA36C0}" type="presParOf" srcId="{C1348845-C027-4259-947F-769DD921F649}" destId="{3340AC50-D557-4F69-B212-B2664F4E9193}" srcOrd="0" destOrd="0" presId="urn:microsoft.com/office/officeart/2005/8/layout/orgChart1"/>
    <dgm:cxn modelId="{328E7FAC-7A1B-47A8-BB3C-C649EFDAE68F}" type="presParOf" srcId="{C1348845-C027-4259-947F-769DD921F649}" destId="{DECE1CBF-0651-49A1-8FCB-3C9F05BCEAA5}" srcOrd="1" destOrd="0" presId="urn:microsoft.com/office/officeart/2005/8/layout/orgChart1"/>
    <dgm:cxn modelId="{B8ABB746-0BB7-4C65-B7CF-09D92083C4C2}" type="presParOf" srcId="{B786FDB5-174A-453C-AADB-5D16823B00C6}" destId="{02FE7AB4-9460-44DB-A8C3-35032E0147BD}" srcOrd="1" destOrd="0" presId="urn:microsoft.com/office/officeart/2005/8/layout/orgChart1"/>
    <dgm:cxn modelId="{84748DE8-9D4E-4A2C-914C-8F3941A9CA81}" type="presParOf" srcId="{B786FDB5-174A-453C-AADB-5D16823B00C6}" destId="{77BA7EC7-E89D-4582-9CD9-1AD6EACA18CE}" srcOrd="2" destOrd="0" presId="urn:microsoft.com/office/officeart/2005/8/layout/orgChart1"/>
    <dgm:cxn modelId="{3E81171E-DA7C-44E6-BE87-A16512AB6C9E}" type="presParOf" srcId="{3ACCDCB3-B1A8-4029-9D1D-2EAE47BC48E6}" destId="{3E2D4C08-E293-4D1C-ADB0-CF48C6A82932}" srcOrd="2" destOrd="0" presId="urn:microsoft.com/office/officeart/2005/8/layout/orgChart1"/>
    <dgm:cxn modelId="{EC6102CC-F2D0-4B8A-B504-D3936BC4FC5F}" type="presParOf" srcId="{3ACCDCB3-B1A8-4029-9D1D-2EAE47BC48E6}" destId="{09F938D7-3270-4B3D-B37E-9E3A107C8019}" srcOrd="3" destOrd="0" presId="urn:microsoft.com/office/officeart/2005/8/layout/orgChart1"/>
    <dgm:cxn modelId="{A27276E7-F05A-4DD7-8967-2234D822FFB9}" type="presParOf" srcId="{09F938D7-3270-4B3D-B37E-9E3A107C8019}" destId="{66F44EEB-476B-4E3E-8C0C-590E50B6DA39}" srcOrd="0" destOrd="0" presId="urn:microsoft.com/office/officeart/2005/8/layout/orgChart1"/>
    <dgm:cxn modelId="{D2148D58-E43B-4101-AB57-90CE7098FA6A}" type="presParOf" srcId="{66F44EEB-476B-4E3E-8C0C-590E50B6DA39}" destId="{522D5E24-DB41-476B-9A1F-06F7D70543B0}" srcOrd="0" destOrd="0" presId="urn:microsoft.com/office/officeart/2005/8/layout/orgChart1"/>
    <dgm:cxn modelId="{42FE8957-0C2C-4536-AA8B-EC62A31D4ADA}" type="presParOf" srcId="{66F44EEB-476B-4E3E-8C0C-590E50B6DA39}" destId="{8B7F5C0B-2461-4831-B977-EC5B01657B5B}" srcOrd="1" destOrd="0" presId="urn:microsoft.com/office/officeart/2005/8/layout/orgChart1"/>
    <dgm:cxn modelId="{2F997E1E-5C9B-4E52-BB7F-67988DABC5C1}" type="presParOf" srcId="{09F938D7-3270-4B3D-B37E-9E3A107C8019}" destId="{D2A61B19-4B4F-44F8-A928-AFA28DE4A69E}" srcOrd="1" destOrd="0" presId="urn:microsoft.com/office/officeart/2005/8/layout/orgChart1"/>
    <dgm:cxn modelId="{B9BF3C80-3438-49F2-BA71-D537192CB792}" type="presParOf" srcId="{09F938D7-3270-4B3D-B37E-9E3A107C8019}" destId="{CEA5F5F7-C306-41A4-93E6-FC54C6E50B34}" srcOrd="2" destOrd="0" presId="urn:microsoft.com/office/officeart/2005/8/layout/orgChart1"/>
    <dgm:cxn modelId="{8B52A29A-4DA8-41C8-9966-B41216FF0E3F}" type="presParOf" srcId="{3ACCDCB3-B1A8-4029-9D1D-2EAE47BC48E6}" destId="{0EE0B623-50AE-4829-8F9F-1596EA7970C4}" srcOrd="4" destOrd="0" presId="urn:microsoft.com/office/officeart/2005/8/layout/orgChart1"/>
    <dgm:cxn modelId="{1BB5136A-866F-4D90-A29A-8F7662F4ABD6}" type="presParOf" srcId="{3ACCDCB3-B1A8-4029-9D1D-2EAE47BC48E6}" destId="{6E034814-3B8C-434B-A9FD-7BFC4060F958}" srcOrd="5" destOrd="0" presId="urn:microsoft.com/office/officeart/2005/8/layout/orgChart1"/>
    <dgm:cxn modelId="{1E732EDB-98F6-4D0F-9DB7-C64FD072E8DE}" type="presParOf" srcId="{6E034814-3B8C-434B-A9FD-7BFC4060F958}" destId="{732EFFAF-7663-45F8-A420-7F97BF30354E}" srcOrd="0" destOrd="0" presId="urn:microsoft.com/office/officeart/2005/8/layout/orgChart1"/>
    <dgm:cxn modelId="{AD5D1A62-CA2B-4CE3-9D26-DFC81B111BE1}" type="presParOf" srcId="{732EFFAF-7663-45F8-A420-7F97BF30354E}" destId="{840230FD-BAFF-4A53-BF56-6C7991DDAF6C}" srcOrd="0" destOrd="0" presId="urn:microsoft.com/office/officeart/2005/8/layout/orgChart1"/>
    <dgm:cxn modelId="{256C39DF-91BB-48A0-ACEC-EDEE6E5116C0}" type="presParOf" srcId="{732EFFAF-7663-45F8-A420-7F97BF30354E}" destId="{F370E7D3-43E0-4B73-AE88-93F49E82CEF2}" srcOrd="1" destOrd="0" presId="urn:microsoft.com/office/officeart/2005/8/layout/orgChart1"/>
    <dgm:cxn modelId="{79DB71F0-2A8E-4BDA-8E93-E7C7F48CC162}" type="presParOf" srcId="{6E034814-3B8C-434B-A9FD-7BFC4060F958}" destId="{B636AE93-090B-48A0-9E28-39C313086B78}" srcOrd="1" destOrd="0" presId="urn:microsoft.com/office/officeart/2005/8/layout/orgChart1"/>
    <dgm:cxn modelId="{D231B7D9-B5BE-457C-BF01-F3D83B6ADC80}" type="presParOf" srcId="{6E034814-3B8C-434B-A9FD-7BFC4060F958}" destId="{04E3648B-401B-4CA8-8DDD-02671D241A74}" srcOrd="2" destOrd="0" presId="urn:microsoft.com/office/officeart/2005/8/layout/orgChart1"/>
    <dgm:cxn modelId="{786DBB46-BCD2-46DC-9FAF-80B9E31C81F4}" type="presParOf" srcId="{2BD4C873-38C0-4A28-8D07-F4D6AF82BFB9}" destId="{F7D63FEC-5E01-4B1F-9422-983B324A85B7}" srcOrd="2" destOrd="0" presId="urn:microsoft.com/office/officeart/2005/8/layout/orgChart1"/>
    <dgm:cxn modelId="{7C71FF73-177B-4950-B827-A033CB3343FF}" type="presParOf" srcId="{408910D9-AFE0-4B6D-82AB-5E1DC75342BA}" destId="{6DB02DB2-39CA-456C-8A26-A58E6463CBA2}" srcOrd="4" destOrd="0" presId="urn:microsoft.com/office/officeart/2005/8/layout/orgChart1"/>
    <dgm:cxn modelId="{5AA1D7AA-ABAB-4DBC-8D54-D882669FEC63}" type="presParOf" srcId="{408910D9-AFE0-4B6D-82AB-5E1DC75342BA}" destId="{21413CF1-C8B1-4AD4-9551-EEDF55D677F5}" srcOrd="5" destOrd="0" presId="urn:microsoft.com/office/officeart/2005/8/layout/orgChart1"/>
    <dgm:cxn modelId="{DCFFE51C-C8BF-43F5-8B0C-50D13A718694}" type="presParOf" srcId="{21413CF1-C8B1-4AD4-9551-EEDF55D677F5}" destId="{7BF83F2B-CB54-4573-A92B-D06307420390}" srcOrd="0" destOrd="0" presId="urn:microsoft.com/office/officeart/2005/8/layout/orgChart1"/>
    <dgm:cxn modelId="{3323BF42-C77B-4C27-8003-38A853D42BB5}" type="presParOf" srcId="{7BF83F2B-CB54-4573-A92B-D06307420390}" destId="{0531CC85-4BE4-42BB-9941-0C23265DA432}" srcOrd="0" destOrd="0" presId="urn:microsoft.com/office/officeart/2005/8/layout/orgChart1"/>
    <dgm:cxn modelId="{E5C22712-5973-4BDB-90CA-CEDB8B0E9F93}" type="presParOf" srcId="{7BF83F2B-CB54-4573-A92B-D06307420390}" destId="{94ABD043-34BB-4947-9D8F-9E42F0AE9728}" srcOrd="1" destOrd="0" presId="urn:microsoft.com/office/officeart/2005/8/layout/orgChart1"/>
    <dgm:cxn modelId="{F93E8EE9-1832-4DE0-9E3A-377B14839C8D}" type="presParOf" srcId="{21413CF1-C8B1-4AD4-9551-EEDF55D677F5}" destId="{194E6023-D233-41B9-8818-FF7EF3581D9B}" srcOrd="1" destOrd="0" presId="urn:microsoft.com/office/officeart/2005/8/layout/orgChart1"/>
    <dgm:cxn modelId="{AD764DE0-B188-47E5-998E-C7441108491E}" type="presParOf" srcId="{194E6023-D233-41B9-8818-FF7EF3581D9B}" destId="{61BCD7EF-CA6D-4330-8B1D-0C2B64BCF9C6}" srcOrd="0" destOrd="0" presId="urn:microsoft.com/office/officeart/2005/8/layout/orgChart1"/>
    <dgm:cxn modelId="{55FD72F6-A9E2-40DC-8492-AD1F9C6294F0}" type="presParOf" srcId="{194E6023-D233-41B9-8818-FF7EF3581D9B}" destId="{BC7085DD-01A6-41FB-B637-2F842EB1A7B8}" srcOrd="1" destOrd="0" presId="urn:microsoft.com/office/officeart/2005/8/layout/orgChart1"/>
    <dgm:cxn modelId="{4ED5B76E-36E3-424A-82F9-ABE805592A82}" type="presParOf" srcId="{BC7085DD-01A6-41FB-B637-2F842EB1A7B8}" destId="{6CB2B104-6E5E-4235-AAD2-83C716650D68}" srcOrd="0" destOrd="0" presId="urn:microsoft.com/office/officeart/2005/8/layout/orgChart1"/>
    <dgm:cxn modelId="{31902987-ABC0-4C98-B686-40B3BA15D797}" type="presParOf" srcId="{6CB2B104-6E5E-4235-AAD2-83C716650D68}" destId="{01628E2D-9115-4C9F-B46C-20A5CA6CB030}" srcOrd="0" destOrd="0" presId="urn:microsoft.com/office/officeart/2005/8/layout/orgChart1"/>
    <dgm:cxn modelId="{0996B084-B4D5-4EB1-90DA-D9C1C3BF0D10}" type="presParOf" srcId="{6CB2B104-6E5E-4235-AAD2-83C716650D68}" destId="{41497914-7BE4-4FA0-B3C7-A710AA046A8F}" srcOrd="1" destOrd="0" presId="urn:microsoft.com/office/officeart/2005/8/layout/orgChart1"/>
    <dgm:cxn modelId="{7BBE86D1-DF13-425A-88E0-0853636D3563}" type="presParOf" srcId="{BC7085DD-01A6-41FB-B637-2F842EB1A7B8}" destId="{DE9A41B5-9C1B-435E-AA8D-A2F097A30214}" srcOrd="1" destOrd="0" presId="urn:microsoft.com/office/officeart/2005/8/layout/orgChart1"/>
    <dgm:cxn modelId="{D95A360F-5A24-419E-B9A8-EF6848EE1A31}" type="presParOf" srcId="{BC7085DD-01A6-41FB-B637-2F842EB1A7B8}" destId="{D763CFBC-50D0-4C25-959F-1EE02E984F26}" srcOrd="2" destOrd="0" presId="urn:microsoft.com/office/officeart/2005/8/layout/orgChart1"/>
    <dgm:cxn modelId="{ADD9FBCA-817C-44CB-A6A8-9729D79B5629}" type="presParOf" srcId="{21413CF1-C8B1-4AD4-9551-EEDF55D677F5}" destId="{B72A9876-750F-440F-935F-B600D92956E1}" srcOrd="2" destOrd="0" presId="urn:microsoft.com/office/officeart/2005/8/layout/orgChart1"/>
    <dgm:cxn modelId="{0086D67D-7ECF-4123-90CA-3F8669284F44}" type="presParOf" srcId="{5FB81A70-74D5-4981-A5AC-45EE62D37FB0}" destId="{8FD7435C-8313-43F3-A6C0-6333D5658AAA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BCD7EF-CA6D-4330-8B1D-0C2B64BCF9C6}">
      <dsp:nvSpPr>
        <dsp:cNvPr id="0" name=""/>
        <dsp:cNvSpPr/>
      </dsp:nvSpPr>
      <dsp:spPr>
        <a:xfrm>
          <a:off x="4136673" y="1510602"/>
          <a:ext cx="136125" cy="4174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17452"/>
              </a:lnTo>
              <a:lnTo>
                <a:pt x="136125" y="41745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DB02DB2-39CA-456C-8A26-A58E6463CBA2}">
      <dsp:nvSpPr>
        <dsp:cNvPr id="0" name=""/>
        <dsp:cNvSpPr/>
      </dsp:nvSpPr>
      <dsp:spPr>
        <a:xfrm>
          <a:off x="3401593" y="866272"/>
          <a:ext cx="1098082" cy="1905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5288"/>
              </a:lnTo>
              <a:lnTo>
                <a:pt x="1098082" y="95288"/>
              </a:lnTo>
              <a:lnTo>
                <a:pt x="1098082" y="19057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EE0B623-50AE-4829-8F9F-1596EA7970C4}">
      <dsp:nvSpPr>
        <dsp:cNvPr id="0" name=""/>
        <dsp:cNvSpPr/>
      </dsp:nvSpPr>
      <dsp:spPr>
        <a:xfrm>
          <a:off x="3038591" y="1510602"/>
          <a:ext cx="136125" cy="17061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06112"/>
              </a:lnTo>
              <a:lnTo>
                <a:pt x="136125" y="170611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2D4C08-E293-4D1C-ADB0-CF48C6A82932}">
      <dsp:nvSpPr>
        <dsp:cNvPr id="0" name=""/>
        <dsp:cNvSpPr/>
      </dsp:nvSpPr>
      <dsp:spPr>
        <a:xfrm>
          <a:off x="3038591" y="1510602"/>
          <a:ext cx="136125" cy="10617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61782"/>
              </a:lnTo>
              <a:lnTo>
                <a:pt x="136125" y="106178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41678C-826A-40D1-ABC8-EF4014439422}">
      <dsp:nvSpPr>
        <dsp:cNvPr id="0" name=""/>
        <dsp:cNvSpPr/>
      </dsp:nvSpPr>
      <dsp:spPr>
        <a:xfrm>
          <a:off x="3038591" y="1510602"/>
          <a:ext cx="136125" cy="4174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17452"/>
              </a:lnTo>
              <a:lnTo>
                <a:pt x="136125" y="41745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EA2C9F-5C17-46D6-84BE-6A7BF4AFF40B}">
      <dsp:nvSpPr>
        <dsp:cNvPr id="0" name=""/>
        <dsp:cNvSpPr/>
      </dsp:nvSpPr>
      <dsp:spPr>
        <a:xfrm>
          <a:off x="3355873" y="866272"/>
          <a:ext cx="91440" cy="19057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9057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90CB850-3000-45F0-9A70-AC47EBC9421A}">
      <dsp:nvSpPr>
        <dsp:cNvPr id="0" name=""/>
        <dsp:cNvSpPr/>
      </dsp:nvSpPr>
      <dsp:spPr>
        <a:xfrm>
          <a:off x="1940508" y="1510602"/>
          <a:ext cx="136125" cy="29947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94771"/>
              </a:lnTo>
              <a:lnTo>
                <a:pt x="136125" y="299477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5C7259-1FA4-491D-B2BE-243B9C047E9E}">
      <dsp:nvSpPr>
        <dsp:cNvPr id="0" name=""/>
        <dsp:cNvSpPr/>
      </dsp:nvSpPr>
      <dsp:spPr>
        <a:xfrm>
          <a:off x="1940508" y="1510602"/>
          <a:ext cx="136125" cy="23504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50441"/>
              </a:lnTo>
              <a:lnTo>
                <a:pt x="136125" y="235044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19B215-B6E9-4337-A983-8F432941D46F}">
      <dsp:nvSpPr>
        <dsp:cNvPr id="0" name=""/>
        <dsp:cNvSpPr/>
      </dsp:nvSpPr>
      <dsp:spPr>
        <a:xfrm>
          <a:off x="1940508" y="1510602"/>
          <a:ext cx="136125" cy="17061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06112"/>
              </a:lnTo>
              <a:lnTo>
                <a:pt x="136125" y="170611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07763C-06CC-4559-B988-FDCAE8BFFFDA}">
      <dsp:nvSpPr>
        <dsp:cNvPr id="0" name=""/>
        <dsp:cNvSpPr/>
      </dsp:nvSpPr>
      <dsp:spPr>
        <a:xfrm>
          <a:off x="1940508" y="1510602"/>
          <a:ext cx="136125" cy="10617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61782"/>
              </a:lnTo>
              <a:lnTo>
                <a:pt x="136125" y="106178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7E9C4D5-06EA-407E-A36A-3C018BE94637}">
      <dsp:nvSpPr>
        <dsp:cNvPr id="0" name=""/>
        <dsp:cNvSpPr/>
      </dsp:nvSpPr>
      <dsp:spPr>
        <a:xfrm>
          <a:off x="1940508" y="1510602"/>
          <a:ext cx="136125" cy="4174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17452"/>
              </a:lnTo>
              <a:lnTo>
                <a:pt x="136125" y="41745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4C59C37-93AB-49D3-AB04-70D89C6F7AA7}">
      <dsp:nvSpPr>
        <dsp:cNvPr id="0" name=""/>
        <dsp:cNvSpPr/>
      </dsp:nvSpPr>
      <dsp:spPr>
        <a:xfrm>
          <a:off x="2303510" y="866272"/>
          <a:ext cx="1098082" cy="190576"/>
        </a:xfrm>
        <a:custGeom>
          <a:avLst/>
          <a:gdLst/>
          <a:ahLst/>
          <a:cxnLst/>
          <a:rect l="0" t="0" r="0" b="0"/>
          <a:pathLst>
            <a:path>
              <a:moveTo>
                <a:pt x="1098082" y="0"/>
              </a:moveTo>
              <a:lnTo>
                <a:pt x="1098082" y="95288"/>
              </a:lnTo>
              <a:lnTo>
                <a:pt x="0" y="95288"/>
              </a:lnTo>
              <a:lnTo>
                <a:pt x="0" y="19057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E3547F-7521-4CCE-AA66-93B67033582D}">
      <dsp:nvSpPr>
        <dsp:cNvPr id="0" name=""/>
        <dsp:cNvSpPr/>
      </dsp:nvSpPr>
      <dsp:spPr>
        <a:xfrm>
          <a:off x="2388857" y="1110"/>
          <a:ext cx="2025472" cy="8651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Técnicas de estimativas de software</a:t>
          </a:r>
        </a:p>
      </dsp:txBody>
      <dsp:txXfrm>
        <a:off x="2388857" y="1110"/>
        <a:ext cx="2025472" cy="865162"/>
      </dsp:txXfrm>
    </dsp:sp>
    <dsp:sp modelId="{30696B27-0668-4893-A078-7AD6DCBAE600}">
      <dsp:nvSpPr>
        <dsp:cNvPr id="0" name=""/>
        <dsp:cNvSpPr/>
      </dsp:nvSpPr>
      <dsp:spPr>
        <a:xfrm>
          <a:off x="1849757" y="1056849"/>
          <a:ext cx="907506" cy="453753"/>
        </a:xfrm>
        <a:prstGeom prst="rect">
          <a:avLst/>
        </a:prstGeom>
        <a:solidFill>
          <a:srgbClr val="4472C4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5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Baseado em experiência</a:t>
          </a:r>
        </a:p>
      </dsp:txBody>
      <dsp:txXfrm>
        <a:off x="1849757" y="1056849"/>
        <a:ext cx="907506" cy="453753"/>
      </dsp:txXfrm>
    </dsp:sp>
    <dsp:sp modelId="{F433F8D2-051F-4A25-9FB5-7E91FC78A773}">
      <dsp:nvSpPr>
        <dsp:cNvPr id="0" name=""/>
        <dsp:cNvSpPr/>
      </dsp:nvSpPr>
      <dsp:spPr>
        <a:xfrm>
          <a:off x="2076634" y="1701178"/>
          <a:ext cx="907506" cy="453753"/>
        </a:xfrm>
        <a:prstGeom prst="rect">
          <a:avLst/>
        </a:prstGeom>
        <a:solidFill>
          <a:srgbClr val="4472C4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5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Julgamento de especialista</a:t>
          </a:r>
        </a:p>
      </dsp:txBody>
      <dsp:txXfrm>
        <a:off x="2076634" y="1701178"/>
        <a:ext cx="907506" cy="453753"/>
      </dsp:txXfrm>
    </dsp:sp>
    <dsp:sp modelId="{29212A2A-2B6E-4394-806D-8FD6055910AC}">
      <dsp:nvSpPr>
        <dsp:cNvPr id="0" name=""/>
        <dsp:cNvSpPr/>
      </dsp:nvSpPr>
      <dsp:spPr>
        <a:xfrm>
          <a:off x="2076634" y="2345508"/>
          <a:ext cx="907506" cy="453753"/>
        </a:xfrm>
        <a:prstGeom prst="rect">
          <a:avLst/>
        </a:prstGeom>
        <a:solidFill>
          <a:srgbClr val="4472C4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5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Preço-para-vencer</a:t>
          </a:r>
        </a:p>
      </dsp:txBody>
      <dsp:txXfrm>
        <a:off x="2076634" y="2345508"/>
        <a:ext cx="907506" cy="453753"/>
      </dsp:txXfrm>
    </dsp:sp>
    <dsp:sp modelId="{513301BA-0254-42B8-B088-390108CC8620}">
      <dsp:nvSpPr>
        <dsp:cNvPr id="0" name=""/>
        <dsp:cNvSpPr/>
      </dsp:nvSpPr>
      <dsp:spPr>
        <a:xfrm>
          <a:off x="2076634" y="2989837"/>
          <a:ext cx="907506" cy="453753"/>
        </a:xfrm>
        <a:prstGeom prst="rect">
          <a:avLst/>
        </a:prstGeom>
        <a:solidFill>
          <a:srgbClr val="4472C4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5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Top-</a:t>
          </a:r>
          <a:r>
            <a:rPr lang="pt-BR" sz="1050" kern="1200" dirty="0" err="1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down</a:t>
          </a:r>
          <a:endParaRPr lang="pt-BR" sz="1050" kern="1200" dirty="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sp:txBody>
      <dsp:txXfrm>
        <a:off x="2076634" y="2989837"/>
        <a:ext cx="907506" cy="453753"/>
      </dsp:txXfrm>
    </dsp:sp>
    <dsp:sp modelId="{3EAC7351-3843-46A4-924C-B6613AAE8F8E}">
      <dsp:nvSpPr>
        <dsp:cNvPr id="0" name=""/>
        <dsp:cNvSpPr/>
      </dsp:nvSpPr>
      <dsp:spPr>
        <a:xfrm>
          <a:off x="2076634" y="3634167"/>
          <a:ext cx="907506" cy="453753"/>
        </a:xfrm>
        <a:prstGeom prst="rect">
          <a:avLst/>
        </a:prstGeom>
        <a:gradFill rotWithShape="1">
          <a:gsLst>
            <a:gs pos="0">
              <a:schemeClr val="accent2">
                <a:lumMod val="110000"/>
                <a:satMod val="105000"/>
                <a:tint val="67000"/>
              </a:schemeClr>
            </a:gs>
            <a:gs pos="50000">
              <a:schemeClr val="accent2">
                <a:lumMod val="105000"/>
                <a:satMod val="103000"/>
                <a:tint val="73000"/>
              </a:schemeClr>
            </a:gs>
            <a:gs pos="100000">
              <a:schemeClr val="accent2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50" kern="1200" dirty="0" err="1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Bottom-up</a:t>
          </a:r>
          <a:endParaRPr lang="pt-BR" sz="1050" kern="1200" dirty="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sp:txBody>
      <dsp:txXfrm>
        <a:off x="2076634" y="3634167"/>
        <a:ext cx="907506" cy="453753"/>
      </dsp:txXfrm>
    </dsp:sp>
    <dsp:sp modelId="{ADB5D4B2-2F36-44CF-A2EC-F07125B71179}">
      <dsp:nvSpPr>
        <dsp:cNvPr id="0" name=""/>
        <dsp:cNvSpPr/>
      </dsp:nvSpPr>
      <dsp:spPr>
        <a:xfrm>
          <a:off x="2076634" y="4278497"/>
          <a:ext cx="907506" cy="453753"/>
        </a:xfrm>
        <a:prstGeom prst="rect">
          <a:avLst/>
        </a:prstGeom>
        <a:solidFill>
          <a:srgbClr val="4472C4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5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Analogia</a:t>
          </a:r>
        </a:p>
      </dsp:txBody>
      <dsp:txXfrm>
        <a:off x="2076634" y="4278497"/>
        <a:ext cx="907506" cy="453753"/>
      </dsp:txXfrm>
    </dsp:sp>
    <dsp:sp modelId="{104D1DCF-351B-447B-8457-5BBFD6B42680}">
      <dsp:nvSpPr>
        <dsp:cNvPr id="0" name=""/>
        <dsp:cNvSpPr/>
      </dsp:nvSpPr>
      <dsp:spPr>
        <a:xfrm>
          <a:off x="2947840" y="1056849"/>
          <a:ext cx="907506" cy="453753"/>
        </a:xfrm>
        <a:prstGeom prst="rect">
          <a:avLst/>
        </a:prstGeom>
        <a:solidFill>
          <a:srgbClr val="4472C4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50" kern="1200" dirty="0"/>
            <a:t>Baseado em modelo (Paramétricos)</a:t>
          </a:r>
          <a:endParaRPr lang="pt-BR" sz="1400" kern="1200" dirty="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sp:txBody>
      <dsp:txXfrm>
        <a:off x="2947840" y="1056849"/>
        <a:ext cx="907506" cy="453753"/>
      </dsp:txXfrm>
    </dsp:sp>
    <dsp:sp modelId="{3340AC50-D557-4F69-B212-B2664F4E9193}">
      <dsp:nvSpPr>
        <dsp:cNvPr id="0" name=""/>
        <dsp:cNvSpPr/>
      </dsp:nvSpPr>
      <dsp:spPr>
        <a:xfrm>
          <a:off x="3174717" y="1701178"/>
          <a:ext cx="907506" cy="453753"/>
        </a:xfrm>
        <a:prstGeom prst="rect">
          <a:avLst/>
        </a:prstGeom>
        <a:gradFill rotWithShape="1">
          <a:gsLst>
            <a:gs pos="0">
              <a:schemeClr val="accent2">
                <a:lumMod val="110000"/>
                <a:satMod val="105000"/>
                <a:tint val="67000"/>
              </a:schemeClr>
            </a:gs>
            <a:gs pos="50000">
              <a:schemeClr val="accent2">
                <a:lumMod val="105000"/>
                <a:satMod val="103000"/>
                <a:tint val="73000"/>
              </a:schemeClr>
            </a:gs>
            <a:gs pos="100000">
              <a:schemeClr val="accent2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50" kern="1200" dirty="0"/>
            <a:t>Pontos de função</a:t>
          </a:r>
        </a:p>
      </dsp:txBody>
      <dsp:txXfrm>
        <a:off x="3174717" y="1701178"/>
        <a:ext cx="907506" cy="453753"/>
      </dsp:txXfrm>
    </dsp:sp>
    <dsp:sp modelId="{522D5E24-DB41-476B-9A1F-06F7D70543B0}">
      <dsp:nvSpPr>
        <dsp:cNvPr id="0" name=""/>
        <dsp:cNvSpPr/>
      </dsp:nvSpPr>
      <dsp:spPr>
        <a:xfrm>
          <a:off x="3174717" y="2345508"/>
          <a:ext cx="907506" cy="453753"/>
        </a:xfrm>
        <a:prstGeom prst="rect">
          <a:avLst/>
        </a:prstGeom>
        <a:gradFill rotWithShape="1">
          <a:gsLst>
            <a:gs pos="0">
              <a:schemeClr val="accent2">
                <a:lumMod val="110000"/>
                <a:satMod val="105000"/>
                <a:tint val="67000"/>
              </a:schemeClr>
            </a:gs>
            <a:gs pos="50000">
              <a:schemeClr val="accent2">
                <a:lumMod val="105000"/>
                <a:satMod val="103000"/>
                <a:tint val="73000"/>
              </a:schemeClr>
            </a:gs>
            <a:gs pos="100000">
              <a:schemeClr val="accent2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50" kern="1200" dirty="0"/>
            <a:t>COCOMO</a:t>
          </a:r>
        </a:p>
      </dsp:txBody>
      <dsp:txXfrm>
        <a:off x="3174717" y="2345508"/>
        <a:ext cx="907506" cy="453753"/>
      </dsp:txXfrm>
    </dsp:sp>
    <dsp:sp modelId="{840230FD-BAFF-4A53-BF56-6C7991DDAF6C}">
      <dsp:nvSpPr>
        <dsp:cNvPr id="0" name=""/>
        <dsp:cNvSpPr/>
      </dsp:nvSpPr>
      <dsp:spPr>
        <a:xfrm>
          <a:off x="3174717" y="2989837"/>
          <a:ext cx="907506" cy="453753"/>
        </a:xfrm>
        <a:prstGeom prst="rect">
          <a:avLst/>
        </a:prstGeom>
        <a:gradFill rotWithShape="1">
          <a:gsLst>
            <a:gs pos="0">
              <a:schemeClr val="accent2">
                <a:lumMod val="110000"/>
                <a:satMod val="105000"/>
                <a:tint val="67000"/>
              </a:schemeClr>
            </a:gs>
            <a:gs pos="50000">
              <a:schemeClr val="accent2">
                <a:lumMod val="105000"/>
                <a:satMod val="103000"/>
                <a:tint val="73000"/>
              </a:schemeClr>
            </a:gs>
            <a:gs pos="100000">
              <a:schemeClr val="accent2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50" kern="1200" dirty="0"/>
            <a:t>Estórias de usuário</a:t>
          </a:r>
        </a:p>
      </dsp:txBody>
      <dsp:txXfrm>
        <a:off x="3174717" y="2989837"/>
        <a:ext cx="907506" cy="453753"/>
      </dsp:txXfrm>
    </dsp:sp>
    <dsp:sp modelId="{0531CC85-4BE4-42BB-9941-0C23265DA432}">
      <dsp:nvSpPr>
        <dsp:cNvPr id="0" name=""/>
        <dsp:cNvSpPr/>
      </dsp:nvSpPr>
      <dsp:spPr>
        <a:xfrm>
          <a:off x="4045923" y="1056849"/>
          <a:ext cx="907506" cy="4537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/>
            <a:t>Orientados a aprendizado</a:t>
          </a:r>
        </a:p>
      </dsp:txBody>
      <dsp:txXfrm>
        <a:off x="4045923" y="1056849"/>
        <a:ext cx="907506" cy="453753"/>
      </dsp:txXfrm>
    </dsp:sp>
    <dsp:sp modelId="{01628E2D-9115-4C9F-B46C-20A5CA6CB030}">
      <dsp:nvSpPr>
        <dsp:cNvPr id="0" name=""/>
        <dsp:cNvSpPr/>
      </dsp:nvSpPr>
      <dsp:spPr>
        <a:xfrm>
          <a:off x="4272799" y="1701178"/>
          <a:ext cx="907506" cy="4537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50" kern="1200" dirty="0"/>
            <a:t>Algoritmos de machine learning</a:t>
          </a:r>
        </a:p>
      </dsp:txBody>
      <dsp:txXfrm>
        <a:off x="4272799" y="1701178"/>
        <a:ext cx="907506" cy="45375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BCD7EF-CA6D-4330-8B1D-0C2B64BCF9C6}">
      <dsp:nvSpPr>
        <dsp:cNvPr id="0" name=""/>
        <dsp:cNvSpPr/>
      </dsp:nvSpPr>
      <dsp:spPr>
        <a:xfrm>
          <a:off x="2436991" y="1286609"/>
          <a:ext cx="115956" cy="3555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5599"/>
              </a:lnTo>
              <a:lnTo>
                <a:pt x="115956" y="35559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DB02DB2-39CA-456C-8A26-A58E6463CBA2}">
      <dsp:nvSpPr>
        <dsp:cNvPr id="0" name=""/>
        <dsp:cNvSpPr/>
      </dsp:nvSpPr>
      <dsp:spPr>
        <a:xfrm>
          <a:off x="1810827" y="737749"/>
          <a:ext cx="935380" cy="1623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1169"/>
              </a:lnTo>
              <a:lnTo>
                <a:pt x="935380" y="81169"/>
              </a:lnTo>
              <a:lnTo>
                <a:pt x="935380" y="16233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EE0B623-50AE-4829-8F9F-1596EA7970C4}">
      <dsp:nvSpPr>
        <dsp:cNvPr id="0" name=""/>
        <dsp:cNvSpPr/>
      </dsp:nvSpPr>
      <dsp:spPr>
        <a:xfrm>
          <a:off x="1501610" y="1286609"/>
          <a:ext cx="115956" cy="14533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53319"/>
              </a:lnTo>
              <a:lnTo>
                <a:pt x="115956" y="145331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2D4C08-E293-4D1C-ADB0-CF48C6A82932}">
      <dsp:nvSpPr>
        <dsp:cNvPr id="0" name=""/>
        <dsp:cNvSpPr/>
      </dsp:nvSpPr>
      <dsp:spPr>
        <a:xfrm>
          <a:off x="1501610" y="1286609"/>
          <a:ext cx="115956" cy="9044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04459"/>
              </a:lnTo>
              <a:lnTo>
                <a:pt x="115956" y="90445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41678C-826A-40D1-ABC8-EF4014439422}">
      <dsp:nvSpPr>
        <dsp:cNvPr id="0" name=""/>
        <dsp:cNvSpPr/>
      </dsp:nvSpPr>
      <dsp:spPr>
        <a:xfrm>
          <a:off x="1501610" y="1286609"/>
          <a:ext cx="115956" cy="3555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5599"/>
              </a:lnTo>
              <a:lnTo>
                <a:pt x="115956" y="35559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EA2C9F-5C17-46D6-84BE-6A7BF4AFF40B}">
      <dsp:nvSpPr>
        <dsp:cNvPr id="0" name=""/>
        <dsp:cNvSpPr/>
      </dsp:nvSpPr>
      <dsp:spPr>
        <a:xfrm>
          <a:off x="1765107" y="737749"/>
          <a:ext cx="91440" cy="16233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6233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90CB850-3000-45F0-9A70-AC47EBC9421A}">
      <dsp:nvSpPr>
        <dsp:cNvPr id="0" name=""/>
        <dsp:cNvSpPr/>
      </dsp:nvSpPr>
      <dsp:spPr>
        <a:xfrm>
          <a:off x="566230" y="1286609"/>
          <a:ext cx="115956" cy="25510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51038"/>
              </a:lnTo>
              <a:lnTo>
                <a:pt x="115956" y="255103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5C7259-1FA4-491D-B2BE-243B9C047E9E}">
      <dsp:nvSpPr>
        <dsp:cNvPr id="0" name=""/>
        <dsp:cNvSpPr/>
      </dsp:nvSpPr>
      <dsp:spPr>
        <a:xfrm>
          <a:off x="566230" y="1286609"/>
          <a:ext cx="115956" cy="20021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02178"/>
              </a:lnTo>
              <a:lnTo>
                <a:pt x="115956" y="200217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19B215-B6E9-4337-A983-8F432941D46F}">
      <dsp:nvSpPr>
        <dsp:cNvPr id="0" name=""/>
        <dsp:cNvSpPr/>
      </dsp:nvSpPr>
      <dsp:spPr>
        <a:xfrm>
          <a:off x="566230" y="1286609"/>
          <a:ext cx="115956" cy="14533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53319"/>
              </a:lnTo>
              <a:lnTo>
                <a:pt x="115956" y="145331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07763C-06CC-4559-B988-FDCAE8BFFFDA}">
      <dsp:nvSpPr>
        <dsp:cNvPr id="0" name=""/>
        <dsp:cNvSpPr/>
      </dsp:nvSpPr>
      <dsp:spPr>
        <a:xfrm>
          <a:off x="566230" y="1286609"/>
          <a:ext cx="115956" cy="9044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04459"/>
              </a:lnTo>
              <a:lnTo>
                <a:pt x="115956" y="90445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7E9C4D5-06EA-407E-A36A-3C018BE94637}">
      <dsp:nvSpPr>
        <dsp:cNvPr id="0" name=""/>
        <dsp:cNvSpPr/>
      </dsp:nvSpPr>
      <dsp:spPr>
        <a:xfrm>
          <a:off x="566230" y="1286609"/>
          <a:ext cx="115956" cy="3555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5599"/>
              </a:lnTo>
              <a:lnTo>
                <a:pt x="115956" y="35559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4C59C37-93AB-49D3-AB04-70D89C6F7AA7}">
      <dsp:nvSpPr>
        <dsp:cNvPr id="0" name=""/>
        <dsp:cNvSpPr/>
      </dsp:nvSpPr>
      <dsp:spPr>
        <a:xfrm>
          <a:off x="875446" y="737749"/>
          <a:ext cx="935380" cy="162338"/>
        </a:xfrm>
        <a:custGeom>
          <a:avLst/>
          <a:gdLst/>
          <a:ahLst/>
          <a:cxnLst/>
          <a:rect l="0" t="0" r="0" b="0"/>
          <a:pathLst>
            <a:path>
              <a:moveTo>
                <a:pt x="935380" y="0"/>
              </a:moveTo>
              <a:lnTo>
                <a:pt x="935380" y="81169"/>
              </a:lnTo>
              <a:lnTo>
                <a:pt x="0" y="81169"/>
              </a:lnTo>
              <a:lnTo>
                <a:pt x="0" y="16233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E3547F-7521-4CCE-AA66-93B67033582D}">
      <dsp:nvSpPr>
        <dsp:cNvPr id="0" name=""/>
        <dsp:cNvSpPr/>
      </dsp:nvSpPr>
      <dsp:spPr>
        <a:xfrm>
          <a:off x="1089216" y="777"/>
          <a:ext cx="1443223" cy="7369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Técnicas de estimativas de custos de software</a:t>
          </a:r>
        </a:p>
      </dsp:txBody>
      <dsp:txXfrm>
        <a:off x="1089216" y="777"/>
        <a:ext cx="1443223" cy="736971"/>
      </dsp:txXfrm>
    </dsp:sp>
    <dsp:sp modelId="{30696B27-0668-4893-A078-7AD6DCBAE600}">
      <dsp:nvSpPr>
        <dsp:cNvPr id="0" name=""/>
        <dsp:cNvSpPr/>
      </dsp:nvSpPr>
      <dsp:spPr>
        <a:xfrm>
          <a:off x="488925" y="900088"/>
          <a:ext cx="773042" cy="386521"/>
        </a:xfrm>
        <a:prstGeom prst="rect">
          <a:avLst/>
        </a:prstGeom>
        <a:solidFill>
          <a:srgbClr val="4472C4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Métodos não-paramétricos</a:t>
          </a:r>
        </a:p>
      </dsp:txBody>
      <dsp:txXfrm>
        <a:off x="488925" y="900088"/>
        <a:ext cx="773042" cy="386521"/>
      </dsp:txXfrm>
    </dsp:sp>
    <dsp:sp modelId="{F433F8D2-051F-4A25-9FB5-7E91FC78A773}">
      <dsp:nvSpPr>
        <dsp:cNvPr id="0" name=""/>
        <dsp:cNvSpPr/>
      </dsp:nvSpPr>
      <dsp:spPr>
        <a:xfrm>
          <a:off x="682186" y="1448948"/>
          <a:ext cx="773042" cy="386521"/>
        </a:xfrm>
        <a:prstGeom prst="rect">
          <a:avLst/>
        </a:prstGeom>
        <a:solidFill>
          <a:srgbClr val="4472C4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Julgamento de especialista</a:t>
          </a:r>
        </a:p>
      </dsp:txBody>
      <dsp:txXfrm>
        <a:off x="682186" y="1448948"/>
        <a:ext cx="773042" cy="386521"/>
      </dsp:txXfrm>
    </dsp:sp>
    <dsp:sp modelId="{29212A2A-2B6E-4394-806D-8FD6055910AC}">
      <dsp:nvSpPr>
        <dsp:cNvPr id="0" name=""/>
        <dsp:cNvSpPr/>
      </dsp:nvSpPr>
      <dsp:spPr>
        <a:xfrm>
          <a:off x="682186" y="1997807"/>
          <a:ext cx="773042" cy="3865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/>
            <a:t>Preço-para-vencer</a:t>
          </a:r>
        </a:p>
      </dsp:txBody>
      <dsp:txXfrm>
        <a:off x="682186" y="1997807"/>
        <a:ext cx="773042" cy="386521"/>
      </dsp:txXfrm>
    </dsp:sp>
    <dsp:sp modelId="{513301BA-0254-42B8-B088-390108CC8620}">
      <dsp:nvSpPr>
        <dsp:cNvPr id="0" name=""/>
        <dsp:cNvSpPr/>
      </dsp:nvSpPr>
      <dsp:spPr>
        <a:xfrm>
          <a:off x="682186" y="2546667"/>
          <a:ext cx="773042" cy="386521"/>
        </a:xfrm>
        <a:prstGeom prst="rect">
          <a:avLst/>
        </a:prstGeom>
        <a:solidFill>
          <a:srgbClr val="4472C4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Top-</a:t>
          </a:r>
          <a:r>
            <a:rPr lang="pt-BR" sz="900" kern="1200" dirty="0" err="1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down</a:t>
          </a:r>
          <a:endParaRPr lang="pt-BR" sz="900" kern="1200" dirty="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sp:txBody>
      <dsp:txXfrm>
        <a:off x="682186" y="2546667"/>
        <a:ext cx="773042" cy="386521"/>
      </dsp:txXfrm>
    </dsp:sp>
    <dsp:sp modelId="{3EAC7351-3843-46A4-924C-B6613AAE8F8E}">
      <dsp:nvSpPr>
        <dsp:cNvPr id="0" name=""/>
        <dsp:cNvSpPr/>
      </dsp:nvSpPr>
      <dsp:spPr>
        <a:xfrm>
          <a:off x="682186" y="3095527"/>
          <a:ext cx="773042" cy="386521"/>
        </a:xfrm>
        <a:prstGeom prst="rect">
          <a:avLst/>
        </a:prstGeom>
        <a:solidFill>
          <a:srgbClr val="4472C4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 err="1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Bottom-up</a:t>
          </a:r>
          <a:endParaRPr lang="pt-BR" sz="900" kern="1200" dirty="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sp:txBody>
      <dsp:txXfrm>
        <a:off x="682186" y="3095527"/>
        <a:ext cx="773042" cy="386521"/>
      </dsp:txXfrm>
    </dsp:sp>
    <dsp:sp modelId="{ADB5D4B2-2F36-44CF-A2EC-F07125B71179}">
      <dsp:nvSpPr>
        <dsp:cNvPr id="0" name=""/>
        <dsp:cNvSpPr/>
      </dsp:nvSpPr>
      <dsp:spPr>
        <a:xfrm>
          <a:off x="682186" y="3644387"/>
          <a:ext cx="773042" cy="386521"/>
        </a:xfrm>
        <a:prstGeom prst="rect">
          <a:avLst/>
        </a:prstGeom>
        <a:solidFill>
          <a:srgbClr val="4472C4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Analogia</a:t>
          </a:r>
        </a:p>
      </dsp:txBody>
      <dsp:txXfrm>
        <a:off x="682186" y="3644387"/>
        <a:ext cx="773042" cy="386521"/>
      </dsp:txXfrm>
    </dsp:sp>
    <dsp:sp modelId="{104D1DCF-351B-447B-8457-5BBFD6B42680}">
      <dsp:nvSpPr>
        <dsp:cNvPr id="0" name=""/>
        <dsp:cNvSpPr/>
      </dsp:nvSpPr>
      <dsp:spPr>
        <a:xfrm>
          <a:off x="1424306" y="900088"/>
          <a:ext cx="773042" cy="386521"/>
        </a:xfrm>
        <a:prstGeom prst="rect">
          <a:avLst/>
        </a:prstGeom>
        <a:solidFill>
          <a:srgbClr val="4472C4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/>
            <a:t>Métodos </a:t>
          </a:r>
          <a:r>
            <a:rPr lang="pt-BR" sz="11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paramétricos</a:t>
          </a:r>
        </a:p>
      </dsp:txBody>
      <dsp:txXfrm>
        <a:off x="1424306" y="900088"/>
        <a:ext cx="773042" cy="386521"/>
      </dsp:txXfrm>
    </dsp:sp>
    <dsp:sp modelId="{3340AC50-D557-4F69-B212-B2664F4E9193}">
      <dsp:nvSpPr>
        <dsp:cNvPr id="0" name=""/>
        <dsp:cNvSpPr/>
      </dsp:nvSpPr>
      <dsp:spPr>
        <a:xfrm>
          <a:off x="1617567" y="1448948"/>
          <a:ext cx="773042" cy="386521"/>
        </a:xfrm>
        <a:prstGeom prst="rect">
          <a:avLst/>
        </a:prstGeom>
        <a:gradFill rotWithShape="1">
          <a:gsLst>
            <a:gs pos="0">
              <a:schemeClr val="accent2">
                <a:lumMod val="110000"/>
                <a:satMod val="105000"/>
                <a:tint val="67000"/>
              </a:schemeClr>
            </a:gs>
            <a:gs pos="50000">
              <a:schemeClr val="accent2">
                <a:lumMod val="105000"/>
                <a:satMod val="103000"/>
                <a:tint val="73000"/>
              </a:schemeClr>
            </a:gs>
            <a:gs pos="100000">
              <a:schemeClr val="accent2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rPr>
            <a:t>Pontos de função</a:t>
          </a:r>
        </a:p>
      </dsp:txBody>
      <dsp:txXfrm>
        <a:off x="1617567" y="1448948"/>
        <a:ext cx="773042" cy="386521"/>
      </dsp:txXfrm>
    </dsp:sp>
    <dsp:sp modelId="{522D5E24-DB41-476B-9A1F-06F7D70543B0}">
      <dsp:nvSpPr>
        <dsp:cNvPr id="0" name=""/>
        <dsp:cNvSpPr/>
      </dsp:nvSpPr>
      <dsp:spPr>
        <a:xfrm>
          <a:off x="1617567" y="1997807"/>
          <a:ext cx="773042" cy="386521"/>
        </a:xfrm>
        <a:prstGeom prst="rect">
          <a:avLst/>
        </a:prstGeom>
        <a:solidFill>
          <a:srgbClr val="4472C4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COCOMO</a:t>
          </a:r>
        </a:p>
      </dsp:txBody>
      <dsp:txXfrm>
        <a:off x="1617567" y="1997807"/>
        <a:ext cx="773042" cy="386521"/>
      </dsp:txXfrm>
    </dsp:sp>
    <dsp:sp modelId="{840230FD-BAFF-4A53-BF56-6C7991DDAF6C}">
      <dsp:nvSpPr>
        <dsp:cNvPr id="0" name=""/>
        <dsp:cNvSpPr/>
      </dsp:nvSpPr>
      <dsp:spPr>
        <a:xfrm>
          <a:off x="1617567" y="2546667"/>
          <a:ext cx="773042" cy="3865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/>
            <a:t>Estórias de usuário</a:t>
          </a:r>
        </a:p>
      </dsp:txBody>
      <dsp:txXfrm>
        <a:off x="1617567" y="2546667"/>
        <a:ext cx="773042" cy="386521"/>
      </dsp:txXfrm>
    </dsp:sp>
    <dsp:sp modelId="{0531CC85-4BE4-42BB-9941-0C23265DA432}">
      <dsp:nvSpPr>
        <dsp:cNvPr id="0" name=""/>
        <dsp:cNvSpPr/>
      </dsp:nvSpPr>
      <dsp:spPr>
        <a:xfrm>
          <a:off x="2359687" y="900088"/>
          <a:ext cx="773042" cy="3865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Métodos algorítmicos</a:t>
          </a:r>
        </a:p>
      </dsp:txBody>
      <dsp:txXfrm>
        <a:off x="2359687" y="900088"/>
        <a:ext cx="773042" cy="386521"/>
      </dsp:txXfrm>
    </dsp:sp>
    <dsp:sp modelId="{01628E2D-9115-4C9F-B46C-20A5CA6CB030}">
      <dsp:nvSpPr>
        <dsp:cNvPr id="0" name=""/>
        <dsp:cNvSpPr/>
      </dsp:nvSpPr>
      <dsp:spPr>
        <a:xfrm>
          <a:off x="2552948" y="1448948"/>
          <a:ext cx="773042" cy="3865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/>
            <a:t>Algoritmos de machine learning</a:t>
          </a:r>
        </a:p>
      </dsp:txBody>
      <dsp:txXfrm>
        <a:off x="2552948" y="1448948"/>
        <a:ext cx="773042" cy="3865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80D84DE9-60B0-96C8-2D39-EAFEF0C5205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2D7D466-4E54-02D0-1994-D0B0B532EE1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1AC401-63CD-4011-BD3F-881777803E6B}" type="datetimeFigureOut">
              <a:rPr lang="pt-BR" smtClean="0"/>
              <a:t>17/04/2026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0F90A10-5B00-6F4B-CCC0-70A8B76A71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BF3FDC7-0938-F397-0392-BA4DFED58BB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8E3638-9840-44C3-B185-96D12F204B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68756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5A0D3E-F1D3-4165-92D6-88ABBF3402F7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4F4DC4-6592-40BF-ABDB-9BFF74F557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5736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pt-BR" dirty="0"/>
              <a:t>Mostrar a instalação, mostrar o uso básico; orientar sobre a ferramenta, limitações de ser gratuita (principalmente usabilidade e </a:t>
            </a:r>
            <a:r>
              <a:rPr lang="pt-BR" dirty="0" err="1"/>
              <a:t>EAPs</a:t>
            </a:r>
            <a:r>
              <a:rPr lang="pt-BR" dirty="0"/>
              <a:t> grandes);</a:t>
            </a:r>
          </a:p>
          <a:p>
            <a:pPr marL="171450" indent="-171450">
              <a:buFontTx/>
              <a:buChar char="-"/>
            </a:pPr>
            <a:r>
              <a:rPr lang="pt-BR" dirty="0"/>
              <a:t>Orientar a usar como esqueleto as fases do gerenciamento de projeto e/ou atividades básicas de software (evidenciando o modelo de processo);</a:t>
            </a:r>
          </a:p>
          <a:p>
            <a:pPr marL="171450" indent="-171450">
              <a:buFontTx/>
              <a:buChar char="-"/>
            </a:pPr>
            <a:r>
              <a:rPr lang="pt-BR" dirty="0"/>
              <a:t>Mostrar um exemplo profissional ao final; mostrar como encaixar fases e funcionalidades;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19880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12367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32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81651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Produtividade?</a:t>
            </a:r>
          </a:p>
          <a:p>
            <a:r>
              <a:rPr lang="pt-BR" dirty="0"/>
              <a:t>Todas as linhas são iguais?</a:t>
            </a:r>
          </a:p>
          <a:p>
            <a:r>
              <a:rPr lang="pt-BR" dirty="0"/>
              <a:t>Qualidade de código?</a:t>
            </a:r>
          </a:p>
          <a:p>
            <a:r>
              <a:rPr lang="pt-BR" dirty="0"/>
              <a:t>Códigos mais curtos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44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09227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1h10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52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87618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73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12364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23A69-42FA-6C7F-8E7F-6B98D92359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3D12021-E9B8-2DA5-D7AA-EEFAC9BE43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AE13B6-90D0-2EBF-557D-77BD35E40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DC1895-12D9-AC11-702E-11B703192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B0C4B1D-8FC3-28DD-213A-B4A33E191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6582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8C2FD6-A370-1985-C93A-1EDE8406C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52C3B9-7A7B-6CD7-6119-3D2AB3F88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2677D9F-B2B1-EEB2-F39C-05B9FFB67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BCF700-7673-8EE5-8957-C42E2F58F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0852A1-3892-A7FE-CCE6-6FCC9FB20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F50F23F7-7509-A94A-0357-13196DBAB9BE}"/>
              </a:ext>
            </a:extLst>
          </p:cNvPr>
          <p:cNvCxnSpPr/>
          <p:nvPr userDrawn="1"/>
        </p:nvCxnSpPr>
        <p:spPr>
          <a:xfrm>
            <a:off x="838200" y="1515204"/>
            <a:ext cx="105156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249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4BC957-C48F-6616-84A8-A19050F98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C85F08-A25E-5A03-6537-9CF234C813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31BBAA9-5543-2C33-03DE-855D245B4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CBEBC89-3A79-0634-3519-AF1F8111B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3AD87A1-4927-B729-156C-B2C6FEFFC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1652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5213CD-B211-17A6-D257-BB10AAF02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0D9272-58DB-55C5-C017-D02D739EA6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B7CA884-D3A7-E862-7F04-B499373461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C147A3D-8DA4-6B2C-0A0E-0AA6B0871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40C47B9-781B-1A6F-38A5-6CF791D12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D5ACD4D-8610-8AC9-93C7-D8B0369D9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1137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6E7B04-0019-79A4-76F5-2C8912174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BC33AB5-0365-0DCE-8AFE-3AABCB4EF4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D09B770-753E-FCF1-A116-D319C584F6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E7E1C91-CE5E-222F-1899-061861EB58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D8F9A3A-15E1-DB2C-9454-3759BC68B0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DD57461-6C88-BC10-A526-51F0EC8E5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F514616-1567-C300-7178-6E93D825C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D247810-64D7-2657-E807-F2E63157F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1745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81F6D0-F91D-FF94-ADD4-10B99AAAA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211C08B-A0E1-D3DF-477B-076566DF4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8C29EE2-896F-6655-83F6-77B2CC775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9521969-790C-3FB8-B17B-C5D9FA8D2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5323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8EA4D47-97AA-E8F2-EFAD-E53C4D4BA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06686CE-31E4-CD82-2C3F-AE7B79DE6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D463308-365F-B15E-1B4F-EF5A05F5B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4646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F2A433-62E5-A2BD-9933-CEDBBAC8B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F278DE-9B7C-499B-0B63-1A51C8A34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852706B-ACC1-4F1F-252E-07F6A94B5D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E07D0C2-9C2B-2A0D-85DB-E5122F1DF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9CEBD13-52BB-5E4C-C4C9-7253B4D15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8118860-1540-DB38-E923-CF9EB4C15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8265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72268F-28E4-33A8-9A0D-B4BD01E95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C3C9CF8-866C-BB9E-2C67-D40C4A1C7B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078B3E1-ECBE-DAF0-5317-CCE8B66223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B9CF26C-EB62-7FA1-1821-42D3E058A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70B9854-208F-52D2-AAFE-4C05AE118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1340E45-F88F-F4D5-516C-ECC00FF81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2655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009645-90D5-1856-B2DB-C12DE86D3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F207D42-9D2A-8F7A-AEE8-7980420C0E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97E935-7DE0-6081-9677-5C257B0B6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532B49B-2BD6-A21A-CEE2-1B9E2148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3EF3D5-C6F9-8E4C-A73B-B9C1473DB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0567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C907A92-4A5E-2739-A866-E329CB69AB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FEC33BF-D4D8-5F77-DD24-DA158AAC9E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F5AC911-DB13-B1D0-B867-3C6E61F09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43CF6F-A03A-D784-15F8-5DB6477A2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624183-E9DA-9340-1464-04AA66A09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7874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A7EA33D-A7C8-9466-7C32-0A686D071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44E89D-FA86-74FF-F5B2-DA0869805C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9436571-AAA0-FF36-AE0C-F581FE3716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C6B603-1547-4FF1-9893-248F1C80E797}" type="datetimeFigureOut">
              <a:rPr lang="pt-BR" smtClean="0"/>
              <a:t>17/04/2026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2657596-0053-291B-1A10-11FCA5D6CB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2938FE5-92A0-DD55-5D9B-42370AB356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D30AFCB-850E-246A-E6B3-8AC802F85A34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610600" y="104579"/>
            <a:ext cx="3481023" cy="4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207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bruno.penteado@unesp.br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urceforge.net/projects/openproj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tore.criticaltools.com/download-software/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i.org/10.1109/MC.2007.58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sourceforge.net/projects/projectlibre/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attocs.com/blog/qual-o-preco-do-ponto-de-funcao/" TargetMode="External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hyperlink" Target="www4.tce.sp.gov.br/licitacao/sites/licitacao/files/pre_eletronico-08-30186_fabrica_de_software_edital.pdf" TargetMode="Externa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1CE52B2-35C1-BC52-58D1-71F38112F63D}"/>
              </a:ext>
            </a:extLst>
          </p:cNvPr>
          <p:cNvSpPr txBox="1">
            <a:spLocks/>
          </p:cNvSpPr>
          <p:nvPr/>
        </p:nvSpPr>
        <p:spPr>
          <a:xfrm>
            <a:off x="1524000" y="2048338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/>
              <a:t>Aula 5 </a:t>
            </a:r>
            <a:br>
              <a:rPr lang="pt-BR" dirty="0"/>
            </a:br>
            <a:r>
              <a:rPr lang="pt-BR" dirty="0"/>
              <a:t>Estimativas de software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52575701-68BF-5229-3D18-C2C9D3651AA6}"/>
              </a:ext>
            </a:extLst>
          </p:cNvPr>
          <p:cNvSpPr txBox="1">
            <a:spLocks/>
          </p:cNvSpPr>
          <p:nvPr/>
        </p:nvSpPr>
        <p:spPr>
          <a:xfrm>
            <a:off x="1524000" y="4528013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Bruno Elias Penteado</a:t>
            </a:r>
          </a:p>
          <a:p>
            <a:r>
              <a:rPr lang="pt-BR" dirty="0">
                <a:hlinkClick r:id="rId2"/>
              </a:rPr>
              <a:t>bruno.penteado@unesp.br</a:t>
            </a:r>
            <a:r>
              <a:rPr 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92919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EF7811-0FBC-0CBD-5ABA-A15349411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Trabalho de grupo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55D655E-6B4C-8056-DA69-CC02EF32B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Planos de Projeto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Priorização </a:t>
            </a:r>
            <a:r>
              <a:rPr lang="pt-BR" dirty="0" err="1"/>
              <a:t>MoSCoW</a:t>
            </a:r>
            <a:r>
              <a:rPr lang="pt-BR" dirty="0"/>
              <a:t> dos requisitos do produto;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TAP</a:t>
            </a:r>
          </a:p>
          <a:p>
            <a:pPr lvl="2"/>
            <a:r>
              <a:rPr lang="pt-BR" i="1" dirty="0"/>
              <a:t>Business case </a:t>
            </a:r>
            <a:r>
              <a:rPr lang="pt-BR" dirty="0"/>
              <a:t>e alinhamento;</a:t>
            </a:r>
          </a:p>
          <a:p>
            <a:pPr lvl="2"/>
            <a:r>
              <a:rPr lang="pt-BR" dirty="0"/>
              <a:t>Escopo positivo e negativo;</a:t>
            </a:r>
          </a:p>
          <a:p>
            <a:pPr lvl="2"/>
            <a:r>
              <a:rPr lang="pt-BR" dirty="0"/>
              <a:t>Premissas e restrições;</a:t>
            </a:r>
          </a:p>
          <a:p>
            <a:pPr lvl="2"/>
            <a:r>
              <a:rPr lang="pt-BR" dirty="0"/>
              <a:t>Stakeholders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Modelagem inicial com a </a:t>
            </a:r>
            <a:r>
              <a:rPr lang="pt-BR" b="1" dirty="0"/>
              <a:t>EAP</a:t>
            </a:r>
            <a:r>
              <a:rPr lang="pt-BR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673116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E56E33-0163-F75D-CD74-B8BA6E329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Atividade - EAP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F76CC0-46CC-B082-283C-5AC3A59CC0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Construir uma EAP baseado no escopo do produto</a:t>
            </a:r>
          </a:p>
          <a:p>
            <a:r>
              <a:rPr lang="pt-BR" dirty="0"/>
              <a:t>Incluir atividades de projeto necessárias para a construção do produto;</a:t>
            </a:r>
          </a:p>
          <a:p>
            <a:pPr lvl="1"/>
            <a:r>
              <a:rPr lang="pt-BR" dirty="0"/>
              <a:t>Ferramentas:</a:t>
            </a:r>
          </a:p>
          <a:p>
            <a:pPr lvl="2"/>
            <a:r>
              <a:rPr lang="pt-BR" b="1" dirty="0"/>
              <a:t>Project Libre (https://sourceforge.net/</a:t>
            </a:r>
            <a:r>
              <a:rPr lang="pt-BR" b="1" dirty="0" err="1"/>
              <a:t>projects</a:t>
            </a:r>
            <a:r>
              <a:rPr lang="pt-BR" b="1" dirty="0"/>
              <a:t>/</a:t>
            </a:r>
            <a:r>
              <a:rPr lang="pt-BR" b="1" dirty="0" err="1"/>
              <a:t>projectlibre</a:t>
            </a:r>
            <a:r>
              <a:rPr lang="pt-BR" b="1" dirty="0"/>
              <a:t>/)</a:t>
            </a:r>
          </a:p>
          <a:p>
            <a:pPr lvl="2"/>
            <a:r>
              <a:rPr lang="pt-BR" dirty="0" err="1"/>
              <a:t>OpenProj</a:t>
            </a:r>
            <a:r>
              <a:rPr lang="pt-BR" dirty="0"/>
              <a:t> [</a:t>
            </a:r>
            <a:r>
              <a:rPr lang="pt-BR" dirty="0">
                <a:hlinkClick r:id="rId3"/>
              </a:rPr>
              <a:t>https://sourceforge.net/</a:t>
            </a:r>
            <a:r>
              <a:rPr lang="pt-BR" dirty="0" err="1">
                <a:hlinkClick r:id="rId3"/>
              </a:rPr>
              <a:t>projects</a:t>
            </a:r>
            <a:r>
              <a:rPr lang="pt-BR" dirty="0">
                <a:hlinkClick r:id="rId3"/>
              </a:rPr>
              <a:t>/</a:t>
            </a:r>
            <a:r>
              <a:rPr lang="pt-BR" dirty="0" err="1">
                <a:hlinkClick r:id="rId3"/>
              </a:rPr>
              <a:t>openproj</a:t>
            </a:r>
            <a:r>
              <a:rPr lang="pt-BR" dirty="0">
                <a:hlinkClick r:id="rId3"/>
              </a:rPr>
              <a:t>/</a:t>
            </a:r>
            <a:r>
              <a:rPr lang="pt-BR" dirty="0"/>
              <a:t>]; </a:t>
            </a:r>
          </a:p>
          <a:p>
            <a:pPr lvl="2"/>
            <a:r>
              <a:rPr lang="pt-BR" dirty="0"/>
              <a:t>WBS Schedule Pro – </a:t>
            </a:r>
            <a:r>
              <a:rPr lang="pt-BR" dirty="0" err="1"/>
              <a:t>trial</a:t>
            </a:r>
            <a:r>
              <a:rPr lang="pt-BR" dirty="0"/>
              <a:t> 30 dias [</a:t>
            </a:r>
            <a:r>
              <a:rPr lang="pt-BR" dirty="0">
                <a:hlinkClick r:id="rId4"/>
              </a:rPr>
              <a:t>https://store.criticaltools.com/download-software/</a:t>
            </a:r>
            <a:r>
              <a:rPr lang="pt-BR" dirty="0"/>
              <a:t>] </a:t>
            </a:r>
          </a:p>
          <a:p>
            <a:pPr lvl="2"/>
            <a:r>
              <a:rPr lang="pt-BR" dirty="0"/>
              <a:t>Miro (miro.com); </a:t>
            </a:r>
          </a:p>
          <a:p>
            <a:pPr lvl="2"/>
            <a:r>
              <a:rPr lang="pt-BR" dirty="0" err="1"/>
              <a:t>LucidChart</a:t>
            </a:r>
            <a:r>
              <a:rPr lang="pt-BR" dirty="0"/>
              <a:t> (</a:t>
            </a:r>
            <a:r>
              <a:rPr lang="pt-BR" dirty="0" err="1"/>
              <a:t>lucid.app</a:t>
            </a:r>
            <a:r>
              <a:rPr lang="pt-BR" dirty="0"/>
              <a:t>)</a:t>
            </a:r>
          </a:p>
          <a:p>
            <a:pPr lvl="2"/>
            <a:r>
              <a:rPr lang="pt-BR" dirty="0" err="1"/>
              <a:t>Redmine</a:t>
            </a:r>
            <a:r>
              <a:rPr lang="pt-BR" dirty="0"/>
              <a:t>;</a:t>
            </a:r>
          </a:p>
          <a:p>
            <a:pPr lvl="2"/>
            <a:r>
              <a:rPr lang="pt-BR" dirty="0"/>
              <a:t>Microsoft Project;</a:t>
            </a:r>
          </a:p>
        </p:txBody>
      </p:sp>
    </p:spTree>
    <p:extLst>
      <p:ext uri="{BB962C8B-B14F-4D97-AF65-F5344CB8AC3E}">
        <p14:creationId xmlns:p14="http://schemas.microsoft.com/office/powerpoint/2010/main" val="317568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5AA60B-667A-3B1E-5026-7006A72F2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Na aula anterior, vimos...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EAEA1F-22A4-D565-FC85-BCE673025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pt-BR" dirty="0"/>
              <a:t>PMBOK</a:t>
            </a:r>
          </a:p>
          <a:p>
            <a:pPr lvl="1"/>
            <a:r>
              <a:rPr lang="pt-BR" dirty="0"/>
              <a:t>Ciclo de vida, Performance Domain</a:t>
            </a:r>
          </a:p>
          <a:p>
            <a:pPr lvl="1"/>
            <a:r>
              <a:rPr lang="pt-BR" dirty="0"/>
              <a:t>Iniciação de projetos (TAP)</a:t>
            </a:r>
          </a:p>
          <a:p>
            <a:pPr lvl="1"/>
            <a:endParaRPr lang="pt-BR" dirty="0"/>
          </a:p>
          <a:p>
            <a:r>
              <a:rPr lang="pt-BR" dirty="0"/>
              <a:t>Gerenciamento de </a:t>
            </a:r>
            <a:r>
              <a:rPr lang="pt-BR" b="1" i="1" dirty="0"/>
              <a:t>escopo de projeto</a:t>
            </a:r>
          </a:p>
          <a:p>
            <a:pPr lvl="1">
              <a:spcBef>
                <a:spcPts val="2400"/>
              </a:spcBef>
            </a:pPr>
            <a:r>
              <a:rPr lang="pt-BR" dirty="0"/>
              <a:t>Parte essencial do projeto </a:t>
            </a:r>
          </a:p>
          <a:p>
            <a:pPr lvl="2"/>
            <a:r>
              <a:rPr lang="pt-BR" dirty="0"/>
              <a:t>Diferenciação métodos tradicionais x métodos ágeis</a:t>
            </a:r>
          </a:p>
          <a:p>
            <a:pPr lvl="2"/>
            <a:r>
              <a:rPr lang="pt-BR" dirty="0"/>
              <a:t>Conceitos sobre escopo: projeto x produto; escopo negativo; premissas; restrições</a:t>
            </a:r>
          </a:p>
          <a:p>
            <a:pPr lvl="2"/>
            <a:r>
              <a:rPr lang="pt-BR" dirty="0"/>
              <a:t>TAP</a:t>
            </a:r>
          </a:p>
          <a:p>
            <a:pPr lvl="1">
              <a:spcBef>
                <a:spcPts val="2400"/>
              </a:spcBef>
            </a:pPr>
            <a:r>
              <a:rPr lang="pt-BR" dirty="0"/>
              <a:t>Método tradicional</a:t>
            </a:r>
          </a:p>
          <a:p>
            <a:pPr lvl="2"/>
            <a:r>
              <a:rPr lang="pt-BR" b="1" dirty="0"/>
              <a:t>Planejamento</a:t>
            </a:r>
            <a:r>
              <a:rPr lang="pt-BR" dirty="0"/>
              <a:t> e monitoramento/</a:t>
            </a:r>
            <a:r>
              <a:rPr lang="pt-BR" b="1" dirty="0"/>
              <a:t>controle</a:t>
            </a:r>
          </a:p>
          <a:p>
            <a:pPr lvl="2"/>
            <a:r>
              <a:rPr lang="pt-BR" dirty="0"/>
              <a:t>Ferramentas: </a:t>
            </a:r>
            <a:r>
              <a:rPr lang="pt-BR" b="1" dirty="0">
                <a:solidFill>
                  <a:srgbClr val="FF0000"/>
                </a:solidFill>
              </a:rPr>
              <a:t>EAP</a:t>
            </a:r>
            <a:r>
              <a:rPr lang="pt-BR" dirty="0"/>
              <a:t>, </a:t>
            </a:r>
            <a:r>
              <a:rPr lang="pt-BR" i="1" dirty="0" err="1"/>
              <a:t>change</a:t>
            </a:r>
            <a:r>
              <a:rPr lang="pt-BR" i="1" dirty="0"/>
              <a:t> </a:t>
            </a:r>
            <a:r>
              <a:rPr lang="pt-BR" i="1" dirty="0" err="1"/>
              <a:t>request</a:t>
            </a:r>
            <a:endParaRPr lang="pt-BR" i="1" dirty="0"/>
          </a:p>
          <a:p>
            <a:pPr lvl="1">
              <a:spcBef>
                <a:spcPts val="2400"/>
              </a:spcBef>
            </a:pPr>
            <a:r>
              <a:rPr lang="pt-BR" dirty="0"/>
              <a:t>Métodos ágeis</a:t>
            </a:r>
          </a:p>
          <a:p>
            <a:pPr lvl="2"/>
            <a:r>
              <a:rPr lang="pt-BR" dirty="0"/>
              <a:t>Mudança de requisitos como </a:t>
            </a:r>
            <a:r>
              <a:rPr lang="pt-BR" b="1" dirty="0"/>
              <a:t>parte do método</a:t>
            </a:r>
          </a:p>
          <a:p>
            <a:pPr lvl="2"/>
            <a:r>
              <a:rPr lang="pt-BR" dirty="0"/>
              <a:t>Diferentes restrições no triângulo de ferro</a:t>
            </a:r>
          </a:p>
          <a:p>
            <a:pPr lvl="2"/>
            <a:r>
              <a:rPr lang="pt-BR" dirty="0"/>
              <a:t>Ferramentas: Temas, </a:t>
            </a:r>
            <a:r>
              <a:rPr lang="pt-BR" dirty="0" err="1"/>
              <a:t>epics</a:t>
            </a:r>
            <a:r>
              <a:rPr lang="pt-BR" dirty="0"/>
              <a:t>, </a:t>
            </a:r>
            <a:r>
              <a:rPr lang="pt-BR" dirty="0" err="1"/>
              <a:t>user</a:t>
            </a:r>
            <a:r>
              <a:rPr lang="pt-BR" dirty="0"/>
              <a:t> stories, </a:t>
            </a:r>
            <a:r>
              <a:rPr lang="pt-BR" dirty="0" err="1"/>
              <a:t>tasks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51883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C376FF-90EA-9C4F-DC07-F31F9F534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714B55-9E67-EC4C-B3E0-F3F47E9770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501FFA8-F008-8618-2CEE-D65519E89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814" y="365125"/>
            <a:ext cx="7733619" cy="6388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090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02CA3E-5A01-6B12-4DEC-AD4562061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1- Especificar o escopo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15478A-BC26-74C1-F3C4-1B6AA8998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Escopo do </a:t>
            </a:r>
            <a:r>
              <a:rPr lang="pt-BR" b="1" dirty="0"/>
              <a:t>PRODUTO</a:t>
            </a:r>
            <a:r>
              <a:rPr lang="pt-BR" dirty="0"/>
              <a:t>: </a:t>
            </a:r>
            <a:r>
              <a:rPr lang="pt-BR" i="1" dirty="0"/>
              <a:t>características</a:t>
            </a:r>
            <a:r>
              <a:rPr lang="pt-BR" dirty="0"/>
              <a:t> e </a:t>
            </a:r>
            <a:r>
              <a:rPr lang="pt-BR" i="1" dirty="0"/>
              <a:t>funcionalidades</a:t>
            </a:r>
            <a:r>
              <a:rPr lang="pt-BR" dirty="0"/>
              <a:t> que o produto deve apresentar quando estiver pronto;</a:t>
            </a:r>
          </a:p>
          <a:p>
            <a:endParaRPr lang="pt-BR" dirty="0"/>
          </a:p>
          <a:p>
            <a:r>
              <a:rPr lang="pt-BR" dirty="0"/>
              <a:t>Escopo do </a:t>
            </a:r>
            <a:r>
              <a:rPr lang="pt-BR" b="1" dirty="0"/>
              <a:t>PROJETO</a:t>
            </a:r>
            <a:r>
              <a:rPr lang="pt-BR" dirty="0"/>
              <a:t>: </a:t>
            </a:r>
            <a:r>
              <a:rPr lang="pt-BR" i="1" dirty="0"/>
              <a:t>trabalho</a:t>
            </a:r>
            <a:r>
              <a:rPr lang="pt-BR" dirty="0"/>
              <a:t> que deve ser feito para construir o produto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0C22F6D-826A-65B1-5280-3E18383E71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151" y="5017878"/>
            <a:ext cx="8310444" cy="656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474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CB41F8-3DC7-9ACE-D34F-AECCCC0C4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2 – Detalhar o escopo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5B1857-0858-947D-B0D4-41B08D54D7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Planejar com baixo detalhamento é atividade propensa a erros;</a:t>
            </a:r>
          </a:p>
          <a:p>
            <a:pPr>
              <a:spcBef>
                <a:spcPts val="2400"/>
              </a:spcBef>
            </a:pPr>
            <a:r>
              <a:rPr lang="pt-BR" dirty="0"/>
              <a:t>Para evitar esse problema </a:t>
            </a:r>
            <a:r>
              <a:rPr lang="pt-BR" dirty="0">
                <a:sym typeface="Wingdings" panose="05000000000000000000" pitchFamily="2" charset="2"/>
              </a:rPr>
              <a:t> </a:t>
            </a:r>
            <a:r>
              <a:rPr lang="pt-BR" b="1" dirty="0">
                <a:sym typeface="Wingdings" panose="05000000000000000000" pitchFamily="2" charset="2"/>
              </a:rPr>
              <a:t>Dividir e conquistar:</a:t>
            </a:r>
          </a:p>
          <a:p>
            <a:pPr lvl="1"/>
            <a:r>
              <a:rPr lang="pt-BR" dirty="0">
                <a:sym typeface="Wingdings" panose="05000000000000000000" pitchFamily="2" charset="2"/>
              </a:rPr>
              <a:t>Dividir em problemas menores;</a:t>
            </a:r>
          </a:p>
          <a:p>
            <a:pPr lvl="1"/>
            <a:r>
              <a:rPr lang="pt-BR" dirty="0"/>
              <a:t>Planejar em maior nível de detalhamento;</a:t>
            </a:r>
          </a:p>
          <a:p>
            <a:pPr lvl="1"/>
            <a:r>
              <a:rPr lang="pt-BR" dirty="0"/>
              <a:t>Inferir o planejamento completo a partir da soma das partes;</a:t>
            </a:r>
          </a:p>
          <a:p>
            <a:pPr>
              <a:spcBef>
                <a:spcPts val="2400"/>
              </a:spcBef>
            </a:pPr>
            <a:r>
              <a:rPr lang="pt-BR" dirty="0"/>
              <a:t>Documento resultantes:</a:t>
            </a:r>
          </a:p>
          <a:p>
            <a:pPr lvl="1"/>
            <a:r>
              <a:rPr lang="pt-BR" b="1" dirty="0"/>
              <a:t>Estrutura Analítica do Projeto </a:t>
            </a:r>
            <a:r>
              <a:rPr lang="pt-BR" dirty="0"/>
              <a:t>(</a:t>
            </a:r>
            <a:r>
              <a:rPr lang="pt-BR" i="1" dirty="0"/>
              <a:t>EAP</a:t>
            </a:r>
            <a:r>
              <a:rPr lang="pt-BR" dirty="0"/>
              <a:t>) ou </a:t>
            </a:r>
            <a:r>
              <a:rPr lang="pt-BR" b="1" i="1" dirty="0" err="1"/>
              <a:t>Work</a:t>
            </a:r>
            <a:r>
              <a:rPr lang="pt-BR" b="1" i="1" dirty="0"/>
              <a:t> </a:t>
            </a:r>
            <a:r>
              <a:rPr lang="pt-BR" b="1" i="1" dirty="0" err="1"/>
              <a:t>Breakdown</a:t>
            </a:r>
            <a:r>
              <a:rPr lang="pt-BR" b="1" i="1" dirty="0"/>
              <a:t> </a:t>
            </a:r>
            <a:r>
              <a:rPr lang="pt-BR" b="1" i="1" dirty="0" err="1"/>
              <a:t>Structure</a:t>
            </a:r>
            <a:r>
              <a:rPr lang="pt-BR" b="1" i="1" dirty="0"/>
              <a:t> </a:t>
            </a:r>
            <a:r>
              <a:rPr lang="pt-BR" dirty="0"/>
              <a:t>(</a:t>
            </a:r>
            <a:r>
              <a:rPr lang="pt-BR" i="1" dirty="0"/>
              <a:t>WBS</a:t>
            </a:r>
            <a:r>
              <a:rPr lang="pt-BR" dirty="0"/>
              <a:t>, em inglês)</a:t>
            </a:r>
          </a:p>
        </p:txBody>
      </p:sp>
    </p:spTree>
    <p:extLst>
      <p:ext uri="{BB962C8B-B14F-4D97-AF65-F5344CB8AC3E}">
        <p14:creationId xmlns:p14="http://schemas.microsoft.com/office/powerpoint/2010/main" val="3119767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2F4624-0173-93EF-D03E-2968301E7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3 – Definir as atividades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7AC1F3B-F96A-E797-894B-2C79D2BDB5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Definir para cada pacote de trabalho da EAP:</a:t>
            </a:r>
          </a:p>
          <a:p>
            <a:pPr lvl="1"/>
            <a:r>
              <a:rPr lang="pt-BR" dirty="0"/>
              <a:t>Atividades necessárias;</a:t>
            </a:r>
          </a:p>
          <a:p>
            <a:pPr lvl="1"/>
            <a:r>
              <a:rPr lang="pt-BR" dirty="0"/>
              <a:t>Recursos necessários para a execução das atividades;</a:t>
            </a:r>
          </a:p>
          <a:p>
            <a:pPr lvl="1"/>
            <a:endParaRPr lang="pt-BR" dirty="0"/>
          </a:p>
          <a:p>
            <a:r>
              <a:rPr lang="pt-BR" dirty="0"/>
              <a:t>Ex. </a:t>
            </a:r>
            <a:r>
              <a:rPr lang="pt-BR" b="1" i="1" dirty="0"/>
              <a:t>Churrasco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Atividade “Comprar bebidas”</a:t>
            </a:r>
          </a:p>
          <a:p>
            <a:pPr lvl="2"/>
            <a:r>
              <a:rPr lang="pt-BR" dirty="0"/>
              <a:t>Atividades: ir ao supermercado;</a:t>
            </a:r>
          </a:p>
          <a:p>
            <a:pPr lvl="2"/>
            <a:r>
              <a:rPr lang="pt-BR" dirty="0"/>
              <a:t>Recursos: pessoa, carro, dinheiro;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73938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9608FA-5012-B46E-5A95-2E0C0B714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4 – Definir a sequência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E6DCD22-7C8F-2AFA-646F-E8838BC56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Para executar uma determinada atividade, outras já precisam ter sido concluídas (</a:t>
            </a:r>
            <a:r>
              <a:rPr lang="pt-BR" b="1" dirty="0"/>
              <a:t>pré-requisitos</a:t>
            </a:r>
            <a:r>
              <a:rPr lang="pt-BR" dirty="0"/>
              <a:t>);</a:t>
            </a:r>
          </a:p>
          <a:p>
            <a:pPr>
              <a:spcBef>
                <a:spcPts val="2400"/>
              </a:spcBef>
            </a:pPr>
            <a:r>
              <a:rPr lang="pt-BR" dirty="0"/>
              <a:t>Necessário definir </a:t>
            </a:r>
            <a:r>
              <a:rPr lang="pt-BR" b="1" dirty="0"/>
              <a:t>dependências</a:t>
            </a:r>
            <a:r>
              <a:rPr lang="pt-BR" dirty="0"/>
              <a:t> (sequência) das atividades;</a:t>
            </a:r>
          </a:p>
          <a:p>
            <a:endParaRPr lang="pt-BR" dirty="0"/>
          </a:p>
          <a:p>
            <a:r>
              <a:rPr lang="pt-BR" dirty="0"/>
              <a:t>Ex. </a:t>
            </a:r>
            <a:r>
              <a:rPr lang="pt-BR" b="1" i="1" dirty="0"/>
              <a:t>Churrasco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Atividade “Comprar bebidas”</a:t>
            </a:r>
          </a:p>
          <a:p>
            <a:pPr lvl="2"/>
            <a:r>
              <a:rPr lang="pt-BR" dirty="0"/>
              <a:t>Definir quantidade de bebidas;</a:t>
            </a:r>
          </a:p>
          <a:p>
            <a:pPr lvl="2"/>
            <a:r>
              <a:rPr lang="pt-BR" dirty="0"/>
              <a:t>Escolher supermercado com melhor preço;</a:t>
            </a:r>
          </a:p>
        </p:txBody>
      </p:sp>
    </p:spTree>
    <p:extLst>
      <p:ext uri="{BB962C8B-B14F-4D97-AF65-F5344CB8AC3E}">
        <p14:creationId xmlns:p14="http://schemas.microsoft.com/office/powerpoint/2010/main" val="13218900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9DA329-E429-F9DF-509C-AEED5E691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Passo 5 – Estimar a duração das atividades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87F625-B3BB-40B3-6BBA-F927D5A4C9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Cada atividade tem uma </a:t>
            </a:r>
            <a:r>
              <a:rPr lang="pt-BR" b="1" dirty="0"/>
              <a:t>duração esperada</a:t>
            </a:r>
          </a:p>
          <a:p>
            <a:pPr>
              <a:spcBef>
                <a:spcPts val="2400"/>
              </a:spcBef>
            </a:pPr>
            <a:r>
              <a:rPr lang="pt-BR" dirty="0"/>
              <a:t>Caso a atividade seja ainda muito grande, será complexo determinar a sua duração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Neste caso, decomponha a atividade</a:t>
            </a:r>
          </a:p>
          <a:p>
            <a:pPr>
              <a:spcBef>
                <a:spcPts val="2400"/>
              </a:spcBef>
            </a:pPr>
            <a:r>
              <a:rPr lang="pt-BR" dirty="0"/>
              <a:t>Existem diferentes técnicas para estipular a duração da atividade, dentre elas: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Opinião de especialista (consenso)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Estimativa por analogia (projeto anterior)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PERT - </a:t>
            </a:r>
            <a:r>
              <a:rPr lang="pt-BR" dirty="0" err="1"/>
              <a:t>Program</a:t>
            </a:r>
            <a:r>
              <a:rPr lang="pt-BR" dirty="0"/>
              <a:t> </a:t>
            </a:r>
            <a:r>
              <a:rPr lang="pt-BR" dirty="0" err="1"/>
              <a:t>Evaluation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Review </a:t>
            </a:r>
            <a:r>
              <a:rPr lang="pt-BR" dirty="0" err="1"/>
              <a:t>Technique</a:t>
            </a:r>
            <a:endParaRPr lang="pt-BR" dirty="0"/>
          </a:p>
          <a:p>
            <a:pPr lvl="1">
              <a:spcBef>
                <a:spcPts val="1800"/>
              </a:spcBef>
            </a:pPr>
            <a:r>
              <a:rPr lang="pt-BR" dirty="0"/>
              <a:t>Estimativa paramétrica (fórmula)</a:t>
            </a:r>
          </a:p>
        </p:txBody>
      </p:sp>
    </p:spTree>
    <p:extLst>
      <p:ext uri="{BB962C8B-B14F-4D97-AF65-F5344CB8AC3E}">
        <p14:creationId xmlns:p14="http://schemas.microsoft.com/office/powerpoint/2010/main" val="26037457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9DA329-E429-F9DF-509C-AEED5E691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Passo 6 – Estimar o custo das atividades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87F625-B3BB-40B3-6BBA-F927D5A4C9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Tendo em mãos: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Os recursos necessários para a execução das atividades;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O esforço estimado das atividades;</a:t>
            </a:r>
          </a:p>
          <a:p>
            <a:pPr lvl="1"/>
            <a:endParaRPr lang="pt-BR" dirty="0"/>
          </a:p>
          <a:p>
            <a:r>
              <a:rPr lang="pt-BR" dirty="0"/>
              <a:t>Recursos diferentes influem diferentemente nos custos: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Humanos</a:t>
            </a:r>
            <a:r>
              <a:rPr lang="pt-BR" dirty="0"/>
              <a:t>: valor por hora * duração em horas;</a:t>
            </a:r>
          </a:p>
          <a:p>
            <a:pPr lvl="2"/>
            <a:r>
              <a:rPr lang="pt-BR" dirty="0"/>
              <a:t>Varia conforma a especialidade e a experiência;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Capital</a:t>
            </a:r>
            <a:r>
              <a:rPr lang="pt-BR" dirty="0"/>
              <a:t>: valor do recurso * número de recursos; </a:t>
            </a:r>
          </a:p>
          <a:p>
            <a:pPr lvl="2"/>
            <a:r>
              <a:rPr lang="pt-BR" dirty="0" err="1"/>
              <a:t>ex</a:t>
            </a:r>
            <a:r>
              <a:rPr lang="pt-BR" dirty="0"/>
              <a:t>: equipamentos, aquisição de software;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Consumo</a:t>
            </a:r>
            <a:r>
              <a:rPr lang="pt-BR" dirty="0"/>
              <a:t>: valor do recurso * </a:t>
            </a:r>
            <a:r>
              <a:rPr lang="pt-BR" dirty="0" err="1"/>
              <a:t>qtd</a:t>
            </a:r>
            <a:r>
              <a:rPr lang="pt-BR" dirty="0"/>
              <a:t> necessária para a atividade;</a:t>
            </a:r>
          </a:p>
          <a:p>
            <a:pPr lvl="2"/>
            <a:r>
              <a:rPr lang="pt-BR" dirty="0" err="1"/>
              <a:t>Ex</a:t>
            </a:r>
            <a:r>
              <a:rPr lang="pt-BR" dirty="0"/>
              <a:t>: aluguel, </a:t>
            </a:r>
            <a:r>
              <a:rPr lang="pt-BR" dirty="0" err="1"/>
              <a:t>subscriptions</a:t>
            </a:r>
            <a:r>
              <a:rPr lang="pt-BR" dirty="0"/>
              <a:t>, viagens;</a:t>
            </a:r>
          </a:p>
        </p:txBody>
      </p:sp>
    </p:spTree>
    <p:extLst>
      <p:ext uri="{BB962C8B-B14F-4D97-AF65-F5344CB8AC3E}">
        <p14:creationId xmlns:p14="http://schemas.microsoft.com/office/powerpoint/2010/main" val="2431672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4617C1-8117-908A-638B-4645C3FA4F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Apresentar processo de </a:t>
            </a:r>
            <a:r>
              <a:rPr lang="pt-BR" b="1" dirty="0"/>
              <a:t>estimativas de custo e prazo</a:t>
            </a:r>
            <a:r>
              <a:rPr lang="pt-BR" dirty="0"/>
              <a:t>: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b="1" dirty="0"/>
              <a:t>Introdução sobre estimativas;</a:t>
            </a:r>
          </a:p>
          <a:p>
            <a:pPr marL="914400" lvl="1" indent="-457200">
              <a:spcBef>
                <a:spcPts val="2400"/>
              </a:spcBef>
              <a:buFont typeface="+mj-lt"/>
              <a:buAutoNum type="arabicPeriod"/>
            </a:pPr>
            <a:r>
              <a:rPr lang="pt-BR" dirty="0"/>
              <a:t>Métricas básicas para estimativa de projetos de software;</a:t>
            </a:r>
          </a:p>
          <a:p>
            <a:pPr marL="914400" lvl="1" indent="-457200">
              <a:spcBef>
                <a:spcPts val="2400"/>
              </a:spcBef>
              <a:buFont typeface="+mj-lt"/>
              <a:buAutoNum type="arabicPeriod"/>
            </a:pPr>
            <a:r>
              <a:rPr lang="pt-BR" dirty="0"/>
              <a:t>Principais exemplos: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dirty="0" err="1"/>
              <a:t>Bottom-up</a:t>
            </a:r>
            <a:r>
              <a:rPr lang="pt-BR" dirty="0"/>
              <a:t> (EAP)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dirty="0"/>
              <a:t>LOC (PERT e COCOMO II)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dirty="0"/>
              <a:t>Pontos de função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dirty="0" err="1"/>
              <a:t>Story</a:t>
            </a:r>
            <a:r>
              <a:rPr lang="pt-BR" dirty="0"/>
              <a:t> points;</a:t>
            </a:r>
          </a:p>
          <a:p>
            <a:pPr marL="914400" lvl="1" indent="-457200">
              <a:spcBef>
                <a:spcPts val="2400"/>
              </a:spcBef>
              <a:buFont typeface="+mj-lt"/>
              <a:buAutoNum type="arabicPeriod"/>
            </a:pPr>
            <a:r>
              <a:rPr lang="pt-BR" dirty="0"/>
              <a:t>Outros métodos de estimativa;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7E6B11-3F58-C3C6-51E5-4D67C8BE4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Objetivos de hoje: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19BDCD2-4AEF-3B24-CA3E-43B8F33AF411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33604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7C2A13-C0B3-6528-4AD6-7B89FE53C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Pergunta geradora</a:t>
            </a:r>
          </a:p>
        </p:txBody>
      </p:sp>
      <p:pic>
        <p:nvPicPr>
          <p:cNvPr id="1026" name="Picture 2" descr="2.076.600+ Pessoa Pensando fotos de stock, imagens e fotos ...">
            <a:extLst>
              <a:ext uri="{FF2B5EF4-FFF2-40B4-BE49-F238E27FC236}">
                <a16:creationId xmlns:a16="http://schemas.microsoft.com/office/drawing/2014/main" id="{D5E85F11-8AB9-090A-410C-DC590008E8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6977" y="1533407"/>
            <a:ext cx="7986890" cy="5324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Balão de Fala: Retângulo com Cantos Arredondados 3">
            <a:extLst>
              <a:ext uri="{FF2B5EF4-FFF2-40B4-BE49-F238E27FC236}">
                <a16:creationId xmlns:a16="http://schemas.microsoft.com/office/drawing/2014/main" id="{304E759C-E5E7-6E3C-3410-45998B729D39}"/>
              </a:ext>
            </a:extLst>
          </p:cNvPr>
          <p:cNvSpPr/>
          <p:nvPr/>
        </p:nvSpPr>
        <p:spPr>
          <a:xfrm>
            <a:off x="1467554" y="2043289"/>
            <a:ext cx="4097867" cy="2540000"/>
          </a:xfrm>
          <a:prstGeom prst="wedgeRoundRectCallout">
            <a:avLst>
              <a:gd name="adj1" fmla="val 76919"/>
              <a:gd name="adj2" fmla="val -19154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3200" dirty="0"/>
              <a:t>Quanto vai </a:t>
            </a:r>
            <a:r>
              <a:rPr lang="pt-BR" sz="3200" b="1" dirty="0"/>
              <a:t>custar</a:t>
            </a:r>
            <a:r>
              <a:rPr lang="pt-BR" sz="3200" dirty="0"/>
              <a:t> meu software?</a:t>
            </a:r>
          </a:p>
          <a:p>
            <a:pPr algn="ctr"/>
            <a:endParaRPr lang="pt-BR" sz="3200" dirty="0"/>
          </a:p>
          <a:p>
            <a:pPr algn="ctr"/>
            <a:r>
              <a:rPr lang="pt-BR" sz="3200" dirty="0"/>
              <a:t>Quanto </a:t>
            </a:r>
            <a:r>
              <a:rPr lang="pt-BR" sz="3200" b="1" dirty="0"/>
              <a:t>tempo</a:t>
            </a:r>
            <a:r>
              <a:rPr lang="pt-BR" sz="3200" dirty="0"/>
              <a:t> vai levar?</a:t>
            </a:r>
          </a:p>
        </p:txBody>
      </p:sp>
    </p:spTree>
    <p:extLst>
      <p:ext uri="{BB962C8B-B14F-4D97-AF65-F5344CB8AC3E}">
        <p14:creationId xmlns:p14="http://schemas.microsoft.com/office/powerpoint/2010/main" val="35999796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AE0264-DC71-91C2-83C1-8F52DBC54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mental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C2E5C1C-FB88-DC6F-B047-94D3E4F346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Baseado em sua experiência, </a:t>
            </a:r>
            <a:r>
              <a:rPr lang="pt-BR" b="1" dirty="0"/>
              <a:t>quanto custaria e quanto tempo levaria seu projeto</a:t>
            </a:r>
            <a:r>
              <a:rPr lang="pt-BR" dirty="0"/>
              <a:t>, sendo implementado pelos integrantes de seu grupo?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58988246-D664-7E67-760D-EE218DC38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8462450"/>
              </p:ext>
            </p:extLst>
          </p:nvPr>
        </p:nvGraphicFramePr>
        <p:xfrm>
          <a:off x="1614311" y="3210243"/>
          <a:ext cx="8127999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07895019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87731555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5950473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Custo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Tempo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7495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b="1" dirty="0" err="1"/>
                        <a:t>Fitlog</a:t>
                      </a:r>
                      <a:endParaRPr lang="pt-B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R$ 100.000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 meses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5493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b="1" dirty="0" err="1"/>
                        <a:t>Unespão</a:t>
                      </a:r>
                      <a:endParaRPr lang="pt-B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R$ 200.000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 meses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8349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b="1" dirty="0" err="1"/>
                        <a:t>Cheflink</a:t>
                      </a:r>
                      <a:endParaRPr lang="pt-B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04818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b="1" dirty="0" err="1"/>
                        <a:t>ConectaPatas</a:t>
                      </a:r>
                      <a:endParaRPr lang="pt-B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R$ 130.000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 meses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88274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b="1" dirty="0" err="1"/>
                        <a:t>Retroplay</a:t>
                      </a:r>
                      <a:endParaRPr lang="pt-B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R$ 50.000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 meses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988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b="1" dirty="0" err="1"/>
                        <a:t>BarberTime</a:t>
                      </a:r>
                      <a:endParaRPr lang="pt-B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R$ 80.000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 meses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99366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02453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94E889-11C5-244A-95BD-0390C2438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Estimativas - </a:t>
            </a:r>
            <a:r>
              <a:rPr lang="pt-BR" i="1" dirty="0"/>
              <a:t>No </a:t>
            </a:r>
            <a:r>
              <a:rPr lang="pt-BR" i="1" dirty="0" err="1"/>
              <a:t>silver</a:t>
            </a:r>
            <a:r>
              <a:rPr lang="pt-BR" i="1" dirty="0"/>
              <a:t> </a:t>
            </a:r>
            <a:r>
              <a:rPr lang="pt-BR" i="1" dirty="0" err="1"/>
              <a:t>bullet</a:t>
            </a:r>
            <a:r>
              <a:rPr lang="pt-BR" i="1" dirty="0"/>
              <a:t>...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19AC6FA-7B7A-E5A9-623C-44E81DD607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Diferentes </a:t>
            </a:r>
            <a:r>
              <a:rPr lang="pt-BR" b="1" dirty="0"/>
              <a:t>contextos</a:t>
            </a:r>
            <a:r>
              <a:rPr lang="pt-BR" dirty="0"/>
              <a:t> exigem diferentes abordagens</a:t>
            </a:r>
          </a:p>
          <a:p>
            <a:pPr lvl="1"/>
            <a:r>
              <a:rPr lang="pt-BR" dirty="0"/>
              <a:t>Contratante</a:t>
            </a:r>
          </a:p>
          <a:p>
            <a:pPr lvl="2"/>
            <a:r>
              <a:rPr lang="pt-BR" dirty="0"/>
              <a:t>Desenvolvimento interno,  Contratação de empresa externa, Edital público, startup;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Software</a:t>
            </a:r>
          </a:p>
          <a:p>
            <a:pPr lvl="2"/>
            <a:r>
              <a:rPr lang="pt-BR" dirty="0"/>
              <a:t>Produto, Projeto customizado, integração;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Novidade</a:t>
            </a:r>
          </a:p>
          <a:p>
            <a:pPr lvl="2"/>
            <a:r>
              <a:rPr lang="pt-BR" dirty="0"/>
              <a:t>Novo software, Manutenção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Organização</a:t>
            </a:r>
          </a:p>
          <a:p>
            <a:pPr lvl="2"/>
            <a:r>
              <a:rPr lang="pt-BR" dirty="0" err="1"/>
              <a:t>Start-up</a:t>
            </a:r>
            <a:r>
              <a:rPr lang="pt-BR" dirty="0"/>
              <a:t>, Grande corporação, governo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Maturidade (experiência em projetos anteriores)</a:t>
            </a:r>
          </a:p>
          <a:p>
            <a:pPr lvl="2"/>
            <a:r>
              <a:rPr lang="pt-BR" dirty="0"/>
              <a:t>Tecnológica e de gestão: Equipe, Empresa</a:t>
            </a:r>
          </a:p>
          <a:p>
            <a:pPr lvl="1"/>
            <a:endParaRPr lang="pt-BR" dirty="0"/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321005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1C022E-E2E2-0D2E-2AAA-219679723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Estimativas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2E7C1A9-DE08-72C4-E2E7-C667EBF48C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Necessidade de estimar quanto </a:t>
            </a:r>
            <a:r>
              <a:rPr lang="pt-BR" b="1" dirty="0"/>
              <a:t>esforço</a:t>
            </a:r>
            <a:r>
              <a:rPr lang="pt-BR" dirty="0"/>
              <a:t> ou </a:t>
            </a:r>
            <a:r>
              <a:rPr lang="pt-BR" b="1" dirty="0"/>
              <a:t>horas</a:t>
            </a:r>
            <a:r>
              <a:rPr lang="pt-BR" dirty="0"/>
              <a:t> de trabalho serão necessárias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057816F-3383-9460-9543-025FA0D0498A}"/>
              </a:ext>
            </a:extLst>
          </p:cNvPr>
          <p:cNvSpPr txBox="1"/>
          <p:nvPr/>
        </p:nvSpPr>
        <p:spPr>
          <a:xfrm>
            <a:off x="3048000" y="3246792"/>
            <a:ext cx="23302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/>
              <a:t>Incertezas!!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D261D0D-9381-533E-BFA6-91871CE7F8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73575" y="4782401"/>
            <a:ext cx="2415019" cy="1383741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980FC1C8-F4CB-71BE-3E2F-740004FB7E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755054"/>
            <a:ext cx="1857634" cy="1371791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F51EE988-9FC1-3898-C5C9-FEE738C46C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5079" b="94921" l="2765" r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41156" y="3492081"/>
            <a:ext cx="2067213" cy="3000794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0527AA97-3664-1E10-55E1-6E295A55A0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951" y="4332216"/>
            <a:ext cx="2705478" cy="175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6239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5F7322-5FBA-E61C-F1C9-AEF0CBA0C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Estimativas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526D7E-80CF-817C-C206-CECAD0E20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Avaliação quantitativa </a:t>
            </a:r>
            <a:r>
              <a:rPr lang="pt-BR" dirty="0"/>
              <a:t>do provável quantidade ou saídas de uma variável, tal como </a:t>
            </a:r>
            <a:r>
              <a:rPr lang="pt-BR" dirty="0">
                <a:solidFill>
                  <a:srgbClr val="FF0000"/>
                </a:solidFill>
              </a:rPr>
              <a:t>esforço</a:t>
            </a:r>
            <a:r>
              <a:rPr lang="pt-BR" dirty="0"/>
              <a:t> ou </a:t>
            </a:r>
            <a:r>
              <a:rPr lang="pt-BR" dirty="0">
                <a:solidFill>
                  <a:schemeClr val="accent1"/>
                </a:solidFill>
              </a:rPr>
              <a:t>duração</a:t>
            </a:r>
            <a:r>
              <a:rPr lang="pt-BR" dirty="0"/>
              <a:t> </a:t>
            </a:r>
            <a:r>
              <a:rPr lang="pt-BR" sz="1800" dirty="0"/>
              <a:t>(PMBOK, 2025)</a:t>
            </a:r>
          </a:p>
          <a:p>
            <a:pPr>
              <a:spcBef>
                <a:spcPts val="2400"/>
              </a:spcBef>
            </a:pPr>
            <a:r>
              <a:rPr lang="pt-BR" dirty="0">
                <a:solidFill>
                  <a:srgbClr val="FF0000"/>
                </a:solidFill>
              </a:rPr>
              <a:t>Esforço</a:t>
            </a:r>
            <a:r>
              <a:rPr lang="pt-BR" dirty="0"/>
              <a:t> é o numero de unidades de trabalho exigido para completar uma atividade do cronograma ou de um componente da EAP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Em projetos de software: HH (</a:t>
            </a:r>
            <a:r>
              <a:rPr lang="pt-BR" i="1" dirty="0"/>
              <a:t>homens-hora</a:t>
            </a:r>
            <a:r>
              <a:rPr lang="pt-BR" dirty="0"/>
              <a:t>)</a:t>
            </a:r>
          </a:p>
          <a:p>
            <a:pPr>
              <a:spcBef>
                <a:spcPts val="2400"/>
              </a:spcBef>
            </a:pPr>
            <a:r>
              <a:rPr lang="pt-BR" dirty="0">
                <a:solidFill>
                  <a:schemeClr val="accent1"/>
                </a:solidFill>
              </a:rPr>
              <a:t>Duração</a:t>
            </a:r>
            <a:r>
              <a:rPr lang="pt-BR" dirty="0"/>
              <a:t> é o número de períodos de trabalho necessário para completar atividades individuais com os recursos estimados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Dias, meses, anos</a:t>
            </a:r>
          </a:p>
        </p:txBody>
      </p:sp>
    </p:spTree>
    <p:extLst>
      <p:ext uri="{BB962C8B-B14F-4D97-AF65-F5344CB8AC3E}">
        <p14:creationId xmlns:p14="http://schemas.microsoft.com/office/powerpoint/2010/main" val="3237101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8DB919-C283-504F-4A33-3998ADF69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devemos estimar?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39BE69E-D1EE-4E36-78AE-5D511DBD6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4789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pt-BR" dirty="0"/>
              <a:t>1. </a:t>
            </a:r>
            <a:r>
              <a:rPr lang="pt-BR" b="1" dirty="0"/>
              <a:t>Tamanho do produto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Quantidade de software a ser produzida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Ex. no. linhas de código, no. pontos de função, nº de requisitos, pontos de casos de uso</a:t>
            </a:r>
          </a:p>
          <a:p>
            <a:pPr marL="0" indent="0">
              <a:spcBef>
                <a:spcPts val="2400"/>
              </a:spcBef>
              <a:buNone/>
            </a:pPr>
            <a:r>
              <a:rPr lang="pt-BR" dirty="0"/>
              <a:t>2. </a:t>
            </a:r>
            <a:r>
              <a:rPr lang="pt-BR" b="1" dirty="0"/>
              <a:t>Esforço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Derivado da estimativa de tamanho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Ex. dividindo a estimativa de tamanho por produtividade produz-se o esforço (HH, PM)</a:t>
            </a:r>
          </a:p>
          <a:p>
            <a:pPr marL="0" indent="0">
              <a:spcBef>
                <a:spcPts val="2400"/>
              </a:spcBef>
              <a:buNone/>
            </a:pPr>
            <a:r>
              <a:rPr lang="pt-BR" dirty="0"/>
              <a:t>3. </a:t>
            </a:r>
            <a:r>
              <a:rPr lang="pt-BR" b="1" dirty="0"/>
              <a:t>Prazo</a:t>
            </a:r>
            <a:r>
              <a:rPr lang="pt-BR" dirty="0"/>
              <a:t> 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Geralmente são dirigidos a datas fornecidas pelo Cliente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Determinado pela velocidade de entrega;</a:t>
            </a:r>
          </a:p>
          <a:p>
            <a:pPr marL="0" indent="0">
              <a:spcBef>
                <a:spcPts val="2400"/>
              </a:spcBef>
              <a:buNone/>
            </a:pPr>
            <a:r>
              <a:rPr lang="pt-BR" dirty="0"/>
              <a:t>4. </a:t>
            </a:r>
            <a:r>
              <a:rPr lang="pt-BR" b="1" dirty="0"/>
              <a:t>Custo</a:t>
            </a:r>
          </a:p>
          <a:p>
            <a:pPr lvl="1">
              <a:spcBef>
                <a:spcPts val="1000"/>
              </a:spcBef>
            </a:pPr>
            <a:r>
              <a:rPr lang="pt-BR" dirty="0"/>
              <a:t>Custo para executar a visão do projeto, incluindo tudo necessário para sua execução</a:t>
            </a:r>
          </a:p>
        </p:txBody>
      </p:sp>
    </p:spTree>
    <p:extLst>
      <p:ext uri="{BB962C8B-B14F-4D97-AF65-F5344CB8AC3E}">
        <p14:creationId xmlns:p14="http://schemas.microsoft.com/office/powerpoint/2010/main" val="13849171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3D908C-B850-163A-AC90-D408F617E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Elementos de custos nos projetos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B8469B0-4A5E-8CCC-6FAC-5CB777829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b="1" dirty="0"/>
              <a:t>Custos associados diretamente à execução da tarefa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Custos de mão-de-obra;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Custos de materiais de suprimento;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Custos de serviços contratados;</a:t>
            </a:r>
          </a:p>
          <a:p>
            <a:pPr lvl="1"/>
            <a:endParaRPr lang="pt-BR" dirty="0"/>
          </a:p>
          <a:p>
            <a:r>
              <a:rPr lang="pt-BR" b="1" dirty="0"/>
              <a:t>Custos administrativos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Custos de gerenciamento;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Impostos incidentes;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Custos de sistemas/equipamentos alugados/comprados para uso no projeto;</a:t>
            </a:r>
          </a:p>
        </p:txBody>
      </p:sp>
    </p:spTree>
    <p:extLst>
      <p:ext uri="{BB962C8B-B14F-4D97-AF65-F5344CB8AC3E}">
        <p14:creationId xmlns:p14="http://schemas.microsoft.com/office/powerpoint/2010/main" val="15018587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09F097-707D-DA82-7ED9-6659CA3A4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Contexto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AF70C9-A81F-A515-B70A-2952DDE8E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Uma das maiores causas de fracasso é a </a:t>
            </a:r>
            <a:r>
              <a:rPr lang="pt-BR" b="1" dirty="0"/>
              <a:t>subestimação do esforço necessário </a:t>
            </a:r>
            <a:r>
              <a:rPr lang="pt-BR" dirty="0"/>
              <a:t>(tempo, financeiro e recursos humanos)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Gera sobrecarga da equipe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Atrasos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Insatisfação dos clientes</a:t>
            </a:r>
          </a:p>
        </p:txBody>
      </p:sp>
    </p:spTree>
    <p:extLst>
      <p:ext uri="{BB962C8B-B14F-4D97-AF65-F5344CB8AC3E}">
        <p14:creationId xmlns:p14="http://schemas.microsoft.com/office/powerpoint/2010/main" val="28580229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8357CF-0C5C-D915-AC45-0825FD540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Opções para estimativas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75D079B-ED34-34DD-CD70-1DC5C77FDA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Adiar a estimativa até que o projeto esteja mais adiantado</a:t>
            </a:r>
          </a:p>
          <a:p>
            <a:pPr marL="0" indent="0" algn="ctr">
              <a:spcBef>
                <a:spcPts val="2400"/>
              </a:spcBef>
              <a:buNone/>
            </a:pPr>
            <a:r>
              <a:rPr lang="pt-BR" b="1" dirty="0"/>
              <a:t>Estimativas 100% precisas são obtidas apenas quando o projeto estiver finalizado!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3680370-EE38-4CB3-D8CF-ED58E40EA3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7112" y="3590925"/>
            <a:ext cx="5057775" cy="3267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4C145280-6FFE-2D9E-646E-0BFB7C5E54F5}"/>
              </a:ext>
            </a:extLst>
          </p:cNvPr>
          <p:cNvSpPr/>
          <p:nvPr/>
        </p:nvSpPr>
        <p:spPr>
          <a:xfrm>
            <a:off x="9016182" y="3429000"/>
            <a:ext cx="2799734" cy="1966453"/>
          </a:xfrm>
          <a:prstGeom prst="roundRect">
            <a:avLst>
              <a:gd name="adj" fmla="val 10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Bef>
                <a:spcPts val="2400"/>
              </a:spcBef>
            </a:pPr>
            <a:r>
              <a:rPr lang="pt-BR" b="1" dirty="0"/>
              <a:t>Lei de Parkinson</a:t>
            </a:r>
            <a:r>
              <a:rPr lang="pt-BR" dirty="0"/>
              <a:t>: </a:t>
            </a:r>
          </a:p>
          <a:p>
            <a:pPr>
              <a:spcBef>
                <a:spcPts val="1800"/>
              </a:spcBef>
            </a:pPr>
            <a:r>
              <a:rPr lang="pt-BR" dirty="0"/>
              <a:t>“O trabalho se expande para preencher o tempo disponível”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00CA2DED-E085-7548-39F4-DC2D13454E9A}"/>
              </a:ext>
            </a:extLst>
          </p:cNvPr>
          <p:cNvSpPr/>
          <p:nvPr/>
        </p:nvSpPr>
        <p:spPr>
          <a:xfrm>
            <a:off x="231060" y="3156155"/>
            <a:ext cx="2799734" cy="2743199"/>
          </a:xfrm>
          <a:prstGeom prst="roundRect">
            <a:avLst>
              <a:gd name="adj" fmla="val 10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Bef>
                <a:spcPts val="2400"/>
              </a:spcBef>
            </a:pPr>
            <a:r>
              <a:rPr lang="pt-BR" dirty="0"/>
              <a:t>Pessoas consistentemente:</a:t>
            </a:r>
          </a:p>
          <a:p>
            <a:pPr>
              <a:spcBef>
                <a:spcPts val="2400"/>
              </a:spcBef>
            </a:pPr>
            <a:r>
              <a:rPr lang="pt-BR" dirty="0"/>
              <a:t> </a:t>
            </a:r>
            <a:r>
              <a:rPr lang="pt-BR" b="1" dirty="0"/>
              <a:t>superestimam</a:t>
            </a:r>
            <a:r>
              <a:rPr lang="pt-BR" dirty="0"/>
              <a:t> tempo necessário </a:t>
            </a:r>
            <a:r>
              <a:rPr lang="pt-BR" b="1" dirty="0"/>
              <a:t>para tarefas curtas</a:t>
            </a:r>
            <a:r>
              <a:rPr lang="pt-BR" dirty="0"/>
              <a:t> e </a:t>
            </a:r>
            <a:br>
              <a:rPr lang="pt-BR" dirty="0"/>
            </a:br>
            <a:br>
              <a:rPr lang="pt-BR" dirty="0"/>
            </a:br>
            <a:r>
              <a:rPr lang="pt-BR" b="1" dirty="0"/>
              <a:t>subestimam</a:t>
            </a:r>
            <a:r>
              <a:rPr lang="pt-BR" dirty="0"/>
              <a:t> para </a:t>
            </a:r>
            <a:r>
              <a:rPr lang="pt-BR" b="1" dirty="0"/>
              <a:t>tarefas longas </a:t>
            </a:r>
            <a:r>
              <a:rPr lang="pt-BR" dirty="0"/>
              <a:t>(</a:t>
            </a:r>
            <a:r>
              <a:rPr lang="pt-BR" dirty="0" err="1"/>
              <a:t>Hatton</a:t>
            </a:r>
            <a:r>
              <a:rPr lang="pt-BR" dirty="0"/>
              <a:t>, 2007)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3D155F9-4002-233A-17EA-D3F02C7502B7}"/>
              </a:ext>
            </a:extLst>
          </p:cNvPr>
          <p:cNvSpPr txBox="1"/>
          <p:nvPr/>
        </p:nvSpPr>
        <p:spPr>
          <a:xfrm>
            <a:off x="98323" y="6132761"/>
            <a:ext cx="360843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 err="1"/>
              <a:t>Hatton</a:t>
            </a:r>
            <a:r>
              <a:rPr lang="pt-BR" sz="1100" dirty="0"/>
              <a:t>, L. (2007). </a:t>
            </a:r>
            <a:r>
              <a:rPr lang="en-US" sz="1100" b="1" i="0" dirty="0">
                <a:solidFill>
                  <a:srgbClr val="333333"/>
                </a:solidFill>
                <a:effectLst/>
                <a:latin typeface="HelveticaNeue Regular"/>
              </a:rPr>
              <a:t>How Accurately Do Engineers Predict Software Maintenance Tasks?</a:t>
            </a:r>
            <a:r>
              <a:rPr lang="en-US" sz="1100" i="0" dirty="0">
                <a:solidFill>
                  <a:srgbClr val="333333"/>
                </a:solidFill>
                <a:effectLst/>
                <a:latin typeface="HelveticaNeue Regular"/>
              </a:rPr>
              <a:t> </a:t>
            </a:r>
            <a:r>
              <a:rPr lang="en-US" sz="1100" dirty="0">
                <a:solidFill>
                  <a:srgbClr val="333333"/>
                </a:solidFill>
                <a:latin typeface="HelveticaNeue Regular"/>
              </a:rPr>
              <a:t>IEEE Computer 40(2), p.64-69. </a:t>
            </a:r>
            <a:r>
              <a:rPr lang="pt-BR" sz="1100" b="1" i="0" dirty="0">
                <a:solidFill>
                  <a:srgbClr val="333333"/>
                </a:solidFill>
                <a:effectLst/>
                <a:latin typeface="HelveticaNeue Regular"/>
              </a:rPr>
              <a:t>DOI: </a:t>
            </a:r>
            <a:r>
              <a:rPr lang="pt-BR" sz="1100" b="0" i="0" u="none" strike="noStrike" dirty="0">
                <a:solidFill>
                  <a:srgbClr val="006699"/>
                </a:solidFill>
                <a:effectLst/>
                <a:latin typeface="HelveticaNeue Regular"/>
                <a:hlinkClick r:id="rId4"/>
              </a:rPr>
              <a:t>10.1109/MC.2007.58</a:t>
            </a:r>
            <a:endParaRPr lang="en-US" sz="1100" i="0" dirty="0">
              <a:solidFill>
                <a:srgbClr val="333333"/>
              </a:solidFill>
              <a:effectLst/>
              <a:latin typeface="HelveticaNeue Regular"/>
            </a:endParaRPr>
          </a:p>
          <a:p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2125235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FAC99-1023-EBD7-D5A9-2EE591D02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AF15EA-6377-92A9-4271-775278D7A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PMBOK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266889-85D5-D56C-B61D-81A36978E481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pt-BR" dirty="0"/>
              <a:t>Ciclo de vida de um projeto</a:t>
            </a:r>
          </a:p>
          <a:p>
            <a:pPr lvl="1"/>
            <a:r>
              <a:rPr lang="pt-BR" b="1" dirty="0"/>
              <a:t>Áreas de foco</a:t>
            </a:r>
            <a:r>
              <a:rPr lang="pt-BR" dirty="0"/>
              <a:t> (</a:t>
            </a:r>
            <a:r>
              <a:rPr lang="pt-BR" i="1" dirty="0"/>
              <a:t>Focus Area</a:t>
            </a:r>
            <a:r>
              <a:rPr lang="pt-BR" dirty="0"/>
              <a:t>) da gestão de projetos (fases)</a:t>
            </a:r>
          </a:p>
        </p:txBody>
      </p:sp>
      <p:sp>
        <p:nvSpPr>
          <p:cNvPr id="4" name="Retângulo de cantos arredondados 6">
            <a:extLst>
              <a:ext uri="{FF2B5EF4-FFF2-40B4-BE49-F238E27FC236}">
                <a16:creationId xmlns:a16="http://schemas.microsoft.com/office/drawing/2014/main" id="{FD3A30B4-1425-45EE-D9FB-EBD62AEC6885}"/>
              </a:ext>
            </a:extLst>
          </p:cNvPr>
          <p:cNvSpPr/>
          <p:nvPr/>
        </p:nvSpPr>
        <p:spPr>
          <a:xfrm>
            <a:off x="3773746" y="3641294"/>
            <a:ext cx="1620000" cy="720000"/>
          </a:xfrm>
          <a:prstGeom prst="roundRect">
            <a:avLst/>
          </a:prstGeom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dirty="0"/>
              <a:t>Planejamento</a:t>
            </a:r>
          </a:p>
        </p:txBody>
      </p:sp>
      <p:sp>
        <p:nvSpPr>
          <p:cNvPr id="5" name="Retângulo de cantos arredondados 7">
            <a:extLst>
              <a:ext uri="{FF2B5EF4-FFF2-40B4-BE49-F238E27FC236}">
                <a16:creationId xmlns:a16="http://schemas.microsoft.com/office/drawing/2014/main" id="{4627765F-5276-A06B-DA63-EB33C58DB32F}"/>
              </a:ext>
            </a:extLst>
          </p:cNvPr>
          <p:cNvSpPr/>
          <p:nvPr/>
        </p:nvSpPr>
        <p:spPr>
          <a:xfrm>
            <a:off x="5999150" y="2855476"/>
            <a:ext cx="1762876" cy="720000"/>
          </a:xfrm>
          <a:prstGeom prst="roundRect">
            <a:avLst/>
          </a:prstGeom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dirty="0"/>
              <a:t>Execução</a:t>
            </a:r>
          </a:p>
        </p:txBody>
      </p:sp>
      <p:sp>
        <p:nvSpPr>
          <p:cNvPr id="6" name="Retângulo de cantos arredondados 8">
            <a:extLst>
              <a:ext uri="{FF2B5EF4-FFF2-40B4-BE49-F238E27FC236}">
                <a16:creationId xmlns:a16="http://schemas.microsoft.com/office/drawing/2014/main" id="{012F0E9C-138E-8F0B-A1C3-623CED568D13}"/>
              </a:ext>
            </a:extLst>
          </p:cNvPr>
          <p:cNvSpPr/>
          <p:nvPr/>
        </p:nvSpPr>
        <p:spPr>
          <a:xfrm>
            <a:off x="5999150" y="4355674"/>
            <a:ext cx="1762876" cy="720000"/>
          </a:xfrm>
          <a:prstGeom prst="roundRect">
            <a:avLst/>
          </a:prstGeom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dirty="0"/>
              <a:t>Monitoramento e Controle</a:t>
            </a:r>
          </a:p>
        </p:txBody>
      </p:sp>
      <p:sp>
        <p:nvSpPr>
          <p:cNvPr id="7" name="Seta para cima e para baixo 10">
            <a:extLst>
              <a:ext uri="{FF2B5EF4-FFF2-40B4-BE49-F238E27FC236}">
                <a16:creationId xmlns:a16="http://schemas.microsoft.com/office/drawing/2014/main" id="{BB72F9D4-9DA3-DA33-76B4-CBB250480A72}"/>
              </a:ext>
            </a:extLst>
          </p:cNvPr>
          <p:cNvSpPr/>
          <p:nvPr/>
        </p:nvSpPr>
        <p:spPr>
          <a:xfrm>
            <a:off x="6634452" y="3641294"/>
            <a:ext cx="484632" cy="642942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/>
          </a:p>
        </p:txBody>
      </p:sp>
      <p:sp>
        <p:nvSpPr>
          <p:cNvPr id="8" name="Retângulo de cantos arredondados 11">
            <a:extLst>
              <a:ext uri="{FF2B5EF4-FFF2-40B4-BE49-F238E27FC236}">
                <a16:creationId xmlns:a16="http://schemas.microsoft.com/office/drawing/2014/main" id="{27548853-4BCA-4D29-C603-DE8FECC127E9}"/>
              </a:ext>
            </a:extLst>
          </p:cNvPr>
          <p:cNvSpPr/>
          <p:nvPr/>
        </p:nvSpPr>
        <p:spPr>
          <a:xfrm>
            <a:off x="1430751" y="3641294"/>
            <a:ext cx="1620000" cy="720000"/>
          </a:xfrm>
          <a:prstGeom prst="roundRect">
            <a:avLst/>
          </a:prstGeom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dirty="0"/>
              <a:t>Iniciação</a:t>
            </a:r>
          </a:p>
        </p:txBody>
      </p:sp>
      <p:sp>
        <p:nvSpPr>
          <p:cNvPr id="9" name="Retângulo de cantos arredondados 12">
            <a:extLst>
              <a:ext uri="{FF2B5EF4-FFF2-40B4-BE49-F238E27FC236}">
                <a16:creationId xmlns:a16="http://schemas.microsoft.com/office/drawing/2014/main" id="{EEEF21E4-23DD-F3B7-6280-CDC775E2126A}"/>
              </a:ext>
            </a:extLst>
          </p:cNvPr>
          <p:cNvSpPr/>
          <p:nvPr/>
        </p:nvSpPr>
        <p:spPr>
          <a:xfrm>
            <a:off x="8614558" y="3641294"/>
            <a:ext cx="1620000" cy="720000"/>
          </a:xfrm>
          <a:prstGeom prst="roundRect">
            <a:avLst/>
          </a:prstGeom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dirty="0"/>
              <a:t>Encerramento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BEE843E-489C-BA8D-022C-64BA5DCCB7FE}"/>
              </a:ext>
            </a:extLst>
          </p:cNvPr>
          <p:cNvSpPr txBox="1"/>
          <p:nvPr/>
        </p:nvSpPr>
        <p:spPr>
          <a:xfrm>
            <a:off x="1363748" y="5050949"/>
            <a:ext cx="175400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i="1" dirty="0"/>
              <a:t>Business case</a:t>
            </a:r>
          </a:p>
          <a:p>
            <a:pPr algn="ctr"/>
            <a:r>
              <a:rPr lang="pt-BR" sz="1600" dirty="0"/>
              <a:t>Termo da Abertura</a:t>
            </a:r>
          </a:p>
          <a:p>
            <a:pPr algn="ctr"/>
            <a:endParaRPr lang="pt-BR" sz="1600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54B6C93-587E-C516-71E9-AD692F3733FE}"/>
              </a:ext>
            </a:extLst>
          </p:cNvPr>
          <p:cNvSpPr txBox="1"/>
          <p:nvPr/>
        </p:nvSpPr>
        <p:spPr>
          <a:xfrm>
            <a:off x="8035492" y="5049013"/>
            <a:ext cx="27781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/>
              <a:t>Termo de aceite/encerramento</a:t>
            </a:r>
          </a:p>
          <a:p>
            <a:pPr algn="ctr"/>
            <a:r>
              <a:rPr lang="pt-BR" sz="1600" dirty="0"/>
              <a:t>Lições aprendidas</a:t>
            </a:r>
          </a:p>
          <a:p>
            <a:pPr algn="ctr"/>
            <a:r>
              <a:rPr lang="pt-BR" sz="1600" dirty="0"/>
              <a:t>Relatório final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4768082-CBCE-566C-3E47-8FC5E030105F}"/>
              </a:ext>
            </a:extLst>
          </p:cNvPr>
          <p:cNvSpPr txBox="1"/>
          <p:nvPr/>
        </p:nvSpPr>
        <p:spPr>
          <a:xfrm>
            <a:off x="3795517" y="4715674"/>
            <a:ext cx="1576457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b="1" dirty="0">
                <a:solidFill>
                  <a:srgbClr val="FF0000"/>
                </a:solidFill>
              </a:rPr>
              <a:t>EAP</a:t>
            </a:r>
          </a:p>
          <a:p>
            <a:pPr algn="ctr"/>
            <a:r>
              <a:rPr lang="pt-BR" sz="1600" b="1" dirty="0">
                <a:solidFill>
                  <a:srgbClr val="FF0000"/>
                </a:solidFill>
              </a:rPr>
              <a:t>Cronograma</a:t>
            </a:r>
          </a:p>
          <a:p>
            <a:pPr algn="ctr"/>
            <a:r>
              <a:rPr lang="pt-BR" sz="1600" b="1" dirty="0">
                <a:solidFill>
                  <a:srgbClr val="FF0000"/>
                </a:solidFill>
              </a:rPr>
              <a:t>Orçamento</a:t>
            </a:r>
          </a:p>
          <a:p>
            <a:pPr algn="ctr"/>
            <a:r>
              <a:rPr lang="pt-BR" sz="1600" dirty="0"/>
              <a:t>Riscos</a:t>
            </a:r>
          </a:p>
          <a:p>
            <a:pPr algn="ctr"/>
            <a:r>
              <a:rPr lang="pt-BR" sz="1600" dirty="0"/>
              <a:t>Qualidade</a:t>
            </a:r>
          </a:p>
          <a:p>
            <a:pPr algn="ctr"/>
            <a:r>
              <a:rPr lang="pt-BR" sz="1600" dirty="0"/>
              <a:t>Comunicação</a:t>
            </a:r>
          </a:p>
          <a:p>
            <a:pPr algn="ctr"/>
            <a:r>
              <a:rPr lang="pt-BR" sz="1600" dirty="0"/>
              <a:t>Recursos/equipe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2C8AB70-79E7-8936-6580-AFDAB9A71148}"/>
              </a:ext>
            </a:extLst>
          </p:cNvPr>
          <p:cNvSpPr txBox="1"/>
          <p:nvPr/>
        </p:nvSpPr>
        <p:spPr>
          <a:xfrm>
            <a:off x="7794711" y="2890713"/>
            <a:ext cx="20674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/>
              <a:t>Relatório de progresso</a:t>
            </a:r>
          </a:p>
          <a:p>
            <a:pPr algn="ctr"/>
            <a:r>
              <a:rPr lang="pt-BR" sz="1600" dirty="0"/>
              <a:t>Registro de mudanças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3C0F74A7-476F-250E-EEC0-0641EBB69CAB}"/>
              </a:ext>
            </a:extLst>
          </p:cNvPr>
          <p:cNvSpPr txBox="1"/>
          <p:nvPr/>
        </p:nvSpPr>
        <p:spPr>
          <a:xfrm>
            <a:off x="5549295" y="5331227"/>
            <a:ext cx="25414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/>
              <a:t>Indicadores de desempenho</a:t>
            </a:r>
          </a:p>
          <a:p>
            <a:pPr algn="ctr"/>
            <a:r>
              <a:rPr lang="pt-BR" sz="1600" dirty="0"/>
              <a:t>Mudanças e correções</a:t>
            </a:r>
          </a:p>
        </p:txBody>
      </p:sp>
      <p:sp>
        <p:nvSpPr>
          <p:cNvPr id="16" name="Seta: para a Direita 15">
            <a:extLst>
              <a:ext uri="{FF2B5EF4-FFF2-40B4-BE49-F238E27FC236}">
                <a16:creationId xmlns:a16="http://schemas.microsoft.com/office/drawing/2014/main" id="{697837AD-7030-EAB7-7FEA-818DF218BD3C}"/>
              </a:ext>
            </a:extLst>
          </p:cNvPr>
          <p:cNvSpPr/>
          <p:nvPr/>
        </p:nvSpPr>
        <p:spPr>
          <a:xfrm>
            <a:off x="3220985" y="3799604"/>
            <a:ext cx="382526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Seta: para a Direita 16">
            <a:extLst>
              <a:ext uri="{FF2B5EF4-FFF2-40B4-BE49-F238E27FC236}">
                <a16:creationId xmlns:a16="http://schemas.microsoft.com/office/drawing/2014/main" id="{6E4713E6-9A10-C07B-67EB-EB2520D5171E}"/>
              </a:ext>
            </a:extLst>
          </p:cNvPr>
          <p:cNvSpPr/>
          <p:nvPr/>
        </p:nvSpPr>
        <p:spPr>
          <a:xfrm>
            <a:off x="5597259" y="3799604"/>
            <a:ext cx="382526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Seta: para a Direita 17">
            <a:extLst>
              <a:ext uri="{FF2B5EF4-FFF2-40B4-BE49-F238E27FC236}">
                <a16:creationId xmlns:a16="http://schemas.microsoft.com/office/drawing/2014/main" id="{0B6E6F0F-E248-A32C-19CC-5909190B7E9A}"/>
              </a:ext>
            </a:extLst>
          </p:cNvPr>
          <p:cNvSpPr/>
          <p:nvPr/>
        </p:nvSpPr>
        <p:spPr>
          <a:xfrm>
            <a:off x="8084416" y="3799604"/>
            <a:ext cx="382526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7CB45E19-BC13-59D2-126C-D732C43C358F}"/>
              </a:ext>
            </a:extLst>
          </p:cNvPr>
          <p:cNvSpPr/>
          <p:nvPr/>
        </p:nvSpPr>
        <p:spPr>
          <a:xfrm>
            <a:off x="3601773" y="3270052"/>
            <a:ext cx="1979144" cy="131784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069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/>
      <p:bldP spid="1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92AA35-9D5D-E458-E3C0-CFB3AD21B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PMBOK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4F78E486-D5B6-746F-A157-45840B536E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95655" y="0"/>
            <a:ext cx="5396345" cy="6877696"/>
          </a:xfrm>
        </p:spPr>
      </p:pic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59343ACA-6D1F-14B1-8B0C-89D9748964C5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539634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Os passos anteriores no Planejamento:</a:t>
            </a:r>
          </a:p>
          <a:p>
            <a:pPr lvl="1"/>
            <a:r>
              <a:rPr lang="pt-BR" dirty="0"/>
              <a:t>Definição e estruturação do escopo</a:t>
            </a:r>
          </a:p>
          <a:p>
            <a:pPr lvl="1"/>
            <a:r>
              <a:rPr lang="pt-BR" dirty="0"/>
              <a:t>Desenvolvimento do cronograma</a:t>
            </a:r>
          </a:p>
          <a:p>
            <a:pPr lvl="1"/>
            <a:r>
              <a:rPr lang="pt-BR" dirty="0"/>
              <a:t>Estimativa de custos</a:t>
            </a:r>
          </a:p>
          <a:p>
            <a:pPr lvl="1"/>
            <a:r>
              <a:rPr lang="pt-BR" dirty="0"/>
              <a:t>Estimativa de recursos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F6B2205-167F-8615-9849-536C1CD6535A}"/>
              </a:ext>
            </a:extLst>
          </p:cNvPr>
          <p:cNvSpPr/>
          <p:nvPr/>
        </p:nvSpPr>
        <p:spPr>
          <a:xfrm>
            <a:off x="8463280" y="2397760"/>
            <a:ext cx="1016000" cy="49466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4227FEC-E365-ED7F-E478-773871EAA8D4}"/>
              </a:ext>
            </a:extLst>
          </p:cNvPr>
          <p:cNvSpPr/>
          <p:nvPr/>
        </p:nvSpPr>
        <p:spPr>
          <a:xfrm>
            <a:off x="8477827" y="3188658"/>
            <a:ext cx="1016000" cy="41083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CD613D11-6CC5-E322-5205-6C42CA41E957}"/>
              </a:ext>
            </a:extLst>
          </p:cNvPr>
          <p:cNvSpPr/>
          <p:nvPr/>
        </p:nvSpPr>
        <p:spPr>
          <a:xfrm>
            <a:off x="8477827" y="3895730"/>
            <a:ext cx="1016000" cy="41083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F237CCED-07C8-D91D-A585-6DD793BEDFD3}"/>
              </a:ext>
            </a:extLst>
          </p:cNvPr>
          <p:cNvSpPr/>
          <p:nvPr/>
        </p:nvSpPr>
        <p:spPr>
          <a:xfrm>
            <a:off x="8477827" y="5386713"/>
            <a:ext cx="1016000" cy="41083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44296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878C75-6708-B8D9-3A93-C6B840C54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89C5E6E-3C60-673B-574E-EA8CA7E16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69089"/>
          </a:xfrm>
        </p:spPr>
        <p:txBody>
          <a:bodyPr>
            <a:normAutofit/>
          </a:bodyPr>
          <a:lstStyle/>
          <a:p>
            <a:r>
              <a:rPr lang="pt-BR" dirty="0"/>
              <a:t>Sobre o papel e a natureza das estimativas em projetos de software, assinale a alternativa </a:t>
            </a:r>
            <a:r>
              <a:rPr lang="pt-BR" b="1" dirty="0"/>
              <a:t>CORRETA</a:t>
            </a:r>
            <a:r>
              <a:rPr lang="pt-BR" dirty="0"/>
              <a:t>:</a:t>
            </a:r>
          </a:p>
          <a:p>
            <a:pPr marL="457200" lvl="1" indent="0">
              <a:spcBef>
                <a:spcPts val="1800"/>
              </a:spcBef>
              <a:buNone/>
            </a:pPr>
            <a:r>
              <a:rPr lang="pt-BR" dirty="0"/>
              <a:t>A) Estimativas são previsões exatas do esforço e prazo, devendo ser utilizadas como compromisso fixo ao longo de todo o projeto.</a:t>
            </a:r>
          </a:p>
          <a:p>
            <a:pPr marL="457200" lvl="1" indent="0">
              <a:spcBef>
                <a:spcPts val="1800"/>
              </a:spcBef>
              <a:buNone/>
            </a:pPr>
            <a:r>
              <a:rPr lang="pt-BR" dirty="0"/>
              <a:t>B) Estimativas são construídas a partir de informações disponíveis em determinado momento, estando sujeitas a incertezas e devendo ser revisadas conforme o projeto evolui.</a:t>
            </a:r>
          </a:p>
          <a:p>
            <a:pPr marL="457200" lvl="1" indent="0">
              <a:spcBef>
                <a:spcPts val="1800"/>
              </a:spcBef>
              <a:buNone/>
            </a:pPr>
            <a:r>
              <a:rPr lang="pt-BR" dirty="0"/>
              <a:t>C) Estimativas devem ser evitadas em projetos com alto grau de incerteza, pois tendem a comprometer a confiabilidade do planejamento.</a:t>
            </a:r>
          </a:p>
          <a:p>
            <a:pPr marL="457200" lvl="1" indent="0">
              <a:spcBef>
                <a:spcPts val="1800"/>
              </a:spcBef>
              <a:buNone/>
            </a:pPr>
            <a:r>
              <a:rPr lang="pt-BR" dirty="0"/>
              <a:t>D) Estimativas iniciais são menos relevantes que as finais, pois não influenciam decisões estratégicas do projeto.</a:t>
            </a:r>
          </a:p>
          <a:p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174D758-8CF6-67FF-3096-51C5FE4CD980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63801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300C3-CD75-CC74-AD64-E669AD479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77A0CD-C129-BAE2-C0CB-8DAF3B5B4A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Apresentar processo de estimativas de custo e prazo: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dirty="0"/>
              <a:t>Introdução sobre estimativas;</a:t>
            </a:r>
          </a:p>
          <a:p>
            <a:pPr marL="914400" lvl="1" indent="-457200">
              <a:spcBef>
                <a:spcPts val="2400"/>
              </a:spcBef>
              <a:buFont typeface="+mj-lt"/>
              <a:buAutoNum type="arabicPeriod"/>
            </a:pPr>
            <a:r>
              <a:rPr lang="pt-BR" b="1" dirty="0"/>
              <a:t>Métricas básicas para estimativa de projetos de software;</a:t>
            </a:r>
          </a:p>
          <a:p>
            <a:pPr marL="914400" lvl="1" indent="-457200">
              <a:spcBef>
                <a:spcPts val="2400"/>
              </a:spcBef>
              <a:buFont typeface="+mj-lt"/>
              <a:buAutoNum type="arabicPeriod"/>
            </a:pPr>
            <a:r>
              <a:rPr lang="pt-BR" dirty="0"/>
              <a:t>Principais exemplos: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dirty="0" err="1"/>
              <a:t>Bottom-up</a:t>
            </a:r>
            <a:r>
              <a:rPr lang="pt-BR" dirty="0"/>
              <a:t> (EAP)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dirty="0"/>
              <a:t>LOC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dirty="0"/>
              <a:t>Pontos de função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dirty="0" err="1"/>
              <a:t>Story</a:t>
            </a:r>
            <a:r>
              <a:rPr lang="pt-BR" dirty="0"/>
              <a:t> points;</a:t>
            </a:r>
          </a:p>
          <a:p>
            <a:pPr marL="914400" lvl="1" indent="-457200">
              <a:spcBef>
                <a:spcPts val="2400"/>
              </a:spcBef>
              <a:buFont typeface="+mj-lt"/>
              <a:buAutoNum type="arabicPeriod"/>
            </a:pPr>
            <a:r>
              <a:rPr lang="pt-BR" dirty="0"/>
              <a:t>Outros métodos de estimativa;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1C930E6-EC0F-7204-A1E2-2AC580DE5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Objetivos de hoje: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FB1F48C-B2B4-62E1-C9E7-5629746EAB4D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7260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977217-DA75-D53C-434F-B50D05243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Métricas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7F0758E-34EC-F9DB-F28C-C3955836F2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Uma medida é uma indicação mensurável de algum aspecto quantitativo de um sistema (produto/projeto)</a:t>
            </a:r>
          </a:p>
          <a:p>
            <a:pPr>
              <a:spcBef>
                <a:spcPts val="2400"/>
              </a:spcBef>
            </a:pPr>
            <a:r>
              <a:rPr lang="pt-BR" dirty="0"/>
              <a:t>Métricas devem </a:t>
            </a:r>
            <a:r>
              <a:rPr lang="pt-BR" b="1" dirty="0"/>
              <a:t>ter um propósito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903DB5C-2A9D-9995-8B14-6000C8F55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2449" y="3827653"/>
            <a:ext cx="8504084" cy="2665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8174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9AA579-10A6-0940-6475-D387E7346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Métricas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90449B3-0D03-758A-053A-71D73C52C5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Uma mensuração deve ser:</a:t>
            </a:r>
          </a:p>
          <a:p>
            <a:pPr lvl="1">
              <a:spcBef>
                <a:spcPts val="1400"/>
              </a:spcBef>
            </a:pPr>
            <a:r>
              <a:rPr lang="pt-BR" b="1" dirty="0"/>
              <a:t>Válida</a:t>
            </a:r>
            <a:r>
              <a:rPr lang="pt-BR" dirty="0"/>
              <a:t>: quantifica o que realmente queremos medir;</a:t>
            </a:r>
          </a:p>
          <a:p>
            <a:pPr lvl="1">
              <a:spcBef>
                <a:spcPts val="1400"/>
              </a:spcBef>
            </a:pPr>
            <a:r>
              <a:rPr lang="pt-BR" b="1" dirty="0"/>
              <a:t>Confiável</a:t>
            </a:r>
            <a:r>
              <a:rPr lang="pt-BR" dirty="0"/>
              <a:t>: produz os mesmos resultados dadas as mesmas condições;</a:t>
            </a:r>
          </a:p>
          <a:p>
            <a:pPr lvl="1">
              <a:spcBef>
                <a:spcPts val="1400"/>
              </a:spcBef>
            </a:pPr>
            <a:r>
              <a:rPr lang="pt-BR" b="1" dirty="0"/>
              <a:t>Prática</a:t>
            </a:r>
            <a:r>
              <a:rPr lang="pt-BR" dirty="0"/>
              <a:t>: barata, fácil de computar e fácil de interpretar</a:t>
            </a:r>
          </a:p>
        </p:txBody>
      </p:sp>
      <p:pic>
        <p:nvPicPr>
          <p:cNvPr id="10242" name="Picture 2" descr="Propriedades psicométricas na avaliação de instrumentos: avaliação da confiabilidade  e da validade">
            <a:extLst>
              <a:ext uri="{FF2B5EF4-FFF2-40B4-BE49-F238E27FC236}">
                <a16:creationId xmlns:a16="http://schemas.microsoft.com/office/drawing/2014/main" id="{7B378D91-D624-6CD7-50FC-E8C5973659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5250" y="4001294"/>
            <a:ext cx="7964130" cy="2784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10712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B392B4-D22F-699F-1226-1EF889F47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 para software?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59BF8D5-B203-7035-7DEC-3DBF03CA42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lnSpcReduction="10000"/>
          </a:bodyPr>
          <a:lstStyle/>
          <a:p>
            <a:r>
              <a:rPr lang="pt-BR" dirty="0"/>
              <a:t>Orientadas a </a:t>
            </a:r>
            <a:r>
              <a:rPr lang="pt-BR" b="1" dirty="0"/>
              <a:t>tamanho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Medidas diretas dos tamanhos dos artefatos de software associados </a:t>
            </a:r>
            <a:r>
              <a:rPr lang="pt-BR" dirty="0" err="1"/>
              <a:t>so</a:t>
            </a:r>
            <a:r>
              <a:rPr lang="pt-BR" dirty="0"/>
              <a:t> processo por meio do qual o software é desenvolvido</a:t>
            </a:r>
          </a:p>
          <a:p>
            <a:pPr lvl="2">
              <a:spcBef>
                <a:spcPts val="1200"/>
              </a:spcBef>
            </a:pPr>
            <a:r>
              <a:rPr lang="pt-BR" dirty="0" err="1"/>
              <a:t>Ex</a:t>
            </a:r>
            <a:r>
              <a:rPr lang="pt-BR" dirty="0"/>
              <a:t>: esforço, custo, KLOC, nº páginas de documentação, nº de erros</a:t>
            </a:r>
          </a:p>
          <a:p>
            <a:pPr>
              <a:spcBef>
                <a:spcPts val="2400"/>
              </a:spcBef>
            </a:pPr>
            <a:r>
              <a:rPr lang="pt-BR" dirty="0"/>
              <a:t>Orientadas por </a:t>
            </a:r>
            <a:r>
              <a:rPr lang="pt-BR" b="1" dirty="0"/>
              <a:t>função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Mede o software do ponto de vista do usuário, determinando o tamanho e a complexidade do software</a:t>
            </a:r>
          </a:p>
          <a:p>
            <a:pPr lvl="2">
              <a:spcBef>
                <a:spcPts val="1200"/>
              </a:spcBef>
            </a:pPr>
            <a:r>
              <a:rPr lang="pt-BR" dirty="0" err="1"/>
              <a:t>Ex</a:t>
            </a:r>
            <a:r>
              <a:rPr lang="pt-BR" dirty="0"/>
              <a:t>: pontos de função, estórias de usuário</a:t>
            </a:r>
          </a:p>
          <a:p>
            <a:pPr lvl="1"/>
            <a:endParaRPr lang="pt-BR" dirty="0"/>
          </a:p>
          <a:p>
            <a:r>
              <a:rPr lang="pt-BR" dirty="0"/>
              <a:t>Outras:</a:t>
            </a:r>
          </a:p>
          <a:p>
            <a:pPr lvl="1"/>
            <a:r>
              <a:rPr lang="pt-BR" dirty="0"/>
              <a:t>Produtividade, qualidade, características do software (outra aula)</a:t>
            </a:r>
          </a:p>
        </p:txBody>
      </p:sp>
    </p:spTree>
    <p:extLst>
      <p:ext uri="{BB962C8B-B14F-4D97-AF65-F5344CB8AC3E}">
        <p14:creationId xmlns:p14="http://schemas.microsoft.com/office/powerpoint/2010/main" val="3390980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26BB3C-07E3-DAB8-E7EA-46ADEC383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Processo de estimativas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ABB4FDE-6672-6A84-F126-D8DB54065F70}"/>
              </a:ext>
            </a:extLst>
          </p:cNvPr>
          <p:cNvSpPr/>
          <p:nvPr/>
        </p:nvSpPr>
        <p:spPr>
          <a:xfrm>
            <a:off x="1258530" y="3052916"/>
            <a:ext cx="2723536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Medidas de </a:t>
            </a:r>
            <a:r>
              <a:rPr lang="pt-BR" b="1" u="sng" dirty="0"/>
              <a:t>tamanho</a:t>
            </a:r>
            <a:r>
              <a:rPr lang="pt-BR" dirty="0"/>
              <a:t> do software a ser desenvolvido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E8AD81D-4EDD-3613-A957-D0F97864A638}"/>
              </a:ext>
            </a:extLst>
          </p:cNvPr>
          <p:cNvSpPr/>
          <p:nvPr/>
        </p:nvSpPr>
        <p:spPr>
          <a:xfrm>
            <a:off x="4620547" y="3070123"/>
            <a:ext cx="2723536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Método de estimativa de </a:t>
            </a:r>
            <a:r>
              <a:rPr lang="pt-BR" b="1" u="sng" dirty="0"/>
              <a:t>esforço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96028C8B-E476-0A78-DF59-22BD03DA02A6}"/>
              </a:ext>
            </a:extLst>
          </p:cNvPr>
          <p:cNvSpPr/>
          <p:nvPr/>
        </p:nvSpPr>
        <p:spPr>
          <a:xfrm>
            <a:off x="7982564" y="3070123"/>
            <a:ext cx="2723536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Esforço (</a:t>
            </a:r>
            <a:r>
              <a:rPr lang="pt-BR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hh</a:t>
            </a:r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pt-BR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pm</a:t>
            </a:r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algn="ct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Custo (R$)</a:t>
            </a:r>
          </a:p>
          <a:p>
            <a:pPr algn="ct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Prazo (meses)</a:t>
            </a:r>
          </a:p>
        </p:txBody>
      </p:sp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36B8EDBB-79B4-88CC-A8F6-F00A8466AD11}"/>
              </a:ext>
            </a:extLst>
          </p:cNvPr>
          <p:cNvSpPr/>
          <p:nvPr/>
        </p:nvSpPr>
        <p:spPr>
          <a:xfrm>
            <a:off x="4011231" y="3285007"/>
            <a:ext cx="580150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E0ABCDAA-B7C7-70C7-0059-7819EA684EC8}"/>
              </a:ext>
            </a:extLst>
          </p:cNvPr>
          <p:cNvSpPr/>
          <p:nvPr/>
        </p:nvSpPr>
        <p:spPr>
          <a:xfrm>
            <a:off x="7382750" y="3285007"/>
            <a:ext cx="580150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03F65B9-BB17-D68B-6FB4-16D8B9BCE207}"/>
              </a:ext>
            </a:extLst>
          </p:cNvPr>
          <p:cNvSpPr txBox="1"/>
          <p:nvPr/>
        </p:nvSpPr>
        <p:spPr>
          <a:xfrm>
            <a:off x="1494829" y="4129215"/>
            <a:ext cx="2310569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Exemplos</a:t>
            </a:r>
            <a:r>
              <a:rPr lang="pt-BR" i="1" dirty="0"/>
              <a:t>:</a:t>
            </a:r>
          </a:p>
          <a:p>
            <a:pPr marL="541338" lvl="1" indent="-285750">
              <a:buFont typeface="Arial" panose="020B0604020202020204" pitchFamily="34" charset="0"/>
              <a:buChar char="•"/>
            </a:pPr>
            <a:r>
              <a:rPr lang="pt-BR" sz="1600" i="1" dirty="0"/>
              <a:t>Linhas de código</a:t>
            </a:r>
          </a:p>
          <a:p>
            <a:pPr marL="541338" lvl="1" indent="-285750">
              <a:buFont typeface="Arial" panose="020B0604020202020204" pitchFamily="34" charset="0"/>
              <a:buChar char="•"/>
            </a:pPr>
            <a:r>
              <a:rPr lang="pt-BR" sz="1600" i="1" dirty="0"/>
              <a:t>Pontos de função</a:t>
            </a:r>
          </a:p>
          <a:p>
            <a:pPr marL="541338" lvl="1" indent="-285750">
              <a:buFont typeface="Arial" panose="020B0604020202020204" pitchFamily="34" charset="0"/>
              <a:buChar char="•"/>
            </a:pPr>
            <a:r>
              <a:rPr lang="pt-BR" sz="1600" i="1" dirty="0"/>
              <a:t>Casos de uso</a:t>
            </a:r>
          </a:p>
          <a:p>
            <a:pPr marL="541338" lvl="1" indent="-285750">
              <a:buFont typeface="Arial" panose="020B0604020202020204" pitchFamily="34" charset="0"/>
              <a:buChar char="•"/>
            </a:pPr>
            <a:r>
              <a:rPr lang="pt-BR" sz="1600" i="1" dirty="0"/>
              <a:t>Estórias de usuário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1DC3A32-DEA9-EE76-4184-EAC400DF903A}"/>
              </a:ext>
            </a:extLst>
          </p:cNvPr>
          <p:cNvSpPr txBox="1"/>
          <p:nvPr/>
        </p:nvSpPr>
        <p:spPr>
          <a:xfrm>
            <a:off x="4633857" y="4198888"/>
            <a:ext cx="282596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Analógico;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i="1" dirty="0"/>
              <a:t>Top </a:t>
            </a:r>
            <a:r>
              <a:rPr lang="pt-BR" i="1" dirty="0" err="1"/>
              <a:t>down</a:t>
            </a:r>
            <a:r>
              <a:rPr lang="pt-BR" i="1" dirty="0"/>
              <a:t> x </a:t>
            </a:r>
            <a:r>
              <a:rPr lang="pt-BR" i="1" dirty="0" err="1"/>
              <a:t>bottom-up</a:t>
            </a:r>
            <a:endParaRPr lang="pt-BR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Baseado em experiência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Paramétrico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Aprendizado de máquina</a:t>
            </a:r>
          </a:p>
        </p:txBody>
      </p:sp>
    </p:spTree>
    <p:extLst>
      <p:ext uri="{BB962C8B-B14F-4D97-AF65-F5344CB8AC3E}">
        <p14:creationId xmlns:p14="http://schemas.microsoft.com/office/powerpoint/2010/main" val="1851647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1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F11C47-5029-0239-9825-031CEECA6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Processo de estimativas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5A46ED2-3BF0-006B-B026-9C459E4038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Picture 2" descr="Software Project Estimation: Part 1 | AGILEAN Solutions">
            <a:extLst>
              <a:ext uri="{FF2B5EF4-FFF2-40B4-BE49-F238E27FC236}">
                <a16:creationId xmlns:a16="http://schemas.microsoft.com/office/drawing/2014/main" id="{8B40F1C5-83CB-E168-7A3F-EEE6FC01BF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2270" y="1861185"/>
            <a:ext cx="865687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26595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9B86B5-8962-6228-9FA2-260B8E533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Taxonomia de Técnicas de estimativas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449C9C3-CA5E-76FB-094F-56566D57688E}"/>
              </a:ext>
            </a:extLst>
          </p:cNvPr>
          <p:cNvSpPr txBox="1"/>
          <p:nvPr/>
        </p:nvSpPr>
        <p:spPr>
          <a:xfrm>
            <a:off x="4031225" y="6550223"/>
            <a:ext cx="412954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dirty="0"/>
              <a:t>https://www.scirp.org/pdf/JSEA_2019070113514545</a:t>
            </a:r>
          </a:p>
        </p:txBody>
      </p:sp>
      <p:graphicFrame>
        <p:nvGraphicFramePr>
          <p:cNvPr id="9" name="Espaço Reservado para Conteúdo 3">
            <a:extLst>
              <a:ext uri="{FF2B5EF4-FFF2-40B4-BE49-F238E27FC236}">
                <a16:creationId xmlns:a16="http://schemas.microsoft.com/office/drawing/2014/main" id="{2FC99EDD-B3EE-7D40-2169-CEAF8786646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07285736"/>
              </p:ext>
            </p:extLst>
          </p:nvPr>
        </p:nvGraphicFramePr>
        <p:xfrm>
          <a:off x="2580967" y="1753775"/>
          <a:ext cx="7030064" cy="47333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497497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36C424-E774-B1B0-BF62-B997876C0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33DB212-5C16-616D-742F-2726719258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542" y="1600199"/>
            <a:ext cx="11767457" cy="3712029"/>
          </a:xfrm>
        </p:spPr>
        <p:txBody>
          <a:bodyPr>
            <a:normAutofit fontScale="92500" lnSpcReduction="10000"/>
          </a:bodyPr>
          <a:lstStyle/>
          <a:p>
            <a:pPr marL="0" indent="0" algn="l">
              <a:buNone/>
            </a:pPr>
            <a:r>
              <a:rPr lang="pt-BR" b="0" i="0" dirty="0">
                <a:solidFill>
                  <a:srgbClr val="1F1F1F"/>
                </a:solidFill>
                <a:effectLst/>
                <a:latin typeface="docs-Roboto"/>
              </a:rPr>
              <a:t>Em engenharia de software, há uma relação estreita entre </a:t>
            </a:r>
            <a:r>
              <a:rPr lang="pt-BR" b="1" i="0" dirty="0">
                <a:solidFill>
                  <a:srgbClr val="1F1F1F"/>
                </a:solidFill>
                <a:effectLst/>
                <a:latin typeface="docs-Roboto"/>
              </a:rPr>
              <a:t>tamanho do software</a:t>
            </a:r>
            <a:r>
              <a:rPr lang="pt-BR" b="0" i="0" dirty="0">
                <a:solidFill>
                  <a:srgbClr val="1F1F1F"/>
                </a:solidFill>
                <a:effectLst/>
                <a:latin typeface="docs-Roboto"/>
              </a:rPr>
              <a:t>, </a:t>
            </a:r>
            <a:r>
              <a:rPr lang="pt-BR" b="1" i="0" dirty="0">
                <a:solidFill>
                  <a:srgbClr val="1F1F1F"/>
                </a:solidFill>
                <a:effectLst/>
                <a:latin typeface="docs-Roboto"/>
              </a:rPr>
              <a:t>esforço de desenvolvimento</a:t>
            </a:r>
            <a:r>
              <a:rPr lang="pt-BR" b="0" i="0" dirty="0">
                <a:solidFill>
                  <a:srgbClr val="1F1F1F"/>
                </a:solidFill>
                <a:effectLst/>
                <a:latin typeface="docs-Roboto"/>
              </a:rPr>
              <a:t>, </a:t>
            </a:r>
            <a:r>
              <a:rPr lang="pt-BR" b="1" i="0" dirty="0">
                <a:solidFill>
                  <a:srgbClr val="1F1F1F"/>
                </a:solidFill>
                <a:effectLst/>
                <a:latin typeface="docs-Roboto"/>
              </a:rPr>
              <a:t>custo</a:t>
            </a:r>
            <a:r>
              <a:rPr lang="pt-BR" b="0" i="0" dirty="0">
                <a:solidFill>
                  <a:srgbClr val="1F1F1F"/>
                </a:solidFill>
                <a:effectLst/>
                <a:latin typeface="docs-Roboto"/>
              </a:rPr>
              <a:t> e </a:t>
            </a:r>
            <a:r>
              <a:rPr lang="pt-BR" b="1" i="0" dirty="0">
                <a:solidFill>
                  <a:srgbClr val="1F1F1F"/>
                </a:solidFill>
                <a:effectLst/>
                <a:latin typeface="docs-Roboto"/>
              </a:rPr>
              <a:t>prazo de entrega</a:t>
            </a:r>
            <a:r>
              <a:rPr lang="pt-BR" b="0" i="0" dirty="0">
                <a:solidFill>
                  <a:srgbClr val="1F1F1F"/>
                </a:solidFill>
                <a:effectLst/>
                <a:latin typeface="docs-Roboto"/>
              </a:rPr>
              <a:t>. Considere as seguintes afirmações:</a:t>
            </a:r>
          </a:p>
          <a:p>
            <a:pPr lvl="1"/>
            <a:r>
              <a:rPr lang="pt-BR" b="0" i="0" dirty="0">
                <a:solidFill>
                  <a:srgbClr val="1F1F1F"/>
                </a:solidFill>
                <a:effectLst/>
                <a:latin typeface="docs-Roboto"/>
              </a:rPr>
              <a:t>O </a:t>
            </a:r>
            <a:r>
              <a:rPr lang="pt-BR" b="1" i="0" dirty="0">
                <a:solidFill>
                  <a:srgbClr val="1F1F1F"/>
                </a:solidFill>
                <a:effectLst/>
                <a:latin typeface="docs-Roboto"/>
              </a:rPr>
              <a:t>tamanho</a:t>
            </a:r>
            <a:r>
              <a:rPr lang="pt-BR" b="0" i="0" dirty="0">
                <a:solidFill>
                  <a:srgbClr val="1F1F1F"/>
                </a:solidFill>
                <a:effectLst/>
                <a:latin typeface="docs-Roboto"/>
              </a:rPr>
              <a:t> do software (medido em LOC, pontos de função, etc.) é a principal variável independente, a partir da qual se estimam esforço, custo e prazo.</a:t>
            </a:r>
          </a:p>
          <a:p>
            <a:pPr lvl="1"/>
            <a:r>
              <a:rPr lang="pt-BR" b="0" i="0" dirty="0">
                <a:solidFill>
                  <a:srgbClr val="1F1F1F"/>
                </a:solidFill>
                <a:effectLst/>
                <a:latin typeface="docs-Roboto"/>
              </a:rPr>
              <a:t>O </a:t>
            </a:r>
            <a:r>
              <a:rPr lang="pt-BR" b="1" i="0" dirty="0">
                <a:solidFill>
                  <a:srgbClr val="1F1F1F"/>
                </a:solidFill>
                <a:effectLst/>
                <a:latin typeface="docs-Roboto"/>
              </a:rPr>
              <a:t>esforço</a:t>
            </a:r>
            <a:r>
              <a:rPr lang="pt-BR" b="0" i="0" dirty="0">
                <a:solidFill>
                  <a:srgbClr val="1F1F1F"/>
                </a:solidFill>
                <a:effectLst/>
                <a:latin typeface="docs-Roboto"/>
              </a:rPr>
              <a:t> é função do tamanho, mas também depende de fatores como complexidade, qualidade da equipe e ferramentas.</a:t>
            </a:r>
          </a:p>
          <a:p>
            <a:pPr lvl="1"/>
            <a:r>
              <a:rPr lang="pt-BR" b="0" i="0" dirty="0">
                <a:solidFill>
                  <a:srgbClr val="1F1F1F"/>
                </a:solidFill>
                <a:effectLst/>
                <a:latin typeface="docs-Roboto"/>
              </a:rPr>
              <a:t>O </a:t>
            </a:r>
            <a:r>
              <a:rPr lang="pt-BR" b="1" i="0" dirty="0">
                <a:solidFill>
                  <a:srgbClr val="1F1F1F"/>
                </a:solidFill>
                <a:effectLst/>
                <a:latin typeface="docs-Roboto"/>
              </a:rPr>
              <a:t>custo</a:t>
            </a:r>
            <a:r>
              <a:rPr lang="pt-BR" b="0" i="0" dirty="0">
                <a:solidFill>
                  <a:srgbClr val="1F1F1F"/>
                </a:solidFill>
                <a:effectLst/>
                <a:latin typeface="docs-Roboto"/>
              </a:rPr>
              <a:t> é derivado do esforço, já que envolve horas-homens e recursos necessários.</a:t>
            </a:r>
          </a:p>
          <a:p>
            <a:pPr lvl="1"/>
            <a:r>
              <a:rPr lang="pt-BR" b="0" i="0" dirty="0">
                <a:solidFill>
                  <a:srgbClr val="1F1F1F"/>
                </a:solidFill>
                <a:effectLst/>
                <a:latin typeface="docs-Roboto"/>
              </a:rPr>
              <a:t>O </a:t>
            </a:r>
            <a:r>
              <a:rPr lang="pt-BR" b="1" i="0" dirty="0">
                <a:solidFill>
                  <a:srgbClr val="1F1F1F"/>
                </a:solidFill>
                <a:effectLst/>
                <a:latin typeface="docs-Roboto"/>
              </a:rPr>
              <a:t>prazo</a:t>
            </a:r>
            <a:r>
              <a:rPr lang="pt-BR" b="0" i="0" dirty="0">
                <a:solidFill>
                  <a:srgbClr val="1F1F1F"/>
                </a:solidFill>
                <a:effectLst/>
                <a:latin typeface="docs-Roboto"/>
              </a:rPr>
              <a:t> é dependente do esforço, mas não se reduz linearmente ao aumentar o número de pessoas envolvidas.</a:t>
            </a:r>
          </a:p>
          <a:p>
            <a:pPr marL="457200" lvl="1" indent="0">
              <a:buNone/>
            </a:pPr>
            <a:r>
              <a:rPr lang="pt-BR" b="0" i="0" dirty="0">
                <a:solidFill>
                  <a:srgbClr val="1F1F1F"/>
                </a:solidFill>
                <a:effectLst/>
                <a:latin typeface="docs-Roboto"/>
              </a:rPr>
              <a:t>Qual alternativa descreve corretamente a </a:t>
            </a:r>
            <a:r>
              <a:rPr lang="pt-BR" b="1" i="0" dirty="0">
                <a:solidFill>
                  <a:srgbClr val="1F1F1F"/>
                </a:solidFill>
                <a:effectLst/>
                <a:latin typeface="docs-Roboto"/>
              </a:rPr>
              <a:t>cadeia de dependência</a:t>
            </a:r>
            <a:r>
              <a:rPr lang="pt-BR" b="0" i="0" dirty="0">
                <a:solidFill>
                  <a:srgbClr val="1F1F1F"/>
                </a:solidFill>
                <a:effectLst/>
                <a:latin typeface="docs-Roboto"/>
              </a:rPr>
              <a:t> entre esses elementos?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118059C-A1FB-02EF-0547-DFC99D1E9841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B5DFDE0-4B80-E317-455A-3F7E8CCC7D11}"/>
              </a:ext>
            </a:extLst>
          </p:cNvPr>
          <p:cNvSpPr txBox="1"/>
          <p:nvPr/>
        </p:nvSpPr>
        <p:spPr>
          <a:xfrm>
            <a:off x="1531430" y="5100884"/>
            <a:ext cx="4014176" cy="166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a) Prazo </a:t>
            </a:r>
            <a:r>
              <a:rPr lang="pt-BR" dirty="0">
                <a:sym typeface="Wingdings" panose="05000000000000000000" pitchFamily="2" charset="2"/>
              </a:rPr>
              <a:t> Tamanho  Esforço  Custo</a:t>
            </a:r>
            <a:endParaRPr lang="pt-BR" dirty="0"/>
          </a:p>
          <a:p>
            <a:pPr>
              <a:spcBef>
                <a:spcPts val="1200"/>
              </a:spcBef>
            </a:pPr>
            <a:r>
              <a:rPr lang="pt-BR" dirty="0"/>
              <a:t>b) Esforço </a:t>
            </a:r>
            <a:r>
              <a:rPr lang="pt-BR" dirty="0">
                <a:sym typeface="Wingdings" panose="05000000000000000000" pitchFamily="2" charset="2"/>
              </a:rPr>
              <a:t> Tamanho  Prazo  Custo</a:t>
            </a:r>
            <a:endParaRPr lang="pt-BR" dirty="0"/>
          </a:p>
          <a:p>
            <a:pPr>
              <a:spcBef>
                <a:spcPts val="1200"/>
              </a:spcBef>
            </a:pPr>
            <a:r>
              <a:rPr lang="pt-BR" dirty="0"/>
              <a:t>c) Tamanho </a:t>
            </a:r>
            <a:r>
              <a:rPr lang="pt-BR" dirty="0">
                <a:sym typeface="Wingdings" panose="05000000000000000000" pitchFamily="2" charset="2"/>
              </a:rPr>
              <a:t> Esforço  Custo  Prazo</a:t>
            </a:r>
            <a:endParaRPr lang="pt-BR" dirty="0"/>
          </a:p>
          <a:p>
            <a:pPr>
              <a:spcBef>
                <a:spcPts val="1200"/>
              </a:spcBef>
            </a:pPr>
            <a:r>
              <a:rPr lang="pt-BR" dirty="0"/>
              <a:t>d) Custo </a:t>
            </a:r>
            <a:r>
              <a:rPr lang="pt-BR" dirty="0">
                <a:sym typeface="Wingdings" panose="05000000000000000000" pitchFamily="2" charset="2"/>
              </a:rPr>
              <a:t> Esforço  Prazo  Tamanho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090694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8E15D-49D8-8F90-EB60-01178233E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3CC25AE-C356-3078-BACE-0C6103C81D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Apresentar processo de </a:t>
            </a:r>
            <a:r>
              <a:rPr lang="pt-BR" b="1" dirty="0"/>
              <a:t>estimativas de custo e prazo</a:t>
            </a:r>
            <a:r>
              <a:rPr lang="pt-BR" dirty="0"/>
              <a:t>: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dirty="0"/>
              <a:t>Introdução sobre estimativas;</a:t>
            </a:r>
          </a:p>
          <a:p>
            <a:pPr marL="914400" lvl="1" indent="-457200">
              <a:spcBef>
                <a:spcPts val="2400"/>
              </a:spcBef>
              <a:buFont typeface="+mj-lt"/>
              <a:buAutoNum type="arabicPeriod"/>
            </a:pPr>
            <a:r>
              <a:rPr lang="pt-BR" dirty="0"/>
              <a:t>Métricas básicas para estimativa de projetos de software;</a:t>
            </a:r>
          </a:p>
          <a:p>
            <a:pPr marL="914400" lvl="1" indent="-457200">
              <a:spcBef>
                <a:spcPts val="2400"/>
              </a:spcBef>
              <a:buFont typeface="+mj-lt"/>
              <a:buAutoNum type="arabicPeriod"/>
            </a:pPr>
            <a:r>
              <a:rPr lang="pt-BR" b="1" dirty="0"/>
              <a:t>Principais exemplos: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b="1" dirty="0" err="1"/>
              <a:t>Bottom-up</a:t>
            </a:r>
            <a:r>
              <a:rPr lang="pt-BR" b="1" dirty="0"/>
              <a:t> (EAP)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dirty="0"/>
              <a:t>LOC (PERT e COCOMO II)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dirty="0"/>
              <a:t>Pontos de função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dirty="0" err="1"/>
              <a:t>Story</a:t>
            </a:r>
            <a:r>
              <a:rPr lang="pt-BR" dirty="0"/>
              <a:t> points;</a:t>
            </a:r>
          </a:p>
          <a:p>
            <a:pPr marL="914400" lvl="1" indent="-457200">
              <a:spcBef>
                <a:spcPts val="2400"/>
              </a:spcBef>
              <a:buFont typeface="+mj-lt"/>
              <a:buAutoNum type="arabicPeriod"/>
            </a:pPr>
            <a:r>
              <a:rPr lang="pt-BR" dirty="0"/>
              <a:t>Outros métodos de estimativa;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501A08D-C8E5-4094-B2C0-A5BDFE663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Objetivos de hoje: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4F29924-F6E7-CA84-7343-829C8AB50D0D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05450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7DECCE-1413-7C8D-F37A-FBAB52120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EAP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D401611-0EE5-231B-07D5-D90931D2BB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Entendimento, especificação e controle de projetos</a:t>
            </a:r>
          </a:p>
          <a:p>
            <a:pPr>
              <a:spcBef>
                <a:spcPts val="2400"/>
              </a:spcBef>
            </a:pPr>
            <a:r>
              <a:rPr lang="pt-BR" dirty="0"/>
              <a:t>Decompor o trabalho em tarefas</a:t>
            </a:r>
          </a:p>
          <a:p>
            <a:pPr>
              <a:spcBef>
                <a:spcPts val="2400"/>
              </a:spcBef>
            </a:pPr>
            <a:r>
              <a:rPr lang="pt-BR" b="1" dirty="0"/>
              <a:t>Modelar</a:t>
            </a:r>
            <a:r>
              <a:rPr lang="pt-BR" dirty="0"/>
              <a:t> conforme:</a:t>
            </a:r>
          </a:p>
          <a:p>
            <a:pPr lvl="1">
              <a:spcBef>
                <a:spcPts val="1800"/>
              </a:spcBef>
            </a:pPr>
            <a:r>
              <a:rPr lang="pt-BR" i="1" dirty="0"/>
              <a:t>Fases do projeto </a:t>
            </a:r>
            <a:r>
              <a:rPr lang="pt-BR" dirty="0"/>
              <a:t>(</a:t>
            </a:r>
            <a:r>
              <a:rPr lang="pt-BR" dirty="0" err="1"/>
              <a:t>relase</a:t>
            </a:r>
            <a:r>
              <a:rPr lang="pt-BR" dirty="0"/>
              <a:t> 1, release 2...)</a:t>
            </a:r>
          </a:p>
          <a:p>
            <a:pPr lvl="1">
              <a:spcBef>
                <a:spcPts val="1800"/>
              </a:spcBef>
            </a:pPr>
            <a:r>
              <a:rPr lang="pt-BR" i="1" dirty="0"/>
              <a:t>Fases do processo de desenvolvimento </a:t>
            </a:r>
            <a:r>
              <a:rPr lang="pt-BR" dirty="0"/>
              <a:t>(sprints, fases </a:t>
            </a:r>
            <a:r>
              <a:rPr lang="pt-BR" dirty="0" err="1"/>
              <a:t>waterfall</a:t>
            </a:r>
            <a:r>
              <a:rPr lang="pt-BR" dirty="0"/>
              <a:t>)</a:t>
            </a:r>
          </a:p>
          <a:p>
            <a:pPr lvl="1">
              <a:spcBef>
                <a:spcPts val="1800"/>
              </a:spcBef>
            </a:pPr>
            <a:r>
              <a:rPr lang="pt-BR" i="1" dirty="0"/>
              <a:t>Módulos</a:t>
            </a:r>
            <a:r>
              <a:rPr lang="pt-BR" dirty="0"/>
              <a:t> (componente 1, componente 2, ...)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483237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871467-A150-0F17-9786-16C4EF56C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Características da EAP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B492BC3-0FBA-4E67-C2FD-DD82D7F9F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Não determina sequência – apenas </a:t>
            </a:r>
            <a:r>
              <a:rPr lang="pt-BR" b="1" dirty="0"/>
              <a:t>decomposição;</a:t>
            </a:r>
          </a:p>
          <a:p>
            <a:pPr>
              <a:spcBef>
                <a:spcPts val="2400"/>
              </a:spcBef>
            </a:pPr>
            <a:r>
              <a:rPr lang="pt-BR" dirty="0"/>
              <a:t>Precisa ter </a:t>
            </a:r>
            <a:r>
              <a:rPr lang="pt-BR" b="1" dirty="0"/>
              <a:t>100% de cobertura</a:t>
            </a:r>
          </a:p>
          <a:p>
            <a:pPr>
              <a:spcBef>
                <a:spcPts val="2400"/>
              </a:spcBef>
            </a:pPr>
            <a:r>
              <a:rPr lang="pt-BR" dirty="0"/>
              <a:t>O somatório do trabalho das partes deve ser igual ao todo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4DDA3A3-93A9-B275-9D10-13D41118A36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451" t="68990" r="5330" b="2224"/>
          <a:stretch/>
        </p:blipFill>
        <p:spPr>
          <a:xfrm>
            <a:off x="1653436" y="4709786"/>
            <a:ext cx="9106422" cy="1941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4863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C0EFF8-7259-C7A4-F888-E9F1AE404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Ferramenta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7A8B6E-17C9-97C6-64EA-4FFFD1A2B6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Project Libre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0154A4F-F742-D65B-6CE4-0138F0149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2888" y="2220078"/>
            <a:ext cx="6321778" cy="426859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8E4536DB-6B53-48F7-F243-1610F4D54248}"/>
              </a:ext>
            </a:extLst>
          </p:cNvPr>
          <p:cNvSpPr txBox="1"/>
          <p:nvPr/>
        </p:nvSpPr>
        <p:spPr>
          <a:xfrm>
            <a:off x="3522133" y="6488668"/>
            <a:ext cx="45832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dirty="0">
                <a:hlinkClick r:id="rId3"/>
              </a:rPr>
              <a:t>https://sourceforge.net/projects/projectlibre/</a:t>
            </a:r>
            <a:r>
              <a:rPr 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120621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C955D5-7C3F-32D7-E545-9CFC075E9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EAP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1FC6A07-1395-E652-B44E-DB10A51EF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69089"/>
          </a:xfrm>
        </p:spPr>
        <p:txBody>
          <a:bodyPr>
            <a:normAutofit fontScale="92500" lnSpcReduction="20000"/>
          </a:bodyPr>
          <a:lstStyle/>
          <a:p>
            <a:r>
              <a:rPr lang="pt-BR" dirty="0"/>
              <a:t>Algoritmo: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Definir equipe para o projeto</a:t>
            </a:r>
          </a:p>
          <a:p>
            <a:pPr lvl="2"/>
            <a:r>
              <a:rPr lang="pt-BR" dirty="0"/>
              <a:t>Nomes e/ou papeis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Para cada </a:t>
            </a:r>
            <a:r>
              <a:rPr lang="pt-BR" u="sng" dirty="0"/>
              <a:t>tarefa folha </a:t>
            </a:r>
            <a:r>
              <a:rPr lang="pt-BR" dirty="0"/>
              <a:t>da árvore EAP:</a:t>
            </a:r>
          </a:p>
          <a:p>
            <a:pPr lvl="2"/>
            <a:r>
              <a:rPr lang="pt-BR" dirty="0"/>
              <a:t>Estimar quanto tempo levará</a:t>
            </a:r>
          </a:p>
          <a:p>
            <a:pPr lvl="3"/>
            <a:r>
              <a:rPr lang="pt-BR" dirty="0"/>
              <a:t>Usar regra [8-80]</a:t>
            </a:r>
          </a:p>
          <a:p>
            <a:pPr lvl="2"/>
            <a:r>
              <a:rPr lang="pt-BR" dirty="0"/>
              <a:t>Atribuir uma (ou mais) pessoa(s) a cada pacote de trabalho (Recurso)</a:t>
            </a:r>
          </a:p>
          <a:p>
            <a:pPr lvl="2"/>
            <a:r>
              <a:rPr lang="pt-BR" dirty="0"/>
              <a:t>Definir a sequência de atividades antecessoras</a:t>
            </a:r>
          </a:p>
          <a:p>
            <a:pPr lvl="3"/>
            <a:endParaRPr lang="pt-BR" dirty="0"/>
          </a:p>
          <a:p>
            <a:r>
              <a:rPr lang="pt-BR" b="1" dirty="0"/>
              <a:t>Ao final, teremos o esforço total do projeto (+seu custo +seu prazo!!)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Custo vai variar conforme o preço da hora de cada papel/pessoa</a:t>
            </a:r>
          </a:p>
          <a:p>
            <a:pPr lvl="2">
              <a:spcBef>
                <a:spcPts val="1200"/>
              </a:spcBef>
            </a:pPr>
            <a:r>
              <a:rPr lang="pt-BR" dirty="0"/>
              <a:t>Mais materiais usados, comprados ou alugados</a:t>
            </a:r>
          </a:p>
          <a:p>
            <a:pPr lvl="1">
              <a:spcBef>
                <a:spcPts val="1200"/>
              </a:spcBef>
            </a:pPr>
            <a:r>
              <a:rPr lang="pt-BR" dirty="0">
                <a:solidFill>
                  <a:schemeClr val="accent1"/>
                </a:solidFill>
              </a:rPr>
              <a:t>Duração</a:t>
            </a:r>
            <a:r>
              <a:rPr lang="pt-BR" dirty="0"/>
              <a:t> vai depender do sequenciamento das atividades</a:t>
            </a:r>
          </a:p>
          <a:p>
            <a:pPr lvl="2"/>
            <a:r>
              <a:rPr lang="pt-BR" dirty="0"/>
              <a:t>Sem sobrecarga de pessoas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44838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B5C42C-7F97-B99C-F027-6C34FD206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1D78D2-6065-1A63-D211-FED4C43995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05AF9A4-A303-D3CA-2C45-E7353DA82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91" y="1690688"/>
            <a:ext cx="12192000" cy="197104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CAED52D-8C2E-ECA7-EF2F-9E465F84B6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424" y="1924538"/>
            <a:ext cx="10040751" cy="358190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F210DFFF-4D78-B5D6-EB75-6C22C38F73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4310" y="2160166"/>
            <a:ext cx="8659773" cy="4697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3357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4D5B7B-1D0F-A34E-DDD0-6D35ED912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5FB5FFA-931E-4098-2327-DA6EC2D0B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2164" y="1644758"/>
            <a:ext cx="5347672" cy="5108224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F8D65D5-1752-1312-45EB-B4C2092D43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22161"/>
            <a:ext cx="12192000" cy="3153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831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11A8F7-62C1-1C8B-DF88-5EF7F6462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5284D9-E3F1-5BF2-58F7-275E2BAAF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75C6BFA-3BDD-C3F4-928A-E3907FD71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291" y="1560173"/>
            <a:ext cx="6908801" cy="377381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6651B395-0F50-8FD0-6C01-7D234104E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2224" y="3219449"/>
            <a:ext cx="6538910" cy="3553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5271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6B4B39-DF1F-1727-AF0B-51B049539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EAP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7B5036-12D8-21F7-7E40-0D6317F574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Espinha dorsal do projeto</a:t>
            </a:r>
          </a:p>
          <a:p>
            <a:pPr>
              <a:spcBef>
                <a:spcPts val="2400"/>
              </a:spcBef>
            </a:pPr>
            <a:r>
              <a:rPr lang="pt-BR" dirty="0"/>
              <a:t>Função principal é </a:t>
            </a:r>
            <a:r>
              <a:rPr lang="pt-BR" b="1" dirty="0"/>
              <a:t>definir o escopo</a:t>
            </a:r>
            <a:r>
              <a:rPr lang="pt-BR" dirty="0"/>
              <a:t> (com foco nas entregas, não nas ações)</a:t>
            </a:r>
          </a:p>
          <a:p>
            <a:pPr>
              <a:spcBef>
                <a:spcPts val="2400"/>
              </a:spcBef>
            </a:pPr>
            <a:r>
              <a:rPr lang="pt-BR" dirty="0"/>
              <a:t>Não é técnica de estimativa em si, mas organiza o trabalho para que outras possam ser aplicadas (</a:t>
            </a:r>
            <a:r>
              <a:rPr lang="pt-BR" i="1" dirty="0"/>
              <a:t>Story Points</a:t>
            </a:r>
            <a:r>
              <a:rPr lang="pt-BR" dirty="0"/>
              <a:t>, PERT)</a:t>
            </a:r>
          </a:p>
          <a:p>
            <a:pPr>
              <a:spcBef>
                <a:spcPts val="2400"/>
              </a:spcBef>
            </a:pPr>
            <a:r>
              <a:rPr lang="pt-BR" b="0" i="0" dirty="0">
                <a:solidFill>
                  <a:srgbClr val="0A0A0A"/>
                </a:solidFill>
                <a:effectLst/>
                <a:latin typeface="Google Sans"/>
              </a:rPr>
              <a:t>Se algo não está na EAP, não será estimado nem executado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0802697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EA383-D92E-546A-BEA1-AD1D14E75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567D1FC-2CB3-C35A-0398-6CFA24CB56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Apresentar processo de </a:t>
            </a:r>
            <a:r>
              <a:rPr lang="pt-BR" b="1" dirty="0"/>
              <a:t>estimativas de custo e prazo</a:t>
            </a:r>
            <a:r>
              <a:rPr lang="pt-BR" dirty="0"/>
              <a:t>: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dirty="0"/>
              <a:t>Introdução sobre estimativas;</a:t>
            </a:r>
          </a:p>
          <a:p>
            <a:pPr marL="914400" lvl="1" indent="-457200">
              <a:spcBef>
                <a:spcPts val="2400"/>
              </a:spcBef>
              <a:buFont typeface="+mj-lt"/>
              <a:buAutoNum type="arabicPeriod"/>
            </a:pPr>
            <a:r>
              <a:rPr lang="pt-BR" dirty="0"/>
              <a:t>Métricas básicas para estimativa de projetos de software;</a:t>
            </a:r>
          </a:p>
          <a:p>
            <a:pPr marL="914400" lvl="1" indent="-457200">
              <a:spcBef>
                <a:spcPts val="2400"/>
              </a:spcBef>
              <a:buFont typeface="+mj-lt"/>
              <a:buAutoNum type="arabicPeriod"/>
            </a:pPr>
            <a:r>
              <a:rPr lang="pt-BR" b="1" dirty="0"/>
              <a:t>Principais exemplos: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dirty="0" err="1"/>
              <a:t>Bottom-up</a:t>
            </a:r>
            <a:r>
              <a:rPr lang="pt-BR" dirty="0"/>
              <a:t> (EAP)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b="1" dirty="0"/>
              <a:t>LOC (PERT e COCOMO II)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dirty="0"/>
              <a:t>Pontos de função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dirty="0" err="1"/>
              <a:t>Story</a:t>
            </a:r>
            <a:r>
              <a:rPr lang="pt-BR" dirty="0"/>
              <a:t> points;</a:t>
            </a:r>
          </a:p>
          <a:p>
            <a:pPr marL="914400" lvl="1" indent="-457200">
              <a:spcBef>
                <a:spcPts val="2400"/>
              </a:spcBef>
              <a:buFont typeface="+mj-lt"/>
              <a:buAutoNum type="arabicPeriod"/>
            </a:pPr>
            <a:r>
              <a:rPr lang="pt-BR" dirty="0"/>
              <a:t>Outros métodos de estimativa;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FCCD1C3-51BD-389A-B4DB-F63E9D9ED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Objetivos de hoje: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1B1441F-A8F5-BAB1-A3E9-C957400DE856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521750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DFEB48-CBDE-5D29-C16F-185BDB5EC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7293D3-3301-E6A5-BBC3-031DDFD1DD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050" name="Picture 2" descr="Cost estimation LOC Lines of Code in software engineering">
            <a:extLst>
              <a:ext uri="{FF2B5EF4-FFF2-40B4-BE49-F238E27FC236}">
                <a16:creationId xmlns:a16="http://schemas.microsoft.com/office/drawing/2014/main" id="{43099DB5-8B02-4B58-4CB6-F3B7C1E0E2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7B30CD5B-C3BB-5195-A679-1901174B263A}"/>
              </a:ext>
            </a:extLst>
          </p:cNvPr>
          <p:cNvSpPr txBox="1"/>
          <p:nvPr/>
        </p:nvSpPr>
        <p:spPr>
          <a:xfrm>
            <a:off x="107066" y="6492875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https://i.ytimg.com/vi/4_JltqeRGQc/maxresdefault.jpg</a:t>
            </a:r>
          </a:p>
        </p:txBody>
      </p:sp>
    </p:spTree>
    <p:extLst>
      <p:ext uri="{BB962C8B-B14F-4D97-AF65-F5344CB8AC3E}">
        <p14:creationId xmlns:p14="http://schemas.microsoft.com/office/powerpoint/2010/main" val="2791973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7E3570-828C-07F7-69AE-1522B97DB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Tamanho - Linhas de código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722004-B983-1AC3-211A-D45B4D3BBE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Estimativa baseada em linhas de código (LOC)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Técnica mais antiga usada para estimativa (</a:t>
            </a:r>
            <a:r>
              <a:rPr lang="pt-BR" dirty="0" err="1"/>
              <a:t>déc</a:t>
            </a:r>
            <a:r>
              <a:rPr lang="pt-BR" dirty="0"/>
              <a:t>. 70);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LOC ou KLOC;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Adequada para algumas linguagens de programação;</a:t>
            </a:r>
          </a:p>
          <a:p>
            <a:pPr lvl="1"/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C7064D9-E088-5418-3EAF-852881934235}"/>
              </a:ext>
            </a:extLst>
          </p:cNvPr>
          <p:cNvSpPr txBox="1"/>
          <p:nvPr/>
        </p:nvSpPr>
        <p:spPr>
          <a:xfrm>
            <a:off x="3647768" y="4701966"/>
            <a:ext cx="4896464" cy="83099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pt-BR" sz="2400" b="1" i="0" u="none" strike="noStrike" baseline="0" dirty="0">
                <a:latin typeface="Tahoma" panose="020B0604030504040204" pitchFamily="34" charset="0"/>
              </a:rPr>
              <a:t>Quais os problemas dessa técnica?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987743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04B81C-83D7-BDD8-81C1-B1B947EC6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Tamanho - Exemplos de contagem de LOC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303A3D5-2007-072B-1B6D-2EE791EBF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7132" y="2551944"/>
            <a:ext cx="4011172" cy="3338779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81AB6A2B-9C09-8D7E-8979-81788EE8EE0E}"/>
              </a:ext>
            </a:extLst>
          </p:cNvPr>
          <p:cNvSpPr txBox="1"/>
          <p:nvPr/>
        </p:nvSpPr>
        <p:spPr>
          <a:xfrm>
            <a:off x="8055662" y="5921843"/>
            <a:ext cx="2374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LOC lógico Padronizado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1D82EB4-A455-4ED8-56D3-EDE5C4B9FE2C}"/>
              </a:ext>
            </a:extLst>
          </p:cNvPr>
          <p:cNvSpPr txBox="1"/>
          <p:nvPr/>
        </p:nvSpPr>
        <p:spPr>
          <a:xfrm>
            <a:off x="2242138" y="5552511"/>
            <a:ext cx="1005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Raw</a:t>
            </a:r>
            <a:r>
              <a:rPr lang="pt-BR" dirty="0"/>
              <a:t> LOC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446E64AB-791C-302F-787D-7116403503D0}"/>
              </a:ext>
            </a:extLst>
          </p:cNvPr>
          <p:cNvGrpSpPr/>
          <p:nvPr/>
        </p:nvGrpSpPr>
        <p:grpSpPr>
          <a:xfrm>
            <a:off x="388233" y="2767517"/>
            <a:ext cx="6398932" cy="2650057"/>
            <a:chOff x="388233" y="2767517"/>
            <a:chExt cx="6398932" cy="2650057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5928CA37-5DC1-7616-1480-D0A7814DB4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8233" y="3025095"/>
              <a:ext cx="6398932" cy="2392479"/>
            </a:xfrm>
            <a:prstGeom prst="rect">
              <a:avLst/>
            </a:prstGeom>
          </p:spPr>
        </p:pic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950334B6-6A69-419B-0531-543F68CE49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3972" y="2767517"/>
              <a:ext cx="4550143" cy="4667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98812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A495C5-F329-0CAF-1900-48A50EF63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6501BE2-C9CD-4BC0-69BC-0E5971E84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4131732" cy="633012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7F535FF-E9ED-CDC5-AB05-BD5BC04776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9926" y="0"/>
            <a:ext cx="4257303" cy="68580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08FD011-748D-DD39-6A4E-406376B421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4651" y="0"/>
            <a:ext cx="3967348" cy="4116804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801162FB-1D3E-CCF3-056C-25165D4F1A2D}"/>
              </a:ext>
            </a:extLst>
          </p:cNvPr>
          <p:cNvSpPr/>
          <p:nvPr/>
        </p:nvSpPr>
        <p:spPr>
          <a:xfrm>
            <a:off x="8802858" y="4871999"/>
            <a:ext cx="3061764" cy="169897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400" dirty="0"/>
              <a:t>Implementação de algoritmo </a:t>
            </a:r>
            <a:r>
              <a:rPr lang="pt-BR" sz="2400" b="1" i="1" dirty="0" err="1"/>
              <a:t>BubbleSort</a:t>
            </a:r>
            <a:r>
              <a:rPr lang="pt-BR" sz="2400" dirty="0"/>
              <a:t> em 3 linguagens</a:t>
            </a:r>
          </a:p>
        </p:txBody>
      </p:sp>
    </p:spTree>
    <p:extLst>
      <p:ext uri="{BB962C8B-B14F-4D97-AF65-F5344CB8AC3E}">
        <p14:creationId xmlns:p14="http://schemas.microsoft.com/office/powerpoint/2010/main" val="207260259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0AADC8-86CF-2F10-0AE1-2EEFB2391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Tamanho - Linhas de código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745B69F-09E9-78D0-646D-A9A1D8CEB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3399" y="1561757"/>
            <a:ext cx="8250511" cy="5287562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FFCEE7DE-EA47-B77F-C713-BEC328027D65}"/>
              </a:ext>
            </a:extLst>
          </p:cNvPr>
          <p:cNvSpPr txBox="1"/>
          <p:nvPr/>
        </p:nvSpPr>
        <p:spPr>
          <a:xfrm>
            <a:off x="497711" y="2469510"/>
            <a:ext cx="31598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Já contaram as LOC dos projetos em que vocês trabalharam?</a:t>
            </a:r>
          </a:p>
        </p:txBody>
      </p:sp>
    </p:spTree>
    <p:extLst>
      <p:ext uri="{BB962C8B-B14F-4D97-AF65-F5344CB8AC3E}">
        <p14:creationId xmlns:p14="http://schemas.microsoft.com/office/powerpoint/2010/main" val="3236468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0AADC8-86CF-2F10-0AE1-2EEFB2391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Tamanho - Linhas de código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4FD1D46-6D95-4F2D-614E-D739BC710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8164" y="1690688"/>
            <a:ext cx="6775672" cy="4342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76664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7E3570-828C-07F7-69AE-1522B97DB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Procedimento das estimativa - LOC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722004-B983-1AC3-211A-D45B4D3BBE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pt-BR" sz="2400" dirty="0"/>
              <a:t>Decompor o software em funcionalidades menores;</a:t>
            </a:r>
          </a:p>
          <a:p>
            <a:pPr marL="514350" indent="-514350">
              <a:spcBef>
                <a:spcPts val="2400"/>
              </a:spcBef>
              <a:buFont typeface="+mj-lt"/>
              <a:buAutoNum type="arabicPeriod"/>
            </a:pPr>
            <a:r>
              <a:rPr lang="pt-BR" sz="2400" dirty="0"/>
              <a:t>Fornecer valores de LOC otimista, mais provável e pessimista (PERT);</a:t>
            </a:r>
          </a:p>
          <a:p>
            <a:pPr marL="514350" indent="-514350">
              <a:spcBef>
                <a:spcPts val="2400"/>
              </a:spcBef>
              <a:buFont typeface="+mj-lt"/>
              <a:buAutoNum type="arabicPeriod"/>
            </a:pPr>
            <a:r>
              <a:rPr lang="pt-BR" sz="2400" dirty="0"/>
              <a:t>Determinar a soma dos tamanhos médios de cada funcionalidade;</a:t>
            </a:r>
          </a:p>
          <a:p>
            <a:pPr marL="514350" indent="-514350">
              <a:spcBef>
                <a:spcPts val="2400"/>
              </a:spcBef>
              <a:buFont typeface="+mj-lt"/>
              <a:buAutoNum type="arabicPeriod"/>
            </a:pPr>
            <a:r>
              <a:rPr lang="pt-BR" sz="2400" dirty="0"/>
              <a:t>Determinar o LOC estimado</a:t>
            </a:r>
          </a:p>
          <a:p>
            <a:pPr marL="514350" indent="-514350">
              <a:spcBef>
                <a:spcPts val="2400"/>
              </a:spcBef>
              <a:buFont typeface="+mj-lt"/>
              <a:buAutoNum type="arabicPeriod"/>
            </a:pPr>
            <a:r>
              <a:rPr lang="pt-BR" sz="2400" dirty="0"/>
              <a:t>Aplicar parâmetros de </a:t>
            </a:r>
            <a:r>
              <a:rPr lang="pt-BR" sz="2400" b="1" i="1" dirty="0"/>
              <a:t>Produtividade </a:t>
            </a:r>
            <a:r>
              <a:rPr lang="pt-BR" sz="2400" dirty="0"/>
              <a:t>e </a:t>
            </a:r>
            <a:r>
              <a:rPr lang="pt-BR" sz="2400" b="1" i="1" dirty="0"/>
              <a:t>Custo Médios </a:t>
            </a:r>
            <a:r>
              <a:rPr lang="pt-BR" sz="2400" dirty="0"/>
              <a:t>por KLOC</a:t>
            </a:r>
          </a:p>
          <a:p>
            <a:pPr marL="514350" indent="-514350">
              <a:spcBef>
                <a:spcPts val="2400"/>
              </a:spcBef>
              <a:buFont typeface="+mj-lt"/>
              <a:buAutoNum type="arabicPeriod"/>
            </a:pPr>
            <a:endParaRPr lang="pt-BR" sz="2400" dirty="0"/>
          </a:p>
          <a:p>
            <a:pPr marL="514350" indent="-514350">
              <a:spcBef>
                <a:spcPts val="2400"/>
              </a:spcBef>
              <a:buFont typeface="+mj-lt"/>
              <a:buAutoNum type="arabicPeriod"/>
            </a:pPr>
            <a:endParaRPr lang="pt-BR" sz="2400" dirty="0"/>
          </a:p>
          <a:p>
            <a:pPr marL="514350" indent="-514350">
              <a:spcBef>
                <a:spcPts val="2400"/>
              </a:spcBef>
              <a:buFont typeface="+mj-lt"/>
              <a:buAutoNum type="arabicPeriod"/>
            </a:pPr>
            <a:endParaRPr lang="pt-BR" sz="2400" dirty="0"/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4136639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7E3570-828C-07F7-69AE-1522B97DB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Estimativa - Linhas de código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722004-B983-1AC3-211A-D45B4D3BBE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pt-BR" sz="2400" dirty="0"/>
              <a:t>Decompor o software em funcionalidades menores que possam ser estudadas individualmente;</a:t>
            </a:r>
          </a:p>
          <a:p>
            <a:pPr marL="514350" indent="-514350">
              <a:spcBef>
                <a:spcPts val="2400"/>
              </a:spcBef>
              <a:buFont typeface="+mj-lt"/>
              <a:buAutoNum type="arabicPeriod"/>
            </a:pPr>
            <a:r>
              <a:rPr lang="pt-BR" sz="2400" dirty="0"/>
              <a:t>Usando dados históricos (ou intuição), fornecer para cada subfunção, valores de LOC otimista, mais provável e pessimista (</a:t>
            </a:r>
            <a:r>
              <a:rPr lang="pt-BR" sz="2400" b="1" i="1" dirty="0"/>
              <a:t>técnica de estimativa dos 3 pontos</a:t>
            </a:r>
            <a:r>
              <a:rPr lang="pt-BR" sz="2400" dirty="0"/>
              <a:t>)</a:t>
            </a:r>
          </a:p>
          <a:p>
            <a:pPr lvl="1"/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B4C1F09-38FC-0FDD-572D-2FD475B3D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6759" y="3838465"/>
            <a:ext cx="7358482" cy="2935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17369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7E3570-828C-07F7-69AE-1522B97DB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Estimativa - Linhas de código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722004-B983-1AC3-211A-D45B4D3BBE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pt-BR" dirty="0"/>
              <a:t>Determinar o número esperado (</a:t>
            </a:r>
            <a:r>
              <a:rPr lang="pt-BR" i="1" dirty="0"/>
              <a:t>E</a:t>
            </a:r>
            <a:r>
              <a:rPr lang="pt-BR" dirty="0"/>
              <a:t>) da variável de estimativa para cada subfunção: </a:t>
            </a:r>
            <a:r>
              <a:rPr lang="pt-BR" b="1" dirty="0"/>
              <a:t>E = (a + 4b + c) / 6</a:t>
            </a:r>
          </a:p>
          <a:p>
            <a:pPr marL="514350" indent="-514350">
              <a:spcBef>
                <a:spcPts val="2400"/>
              </a:spcBef>
              <a:buFont typeface="+mj-lt"/>
              <a:buAutoNum type="arabicPeriod" startAt="3"/>
            </a:pPr>
            <a:r>
              <a:rPr lang="pt-BR" dirty="0"/>
              <a:t>Determinar o valor estimado para o LOC estimado.</a:t>
            </a:r>
          </a:p>
          <a:p>
            <a:pPr lvl="1"/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213A44A-3369-C7F4-EEA6-C2D800DBB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8637" y="3563907"/>
            <a:ext cx="6814726" cy="300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2688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D6A0AF-D0E2-3ECE-178E-66C3901EC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Estimativa - Linha de código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DEB5F12-645F-312A-567D-DC799A1EDC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Determinar Custo ($) e Esforço (homem-hora ou pessoa-mês)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7A74D83-93CE-15EC-21DB-46EC4BE4CB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6858" y="2665620"/>
            <a:ext cx="6992019" cy="3511343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C4D3171B-49EF-FF15-CBF6-F5ECB0A302A2}"/>
              </a:ext>
            </a:extLst>
          </p:cNvPr>
          <p:cNvSpPr/>
          <p:nvPr/>
        </p:nvSpPr>
        <p:spPr>
          <a:xfrm>
            <a:off x="1082225" y="3116826"/>
            <a:ext cx="7707814" cy="875071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Balão de Fala: Retângulo com Cantos Arredondados 7">
            <a:extLst>
              <a:ext uri="{FF2B5EF4-FFF2-40B4-BE49-F238E27FC236}">
                <a16:creationId xmlns:a16="http://schemas.microsoft.com/office/drawing/2014/main" id="{12E324A7-4406-6618-4386-AEF6CC6733A2}"/>
              </a:ext>
            </a:extLst>
          </p:cNvPr>
          <p:cNvSpPr/>
          <p:nvPr/>
        </p:nvSpPr>
        <p:spPr>
          <a:xfrm>
            <a:off x="9418697" y="2909014"/>
            <a:ext cx="1691078" cy="1039971"/>
          </a:xfrm>
          <a:prstGeom prst="wedgeRoundRectCallout">
            <a:avLst>
              <a:gd name="adj1" fmla="val -79536"/>
              <a:gd name="adj2" fmla="val 22792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/>
              <a:t>Parâmetros da abordagem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643044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4B9F7E-AF93-DA9F-EE10-ECC1E65AC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Atividade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C443BD8-366B-75AF-4654-A8ED1F7C38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Bef>
                <a:spcPts val="1800"/>
              </a:spcBef>
            </a:pPr>
            <a:r>
              <a:rPr lang="pt-BR" dirty="0"/>
              <a:t>Contagem de horas e custos cumulativos da EAP (</a:t>
            </a:r>
            <a:r>
              <a:rPr lang="pt-BR" i="1" dirty="0" err="1"/>
              <a:t>bottom-up</a:t>
            </a:r>
            <a:r>
              <a:rPr lang="pt-BR" dirty="0"/>
              <a:t>)</a:t>
            </a:r>
          </a:p>
          <a:p>
            <a:pPr lvl="2"/>
            <a:r>
              <a:rPr lang="pt-BR" dirty="0"/>
              <a:t>Arquivo </a:t>
            </a:r>
            <a:r>
              <a:rPr lang="pt-BR" i="1" dirty="0" err="1"/>
              <a:t>ProjectLibre</a:t>
            </a:r>
            <a:endParaRPr lang="pt-BR" i="1" dirty="0"/>
          </a:p>
          <a:p>
            <a:pPr lvl="1">
              <a:spcBef>
                <a:spcPts val="1800"/>
              </a:spcBef>
            </a:pPr>
            <a:r>
              <a:rPr lang="pt-BR" dirty="0"/>
              <a:t>Estimativa de </a:t>
            </a:r>
            <a:r>
              <a:rPr lang="pt-BR" b="1" dirty="0"/>
              <a:t>KLOC</a:t>
            </a:r>
            <a:r>
              <a:rPr lang="pt-BR" dirty="0"/>
              <a:t> via ChatGPT </a:t>
            </a:r>
          </a:p>
          <a:p>
            <a:pPr lvl="2"/>
            <a:r>
              <a:rPr lang="pt-BR" dirty="0"/>
              <a:t>Especificando qual tecnologia e detalhes da implementação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037452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4598F-5FE8-295F-7987-19460B1BA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AE313E-553E-8F0B-4582-0361E2E55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Atividades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B66DDD-C0CC-54C2-C609-55C3871287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Apresentação dos grupos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Contagem de horas e custos cumulativos da EAP (</a:t>
            </a:r>
            <a:r>
              <a:rPr lang="pt-BR" i="1" dirty="0" err="1"/>
              <a:t>bottom-up</a:t>
            </a:r>
            <a:r>
              <a:rPr lang="pt-BR" dirty="0"/>
              <a:t>)</a:t>
            </a:r>
          </a:p>
          <a:p>
            <a:pPr lvl="2"/>
            <a:r>
              <a:rPr lang="pt-BR" dirty="0"/>
              <a:t>Arquivo </a:t>
            </a:r>
            <a:r>
              <a:rPr lang="pt-BR" i="1" dirty="0" err="1"/>
              <a:t>ProjectLibre</a:t>
            </a:r>
            <a:endParaRPr lang="pt-BR" i="1" dirty="0"/>
          </a:p>
          <a:p>
            <a:pPr lvl="1">
              <a:spcBef>
                <a:spcPts val="1800"/>
              </a:spcBef>
            </a:pPr>
            <a:r>
              <a:rPr lang="pt-BR" dirty="0"/>
              <a:t>Estimativa de </a:t>
            </a:r>
            <a:r>
              <a:rPr lang="pt-BR" b="1" dirty="0"/>
              <a:t>KLOC</a:t>
            </a:r>
            <a:r>
              <a:rPr lang="pt-BR" dirty="0"/>
              <a:t> via ChatGPT </a:t>
            </a:r>
          </a:p>
          <a:p>
            <a:pPr lvl="2"/>
            <a:r>
              <a:rPr lang="pt-BR" dirty="0"/>
              <a:t>Especificando qual tecnologia e detalhes da implementação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CC85FD9-C875-C554-93F8-833FFEF7F28D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372992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38DE4-719E-159B-D448-398E185AA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6ACBCAD-3F2E-5544-BE15-B2FFE9910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Apresentar processo de </a:t>
            </a:r>
            <a:r>
              <a:rPr lang="pt-BR" b="1" dirty="0"/>
              <a:t>estimativas de custo e prazo</a:t>
            </a:r>
            <a:r>
              <a:rPr lang="pt-BR" dirty="0"/>
              <a:t>: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dirty="0"/>
              <a:t>Introdução sobre estimativas;</a:t>
            </a:r>
          </a:p>
          <a:p>
            <a:pPr marL="914400" lvl="1" indent="-457200">
              <a:spcBef>
                <a:spcPts val="2400"/>
              </a:spcBef>
              <a:buFont typeface="+mj-lt"/>
              <a:buAutoNum type="arabicPeriod"/>
            </a:pPr>
            <a:r>
              <a:rPr lang="pt-BR" dirty="0"/>
              <a:t>Métricas básicas para estimativa de projetos de software;</a:t>
            </a:r>
          </a:p>
          <a:p>
            <a:pPr marL="914400" lvl="1" indent="-457200">
              <a:spcBef>
                <a:spcPts val="2400"/>
              </a:spcBef>
              <a:buFont typeface="+mj-lt"/>
              <a:buAutoNum type="arabicPeriod"/>
            </a:pPr>
            <a:r>
              <a:rPr lang="pt-BR" b="1" dirty="0"/>
              <a:t>Principais exemplos: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dirty="0"/>
              <a:t>LOC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b="1" dirty="0"/>
              <a:t>Story points 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dirty="0"/>
              <a:t>Pontos de função</a:t>
            </a:r>
            <a:endParaRPr lang="pt-BR" b="1" dirty="0"/>
          </a:p>
          <a:p>
            <a:pPr marL="914400" lvl="1" indent="-457200">
              <a:spcBef>
                <a:spcPts val="2400"/>
              </a:spcBef>
              <a:buFont typeface="+mj-lt"/>
              <a:buAutoNum type="arabicPeriod"/>
            </a:pPr>
            <a:r>
              <a:rPr lang="pt-BR" dirty="0"/>
              <a:t>Outros métodos de estimativa;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3D68E38-80E3-620A-32C0-F00CD4C03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Objetivos de hoje: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DE7597B-A36B-3ED3-4551-C7D471784E05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680799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1C2587-CD33-56B4-B0E7-71BD756EE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User</a:t>
            </a:r>
            <a:r>
              <a:rPr lang="pt-BR" i="1" dirty="0"/>
              <a:t> stories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0D034D7-4074-0EC8-48EA-3788196DE7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Medida de </a:t>
            </a:r>
            <a:r>
              <a:rPr lang="pt-BR" b="1" dirty="0"/>
              <a:t>função</a:t>
            </a:r>
            <a:r>
              <a:rPr lang="pt-BR" dirty="0"/>
              <a:t> em métodos ágeis</a:t>
            </a:r>
          </a:p>
          <a:p>
            <a:pPr>
              <a:spcBef>
                <a:spcPts val="2400"/>
              </a:spcBef>
            </a:pPr>
            <a:r>
              <a:rPr lang="pt-BR" dirty="0">
                <a:solidFill>
                  <a:srgbClr val="221C28"/>
                </a:solidFill>
                <a:latin typeface="Inter"/>
              </a:rPr>
              <a:t>Nascida na comunidade XP (1998)</a:t>
            </a:r>
            <a:endParaRPr lang="pt-BR" dirty="0"/>
          </a:p>
          <a:p>
            <a:pPr>
              <a:spcBef>
                <a:spcPts val="2400"/>
              </a:spcBef>
            </a:pPr>
            <a:r>
              <a:rPr lang="pt-BR" b="0" i="0" dirty="0">
                <a:solidFill>
                  <a:srgbClr val="221C28"/>
                </a:solidFill>
                <a:effectLst/>
                <a:latin typeface="Inter"/>
              </a:rPr>
              <a:t>Sentença curta e simples sobre uma funcionalidade (escrita sob a perspectiva do usuário que a deseja)</a:t>
            </a:r>
          </a:p>
          <a:p>
            <a:pPr lvl="1"/>
            <a:r>
              <a:rPr lang="pt-BR" dirty="0">
                <a:solidFill>
                  <a:srgbClr val="221C28"/>
                </a:solidFill>
                <a:latin typeface="Inter"/>
              </a:rPr>
              <a:t>U</a:t>
            </a:r>
            <a:r>
              <a:rPr lang="pt-BR" b="0" i="0" dirty="0">
                <a:solidFill>
                  <a:srgbClr val="221C28"/>
                </a:solidFill>
                <a:effectLst/>
                <a:latin typeface="Inter"/>
              </a:rPr>
              <a:t>tilizada para informar e inspirar decisões de </a:t>
            </a:r>
            <a:r>
              <a:rPr lang="pt-BR" b="0" i="1" dirty="0">
                <a:solidFill>
                  <a:srgbClr val="221C28"/>
                </a:solidFill>
                <a:effectLst/>
                <a:latin typeface="Inter"/>
              </a:rPr>
              <a:t>design</a:t>
            </a:r>
            <a:r>
              <a:rPr lang="pt-BR" b="0" i="0" dirty="0">
                <a:solidFill>
                  <a:srgbClr val="221C28"/>
                </a:solidFill>
                <a:effectLst/>
                <a:latin typeface="Inter"/>
              </a:rPr>
              <a:t>.</a:t>
            </a:r>
          </a:p>
          <a:p>
            <a:pPr lvl="1"/>
            <a:endParaRPr lang="pt-BR" dirty="0">
              <a:solidFill>
                <a:srgbClr val="221C28"/>
              </a:solidFill>
              <a:latin typeface="Inter"/>
            </a:endParaRPr>
          </a:p>
          <a:p>
            <a:r>
              <a:rPr lang="pt-BR" b="0" i="0" dirty="0">
                <a:solidFill>
                  <a:srgbClr val="221C28"/>
                </a:solidFill>
                <a:effectLst/>
                <a:latin typeface="Inter"/>
              </a:rPr>
              <a:t>Cada funcionalidade vira um ou mais </a:t>
            </a:r>
            <a:r>
              <a:rPr lang="pt-BR" b="0" i="1" dirty="0" err="1">
                <a:solidFill>
                  <a:srgbClr val="221C28"/>
                </a:solidFill>
                <a:effectLst/>
                <a:latin typeface="Inter"/>
              </a:rPr>
              <a:t>User</a:t>
            </a:r>
            <a:r>
              <a:rPr lang="pt-BR" b="0" i="1" dirty="0">
                <a:solidFill>
                  <a:srgbClr val="221C28"/>
                </a:solidFill>
                <a:effectLst/>
                <a:latin typeface="Inter"/>
              </a:rPr>
              <a:t> Stories</a:t>
            </a:r>
          </a:p>
        </p:txBody>
      </p:sp>
    </p:spTree>
    <p:extLst>
      <p:ext uri="{BB962C8B-B14F-4D97-AF65-F5344CB8AC3E}">
        <p14:creationId xmlns:p14="http://schemas.microsoft.com/office/powerpoint/2010/main" val="393320769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16C89E-A654-7341-F141-030E9D6AA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Tamanho – </a:t>
            </a:r>
            <a:r>
              <a:rPr lang="pt-BR" i="1" dirty="0" err="1"/>
              <a:t>User</a:t>
            </a:r>
            <a:r>
              <a:rPr lang="pt-BR" i="1" dirty="0"/>
              <a:t> Stories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7712ED-2BBF-D558-46DA-3F134E21EB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Como no Cascata, quebram-se os requisitos em pedaços menores:</a:t>
            </a:r>
          </a:p>
          <a:p>
            <a:pPr lvl="1"/>
            <a:r>
              <a:rPr lang="pt-BR" dirty="0"/>
              <a:t>Temas &gt; Épicos &gt; Estórias</a:t>
            </a:r>
          </a:p>
          <a:p>
            <a:pPr lvl="1"/>
            <a:r>
              <a:rPr lang="pt-BR" dirty="0"/>
              <a:t>Usa </a:t>
            </a:r>
            <a:r>
              <a:rPr lang="pt-BR" dirty="0" err="1"/>
              <a:t>story</a:t>
            </a:r>
            <a:r>
              <a:rPr lang="pt-BR" dirty="0"/>
              <a:t> points no lugar de HH/PM como unidade de medida;</a:t>
            </a:r>
          </a:p>
          <a:p>
            <a:pPr>
              <a:spcBef>
                <a:spcPts val="2400"/>
              </a:spcBef>
            </a:pPr>
            <a:r>
              <a:rPr lang="pt-BR" dirty="0"/>
              <a:t>É formado o </a:t>
            </a:r>
            <a:r>
              <a:rPr lang="pt-BR" b="1" dirty="0"/>
              <a:t>Product Backlog</a:t>
            </a:r>
            <a:r>
              <a:rPr lang="pt-BR" dirty="0"/>
              <a:t>, com ordenação das estórias por prioridade de negócio</a:t>
            </a:r>
          </a:p>
          <a:p>
            <a:pPr lvl="1"/>
            <a:r>
              <a:rPr lang="pt-BR" dirty="0"/>
              <a:t>Reavaliado a cada sprint</a:t>
            </a:r>
          </a:p>
          <a:p>
            <a:pPr lvl="1"/>
            <a:endParaRPr lang="pt-BR" dirty="0"/>
          </a:p>
          <a:p>
            <a:r>
              <a:rPr lang="pt-BR" dirty="0"/>
              <a:t>Talvez </a:t>
            </a:r>
            <a:r>
              <a:rPr lang="pt-BR" b="1" dirty="0">
                <a:solidFill>
                  <a:srgbClr val="FF0000"/>
                </a:solidFill>
              </a:rPr>
              <a:t>nem todo os itens do PB seja estimado</a:t>
            </a:r>
            <a:r>
              <a:rPr lang="pt-BR" dirty="0"/>
              <a:t>;</a:t>
            </a:r>
          </a:p>
        </p:txBody>
      </p:sp>
      <p:pic>
        <p:nvPicPr>
          <p:cNvPr id="13314" name="Picture 2" descr="Quem é Ágil? – rafaelbuzon.com">
            <a:extLst>
              <a:ext uri="{FF2B5EF4-FFF2-40B4-BE49-F238E27FC236}">
                <a16:creationId xmlns:a16="http://schemas.microsoft.com/office/drawing/2014/main" id="{DACFA6F0-D40C-5671-2AB9-6F3492EA06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1586" y="3767752"/>
            <a:ext cx="3708298" cy="3090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7521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72FA44-F34C-1590-2E48-F24C24439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Tamanho – </a:t>
            </a:r>
            <a:r>
              <a:rPr lang="pt-BR" i="1" dirty="0" err="1"/>
              <a:t>User</a:t>
            </a:r>
            <a:r>
              <a:rPr lang="pt-BR" i="1" dirty="0"/>
              <a:t> Stories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989C4A6-2281-3915-C39A-26DC36FB24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99039" cy="4351338"/>
          </a:xfrm>
        </p:spPr>
        <p:txBody>
          <a:bodyPr/>
          <a:lstStyle/>
          <a:p>
            <a:pPr>
              <a:spcBef>
                <a:spcPts val="2400"/>
              </a:spcBef>
            </a:pPr>
            <a:r>
              <a:rPr lang="pt-BR" dirty="0"/>
              <a:t>Filosofia ágil: </a:t>
            </a:r>
            <a:r>
              <a:rPr lang="pt-BR" b="1" dirty="0"/>
              <a:t>aceitar a incerteza e a mudança </a:t>
            </a:r>
            <a:r>
              <a:rPr lang="pt-BR" dirty="0"/>
              <a:t>de requisitos, mesmo em momentos mais tardios do projeto</a:t>
            </a:r>
          </a:p>
          <a:p>
            <a:endParaRPr lang="pt-BR" dirty="0"/>
          </a:p>
        </p:txBody>
      </p:sp>
      <p:pic>
        <p:nvPicPr>
          <p:cNvPr id="17410" name="Picture 2" descr="Understanding the Dynamics: Product Backlog vs Sprint Backlog - Visual  Paradigm Guides">
            <a:extLst>
              <a:ext uri="{FF2B5EF4-FFF2-40B4-BE49-F238E27FC236}">
                <a16:creationId xmlns:a16="http://schemas.microsoft.com/office/drawing/2014/main" id="{153DA950-2467-5876-93F8-20640E65C8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0" t="1993" r="6685" b="2105"/>
          <a:stretch/>
        </p:blipFill>
        <p:spPr bwMode="auto">
          <a:xfrm>
            <a:off x="5624051" y="1690688"/>
            <a:ext cx="5840361" cy="5152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293964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2F3C1E-1C80-C859-9BAC-3ABB05A41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Estimativa com </a:t>
            </a:r>
            <a:r>
              <a:rPr lang="pt-BR" i="1" dirty="0" err="1"/>
              <a:t>User</a:t>
            </a:r>
            <a:r>
              <a:rPr lang="pt-BR" i="1" dirty="0"/>
              <a:t> Stories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6B0B8E-004E-BC3E-ED8E-FB69483A1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4 passos:</a:t>
            </a:r>
          </a:p>
          <a:p>
            <a:pPr lvl="1"/>
            <a:r>
              <a:rPr lang="pt-BR" b="1" dirty="0"/>
              <a:t>Definir estórias de usuário</a:t>
            </a:r>
          </a:p>
          <a:p>
            <a:pPr lvl="2"/>
            <a:r>
              <a:rPr lang="pt-BR" dirty="0"/>
              <a:t>Cada requisito funcional vira um </a:t>
            </a:r>
            <a:r>
              <a:rPr lang="pt-BR" i="1" dirty="0" err="1"/>
              <a:t>User</a:t>
            </a:r>
            <a:r>
              <a:rPr lang="pt-BR" i="1" dirty="0"/>
              <a:t> Story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Estimativa relativa aos pontos de estória (</a:t>
            </a:r>
            <a:r>
              <a:rPr lang="pt-BR" b="1" i="1" dirty="0"/>
              <a:t>Story Points</a:t>
            </a:r>
            <a:r>
              <a:rPr lang="pt-BR" b="1" dirty="0"/>
              <a:t>)</a:t>
            </a:r>
          </a:p>
          <a:p>
            <a:pPr lvl="2"/>
            <a:r>
              <a:rPr lang="pt-BR" dirty="0"/>
              <a:t>Cada </a:t>
            </a:r>
            <a:r>
              <a:rPr lang="pt-BR" i="1" dirty="0" err="1"/>
              <a:t>User</a:t>
            </a:r>
            <a:r>
              <a:rPr lang="pt-BR" i="1" dirty="0"/>
              <a:t> Story </a:t>
            </a:r>
            <a:r>
              <a:rPr lang="pt-BR" dirty="0"/>
              <a:t>gera </a:t>
            </a:r>
            <a:r>
              <a:rPr lang="pt-BR" i="1" dirty="0"/>
              <a:t>Story Points</a:t>
            </a:r>
          </a:p>
          <a:p>
            <a:pPr lvl="2"/>
            <a:r>
              <a:rPr lang="pt-BR" dirty="0"/>
              <a:t>Equipe compara a complexidade de uma </a:t>
            </a:r>
            <a:r>
              <a:rPr lang="pt-BR" i="1" dirty="0"/>
              <a:t>Story </a:t>
            </a:r>
            <a:r>
              <a:rPr lang="pt-BR" dirty="0"/>
              <a:t>com outras já conhecidas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Calibração</a:t>
            </a:r>
          </a:p>
          <a:p>
            <a:pPr lvl="2"/>
            <a:r>
              <a:rPr lang="pt-BR" dirty="0"/>
              <a:t>Após alguns sprint (2-4) mede-se a velocidade média da equipe nos sprints</a:t>
            </a:r>
          </a:p>
          <a:p>
            <a:pPr lvl="2"/>
            <a:r>
              <a:rPr lang="pt-BR" dirty="0"/>
              <a:t>“</a:t>
            </a:r>
            <a:r>
              <a:rPr lang="pt-BR" i="1" dirty="0"/>
              <a:t>Quantos story points por sprint?</a:t>
            </a:r>
            <a:r>
              <a:rPr lang="pt-BR" dirty="0"/>
              <a:t>”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Previsão de prazo e esforço</a:t>
            </a:r>
          </a:p>
          <a:p>
            <a:pPr lvl="2"/>
            <a:r>
              <a:rPr lang="pt-BR" dirty="0"/>
              <a:t>Estima-se para cada item do backlog sua quantidade de </a:t>
            </a:r>
            <a:r>
              <a:rPr lang="pt-BR" i="1" dirty="0"/>
              <a:t>Story Points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37AE8B6-F2F8-7496-6CC7-4223BD7D8F7C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869743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F05901-EFDB-F4DE-2F3C-51A99F8B5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1) Definir estórias de usuários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441BFBFB-98E9-1047-03EF-E0236F16E4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pt-BR" dirty="0"/>
              <a:t>Assim como na EAP, precisamos decompor nossas funcionalidades</a:t>
            </a:r>
          </a:p>
          <a:p>
            <a:pPr lvl="1"/>
            <a:r>
              <a:rPr lang="pt-BR" dirty="0"/>
              <a:t>Temas: grande área de negócio ou do domínio</a:t>
            </a:r>
          </a:p>
          <a:p>
            <a:pPr lvl="1"/>
            <a:r>
              <a:rPr lang="pt-BR" dirty="0"/>
              <a:t>Épicos: funcionalidade ampla</a:t>
            </a:r>
          </a:p>
          <a:p>
            <a:pPr lvl="1"/>
            <a:r>
              <a:rPr lang="pt-BR" i="1" dirty="0" err="1"/>
              <a:t>User</a:t>
            </a:r>
            <a:r>
              <a:rPr lang="pt-BR" i="1" dirty="0"/>
              <a:t> Stories: </a:t>
            </a:r>
            <a:r>
              <a:rPr lang="pt-BR" dirty="0"/>
              <a:t>cada requisito da funcionalidade, para cada papel de usuário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9608C06-661B-E9C4-9939-60EF25572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0546" y="4082745"/>
            <a:ext cx="4515480" cy="1381318"/>
          </a:xfrm>
          <a:prstGeom prst="rect">
            <a:avLst/>
          </a:prstGeom>
        </p:spPr>
      </p:pic>
      <p:pic>
        <p:nvPicPr>
          <p:cNvPr id="7" name="Picture 8" descr="Product backlog structure">
            <a:extLst>
              <a:ext uri="{FF2B5EF4-FFF2-40B4-BE49-F238E27FC236}">
                <a16:creationId xmlns:a16="http://schemas.microsoft.com/office/drawing/2014/main" id="{26A74B6D-D839-44BE-8F77-00EE55DDE8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543" y="4074119"/>
            <a:ext cx="5248913" cy="2237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tângulo 12">
            <a:extLst>
              <a:ext uri="{FF2B5EF4-FFF2-40B4-BE49-F238E27FC236}">
                <a16:creationId xmlns:a16="http://schemas.microsoft.com/office/drawing/2014/main" id="{ABEE7C7E-F566-A01E-0C1F-A2CAFCCF8384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990895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FBDF88-7E63-CF9D-ED67-7CFD6C0C0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1) Definir estórias de usuários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8A34402-8923-4BCE-47A2-67994DDB8CBF}"/>
              </a:ext>
            </a:extLst>
          </p:cNvPr>
          <p:cNvSpPr/>
          <p:nvPr/>
        </p:nvSpPr>
        <p:spPr>
          <a:xfrm>
            <a:off x="1681316" y="1848465"/>
            <a:ext cx="5535562" cy="181896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265113"/>
            <a:r>
              <a:rPr lang="pt-BR" b="1" dirty="0"/>
              <a:t>COMO UM </a:t>
            </a:r>
            <a:r>
              <a:rPr lang="pt-BR" dirty="0"/>
              <a:t>vendedor,</a:t>
            </a:r>
          </a:p>
          <a:p>
            <a:pPr marL="265113">
              <a:spcBef>
                <a:spcPts val="1200"/>
              </a:spcBef>
            </a:pPr>
            <a:r>
              <a:rPr lang="pt-BR" b="1" dirty="0"/>
              <a:t>QUERO</a:t>
            </a:r>
            <a:r>
              <a:rPr lang="pt-BR" dirty="0"/>
              <a:t> ver todos os produtos da loja,</a:t>
            </a:r>
          </a:p>
          <a:p>
            <a:pPr marL="265113">
              <a:spcBef>
                <a:spcPts val="1200"/>
              </a:spcBef>
            </a:pPr>
            <a:r>
              <a:rPr lang="pt-BR" b="1" dirty="0"/>
              <a:t>PARA QUE </a:t>
            </a:r>
            <a:r>
              <a:rPr lang="pt-BR" dirty="0"/>
              <a:t>eu possa ver o estoque e os preços dos produtos;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716785B-29C8-1378-5920-2704FB0A6E32}"/>
              </a:ext>
            </a:extLst>
          </p:cNvPr>
          <p:cNvSpPr/>
          <p:nvPr/>
        </p:nvSpPr>
        <p:spPr>
          <a:xfrm>
            <a:off x="4975122" y="3232919"/>
            <a:ext cx="5535562" cy="181896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265113"/>
            <a:r>
              <a:rPr lang="pt-BR" b="1" dirty="0"/>
              <a:t>COMO UM </a:t>
            </a:r>
            <a:r>
              <a:rPr lang="pt-BR" dirty="0"/>
              <a:t>cliente,</a:t>
            </a:r>
          </a:p>
          <a:p>
            <a:pPr marL="265113">
              <a:spcBef>
                <a:spcPts val="1200"/>
              </a:spcBef>
            </a:pPr>
            <a:r>
              <a:rPr lang="pt-BR" b="1" dirty="0"/>
              <a:t>QUERO</a:t>
            </a:r>
            <a:r>
              <a:rPr lang="pt-BR" dirty="0"/>
              <a:t> ver todos os filmes disponíveis,</a:t>
            </a:r>
          </a:p>
          <a:p>
            <a:pPr marL="265113">
              <a:spcBef>
                <a:spcPts val="1200"/>
              </a:spcBef>
            </a:pPr>
            <a:r>
              <a:rPr lang="pt-BR" b="1" dirty="0"/>
              <a:t>PARA QUE </a:t>
            </a:r>
            <a:r>
              <a:rPr lang="pt-BR" dirty="0"/>
              <a:t>eu possa escolher qual assistir;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8E33F364-8784-AA75-EBD3-40B0FFCF643E}"/>
              </a:ext>
            </a:extLst>
          </p:cNvPr>
          <p:cNvSpPr/>
          <p:nvPr/>
        </p:nvSpPr>
        <p:spPr>
          <a:xfrm>
            <a:off x="1022554" y="4775150"/>
            <a:ext cx="5535562" cy="181896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265113"/>
            <a:r>
              <a:rPr lang="pt-BR" b="1" dirty="0"/>
              <a:t>COMO UM </a:t>
            </a:r>
            <a:r>
              <a:rPr lang="pt-BR" dirty="0"/>
              <a:t>professor,</a:t>
            </a:r>
          </a:p>
          <a:p>
            <a:pPr marL="265113">
              <a:spcBef>
                <a:spcPts val="1200"/>
              </a:spcBef>
            </a:pPr>
            <a:r>
              <a:rPr lang="pt-BR" b="1" dirty="0"/>
              <a:t>QUERO</a:t>
            </a:r>
            <a:r>
              <a:rPr lang="pt-BR" dirty="0"/>
              <a:t> ver todos os alunos matriculados na disciplina,</a:t>
            </a:r>
          </a:p>
          <a:p>
            <a:pPr marL="265113">
              <a:spcBef>
                <a:spcPts val="1200"/>
              </a:spcBef>
            </a:pPr>
            <a:r>
              <a:rPr lang="pt-BR" b="1" dirty="0"/>
              <a:t>PARA QUE </a:t>
            </a:r>
            <a:r>
              <a:rPr lang="pt-BR" dirty="0"/>
              <a:t>eu possa contabilizar presença;</a:t>
            </a:r>
          </a:p>
        </p:txBody>
      </p:sp>
    </p:spTree>
    <p:extLst>
      <p:ext uri="{BB962C8B-B14F-4D97-AF65-F5344CB8AC3E}">
        <p14:creationId xmlns:p14="http://schemas.microsoft.com/office/powerpoint/2010/main" val="326358218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7E53BE-E6D4-BC7B-D910-9DD6F35AA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– Cadastro de clientes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1B10972-7411-C17B-212F-2298BA4F18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10484983" cy="3988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1096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2968B-4D92-A292-ADDA-6E9A5C8DA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E806F9-4A00-E0B4-B528-16F247B58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– Cadastro de clientes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0F94E45-DC11-FA31-FF97-1C4CC56CA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4"/>
            <a:ext cx="10433656" cy="3412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26093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8E8C4-9AD7-C1AA-722D-F73AF9954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B8E5D8-00B9-9B5C-01F7-A2D860E6E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– Cadastro de clientes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F382FD79-3F63-1109-3E88-ABED6DEE8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4"/>
            <a:ext cx="10321412" cy="2520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00135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F656CF-AF54-9820-07C9-F7AF6AD32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2) Estimativas dos S</a:t>
            </a:r>
            <a:r>
              <a:rPr lang="pt-BR" i="1" dirty="0"/>
              <a:t>tory Points</a:t>
            </a:r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9CDE324F-28E3-A6F2-6E97-A26C25F8404A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Estudos* do final da década de 2000 demonstraram que ~68% dos projetos falharam em relação a suas estimativas de esforço iniciais;</a:t>
            </a:r>
          </a:p>
          <a:p>
            <a:r>
              <a:rPr lang="pt-BR" b="1" dirty="0"/>
              <a:t>Conclusão</a:t>
            </a:r>
            <a:r>
              <a:rPr lang="pt-BR" dirty="0"/>
              <a:t>: Humanos </a:t>
            </a:r>
            <a:r>
              <a:rPr lang="pt-BR" dirty="0">
                <a:solidFill>
                  <a:srgbClr val="FF0000"/>
                </a:solidFill>
              </a:rPr>
              <a:t>não são bons em estimar horas</a:t>
            </a:r>
          </a:p>
          <a:p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DF1BE6E-F7BD-05A6-5E86-D439445D90F9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49A5448-33FD-4403-CD98-7FE84B0147C0}"/>
              </a:ext>
            </a:extLst>
          </p:cNvPr>
          <p:cNvSpPr txBox="1"/>
          <p:nvPr/>
        </p:nvSpPr>
        <p:spPr>
          <a:xfrm>
            <a:off x="968477" y="6334780"/>
            <a:ext cx="102550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*: “Business Analysis Benchmark: The Impact of Business Requirements on the Success of Technology Projects”, “Common Project Management Metrics Doom IT Departments to Failure”, “Chaos Report from STANDISH Group”</a:t>
            </a:r>
            <a:endParaRPr lang="pt-BR" sz="1400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08B729FA-B463-70CA-348A-0DE8DE7AFF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5199" y="3342570"/>
            <a:ext cx="4041599" cy="261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518770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B285E-52EA-B730-1D5F-D95AE2220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5BB1AD-3731-4F77-00CA-650FE2A6D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2) Estimativas dos S</a:t>
            </a:r>
            <a:r>
              <a:rPr lang="pt-BR" i="1" dirty="0"/>
              <a:t>tory Points</a:t>
            </a:r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3D031CE2-C854-D17B-D774-DC4DB7FB31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Pontos de estória (</a:t>
            </a:r>
            <a:r>
              <a:rPr lang="pt-BR" i="1" dirty="0"/>
              <a:t>story points</a:t>
            </a:r>
            <a:r>
              <a:rPr lang="pt-BR" dirty="0"/>
              <a:t>)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Nascido na comunidade XP;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Medida de esforço relativa à equipe de desenvolvimento;</a:t>
            </a:r>
          </a:p>
          <a:p>
            <a:pPr lvl="2">
              <a:spcBef>
                <a:spcPts val="600"/>
              </a:spcBef>
            </a:pPr>
            <a:r>
              <a:rPr lang="pt-BR" dirty="0"/>
              <a:t>Mais flexível, ao </a:t>
            </a:r>
            <a:r>
              <a:rPr lang="pt-BR" b="1" dirty="0"/>
              <a:t>não fornecer relação direta entre HH e pontos</a:t>
            </a:r>
            <a:r>
              <a:rPr lang="pt-BR" dirty="0"/>
              <a:t>;</a:t>
            </a:r>
          </a:p>
          <a:p>
            <a:pPr lvl="2">
              <a:spcBef>
                <a:spcPts val="1200"/>
              </a:spcBef>
            </a:pPr>
            <a:r>
              <a:rPr lang="pt-BR" dirty="0"/>
              <a:t>Conforme a complexidade aumenta, aumenta também a margem;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Unidade de </a:t>
            </a:r>
            <a:r>
              <a:rPr lang="pt-BR" b="1" dirty="0"/>
              <a:t>medida de esforço </a:t>
            </a:r>
            <a:r>
              <a:rPr lang="pt-BR" dirty="0"/>
              <a:t>de software para que a equipe tenha consenso sobre o escopo</a:t>
            </a:r>
          </a:p>
          <a:p>
            <a:pPr lvl="2"/>
            <a:r>
              <a:rPr lang="pt-BR" dirty="0"/>
              <a:t>Como metro (distância), litro (volume), hora (tempo) etc.</a:t>
            </a:r>
          </a:p>
        </p:txBody>
      </p:sp>
      <p:sp>
        <p:nvSpPr>
          <p:cNvPr id="3" name="Balão de Fala: Retângulo com Cantos Arredondados 2">
            <a:extLst>
              <a:ext uri="{FF2B5EF4-FFF2-40B4-BE49-F238E27FC236}">
                <a16:creationId xmlns:a16="http://schemas.microsoft.com/office/drawing/2014/main" id="{D3A2E935-893B-B739-9223-283A9642961F}"/>
              </a:ext>
            </a:extLst>
          </p:cNvPr>
          <p:cNvSpPr/>
          <p:nvPr/>
        </p:nvSpPr>
        <p:spPr>
          <a:xfrm>
            <a:off x="9507793" y="2450049"/>
            <a:ext cx="2379408" cy="796413"/>
          </a:xfrm>
          <a:prstGeom prst="wedgeRoundRectCallout">
            <a:avLst>
              <a:gd name="adj1" fmla="val -85852"/>
              <a:gd name="adj2" fmla="val 89109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Técnicas de estimativas de esforço relativas</a:t>
            </a:r>
          </a:p>
        </p:txBody>
      </p:sp>
      <p:sp>
        <p:nvSpPr>
          <p:cNvPr id="4" name="Balão de Fala: Retângulo com Cantos Arredondados 3">
            <a:extLst>
              <a:ext uri="{FF2B5EF4-FFF2-40B4-BE49-F238E27FC236}">
                <a16:creationId xmlns:a16="http://schemas.microsoft.com/office/drawing/2014/main" id="{ADBD9222-F3CB-1387-B06C-D494FE63953F}"/>
              </a:ext>
            </a:extLst>
          </p:cNvPr>
          <p:cNvSpPr/>
          <p:nvPr/>
        </p:nvSpPr>
        <p:spPr>
          <a:xfrm>
            <a:off x="9404555" y="3381399"/>
            <a:ext cx="2585884" cy="840657"/>
          </a:xfrm>
          <a:prstGeom prst="wedgeRoundRectCallout">
            <a:avLst>
              <a:gd name="adj1" fmla="val -75262"/>
              <a:gd name="adj2" fmla="val 23752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Subestimação de tarefas longas/complexas;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3DE92F4-F3C2-E004-023A-42A10CFD90B7}"/>
              </a:ext>
            </a:extLst>
          </p:cNvPr>
          <p:cNvSpPr txBox="1"/>
          <p:nvPr/>
        </p:nvSpPr>
        <p:spPr>
          <a:xfrm>
            <a:off x="968477" y="6334780"/>
            <a:ext cx="102550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*: “Business Analysis Benchmark: The Impact of Business Requirements on the Success of Technology Projects”, “Common Project Management Metrics Doom IT Departments to Failure”, “Chaos Report from STANDISH Group”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6948290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FAB1FB-5EC3-120D-7E4E-9424B4E70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2) Estimativas dos </a:t>
            </a:r>
            <a:r>
              <a:rPr lang="pt-BR" i="1" dirty="0"/>
              <a:t>Story Points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3A0D5D-C0E0-CD06-8CB2-4C9A99A17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Para cada </a:t>
            </a:r>
            <a:r>
              <a:rPr lang="pt-BR" dirty="0" err="1"/>
              <a:t>User</a:t>
            </a:r>
            <a:r>
              <a:rPr lang="pt-BR" dirty="0"/>
              <a:t> Story mapeada </a:t>
            </a:r>
            <a:r>
              <a:rPr lang="pt-BR" dirty="0">
                <a:sym typeface="Wingdings" panose="05000000000000000000" pitchFamily="2" charset="2"/>
              </a:rPr>
              <a:t> Mapear os Story Points</a:t>
            </a:r>
            <a:r>
              <a:rPr lang="pt-BR" dirty="0"/>
              <a:t>: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Não se estima diretamente cada </a:t>
            </a:r>
            <a:r>
              <a:rPr lang="pt-BR" b="1" dirty="0" err="1"/>
              <a:t>User</a:t>
            </a:r>
            <a:r>
              <a:rPr lang="pt-BR" b="1" dirty="0"/>
              <a:t> Story </a:t>
            </a:r>
            <a:r>
              <a:rPr lang="pt-BR" dirty="0"/>
              <a:t>em dias ou horas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Equipe compara a complexidade de </a:t>
            </a:r>
            <a:r>
              <a:rPr lang="pt-BR" b="1" dirty="0"/>
              <a:t>cada história </a:t>
            </a:r>
            <a:r>
              <a:rPr lang="pt-BR" dirty="0"/>
              <a:t>com outras já conhecidas 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Exemplo:</a:t>
            </a:r>
          </a:p>
          <a:p>
            <a:pPr lvl="2">
              <a:spcBef>
                <a:spcPts val="1200"/>
              </a:spcBef>
            </a:pPr>
            <a:r>
              <a:rPr lang="pt-BR" dirty="0"/>
              <a:t>Estórias </a:t>
            </a:r>
            <a:r>
              <a:rPr lang="pt-BR" b="1" dirty="0"/>
              <a:t>simples</a:t>
            </a:r>
            <a:r>
              <a:rPr lang="pt-BR" dirty="0"/>
              <a:t>: 2 pontos</a:t>
            </a:r>
          </a:p>
          <a:p>
            <a:pPr lvl="2">
              <a:spcBef>
                <a:spcPts val="1200"/>
              </a:spcBef>
            </a:pPr>
            <a:r>
              <a:rPr lang="pt-BR" dirty="0"/>
              <a:t>Estórias </a:t>
            </a:r>
            <a:r>
              <a:rPr lang="pt-BR" b="1" dirty="0"/>
              <a:t>médias</a:t>
            </a:r>
            <a:r>
              <a:rPr lang="pt-BR" dirty="0"/>
              <a:t>: 5 pontos</a:t>
            </a:r>
          </a:p>
          <a:p>
            <a:pPr lvl="2">
              <a:spcBef>
                <a:spcPts val="1200"/>
              </a:spcBef>
            </a:pPr>
            <a:r>
              <a:rPr lang="pt-BR" dirty="0"/>
              <a:t>Estórias </a:t>
            </a:r>
            <a:r>
              <a:rPr lang="pt-BR" b="1" dirty="0"/>
              <a:t>complexas</a:t>
            </a:r>
            <a:r>
              <a:rPr lang="pt-BR" dirty="0"/>
              <a:t>: 13 pontos</a:t>
            </a:r>
          </a:p>
          <a:p>
            <a:pPr lvl="2">
              <a:spcBef>
                <a:spcPts val="1200"/>
              </a:spcBef>
            </a:pPr>
            <a:endParaRPr lang="pt-BR" dirty="0"/>
          </a:p>
          <a:p>
            <a:pPr lvl="2">
              <a:spcBef>
                <a:spcPts val="1200"/>
              </a:spcBef>
            </a:pPr>
            <a:r>
              <a:rPr lang="pt-BR" dirty="0"/>
              <a:t>Cada equipe define sua técnica de medida relativa (Fibonacci é a mais comum) por meio do </a:t>
            </a:r>
            <a:r>
              <a:rPr lang="pt-BR" i="1" dirty="0"/>
              <a:t>Planning Poker</a:t>
            </a:r>
          </a:p>
        </p:txBody>
      </p:sp>
    </p:spTree>
    <p:extLst>
      <p:ext uri="{BB962C8B-B14F-4D97-AF65-F5344CB8AC3E}">
        <p14:creationId xmlns:p14="http://schemas.microsoft.com/office/powerpoint/2010/main" val="207464677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BAC6FE-8E82-A333-B003-7CF82162C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2) Estimativas dos </a:t>
            </a:r>
            <a:r>
              <a:rPr lang="pt-BR" i="1" dirty="0"/>
              <a:t>Story Points</a:t>
            </a:r>
            <a:endParaRPr lang="pt-BR" dirty="0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4C70041F-09B0-2DA3-9E97-C7DDA0E67158}"/>
              </a:ext>
            </a:extLst>
          </p:cNvPr>
          <p:cNvSpPr/>
          <p:nvPr/>
        </p:nvSpPr>
        <p:spPr>
          <a:xfrm>
            <a:off x="1433690" y="2233833"/>
            <a:ext cx="9516532" cy="3534922"/>
          </a:xfrm>
          <a:prstGeom prst="roundRect">
            <a:avLst>
              <a:gd name="adj" fmla="val 10862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800" dirty="0"/>
              <a:t>O time não precisa acertar “quanto tempo vai levar”. </a:t>
            </a:r>
          </a:p>
          <a:p>
            <a:pPr algn="ctr"/>
            <a:endParaRPr lang="pt-BR" sz="2800" dirty="0"/>
          </a:p>
          <a:p>
            <a:pPr algn="ctr"/>
            <a:r>
              <a:rPr lang="pt-BR" sz="2800" dirty="0"/>
              <a:t>Ele só precisa ser </a:t>
            </a:r>
            <a:r>
              <a:rPr lang="pt-BR" sz="2800" b="1" dirty="0"/>
              <a:t>consistente</a:t>
            </a:r>
            <a:r>
              <a:rPr lang="pt-BR" sz="2800" dirty="0"/>
              <a:t> ao comparar histórias.</a:t>
            </a:r>
            <a:br>
              <a:rPr lang="pt-BR" sz="2800" dirty="0"/>
            </a:br>
            <a:endParaRPr lang="pt-BR" sz="2800" dirty="0"/>
          </a:p>
          <a:p>
            <a:pPr algn="ctr"/>
            <a:r>
              <a:rPr lang="pt-BR" sz="2800" dirty="0"/>
              <a:t>Com o tempo, a </a:t>
            </a:r>
            <a:r>
              <a:rPr lang="pt-BR" sz="2800" i="1" dirty="0"/>
              <a:t>velocidade do time</a:t>
            </a:r>
            <a:r>
              <a:rPr lang="pt-BR" sz="2800" dirty="0"/>
              <a:t> (pontos entregues por sprint) conecta os </a:t>
            </a:r>
            <a:r>
              <a:rPr lang="pt-BR" sz="2800" b="1" dirty="0"/>
              <a:t>story points → cronograma real</a:t>
            </a:r>
            <a:r>
              <a:rPr lang="pt-BR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1681790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F656CF-AF54-9820-07C9-F7AF6AD32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2) Estimativas dos </a:t>
            </a:r>
            <a:r>
              <a:rPr lang="pt-BR" i="1" dirty="0"/>
              <a:t>Story Points</a:t>
            </a:r>
            <a:endParaRPr lang="pt-BR" dirty="0"/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9CDE324F-28E3-A6F2-6E97-A26C25F8404A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Pontos de estória (</a:t>
            </a:r>
            <a:r>
              <a:rPr lang="pt-BR" i="1" dirty="0" err="1"/>
              <a:t>story</a:t>
            </a:r>
            <a:r>
              <a:rPr lang="pt-BR" i="1" dirty="0"/>
              <a:t> points</a:t>
            </a:r>
            <a:r>
              <a:rPr lang="pt-BR" dirty="0"/>
              <a:t>)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Estimada pela </a:t>
            </a:r>
            <a:r>
              <a:rPr lang="pt-BR" b="1" dirty="0"/>
              <a:t>própria equipe </a:t>
            </a:r>
            <a:r>
              <a:rPr lang="pt-BR" dirty="0"/>
              <a:t>a partir de </a:t>
            </a:r>
            <a:r>
              <a:rPr lang="pt-BR" b="1" dirty="0">
                <a:solidFill>
                  <a:srgbClr val="FF0000"/>
                </a:solidFill>
              </a:rPr>
              <a:t>uma referência</a:t>
            </a:r>
            <a:r>
              <a:rPr lang="pt-BR" dirty="0"/>
              <a:t>;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Relativas e abstratas</a:t>
            </a:r>
          </a:p>
          <a:p>
            <a:pPr lvl="2">
              <a:spcBef>
                <a:spcPts val="600"/>
              </a:spcBef>
            </a:pPr>
            <a:r>
              <a:rPr lang="pt-BR" dirty="0"/>
              <a:t>Baseadas no </a:t>
            </a:r>
            <a:r>
              <a:rPr lang="pt-BR" b="1" dirty="0"/>
              <a:t>entendimento coletivo da equipe </a:t>
            </a:r>
            <a:r>
              <a:rPr lang="pt-BR" dirty="0"/>
              <a:t>sobre o que é determinada estória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Flexibilidade</a:t>
            </a:r>
          </a:p>
          <a:p>
            <a:pPr lvl="2">
              <a:spcBef>
                <a:spcPts val="600"/>
              </a:spcBef>
            </a:pPr>
            <a:r>
              <a:rPr lang="pt-BR" dirty="0"/>
              <a:t>Estimar o esforço necessário sem compromisso com quantidade especifica de tempo;</a:t>
            </a:r>
          </a:p>
          <a:p>
            <a:pPr lvl="2">
              <a:spcBef>
                <a:spcPts val="600"/>
              </a:spcBef>
            </a:pPr>
            <a:r>
              <a:rPr lang="pt-BR" dirty="0"/>
              <a:t>Torna mudanças mais naturais em termos de monitoramento/controle;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Usado para planejar a iteração (sprint);</a:t>
            </a:r>
          </a:p>
          <a:p>
            <a:pPr lvl="2"/>
            <a:r>
              <a:rPr lang="pt-BR" dirty="0"/>
              <a:t>Ou fazer projeção do que entregar em release ou data</a:t>
            </a:r>
          </a:p>
          <a:p>
            <a:pPr lvl="2"/>
            <a:r>
              <a:rPr lang="pt-BR" dirty="0"/>
              <a:t>Ou uma certa quantidade de demanda (como um Product Backlog já mapeado)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89CE42B-EAC2-DCCE-319D-814C6D53B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7333" y="2685946"/>
            <a:ext cx="4229690" cy="743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357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E6BA86-85C6-8B8B-B64C-CEACAC818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Critérios para os Story Points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33F6E4A-7213-904D-2959-267E6732C0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106265" cy="4351338"/>
          </a:xfrm>
        </p:spPr>
        <p:txBody>
          <a:bodyPr>
            <a:normAutofit fontScale="92500" lnSpcReduction="20000"/>
          </a:bodyPr>
          <a:lstStyle/>
          <a:p>
            <a:r>
              <a:rPr lang="pt-BR" dirty="0"/>
              <a:t>Leva-se em consideração o </a:t>
            </a:r>
            <a:r>
              <a:rPr lang="pt-BR" b="1" dirty="0"/>
              <a:t>entendimento</a:t>
            </a:r>
            <a:r>
              <a:rPr lang="pt-BR" dirty="0"/>
              <a:t> do time a respeito do </a:t>
            </a:r>
            <a:r>
              <a:rPr lang="pt-BR" b="1" dirty="0"/>
              <a:t>trabalho</a:t>
            </a:r>
            <a:r>
              <a:rPr lang="pt-BR" dirty="0"/>
              <a:t> a ser executado, envolvendo o seu </a:t>
            </a:r>
            <a:r>
              <a:rPr lang="pt-BR" b="1" dirty="0"/>
              <a:t>esforço</a:t>
            </a:r>
            <a:r>
              <a:rPr lang="pt-BR" dirty="0"/>
              <a:t>, sua </a:t>
            </a:r>
            <a:r>
              <a:rPr lang="pt-BR" b="1" dirty="0"/>
              <a:t>complexidade</a:t>
            </a:r>
            <a:r>
              <a:rPr lang="pt-BR" dirty="0"/>
              <a:t> e suas </a:t>
            </a:r>
            <a:r>
              <a:rPr lang="pt-BR" b="1" dirty="0"/>
              <a:t>incertezas</a:t>
            </a:r>
            <a:r>
              <a:rPr lang="pt-BR" dirty="0"/>
              <a:t>;</a:t>
            </a:r>
          </a:p>
          <a:p>
            <a:pPr lvl="1">
              <a:spcBef>
                <a:spcPts val="1800"/>
              </a:spcBef>
            </a:pPr>
            <a:r>
              <a:rPr lang="pt-BR" i="1" u="sng" dirty="0"/>
              <a:t>Esforço</a:t>
            </a:r>
            <a:r>
              <a:rPr lang="pt-BR" dirty="0"/>
              <a:t>: </a:t>
            </a:r>
            <a:r>
              <a:rPr lang="pt-BR" b="0" i="0" dirty="0">
                <a:solidFill>
                  <a:srgbClr val="202124"/>
                </a:solidFill>
                <a:effectLst/>
                <a:latin typeface="Google Sans"/>
              </a:rPr>
              <a:t>volume de tarefas para concluir;</a:t>
            </a:r>
          </a:p>
          <a:p>
            <a:pPr lvl="1">
              <a:spcBef>
                <a:spcPts val="1800"/>
              </a:spcBef>
            </a:pPr>
            <a:r>
              <a:rPr lang="pt-BR" i="1" u="sng" dirty="0"/>
              <a:t>Complexidade</a:t>
            </a:r>
            <a:r>
              <a:rPr lang="pt-BR" dirty="0"/>
              <a:t>: </a:t>
            </a:r>
            <a:r>
              <a:rPr lang="pt-BR" b="0" i="0" dirty="0">
                <a:solidFill>
                  <a:srgbClr val="202124"/>
                </a:solidFill>
                <a:effectLst/>
                <a:latin typeface="Google Sans"/>
              </a:rPr>
              <a:t>o quanto difícil é realizar (algoritmo, dependências);</a:t>
            </a:r>
            <a:endParaRPr lang="pt-BR" dirty="0"/>
          </a:p>
          <a:p>
            <a:pPr lvl="1">
              <a:spcBef>
                <a:spcPts val="1800"/>
              </a:spcBef>
            </a:pPr>
            <a:r>
              <a:rPr lang="pt-BR" i="1" u="sng" dirty="0"/>
              <a:t>Riscos</a:t>
            </a:r>
            <a:r>
              <a:rPr lang="pt-BR" dirty="0"/>
              <a:t>: </a:t>
            </a:r>
            <a:r>
              <a:rPr lang="pt-BR" b="0" i="0" dirty="0">
                <a:solidFill>
                  <a:srgbClr val="202124"/>
                </a:solidFill>
                <a:effectLst/>
                <a:latin typeface="Google Sans"/>
              </a:rPr>
              <a:t>incertezas que envolvem o que será feito (tecnologia, método, conhecimento de domínio);</a:t>
            </a:r>
            <a:endParaRPr lang="pt-BR" dirty="0"/>
          </a:p>
          <a:p>
            <a:pPr>
              <a:spcBef>
                <a:spcPts val="2400"/>
              </a:spcBef>
            </a:pPr>
            <a:endParaRPr lang="pt-BR" dirty="0"/>
          </a:p>
          <a:p>
            <a:pPr>
              <a:spcBef>
                <a:spcPts val="2400"/>
              </a:spcBef>
            </a:pPr>
            <a:r>
              <a:rPr lang="pt-BR" dirty="0"/>
              <a:t>É </a:t>
            </a:r>
            <a:r>
              <a:rPr lang="pt-BR" b="1" dirty="0"/>
              <a:t>relativo</a:t>
            </a:r>
            <a:r>
              <a:rPr lang="pt-BR" dirty="0"/>
              <a:t> e </a:t>
            </a:r>
            <a:r>
              <a:rPr lang="pt-BR" b="1" dirty="0"/>
              <a:t>comparativo</a:t>
            </a:r>
            <a:r>
              <a:rPr lang="pt-BR" dirty="0"/>
              <a:t> </a:t>
            </a:r>
            <a:r>
              <a:rPr lang="pt-BR" u="sng" dirty="0"/>
              <a:t>dentro da equipe</a:t>
            </a:r>
          </a:p>
        </p:txBody>
      </p:sp>
      <p:pic>
        <p:nvPicPr>
          <p:cNvPr id="5126" name="Picture 6" descr="Quadro 03-Complexidade e incerteza relacionadas ao gerenciamento de... |  Download Scientific Diagram">
            <a:extLst>
              <a:ext uri="{FF2B5EF4-FFF2-40B4-BE49-F238E27FC236}">
                <a16:creationId xmlns:a16="http://schemas.microsoft.com/office/drawing/2014/main" id="{B9AE25B1-C568-2D47-CC7C-6121BFED9B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3234" y="2264647"/>
            <a:ext cx="3765063" cy="3772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20388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5461F0-318D-7FDA-A8E8-A4896CBAC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Estimativas ágeis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7FB3BA-37E1-61E8-CEFC-BD976D82E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 ponto de estória é o esforço de desenvolvimento de uma pessoa durante um dia ideal de trabalho</a:t>
            </a:r>
          </a:p>
          <a:p>
            <a:pPr lvl="1"/>
            <a:r>
              <a:rPr lang="pt-BR" dirty="0"/>
              <a:t>Pessoa dedicada à história, trabalhando de </a:t>
            </a:r>
            <a:r>
              <a:rPr lang="pt-BR" b="1" dirty="0"/>
              <a:t>4 a 6 horas</a:t>
            </a:r>
            <a:r>
              <a:rPr lang="pt-BR" dirty="0"/>
              <a:t>;</a:t>
            </a:r>
          </a:p>
          <a:p>
            <a:pPr lvl="1"/>
            <a:endParaRPr lang="pt-BR" dirty="0"/>
          </a:p>
          <a:p>
            <a:r>
              <a:rPr lang="pt-BR" dirty="0"/>
              <a:t>Separa-se lista de estórias por nível de dificuldade e define-se o esforço de </a:t>
            </a:r>
            <a:r>
              <a:rPr lang="pt-BR" b="1" dirty="0"/>
              <a:t>maneira relativa</a:t>
            </a:r>
            <a:endParaRPr lang="pt-BR" dirty="0"/>
          </a:p>
          <a:p>
            <a:pPr lvl="1"/>
            <a:r>
              <a:rPr lang="pt-BR" dirty="0"/>
              <a:t>É mais natural fazer medidas relativas do que absoluta;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261532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5461F0-318D-7FDA-A8E8-A4896CBAC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Estimativas relativas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7FB3BA-37E1-61E8-CEFC-BD976D82E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967442"/>
          </a:xfrm>
        </p:spPr>
        <p:txBody>
          <a:bodyPr>
            <a:normAutofit fontScale="92500" lnSpcReduction="20000"/>
          </a:bodyPr>
          <a:lstStyle/>
          <a:p>
            <a:r>
              <a:rPr lang="pt-BR" dirty="0"/>
              <a:t>Como ferramentas para a medida </a:t>
            </a:r>
            <a:r>
              <a:rPr lang="pt-BR" b="1" dirty="0">
                <a:solidFill>
                  <a:srgbClr val="FF0000"/>
                </a:solidFill>
              </a:rPr>
              <a:t>relativa </a:t>
            </a:r>
            <a:r>
              <a:rPr lang="pt-BR" dirty="0"/>
              <a:t>pode-se usar:</a:t>
            </a:r>
          </a:p>
          <a:p>
            <a:pPr lvl="1"/>
            <a:r>
              <a:rPr lang="pt-BR" dirty="0"/>
              <a:t>Sequência de Fibonacci: 1, 2, 3, 5, 8, 13...</a:t>
            </a:r>
          </a:p>
          <a:p>
            <a:pPr lvl="1"/>
            <a:r>
              <a:rPr lang="pt-BR" dirty="0"/>
              <a:t>Tamanhos da camisetas: XS, S, M, L, XL, XXL, XXXL</a:t>
            </a:r>
          </a:p>
          <a:p>
            <a:pPr lvl="1"/>
            <a:r>
              <a:rPr lang="pt-BR" dirty="0"/>
              <a:t>Sequência linear: 1, 2, 3, 4, 5...</a:t>
            </a:r>
          </a:p>
          <a:p>
            <a:pPr lvl="1"/>
            <a:r>
              <a:rPr lang="pt-BR" dirty="0"/>
              <a:t>Progressão geométrica: 1, 2, 4, 8, 16...7</a:t>
            </a:r>
          </a:p>
          <a:p>
            <a:pPr lvl="1"/>
            <a:r>
              <a:rPr lang="pt-BR" dirty="0"/>
              <a:t>Animais: abelha, hamster, coelho, gato...</a:t>
            </a:r>
          </a:p>
        </p:txBody>
      </p:sp>
      <p:pic>
        <p:nvPicPr>
          <p:cNvPr id="2052" name="Picture 4" descr="T-shirt catalogs as a learning system for estimations | by Nuno Santos |  Serious Scrum | Medium">
            <a:extLst>
              <a:ext uri="{FF2B5EF4-FFF2-40B4-BE49-F238E27FC236}">
                <a16:creationId xmlns:a16="http://schemas.microsoft.com/office/drawing/2014/main" id="{D0ACA4F1-5742-E17C-B1E5-E8393B8D8F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58087"/>
            <a:ext cx="5862846" cy="219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No alt text provided for this image">
            <a:extLst>
              <a:ext uri="{FF2B5EF4-FFF2-40B4-BE49-F238E27FC236}">
                <a16:creationId xmlns:a16="http://schemas.microsoft.com/office/drawing/2014/main" id="{7B04A803-0146-0477-0919-A7EA0AC856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9064" y="4969630"/>
            <a:ext cx="5921484" cy="1305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Story Points Estimation: From Theory to Practice | Lemberg Solutions">
            <a:extLst>
              <a:ext uri="{FF2B5EF4-FFF2-40B4-BE49-F238E27FC236}">
                <a16:creationId xmlns:a16="http://schemas.microsoft.com/office/drawing/2014/main" id="{DD6562DF-6F01-0A20-6D25-A5C85C0AF1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211" y="3895204"/>
            <a:ext cx="9207269" cy="2665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B7F8A1B9-14DA-C9D3-0CAC-377C121D92E0}"/>
              </a:ext>
            </a:extLst>
          </p:cNvPr>
          <p:cNvSpPr txBox="1"/>
          <p:nvPr/>
        </p:nvSpPr>
        <p:spPr>
          <a:xfrm>
            <a:off x="7721600" y="2869737"/>
            <a:ext cx="3953455" cy="92333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endParaRPr lang="pt-BR" dirty="0"/>
          </a:p>
          <a:p>
            <a:r>
              <a:rPr lang="pt-BR" dirty="0"/>
              <a:t>O importante é ter ordem de grandeza!!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73508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F656CF-AF54-9820-07C9-F7AF6AD32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Estimativas ágeis</a:t>
            </a:r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9CDE324F-28E3-A6F2-6E97-A26C25F8404A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Pontos de estória (</a:t>
            </a:r>
            <a:r>
              <a:rPr lang="pt-BR" i="1" dirty="0" err="1"/>
              <a:t>story</a:t>
            </a:r>
            <a:r>
              <a:rPr lang="pt-BR" i="1" dirty="0"/>
              <a:t> points</a:t>
            </a:r>
            <a:r>
              <a:rPr lang="pt-BR" dirty="0"/>
              <a:t>)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Unidade de medida única e exclusiva do time que a estima!</a:t>
            </a:r>
          </a:p>
          <a:p>
            <a:pPr lvl="2"/>
            <a:r>
              <a:rPr lang="pt-BR" dirty="0"/>
              <a:t>Não pode ser usado como comparação entre times!</a:t>
            </a:r>
          </a:p>
          <a:p>
            <a:pPr lvl="2"/>
            <a:r>
              <a:rPr lang="pt-BR" dirty="0"/>
              <a:t>Não deve ser usado como forma de produtividade!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Estimativas grosseiras e não exatas</a:t>
            </a:r>
          </a:p>
          <a:p>
            <a:pPr lvl="2"/>
            <a:r>
              <a:rPr lang="pt-BR" dirty="0"/>
              <a:t>Ideia de </a:t>
            </a:r>
            <a:r>
              <a:rPr lang="pt-BR" i="1" dirty="0"/>
              <a:t>range</a:t>
            </a:r>
            <a:r>
              <a:rPr lang="pt-BR" dirty="0"/>
              <a:t>, análise subjetiva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Alternativa às horas (derivadas de outras engenharias)</a:t>
            </a:r>
          </a:p>
          <a:p>
            <a:pPr lvl="2"/>
            <a:r>
              <a:rPr lang="pt-BR" dirty="0"/>
              <a:t>Útil para tarefas conhecidas e repetitivas;</a:t>
            </a:r>
          </a:p>
        </p:txBody>
      </p:sp>
      <p:sp>
        <p:nvSpPr>
          <p:cNvPr id="3" name="Balão de Fala: Retângulo com Cantos Arredondados 2">
            <a:extLst>
              <a:ext uri="{FF2B5EF4-FFF2-40B4-BE49-F238E27FC236}">
                <a16:creationId xmlns:a16="http://schemas.microsoft.com/office/drawing/2014/main" id="{332C99E2-B9E9-356D-6EA0-479F10C5B96D}"/>
              </a:ext>
            </a:extLst>
          </p:cNvPr>
          <p:cNvSpPr/>
          <p:nvPr/>
        </p:nvSpPr>
        <p:spPr>
          <a:xfrm>
            <a:off x="9242323" y="2890682"/>
            <a:ext cx="2231922" cy="1219201"/>
          </a:xfrm>
          <a:prstGeom prst="wedgeRoundRectCallout">
            <a:avLst>
              <a:gd name="adj1" fmla="val -118460"/>
              <a:gd name="adj2" fmla="val -35779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Não usar para otimização de metas ou comparação de equipes</a:t>
            </a:r>
          </a:p>
        </p:txBody>
      </p:sp>
    </p:spTree>
    <p:extLst>
      <p:ext uri="{BB962C8B-B14F-4D97-AF65-F5344CB8AC3E}">
        <p14:creationId xmlns:p14="http://schemas.microsoft.com/office/powerpoint/2010/main" val="149080220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F656CF-AF54-9820-07C9-F7AF6AD32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Técnicas de estimativas de esforço</a:t>
            </a:r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2D015339-9F27-398E-150D-4EE079793C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76092" y="3637935"/>
            <a:ext cx="6318504" cy="3111910"/>
          </a:xfrm>
        </p:spPr>
      </p:pic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9CDE324F-28E3-A6F2-6E97-A26C25F8404A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Técnica mais comum: </a:t>
            </a:r>
            <a:r>
              <a:rPr lang="pt-BR" i="1" dirty="0"/>
              <a:t>Planning poker</a:t>
            </a:r>
          </a:p>
          <a:p>
            <a:pPr lvl="1"/>
            <a:r>
              <a:rPr lang="pt-BR" dirty="0"/>
              <a:t>Usada no planejamento do sprint</a:t>
            </a:r>
          </a:p>
          <a:p>
            <a:pPr lvl="2"/>
            <a:r>
              <a:rPr lang="pt-BR" dirty="0"/>
              <a:t>Priorização de tarefas;</a:t>
            </a:r>
          </a:p>
          <a:p>
            <a:pPr lvl="2"/>
            <a:r>
              <a:rPr lang="pt-BR" dirty="0"/>
              <a:t>Estimativa de esforço para concluí-las;</a:t>
            </a:r>
          </a:p>
        </p:txBody>
      </p:sp>
    </p:spTree>
    <p:extLst>
      <p:ext uri="{BB962C8B-B14F-4D97-AF65-F5344CB8AC3E}">
        <p14:creationId xmlns:p14="http://schemas.microsoft.com/office/powerpoint/2010/main" val="195833156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E45F58-F774-1AFF-DE30-6B6299368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Artefatos necessários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2A352B-BE10-405C-6953-40A2659B35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 deck, geralmente com 13 cartas, para cada membro da equipe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As cartas representam esforço (pontos, homem-dia, homem-hora, etc.)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64662E7-BEF5-CD1A-8753-0C7266A85A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189" y="3331304"/>
            <a:ext cx="6167885" cy="2518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27165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01DA51-98F7-F2B4-1899-5774C6751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Planning poker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1C6C93F-74B8-C71A-7019-888900DC3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929284" cy="4910841"/>
          </a:xfrm>
        </p:spPr>
        <p:txBody>
          <a:bodyPr>
            <a:normAutofit fontScale="77500" lnSpcReduction="20000"/>
          </a:bodyPr>
          <a:lstStyle/>
          <a:p>
            <a:r>
              <a:rPr lang="pt-BR" dirty="0"/>
              <a:t>Procedimento</a:t>
            </a:r>
          </a:p>
          <a:p>
            <a:pPr lvl="1"/>
            <a:r>
              <a:rPr lang="pt-BR" dirty="0"/>
              <a:t>Reunião com toda equipe (PO, SM, </a:t>
            </a:r>
            <a:r>
              <a:rPr lang="pt-BR" dirty="0" err="1"/>
              <a:t>devs</a:t>
            </a:r>
            <a:r>
              <a:rPr lang="pt-BR" dirty="0"/>
              <a:t>)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Um moderador, que não jogará, preside a reunião;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PO seleciona uma estória do Product Backlog e descreve uma estória de usuário a se estimada;</a:t>
            </a:r>
          </a:p>
          <a:p>
            <a:pPr lvl="2"/>
            <a:r>
              <a:rPr lang="pt-BR" dirty="0"/>
              <a:t>Equipe pode esclarecer dúvidas e riscos;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Cada pessoa seleciona uma carta de estimativa de pontos e a segura de cabeça para baixo na mesa;</a:t>
            </a:r>
          </a:p>
          <a:p>
            <a:pPr lvl="2"/>
            <a:r>
              <a:rPr lang="pt-BR" dirty="0"/>
              <a:t>Deve considerar não só codificação, mas modelagem, testes, </a:t>
            </a:r>
            <a:r>
              <a:rPr lang="pt-BR" dirty="0" err="1"/>
              <a:t>deploy</a:t>
            </a:r>
            <a:r>
              <a:rPr lang="pt-BR" dirty="0"/>
              <a:t>, etc.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Todos viram suas cartas ao mesmo tempo;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Pessoas nos extremos têm a oportunidade de justificar sua escolha;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Se o valor for muito alto pode ser necessário decompor a estória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Repete-se o processo até obter consenso (ou perto disso)</a:t>
            </a:r>
          </a:p>
          <a:p>
            <a:pPr lvl="2"/>
            <a:r>
              <a:rPr lang="pt-BR" dirty="0"/>
              <a:t>Pode-se restringir o tempo para poder partir para uma próxima</a:t>
            </a:r>
          </a:p>
          <a:p>
            <a:pPr lvl="1"/>
            <a:endParaRPr lang="pt-BR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B0CAB5A8-C4EE-5E2C-01F3-5FD2A2ED6A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7484" y="2325485"/>
            <a:ext cx="4220041" cy="2551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858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12E3B1-6D93-5BC3-F6DB-9241F2862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Responsabilidades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48974F7-B0EB-F8C0-E1E2-12CA29A047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Time</a:t>
            </a:r>
          </a:p>
          <a:p>
            <a:pPr lvl="1"/>
            <a:r>
              <a:rPr lang="pt-BR" dirty="0"/>
              <a:t>Estimar as histórias do Product Backlog</a:t>
            </a:r>
          </a:p>
          <a:p>
            <a:pPr>
              <a:spcBef>
                <a:spcPts val="2400"/>
              </a:spcBef>
            </a:pPr>
            <a:r>
              <a:rPr lang="pt-BR" dirty="0"/>
              <a:t>Product </a:t>
            </a:r>
            <a:r>
              <a:rPr lang="pt-BR" dirty="0" err="1"/>
              <a:t>Owner</a:t>
            </a:r>
            <a:endParaRPr lang="pt-BR" dirty="0"/>
          </a:p>
          <a:p>
            <a:pPr lvl="1">
              <a:spcBef>
                <a:spcPts val="1800"/>
              </a:spcBef>
            </a:pPr>
            <a:r>
              <a:rPr lang="pt-BR" dirty="0"/>
              <a:t>Priorizar as histórias que serão movidas para o Sprint Backlog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A soma das estimativas das histórias escolhidas está </a:t>
            </a:r>
            <a:r>
              <a:rPr lang="pt-BR" b="1" dirty="0"/>
              <a:t>limitada pela velocidade da equipe </a:t>
            </a:r>
            <a:r>
              <a:rPr lang="pt-BR" dirty="0"/>
              <a:t>num sprint</a:t>
            </a:r>
          </a:p>
        </p:txBody>
      </p:sp>
    </p:spTree>
    <p:extLst>
      <p:ext uri="{BB962C8B-B14F-4D97-AF65-F5344CB8AC3E}">
        <p14:creationId xmlns:p14="http://schemas.microsoft.com/office/powerpoint/2010/main" val="203597489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EF905B-EC6A-17B4-7AFD-6F9684CB7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/>
              <a:t>Affinity </a:t>
            </a:r>
            <a:r>
              <a:rPr lang="pt-BR" i="1" dirty="0" err="1"/>
              <a:t>Estimation</a:t>
            </a:r>
            <a:endParaRPr lang="pt-BR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1FB4137-DE51-178B-1376-F5589C4906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Refinamento comparativo entre as </a:t>
            </a:r>
            <a:r>
              <a:rPr lang="pt-BR" i="1" dirty="0" err="1"/>
              <a:t>User</a:t>
            </a:r>
            <a:r>
              <a:rPr lang="pt-BR" i="1" dirty="0"/>
              <a:t> Stories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A31A4A4-3F0D-68EE-7EDB-2F117190F1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1658" y="2554816"/>
            <a:ext cx="7226476" cy="3848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143759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D070FC-42D9-4C81-52A7-43265B79C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3) Calibrar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029485-A959-B96B-4B18-99DA79DB5F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“</a:t>
            </a:r>
            <a:r>
              <a:rPr lang="pt-BR" i="1" dirty="0"/>
              <a:t>Quantos story points por sprint?</a:t>
            </a:r>
            <a:r>
              <a:rPr lang="pt-BR" dirty="0"/>
              <a:t>”</a:t>
            </a:r>
          </a:p>
          <a:p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A6B5202-4843-4A51-69EB-58DA4DA98BFA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26" name="Picture 2" descr="Fibonacci for User Stories – How &amp; Why to Use Relative Story Points">
            <a:extLst>
              <a:ext uri="{FF2B5EF4-FFF2-40B4-BE49-F238E27FC236}">
                <a16:creationId xmlns:a16="http://schemas.microsoft.com/office/drawing/2014/main" id="{940449A3-33A2-C585-1613-64F0AC820E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2300" y="3175809"/>
            <a:ext cx="5867400" cy="1650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10166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FC57A3-C8AE-DD1C-F70E-1CC31BC4B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Estimativas ágeis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F03EFD2-DC00-FAB3-6FAD-B7AE0CD381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endParaRPr lang="pt-BR" dirty="0"/>
          </a:p>
          <a:p>
            <a:r>
              <a:rPr lang="pt-BR" dirty="0"/>
              <a:t>Velocidade da equipe</a:t>
            </a:r>
          </a:p>
          <a:p>
            <a:pPr lvl="1"/>
            <a:r>
              <a:rPr lang="pt-BR" dirty="0"/>
              <a:t>Número médio de pontos de estória que a equipe entrega em uma sprint;</a:t>
            </a:r>
          </a:p>
          <a:p>
            <a:pPr lvl="1"/>
            <a:endParaRPr lang="pt-BR" dirty="0"/>
          </a:p>
          <a:p>
            <a:r>
              <a:rPr lang="pt-BR" dirty="0"/>
              <a:t>Se um lote de estórias contam 40 pontos e a velocidade da equipe é de 20 pontos por sprint, serão necessárias 2 sprints (</a:t>
            </a:r>
            <a:r>
              <a:rPr lang="pt-BR" dirty="0" err="1"/>
              <a:t>ex</a:t>
            </a:r>
            <a:r>
              <a:rPr lang="pt-BR" dirty="0"/>
              <a:t>: 4 semanas);</a:t>
            </a:r>
          </a:p>
          <a:p>
            <a:pPr lvl="1"/>
            <a:r>
              <a:rPr lang="pt-BR" dirty="0"/>
              <a:t>Custo pode ser estimado pelas pessoas alocadas na equipe (HH total da sprint);</a:t>
            </a:r>
          </a:p>
        </p:txBody>
      </p:sp>
    </p:spTree>
    <p:extLst>
      <p:ext uri="{BB962C8B-B14F-4D97-AF65-F5344CB8AC3E}">
        <p14:creationId xmlns:p14="http://schemas.microsoft.com/office/powerpoint/2010/main" val="776811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90926B-5342-9633-A852-A01F06F85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Velocidade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57023D7-5F83-417A-BFAB-7F365BF27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02925" cy="4351338"/>
          </a:xfrm>
        </p:spPr>
        <p:txBody>
          <a:bodyPr/>
          <a:lstStyle/>
          <a:p>
            <a:r>
              <a:rPr lang="pt-BR" dirty="0"/>
              <a:t>Premissas de equipes ágeis: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Comunicação Informal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Equipes estáveis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Estimativas refletem conhecimento da equipe dentro do projeto</a:t>
            </a:r>
          </a:p>
          <a:p>
            <a:pPr lvl="2"/>
            <a:r>
              <a:rPr lang="pt-BR" dirty="0"/>
              <a:t>Não são comparáveis entre equipes ou projetos diferentes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Consensos do grupo sobre as estimativas</a:t>
            </a:r>
          </a:p>
        </p:txBody>
      </p:sp>
      <p:pic>
        <p:nvPicPr>
          <p:cNvPr id="4" name="Picture 2" descr="What Is a Velocity Chart and How Do You Use It?">
            <a:extLst>
              <a:ext uri="{FF2B5EF4-FFF2-40B4-BE49-F238E27FC236}">
                <a16:creationId xmlns:a16="http://schemas.microsoft.com/office/drawing/2014/main" id="{BEE1A1C0-10FD-C7DE-DEEA-FF05EEFB56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825625"/>
            <a:ext cx="5512675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618962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502070-B137-2EA9-2091-170AF9EAE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4) Previsão de prazo e esforço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D59FB96-00B6-97EA-2035-9C83743636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Conversão</a:t>
            </a:r>
            <a:r>
              <a:rPr lang="pt-BR" dirty="0"/>
              <a:t> de pontos de estória</a:t>
            </a:r>
          </a:p>
          <a:p>
            <a:pPr lvl="1">
              <a:spcBef>
                <a:spcPts val="1800"/>
              </a:spcBef>
            </a:pPr>
            <a:r>
              <a:rPr lang="pt-BR" i="1" dirty="0"/>
              <a:t>Story points </a:t>
            </a:r>
            <a:r>
              <a:rPr lang="pt-BR" dirty="0"/>
              <a:t>usados para medir esforço (tamanho, complexidade, incerteza), </a:t>
            </a:r>
            <a:r>
              <a:rPr lang="pt-BR" b="1" dirty="0"/>
              <a:t>sem ligação direta com tempo</a:t>
            </a:r>
            <a:r>
              <a:rPr lang="pt-BR" dirty="0"/>
              <a:t>;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Entretanto, é </a:t>
            </a:r>
            <a:r>
              <a:rPr lang="pt-BR" b="1" dirty="0"/>
              <a:t>necessário </a:t>
            </a:r>
            <a:r>
              <a:rPr lang="pt-BR" dirty="0"/>
              <a:t>estimar as métricas do projeto (prazo, custo)</a:t>
            </a:r>
          </a:p>
          <a:p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3EED462-865D-6FB6-A009-D205982C4D81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358020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9F5DD-A54D-D08D-74BE-1CAFFDF00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B45D7C-4C13-63C1-B501-1A9D24C56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4) Previsão de prazo e esforço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C80A367-5CCD-7F5A-14CE-40AAE2A7FD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Com um conjunto (momentaneamente) fechado de backlog</a:t>
            </a:r>
          </a:p>
          <a:p>
            <a:r>
              <a:rPr lang="pt-BR" dirty="0"/>
              <a:t>Com a velocidade média de Story Points por sprint</a:t>
            </a:r>
          </a:p>
          <a:p>
            <a:endParaRPr lang="pt-BR" dirty="0"/>
          </a:p>
          <a:p>
            <a:pPr>
              <a:buFont typeface="Wingdings" panose="05000000000000000000" pitchFamily="2" charset="2"/>
              <a:buChar char="à"/>
            </a:pPr>
            <a:r>
              <a:rPr lang="pt-BR" dirty="0">
                <a:sym typeface="Wingdings" panose="05000000000000000000" pitchFamily="2" charset="2"/>
              </a:rPr>
              <a:t>Temos a quantidade de sprints necessárias para atender a todo o backlog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pt-BR" dirty="0">
                <a:sym typeface="Wingdings" panose="05000000000000000000" pitchFamily="2" charset="2"/>
              </a:rPr>
              <a:t>Logo, temos a duração (sprints com tamanho fixo)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pt-BR" dirty="0">
                <a:sym typeface="Wingdings" panose="05000000000000000000" pitchFamily="2" charset="2"/>
              </a:rPr>
              <a:t>Temos o custo (custo fixo para cada sprint)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6352710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31714C-A56C-C44F-FBA9-29F8CA9A7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4) Previsão de prazo e esforço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CC7E3A-FEFD-8881-8585-063FA9B10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Exemplo</a:t>
            </a:r>
          </a:p>
          <a:p>
            <a:pPr lvl="1">
              <a:spcBef>
                <a:spcPts val="2400"/>
              </a:spcBef>
            </a:pPr>
            <a:r>
              <a:rPr lang="pt-BR" dirty="0"/>
              <a:t>Itens do backlog apresentam, em total, </a:t>
            </a:r>
            <a:r>
              <a:rPr lang="pt-BR" b="1" dirty="0"/>
              <a:t>300 </a:t>
            </a:r>
            <a:r>
              <a:rPr lang="pt-BR" i="1" dirty="0"/>
              <a:t>Story Points</a:t>
            </a:r>
          </a:p>
          <a:p>
            <a:pPr lvl="1">
              <a:spcBef>
                <a:spcPts val="2400"/>
              </a:spcBef>
            </a:pPr>
            <a:r>
              <a:rPr lang="pt-BR" dirty="0"/>
              <a:t>Equipe tem velocidade média histórica de </a:t>
            </a:r>
            <a:r>
              <a:rPr lang="pt-BR" b="1" dirty="0"/>
              <a:t>30 </a:t>
            </a:r>
            <a:r>
              <a:rPr lang="pt-BR" dirty="0"/>
              <a:t>pontos por sprint (2 semanas)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55B71FF-EB68-8ABA-A7BE-9A86A87B1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2486" y="3739791"/>
            <a:ext cx="4318106" cy="888653"/>
          </a:xfrm>
          <a:prstGeom prst="rect">
            <a:avLst/>
          </a:prstGeom>
        </p:spPr>
      </p:pic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4E9409F5-812C-ABD3-9ACF-5C787F2442A9}"/>
              </a:ext>
            </a:extLst>
          </p:cNvPr>
          <p:cNvSpPr/>
          <p:nvPr/>
        </p:nvSpPr>
        <p:spPr>
          <a:xfrm>
            <a:off x="1027288" y="4720519"/>
            <a:ext cx="10193867" cy="18415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lvl="1"/>
            <a:r>
              <a:rPr lang="pt-BR" sz="2000" dirty="0"/>
              <a:t>Logo seria necessárias 10 sprints de 2 semanas = </a:t>
            </a:r>
            <a:r>
              <a:rPr lang="pt-BR" sz="2000" b="1" dirty="0"/>
              <a:t>20 semanas </a:t>
            </a:r>
            <a:r>
              <a:rPr lang="pt-BR" sz="2000" dirty="0"/>
              <a:t>de projeto (duração)</a:t>
            </a:r>
          </a:p>
          <a:p>
            <a:pPr lvl="1">
              <a:spcBef>
                <a:spcPts val="1800"/>
              </a:spcBef>
            </a:pPr>
            <a:r>
              <a:rPr lang="pt-BR" sz="2000" b="1" dirty="0"/>
              <a:t>Esforço</a:t>
            </a:r>
            <a:r>
              <a:rPr lang="pt-BR" sz="2000" dirty="0"/>
              <a:t> = # de sprints x tamanho da equipe x horas de trabalho</a:t>
            </a:r>
          </a:p>
          <a:p>
            <a:pPr lvl="1">
              <a:spcBef>
                <a:spcPts val="1800"/>
              </a:spcBef>
            </a:pPr>
            <a:r>
              <a:rPr lang="pt-BR" sz="2000" b="1" dirty="0"/>
              <a:t>Custo</a:t>
            </a:r>
            <a:r>
              <a:rPr lang="pt-BR" sz="2000" dirty="0"/>
              <a:t> = # de sprints * custo por sprint </a:t>
            </a:r>
          </a:p>
        </p:txBody>
      </p:sp>
    </p:spTree>
    <p:extLst>
      <p:ext uri="{BB962C8B-B14F-4D97-AF65-F5344CB8AC3E}">
        <p14:creationId xmlns:p14="http://schemas.microsoft.com/office/powerpoint/2010/main" val="3721991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96818-1BFF-F102-18AB-517B5C1FD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393D2B-8312-5C3B-2634-40463B7C0B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Apresentar processo de </a:t>
            </a:r>
            <a:r>
              <a:rPr lang="pt-BR" b="1" dirty="0"/>
              <a:t>estimativas de custo e prazo</a:t>
            </a:r>
            <a:r>
              <a:rPr lang="pt-BR" dirty="0"/>
              <a:t>: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dirty="0"/>
              <a:t>Introdução sobre estimativas;</a:t>
            </a:r>
          </a:p>
          <a:p>
            <a:pPr marL="914400" lvl="1" indent="-457200">
              <a:spcBef>
                <a:spcPts val="2400"/>
              </a:spcBef>
              <a:buFont typeface="+mj-lt"/>
              <a:buAutoNum type="arabicPeriod"/>
            </a:pPr>
            <a:r>
              <a:rPr lang="pt-BR" dirty="0"/>
              <a:t>Métricas básicas para estimativa de projetos de software;</a:t>
            </a:r>
          </a:p>
          <a:p>
            <a:pPr marL="914400" lvl="1" indent="-457200">
              <a:spcBef>
                <a:spcPts val="2400"/>
              </a:spcBef>
              <a:buFont typeface="+mj-lt"/>
              <a:buAutoNum type="arabicPeriod"/>
            </a:pPr>
            <a:r>
              <a:rPr lang="pt-BR" dirty="0"/>
              <a:t>Principais exemplos: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dirty="0" err="1"/>
              <a:t>Bottom-up</a:t>
            </a:r>
            <a:r>
              <a:rPr lang="pt-BR" dirty="0"/>
              <a:t> (EAP)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dirty="0"/>
              <a:t>LOC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dirty="0"/>
              <a:t>Pontos de função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dirty="0" err="1"/>
              <a:t>Story</a:t>
            </a:r>
            <a:r>
              <a:rPr lang="pt-BR" dirty="0"/>
              <a:t> points;</a:t>
            </a:r>
          </a:p>
          <a:p>
            <a:pPr marL="914400" lvl="1" indent="-457200">
              <a:spcBef>
                <a:spcPts val="2400"/>
              </a:spcBef>
              <a:buFont typeface="+mj-lt"/>
              <a:buAutoNum type="arabicPeriod"/>
            </a:pPr>
            <a:r>
              <a:rPr lang="pt-BR" dirty="0"/>
              <a:t>Outros métodos de estimativa;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DFCB5BF-F481-C405-77A6-1896AB051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Objetivos de hoje: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6AD2124-D68E-0924-E80D-18F27B4E15AA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800548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26BB3C-07E3-DAB8-E7EA-46ADEC383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681" y="1765179"/>
            <a:ext cx="10515600" cy="1325563"/>
          </a:xfrm>
        </p:spPr>
        <p:txBody>
          <a:bodyPr>
            <a:normAutofit/>
          </a:bodyPr>
          <a:lstStyle/>
          <a:p>
            <a:r>
              <a:rPr lang="pt-BR" sz="3600" b="1" dirty="0"/>
              <a:t>Componentes da estimativa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ABB4FDE-6672-6A84-F126-D8DB54065F70}"/>
              </a:ext>
            </a:extLst>
          </p:cNvPr>
          <p:cNvSpPr/>
          <p:nvPr/>
        </p:nvSpPr>
        <p:spPr>
          <a:xfrm>
            <a:off x="649214" y="3070123"/>
            <a:ext cx="2723536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Medidas de tamanho do software a ser desenvolvido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E8AD81D-4EDD-3613-A957-D0F97864A638}"/>
              </a:ext>
            </a:extLst>
          </p:cNvPr>
          <p:cNvSpPr/>
          <p:nvPr/>
        </p:nvSpPr>
        <p:spPr>
          <a:xfrm>
            <a:off x="4620547" y="3070123"/>
            <a:ext cx="2723536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Método de estimativa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96028C8B-E476-0A78-DF59-22BD03DA02A6}"/>
              </a:ext>
            </a:extLst>
          </p:cNvPr>
          <p:cNvSpPr/>
          <p:nvPr/>
        </p:nvSpPr>
        <p:spPr>
          <a:xfrm>
            <a:off x="8818118" y="3070123"/>
            <a:ext cx="2723536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Valores</a:t>
            </a:r>
          </a:p>
        </p:txBody>
      </p:sp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36B8EDBB-79B4-88CC-A8F6-F00A8466AD11}"/>
              </a:ext>
            </a:extLst>
          </p:cNvPr>
          <p:cNvSpPr/>
          <p:nvPr/>
        </p:nvSpPr>
        <p:spPr>
          <a:xfrm>
            <a:off x="3411417" y="3284614"/>
            <a:ext cx="1179964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E0ABCDAA-B7C7-70C7-0059-7819EA684EC8}"/>
              </a:ext>
            </a:extLst>
          </p:cNvPr>
          <p:cNvSpPr/>
          <p:nvPr/>
        </p:nvSpPr>
        <p:spPr>
          <a:xfrm>
            <a:off x="7382750" y="3284614"/>
            <a:ext cx="1370374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03F65B9-BB17-D68B-6FB4-16D8B9BCE207}"/>
              </a:ext>
            </a:extLst>
          </p:cNvPr>
          <p:cNvSpPr txBox="1"/>
          <p:nvPr/>
        </p:nvSpPr>
        <p:spPr>
          <a:xfrm>
            <a:off x="1170366" y="4198888"/>
            <a:ext cx="841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LOC</a:t>
            </a:r>
            <a:endParaRPr lang="pt-BR" sz="1600" i="1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1DC3A32-DEA9-EE76-4184-EAC400DF903A}"/>
              </a:ext>
            </a:extLst>
          </p:cNvPr>
          <p:cNvSpPr txBox="1"/>
          <p:nvPr/>
        </p:nvSpPr>
        <p:spPr>
          <a:xfrm>
            <a:off x="5066471" y="4238216"/>
            <a:ext cx="1609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Paramétrico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4E05C74-0848-16F9-148C-8D7674B3872C}"/>
              </a:ext>
            </a:extLst>
          </p:cNvPr>
          <p:cNvSpPr txBox="1"/>
          <p:nvPr/>
        </p:nvSpPr>
        <p:spPr>
          <a:xfrm>
            <a:off x="5066471" y="4790068"/>
            <a:ext cx="2100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Pontos de função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CBB2A5A-3967-B7C8-CAB0-04EFE40D1C5D}"/>
              </a:ext>
            </a:extLst>
          </p:cNvPr>
          <p:cNvSpPr txBox="1"/>
          <p:nvPr/>
        </p:nvSpPr>
        <p:spPr>
          <a:xfrm>
            <a:off x="1170366" y="4760572"/>
            <a:ext cx="2100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Pontos de função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948EAB6-0723-0536-FF5E-5E52990C0848}"/>
              </a:ext>
            </a:extLst>
          </p:cNvPr>
          <p:cNvSpPr txBox="1"/>
          <p:nvPr/>
        </p:nvSpPr>
        <p:spPr>
          <a:xfrm>
            <a:off x="1204165" y="5302591"/>
            <a:ext cx="1580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i="1" dirty="0" err="1"/>
              <a:t>User</a:t>
            </a:r>
            <a:r>
              <a:rPr lang="pt-BR" i="1" dirty="0"/>
              <a:t> stories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762277A-DDFA-E3F5-342A-21D8C044C93F}"/>
              </a:ext>
            </a:extLst>
          </p:cNvPr>
          <p:cNvSpPr txBox="1"/>
          <p:nvPr/>
        </p:nvSpPr>
        <p:spPr>
          <a:xfrm>
            <a:off x="5066471" y="5302591"/>
            <a:ext cx="1574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i="1" dirty="0" err="1"/>
              <a:t>Story</a:t>
            </a:r>
            <a:r>
              <a:rPr lang="pt-BR" i="1" dirty="0"/>
              <a:t> Points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17F215D-8B27-2008-D272-C96B7EC0C08E}"/>
              </a:ext>
            </a:extLst>
          </p:cNvPr>
          <p:cNvSpPr txBox="1"/>
          <p:nvPr/>
        </p:nvSpPr>
        <p:spPr>
          <a:xfrm>
            <a:off x="3516748" y="5375260"/>
            <a:ext cx="1111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Planning Poker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B34ABAD4-06BA-ECFF-95E7-2CE4FDF1D4DA}"/>
              </a:ext>
            </a:extLst>
          </p:cNvPr>
          <p:cNvSpPr txBox="1"/>
          <p:nvPr/>
        </p:nvSpPr>
        <p:spPr>
          <a:xfrm>
            <a:off x="7499981" y="5394924"/>
            <a:ext cx="6787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i="1" dirty="0" err="1"/>
              <a:t>Velocity</a:t>
            </a:r>
            <a:endParaRPr lang="pt-BR" sz="1200" i="1" dirty="0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44D8DAF0-1A66-9330-D876-E5510BA53BA6}"/>
              </a:ext>
            </a:extLst>
          </p:cNvPr>
          <p:cNvSpPr txBox="1"/>
          <p:nvPr/>
        </p:nvSpPr>
        <p:spPr>
          <a:xfrm>
            <a:off x="3764999" y="4818068"/>
            <a:ext cx="4164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PFA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6903EB90-7872-1941-E849-003B73B46671}"/>
              </a:ext>
            </a:extLst>
          </p:cNvPr>
          <p:cNvSpPr txBox="1"/>
          <p:nvPr/>
        </p:nvSpPr>
        <p:spPr>
          <a:xfrm>
            <a:off x="7331795" y="4837732"/>
            <a:ext cx="13703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Fator de conversão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F4824CDE-1E59-2B51-E25D-3C7F1F16A72B}"/>
              </a:ext>
            </a:extLst>
          </p:cNvPr>
          <p:cNvSpPr txBox="1"/>
          <p:nvPr/>
        </p:nvSpPr>
        <p:spPr>
          <a:xfrm>
            <a:off x="3624902" y="4291221"/>
            <a:ext cx="7316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3 pontos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4174E283-1F61-16D1-23D6-36369EF116BB}"/>
              </a:ext>
            </a:extLst>
          </p:cNvPr>
          <p:cNvSpPr txBox="1"/>
          <p:nvPr/>
        </p:nvSpPr>
        <p:spPr>
          <a:xfrm>
            <a:off x="7468722" y="4291221"/>
            <a:ext cx="7412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Histórico</a:t>
            </a:r>
          </a:p>
        </p:txBody>
      </p:sp>
      <p:sp>
        <p:nvSpPr>
          <p:cNvPr id="20" name="Chave Direita 19">
            <a:extLst>
              <a:ext uri="{FF2B5EF4-FFF2-40B4-BE49-F238E27FC236}">
                <a16:creationId xmlns:a16="http://schemas.microsoft.com/office/drawing/2014/main" id="{CC1955C1-5939-8E83-0520-0A29B5177A1E}"/>
              </a:ext>
            </a:extLst>
          </p:cNvPr>
          <p:cNvSpPr/>
          <p:nvPr/>
        </p:nvSpPr>
        <p:spPr>
          <a:xfrm>
            <a:off x="8662842" y="4302157"/>
            <a:ext cx="164749" cy="1900452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E11A6711-D832-E496-637C-DA6F3E860866}"/>
              </a:ext>
            </a:extLst>
          </p:cNvPr>
          <p:cNvSpPr txBox="1"/>
          <p:nvPr/>
        </p:nvSpPr>
        <p:spPr>
          <a:xfrm>
            <a:off x="9072371" y="4840926"/>
            <a:ext cx="26794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Esforço</a:t>
            </a:r>
            <a:r>
              <a:rPr lang="pt-BR" dirty="0"/>
              <a:t>: </a:t>
            </a:r>
            <a:r>
              <a:rPr lang="pt-BR" dirty="0" err="1"/>
              <a:t>hh</a:t>
            </a:r>
            <a:r>
              <a:rPr lang="pt-BR" dirty="0"/>
              <a:t>, </a:t>
            </a:r>
            <a:r>
              <a:rPr lang="pt-BR" dirty="0" err="1"/>
              <a:t>pm</a:t>
            </a:r>
            <a:r>
              <a:rPr lang="pt-BR" dirty="0"/>
              <a:t>, </a:t>
            </a:r>
            <a:r>
              <a:rPr lang="pt-BR" i="1" dirty="0"/>
              <a:t>ideal </a:t>
            </a:r>
            <a:r>
              <a:rPr lang="pt-BR" i="1" dirty="0" err="1"/>
              <a:t>days</a:t>
            </a:r>
            <a:endParaRPr lang="pt-BR" i="1" dirty="0"/>
          </a:p>
          <a:p>
            <a:r>
              <a:rPr lang="pt-BR" b="1" dirty="0"/>
              <a:t>Custo</a:t>
            </a:r>
            <a:r>
              <a:rPr lang="pt-BR" dirty="0"/>
              <a:t>: R$</a:t>
            </a:r>
          </a:p>
          <a:p>
            <a:r>
              <a:rPr lang="pt-BR" b="1" dirty="0"/>
              <a:t>Prazo</a:t>
            </a:r>
            <a:r>
              <a:rPr lang="pt-BR" dirty="0"/>
              <a:t>: semanas/sprints</a:t>
            </a:r>
          </a:p>
        </p:txBody>
      </p:sp>
      <p:cxnSp>
        <p:nvCxnSpPr>
          <p:cNvPr id="24" name="Conector de Seta Reta 23">
            <a:extLst>
              <a:ext uri="{FF2B5EF4-FFF2-40B4-BE49-F238E27FC236}">
                <a16:creationId xmlns:a16="http://schemas.microsoft.com/office/drawing/2014/main" id="{9A761B1A-0333-3C2D-F2D2-C8E7ACA620D4}"/>
              </a:ext>
            </a:extLst>
          </p:cNvPr>
          <p:cNvCxnSpPr>
            <a:cxnSpLocks/>
          </p:cNvCxnSpPr>
          <p:nvPr/>
        </p:nvCxnSpPr>
        <p:spPr>
          <a:xfrm>
            <a:off x="2776127" y="4429720"/>
            <a:ext cx="7316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A27F6627-2B0D-0430-3F92-ED65AFBFA8BC}"/>
              </a:ext>
            </a:extLst>
          </p:cNvPr>
          <p:cNvCxnSpPr>
            <a:cxnSpLocks/>
          </p:cNvCxnSpPr>
          <p:nvPr/>
        </p:nvCxnSpPr>
        <p:spPr>
          <a:xfrm>
            <a:off x="2785047" y="5514046"/>
            <a:ext cx="7316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>
            <a:extLst>
              <a:ext uri="{FF2B5EF4-FFF2-40B4-BE49-F238E27FC236}">
                <a16:creationId xmlns:a16="http://schemas.microsoft.com/office/drawing/2014/main" id="{2D7E505B-9BBF-8371-308B-A5B3865F5964}"/>
              </a:ext>
            </a:extLst>
          </p:cNvPr>
          <p:cNvCxnSpPr>
            <a:cxnSpLocks/>
          </p:cNvCxnSpPr>
          <p:nvPr/>
        </p:nvCxnSpPr>
        <p:spPr>
          <a:xfrm>
            <a:off x="4353921" y="4429720"/>
            <a:ext cx="7316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5E1BD991-A975-7353-3594-D9B72B6B81E3}"/>
              </a:ext>
            </a:extLst>
          </p:cNvPr>
          <p:cNvCxnSpPr>
            <a:cxnSpLocks/>
          </p:cNvCxnSpPr>
          <p:nvPr/>
        </p:nvCxnSpPr>
        <p:spPr>
          <a:xfrm>
            <a:off x="6699484" y="3070123"/>
            <a:ext cx="7316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>
            <a:extLst>
              <a:ext uri="{FF2B5EF4-FFF2-40B4-BE49-F238E27FC236}">
                <a16:creationId xmlns:a16="http://schemas.microsoft.com/office/drawing/2014/main" id="{E310D17E-BBBF-4804-177C-7B322CFCC57A}"/>
              </a:ext>
            </a:extLst>
          </p:cNvPr>
          <p:cNvCxnSpPr>
            <a:cxnSpLocks/>
          </p:cNvCxnSpPr>
          <p:nvPr/>
        </p:nvCxnSpPr>
        <p:spPr>
          <a:xfrm>
            <a:off x="4334860" y="4974734"/>
            <a:ext cx="7316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de Seta Reta 29">
            <a:extLst>
              <a:ext uri="{FF2B5EF4-FFF2-40B4-BE49-F238E27FC236}">
                <a16:creationId xmlns:a16="http://schemas.microsoft.com/office/drawing/2014/main" id="{01F726F6-D5A2-EE81-D2A5-D54BAF96BD77}"/>
              </a:ext>
            </a:extLst>
          </p:cNvPr>
          <p:cNvCxnSpPr>
            <a:cxnSpLocks/>
          </p:cNvCxnSpPr>
          <p:nvPr/>
        </p:nvCxnSpPr>
        <p:spPr>
          <a:xfrm>
            <a:off x="6654283" y="5533423"/>
            <a:ext cx="7316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BC033025-7820-151B-B42E-A5D7A78ED86B}"/>
              </a:ext>
            </a:extLst>
          </p:cNvPr>
          <p:cNvCxnSpPr>
            <a:cxnSpLocks/>
          </p:cNvCxnSpPr>
          <p:nvPr/>
        </p:nvCxnSpPr>
        <p:spPr>
          <a:xfrm>
            <a:off x="3213286" y="4974085"/>
            <a:ext cx="4442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de Seta Reta 32">
            <a:extLst>
              <a:ext uri="{FF2B5EF4-FFF2-40B4-BE49-F238E27FC236}">
                <a16:creationId xmlns:a16="http://schemas.microsoft.com/office/drawing/2014/main" id="{80089E97-4515-B29A-9371-7CEEAA20D7F5}"/>
              </a:ext>
            </a:extLst>
          </p:cNvPr>
          <p:cNvCxnSpPr>
            <a:cxnSpLocks/>
          </p:cNvCxnSpPr>
          <p:nvPr/>
        </p:nvCxnSpPr>
        <p:spPr>
          <a:xfrm>
            <a:off x="4641309" y="5514046"/>
            <a:ext cx="4442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de Seta Reta 33">
            <a:extLst>
              <a:ext uri="{FF2B5EF4-FFF2-40B4-BE49-F238E27FC236}">
                <a16:creationId xmlns:a16="http://schemas.microsoft.com/office/drawing/2014/main" id="{45D89488-5B76-E3FD-7E8B-3C03CA1F966B}"/>
              </a:ext>
            </a:extLst>
          </p:cNvPr>
          <p:cNvCxnSpPr>
            <a:cxnSpLocks/>
            <a:stCxn id="3" idx="3"/>
            <a:endCxn id="17" idx="1"/>
          </p:cNvCxnSpPr>
          <p:nvPr/>
        </p:nvCxnSpPr>
        <p:spPr>
          <a:xfrm>
            <a:off x="7167046" y="4974734"/>
            <a:ext cx="164749" cy="14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5CDF8AEE-5E61-6EA1-0204-B4D592251419}"/>
              </a:ext>
            </a:extLst>
          </p:cNvPr>
          <p:cNvSpPr txBox="1"/>
          <p:nvPr/>
        </p:nvSpPr>
        <p:spPr>
          <a:xfrm>
            <a:off x="1220541" y="5834775"/>
            <a:ext cx="1441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Atividades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64A8C925-5ED8-ABEF-F309-1D1E3460C78C}"/>
              </a:ext>
            </a:extLst>
          </p:cNvPr>
          <p:cNvSpPr txBox="1"/>
          <p:nvPr/>
        </p:nvSpPr>
        <p:spPr>
          <a:xfrm>
            <a:off x="5085532" y="5834775"/>
            <a:ext cx="1553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Experiência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9CD1BF03-A9FB-7B60-FC6B-13FDDBF0669C}"/>
              </a:ext>
            </a:extLst>
          </p:cNvPr>
          <p:cNvSpPr txBox="1"/>
          <p:nvPr/>
        </p:nvSpPr>
        <p:spPr>
          <a:xfrm>
            <a:off x="3787269" y="5864922"/>
            <a:ext cx="4282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EAP</a:t>
            </a:r>
          </a:p>
        </p:txBody>
      </p:sp>
      <p:cxnSp>
        <p:nvCxnSpPr>
          <p:cNvPr id="40" name="Conector de Seta Reta 39">
            <a:extLst>
              <a:ext uri="{FF2B5EF4-FFF2-40B4-BE49-F238E27FC236}">
                <a16:creationId xmlns:a16="http://schemas.microsoft.com/office/drawing/2014/main" id="{57655FC1-8333-4452-3F72-A9A4C13481E2}"/>
              </a:ext>
            </a:extLst>
          </p:cNvPr>
          <p:cNvCxnSpPr>
            <a:cxnSpLocks/>
            <a:endCxn id="38" idx="1"/>
          </p:cNvCxnSpPr>
          <p:nvPr/>
        </p:nvCxnSpPr>
        <p:spPr>
          <a:xfrm>
            <a:off x="4275503" y="6019441"/>
            <a:ext cx="8100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de Seta Reta 41">
            <a:extLst>
              <a:ext uri="{FF2B5EF4-FFF2-40B4-BE49-F238E27FC236}">
                <a16:creationId xmlns:a16="http://schemas.microsoft.com/office/drawing/2014/main" id="{3B68ABC7-7E62-CBF3-E5A3-816689CDFFA3}"/>
              </a:ext>
            </a:extLst>
          </p:cNvPr>
          <p:cNvCxnSpPr>
            <a:cxnSpLocks/>
          </p:cNvCxnSpPr>
          <p:nvPr/>
        </p:nvCxnSpPr>
        <p:spPr>
          <a:xfrm>
            <a:off x="2776126" y="6003421"/>
            <a:ext cx="7316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166B0D46-46F6-CFAE-2C82-E46D3C96AAA6}"/>
              </a:ext>
            </a:extLst>
          </p:cNvPr>
          <p:cNvSpPr txBox="1"/>
          <p:nvPr/>
        </p:nvSpPr>
        <p:spPr>
          <a:xfrm>
            <a:off x="7465427" y="5877946"/>
            <a:ext cx="827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i="1" dirty="0"/>
              <a:t>Somatório</a:t>
            </a:r>
          </a:p>
        </p:txBody>
      </p:sp>
      <p:cxnSp>
        <p:nvCxnSpPr>
          <p:cNvPr id="44" name="Conector de Seta Reta 43">
            <a:extLst>
              <a:ext uri="{FF2B5EF4-FFF2-40B4-BE49-F238E27FC236}">
                <a16:creationId xmlns:a16="http://schemas.microsoft.com/office/drawing/2014/main" id="{751289EA-7459-3810-803B-B660867ADA39}"/>
              </a:ext>
            </a:extLst>
          </p:cNvPr>
          <p:cNvCxnSpPr>
            <a:cxnSpLocks/>
            <a:stCxn id="38" idx="3"/>
            <a:endCxn id="43" idx="1"/>
          </p:cNvCxnSpPr>
          <p:nvPr/>
        </p:nvCxnSpPr>
        <p:spPr>
          <a:xfrm flipV="1">
            <a:off x="6639162" y="6016446"/>
            <a:ext cx="826265" cy="29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ítulo 1">
            <a:extLst>
              <a:ext uri="{FF2B5EF4-FFF2-40B4-BE49-F238E27FC236}">
                <a16:creationId xmlns:a16="http://schemas.microsoft.com/office/drawing/2014/main" id="{43A67626-2A42-AF0B-4C71-86647A1759E7}"/>
              </a:ext>
            </a:extLst>
          </p:cNvPr>
          <p:cNvSpPr txBox="1">
            <a:spLocks/>
          </p:cNvSpPr>
          <p:nvPr/>
        </p:nvSpPr>
        <p:spPr>
          <a:xfrm>
            <a:off x="649214" y="23592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Fechamento</a:t>
            </a:r>
          </a:p>
        </p:txBody>
      </p:sp>
    </p:spTree>
    <p:extLst>
      <p:ext uri="{BB962C8B-B14F-4D97-AF65-F5344CB8AC3E}">
        <p14:creationId xmlns:p14="http://schemas.microsoft.com/office/powerpoint/2010/main" val="45439731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8F1251-3633-1C37-CD83-78714D824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Para fechar...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4B290CB-4341-8106-95CD-CD19DF6C8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Estimativas</a:t>
            </a:r>
          </a:p>
          <a:p>
            <a:pPr lvl="1"/>
            <a:r>
              <a:rPr lang="pt-BR" dirty="0"/>
              <a:t>Não constituem uma ciência exata; sempre existem riscos;</a:t>
            </a:r>
          </a:p>
          <a:p>
            <a:pPr lvl="1"/>
            <a:r>
              <a:rPr lang="pt-BR" dirty="0"/>
              <a:t>Estimativas mais precisas devem fazer uso de várias técnicas;</a:t>
            </a:r>
          </a:p>
          <a:p>
            <a:pPr lvl="1"/>
            <a:r>
              <a:rPr lang="pt-BR" dirty="0"/>
              <a:t>Para diminuir os riscos, estimativas devem ser baseadas em dados históricos, por meio do uso de métricas</a:t>
            </a:r>
          </a:p>
          <a:p>
            <a:pPr lvl="1"/>
            <a:endParaRPr lang="pt-BR" dirty="0"/>
          </a:p>
          <a:p>
            <a:r>
              <a:rPr lang="pt-BR" dirty="0"/>
              <a:t>Próxima aula</a:t>
            </a:r>
          </a:p>
          <a:p>
            <a:pPr lvl="1"/>
            <a:r>
              <a:rPr lang="pt-BR" dirty="0"/>
              <a:t>Cronograma</a:t>
            </a:r>
          </a:p>
        </p:txBody>
      </p:sp>
    </p:spTree>
    <p:extLst>
      <p:ext uri="{BB962C8B-B14F-4D97-AF65-F5344CB8AC3E}">
        <p14:creationId xmlns:p14="http://schemas.microsoft.com/office/powerpoint/2010/main" val="407127773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93903D-08D6-FC6F-CC64-A95921DE3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Atividade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C48F1AC-C3E0-B3CF-B829-3A8D701676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Semana de provas</a:t>
            </a:r>
          </a:p>
          <a:p>
            <a:endParaRPr lang="pt-BR" dirty="0"/>
          </a:p>
          <a:p>
            <a:r>
              <a:rPr lang="pt-BR" dirty="0"/>
              <a:t>Para a próxima:</a:t>
            </a:r>
          </a:p>
          <a:p>
            <a:pPr lvl="1"/>
            <a:r>
              <a:rPr lang="pt-BR" dirty="0"/>
              <a:t>Estimar </a:t>
            </a:r>
            <a:r>
              <a:rPr lang="pt-BR" b="1" i="1" dirty="0"/>
              <a:t>Story Points </a:t>
            </a:r>
            <a:r>
              <a:rPr lang="pt-BR" dirty="0"/>
              <a:t>para seu projeto</a:t>
            </a:r>
          </a:p>
          <a:p>
            <a:pPr lvl="1"/>
            <a:r>
              <a:rPr lang="pt-BR" dirty="0"/>
              <a:t>Estimar </a:t>
            </a:r>
            <a:r>
              <a:rPr lang="pt-BR" b="1" i="1" dirty="0"/>
              <a:t>Pontos de Função </a:t>
            </a:r>
            <a:r>
              <a:rPr lang="pt-BR" dirty="0"/>
              <a:t>para seu projeto</a:t>
            </a:r>
          </a:p>
        </p:txBody>
      </p:sp>
    </p:spTree>
    <p:extLst>
      <p:ext uri="{BB962C8B-B14F-4D97-AF65-F5344CB8AC3E}">
        <p14:creationId xmlns:p14="http://schemas.microsoft.com/office/powerpoint/2010/main" val="388481981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03D10C-3B27-CBCE-D035-6F5FED69F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B0FC04-1FC5-D905-44B3-1EC7BD8275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Mostrar EAP </a:t>
            </a:r>
            <a:r>
              <a:rPr lang="pt-BR" dirty="0" err="1"/>
              <a:t>mstech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3429538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7CE62-C002-4A63-AE0F-E20B99EE2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5B71757-ED33-39B3-3CC4-057C2B868F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Apresentar processo de </a:t>
            </a:r>
            <a:r>
              <a:rPr lang="pt-BR" b="1" dirty="0"/>
              <a:t>estimativas de custo e prazo</a:t>
            </a:r>
            <a:r>
              <a:rPr lang="pt-BR" dirty="0"/>
              <a:t>: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dirty="0"/>
              <a:t>Introdução sobre estimativas;</a:t>
            </a:r>
          </a:p>
          <a:p>
            <a:pPr marL="914400" lvl="1" indent="-457200">
              <a:spcBef>
                <a:spcPts val="2400"/>
              </a:spcBef>
              <a:buFont typeface="+mj-lt"/>
              <a:buAutoNum type="arabicPeriod"/>
            </a:pPr>
            <a:r>
              <a:rPr lang="pt-BR" dirty="0"/>
              <a:t>Métricas básicas para estimativa de projetos de software;</a:t>
            </a:r>
          </a:p>
          <a:p>
            <a:pPr marL="914400" lvl="1" indent="-457200">
              <a:spcBef>
                <a:spcPts val="2400"/>
              </a:spcBef>
              <a:buFont typeface="+mj-lt"/>
              <a:buAutoNum type="arabicPeriod"/>
            </a:pPr>
            <a:r>
              <a:rPr lang="pt-BR" b="1" dirty="0"/>
              <a:t>Principais exemplos</a:t>
            </a:r>
            <a:r>
              <a:rPr lang="pt-BR" dirty="0"/>
              <a:t>: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dirty="0" err="1"/>
              <a:t>Bottom-up</a:t>
            </a:r>
            <a:r>
              <a:rPr lang="pt-BR" dirty="0"/>
              <a:t> (EAP)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dirty="0"/>
              <a:t>LOC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dirty="0"/>
              <a:t>Story points;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b="1" dirty="0"/>
              <a:t>Pontos de função</a:t>
            </a:r>
            <a:endParaRPr lang="pt-BR" dirty="0"/>
          </a:p>
          <a:p>
            <a:pPr marL="914400" lvl="1" indent="-457200">
              <a:spcBef>
                <a:spcPts val="2400"/>
              </a:spcBef>
              <a:buFont typeface="+mj-lt"/>
              <a:buAutoNum type="arabicPeriod"/>
            </a:pPr>
            <a:r>
              <a:rPr lang="pt-BR" dirty="0"/>
              <a:t>Outros métodos de estimativa;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F59EAC3-DF5A-7FA9-AEAE-B72EA50C9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Objetivos de hoje: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071A677-AA67-98F8-53F0-3108E3814386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871688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696FC6-DD4F-C827-0E43-AB06BE6A2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48EA7F-EEDD-CA26-B84D-4D5F08E2C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3074" name="Picture 2" descr="Functional Point Analysis | Guide to Functional Point Analysis - Examples">
            <a:extLst>
              <a:ext uri="{FF2B5EF4-FFF2-40B4-BE49-F238E27FC236}">
                <a16:creationId xmlns:a16="http://schemas.microsoft.com/office/drawing/2014/main" id="{E2E25C12-DD2A-E52B-BB11-392DE6E121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3444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963C522D-DB2A-CB92-1F95-D9839449825E}"/>
              </a:ext>
            </a:extLst>
          </p:cNvPr>
          <p:cNvSpPr/>
          <p:nvPr/>
        </p:nvSpPr>
        <p:spPr>
          <a:xfrm>
            <a:off x="300942" y="1825625"/>
            <a:ext cx="4409954" cy="337140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984250"/>
            <a:r>
              <a:rPr lang="pt-BR" sz="4000" b="1" dirty="0" err="1"/>
              <a:t>Function</a:t>
            </a:r>
            <a:endParaRPr lang="pt-BR" sz="4000" b="1" dirty="0"/>
          </a:p>
          <a:p>
            <a:pPr marL="984250"/>
            <a:r>
              <a:rPr lang="pt-BR" sz="4000" b="1" dirty="0"/>
              <a:t>Point </a:t>
            </a:r>
          </a:p>
          <a:p>
            <a:pPr marL="984250"/>
            <a:r>
              <a:rPr lang="pt-BR" sz="4000" b="1" dirty="0" err="1"/>
              <a:t>Analysis</a:t>
            </a:r>
            <a:endParaRPr lang="pt-BR" sz="4000" b="1" dirty="0"/>
          </a:p>
        </p:txBody>
      </p:sp>
    </p:spTree>
    <p:extLst>
      <p:ext uri="{BB962C8B-B14F-4D97-AF65-F5344CB8AC3E}">
        <p14:creationId xmlns:p14="http://schemas.microsoft.com/office/powerpoint/2010/main" val="130124908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F12022-BB07-455E-BA50-006850532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Estimativa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9221386-7415-093D-2C19-281A17D474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Se duas equipes diferentes implementarem o mesmo sistema de cadastro de alunos, qual terá </a:t>
            </a:r>
            <a:r>
              <a:rPr lang="pt-BR" b="1" i="1" dirty="0"/>
              <a:t>mais linhas de código</a:t>
            </a:r>
            <a:r>
              <a:rPr lang="pt-BR" dirty="0"/>
              <a:t>?</a:t>
            </a:r>
          </a:p>
        </p:txBody>
      </p:sp>
      <p:pic>
        <p:nvPicPr>
          <p:cNvPr id="1026" name="Picture 2" descr="Java vs Python: Which Programming Language is Best">
            <a:extLst>
              <a:ext uri="{FF2B5EF4-FFF2-40B4-BE49-F238E27FC236}">
                <a16:creationId xmlns:a16="http://schemas.microsoft.com/office/drawing/2014/main" id="{822A922C-823E-95C1-B634-D43679BDCF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1427" y="3062923"/>
            <a:ext cx="4469146" cy="2626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6389D76D-3B6F-286C-5D9D-0B9552D40B24}"/>
              </a:ext>
            </a:extLst>
          </p:cNvPr>
          <p:cNvSpPr txBox="1"/>
          <p:nvPr/>
        </p:nvSpPr>
        <p:spPr>
          <a:xfrm>
            <a:off x="2302814" y="6123543"/>
            <a:ext cx="7586372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BR" dirty="0"/>
              <a:t>LOC não mede tamanho funcional do software nem o valor entregue ao cliente</a:t>
            </a:r>
          </a:p>
        </p:txBody>
      </p:sp>
    </p:spTree>
    <p:extLst>
      <p:ext uri="{BB962C8B-B14F-4D97-AF65-F5344CB8AC3E}">
        <p14:creationId xmlns:p14="http://schemas.microsoft.com/office/powerpoint/2010/main" val="3160708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E3C69A-75D6-EC3B-4E76-6C6D3B4BB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Análise de Pontos de função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F21092-7527-FEBF-8804-1EC752D74F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020665" cy="4351338"/>
          </a:xfrm>
        </p:spPr>
        <p:txBody>
          <a:bodyPr>
            <a:normAutofit fontScale="77500" lnSpcReduction="20000"/>
          </a:bodyPr>
          <a:lstStyle/>
          <a:p>
            <a:r>
              <a:rPr lang="pt-BR" dirty="0"/>
              <a:t>Ponto de função: </a:t>
            </a:r>
            <a:r>
              <a:rPr lang="pt-BR" b="1" dirty="0"/>
              <a:t>unidade de medida </a:t>
            </a:r>
            <a:r>
              <a:rPr lang="pt-BR" dirty="0"/>
              <a:t>do </a:t>
            </a:r>
            <a:r>
              <a:rPr lang="pt-BR" b="1" dirty="0"/>
              <a:t>tamanho</a:t>
            </a:r>
            <a:r>
              <a:rPr lang="pt-BR" dirty="0"/>
              <a:t> (não esforço) do software;</a:t>
            </a:r>
          </a:p>
          <a:p>
            <a:pPr>
              <a:spcBef>
                <a:spcPts val="2400"/>
              </a:spcBef>
            </a:pPr>
            <a:r>
              <a:rPr lang="pt-BR" dirty="0"/>
              <a:t>APF visa contar a </a:t>
            </a:r>
            <a:r>
              <a:rPr lang="pt-BR" b="1" dirty="0"/>
              <a:t>quantidade de funcionalidades</a:t>
            </a:r>
            <a:r>
              <a:rPr lang="pt-BR" dirty="0"/>
              <a:t> de um sistema</a:t>
            </a:r>
          </a:p>
          <a:p>
            <a:pPr lvl="1"/>
            <a:r>
              <a:rPr lang="pt-BR" dirty="0"/>
              <a:t>Independe da linguagem de programação;</a:t>
            </a:r>
          </a:p>
          <a:p>
            <a:pPr lvl="1"/>
            <a:r>
              <a:rPr lang="pt-BR" dirty="0"/>
              <a:t>Permite dar noção de tamanho do software;</a:t>
            </a:r>
          </a:p>
          <a:p>
            <a:pPr lvl="1"/>
            <a:r>
              <a:rPr lang="pt-BR" dirty="0"/>
              <a:t>Útil para estimativas e normalização de outras métricas;</a:t>
            </a:r>
          </a:p>
          <a:p>
            <a:pPr>
              <a:spcBef>
                <a:spcPts val="2400"/>
              </a:spcBef>
            </a:pPr>
            <a:r>
              <a:rPr lang="pt-BR" dirty="0"/>
              <a:t>Foco em </a:t>
            </a:r>
            <a:r>
              <a:rPr lang="pt-BR" b="1" dirty="0"/>
              <a:t>mensurar o tamanho funcional </a:t>
            </a:r>
            <a:r>
              <a:rPr lang="pt-BR" dirty="0"/>
              <a:t>tendo como base a </a:t>
            </a:r>
            <a:r>
              <a:rPr lang="pt-BR" b="1" dirty="0"/>
              <a:t>visão do usuário</a:t>
            </a:r>
          </a:p>
          <a:p>
            <a:pPr>
              <a:spcBef>
                <a:spcPts val="2400"/>
              </a:spcBef>
            </a:pPr>
            <a:r>
              <a:rPr lang="pt-BR" dirty="0"/>
              <a:t>Pontos de função </a:t>
            </a:r>
            <a:r>
              <a:rPr lang="pt-BR" b="1" dirty="0"/>
              <a:t>são comparáveis </a:t>
            </a:r>
            <a:r>
              <a:rPr lang="pt-BR" dirty="0"/>
              <a:t>entre si, mesmo com tecnologias diferentes;</a:t>
            </a:r>
          </a:p>
          <a:p>
            <a:pPr>
              <a:spcBef>
                <a:spcPts val="2400"/>
              </a:spcBef>
            </a:pPr>
            <a:r>
              <a:rPr lang="pt-BR" dirty="0"/>
              <a:t>Existem constantes de </a:t>
            </a:r>
            <a:r>
              <a:rPr lang="pt-BR" b="1" dirty="0"/>
              <a:t>transformação </a:t>
            </a:r>
            <a:r>
              <a:rPr lang="pt-BR" dirty="0"/>
              <a:t>entre </a:t>
            </a:r>
            <a:r>
              <a:rPr lang="pt-BR" b="1" dirty="0"/>
              <a:t>pontos de função</a:t>
            </a:r>
            <a:r>
              <a:rPr lang="pt-BR" dirty="0"/>
              <a:t> e </a:t>
            </a:r>
            <a:r>
              <a:rPr lang="pt-BR" b="1" dirty="0"/>
              <a:t>LOC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32D08FD0-BAE2-747D-E2BA-68574EA14DB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36837587"/>
              </p:ext>
            </p:extLst>
          </p:nvPr>
        </p:nvGraphicFramePr>
        <p:xfrm>
          <a:off x="8377085" y="1690688"/>
          <a:ext cx="3814916" cy="40316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60533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0CCA38-EA45-2CB2-9007-12BE7D7EB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Ponto de função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C14BF18-5367-FAD7-5B9E-F2CFE5677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Uma unidade de medida funcional do software.</a:t>
            </a:r>
          </a:p>
          <a:p>
            <a:pPr>
              <a:spcBef>
                <a:spcPts val="2400"/>
              </a:spcBef>
            </a:pPr>
            <a:r>
              <a:rPr lang="pt-BR" dirty="0"/>
              <a:t>Mede o tamanho do sistema do ponto de vista do usuário, independentemente da linguagem, arquitetura ou tecnologia usada.</a:t>
            </a:r>
          </a:p>
          <a:p>
            <a:pPr>
              <a:spcBef>
                <a:spcPts val="2400"/>
              </a:spcBef>
            </a:pPr>
            <a:r>
              <a:rPr lang="pt-BR" dirty="0"/>
              <a:t>Foca no “o que o sistema faz”, não em como ele faz.</a:t>
            </a:r>
          </a:p>
          <a:p>
            <a:endParaRPr lang="pt-BR" dirty="0"/>
          </a:p>
          <a:p>
            <a:r>
              <a:rPr lang="pt-BR" dirty="0"/>
              <a:t>Características: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Baseado em </a:t>
            </a:r>
            <a:r>
              <a:rPr lang="pt-BR" b="1" dirty="0"/>
              <a:t>requisitos</a:t>
            </a:r>
            <a:r>
              <a:rPr lang="pt-BR" dirty="0"/>
              <a:t> </a:t>
            </a:r>
            <a:r>
              <a:rPr lang="pt-BR" b="1" dirty="0"/>
              <a:t>funcionais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Permite estimativas iniciais </a:t>
            </a:r>
            <a:r>
              <a:rPr lang="pt-BR" b="1" dirty="0"/>
              <a:t>antes</a:t>
            </a:r>
            <a:r>
              <a:rPr lang="pt-BR" dirty="0"/>
              <a:t> de escrever código</a:t>
            </a:r>
          </a:p>
          <a:p>
            <a:pPr lvl="1">
              <a:spcBef>
                <a:spcPts val="1200"/>
              </a:spcBef>
            </a:pPr>
            <a:r>
              <a:rPr lang="pt-BR" b="1" dirty="0"/>
              <a:t>Independente da tecnologia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Facilita </a:t>
            </a:r>
            <a:r>
              <a:rPr lang="pt-BR" b="1" dirty="0"/>
              <a:t>comparações</a:t>
            </a:r>
            <a:r>
              <a:rPr lang="pt-BR" dirty="0"/>
              <a:t> de produtividade entre projetos e equipes</a:t>
            </a:r>
          </a:p>
        </p:txBody>
      </p:sp>
    </p:spTree>
    <p:extLst>
      <p:ext uri="{BB962C8B-B14F-4D97-AF65-F5344CB8AC3E}">
        <p14:creationId xmlns:p14="http://schemas.microsoft.com/office/powerpoint/2010/main" val="1375590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E3C69A-75D6-EC3B-4E76-6C6D3B4BB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Tamanho - Pontos de função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F21092-7527-FEBF-8804-1EC752D74F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pt-BR" b="1" u="sng" dirty="0"/>
              <a:t>Fronteiras do sistema</a:t>
            </a:r>
            <a:r>
              <a:rPr lang="pt-BR" dirty="0"/>
              <a:t>: define o que é externo para a aplicação</a:t>
            </a:r>
          </a:p>
          <a:p>
            <a:pPr>
              <a:spcBef>
                <a:spcPts val="2400"/>
              </a:spcBef>
            </a:pPr>
            <a:r>
              <a:rPr lang="pt-BR" b="1" dirty="0"/>
              <a:t>Passos básicos</a:t>
            </a:r>
            <a:r>
              <a:rPr lang="pt-BR" dirty="0"/>
              <a:t>: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dirty="0"/>
              <a:t>Contar os elementos do software (EE, SE, CE, ALI, AIE);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dirty="0"/>
              <a:t>Determinar o nível de complexidade de cada elemento;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dirty="0"/>
              <a:t>Atribuir pesos para as contagens de cada elemento;</a:t>
            </a:r>
          </a:p>
          <a:p>
            <a:pPr lvl="2"/>
            <a:r>
              <a:rPr lang="pt-BR" dirty="0"/>
              <a:t>Obter PF não ajustados (PFNA)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dirty="0"/>
              <a:t>Ajustar os PF</a:t>
            </a:r>
          </a:p>
          <a:p>
            <a:pPr lvl="2"/>
            <a:r>
              <a:rPr lang="pt-BR" dirty="0"/>
              <a:t>Obter PF ajustados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dirty="0"/>
              <a:t>Converter PFA em LOC</a:t>
            </a:r>
          </a:p>
        </p:txBody>
      </p:sp>
    </p:spTree>
    <p:extLst>
      <p:ext uri="{BB962C8B-B14F-4D97-AF65-F5344CB8AC3E}">
        <p14:creationId xmlns:p14="http://schemas.microsoft.com/office/powerpoint/2010/main" val="1346522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9C95AC-CE0E-8DE0-9F9C-363F1371C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Tamanho - Pontos de função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2BFC95C5-D269-8B9C-888D-EDC054E654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9273413"/>
              </p:ext>
            </p:extLst>
          </p:nvPr>
        </p:nvGraphicFramePr>
        <p:xfrm>
          <a:off x="838200" y="2167414"/>
          <a:ext cx="10673079" cy="3339306"/>
        </p:xfrm>
        <a:graphic>
          <a:graphicData uri="http://schemas.openxmlformats.org/drawingml/2006/table">
            <a:tbl>
              <a:tblPr/>
              <a:tblGrid>
                <a:gridCol w="3557693">
                  <a:extLst>
                    <a:ext uri="{9D8B030D-6E8A-4147-A177-3AD203B41FA5}">
                      <a16:colId xmlns:a16="http://schemas.microsoft.com/office/drawing/2014/main" val="1215218824"/>
                    </a:ext>
                  </a:extLst>
                </a:gridCol>
                <a:gridCol w="3557693">
                  <a:extLst>
                    <a:ext uri="{9D8B030D-6E8A-4147-A177-3AD203B41FA5}">
                      <a16:colId xmlns:a16="http://schemas.microsoft.com/office/drawing/2014/main" val="1972580562"/>
                    </a:ext>
                  </a:extLst>
                </a:gridCol>
                <a:gridCol w="3557693">
                  <a:extLst>
                    <a:ext uri="{9D8B030D-6E8A-4147-A177-3AD203B41FA5}">
                      <a16:colId xmlns:a16="http://schemas.microsoft.com/office/drawing/2014/main" val="2993991181"/>
                    </a:ext>
                  </a:extLst>
                </a:gridCol>
              </a:tblGrid>
              <a:tr h="494712">
                <a:tc>
                  <a:txBody>
                    <a:bodyPr/>
                    <a:lstStyle/>
                    <a:p>
                      <a:r>
                        <a:rPr lang="pt-BR" b="1" dirty="0"/>
                        <a:t>Tipo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b="1" dirty="0"/>
                        <a:t>Significado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b="1" dirty="0"/>
                        <a:t>Exemplo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3960514"/>
                  </a:ext>
                </a:extLst>
              </a:tr>
              <a:tr h="494712">
                <a:tc>
                  <a:txBody>
                    <a:bodyPr/>
                    <a:lstStyle/>
                    <a:p>
                      <a:r>
                        <a:rPr lang="pt-BR" b="1"/>
                        <a:t>EI (Entradas Externas)</a:t>
                      </a:r>
                      <a:endParaRPr lang="pt-B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Dados que entram no sistema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b="1" dirty="0"/>
                        <a:t>Cadastro</a:t>
                      </a:r>
                      <a:r>
                        <a:rPr lang="pt-BR" dirty="0"/>
                        <a:t> de aluno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3891444"/>
                  </a:ext>
                </a:extLst>
              </a:tr>
              <a:tr h="494712">
                <a:tc>
                  <a:txBody>
                    <a:bodyPr/>
                    <a:lstStyle/>
                    <a:p>
                      <a:r>
                        <a:rPr lang="pt-BR" b="1"/>
                        <a:t>EO (Saídas Externas)</a:t>
                      </a:r>
                      <a:endParaRPr lang="pt-B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Informações processadas e exibidas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b="1" dirty="0"/>
                        <a:t>Relatório</a:t>
                      </a:r>
                      <a:r>
                        <a:rPr lang="pt-BR" dirty="0"/>
                        <a:t> de alunos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4099527"/>
                  </a:ext>
                </a:extLst>
              </a:tr>
              <a:tr h="494712">
                <a:tc>
                  <a:txBody>
                    <a:bodyPr/>
                    <a:lstStyle/>
                    <a:p>
                      <a:r>
                        <a:rPr lang="pt-BR" b="1"/>
                        <a:t>EQ (Consultas Externas)</a:t>
                      </a:r>
                      <a:endParaRPr lang="pt-B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Consultas sem processamento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b="1" dirty="0"/>
                        <a:t>Busca</a:t>
                      </a:r>
                      <a:r>
                        <a:rPr lang="pt-BR" dirty="0"/>
                        <a:t> por matrícula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6124897"/>
                  </a:ext>
                </a:extLst>
              </a:tr>
              <a:tr h="494712">
                <a:tc>
                  <a:txBody>
                    <a:bodyPr/>
                    <a:lstStyle/>
                    <a:p>
                      <a:r>
                        <a:rPr lang="pt-BR" b="1"/>
                        <a:t>ILF (Arquivos Lógicos Internos)</a:t>
                      </a:r>
                      <a:endParaRPr lang="pt-B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Dados mantidos pelo sistema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b="1" dirty="0"/>
                        <a:t>Tabela</a:t>
                      </a:r>
                      <a:r>
                        <a:rPr lang="pt-BR" dirty="0"/>
                        <a:t> de alunos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5664920"/>
                  </a:ext>
                </a:extLst>
              </a:tr>
              <a:tr h="865746">
                <a:tc>
                  <a:txBody>
                    <a:bodyPr/>
                    <a:lstStyle/>
                    <a:p>
                      <a:r>
                        <a:rPr lang="pt-BR" b="1"/>
                        <a:t>EIF (Arquivos de Interface Externa)</a:t>
                      </a:r>
                      <a:endParaRPr lang="pt-B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Dados usados mas mantidos por outro sistema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Base de disciplinas </a:t>
                      </a:r>
                      <a:r>
                        <a:rPr lang="pt-BR" b="1" dirty="0"/>
                        <a:t>externa (</a:t>
                      </a:r>
                      <a:r>
                        <a:rPr lang="pt-BR" b="1" dirty="0" err="1"/>
                        <a:t>ex</a:t>
                      </a:r>
                      <a:r>
                        <a:rPr lang="pt-BR" b="1" dirty="0"/>
                        <a:t>: API)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46190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722186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E3C69A-75D6-EC3B-4E76-6C6D3B4BB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Tamanho - Pontos de função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F21092-7527-FEBF-8804-1EC752D74F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52535" cy="4351338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pt-BR" dirty="0"/>
              <a:t>Contagem de elementos dos sistema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Funções transacionais</a:t>
            </a:r>
            <a:r>
              <a:rPr lang="pt-BR" dirty="0"/>
              <a:t>:</a:t>
            </a:r>
          </a:p>
          <a:p>
            <a:pPr lvl="2"/>
            <a:r>
              <a:rPr lang="pt-BR" b="1" dirty="0"/>
              <a:t>Número de Entradas Externas </a:t>
            </a:r>
            <a:r>
              <a:rPr lang="pt-BR" dirty="0"/>
              <a:t>(EE)</a:t>
            </a:r>
          </a:p>
          <a:p>
            <a:pPr lvl="3"/>
            <a:r>
              <a:rPr lang="pt-BR" dirty="0"/>
              <a:t>Conjunto de dados únicos que entram no sistema (</a:t>
            </a:r>
            <a:r>
              <a:rPr lang="pt-BR" dirty="0" err="1"/>
              <a:t>ex</a:t>
            </a:r>
            <a:r>
              <a:rPr lang="pt-BR" dirty="0"/>
              <a:t>: tela de cadastro, formulários);</a:t>
            </a:r>
          </a:p>
          <a:p>
            <a:pPr lvl="2"/>
            <a:r>
              <a:rPr lang="pt-BR" b="1" dirty="0"/>
              <a:t>Saídas Externas </a:t>
            </a:r>
            <a:r>
              <a:rPr lang="pt-BR" dirty="0"/>
              <a:t>(SE);</a:t>
            </a:r>
          </a:p>
          <a:p>
            <a:pPr lvl="3"/>
            <a:r>
              <a:rPr lang="pt-BR" dirty="0"/>
              <a:t>Conjunto de dados únicos que saem do sistema (</a:t>
            </a:r>
            <a:r>
              <a:rPr lang="pt-BR" dirty="0" err="1"/>
              <a:t>ex</a:t>
            </a:r>
            <a:r>
              <a:rPr lang="pt-BR" dirty="0"/>
              <a:t>: relatório com cálculos);</a:t>
            </a:r>
          </a:p>
          <a:p>
            <a:pPr lvl="2"/>
            <a:r>
              <a:rPr lang="pt-BR" b="1" dirty="0"/>
              <a:t>Consultas Externas </a:t>
            </a:r>
            <a:r>
              <a:rPr lang="pt-BR" dirty="0"/>
              <a:t>(CE);</a:t>
            </a:r>
          </a:p>
          <a:p>
            <a:pPr lvl="3"/>
            <a:r>
              <a:rPr lang="pt-BR" dirty="0"/>
              <a:t>Combinação de entrada e saída onde a saída depende da entrada (</a:t>
            </a:r>
            <a:r>
              <a:rPr lang="pt-BR" dirty="0" err="1"/>
              <a:t>ex</a:t>
            </a:r>
            <a:r>
              <a:rPr lang="pt-BR" dirty="0"/>
              <a:t>: listagem sem cálculos, </a:t>
            </a:r>
            <a:r>
              <a:rPr lang="pt-BR" dirty="0" err="1"/>
              <a:t>dropdown</a:t>
            </a:r>
            <a:r>
              <a:rPr lang="pt-BR" dirty="0"/>
              <a:t>, buscas);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Funções de dados</a:t>
            </a:r>
            <a:r>
              <a:rPr lang="pt-BR" dirty="0"/>
              <a:t>:</a:t>
            </a:r>
          </a:p>
          <a:p>
            <a:pPr lvl="2"/>
            <a:r>
              <a:rPr lang="pt-BR" b="1" dirty="0"/>
              <a:t>Arquivos Lógicos Internos </a:t>
            </a:r>
            <a:r>
              <a:rPr lang="pt-BR" dirty="0"/>
              <a:t>(ALI);</a:t>
            </a:r>
          </a:p>
          <a:p>
            <a:pPr lvl="3"/>
            <a:r>
              <a:rPr lang="pt-BR" dirty="0"/>
              <a:t>Entidades manipuladas pelo sistema (</a:t>
            </a:r>
            <a:r>
              <a:rPr lang="pt-BR" dirty="0" err="1"/>
              <a:t>ex</a:t>
            </a:r>
            <a:r>
              <a:rPr lang="pt-BR" dirty="0"/>
              <a:t>: tabelas de BD, arquivos de configuração);</a:t>
            </a:r>
          </a:p>
          <a:p>
            <a:pPr lvl="2"/>
            <a:r>
              <a:rPr lang="pt-BR" b="1" dirty="0"/>
              <a:t>Arquivos de Interfaces Externos </a:t>
            </a:r>
            <a:r>
              <a:rPr lang="pt-BR" dirty="0"/>
              <a:t>(AIE);</a:t>
            </a:r>
          </a:p>
          <a:p>
            <a:pPr lvl="3"/>
            <a:r>
              <a:rPr lang="pt-BR" dirty="0"/>
              <a:t>Entidades de sistemas externos (</a:t>
            </a:r>
            <a:r>
              <a:rPr lang="pt-BR" dirty="0" err="1"/>
              <a:t>ex</a:t>
            </a:r>
            <a:r>
              <a:rPr lang="pt-BR" dirty="0"/>
              <a:t>: APIs, web </a:t>
            </a:r>
            <a:r>
              <a:rPr lang="pt-BR" dirty="0" err="1"/>
              <a:t>services</a:t>
            </a:r>
            <a:r>
              <a:rPr lang="pt-BR" dirty="0"/>
              <a:t>, outros </a:t>
            </a:r>
            <a:r>
              <a:rPr lang="pt-BR" dirty="0" err="1"/>
              <a:t>BDs</a:t>
            </a:r>
            <a:r>
              <a:rPr lang="pt-BR" dirty="0"/>
              <a:t>, mensagens externas);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0DD518D-3FDC-518D-F77F-33ED82C72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188" y="2318741"/>
            <a:ext cx="5387812" cy="3365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86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E3C69A-75D6-EC3B-4E76-6C6D3B4BB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Análise de Pontos de função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F21092-7527-FEBF-8804-1EC752D74F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020665" cy="4351338"/>
          </a:xfrm>
        </p:spPr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pt-BR" dirty="0"/>
              <a:t>Determinar o nível de complexidade de cada elemento: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A9799802-2F1B-712F-2198-63AE7D816387}"/>
              </a:ext>
            </a:extLst>
          </p:cNvPr>
          <p:cNvGrpSpPr/>
          <p:nvPr/>
        </p:nvGrpSpPr>
        <p:grpSpPr>
          <a:xfrm>
            <a:off x="215187" y="3662676"/>
            <a:ext cx="3904529" cy="1629566"/>
            <a:chOff x="215187" y="3662676"/>
            <a:chExt cx="3904529" cy="1629566"/>
          </a:xfrm>
        </p:grpSpPr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6860BDF6-9042-3302-5B33-49138696C2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5187" y="4045246"/>
              <a:ext cx="3904529" cy="1246996"/>
            </a:xfrm>
            <a:prstGeom prst="rect">
              <a:avLst/>
            </a:prstGeom>
          </p:spPr>
        </p:pic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5E47E63F-88B0-5E16-A221-A3B7DEC0AC85}"/>
                </a:ext>
              </a:extLst>
            </p:cNvPr>
            <p:cNvSpPr txBox="1"/>
            <p:nvPr/>
          </p:nvSpPr>
          <p:spPr>
            <a:xfrm>
              <a:off x="1659138" y="3662676"/>
              <a:ext cx="10166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b="1" dirty="0"/>
                <a:t>ALI e AIE</a:t>
              </a:r>
            </a:p>
          </p:txBody>
        </p:sp>
      </p:grp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1229BD52-D5EB-EAEB-269C-C926B99A1EA9}"/>
              </a:ext>
            </a:extLst>
          </p:cNvPr>
          <p:cNvGrpSpPr/>
          <p:nvPr/>
        </p:nvGrpSpPr>
        <p:grpSpPr>
          <a:xfrm>
            <a:off x="4242550" y="3675914"/>
            <a:ext cx="3904529" cy="1616328"/>
            <a:chOff x="4242550" y="3675914"/>
            <a:chExt cx="3904529" cy="1616328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812BE28E-4052-6CB1-217F-268108AD32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42550" y="4023270"/>
              <a:ext cx="3904529" cy="1268972"/>
            </a:xfrm>
            <a:prstGeom prst="rect">
              <a:avLst/>
            </a:prstGeom>
          </p:spPr>
        </p:pic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B4C4BD60-C117-01E9-431C-C00BC8C80032}"/>
                </a:ext>
              </a:extLst>
            </p:cNvPr>
            <p:cNvSpPr txBox="1"/>
            <p:nvPr/>
          </p:nvSpPr>
          <p:spPr>
            <a:xfrm>
              <a:off x="5765048" y="3675914"/>
              <a:ext cx="8595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b="1" dirty="0"/>
                <a:t>SE e CE</a:t>
              </a:r>
            </a:p>
          </p:txBody>
        </p:sp>
      </p:grp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91ED911-014A-1DF4-67A6-75DC765C55D1}"/>
              </a:ext>
            </a:extLst>
          </p:cNvPr>
          <p:cNvGrpSpPr/>
          <p:nvPr/>
        </p:nvGrpSpPr>
        <p:grpSpPr>
          <a:xfrm>
            <a:off x="8269913" y="3662676"/>
            <a:ext cx="3922087" cy="1629566"/>
            <a:chOff x="8269913" y="3662676"/>
            <a:chExt cx="3922087" cy="1629566"/>
          </a:xfrm>
        </p:grpSpPr>
        <p:pic>
          <p:nvPicPr>
            <p:cNvPr id="8" name="Imagem 7">
              <a:extLst>
                <a:ext uri="{FF2B5EF4-FFF2-40B4-BE49-F238E27FC236}">
                  <a16:creationId xmlns:a16="http://schemas.microsoft.com/office/drawing/2014/main" id="{DAF999C4-498D-DA9D-09EB-837642F04D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269913" y="4045246"/>
              <a:ext cx="3922087" cy="1246996"/>
            </a:xfrm>
            <a:prstGeom prst="rect">
              <a:avLst/>
            </a:prstGeom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906A91C1-EA59-9F5E-F78C-D155CC815FFD}"/>
                </a:ext>
              </a:extLst>
            </p:cNvPr>
            <p:cNvSpPr txBox="1"/>
            <p:nvPr/>
          </p:nvSpPr>
          <p:spPr>
            <a:xfrm>
              <a:off x="10230956" y="3662676"/>
              <a:ext cx="4090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b="1" dirty="0"/>
                <a:t>EE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69835640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E3C69A-75D6-EC3B-4E76-6C6D3B4BB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Tamanho - Pontos de função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F21092-7527-FEBF-8804-1EC752D74F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020665" cy="4351338"/>
          </a:xfrm>
        </p:spPr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pt-BR" dirty="0"/>
              <a:t>Atribuir peso* para as contagens de cada elemento do software: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9C66DE0-84F9-42D4-0E66-197956E478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2870" y="2991578"/>
            <a:ext cx="6595989" cy="2352813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0AEB9996-F95A-8A20-DA8A-5C06C2D48042}"/>
              </a:ext>
            </a:extLst>
          </p:cNvPr>
          <p:cNvSpPr txBox="1"/>
          <p:nvPr/>
        </p:nvSpPr>
        <p:spPr>
          <a:xfrm>
            <a:off x="2939844" y="5479328"/>
            <a:ext cx="5742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i="0" dirty="0">
                <a:solidFill>
                  <a:srgbClr val="5F6368"/>
                </a:solidFill>
                <a:effectLst/>
                <a:latin typeface="Arial" panose="020B0604020202020204" pitchFamily="34" charset="0"/>
              </a:rPr>
              <a:t>*Tabela</a:t>
            </a:r>
            <a:r>
              <a:rPr lang="pt-BR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 de </a:t>
            </a:r>
            <a:r>
              <a:rPr lang="pt-BR" b="1" i="0" dirty="0">
                <a:solidFill>
                  <a:srgbClr val="5F6368"/>
                </a:solidFill>
                <a:effectLst/>
                <a:latin typeface="Arial" panose="020B0604020202020204" pitchFamily="34" charset="0"/>
              </a:rPr>
              <a:t>complexidade</a:t>
            </a:r>
            <a:r>
              <a:rPr lang="pt-BR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 padronizada pelo IFPUG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92880376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7FA348-0DD0-12A0-013B-D80093633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Tamanho - Pontos de função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3A7277D-92F8-C392-1679-D9397FE256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4"/>
            </a:pPr>
            <a:r>
              <a:rPr lang="pt-BR" dirty="0"/>
              <a:t>Obter pontos de função não ajustados (PFNA)</a:t>
            </a:r>
          </a:p>
          <a:p>
            <a:pPr marL="514350" indent="-514350">
              <a:buFont typeface="+mj-lt"/>
              <a:buAutoNum type="arabicPeriod" startAt="4"/>
            </a:pPr>
            <a:endParaRPr lang="pt-BR" dirty="0"/>
          </a:p>
          <a:p>
            <a:pPr marL="514350" indent="-514350">
              <a:buFont typeface="+mj-lt"/>
              <a:buAutoNum type="arabicPeriod" startAt="4"/>
            </a:pPr>
            <a:endParaRPr lang="pt-BR" dirty="0"/>
          </a:p>
          <a:p>
            <a:pPr marL="514350" indent="-514350">
              <a:buFont typeface="+mj-lt"/>
              <a:buAutoNum type="arabicPeriod" startAt="4"/>
            </a:pPr>
            <a:endParaRPr lang="pt-BR" dirty="0"/>
          </a:p>
          <a:p>
            <a:pPr marL="514350" indent="-514350">
              <a:buFont typeface="+mj-lt"/>
              <a:buAutoNum type="arabicPeriod" startAt="4"/>
            </a:pPr>
            <a:r>
              <a:rPr lang="pt-BR" dirty="0"/>
              <a:t>Ajustar os pontos de função</a:t>
            </a:r>
          </a:p>
          <a:p>
            <a:pPr lvl="1"/>
            <a:r>
              <a:rPr lang="pt-BR" dirty="0"/>
              <a:t>Responder 14 questões;</a:t>
            </a:r>
          </a:p>
          <a:p>
            <a:pPr lvl="1"/>
            <a:r>
              <a:rPr lang="pt-BR" dirty="0"/>
              <a:t>Escala de 0 (não aplicável) a 5 (essencial)</a:t>
            </a:r>
            <a:br>
              <a:rPr lang="pt-BR" dirty="0"/>
            </a:b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DD4F83D-C0AB-3DED-0A20-C8511AAA0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1004" y="2590683"/>
            <a:ext cx="5649113" cy="838317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74DE49A1-1C3B-75E1-7760-A082D60EE5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1166" y="3600061"/>
            <a:ext cx="4765253" cy="289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420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E0E74F-20B0-2475-C69D-B512C4340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Tamanho - Pontos de função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3614F18-F341-C886-0651-8C6F42F84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6"/>
            </a:pPr>
            <a:r>
              <a:rPr lang="pt-BR" dirty="0"/>
              <a:t>Obter ponto de função ajustado (PF)</a:t>
            </a:r>
          </a:p>
          <a:p>
            <a:pPr marL="514350" indent="-514350">
              <a:buFont typeface="+mj-lt"/>
              <a:buAutoNum type="arabicPeriod" startAt="6"/>
            </a:pPr>
            <a:endParaRPr lang="pt-BR" dirty="0"/>
          </a:p>
          <a:p>
            <a:pPr marL="514350" indent="-514350">
              <a:buFont typeface="+mj-lt"/>
              <a:buAutoNum type="arabicPeriod" startAt="6"/>
            </a:pPr>
            <a:endParaRPr lang="pt-BR" dirty="0"/>
          </a:p>
          <a:p>
            <a:pPr marL="514350" indent="-514350">
              <a:buFont typeface="+mj-lt"/>
              <a:buAutoNum type="arabicPeriod" startAt="6"/>
            </a:pPr>
            <a:endParaRPr lang="pt-BR" dirty="0"/>
          </a:p>
          <a:p>
            <a:pPr marL="514350" indent="-514350">
              <a:buFont typeface="+mj-lt"/>
              <a:buAutoNum type="arabicPeriod" startAt="6"/>
            </a:pPr>
            <a:r>
              <a:rPr lang="pt-BR" dirty="0"/>
              <a:t>Converter PF em LOC</a:t>
            </a:r>
          </a:p>
          <a:p>
            <a:pPr lvl="1"/>
            <a:r>
              <a:rPr lang="pt-BR" dirty="0"/>
              <a:t>1 PF é igual a (aproximadamente):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B132C59-FF8B-595B-3E49-ADF27C364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477" y="2496423"/>
            <a:ext cx="8068801" cy="704948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77F8296C-6C25-2CF4-7267-B0C05D4D9F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7031" y="4903470"/>
            <a:ext cx="7757937" cy="1727056"/>
          </a:xfrm>
          <a:prstGeom prst="rect">
            <a:avLst/>
          </a:prstGeom>
        </p:spPr>
      </p:pic>
      <p:sp>
        <p:nvSpPr>
          <p:cNvPr id="4" name="Balão de Fala: Retângulo com Cantos Arredondados 3">
            <a:extLst>
              <a:ext uri="{FF2B5EF4-FFF2-40B4-BE49-F238E27FC236}">
                <a16:creationId xmlns:a16="http://schemas.microsoft.com/office/drawing/2014/main" id="{C220217E-61CD-C82E-936B-F91F9B75F8E9}"/>
              </a:ext>
            </a:extLst>
          </p:cNvPr>
          <p:cNvSpPr/>
          <p:nvPr/>
        </p:nvSpPr>
        <p:spPr>
          <a:xfrm>
            <a:off x="92597" y="2816352"/>
            <a:ext cx="1565879" cy="1055818"/>
          </a:xfrm>
          <a:prstGeom prst="wedgeRoundRectCallout">
            <a:avLst>
              <a:gd name="adj1" fmla="val 53667"/>
              <a:gd name="adj2" fmla="val -55146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Principal contagem de tamanho</a:t>
            </a:r>
          </a:p>
        </p:txBody>
      </p:sp>
    </p:spTree>
    <p:extLst>
      <p:ext uri="{BB962C8B-B14F-4D97-AF65-F5344CB8AC3E}">
        <p14:creationId xmlns:p14="http://schemas.microsoft.com/office/powerpoint/2010/main" val="3331849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192263-2468-C4A0-ACFA-5DD0888E1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Estimativa com APF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0C2CC7E-7E7E-E4AD-F450-DAACACCB1E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Modelo simplificado </a:t>
            </a:r>
          </a:p>
          <a:p>
            <a:pPr lvl="1"/>
            <a:r>
              <a:rPr lang="pt-BR" b="1" dirty="0"/>
              <a:t>Esforço</a:t>
            </a:r>
            <a:r>
              <a:rPr lang="pt-BR" dirty="0"/>
              <a:t> (horas) = Tamanho (# de PF) * Produtividade (HH/PF)</a:t>
            </a:r>
          </a:p>
          <a:p>
            <a:pPr lvl="1"/>
            <a:r>
              <a:rPr lang="pt-BR" b="1" dirty="0"/>
              <a:t>Custo</a:t>
            </a:r>
            <a:r>
              <a:rPr lang="pt-BR" dirty="0"/>
              <a:t> = Tamanho (# de PF) * Valor do PF da empresa;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95B99AD-A04F-5D53-FE1A-44773717A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873" y="4838867"/>
            <a:ext cx="4953810" cy="1207976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F83C4AA1-B6F0-5A29-10AC-7F4C0097ECF9}"/>
              </a:ext>
            </a:extLst>
          </p:cNvPr>
          <p:cNvSpPr txBox="1"/>
          <p:nvPr/>
        </p:nvSpPr>
        <p:spPr>
          <a:xfrm>
            <a:off x="539873" y="6311900"/>
            <a:ext cx="4327095" cy="275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hlinkClick r:id="rId3"/>
              </a:rPr>
              <a:t>https://www.fattocs.com/blog/qual-o-preco-do-ponto-de-funcao/</a:t>
            </a:r>
            <a:r>
              <a:rPr lang="pt-BR" sz="1200" dirty="0"/>
              <a:t> </a:t>
            </a: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3408DD28-1493-76D1-C909-0A3017999828}"/>
              </a:ext>
            </a:extLst>
          </p:cNvPr>
          <p:cNvGrpSpPr/>
          <p:nvPr/>
        </p:nvGrpSpPr>
        <p:grpSpPr>
          <a:xfrm>
            <a:off x="8213122" y="4321795"/>
            <a:ext cx="3439005" cy="2536205"/>
            <a:chOff x="6421607" y="4251735"/>
            <a:chExt cx="3439005" cy="2536205"/>
          </a:xfrm>
        </p:grpSpPr>
        <p:pic>
          <p:nvPicPr>
            <p:cNvPr id="11266" name="Picture 2" descr="Distribuição dos preços de ponto de função">
              <a:extLst>
                <a:ext uri="{FF2B5EF4-FFF2-40B4-BE49-F238E27FC236}">
                  <a16:creationId xmlns:a16="http://schemas.microsoft.com/office/drawing/2014/main" id="{7194F225-BADD-421B-7BC2-5C4317487A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84541" y="4251735"/>
              <a:ext cx="2857500" cy="18954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F9C7D84D-5CE7-9E8F-FF16-72BF62CA668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21607" y="6111571"/>
              <a:ext cx="3439005" cy="6763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02877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48B5A3-3289-E0AA-6BBF-4D5B6AB2F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Exemplos de PF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B204047-864F-11C7-D871-E16F0F90CA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8629" y="2359821"/>
            <a:ext cx="8392696" cy="3282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726189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68BED2-E29F-2BFF-04C4-79D0F7B8E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(Pressman)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BCCEE44-A3F5-4D20-E399-D7BCDD5E1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857" y="1815642"/>
            <a:ext cx="8839503" cy="4496668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5EA90A26-DE03-DBE3-FA28-58B12C613884}"/>
              </a:ext>
            </a:extLst>
          </p:cNvPr>
          <p:cNvSpPr txBox="1"/>
          <p:nvPr/>
        </p:nvSpPr>
        <p:spPr>
          <a:xfrm>
            <a:off x="1905963" y="4093472"/>
            <a:ext cx="360996" cy="30777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BR" sz="1400" dirty="0"/>
              <a:t>EE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9768354-9034-E98D-CAD6-4B84F8D8495B}"/>
              </a:ext>
            </a:extLst>
          </p:cNvPr>
          <p:cNvSpPr txBox="1"/>
          <p:nvPr/>
        </p:nvSpPr>
        <p:spPr>
          <a:xfrm>
            <a:off x="1905963" y="2742991"/>
            <a:ext cx="360996" cy="30777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BR" sz="1400" dirty="0"/>
              <a:t>EE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85DCECA-344C-F44E-8121-E4DC1415C5D1}"/>
              </a:ext>
            </a:extLst>
          </p:cNvPr>
          <p:cNvSpPr txBox="1"/>
          <p:nvPr/>
        </p:nvSpPr>
        <p:spPr>
          <a:xfrm>
            <a:off x="1905963" y="3751664"/>
            <a:ext cx="360996" cy="30777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BR" sz="1400" dirty="0"/>
              <a:t>EE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3108DF3-E2A6-9D3B-6EEA-D19CFF4F1B3F}"/>
              </a:ext>
            </a:extLst>
          </p:cNvPr>
          <p:cNvSpPr txBox="1"/>
          <p:nvPr/>
        </p:nvSpPr>
        <p:spPr>
          <a:xfrm>
            <a:off x="1905963" y="3414391"/>
            <a:ext cx="369012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BR" sz="1400" dirty="0"/>
              <a:t>CE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6D5A2EC-C640-A5E3-CAB2-11EDD94B9845}"/>
              </a:ext>
            </a:extLst>
          </p:cNvPr>
          <p:cNvSpPr txBox="1"/>
          <p:nvPr/>
        </p:nvSpPr>
        <p:spPr>
          <a:xfrm>
            <a:off x="9127757" y="2916543"/>
            <a:ext cx="369012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BR" sz="1400" dirty="0"/>
              <a:t>CE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BEE9CBAA-0E60-CC5A-8E30-78503A298F67}"/>
              </a:ext>
            </a:extLst>
          </p:cNvPr>
          <p:cNvSpPr txBox="1"/>
          <p:nvPr/>
        </p:nvSpPr>
        <p:spPr>
          <a:xfrm>
            <a:off x="5555522" y="4988712"/>
            <a:ext cx="409086" cy="3077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BR" sz="1400" dirty="0"/>
              <a:t>ALI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C0A0F89C-0845-DBB9-93B8-36958DBD5324}"/>
              </a:ext>
            </a:extLst>
          </p:cNvPr>
          <p:cNvSpPr txBox="1"/>
          <p:nvPr/>
        </p:nvSpPr>
        <p:spPr>
          <a:xfrm>
            <a:off x="7864311" y="3275111"/>
            <a:ext cx="354584" cy="30777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BR" sz="1400" dirty="0"/>
              <a:t>SE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8B52F70E-99E6-A9A0-6BD9-263D0307326C}"/>
              </a:ext>
            </a:extLst>
          </p:cNvPr>
          <p:cNvSpPr txBox="1"/>
          <p:nvPr/>
        </p:nvSpPr>
        <p:spPr>
          <a:xfrm>
            <a:off x="8233323" y="3910087"/>
            <a:ext cx="354584" cy="30777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BR" sz="1400" dirty="0"/>
              <a:t>SE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444200A-7353-0A93-D38C-6AF5F0A4CB7E}"/>
              </a:ext>
            </a:extLst>
          </p:cNvPr>
          <p:cNvSpPr txBox="1"/>
          <p:nvPr/>
        </p:nvSpPr>
        <p:spPr>
          <a:xfrm>
            <a:off x="1890895" y="3079766"/>
            <a:ext cx="421910" cy="307777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none" rtlCol="0">
            <a:spAutoFit/>
          </a:bodyPr>
          <a:lstStyle/>
          <a:p>
            <a:r>
              <a:rPr lang="pt-BR" sz="1400" dirty="0"/>
              <a:t>AIE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99439572-9C85-1A07-39AC-B47BCB61AA4D}"/>
              </a:ext>
            </a:extLst>
          </p:cNvPr>
          <p:cNvSpPr txBox="1"/>
          <p:nvPr/>
        </p:nvSpPr>
        <p:spPr>
          <a:xfrm>
            <a:off x="7038082" y="2239108"/>
            <a:ext cx="421910" cy="307777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none" rtlCol="0">
            <a:spAutoFit/>
          </a:bodyPr>
          <a:lstStyle/>
          <a:p>
            <a:r>
              <a:rPr lang="pt-BR" sz="1400" dirty="0"/>
              <a:t>AIE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F5AB9E01-60CE-311C-FC9A-46B900CB5E97}"/>
              </a:ext>
            </a:extLst>
          </p:cNvPr>
          <p:cNvSpPr txBox="1"/>
          <p:nvPr/>
        </p:nvSpPr>
        <p:spPr>
          <a:xfrm>
            <a:off x="7146237" y="4834824"/>
            <a:ext cx="421910" cy="307777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none" rtlCol="0">
            <a:spAutoFit/>
          </a:bodyPr>
          <a:lstStyle/>
          <a:p>
            <a:r>
              <a:rPr lang="pt-BR" sz="1400" dirty="0"/>
              <a:t>AIE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7D459E30-642C-0033-A307-39951AB5C55B}"/>
              </a:ext>
            </a:extLst>
          </p:cNvPr>
          <p:cNvSpPr txBox="1"/>
          <p:nvPr/>
        </p:nvSpPr>
        <p:spPr>
          <a:xfrm>
            <a:off x="8587907" y="4267355"/>
            <a:ext cx="421910" cy="307777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none" rtlCol="0">
            <a:spAutoFit/>
          </a:bodyPr>
          <a:lstStyle/>
          <a:p>
            <a:r>
              <a:rPr lang="pt-BR" sz="1400" dirty="0"/>
              <a:t>AIE</a:t>
            </a:r>
          </a:p>
        </p:txBody>
      </p:sp>
    </p:spTree>
    <p:extLst>
      <p:ext uri="{BB962C8B-B14F-4D97-AF65-F5344CB8AC3E}">
        <p14:creationId xmlns:p14="http://schemas.microsoft.com/office/powerpoint/2010/main" val="140304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68BED2-E29F-2BFF-04C4-79D0F7B8E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(Pressman)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7E5C35F-2356-9F6C-9C3D-A72D6DA09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70000" lnSpcReduction="20000"/>
          </a:bodyPr>
          <a:lstStyle/>
          <a:p>
            <a:pPr>
              <a:spcBef>
                <a:spcPts val="2400"/>
              </a:spcBef>
            </a:pPr>
            <a:endParaRPr lang="pt-BR" dirty="0"/>
          </a:p>
          <a:p>
            <a:pPr>
              <a:spcBef>
                <a:spcPts val="2400"/>
              </a:spcBef>
            </a:pPr>
            <a:endParaRPr lang="pt-BR" dirty="0"/>
          </a:p>
          <a:p>
            <a:pPr>
              <a:spcBef>
                <a:spcPts val="2400"/>
              </a:spcBef>
            </a:pPr>
            <a:endParaRPr lang="pt-BR" dirty="0"/>
          </a:p>
          <a:p>
            <a:pPr>
              <a:spcBef>
                <a:spcPts val="2400"/>
              </a:spcBef>
            </a:pPr>
            <a:endParaRPr lang="pt-BR" dirty="0"/>
          </a:p>
          <a:p>
            <a:pPr>
              <a:spcBef>
                <a:spcPts val="2400"/>
              </a:spcBef>
            </a:pPr>
            <a:endParaRPr lang="pt-BR" dirty="0"/>
          </a:p>
          <a:p>
            <a:pPr>
              <a:spcBef>
                <a:spcPts val="2400"/>
              </a:spcBef>
            </a:pPr>
            <a:r>
              <a:rPr lang="pt-BR" dirty="0"/>
              <a:t>Desenvolvimento em </a:t>
            </a:r>
            <a:r>
              <a:rPr lang="pt-BR" b="1" dirty="0"/>
              <a:t>Java</a:t>
            </a:r>
          </a:p>
          <a:p>
            <a:pPr lvl="1"/>
            <a:r>
              <a:rPr lang="pt-BR" dirty="0"/>
              <a:t>PF Ajustado = 50 * [0,65 + (0,01 x 46)] = </a:t>
            </a:r>
            <a:r>
              <a:rPr lang="pt-BR" b="1" dirty="0"/>
              <a:t>56</a:t>
            </a:r>
          </a:p>
          <a:p>
            <a:pPr lvl="1"/>
            <a:r>
              <a:rPr lang="pt-BR" dirty="0"/>
              <a:t>Tamanho = 56*</a:t>
            </a:r>
            <a:r>
              <a:rPr lang="pt-BR" b="1" dirty="0"/>
              <a:t>53</a:t>
            </a:r>
            <a:r>
              <a:rPr lang="pt-BR" dirty="0"/>
              <a:t> = 2.968 LOC</a:t>
            </a:r>
          </a:p>
          <a:p>
            <a:pPr lvl="1"/>
            <a:r>
              <a:rPr lang="pt-BR" dirty="0"/>
              <a:t>Esforço = 7,5 homem-mês</a:t>
            </a:r>
          </a:p>
          <a:p>
            <a:pPr lvl="1"/>
            <a:r>
              <a:rPr lang="pt-BR" dirty="0"/>
              <a:t>Duração = 5,5 meses</a:t>
            </a:r>
          </a:p>
          <a:p>
            <a:pPr lvl="1"/>
            <a:r>
              <a:rPr lang="pt-BR" dirty="0"/>
              <a:t>Custo da mão de obra (R$ 6.000,00 por pessoa-mês) = 6*7,5 = </a:t>
            </a:r>
            <a:r>
              <a:rPr lang="pt-BR" b="1" dirty="0"/>
              <a:t>R$ 45.000,00 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A1A5635-2F71-966F-2FD1-F1BB061A0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6986" y="1638419"/>
            <a:ext cx="7141480" cy="2644179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5E821A8A-53D8-C3D6-E97A-BA33F0B80D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848727"/>
            <a:ext cx="1314633" cy="381053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6CD95423-FD9B-7CA0-DC86-733909E47D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2104" y="5256819"/>
            <a:ext cx="1638529" cy="333422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4E17E7EB-6F2D-055E-EAFF-A439E53AC030}"/>
              </a:ext>
            </a:extLst>
          </p:cNvPr>
          <p:cNvSpPr txBox="1"/>
          <p:nvPr/>
        </p:nvSpPr>
        <p:spPr>
          <a:xfrm>
            <a:off x="717756" y="6169709"/>
            <a:ext cx="6382581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Modelo simplificado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700" dirty="0"/>
              <a:t>Assumindo 10 PF/mês </a:t>
            </a:r>
            <a:r>
              <a:rPr lang="pt-BR" sz="1700" dirty="0">
                <a:sym typeface="Wingdings" panose="05000000000000000000" pitchFamily="2" charset="2"/>
              </a:rPr>
              <a:t> 5,6 meses de esforço; </a:t>
            </a:r>
            <a:r>
              <a:rPr lang="pt-BR" sz="1700" b="1" dirty="0">
                <a:sym typeface="Wingdings" panose="05000000000000000000" pitchFamily="2" charset="2"/>
              </a:rPr>
              <a:t>R$ 33.600,00 </a:t>
            </a:r>
            <a:endParaRPr lang="pt-BR" sz="1700" b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8B22B14-9A2A-45DC-3529-FB51405A1F0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591"/>
          <a:stretch/>
        </p:blipFill>
        <p:spPr>
          <a:xfrm>
            <a:off x="8963062" y="4440083"/>
            <a:ext cx="2067213" cy="1263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940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6BBC5C-7C54-F8DB-209B-F7401B1E1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de edital público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20780AD-5D57-C345-6445-50CA57ABE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TCE/SP</a:t>
            </a:r>
          </a:p>
          <a:p>
            <a:pPr lvl="1"/>
            <a:r>
              <a:rPr lang="pt-BR" dirty="0">
                <a:hlinkClick r:id="rId2" action="ppaction://hlinkfile"/>
              </a:rPr>
              <a:t>www4.tce.sp.gov.br/licitacao/sites/licitacao/files/pre_eletronico-08-30186_fabrica_de_software_edital.pdf </a:t>
            </a:r>
            <a:r>
              <a:rPr lang="pt-BR" dirty="0"/>
              <a:t>(</a:t>
            </a:r>
            <a:r>
              <a:rPr lang="pt-BR" i="1" dirty="0"/>
              <a:t>página 18</a:t>
            </a:r>
            <a:r>
              <a:rPr lang="pt-BR" dirty="0"/>
              <a:t>)</a:t>
            </a:r>
          </a:p>
          <a:p>
            <a:pPr>
              <a:spcBef>
                <a:spcPts val="2400"/>
              </a:spcBef>
            </a:pPr>
            <a:r>
              <a:rPr lang="pt-BR" dirty="0"/>
              <a:t>Objeto:</a:t>
            </a:r>
          </a:p>
          <a:p>
            <a:pPr lvl="1"/>
            <a:r>
              <a:rPr lang="pt-BR" dirty="0"/>
              <a:t>Desenvolvimento e Manutenção de Sistemas de Informação pré-existentes nas plataformas JAVA, .NET, Android e iOS em ambientes Cliente/Servidor, WEB e Três Camadas</a:t>
            </a:r>
          </a:p>
          <a:p>
            <a:pPr>
              <a:spcBef>
                <a:spcPts val="2400"/>
              </a:spcBef>
            </a:pPr>
            <a:r>
              <a:rPr lang="pt-BR" dirty="0"/>
              <a:t>Tecnologias:</a:t>
            </a:r>
          </a:p>
          <a:p>
            <a:pPr lvl="1"/>
            <a:r>
              <a:rPr lang="pt-BR" dirty="0"/>
              <a:t>Java, Net, Android, iOS</a:t>
            </a:r>
          </a:p>
          <a:p>
            <a:pPr>
              <a:spcBef>
                <a:spcPts val="1800"/>
              </a:spcBef>
            </a:pPr>
            <a:r>
              <a:rPr lang="pt-BR" dirty="0"/>
              <a:t>Contratação de 3000 PF dentro de 24 meses</a:t>
            </a:r>
          </a:p>
        </p:txBody>
      </p:sp>
    </p:spTree>
    <p:extLst>
      <p:ext uri="{BB962C8B-B14F-4D97-AF65-F5344CB8AC3E}">
        <p14:creationId xmlns:p14="http://schemas.microsoft.com/office/powerpoint/2010/main" val="4057843466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4A7A64-8E48-F45B-1D2C-B0ADDF0DC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Vantagens da APF</a:t>
            </a:r>
          </a:p>
        </p:txBody>
      </p:sp>
      <p:graphicFrame>
        <p:nvGraphicFramePr>
          <p:cNvPr id="7" name="Espaço Reservado para Conteúdo 6">
            <a:extLst>
              <a:ext uri="{FF2B5EF4-FFF2-40B4-BE49-F238E27FC236}">
                <a16:creationId xmlns:a16="http://schemas.microsoft.com/office/drawing/2014/main" id="{6FB77615-5CE4-2F2F-A284-F96E3FC030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1359190"/>
              </p:ext>
            </p:extLst>
          </p:nvPr>
        </p:nvGraphicFramePr>
        <p:xfrm>
          <a:off x="838200" y="1825625"/>
          <a:ext cx="10515600" cy="3205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71467329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0582381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Vantagens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Desvantagens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33049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Permite estimar </a:t>
                      </a:r>
                      <a:r>
                        <a:rPr lang="pt-BR" b="1" dirty="0"/>
                        <a:t>custo, prazo e esforço</a:t>
                      </a:r>
                      <a:r>
                        <a:rPr lang="pt-BR" dirty="0"/>
                        <a:t> ainda na fase de requisitos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Requer </a:t>
                      </a:r>
                      <a:r>
                        <a:rPr lang="pt-BR" b="1" dirty="0"/>
                        <a:t>documentação funcional clara </a:t>
                      </a:r>
                      <a:r>
                        <a:rPr lang="pt-BR" dirty="0"/>
                        <a:t>— difícil em projetos ágeis ou pouco especificados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12931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Base comum para </a:t>
                      </a:r>
                      <a:r>
                        <a:rPr lang="pt-BR" b="1" dirty="0"/>
                        <a:t>contratos de software</a:t>
                      </a:r>
                      <a:r>
                        <a:rPr lang="pt-BR" dirty="0"/>
                        <a:t> e métricas de produtividade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 contagem tem certa </a:t>
                      </a:r>
                      <a:r>
                        <a:rPr lang="pt-BR" b="1" dirty="0"/>
                        <a:t>subjetividade</a:t>
                      </a:r>
                      <a:r>
                        <a:rPr lang="pt-BR" dirty="0"/>
                        <a:t>, exigindo analistas treinados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4092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Facilita </a:t>
                      </a:r>
                      <a:r>
                        <a:rPr lang="pt-BR" b="1" dirty="0"/>
                        <a:t>comparações entre projetos</a:t>
                      </a:r>
                      <a:r>
                        <a:rPr lang="pt-BR" dirty="0"/>
                        <a:t> e </a:t>
                      </a:r>
                      <a:r>
                        <a:rPr lang="pt-BR" b="0" dirty="0"/>
                        <a:t>previsão de evolução de sistemas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Não considera fatores técnicos </a:t>
                      </a:r>
                      <a:r>
                        <a:rPr lang="pt-BR" b="1" dirty="0"/>
                        <a:t>não funcionais </a:t>
                      </a:r>
                      <a:r>
                        <a:rPr lang="pt-BR" dirty="0"/>
                        <a:t>(ex.: desempenho, segurança)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4592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Reduz dependência da linguagem de programação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Não substitui outros métodos de estimativa (geralmente é usado em conjunto com COCOMO II ou dados históricos)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33906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625532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49258</TotalTime>
  <Words>5317</Words>
  <Application>Microsoft Office PowerPoint</Application>
  <PresentationFormat>Widescreen</PresentationFormat>
  <Paragraphs>811</Paragraphs>
  <Slides>107</Slides>
  <Notes>6</Notes>
  <HiddenSlides>4</HiddenSlides>
  <MMClips>0</MMClips>
  <ScaleCrop>false</ScaleCrop>
  <HeadingPairs>
    <vt:vector size="6" baseType="variant">
      <vt:variant>
        <vt:lpstr>Fontes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107</vt:i4>
      </vt:variant>
    </vt:vector>
  </HeadingPairs>
  <TitlesOfParts>
    <vt:vector size="118" baseType="lpstr">
      <vt:lpstr>Aptos</vt:lpstr>
      <vt:lpstr>Arial</vt:lpstr>
      <vt:lpstr>Calibri</vt:lpstr>
      <vt:lpstr>Calibri Light</vt:lpstr>
      <vt:lpstr>docs-Roboto</vt:lpstr>
      <vt:lpstr>Google Sans</vt:lpstr>
      <vt:lpstr>HelveticaNeue Regular</vt:lpstr>
      <vt:lpstr>Inter</vt:lpstr>
      <vt:lpstr>Tahoma</vt:lpstr>
      <vt:lpstr>Wingdings</vt:lpstr>
      <vt:lpstr>Tema do Office</vt:lpstr>
      <vt:lpstr>Apresentação do PowerPoint</vt:lpstr>
      <vt:lpstr>Trabalho de grupo</vt:lpstr>
      <vt:lpstr>Atividade - EAP</vt:lpstr>
      <vt:lpstr>Na aula anterior, vimos...</vt:lpstr>
      <vt:lpstr>Apresentação do PowerPoint</vt:lpstr>
      <vt:lpstr>Passo 1- Especificar o escopo </vt:lpstr>
      <vt:lpstr>Passo 2 – Detalhar o escopo</vt:lpstr>
      <vt:lpstr>Passo 3 – Definir as atividades</vt:lpstr>
      <vt:lpstr>Passo 4 – Definir a sequência</vt:lpstr>
      <vt:lpstr>Passo 5 – Estimar a duração das atividades</vt:lpstr>
      <vt:lpstr>Passo 6 – Estimar o custo das atividades</vt:lpstr>
      <vt:lpstr>Objetivos de hoje:</vt:lpstr>
      <vt:lpstr>Pergunta geradora</vt:lpstr>
      <vt:lpstr>Exercício mental</vt:lpstr>
      <vt:lpstr>Estimativas - No silver bullet...</vt:lpstr>
      <vt:lpstr>Estimativas</vt:lpstr>
      <vt:lpstr>Estimativas</vt:lpstr>
      <vt:lpstr>O que devemos estimar?</vt:lpstr>
      <vt:lpstr>Elementos de custos nos projetos</vt:lpstr>
      <vt:lpstr>Contexto</vt:lpstr>
      <vt:lpstr>Opções para estimativas</vt:lpstr>
      <vt:lpstr>PMBOK</vt:lpstr>
      <vt:lpstr>PMBOK</vt:lpstr>
      <vt:lpstr>Questão</vt:lpstr>
      <vt:lpstr>Objetivos de hoje:</vt:lpstr>
      <vt:lpstr>Métricas</vt:lpstr>
      <vt:lpstr>Métricas</vt:lpstr>
      <vt:lpstr>E para software?</vt:lpstr>
      <vt:lpstr>Processo de estimativas</vt:lpstr>
      <vt:lpstr>Processo de estimativas</vt:lpstr>
      <vt:lpstr>Taxonomia de Técnicas de estimativas</vt:lpstr>
      <vt:lpstr>Questão</vt:lpstr>
      <vt:lpstr>Objetivos de hoje:</vt:lpstr>
      <vt:lpstr>EAP</vt:lpstr>
      <vt:lpstr>Características da EAP</vt:lpstr>
      <vt:lpstr>Ferramenta</vt:lpstr>
      <vt:lpstr>EAP</vt:lpstr>
      <vt:lpstr>Exemplo</vt:lpstr>
      <vt:lpstr>Exemplo</vt:lpstr>
      <vt:lpstr>Exemplo</vt:lpstr>
      <vt:lpstr>EAP</vt:lpstr>
      <vt:lpstr>Objetivos de hoje:</vt:lpstr>
      <vt:lpstr>Apresentação do PowerPoint</vt:lpstr>
      <vt:lpstr>Tamanho - Linhas de código</vt:lpstr>
      <vt:lpstr>Tamanho - Exemplos de contagem de LOC</vt:lpstr>
      <vt:lpstr>Apresentação do PowerPoint</vt:lpstr>
      <vt:lpstr>Tamanho - Linhas de código</vt:lpstr>
      <vt:lpstr>Tamanho - Linhas de código</vt:lpstr>
      <vt:lpstr>Procedimento das estimativa - LOC</vt:lpstr>
      <vt:lpstr>Estimativa - Linhas de código</vt:lpstr>
      <vt:lpstr>Estimativa - Linhas de código</vt:lpstr>
      <vt:lpstr>Estimativa - Linha de código</vt:lpstr>
      <vt:lpstr>Atividade</vt:lpstr>
      <vt:lpstr>Atividades</vt:lpstr>
      <vt:lpstr>Objetivos de hoje:</vt:lpstr>
      <vt:lpstr>User stories</vt:lpstr>
      <vt:lpstr>Tamanho – User Stories</vt:lpstr>
      <vt:lpstr>Tamanho – User Stories</vt:lpstr>
      <vt:lpstr>Estimativa com User Stories</vt:lpstr>
      <vt:lpstr>1) Definir estórias de usuários</vt:lpstr>
      <vt:lpstr>1) Definir estórias de usuários</vt:lpstr>
      <vt:lpstr>Exemplo – Cadastro de clientes</vt:lpstr>
      <vt:lpstr>Exemplo – Cadastro de clientes</vt:lpstr>
      <vt:lpstr>Exemplo – Cadastro de clientes</vt:lpstr>
      <vt:lpstr>2) Estimativas dos Story Points</vt:lpstr>
      <vt:lpstr>2) Estimativas dos Story Points</vt:lpstr>
      <vt:lpstr>2) Estimativas dos Story Points</vt:lpstr>
      <vt:lpstr>2) Estimativas dos Story Points</vt:lpstr>
      <vt:lpstr>2) Estimativas dos Story Points</vt:lpstr>
      <vt:lpstr>Critérios para os Story Points</vt:lpstr>
      <vt:lpstr>Estimativas ágeis</vt:lpstr>
      <vt:lpstr>Estimativas relativas </vt:lpstr>
      <vt:lpstr>Estimativas ágeis</vt:lpstr>
      <vt:lpstr>Técnicas de estimativas de esforço</vt:lpstr>
      <vt:lpstr>Artefatos necessários</vt:lpstr>
      <vt:lpstr>Planning poker</vt:lpstr>
      <vt:lpstr>Responsabilidades</vt:lpstr>
      <vt:lpstr>Affinity Estimation</vt:lpstr>
      <vt:lpstr>3) Calibrar</vt:lpstr>
      <vt:lpstr>Estimativas ágeis</vt:lpstr>
      <vt:lpstr>Velocidade</vt:lpstr>
      <vt:lpstr>4) Previsão de prazo e esforço</vt:lpstr>
      <vt:lpstr>4) Previsão de prazo e esforço</vt:lpstr>
      <vt:lpstr>4) Previsão de prazo e esforço</vt:lpstr>
      <vt:lpstr>Objetivos de hoje:</vt:lpstr>
      <vt:lpstr>Componentes da estimativa</vt:lpstr>
      <vt:lpstr>Para fechar...</vt:lpstr>
      <vt:lpstr>Atividade</vt:lpstr>
      <vt:lpstr>Apresentação do PowerPoint</vt:lpstr>
      <vt:lpstr>Objetivos de hoje:</vt:lpstr>
      <vt:lpstr>Apresentação do PowerPoint</vt:lpstr>
      <vt:lpstr>Estimativa</vt:lpstr>
      <vt:lpstr>Análise de Pontos de função</vt:lpstr>
      <vt:lpstr>Ponto de função</vt:lpstr>
      <vt:lpstr>Tamanho - Pontos de função</vt:lpstr>
      <vt:lpstr>Tamanho - Pontos de função</vt:lpstr>
      <vt:lpstr>Tamanho - Pontos de função</vt:lpstr>
      <vt:lpstr>Análise de Pontos de função</vt:lpstr>
      <vt:lpstr>Tamanho - Pontos de função</vt:lpstr>
      <vt:lpstr>Tamanho - Pontos de função</vt:lpstr>
      <vt:lpstr>Tamanho - Pontos de função</vt:lpstr>
      <vt:lpstr>Estimativa com APF</vt:lpstr>
      <vt:lpstr>Exemplos de PF</vt:lpstr>
      <vt:lpstr>Exemplo (Pressman)</vt:lpstr>
      <vt:lpstr>Exemplo (Pressman)</vt:lpstr>
      <vt:lpstr>Exemplo de edital público</vt:lpstr>
      <vt:lpstr>Vantagens da APF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Bruno Elias Penteado</dc:creator>
  <cp:lastModifiedBy>Author</cp:lastModifiedBy>
  <cp:revision>950</cp:revision>
  <dcterms:created xsi:type="dcterms:W3CDTF">2024-08-08T20:58:28Z</dcterms:created>
  <dcterms:modified xsi:type="dcterms:W3CDTF">2026-04-18T12:48:40Z</dcterms:modified>
</cp:coreProperties>
</file>