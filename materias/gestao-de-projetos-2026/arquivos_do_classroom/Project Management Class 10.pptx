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382" r:id="rId3"/>
    <p:sldId id="531" r:id="rId4"/>
    <p:sldId id="289" r:id="rId5"/>
    <p:sldId id="807" r:id="rId6"/>
    <p:sldId id="826" r:id="rId7"/>
    <p:sldId id="784" r:id="rId8"/>
    <p:sldId id="836" r:id="rId9"/>
    <p:sldId id="837" r:id="rId10"/>
    <p:sldId id="838" r:id="rId11"/>
    <p:sldId id="839" r:id="rId12"/>
    <p:sldId id="841" r:id="rId13"/>
    <p:sldId id="857" r:id="rId14"/>
    <p:sldId id="842" r:id="rId15"/>
    <p:sldId id="840" r:id="rId16"/>
    <p:sldId id="786" r:id="rId17"/>
    <p:sldId id="865" r:id="rId18"/>
    <p:sldId id="819" r:id="rId19"/>
    <p:sldId id="825" r:id="rId20"/>
    <p:sldId id="789" r:id="rId21"/>
    <p:sldId id="791" r:id="rId22"/>
    <p:sldId id="796" r:id="rId23"/>
    <p:sldId id="804" r:id="rId24"/>
    <p:sldId id="790" r:id="rId25"/>
    <p:sldId id="794" r:id="rId26"/>
    <p:sldId id="793" r:id="rId27"/>
    <p:sldId id="792" r:id="rId28"/>
    <p:sldId id="813" r:id="rId29"/>
    <p:sldId id="788" r:id="rId30"/>
    <p:sldId id="814" r:id="rId31"/>
    <p:sldId id="816" r:id="rId32"/>
    <p:sldId id="817" r:id="rId33"/>
    <p:sldId id="828" r:id="rId34"/>
    <p:sldId id="833" r:id="rId35"/>
    <p:sldId id="829" r:id="rId36"/>
    <p:sldId id="830" r:id="rId37"/>
    <p:sldId id="861" r:id="rId38"/>
    <p:sldId id="860" r:id="rId39"/>
    <p:sldId id="808" r:id="rId40"/>
    <p:sldId id="810" r:id="rId41"/>
    <p:sldId id="811" r:id="rId42"/>
    <p:sldId id="809" r:id="rId43"/>
    <p:sldId id="787" r:id="rId44"/>
    <p:sldId id="821" r:id="rId45"/>
    <p:sldId id="822" r:id="rId46"/>
    <p:sldId id="823" r:id="rId47"/>
    <p:sldId id="621" r:id="rId48"/>
    <p:sldId id="622" r:id="rId49"/>
    <p:sldId id="824" r:id="rId50"/>
    <p:sldId id="624" r:id="rId51"/>
    <p:sldId id="623" r:id="rId52"/>
    <p:sldId id="626" r:id="rId53"/>
    <p:sldId id="627" r:id="rId54"/>
    <p:sldId id="625" r:id="rId55"/>
    <p:sldId id="985" r:id="rId56"/>
    <p:sldId id="827" r:id="rId57"/>
    <p:sldId id="812" r:id="rId58"/>
    <p:sldId id="803" r:id="rId59"/>
    <p:sldId id="805" r:id="rId60"/>
    <p:sldId id="797" r:id="rId61"/>
    <p:sldId id="798" r:id="rId62"/>
    <p:sldId id="863" r:id="rId63"/>
    <p:sldId id="799" r:id="rId64"/>
    <p:sldId id="802" r:id="rId65"/>
    <p:sldId id="800" r:id="rId66"/>
    <p:sldId id="835" r:id="rId67"/>
    <p:sldId id="984" r:id="rId68"/>
    <p:sldId id="820" r:id="rId69"/>
    <p:sldId id="801" r:id="rId70"/>
    <p:sldId id="421" r:id="rId71"/>
    <p:sldId id="674" r:id="rId72"/>
    <p:sldId id="843" r:id="rId73"/>
    <p:sldId id="844" r:id="rId74"/>
    <p:sldId id="845" r:id="rId75"/>
    <p:sldId id="846" r:id="rId76"/>
    <p:sldId id="847" r:id="rId77"/>
    <p:sldId id="848" r:id="rId78"/>
    <p:sldId id="849" r:id="rId79"/>
    <p:sldId id="850" r:id="rId80"/>
    <p:sldId id="851" r:id="rId81"/>
    <p:sldId id="852" r:id="rId82"/>
    <p:sldId id="853" r:id="rId83"/>
    <p:sldId id="854" r:id="rId84"/>
    <p:sldId id="855" r:id="rId85"/>
    <p:sldId id="856" r:id="rId8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382"/>
            <p14:sldId id="531"/>
            <p14:sldId id="289"/>
          </p14:sldIdLst>
        </p14:section>
        <p14:section name="Monitoramento" id="{64323A2E-45CC-42A4-BA6E-FA5FFD8470DE}">
          <p14:sldIdLst>
            <p14:sldId id="807"/>
            <p14:sldId id="826"/>
            <p14:sldId id="784"/>
            <p14:sldId id="836"/>
            <p14:sldId id="837"/>
            <p14:sldId id="838"/>
            <p14:sldId id="839"/>
            <p14:sldId id="841"/>
            <p14:sldId id="857"/>
            <p14:sldId id="842"/>
            <p14:sldId id="840"/>
            <p14:sldId id="786"/>
            <p14:sldId id="865"/>
            <p14:sldId id="819"/>
            <p14:sldId id="825"/>
            <p14:sldId id="789"/>
            <p14:sldId id="791"/>
            <p14:sldId id="796"/>
            <p14:sldId id="804"/>
            <p14:sldId id="790"/>
            <p14:sldId id="794"/>
            <p14:sldId id="793"/>
            <p14:sldId id="792"/>
            <p14:sldId id="813"/>
            <p14:sldId id="788"/>
            <p14:sldId id="814"/>
            <p14:sldId id="816"/>
            <p14:sldId id="817"/>
            <p14:sldId id="828"/>
            <p14:sldId id="833"/>
            <p14:sldId id="829"/>
            <p14:sldId id="830"/>
            <p14:sldId id="861"/>
            <p14:sldId id="860"/>
            <p14:sldId id="808"/>
            <p14:sldId id="810"/>
            <p14:sldId id="811"/>
            <p14:sldId id="809"/>
            <p14:sldId id="787"/>
            <p14:sldId id="821"/>
            <p14:sldId id="822"/>
            <p14:sldId id="823"/>
            <p14:sldId id="621"/>
            <p14:sldId id="622"/>
            <p14:sldId id="824"/>
            <p14:sldId id="624"/>
            <p14:sldId id="623"/>
            <p14:sldId id="626"/>
            <p14:sldId id="627"/>
            <p14:sldId id="625"/>
            <p14:sldId id="985"/>
            <p14:sldId id="827"/>
            <p14:sldId id="812"/>
            <p14:sldId id="803"/>
          </p14:sldIdLst>
        </p14:section>
        <p14:section name="Encerramento" id="{83FFB5C5-1004-4BF8-8143-8AFE2AEC7BD8}">
          <p14:sldIdLst>
            <p14:sldId id="805"/>
            <p14:sldId id="797"/>
            <p14:sldId id="798"/>
            <p14:sldId id="863"/>
            <p14:sldId id="799"/>
            <p14:sldId id="802"/>
            <p14:sldId id="800"/>
            <p14:sldId id="835"/>
            <p14:sldId id="984"/>
            <p14:sldId id="820"/>
            <p14:sldId id="801"/>
            <p14:sldId id="421"/>
            <p14:sldId id="674"/>
          </p14:sldIdLst>
        </p14:section>
        <p14:section name="Monitoramento ágil no Jira" id="{6C2A3FE0-A39F-4851-BC24-9DF52F1AA7E4}">
          <p14:sldIdLst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677" autoAdjust="0"/>
  </p:normalViewPr>
  <p:slideViewPr>
    <p:cSldViewPr snapToGrid="0">
      <p:cViewPr varScale="1">
        <p:scale>
          <a:sx n="65" d="100"/>
          <a:sy n="65" d="100"/>
        </p:scale>
        <p:origin x="12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https://www.linkedin.com/pulse/earned-value-analysis-management-evaevm-comprehensive-sunil-zarikar-bgyaf/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610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Menos pessoas trabalhando do que o previsto</a:t>
            </a:r>
          </a:p>
          <a:p>
            <a:r>
              <a:rPr lang="pt-BR" dirty="0"/>
              <a:t>O time fica esperando algo (ambiente, aprovação, requisito), reduz custo mas atrasa.</a:t>
            </a:r>
          </a:p>
          <a:p>
            <a:r>
              <a:rPr lang="pt-BR" dirty="0"/>
              <a:t>As pessoas estão trabalhando, mas menos horas ou com menos foco</a:t>
            </a:r>
          </a:p>
          <a:p>
            <a:r>
              <a:rPr lang="pt-BR" dirty="0"/>
              <a:t>O atraso é real, mas o “baixo custo” é apenas contábil – custos não registrados</a:t>
            </a:r>
          </a:p>
          <a:p>
            <a:r>
              <a:rPr lang="pt-BR" dirty="0"/>
              <a:t>Marca-se progresso sem realmente terminar o trabalho</a:t>
            </a:r>
          </a:p>
          <a:p>
            <a:r>
              <a:rPr lang="pt-BR" dirty="0"/>
              <a:t>O planejado era agressivo demais; o time nunca teria alcançado aquele ritmo.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526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65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Fazer exemplo na lousa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952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39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50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33 alunos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012C9-B69A-465D-BE2B-CE551A843A77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5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2h  -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87E781-4F85-D02A-F578-45E310AD2E6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0457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runo.penteado@unesp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pmkb.com.br/as-etapas-do-gerenciamento-de-projetos-o-encerramento/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tech.com.br/Templates/Aceite.pdf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jsc.jus.br/documents/728949/4327713/Termo+de+encerramento/8aebd727-0aba-4d21-6fc6-bc92cb447b11" TargetMode="External"/><Relationship Id="rId4" Type="http://schemas.openxmlformats.org/officeDocument/2006/relationships/image" Target="../media/image5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n.ufpe.br/~if717/slides/uma-introducao-aa-analise-do-valor-agregado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Tg0tf5S00ck&amp;t" TargetMode="External"/><Relationship Id="rId5" Type="http://schemas.openxmlformats.org/officeDocument/2006/relationships/hyperlink" Target="https://www.youtube.com/watch?v=tuaHx_zzNeQ" TargetMode="External"/><Relationship Id="rId4" Type="http://schemas.openxmlformats.org/officeDocument/2006/relationships/hyperlink" Target="https://leomurta.github.io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ira.com/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10 </a:t>
            </a:r>
            <a:br>
              <a:rPr lang="pt-BR" dirty="0"/>
            </a:br>
            <a:r>
              <a:rPr lang="pt-BR" dirty="0"/>
              <a:t>Monitoramento, controle e encerramento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dirty="0">
                <a:hlinkClick r:id="rId2"/>
              </a:rPr>
              <a:t>bruno.penteado@unesp.br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pt-BR" dirty="0"/>
              <a:t>Conceitos de qualidade de software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produto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processo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 de maturidade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Custos da qualidade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376FF-90EA-9C4F-DC07-F31F9F5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14B55-9E67-EC4C-B3E0-F3F47E97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01FFA8-F008-8618-2CEE-D65519E8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14" y="365125"/>
            <a:ext cx="7733619" cy="638827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3C709B-AE3E-74F3-FF30-586AB2729E2E}"/>
              </a:ext>
            </a:extLst>
          </p:cNvPr>
          <p:cNvSpPr/>
          <p:nvPr/>
        </p:nvSpPr>
        <p:spPr>
          <a:xfrm>
            <a:off x="1919814" y="1578429"/>
            <a:ext cx="8051500" cy="5279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09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37573-A568-7FEB-4CE9-C0D2233B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 Gerenciamento de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59223-527C-0FBF-4711-4D0C03FC1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Harmonizar cinco variáveis principais (Pressman):</a:t>
            </a:r>
          </a:p>
          <a:p>
            <a:pPr lvl="1"/>
            <a:r>
              <a:rPr lang="pt-BR" b="1" dirty="0"/>
              <a:t>Custo</a:t>
            </a:r>
            <a:r>
              <a:rPr lang="pt-BR" dirty="0"/>
              <a:t>: orçamento para o projeto e seu monitoramento ao longo do projeto;</a:t>
            </a:r>
          </a:p>
          <a:p>
            <a:pPr lvl="1"/>
            <a:r>
              <a:rPr lang="pt-BR" b="1" dirty="0"/>
              <a:t>Tempo</a:t>
            </a:r>
            <a:r>
              <a:rPr lang="pt-BR" dirty="0"/>
              <a:t>: duração necessária para a conclusão do projeto;</a:t>
            </a:r>
          </a:p>
          <a:p>
            <a:pPr lvl="1"/>
            <a:r>
              <a:rPr lang="pt-BR" b="1" dirty="0"/>
              <a:t>Escopo</a:t>
            </a:r>
            <a:r>
              <a:rPr lang="pt-BR" dirty="0"/>
              <a:t>: funções incluídas ou não no projeto;</a:t>
            </a:r>
          </a:p>
          <a:p>
            <a:pPr lvl="1"/>
            <a:r>
              <a:rPr lang="pt-BR" b="1" dirty="0"/>
              <a:t>Qualidade</a:t>
            </a:r>
            <a:r>
              <a:rPr lang="pt-BR" dirty="0"/>
              <a:t>: índice de quanto o resultado final satisfaz os objetivos;</a:t>
            </a:r>
          </a:p>
          <a:p>
            <a:pPr lvl="1"/>
            <a:r>
              <a:rPr lang="pt-BR" b="1" dirty="0"/>
              <a:t>Risco</a:t>
            </a:r>
            <a:r>
              <a:rPr lang="pt-BR" dirty="0"/>
              <a:t>: eventos com potencial de ameaçar o sucesso do projeto;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0F59C6-3A88-B980-0F3E-ADE74DCF1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379" y="4433113"/>
            <a:ext cx="2613673" cy="215884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88E97BD-863A-EEFA-77B7-755A9156F0D0}"/>
              </a:ext>
            </a:extLst>
          </p:cNvPr>
          <p:cNvSpPr txBox="1"/>
          <p:nvPr/>
        </p:nvSpPr>
        <p:spPr>
          <a:xfrm>
            <a:off x="7295536" y="4955459"/>
            <a:ext cx="68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Risco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A1F618D-A74C-4529-D1AA-5969CC117681}"/>
              </a:ext>
            </a:extLst>
          </p:cNvPr>
          <p:cNvSpPr txBox="1"/>
          <p:nvPr/>
        </p:nvSpPr>
        <p:spPr>
          <a:xfrm>
            <a:off x="5500993" y="6514802"/>
            <a:ext cx="68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Risco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290EC2-F49C-F24B-0B5F-36A05027D43F}"/>
              </a:ext>
            </a:extLst>
          </p:cNvPr>
          <p:cNvSpPr txBox="1"/>
          <p:nvPr/>
        </p:nvSpPr>
        <p:spPr>
          <a:xfrm>
            <a:off x="3917715" y="4955459"/>
            <a:ext cx="68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Risco</a:t>
            </a:r>
          </a:p>
        </p:txBody>
      </p:sp>
    </p:spTree>
    <p:extLst>
      <p:ext uri="{BB962C8B-B14F-4D97-AF65-F5344CB8AC3E}">
        <p14:creationId xmlns:p14="http://schemas.microsoft.com/office/powerpoint/2010/main" val="20308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Monitoramento e controle</a:t>
            </a:r>
          </a:p>
          <a:p>
            <a:pPr lvl="2"/>
            <a:r>
              <a:rPr lang="pt-BR" dirty="0"/>
              <a:t>Papel no planejamento</a:t>
            </a:r>
          </a:p>
          <a:p>
            <a:pPr lvl="2"/>
            <a:r>
              <a:rPr lang="pt-BR" dirty="0"/>
              <a:t>Técnicas tradicionais x ágeis</a:t>
            </a:r>
          </a:p>
          <a:p>
            <a:pPr lvl="2"/>
            <a:r>
              <a:rPr lang="pt-BR" dirty="0"/>
              <a:t>Ferramentas computacionais de suporte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Encerramento do projeto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Atividades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Termo de Aceite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20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Monitoramento e controle</a:t>
            </a:r>
          </a:p>
          <a:p>
            <a:pPr lvl="2"/>
            <a:r>
              <a:rPr lang="pt-BR" b="1" dirty="0"/>
              <a:t>Papel no planejamento</a:t>
            </a:r>
          </a:p>
          <a:p>
            <a:pPr lvl="2"/>
            <a:r>
              <a:rPr lang="pt-BR" dirty="0"/>
              <a:t>Técnicas tradicionais x ágeis</a:t>
            </a:r>
          </a:p>
          <a:p>
            <a:pPr lvl="2"/>
            <a:r>
              <a:rPr lang="pt-BR" dirty="0"/>
              <a:t>Ferramentas computacionais de suporte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Encerramento do projeto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Atividades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Termo de Aceite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4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5A8DE-B7CD-A6F6-634F-91D8E715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12D00C-CC8D-D9D5-95CF-E681EF04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Controlar</a:t>
            </a:r>
            <a:r>
              <a:rPr lang="pt-BR" dirty="0"/>
              <a:t> </a:t>
            </a:r>
            <a:r>
              <a:rPr lang="pt-BR" b="1" dirty="0"/>
              <a:t>variações</a:t>
            </a:r>
            <a:r>
              <a:rPr lang="pt-BR" dirty="0"/>
              <a:t> ocorridas</a:t>
            </a:r>
          </a:p>
          <a:p>
            <a:pPr lvl="1"/>
            <a:r>
              <a:rPr lang="pt-BR" dirty="0"/>
              <a:t>Comparação de </a:t>
            </a:r>
            <a:r>
              <a:rPr lang="pt-BR" b="1" dirty="0"/>
              <a:t>projeto realizado x linha de base </a:t>
            </a:r>
            <a:r>
              <a:rPr lang="pt-BR" dirty="0"/>
              <a:t>(escopo, prazo, custo) do planejamento</a:t>
            </a:r>
          </a:p>
          <a:p>
            <a:pPr>
              <a:spcBef>
                <a:spcPts val="2400"/>
              </a:spcBef>
            </a:pPr>
            <a:r>
              <a:rPr lang="pt-BR" dirty="0"/>
              <a:t>GP certificar-se que as </a:t>
            </a:r>
            <a:r>
              <a:rPr lang="pt-BR" b="1" dirty="0"/>
              <a:t>entregas estão alinhadas </a:t>
            </a:r>
            <a:r>
              <a:rPr lang="pt-BR" dirty="0"/>
              <a:t>ao planejamento</a:t>
            </a:r>
          </a:p>
          <a:p>
            <a:pPr>
              <a:spcBef>
                <a:spcPts val="2400"/>
              </a:spcBef>
            </a:pPr>
            <a:r>
              <a:rPr lang="pt-BR" dirty="0"/>
              <a:t>Equipe de projeto informar o </a:t>
            </a:r>
            <a:r>
              <a:rPr lang="pt-BR" b="1" dirty="0"/>
              <a:t>andamento das atividades </a:t>
            </a:r>
            <a:r>
              <a:rPr lang="pt-BR" dirty="0"/>
              <a:t>ao GP</a:t>
            </a:r>
          </a:p>
          <a:p>
            <a:pPr lvl="1"/>
            <a:r>
              <a:rPr lang="pt-BR" dirty="0"/>
              <a:t>GP </a:t>
            </a:r>
            <a:r>
              <a:rPr lang="pt-BR" b="1" dirty="0"/>
              <a:t>repassa</a:t>
            </a:r>
            <a:r>
              <a:rPr lang="pt-BR" dirty="0"/>
              <a:t> informações ao patrocinador do projeto e outros </a:t>
            </a:r>
            <a:r>
              <a:rPr lang="pt-BR" i="1" dirty="0"/>
              <a:t>stakeholders, </a:t>
            </a:r>
            <a:r>
              <a:rPr lang="pt-BR" dirty="0"/>
              <a:t>conforme Plano de Comunicação</a:t>
            </a:r>
          </a:p>
          <a:p>
            <a:pPr>
              <a:spcBef>
                <a:spcPts val="2400"/>
              </a:spcBef>
            </a:pPr>
            <a:r>
              <a:rPr lang="pt-BR" dirty="0"/>
              <a:t>Caso o andamento da execução desvie do esperado é necessário </a:t>
            </a:r>
            <a:r>
              <a:rPr lang="pt-BR" b="1" dirty="0"/>
              <a:t>controlar</a:t>
            </a:r>
            <a:r>
              <a:rPr lang="pt-BR" dirty="0"/>
              <a:t> esse desvio:</a:t>
            </a:r>
          </a:p>
          <a:p>
            <a:pPr lvl="1"/>
            <a:r>
              <a:rPr lang="pt-BR" dirty="0"/>
              <a:t>Adaptando o plano (caso seja desejado)</a:t>
            </a:r>
          </a:p>
          <a:p>
            <a:pPr lvl="1"/>
            <a:r>
              <a:rPr lang="pt-BR" dirty="0"/>
              <a:t>Tomando ações corretivas (caso não seja desejado</a:t>
            </a:r>
          </a:p>
        </p:txBody>
      </p:sp>
    </p:spTree>
    <p:extLst>
      <p:ext uri="{BB962C8B-B14F-4D97-AF65-F5344CB8AC3E}">
        <p14:creationId xmlns:p14="http://schemas.microsoft.com/office/powerpoint/2010/main" val="11745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576A9-DF4A-7B50-A454-178CD92B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dos 3 times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3E5C98-264D-6E65-12C8-FEB004577AEC}"/>
              </a:ext>
            </a:extLst>
          </p:cNvPr>
          <p:cNvSpPr/>
          <p:nvPr/>
        </p:nvSpPr>
        <p:spPr>
          <a:xfrm>
            <a:off x="1765005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7BE93CB-D3FE-1A79-9D8D-72541D52BBD9}"/>
              </a:ext>
            </a:extLst>
          </p:cNvPr>
          <p:cNvSpPr/>
          <p:nvPr/>
        </p:nvSpPr>
        <p:spPr>
          <a:xfrm>
            <a:off x="5054009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877C32-39E2-38D1-D5D9-EB093FAB2C60}"/>
              </a:ext>
            </a:extLst>
          </p:cNvPr>
          <p:cNvSpPr/>
          <p:nvPr/>
        </p:nvSpPr>
        <p:spPr>
          <a:xfrm>
            <a:off x="8534401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3337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2223F-85A1-D26A-9857-D7667D87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709FB-EA98-7156-5045-9E524A0F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dos 3 times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298375-E7D1-8450-9E65-A784AB314489}"/>
              </a:ext>
            </a:extLst>
          </p:cNvPr>
          <p:cNvSpPr/>
          <p:nvPr/>
        </p:nvSpPr>
        <p:spPr>
          <a:xfrm>
            <a:off x="1765005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D607A0-AC5C-1DE7-398F-DD8A2C5191BF}"/>
              </a:ext>
            </a:extLst>
          </p:cNvPr>
          <p:cNvSpPr/>
          <p:nvPr/>
        </p:nvSpPr>
        <p:spPr>
          <a:xfrm>
            <a:off x="5054009" y="2006009"/>
            <a:ext cx="1456660" cy="17543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9D5484-54FB-DFAB-5510-C730C70B2F51}"/>
              </a:ext>
            </a:extLst>
          </p:cNvPr>
          <p:cNvSpPr/>
          <p:nvPr/>
        </p:nvSpPr>
        <p:spPr>
          <a:xfrm>
            <a:off x="8534401" y="2006009"/>
            <a:ext cx="1456660" cy="1754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5EA4563-8BD9-D930-C96C-6B9A518AF719}"/>
              </a:ext>
            </a:extLst>
          </p:cNvPr>
          <p:cNvSpPr/>
          <p:nvPr/>
        </p:nvSpPr>
        <p:spPr>
          <a:xfrm>
            <a:off x="1233377" y="3985846"/>
            <a:ext cx="9526772" cy="25070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pt-BR" sz="2400" dirty="0"/>
              <a:t>Projeto de 6 meses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Equipe super motivada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Cada um é responsável por uma parte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Cronograma não é acompanhado frequentemente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Depois de 5 meses, apenas metade das funcionalidades está pronta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8D34F0-33A3-872E-34A2-EB7AB80062F7}"/>
              </a:ext>
            </a:extLst>
          </p:cNvPr>
          <p:cNvSpPr txBox="1"/>
          <p:nvPr/>
        </p:nvSpPr>
        <p:spPr>
          <a:xfrm>
            <a:off x="3047114" y="644606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Eles fizeram esforço… mas não monitoraram o progresso.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451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D8B1F-E46E-096C-B76E-0BA1D560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337F3-14D0-5B67-54FC-187BC957F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dos 3 times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0FA1501-4042-40A1-FC8E-D75EBEA50B9A}"/>
              </a:ext>
            </a:extLst>
          </p:cNvPr>
          <p:cNvSpPr/>
          <p:nvPr/>
        </p:nvSpPr>
        <p:spPr>
          <a:xfrm>
            <a:off x="1765005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86BD3FD-3B07-EF5A-C94F-ABCE76AAAA04}"/>
              </a:ext>
            </a:extLst>
          </p:cNvPr>
          <p:cNvSpPr/>
          <p:nvPr/>
        </p:nvSpPr>
        <p:spPr>
          <a:xfrm>
            <a:off x="5054009" y="2006009"/>
            <a:ext cx="1456660" cy="17543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78C0062-5192-2E41-237C-AC5A8BEF3DC8}"/>
              </a:ext>
            </a:extLst>
          </p:cNvPr>
          <p:cNvSpPr/>
          <p:nvPr/>
        </p:nvSpPr>
        <p:spPr>
          <a:xfrm>
            <a:off x="8534401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67F37E-0173-696E-43FB-1E06A34530DA}"/>
              </a:ext>
            </a:extLst>
          </p:cNvPr>
          <p:cNvSpPr/>
          <p:nvPr/>
        </p:nvSpPr>
        <p:spPr>
          <a:xfrm>
            <a:off x="1233377" y="4082902"/>
            <a:ext cx="9526772" cy="21772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pt-BR" sz="2400" dirty="0"/>
              <a:t>Projeto de 6 meses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Comunicação muito boa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Validações eram sobre prazo e andamento, nunca sobre o produto em si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Ao final, a entrega foge das necessidades do cliente</a:t>
            </a:r>
          </a:p>
          <a:p>
            <a:pPr algn="ctr"/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519180-7FD3-C9F4-807E-F30E7200EDD3}"/>
              </a:ext>
            </a:extLst>
          </p:cNvPr>
          <p:cNvSpPr txBox="1"/>
          <p:nvPr/>
        </p:nvSpPr>
        <p:spPr>
          <a:xfrm>
            <a:off x="2353782" y="6492875"/>
            <a:ext cx="7285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Eles controlaram o ritmo… mas não validaram o alinhamento com o cliente.</a:t>
            </a:r>
          </a:p>
        </p:txBody>
      </p:sp>
    </p:spTree>
    <p:extLst>
      <p:ext uri="{BB962C8B-B14F-4D97-AF65-F5344CB8AC3E}">
        <p14:creationId xmlns:p14="http://schemas.microsoft.com/office/powerpoint/2010/main" val="440049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B299-3DD5-3D91-7229-08CF2DB8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DA018-8DC3-39AC-79AE-E1696166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História dos 3 times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6394483-DF1C-F012-ADD3-3802C06D187E}"/>
              </a:ext>
            </a:extLst>
          </p:cNvPr>
          <p:cNvSpPr/>
          <p:nvPr/>
        </p:nvSpPr>
        <p:spPr>
          <a:xfrm>
            <a:off x="1765005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0F095E-B5BA-88A9-1230-D013E76DF1CB}"/>
              </a:ext>
            </a:extLst>
          </p:cNvPr>
          <p:cNvSpPr/>
          <p:nvPr/>
        </p:nvSpPr>
        <p:spPr>
          <a:xfrm>
            <a:off x="5054009" y="2006009"/>
            <a:ext cx="1456660" cy="1754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36EDFB-8853-D3D2-06AE-84B99056A486}"/>
              </a:ext>
            </a:extLst>
          </p:cNvPr>
          <p:cNvSpPr/>
          <p:nvPr/>
        </p:nvSpPr>
        <p:spPr>
          <a:xfrm>
            <a:off x="8534401" y="2006009"/>
            <a:ext cx="1456660" cy="1754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9BCEC2-4D16-E3E0-FBB1-F3E3E429B08B}"/>
              </a:ext>
            </a:extLst>
          </p:cNvPr>
          <p:cNvSpPr/>
          <p:nvPr/>
        </p:nvSpPr>
        <p:spPr>
          <a:xfrm>
            <a:off x="1233377" y="4082902"/>
            <a:ext cx="9526772" cy="24099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pt-BR" sz="2400" dirty="0"/>
              <a:t>Projeto de 6 meses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Equipe entrega o sistema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Semanas seguintes: muitos bugs, retrabalhos, ajustes e mais pedidos</a:t>
            </a:r>
          </a:p>
          <a:p>
            <a:pPr algn="ctr">
              <a:spcBef>
                <a:spcPts val="1200"/>
              </a:spcBef>
            </a:pPr>
            <a:r>
              <a:rPr lang="pt-BR" sz="2400" dirty="0"/>
              <a:t>Suporte continua, mas projeto parece nunca ter fim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8B19CA-A620-DFFB-769D-3BECB54F0241}"/>
              </a:ext>
            </a:extLst>
          </p:cNvPr>
          <p:cNvSpPr txBox="1"/>
          <p:nvPr/>
        </p:nvSpPr>
        <p:spPr>
          <a:xfrm>
            <a:off x="2947877" y="644606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Eles entregaram o software… mas não encerraram o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17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87D58-7A0D-FECE-AAEE-314EC391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0BBB4-369E-609D-810F-51486D135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Essas três histórias representam </a:t>
            </a:r>
            <a:r>
              <a:rPr lang="pt-BR" b="1" dirty="0"/>
              <a:t>problemas clássicos de monitoramento, controle e encerramento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Falta de acompanhamento (tempo e custo)</a:t>
            </a:r>
          </a:p>
          <a:p>
            <a:pPr lvl="1"/>
            <a:r>
              <a:rPr lang="pt-BR" dirty="0"/>
              <a:t>Falta de validação contínua (escopo e qualidade)</a:t>
            </a:r>
          </a:p>
          <a:p>
            <a:pPr lvl="1"/>
            <a:r>
              <a:rPr lang="pt-BR" dirty="0"/>
              <a:t>Falta de encerramento formal (lições aprendidas e transição)</a:t>
            </a:r>
          </a:p>
          <a:p>
            <a:pPr>
              <a:spcBef>
                <a:spcPts val="2400"/>
              </a:spcBef>
            </a:pPr>
            <a:r>
              <a:rPr lang="pt-BR" dirty="0"/>
              <a:t>3 processos:</a:t>
            </a:r>
          </a:p>
          <a:p>
            <a:pPr lvl="1">
              <a:buFont typeface="+mj-lt"/>
              <a:buAutoNum type="arabicPeriod"/>
            </a:pPr>
            <a:r>
              <a:rPr lang="pt-BR" b="1" dirty="0"/>
              <a:t>Monitorar:</a:t>
            </a:r>
            <a:r>
              <a:rPr lang="pt-BR" dirty="0"/>
              <a:t> coletar e comparar dados (EVM, indicadores, dashboards).</a:t>
            </a:r>
          </a:p>
          <a:p>
            <a:pPr lvl="1">
              <a:buFont typeface="+mj-lt"/>
              <a:buAutoNum type="arabicPeriod"/>
            </a:pPr>
            <a:r>
              <a:rPr lang="pt-BR" b="1" dirty="0"/>
              <a:t>Controlar:</a:t>
            </a:r>
            <a:r>
              <a:rPr lang="pt-BR" dirty="0"/>
              <a:t> agir para corrigir desvios (replanejamento, mudanças).</a:t>
            </a:r>
          </a:p>
          <a:p>
            <a:pPr lvl="1">
              <a:buFont typeface="+mj-lt"/>
              <a:buAutoNum type="arabicPeriod"/>
            </a:pPr>
            <a:r>
              <a:rPr lang="pt-BR" b="1" dirty="0"/>
              <a:t>Encerrar:</a:t>
            </a:r>
            <a:r>
              <a:rPr lang="pt-BR" dirty="0"/>
              <a:t> avaliar, documentar e formalizar o fechamento do projeto.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141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202B2-2EDB-9E4F-FEFA-D25C9427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C360A9-0192-48BC-91F6-96A13C2F6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Duração planejada do projeto: </a:t>
            </a:r>
            <a:r>
              <a:rPr lang="pt-BR" b="1" dirty="0"/>
              <a:t>12 meses</a:t>
            </a:r>
          </a:p>
          <a:p>
            <a:r>
              <a:rPr lang="pt-BR" dirty="0"/>
              <a:t>Orçamento total: </a:t>
            </a:r>
            <a:r>
              <a:rPr lang="pt-BR" b="1" dirty="0"/>
              <a:t>100k</a:t>
            </a:r>
          </a:p>
          <a:p>
            <a:r>
              <a:rPr lang="pt-BR" dirty="0"/>
              <a:t>Tarefas a serem realizadas: </a:t>
            </a:r>
            <a:r>
              <a:rPr lang="pt-BR" b="1" dirty="0"/>
              <a:t>20</a:t>
            </a:r>
          </a:p>
          <a:p>
            <a:endParaRPr lang="pt-BR" dirty="0"/>
          </a:p>
          <a:p>
            <a:r>
              <a:rPr lang="pt-BR" dirty="0"/>
              <a:t>Status atual</a:t>
            </a:r>
          </a:p>
          <a:p>
            <a:pPr lvl="1"/>
            <a:r>
              <a:rPr lang="pt-BR" dirty="0"/>
              <a:t>Tempo decorrido: 6 meses</a:t>
            </a:r>
          </a:p>
          <a:p>
            <a:pPr lvl="1"/>
            <a:r>
              <a:rPr lang="pt-BR" dirty="0"/>
              <a:t>Gasto total acumulado: 64k</a:t>
            </a:r>
          </a:p>
          <a:p>
            <a:pPr lvl="1"/>
            <a:r>
              <a:rPr lang="pt-BR" dirty="0"/>
              <a:t>Tarefas concluídas: 8</a:t>
            </a:r>
          </a:p>
          <a:p>
            <a:pPr lvl="1"/>
            <a:endParaRPr lang="pt-BR" dirty="0"/>
          </a:p>
          <a:p>
            <a:r>
              <a:rPr lang="pt-BR" dirty="0"/>
              <a:t>Em que estágio estamos?</a:t>
            </a:r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E69B2EC5-86BC-2340-FC80-777DF8FD043A}"/>
              </a:ext>
            </a:extLst>
          </p:cNvPr>
          <p:cNvSpPr/>
          <p:nvPr/>
        </p:nvSpPr>
        <p:spPr>
          <a:xfrm>
            <a:off x="7251405" y="3168503"/>
            <a:ext cx="2945218" cy="2796362"/>
          </a:xfrm>
          <a:prstGeom prst="wedgeRectCallout">
            <a:avLst>
              <a:gd name="adj1" fmla="val -76068"/>
              <a:gd name="adj2" fmla="val 270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50%  do projeto, por ter passado metade do tempo planejado?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64% do projeto, por ter gasto já esse valor?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40% do projeto, já que concluímos 8 de 20 tarefas?</a:t>
            </a:r>
          </a:p>
        </p:txBody>
      </p:sp>
    </p:spTree>
    <p:extLst>
      <p:ext uri="{BB962C8B-B14F-4D97-AF65-F5344CB8AC3E}">
        <p14:creationId xmlns:p14="http://schemas.microsoft.com/office/powerpoint/2010/main" val="179926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8CD52-4EEE-4C76-1DC9-F0A0416F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5684DB-8E03-3F2E-B305-839941EF8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Não confiar só em ‘parece pronto’</a:t>
            </a:r>
            <a:r>
              <a:rPr lang="pt-BR" dirty="0"/>
              <a:t> — é preciso indicadores mensuráveis.</a:t>
            </a:r>
          </a:p>
          <a:p>
            <a:pPr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pt-BR" b="1" dirty="0"/>
              <a:t>Validação contínua com stakeholders</a:t>
            </a:r>
            <a:r>
              <a:rPr lang="pt-BR" dirty="0"/>
              <a:t> evita entregar algo ‘aprovado’ mas inútil.</a:t>
            </a:r>
          </a:p>
          <a:p>
            <a:pPr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pt-BR" b="1" dirty="0"/>
              <a:t>Definir critério de encerramento</a:t>
            </a:r>
            <a:r>
              <a:rPr lang="pt-BR" dirty="0"/>
              <a:t> e plano de sustentação evita que o projeto vire manutenção eterna.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861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553CB-5EC3-0F17-DE24-3FF2767D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24B90-DBC7-D881-B684-57EE0B40F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</a:t>
            </a:r>
            <a:r>
              <a:rPr lang="pt-BR" i="1" dirty="0"/>
              <a:t>Então, como saber se o projeto de vocês está no caminho certo?”</a:t>
            </a:r>
            <a:br>
              <a:rPr lang="pt-BR" dirty="0"/>
            </a:br>
            <a:endParaRPr lang="pt-BR" dirty="0"/>
          </a:p>
          <a:p>
            <a:r>
              <a:rPr lang="pt-BR" dirty="0"/>
              <a:t>“</a:t>
            </a:r>
            <a:r>
              <a:rPr lang="pt-BR" i="1" dirty="0"/>
              <a:t>Como medir se estão entregando o que foi prometido, no ritmo certo, com a qualidade esperada e dentro do prazo e custo definidos?”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85D85B-DFA9-2E9F-E19C-AA15BAFCC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04" y="4153057"/>
            <a:ext cx="2613673" cy="215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03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E0C62-9464-E138-00D6-15600B91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B69E5D-97B5-9289-5C3C-B00379F2E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suma,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F54847-B3DC-1CE8-9D9F-9557A5E4B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00"/>
          <a:stretch/>
        </p:blipFill>
        <p:spPr>
          <a:xfrm>
            <a:off x="2145826" y="2225675"/>
            <a:ext cx="790034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3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3173-4595-D3C8-F463-39E7EC09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30321-A304-3356-B987-DA2C737F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8 (2026)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02A2A0-F6C9-359B-4197-5C74D9288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22621" cy="4351338"/>
          </a:xfrm>
        </p:spPr>
        <p:txBody>
          <a:bodyPr/>
          <a:lstStyle/>
          <a:p>
            <a:r>
              <a:rPr lang="pt-BR" dirty="0"/>
              <a:t>Área de foco específica</a:t>
            </a:r>
          </a:p>
          <a:p>
            <a:r>
              <a:rPr lang="pt-BR" dirty="0"/>
              <a:t>Transversal a todos os </a:t>
            </a:r>
            <a:r>
              <a:rPr lang="pt-BR" i="1" dirty="0"/>
              <a:t>Performance </a:t>
            </a:r>
            <a:r>
              <a:rPr lang="pt-BR" i="1" dirty="0" err="1"/>
              <a:t>Domains</a:t>
            </a:r>
            <a:endParaRPr lang="pt-BR" i="1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C2D3CE1-6992-B597-C380-655B58A3E550}"/>
              </a:ext>
            </a:extLst>
          </p:cNvPr>
          <p:cNvGrpSpPr/>
          <p:nvPr/>
        </p:nvGrpSpPr>
        <p:grpSpPr>
          <a:xfrm>
            <a:off x="4960821" y="0"/>
            <a:ext cx="5389248" cy="6952322"/>
            <a:chOff x="4960821" y="0"/>
            <a:chExt cx="5389248" cy="6952322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D228246-5EEB-BFAD-5B09-5E45C460F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0821" y="0"/>
              <a:ext cx="5389248" cy="6952322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CC7BF70-C270-534B-2D00-F42FC95DD8DC}"/>
                </a:ext>
              </a:extLst>
            </p:cNvPr>
            <p:cNvSpPr/>
            <p:nvPr/>
          </p:nvSpPr>
          <p:spPr>
            <a:xfrm>
              <a:off x="8649994" y="365125"/>
              <a:ext cx="1021543" cy="59653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35807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0A7EC-589E-CD19-C0C2-6EEBCA41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414969-ECD9-DBBC-ED76-41C6ED6BD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1691159"/>
            <a:ext cx="8516539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39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37CB7-A737-2EE6-05AE-BE688C29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Lembrando...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023688-674B-47F8-7FA8-D438D3D77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10" y="1784453"/>
            <a:ext cx="7735380" cy="3610479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903ACE69-68EF-2F73-E166-793A3EF28E79}"/>
              </a:ext>
            </a:extLst>
          </p:cNvPr>
          <p:cNvGrpSpPr/>
          <p:nvPr/>
        </p:nvGrpSpPr>
        <p:grpSpPr>
          <a:xfrm>
            <a:off x="8452757" y="4588700"/>
            <a:ext cx="3385458" cy="2177358"/>
            <a:chOff x="7135585" y="4175908"/>
            <a:chExt cx="3385458" cy="217735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39262B7-98A2-FDA8-CC04-99FF7C99B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7970" y="4175908"/>
              <a:ext cx="2600688" cy="1771897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1248024-C7D6-5C5A-8065-9F04BE8027A1}"/>
                </a:ext>
              </a:extLst>
            </p:cNvPr>
            <p:cNvSpPr txBox="1"/>
            <p:nvPr/>
          </p:nvSpPr>
          <p:spPr>
            <a:xfrm>
              <a:off x="7135585" y="5983934"/>
              <a:ext cx="33854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b="0" i="0" u="none" strike="noStrike" dirty="0">
                  <a:effectLst/>
                  <a:latin typeface="Arial" panose="020B0604020202020204" pitchFamily="34" charset="0"/>
                </a:rPr>
                <a:t>Frederick Brooks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85021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E2201-EF46-BF7C-A17A-6830385D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recursos</a:t>
            </a:r>
          </a:p>
        </p:txBody>
      </p:sp>
      <p:pic>
        <p:nvPicPr>
          <p:cNvPr id="1026" name="Picture 2" descr="gerenciamento dos recursos">
            <a:extLst>
              <a:ext uri="{FF2B5EF4-FFF2-40B4-BE49-F238E27FC236}">
                <a16:creationId xmlns:a16="http://schemas.microsoft.com/office/drawing/2014/main" id="{5985B376-26E3-2B2C-5306-AB4AAD644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152" y="1985021"/>
            <a:ext cx="5517696" cy="4507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56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C53C4-AC2B-7C28-1FBB-A5CDA66D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mudanças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E3405E-F839-7C36-3103-EDCE4EA3E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</a:t>
            </a:r>
          </a:p>
          <a:p>
            <a:pPr lvl="1"/>
            <a:r>
              <a:rPr lang="pt-BR" dirty="0"/>
              <a:t>Solicitação de mudança</a:t>
            </a:r>
          </a:p>
          <a:p>
            <a:pPr lvl="1"/>
            <a:r>
              <a:rPr lang="pt-BR" dirty="0"/>
              <a:t>Revisão do impacto de custos e prazos gerados pela mudança</a:t>
            </a:r>
          </a:p>
          <a:p>
            <a:pPr lvl="1"/>
            <a:r>
              <a:rPr lang="pt-BR" dirty="0"/>
              <a:t>Replanejar contemplando a mudança</a:t>
            </a:r>
          </a:p>
          <a:p>
            <a:pPr lvl="1"/>
            <a:r>
              <a:rPr lang="pt-BR" dirty="0"/>
              <a:t>Execução, controle e monitoramento da mudança</a:t>
            </a:r>
          </a:p>
          <a:p>
            <a:pPr lvl="1"/>
            <a:endParaRPr lang="pt-BR" dirty="0"/>
          </a:p>
        </p:txBody>
      </p:sp>
      <p:pic>
        <p:nvPicPr>
          <p:cNvPr id="4102" name="Picture 6" descr="Gestão de Controle de Mudanças- GestQual CONTROLE DE MUDANÇAS">
            <a:extLst>
              <a:ext uri="{FF2B5EF4-FFF2-40B4-BE49-F238E27FC236}">
                <a16:creationId xmlns:a16="http://schemas.microsoft.com/office/drawing/2014/main" id="{850F3192-4FA0-48D4-63FF-8862CDC0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004" y="3859779"/>
            <a:ext cx="6230711" cy="288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838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E551D-710A-251D-7661-89823EB2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BEDB8B-4DF3-889F-141D-0F42BF4B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Atualizar o progresso do projeto</a:t>
            </a:r>
          </a:p>
          <a:p>
            <a:pPr lvl="1"/>
            <a:r>
              <a:rPr lang="pt-BR" dirty="0"/>
              <a:t>Monitorar planejado x realizado</a:t>
            </a:r>
          </a:p>
          <a:p>
            <a:pPr lvl="1"/>
            <a:r>
              <a:rPr lang="pt-BR" dirty="0"/>
              <a:t>Gerenciar as mudanças ocorridas</a:t>
            </a:r>
          </a:p>
          <a:p>
            <a:pPr>
              <a:spcBef>
                <a:spcPts val="2400"/>
              </a:spcBef>
            </a:pPr>
            <a:r>
              <a:rPr lang="pt-BR" dirty="0"/>
              <a:t>Causas comuns de desvios</a:t>
            </a:r>
          </a:p>
          <a:p>
            <a:pPr lvl="1"/>
            <a:r>
              <a:rPr lang="pt-BR" dirty="0"/>
              <a:t>Erros em estimativas (pressão de stakeholders)</a:t>
            </a:r>
          </a:p>
          <a:p>
            <a:pPr lvl="1"/>
            <a:r>
              <a:rPr lang="pt-BR" dirty="0"/>
              <a:t>Equipe desmotivada ou sem capacitação adequada</a:t>
            </a:r>
          </a:p>
          <a:p>
            <a:pPr lvl="1"/>
            <a:r>
              <a:rPr lang="pt-BR" dirty="0"/>
              <a:t>Atraso na obtenção de aprovações necessárias</a:t>
            </a:r>
          </a:p>
        </p:txBody>
      </p:sp>
      <p:pic>
        <p:nvPicPr>
          <p:cNvPr id="8194" name="Picture 2" descr="Planejar o Gerenciamento do Cronograma">
            <a:extLst>
              <a:ext uri="{FF2B5EF4-FFF2-40B4-BE49-F238E27FC236}">
                <a16:creationId xmlns:a16="http://schemas.microsoft.com/office/drawing/2014/main" id="{30644B53-0286-DDC8-177E-57799E837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125" y="4441371"/>
            <a:ext cx="4578876" cy="241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026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5D303-7E18-BA04-E38B-84DEA14C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custos</a:t>
            </a:r>
          </a:p>
        </p:txBody>
      </p:sp>
      <p:pic>
        <p:nvPicPr>
          <p:cNvPr id="2050" name="Picture 2" descr="Gerenciamento dos Custos">
            <a:extLst>
              <a:ext uri="{FF2B5EF4-FFF2-40B4-BE49-F238E27FC236}">
                <a16:creationId xmlns:a16="http://schemas.microsoft.com/office/drawing/2014/main" id="{D1CCC80B-5F0F-24A7-01A9-5E4B3636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66" y="2019981"/>
            <a:ext cx="5691868" cy="430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879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66CE8-9A66-6B83-6491-A678F5EA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5B4B93-4750-8CC9-D2C0-DEFF96172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Monitorar resultados específicos do projeto</a:t>
            </a:r>
          </a:p>
          <a:p>
            <a:pPr lvl="1"/>
            <a:r>
              <a:rPr lang="pt-BR" dirty="0"/>
              <a:t>Determinar se estão de acordo com padrões de qualidade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seguimento de normas, tempo de resposta</a:t>
            </a:r>
          </a:p>
          <a:p>
            <a:pPr lvl="1"/>
            <a:r>
              <a:rPr lang="pt-BR" dirty="0" err="1"/>
              <a:t>Validate</a:t>
            </a:r>
            <a:r>
              <a:rPr lang="pt-BR" dirty="0"/>
              <a:t> </a:t>
            </a:r>
            <a:r>
              <a:rPr lang="pt-BR" dirty="0" err="1"/>
              <a:t>scope</a:t>
            </a:r>
            <a:r>
              <a:rPr lang="pt-BR" dirty="0"/>
              <a:t> + </a:t>
            </a:r>
            <a:r>
              <a:rPr lang="pt-BR" dirty="0" err="1"/>
              <a:t>Manage</a:t>
            </a:r>
            <a:r>
              <a:rPr lang="pt-BR" dirty="0"/>
              <a:t> QA</a:t>
            </a:r>
          </a:p>
          <a:p>
            <a:pPr lvl="1"/>
            <a:endParaRPr lang="pt-BR" dirty="0"/>
          </a:p>
          <a:p>
            <a:r>
              <a:rPr lang="pt-BR" dirty="0"/>
              <a:t>Identificar maneiras de eliminar causas de resultados insatisfatórios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C4F3F1-5795-1172-2F59-3450E9954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826" y="4537464"/>
            <a:ext cx="1645231" cy="20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35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AA21A-8737-518C-52CE-1BA50341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761016-4FBA-62E1-00E9-FF076B6B4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Avaliar a eficácia do processo de riscos</a:t>
            </a:r>
          </a:p>
          <a:p>
            <a:r>
              <a:rPr lang="pt-BR" dirty="0"/>
              <a:t>Acompanhar os riscos identificados</a:t>
            </a:r>
          </a:p>
          <a:p>
            <a:r>
              <a:rPr lang="pt-BR" dirty="0"/>
              <a:t>Implementar </a:t>
            </a:r>
            <a:r>
              <a:rPr lang="pt-BR" b="1" dirty="0"/>
              <a:t>plano de resposta aos riscos</a:t>
            </a:r>
          </a:p>
          <a:p>
            <a:r>
              <a:rPr lang="pt-BR" dirty="0"/>
              <a:t>Monitorar riscos residuais</a:t>
            </a:r>
          </a:p>
          <a:p>
            <a:r>
              <a:rPr lang="pt-BR" dirty="0"/>
              <a:t>Identificar </a:t>
            </a:r>
            <a:r>
              <a:rPr lang="pt-BR" b="1" dirty="0"/>
              <a:t>novos riscos </a:t>
            </a:r>
            <a:r>
              <a:rPr lang="pt-BR" dirty="0"/>
              <a:t>(fatores internos e externos)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60F416-47C4-CC83-3D67-A53CC3C5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320" y="4424548"/>
            <a:ext cx="3828108" cy="226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64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DE1F1-69E7-ABF0-B047-584A00E0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aquisições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B314A-E911-BC2C-EA85-47C8A3AD4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Administrar ou controlar contratos</a:t>
            </a:r>
          </a:p>
          <a:p>
            <a:pPr lvl="1"/>
            <a:r>
              <a:rPr lang="pt-BR" dirty="0"/>
              <a:t>Fazer mudanças e correções conforme necessário;</a:t>
            </a:r>
          </a:p>
          <a:p>
            <a:pPr lvl="1"/>
            <a:r>
              <a:rPr lang="pt-BR" dirty="0"/>
              <a:t>Monitorar desempenho do </a:t>
            </a:r>
            <a:r>
              <a:rPr lang="pt-BR" b="1" dirty="0"/>
              <a:t>contrato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Gerenciar as relações de aquisição (prazo de entrega, variação de preços);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entregas de equipamentos, funcionamento,</a:t>
            </a:r>
          </a:p>
        </p:txBody>
      </p:sp>
      <p:pic>
        <p:nvPicPr>
          <p:cNvPr id="7170" name="Picture 2" descr="Gerenciamento das aquisições de projeto em 3 etapas">
            <a:extLst>
              <a:ext uri="{FF2B5EF4-FFF2-40B4-BE49-F238E27FC236}">
                <a16:creationId xmlns:a16="http://schemas.microsoft.com/office/drawing/2014/main" id="{1520D0AB-50F7-7728-9C3D-A6C66C14C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129" y="3810000"/>
            <a:ext cx="4424361" cy="295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936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C318F-105A-C331-9838-6F6EABD1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Controlar </a:t>
            </a:r>
            <a:r>
              <a:rPr lang="pt-BR" i="1" dirty="0"/>
              <a:t>stakeholders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0858A0-B4B5-757F-37A9-BA78D54A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Monitorar engajamento das partes interessadas</a:t>
            </a:r>
          </a:p>
          <a:p>
            <a:pPr lvl="1"/>
            <a:r>
              <a:rPr lang="pt-BR" dirty="0"/>
              <a:t>Satisfação sobre atendimento das expectativas</a:t>
            </a:r>
          </a:p>
          <a:p>
            <a:pPr>
              <a:spcBef>
                <a:spcPts val="2400"/>
              </a:spcBef>
            </a:pPr>
            <a:r>
              <a:rPr lang="pt-BR" dirty="0"/>
              <a:t>Monitorar comunicação</a:t>
            </a:r>
          </a:p>
          <a:p>
            <a:pPr lvl="1"/>
            <a:r>
              <a:rPr lang="pt-BR" dirty="0"/>
              <a:t>Qual informação, como é transmitida e a quem?</a:t>
            </a:r>
          </a:p>
          <a:p>
            <a:pPr lvl="1"/>
            <a:r>
              <a:rPr lang="pt-BR" dirty="0"/>
              <a:t>Qual o tempo da transmissão?</a:t>
            </a:r>
          </a:p>
          <a:p>
            <a:pPr lvl="1"/>
            <a:r>
              <a:rPr lang="pt-BR" dirty="0"/>
              <a:t>As tecnologias estão sendo bem usadas</a:t>
            </a:r>
          </a:p>
          <a:p>
            <a:pPr lvl="1"/>
            <a:r>
              <a:rPr lang="pt-BR" dirty="0"/>
              <a:t>O que mudar para deixar a comunicação mais eficiente?</a:t>
            </a:r>
          </a:p>
          <a:p>
            <a:pPr lvl="1"/>
            <a:r>
              <a:rPr lang="pt-BR" dirty="0"/>
              <a:t>Facilitar a tomada de decisão de cada parte interessada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576C3CD-EFE1-46E6-FE7E-8817634BF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4" t="3151" b="3839"/>
          <a:stretch/>
        </p:blipFill>
        <p:spPr>
          <a:xfrm>
            <a:off x="8760027" y="3276600"/>
            <a:ext cx="343197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30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Monitoramento e controle</a:t>
            </a:r>
          </a:p>
          <a:p>
            <a:pPr lvl="2"/>
            <a:r>
              <a:rPr lang="pt-BR" dirty="0"/>
              <a:t>Papel no planejamento</a:t>
            </a:r>
          </a:p>
          <a:p>
            <a:pPr lvl="2"/>
            <a:r>
              <a:rPr lang="pt-BR" b="1" dirty="0"/>
              <a:t>Técnicas tradicionais x ágeis</a:t>
            </a:r>
          </a:p>
          <a:p>
            <a:pPr lvl="2"/>
            <a:r>
              <a:rPr lang="pt-BR" dirty="0"/>
              <a:t>Ferramentas computacionais de suporte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Encerramento do projeto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Atividades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Termo de Aceite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973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90508-1B77-D72A-FF27-413A6A77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E81C3-9470-E0AC-72EB-F44B16D8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EVA (</a:t>
            </a:r>
            <a:r>
              <a:rPr lang="pt-BR" i="1" dirty="0" err="1"/>
              <a:t>Earned</a:t>
            </a:r>
            <a:r>
              <a:rPr lang="pt-BR" i="1" dirty="0"/>
              <a:t> </a:t>
            </a:r>
            <a:r>
              <a:rPr lang="pt-BR" i="1" dirty="0" err="1"/>
              <a:t>Value</a:t>
            </a:r>
            <a:r>
              <a:rPr lang="pt-BR" i="1" dirty="0"/>
              <a:t> </a:t>
            </a:r>
            <a:r>
              <a:rPr lang="pt-BR" i="1" dirty="0" err="1"/>
              <a:t>Analysis</a:t>
            </a:r>
            <a:r>
              <a:rPr lang="pt-BR" i="1" dirty="0"/>
              <a:t> </a:t>
            </a:r>
            <a:r>
              <a:rPr lang="pt-BR" dirty="0"/>
              <a:t>– Análise do Valor Agregado)</a:t>
            </a:r>
          </a:p>
          <a:p>
            <a:pPr lvl="1"/>
            <a:r>
              <a:rPr lang="pt-BR" dirty="0"/>
              <a:t>Considera o progresso do projeto em relação ao </a:t>
            </a:r>
            <a:r>
              <a:rPr lang="pt-BR" b="1" dirty="0"/>
              <a:t>tempo</a:t>
            </a:r>
            <a:r>
              <a:rPr lang="pt-BR" dirty="0"/>
              <a:t>, </a:t>
            </a:r>
            <a:r>
              <a:rPr lang="pt-BR" b="1" dirty="0"/>
              <a:t>custo </a:t>
            </a:r>
            <a:r>
              <a:rPr lang="pt-BR" dirty="0"/>
              <a:t>e </a:t>
            </a:r>
            <a:r>
              <a:rPr lang="pt-BR" b="1" dirty="0"/>
              <a:t>escopo</a:t>
            </a:r>
          </a:p>
          <a:p>
            <a:pPr lvl="1"/>
            <a:endParaRPr lang="pt-BR" b="1" dirty="0"/>
          </a:p>
          <a:p>
            <a:r>
              <a:rPr lang="pt-BR" b="1" dirty="0"/>
              <a:t>Pense como o cliente</a:t>
            </a:r>
            <a:endParaRPr lang="pt-BR" dirty="0"/>
          </a:p>
          <a:p>
            <a:pPr lvl="1"/>
            <a:r>
              <a:rPr lang="pt-BR" dirty="0"/>
              <a:t>Desenvolvimento de um projeto é </a:t>
            </a:r>
            <a:r>
              <a:rPr lang="pt-BR" dirty="0">
                <a:solidFill>
                  <a:srgbClr val="FF0000"/>
                </a:solidFill>
              </a:rPr>
              <a:t>agregação de valor</a:t>
            </a:r>
            <a:r>
              <a:rPr lang="pt-BR" dirty="0"/>
              <a:t>	</a:t>
            </a:r>
          </a:p>
          <a:p>
            <a:pPr lvl="1"/>
            <a:r>
              <a:rPr lang="pt-BR" dirty="0"/>
              <a:t>Com o desenvolvimento do projeto, </a:t>
            </a:r>
            <a:r>
              <a:rPr lang="pt-BR" dirty="0">
                <a:solidFill>
                  <a:srgbClr val="FF0000"/>
                </a:solidFill>
              </a:rPr>
              <a:t>$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 valor 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Não necessariamente linear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ABC0A1-C26E-E27C-7F14-BFDF41C49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80" y="4685997"/>
            <a:ext cx="10155067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40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07E-0082-EA2B-559A-F5501828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Utilizada na gestão de projetos para medir o desempenho e o progresso do projeto em relação ao </a:t>
            </a:r>
            <a:r>
              <a:rPr lang="pt-BR" b="1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orçamento</a:t>
            </a: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, </a:t>
            </a:r>
            <a:r>
              <a:rPr lang="pt-BR" b="1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cronograma</a:t>
            </a: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 e </a:t>
            </a:r>
            <a:r>
              <a:rPr lang="pt-BR" b="1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escopo</a:t>
            </a: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 definidos.</a:t>
            </a:r>
          </a:p>
          <a:p>
            <a:pPr>
              <a:spcBef>
                <a:spcPts val="2400"/>
              </a:spcBef>
            </a:pP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Permite identificar se o projeto está ultrapassando o </a:t>
            </a:r>
            <a:r>
              <a:rPr lang="pt-BR" b="1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orçamento</a:t>
            </a: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, se alguma tarefa está </a:t>
            </a:r>
            <a:r>
              <a:rPr lang="pt-BR" b="1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atrasada</a:t>
            </a: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 e se o projeto está </a:t>
            </a:r>
            <a:r>
              <a:rPr lang="pt-BR" b="1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progredindo</a:t>
            </a:r>
            <a:r>
              <a:rPr lang="pt-BR" b="0" i="0" dirty="0">
                <a:solidFill>
                  <a:srgbClr val="333333"/>
                </a:solidFill>
                <a:effectLst/>
                <a:latin typeface="Nunito Sans" panose="020F0502020204030204" pitchFamily="2" charset="0"/>
              </a:rPr>
              <a:t> conforme o esperado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1235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07E-0082-EA2B-559A-F5501828C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8984" cy="4351338"/>
          </a:xfrm>
        </p:spPr>
        <p:txBody>
          <a:bodyPr/>
          <a:lstStyle/>
          <a:p>
            <a:r>
              <a:rPr lang="pt-BR" dirty="0"/>
              <a:t>Imagine a situação:</a:t>
            </a:r>
          </a:p>
          <a:p>
            <a:pPr lvl="1"/>
            <a:r>
              <a:rPr lang="pt-BR" dirty="0"/>
              <a:t>Custo do projeto: R$ 175.000,00</a:t>
            </a:r>
          </a:p>
          <a:p>
            <a:pPr lvl="1"/>
            <a:r>
              <a:rPr lang="pt-BR" dirty="0"/>
              <a:t>Duração planejada: 12 semanas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Estamos na 8ª semana</a:t>
            </a:r>
          </a:p>
          <a:p>
            <a:pPr lvl="1"/>
            <a:r>
              <a:rPr lang="pt-BR" dirty="0"/>
              <a:t>Gastamos: R$ 60.000,00</a:t>
            </a:r>
          </a:p>
          <a:p>
            <a:pPr lvl="1"/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F7C497-AFD1-48F8-7AA9-C1BC13B2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269" y="1690688"/>
            <a:ext cx="5087060" cy="402011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514E8BA-C1D3-CD0A-5329-AB8A2C7445D9}"/>
              </a:ext>
            </a:extLst>
          </p:cNvPr>
          <p:cNvSpPr/>
          <p:nvPr/>
        </p:nvSpPr>
        <p:spPr>
          <a:xfrm>
            <a:off x="1948542" y="5018313"/>
            <a:ext cx="2242457" cy="11586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projeto será um sucesso ou fracasso?</a:t>
            </a:r>
          </a:p>
        </p:txBody>
      </p:sp>
    </p:spTree>
    <p:extLst>
      <p:ext uri="{BB962C8B-B14F-4D97-AF65-F5344CB8AC3E}">
        <p14:creationId xmlns:p14="http://schemas.microsoft.com/office/powerpoint/2010/main" val="3778109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07E-0082-EA2B-559A-F5501828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Precisamos calcular 3 fatores:</a:t>
            </a:r>
          </a:p>
          <a:p>
            <a:pPr lvl="1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D9C70E6-F104-3A9E-6D58-039C084A9ABB}"/>
              </a:ext>
            </a:extLst>
          </p:cNvPr>
          <p:cNvSpPr/>
          <p:nvPr/>
        </p:nvSpPr>
        <p:spPr>
          <a:xfrm>
            <a:off x="838200" y="2677885"/>
            <a:ext cx="3429001" cy="1937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Valor planejado (PV)</a:t>
            </a:r>
          </a:p>
          <a:p>
            <a:pPr algn="ctr"/>
            <a:endParaRPr lang="pt-BR" dirty="0"/>
          </a:p>
          <a:p>
            <a:pPr algn="ctr"/>
            <a:r>
              <a:rPr lang="pt-BR" i="1" dirty="0"/>
              <a:t>PV = BAC * %PC</a:t>
            </a:r>
          </a:p>
          <a:p>
            <a:pPr algn="ctr"/>
            <a:endParaRPr lang="pt-BR" sz="1100" dirty="0"/>
          </a:p>
          <a:p>
            <a:pPr algn="ctr"/>
            <a:r>
              <a:rPr lang="pt-BR" b="1" dirty="0"/>
              <a:t>BAC</a:t>
            </a:r>
            <a:r>
              <a:rPr lang="pt-BR" dirty="0"/>
              <a:t>: custo total</a:t>
            </a:r>
          </a:p>
          <a:p>
            <a:pPr algn="ctr"/>
            <a:r>
              <a:rPr lang="pt-BR" b="1" dirty="0"/>
              <a:t>%PC</a:t>
            </a:r>
            <a:r>
              <a:rPr lang="pt-BR" dirty="0"/>
              <a:t>: percentual planejado para o período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AE80183-1B30-C021-B6CB-649B70924BF3}"/>
              </a:ext>
            </a:extLst>
          </p:cNvPr>
          <p:cNvSpPr/>
          <p:nvPr/>
        </p:nvSpPr>
        <p:spPr>
          <a:xfrm>
            <a:off x="4528457" y="2677885"/>
            <a:ext cx="3429001" cy="193765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Valor Agregado (EV)</a:t>
            </a:r>
          </a:p>
          <a:p>
            <a:pPr algn="ctr"/>
            <a:endParaRPr lang="pt-BR" dirty="0"/>
          </a:p>
          <a:p>
            <a:pPr algn="ctr"/>
            <a:r>
              <a:rPr lang="pt-BR" i="1" dirty="0"/>
              <a:t>EV = BAC * %AC</a:t>
            </a:r>
          </a:p>
          <a:p>
            <a:pPr algn="ctr"/>
            <a:endParaRPr lang="pt-BR" sz="1100" dirty="0"/>
          </a:p>
          <a:p>
            <a:pPr algn="ctr"/>
            <a:r>
              <a:rPr lang="pt-BR" b="1" dirty="0"/>
              <a:t>BAC</a:t>
            </a:r>
            <a:r>
              <a:rPr lang="pt-BR" dirty="0"/>
              <a:t>: custo total</a:t>
            </a:r>
          </a:p>
          <a:p>
            <a:pPr algn="ctr"/>
            <a:r>
              <a:rPr lang="pt-BR" dirty="0"/>
              <a:t>%AC: percentual real de conclusão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1F9D3DB-2A7B-2C68-8CD2-FF54B3448737}"/>
              </a:ext>
            </a:extLst>
          </p:cNvPr>
          <p:cNvSpPr/>
          <p:nvPr/>
        </p:nvSpPr>
        <p:spPr>
          <a:xfrm>
            <a:off x="8218714" y="2677884"/>
            <a:ext cx="3429001" cy="19737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Custo real (AC)</a:t>
            </a:r>
          </a:p>
          <a:p>
            <a:pPr algn="ctr"/>
            <a:endParaRPr lang="pt-BR" dirty="0"/>
          </a:p>
          <a:p>
            <a:pPr algn="ctr"/>
            <a:r>
              <a:rPr lang="pt-BR" i="1" dirty="0"/>
              <a:t>AC = </a:t>
            </a:r>
            <a:r>
              <a:rPr lang="el-GR" sz="2400" i="1" dirty="0"/>
              <a:t>Σ</a:t>
            </a:r>
            <a:r>
              <a:rPr lang="pt-BR" i="1" dirty="0"/>
              <a:t>(todos custos até o momento)</a:t>
            </a:r>
          </a:p>
          <a:p>
            <a:pPr algn="ctr"/>
            <a:endParaRPr lang="pt-BR" dirty="0"/>
          </a:p>
          <a:p>
            <a:pPr algn="ctr"/>
            <a:endParaRPr lang="pt-BR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DC24F6-F2A8-4054-34F2-663D64BDEAA3}"/>
              </a:ext>
            </a:extLst>
          </p:cNvPr>
          <p:cNvSpPr txBox="1"/>
          <p:nvPr/>
        </p:nvSpPr>
        <p:spPr>
          <a:xfrm>
            <a:off x="1050472" y="4615541"/>
            <a:ext cx="300445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Nosso exemplo:</a:t>
            </a:r>
          </a:p>
          <a:p>
            <a:endParaRPr lang="pt-BR" dirty="0"/>
          </a:p>
          <a:p>
            <a:r>
              <a:rPr lang="pt-BR" dirty="0"/>
              <a:t>Na 8ª semana, deveria ter 70% do projeto já concluído</a:t>
            </a:r>
          </a:p>
          <a:p>
            <a:endParaRPr lang="pt-BR" dirty="0"/>
          </a:p>
          <a:p>
            <a:r>
              <a:rPr lang="pt-BR" b="1" dirty="0"/>
              <a:t>PV</a:t>
            </a:r>
            <a:r>
              <a:rPr lang="pt-BR" dirty="0"/>
              <a:t> = 175.000 * 70% = </a:t>
            </a:r>
            <a:r>
              <a:rPr lang="pt-BR" b="1" dirty="0"/>
              <a:t>122.500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C50E76-9BB3-110D-344E-769409A803BB}"/>
              </a:ext>
            </a:extLst>
          </p:cNvPr>
          <p:cNvSpPr txBox="1"/>
          <p:nvPr/>
        </p:nvSpPr>
        <p:spPr>
          <a:xfrm>
            <a:off x="4740728" y="4628151"/>
            <a:ext cx="300445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Nosso exemplo:</a:t>
            </a:r>
          </a:p>
          <a:p>
            <a:endParaRPr lang="pt-BR" dirty="0"/>
          </a:p>
          <a:p>
            <a:r>
              <a:rPr lang="pt-BR" dirty="0"/>
              <a:t>Na 8ª semana, assumir que 50% está concluído</a:t>
            </a:r>
          </a:p>
          <a:p>
            <a:endParaRPr lang="pt-BR" dirty="0"/>
          </a:p>
          <a:p>
            <a:r>
              <a:rPr lang="pt-BR" b="1" dirty="0"/>
              <a:t>EV</a:t>
            </a:r>
            <a:r>
              <a:rPr lang="pt-BR" dirty="0"/>
              <a:t> = 175.000 * 50% = </a:t>
            </a:r>
            <a:r>
              <a:rPr lang="pt-BR" b="1" dirty="0"/>
              <a:t>87.500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CF26BC4-16B5-E8C6-3A38-5116AC60D105}"/>
              </a:ext>
            </a:extLst>
          </p:cNvPr>
          <p:cNvSpPr txBox="1"/>
          <p:nvPr/>
        </p:nvSpPr>
        <p:spPr>
          <a:xfrm>
            <a:off x="8425541" y="4651647"/>
            <a:ext cx="300445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Nosso exemplo:</a:t>
            </a:r>
          </a:p>
          <a:p>
            <a:endParaRPr lang="pt-BR" dirty="0"/>
          </a:p>
          <a:p>
            <a:r>
              <a:rPr lang="pt-BR" dirty="0"/>
              <a:t>Assumindo que gastamos R$ 60.000,00 até agora</a:t>
            </a:r>
          </a:p>
          <a:p>
            <a:endParaRPr lang="pt-BR" dirty="0"/>
          </a:p>
          <a:p>
            <a:r>
              <a:rPr lang="pt-BR" b="1" dirty="0"/>
              <a:t>AC</a:t>
            </a:r>
            <a:r>
              <a:rPr lang="pt-BR" dirty="0"/>
              <a:t> = </a:t>
            </a:r>
            <a:r>
              <a:rPr lang="pt-BR" b="1" dirty="0"/>
              <a:t>60.000</a:t>
            </a:r>
          </a:p>
        </p:txBody>
      </p:sp>
    </p:spTree>
    <p:extLst>
      <p:ext uri="{BB962C8B-B14F-4D97-AF65-F5344CB8AC3E}">
        <p14:creationId xmlns:p14="http://schemas.microsoft.com/office/powerpoint/2010/main" val="78896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07E-0082-EA2B-559A-F5501828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Cálculo de índices</a:t>
            </a:r>
          </a:p>
          <a:p>
            <a:pPr lvl="1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B35C955-6E82-DC6C-7B75-49992E5ADE85}"/>
              </a:ext>
            </a:extLst>
          </p:cNvPr>
          <p:cNvSpPr/>
          <p:nvPr/>
        </p:nvSpPr>
        <p:spPr>
          <a:xfrm>
            <a:off x="2090057" y="2677883"/>
            <a:ext cx="3429001" cy="21227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Schedule Performance Index (SPI)</a:t>
            </a:r>
            <a:endParaRPr lang="pt-BR" dirty="0"/>
          </a:p>
          <a:p>
            <a:pPr algn="ctr"/>
            <a:endParaRPr lang="pt-BR" i="1" dirty="0"/>
          </a:p>
          <a:p>
            <a:pPr algn="ctr"/>
            <a:r>
              <a:rPr lang="pt-BR" i="1" dirty="0"/>
              <a:t>SPI = EV/PV</a:t>
            </a:r>
          </a:p>
          <a:p>
            <a:pPr algn="ctr"/>
            <a:endParaRPr lang="pt-BR" sz="1100" dirty="0"/>
          </a:p>
          <a:p>
            <a:pPr algn="ctr"/>
            <a:r>
              <a:rPr lang="pt-BR" b="1" dirty="0"/>
              <a:t>EV</a:t>
            </a:r>
            <a:r>
              <a:rPr lang="pt-BR" dirty="0"/>
              <a:t>: valor agregado</a:t>
            </a:r>
          </a:p>
          <a:p>
            <a:pPr algn="ctr"/>
            <a:r>
              <a:rPr lang="pt-BR" b="1" dirty="0"/>
              <a:t>PV</a:t>
            </a:r>
            <a:r>
              <a:rPr lang="pt-BR" dirty="0"/>
              <a:t>: valor planejado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5BC9E42-E773-FB65-0561-1CA7C7F8ED9E}"/>
              </a:ext>
            </a:extLst>
          </p:cNvPr>
          <p:cNvSpPr/>
          <p:nvPr/>
        </p:nvSpPr>
        <p:spPr>
          <a:xfrm>
            <a:off x="6455228" y="2677883"/>
            <a:ext cx="3429001" cy="21227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 err="1"/>
              <a:t>Cost</a:t>
            </a:r>
            <a:r>
              <a:rPr lang="pt-BR" sz="2400" b="1" dirty="0"/>
              <a:t> Performance Index (CPI)</a:t>
            </a:r>
            <a:endParaRPr lang="pt-BR" dirty="0"/>
          </a:p>
          <a:p>
            <a:pPr algn="ctr"/>
            <a:endParaRPr lang="pt-BR" i="1" dirty="0"/>
          </a:p>
          <a:p>
            <a:pPr algn="ctr"/>
            <a:r>
              <a:rPr lang="pt-BR" i="1" dirty="0"/>
              <a:t>CPI = EV/AC</a:t>
            </a:r>
          </a:p>
          <a:p>
            <a:pPr algn="ctr"/>
            <a:endParaRPr lang="pt-BR" sz="1100" dirty="0"/>
          </a:p>
          <a:p>
            <a:pPr algn="ctr"/>
            <a:r>
              <a:rPr lang="pt-BR" b="1" dirty="0"/>
              <a:t>EV</a:t>
            </a:r>
            <a:r>
              <a:rPr lang="pt-BR" dirty="0"/>
              <a:t>: valor agregado</a:t>
            </a:r>
          </a:p>
          <a:p>
            <a:pPr algn="ctr"/>
            <a:r>
              <a:rPr lang="pt-BR" b="1" dirty="0"/>
              <a:t>AC</a:t>
            </a:r>
            <a:r>
              <a:rPr lang="pt-BR" dirty="0"/>
              <a:t>: total já gasto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29101E5-9A7C-46C3-9719-32CF0573F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687" y="4130477"/>
            <a:ext cx="2409423" cy="80505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8AA0CA3-4883-59C1-D694-46996037F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90" y="4130477"/>
            <a:ext cx="2384922" cy="81450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979B41-4DAD-EE32-5A22-65AA5E27C83D}"/>
              </a:ext>
            </a:extLst>
          </p:cNvPr>
          <p:cNvSpPr txBox="1"/>
          <p:nvPr/>
        </p:nvSpPr>
        <p:spPr>
          <a:xfrm>
            <a:off x="2307771" y="4800598"/>
            <a:ext cx="300445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Nosso exemplo:</a:t>
            </a:r>
          </a:p>
          <a:p>
            <a:endParaRPr lang="pt-BR" dirty="0"/>
          </a:p>
          <a:p>
            <a:r>
              <a:rPr lang="pt-BR" b="1" dirty="0"/>
              <a:t>SPI = </a:t>
            </a:r>
            <a:r>
              <a:rPr lang="pt-BR" dirty="0"/>
              <a:t>87.500 / 122.500 </a:t>
            </a:r>
            <a:r>
              <a:rPr lang="pt-BR" b="1" dirty="0"/>
              <a:t>= 0,71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7608EE-759A-8A5A-9925-0C63228E4B8E}"/>
              </a:ext>
            </a:extLst>
          </p:cNvPr>
          <p:cNvSpPr txBox="1"/>
          <p:nvPr/>
        </p:nvSpPr>
        <p:spPr>
          <a:xfrm>
            <a:off x="6667499" y="4808351"/>
            <a:ext cx="300445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Nosso exemplo:</a:t>
            </a:r>
          </a:p>
          <a:p>
            <a:endParaRPr lang="pt-BR" dirty="0"/>
          </a:p>
          <a:p>
            <a:r>
              <a:rPr lang="pt-BR" b="1" dirty="0"/>
              <a:t>CPI = </a:t>
            </a:r>
            <a:r>
              <a:rPr lang="pt-BR" dirty="0"/>
              <a:t>87.500 / 60.000 = </a:t>
            </a:r>
            <a:r>
              <a:rPr lang="pt-BR" b="1" dirty="0"/>
              <a:t>1,45</a:t>
            </a:r>
          </a:p>
        </p:txBody>
      </p:sp>
    </p:spTree>
    <p:extLst>
      <p:ext uri="{BB962C8B-B14F-4D97-AF65-F5344CB8AC3E}">
        <p14:creationId xmlns:p14="http://schemas.microsoft.com/office/powerpoint/2010/main" val="31202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07E-0082-EA2B-559A-F5501828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Cálculo de índices</a:t>
            </a:r>
          </a:p>
          <a:p>
            <a:pPr lvl="1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B35C955-6E82-DC6C-7B75-49992E5ADE85}"/>
              </a:ext>
            </a:extLst>
          </p:cNvPr>
          <p:cNvSpPr/>
          <p:nvPr/>
        </p:nvSpPr>
        <p:spPr>
          <a:xfrm>
            <a:off x="68917" y="2652079"/>
            <a:ext cx="3429001" cy="21227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Schedule Performance Index (SPI)</a:t>
            </a:r>
            <a:endParaRPr lang="pt-BR" dirty="0"/>
          </a:p>
          <a:p>
            <a:pPr algn="ctr"/>
            <a:endParaRPr lang="pt-BR" i="1" dirty="0"/>
          </a:p>
          <a:p>
            <a:pPr algn="ctr"/>
            <a:r>
              <a:rPr lang="pt-BR" i="1" dirty="0"/>
              <a:t>SPI = EV/PV</a:t>
            </a:r>
          </a:p>
          <a:p>
            <a:pPr algn="ctr"/>
            <a:endParaRPr lang="pt-BR" sz="1100" dirty="0"/>
          </a:p>
          <a:p>
            <a:pPr algn="ctr"/>
            <a:r>
              <a:rPr lang="pt-BR" b="1" dirty="0"/>
              <a:t>EV</a:t>
            </a:r>
            <a:r>
              <a:rPr lang="pt-BR" dirty="0"/>
              <a:t>: valor agregado</a:t>
            </a:r>
          </a:p>
          <a:p>
            <a:pPr algn="ctr"/>
            <a:r>
              <a:rPr lang="pt-BR" b="1" dirty="0"/>
              <a:t>PV</a:t>
            </a:r>
            <a:r>
              <a:rPr lang="pt-BR" dirty="0"/>
              <a:t>: valor planejado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5BC9E42-E773-FB65-0561-1CA7C7F8ED9E}"/>
              </a:ext>
            </a:extLst>
          </p:cNvPr>
          <p:cNvSpPr/>
          <p:nvPr/>
        </p:nvSpPr>
        <p:spPr>
          <a:xfrm>
            <a:off x="8596109" y="2652079"/>
            <a:ext cx="3429001" cy="21227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 err="1"/>
              <a:t>Cost</a:t>
            </a:r>
            <a:r>
              <a:rPr lang="pt-BR" sz="2400" b="1" dirty="0"/>
              <a:t> Performance Index (CPI)</a:t>
            </a:r>
            <a:endParaRPr lang="pt-BR" dirty="0"/>
          </a:p>
          <a:p>
            <a:pPr algn="ctr"/>
            <a:endParaRPr lang="pt-BR" i="1" dirty="0"/>
          </a:p>
          <a:p>
            <a:pPr algn="ctr"/>
            <a:r>
              <a:rPr lang="pt-BR" i="1" dirty="0"/>
              <a:t>CPI = EV/AC</a:t>
            </a:r>
          </a:p>
          <a:p>
            <a:pPr algn="ctr"/>
            <a:endParaRPr lang="pt-BR" sz="1100" dirty="0"/>
          </a:p>
          <a:p>
            <a:pPr algn="ctr"/>
            <a:r>
              <a:rPr lang="pt-BR" b="1" dirty="0"/>
              <a:t>EV</a:t>
            </a:r>
            <a:r>
              <a:rPr lang="pt-BR" dirty="0"/>
              <a:t>: valor agregado</a:t>
            </a:r>
          </a:p>
          <a:p>
            <a:pPr algn="ctr"/>
            <a:r>
              <a:rPr lang="pt-BR" b="1" dirty="0"/>
              <a:t>AC</a:t>
            </a:r>
            <a:r>
              <a:rPr lang="pt-BR" dirty="0"/>
              <a:t>: total já gasto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29101E5-9A7C-46C3-9719-32CF0573F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514" y="4774794"/>
            <a:ext cx="2409423" cy="80505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8AA0CA3-4883-59C1-D694-46996037F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01" y="4850238"/>
            <a:ext cx="2384922" cy="814507"/>
          </a:xfrm>
          <a:prstGeom prst="rect">
            <a:avLst/>
          </a:prstGeom>
        </p:spPr>
      </p:pic>
      <p:pic>
        <p:nvPicPr>
          <p:cNvPr id="3074" name="Picture 2" descr="EVA - Introdução O que é EVA? - ppt video online carregar">
            <a:extLst>
              <a:ext uri="{FF2B5EF4-FFF2-40B4-BE49-F238E27FC236}">
                <a16:creationId xmlns:a16="http://schemas.microsoft.com/office/drawing/2014/main" id="{ABB9B417-E8EF-9E89-1D63-4F6AE00F0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585" y="2198914"/>
            <a:ext cx="5860118" cy="439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95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07E-0082-EA2B-559A-F5501828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Cronograma: </a:t>
            </a:r>
            <a:r>
              <a:rPr lang="pt-BR" dirty="0">
                <a:solidFill>
                  <a:srgbClr val="FF0000"/>
                </a:solidFill>
              </a:rPr>
              <a:t>atrasado</a:t>
            </a:r>
          </a:p>
          <a:p>
            <a:r>
              <a:rPr lang="pt-BR" dirty="0"/>
              <a:t>Custo: </a:t>
            </a:r>
            <a:r>
              <a:rPr lang="pt-BR" dirty="0">
                <a:solidFill>
                  <a:srgbClr val="FF0000"/>
                </a:solidFill>
              </a:rPr>
              <a:t>abaixo do custo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28A03D-ED49-84EF-FA9E-F56611AB2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067050"/>
            <a:ext cx="4466615" cy="35076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628519F-F453-38BA-1EE4-413E15F11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898" y="3235909"/>
            <a:ext cx="4695216" cy="337624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28CA30E9-FCC2-F3C3-68E2-5D3FA3F87025}"/>
              </a:ext>
            </a:extLst>
          </p:cNvPr>
          <p:cNvSpPr/>
          <p:nvPr/>
        </p:nvSpPr>
        <p:spPr>
          <a:xfrm>
            <a:off x="6814457" y="1690688"/>
            <a:ext cx="2242457" cy="11586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que pode ter acontecido?</a:t>
            </a:r>
          </a:p>
        </p:txBody>
      </p:sp>
    </p:spTree>
    <p:extLst>
      <p:ext uri="{BB962C8B-B14F-4D97-AF65-F5344CB8AC3E}">
        <p14:creationId xmlns:p14="http://schemas.microsoft.com/office/powerpoint/2010/main" val="2253663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4C876-1F53-83EE-69AD-0B231A00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EVA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2C32AC-2E8B-D852-4F5F-E1B9C9EF7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93" y="1625372"/>
            <a:ext cx="8079447" cy="502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26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66819-6E88-45A5-544A-46B08DBC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6188D2-2FA7-C075-F5F1-E5F6E521F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Planilha no </a:t>
            </a:r>
            <a:r>
              <a:rPr lang="pt-BR" i="1" dirty="0" err="1"/>
              <a:t>Classroom</a:t>
            </a:r>
            <a:endParaRPr lang="pt-BR" i="1" dirty="0"/>
          </a:p>
          <a:p>
            <a:r>
              <a:rPr lang="pt-BR" dirty="0"/>
              <a:t>3 cenários</a:t>
            </a:r>
          </a:p>
          <a:p>
            <a:pPr lvl="1"/>
            <a:r>
              <a:rPr lang="pt-BR" dirty="0"/>
              <a:t>Simule os valores na planilha e responda:</a:t>
            </a:r>
          </a:p>
          <a:p>
            <a:pPr lvl="2"/>
            <a:r>
              <a:rPr lang="pt-BR" dirty="0"/>
              <a:t>Qual a interpretação do SPI e CPI?</a:t>
            </a:r>
          </a:p>
          <a:p>
            <a:pPr lvl="2"/>
            <a:r>
              <a:rPr lang="pt-BR" dirty="0"/>
              <a:t>Que ação de controle pode ser sugerida em cada caso?</a:t>
            </a:r>
          </a:p>
          <a:p>
            <a:pPr lvl="1"/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BF5ECD7-FB09-7F86-0330-505A91F3D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335105"/>
              </p:ext>
            </p:extLst>
          </p:nvPr>
        </p:nvGraphicFramePr>
        <p:xfrm>
          <a:off x="479647" y="4239260"/>
          <a:ext cx="10874153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99">
                  <a:extLst>
                    <a:ext uri="{9D8B030D-6E8A-4147-A177-3AD203B41FA5}">
                      <a16:colId xmlns:a16="http://schemas.microsoft.com/office/drawing/2014/main" val="2890416452"/>
                    </a:ext>
                  </a:extLst>
                </a:gridCol>
                <a:gridCol w="1701209">
                  <a:extLst>
                    <a:ext uri="{9D8B030D-6E8A-4147-A177-3AD203B41FA5}">
                      <a16:colId xmlns:a16="http://schemas.microsoft.com/office/drawing/2014/main" val="1117235982"/>
                    </a:ext>
                  </a:extLst>
                </a:gridCol>
                <a:gridCol w="1499191">
                  <a:extLst>
                    <a:ext uri="{9D8B030D-6E8A-4147-A177-3AD203B41FA5}">
                      <a16:colId xmlns:a16="http://schemas.microsoft.com/office/drawing/2014/main" val="3958458518"/>
                    </a:ext>
                  </a:extLst>
                </a:gridCol>
                <a:gridCol w="1541720">
                  <a:extLst>
                    <a:ext uri="{9D8B030D-6E8A-4147-A177-3AD203B41FA5}">
                      <a16:colId xmlns:a16="http://schemas.microsoft.com/office/drawing/2014/main" val="2927663188"/>
                    </a:ext>
                  </a:extLst>
                </a:gridCol>
                <a:gridCol w="1913861">
                  <a:extLst>
                    <a:ext uri="{9D8B030D-6E8A-4147-A177-3AD203B41FA5}">
                      <a16:colId xmlns:a16="http://schemas.microsoft.com/office/drawing/2014/main" val="2203104342"/>
                    </a:ext>
                  </a:extLst>
                </a:gridCol>
                <a:gridCol w="2592573">
                  <a:extLst>
                    <a:ext uri="{9D8B030D-6E8A-4147-A177-3AD203B41FA5}">
                      <a16:colId xmlns:a16="http://schemas.microsoft.com/office/drawing/2014/main" val="1360673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Cenário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%PC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%AC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Interpretação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4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100.000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48.000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05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130.000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2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150.000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982053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FED69F92-6F15-6F37-09A2-1A61AF661D3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045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442FE-4404-B584-E2DC-0E3F5F3D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 potenciais EVA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EBC9BA-D44B-5E47-655A-620395297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Aumento do desempenho</a:t>
            </a:r>
          </a:p>
          <a:p>
            <a:r>
              <a:rPr lang="pt-BR" dirty="0"/>
              <a:t>Gerenciamento adaptativo</a:t>
            </a:r>
          </a:p>
          <a:p>
            <a:r>
              <a:rPr lang="pt-BR" dirty="0"/>
              <a:t>Boa capacidade de previsão</a:t>
            </a:r>
          </a:p>
          <a:p>
            <a:r>
              <a:rPr lang="pt-BR" dirty="0"/>
              <a:t>Bases de dados de projetos concluídos são úteis para análise comparativa</a:t>
            </a:r>
          </a:p>
        </p:txBody>
      </p:sp>
    </p:spTree>
    <p:extLst>
      <p:ext uri="{BB962C8B-B14F-4D97-AF65-F5344CB8AC3E}">
        <p14:creationId xmlns:p14="http://schemas.microsoft.com/office/powerpoint/2010/main" val="3649556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E54E3-9DEE-896D-ABC4-90048BA4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Técnicas - KPI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FEF28-ABC3-6406-0996-FB9C1730A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KPI (</a:t>
            </a:r>
            <a:r>
              <a:rPr lang="pt-BR" i="1" dirty="0"/>
              <a:t>Key Performance </a:t>
            </a:r>
            <a:r>
              <a:rPr lang="pt-BR" i="1" dirty="0" err="1"/>
              <a:t>Indicators</a:t>
            </a:r>
            <a:r>
              <a:rPr lang="pt-BR" i="1" dirty="0"/>
              <a:t> </a:t>
            </a:r>
            <a:r>
              <a:rPr lang="pt-BR" dirty="0"/>
              <a:t>– Indicadores-chave de desempenho)</a:t>
            </a:r>
          </a:p>
          <a:p>
            <a:pPr>
              <a:spcBef>
                <a:spcPts val="2400"/>
              </a:spcBef>
            </a:pPr>
            <a:r>
              <a:rPr lang="pt-BR" dirty="0"/>
              <a:t>Conjunto de </a:t>
            </a:r>
            <a:r>
              <a:rPr lang="pt-BR" b="1" dirty="0"/>
              <a:t>métricas</a:t>
            </a:r>
            <a:r>
              <a:rPr lang="pt-BR" dirty="0"/>
              <a:t> quantificáveis que uma empresa ou indústria usa para avaliar e comparar o desempenho em termos de </a:t>
            </a:r>
            <a:r>
              <a:rPr lang="pt-BR" b="1" dirty="0"/>
              <a:t>cumprimento de suas metas estratégicas e operacionais</a:t>
            </a:r>
            <a:r>
              <a:rPr lang="pt-BR" dirty="0"/>
              <a:t>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Devem ser claramente ligadas à estratégia (ou seja, o que importa mais)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Devem fornecer respostas às questões mais importantes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Devem ser criadas para empoderar equipe com informações relevantes para aprendizado</a:t>
            </a:r>
          </a:p>
        </p:txBody>
      </p:sp>
    </p:spTree>
    <p:extLst>
      <p:ext uri="{BB962C8B-B14F-4D97-AF65-F5344CB8AC3E}">
        <p14:creationId xmlns:p14="http://schemas.microsoft.com/office/powerpoint/2010/main" val="3128334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30133-6D11-B434-5673-A4DB441D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KPI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98B8A6-07E1-F6DB-6D21-3F8DBE3DB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KPI - Exemplos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036F76-7BE4-5E77-DB56-666430BD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44" y="2532584"/>
            <a:ext cx="2712110" cy="358518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7BE429-E3C7-2E2B-B1B6-B2A2566C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310" y="2499926"/>
            <a:ext cx="1751817" cy="18201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E9E3F62-67D8-2008-11AA-96198F19E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994" y="4425467"/>
            <a:ext cx="3075140" cy="218034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AF25FC2-6544-C132-ABB5-19004742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127" y="2456382"/>
            <a:ext cx="3156918" cy="182015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B1EC5E5-C816-763C-68B1-DF8DF9C4E5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557" y="2532584"/>
            <a:ext cx="2777409" cy="333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553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7B341-BE77-09B4-E176-05189976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KPI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C76095-7361-25C1-DD35-67887A748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KPIs de desenvolvimento de software</a:t>
            </a:r>
          </a:p>
        </p:txBody>
      </p:sp>
      <p:pic>
        <p:nvPicPr>
          <p:cNvPr id="1026" name="Picture 2" descr="5 Software Development KPIs for a Savvy Engineering Leader | LinearB Blog">
            <a:extLst>
              <a:ext uri="{FF2B5EF4-FFF2-40B4-BE49-F238E27FC236}">
                <a16:creationId xmlns:a16="http://schemas.microsoft.com/office/drawing/2014/main" id="{7F03A1AF-C627-9F67-F7CD-DB8DA1980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373" y="2295524"/>
            <a:ext cx="5693228" cy="372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PIs for software development: A comprehensive review - 7pace">
            <a:extLst>
              <a:ext uri="{FF2B5EF4-FFF2-40B4-BE49-F238E27FC236}">
                <a16:creationId xmlns:a16="http://schemas.microsoft.com/office/drawing/2014/main" id="{B40E4A89-A15F-64B6-B52F-41A34D55C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394857"/>
            <a:ext cx="4920344" cy="325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4945A19-A4C1-1E8C-DBD6-B59712F14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358" y="3062085"/>
            <a:ext cx="7091284" cy="358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0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EF269-74A7-CF84-4859-E51B22AE1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- CPM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DDA647-9773-D75E-9BC4-C8E8895FB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6857" cy="4351338"/>
          </a:xfrm>
        </p:spPr>
        <p:txBody>
          <a:bodyPr>
            <a:normAutofit/>
          </a:bodyPr>
          <a:lstStyle/>
          <a:p>
            <a:r>
              <a:rPr lang="pt-BR" sz="2400" dirty="0"/>
              <a:t>CPM (</a:t>
            </a:r>
            <a:r>
              <a:rPr lang="pt-BR" sz="2400" i="1" dirty="0" err="1"/>
              <a:t>Critical</a:t>
            </a:r>
            <a:r>
              <a:rPr lang="pt-BR" sz="2400" i="1" dirty="0"/>
              <a:t> Path </a:t>
            </a:r>
            <a:r>
              <a:rPr lang="pt-BR" sz="2400" i="1" dirty="0" err="1"/>
              <a:t>Method</a:t>
            </a:r>
            <a:r>
              <a:rPr lang="pt-BR" sz="2400" i="1" dirty="0"/>
              <a:t> </a:t>
            </a:r>
            <a:r>
              <a:rPr lang="pt-BR" sz="2400" dirty="0"/>
              <a:t>– Método do Caminho Crítico)</a:t>
            </a:r>
          </a:p>
          <a:p>
            <a:pPr>
              <a:spcBef>
                <a:spcPts val="2400"/>
              </a:spcBef>
            </a:pPr>
            <a:r>
              <a:rPr lang="pt-BR" sz="2400" b="1" dirty="0"/>
              <a:t>Caminho crítico: </a:t>
            </a:r>
            <a:r>
              <a:rPr lang="pt-BR" sz="2400" dirty="0"/>
              <a:t>sequência mais longa de tarefas que precisam ser concluídas antes do término do projeto</a:t>
            </a:r>
          </a:p>
          <a:p>
            <a:pPr lvl="1">
              <a:spcBef>
                <a:spcPts val="1200"/>
              </a:spcBef>
            </a:pPr>
            <a:r>
              <a:rPr lang="pt-BR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Ou seja, quais atividades de uma sequência não podem sofrer alteração de duração sem que isso reflita na duração total de um projeto</a:t>
            </a: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1A4EA7-91D9-4280-C668-2547B617C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5"/>
          <a:stretch/>
        </p:blipFill>
        <p:spPr>
          <a:xfrm>
            <a:off x="2061289" y="4147489"/>
            <a:ext cx="4901382" cy="271051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93A5388-C303-6DFC-06CC-4F5DDF337147}"/>
              </a:ext>
            </a:extLst>
          </p:cNvPr>
          <p:cNvSpPr/>
          <p:nvPr/>
        </p:nvSpPr>
        <p:spPr>
          <a:xfrm>
            <a:off x="7561386" y="3809999"/>
            <a:ext cx="4330002" cy="28604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Prioridade no monitoramento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Controle para: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400" dirty="0"/>
              <a:t>Realocação  de recursos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400" dirty="0"/>
              <a:t>Paralelização de tarefas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400" dirty="0"/>
              <a:t>Redução de escopo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400" dirty="0"/>
              <a:t>Compressão de cronograma </a:t>
            </a:r>
          </a:p>
        </p:txBody>
      </p:sp>
    </p:spTree>
    <p:extLst>
      <p:ext uri="{BB962C8B-B14F-4D97-AF65-F5344CB8AC3E}">
        <p14:creationId xmlns:p14="http://schemas.microsoft.com/office/powerpoint/2010/main" val="213905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E1225-0A17-2892-6AFB-3230A4A6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ágil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2DA9E0-8A29-0FE8-27C7-7DE6B18A7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Quadros/</a:t>
            </a:r>
            <a:r>
              <a:rPr lang="pt-BR" dirty="0" err="1"/>
              <a:t>Kanban</a:t>
            </a:r>
            <a:endParaRPr lang="pt-BR" dirty="0"/>
          </a:p>
          <a:p>
            <a:r>
              <a:rPr lang="pt-BR" dirty="0" err="1"/>
              <a:t>Burndown</a:t>
            </a:r>
            <a:r>
              <a:rPr lang="pt-BR" dirty="0"/>
              <a:t> </a:t>
            </a:r>
            <a:r>
              <a:rPr lang="pt-BR" dirty="0" err="1"/>
              <a:t>chart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38463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1AB4-E3BE-D531-69BB-B1519DE1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ágeis - </a:t>
            </a:r>
            <a:r>
              <a:rPr lang="pt-BR" dirty="0" err="1"/>
              <a:t>Kanban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010541-D988-9F64-6822-4EAC7F7C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1853578"/>
            <a:ext cx="8421275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65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1AB4-E3BE-D531-69BB-B1519DE1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ágeis - </a:t>
            </a:r>
            <a:r>
              <a:rPr lang="pt-BR" dirty="0" err="1"/>
              <a:t>Kanban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980CE5-70B9-D872-6D72-F33AD6211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14" y="1690688"/>
            <a:ext cx="8028300" cy="48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55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F0B7E-B403-A0CF-EBFF-049D2CED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ágeis - </a:t>
            </a:r>
            <a:r>
              <a:rPr lang="pt-BR" dirty="0" err="1"/>
              <a:t>Kanban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A62C2D-5439-AB6F-2C80-8B7E3E93A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305" y="1701574"/>
            <a:ext cx="6632467" cy="50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78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4CEEB-5968-1B92-4116-A0A0AD33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Monitoramento e controle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6AAA94-75EE-0572-424B-90C98CF48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Monitoramento e controle em métodos ágeis: quadro de </a:t>
            </a:r>
            <a:r>
              <a:rPr lang="pt-BR" b="1" i="1" dirty="0" err="1"/>
              <a:t>burndown</a:t>
            </a:r>
            <a:r>
              <a:rPr lang="pt-BR" dirty="0"/>
              <a:t>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081F12-05B2-77EA-E031-CC999555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030" y="2348611"/>
            <a:ext cx="5102753" cy="396328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1A2447C-4D1B-5559-FC84-8AE2794D4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847" y="6375036"/>
            <a:ext cx="2797117" cy="2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41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B71DE-FF1F-C28C-B289-E3B7C64C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</a:t>
            </a:r>
            <a:r>
              <a:rPr lang="pt-BR" i="1" dirty="0" err="1"/>
              <a:t>burndown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FBBF00-90E6-7C2F-5E6F-817BF8C6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pt-BR" dirty="0"/>
              <a:t>Instrumento principal de monitoramento em métodos ágeis</a:t>
            </a:r>
          </a:p>
          <a:p>
            <a:pPr algn="l">
              <a:spcBef>
                <a:spcPts val="2400"/>
              </a:spcBef>
            </a:pPr>
            <a:r>
              <a:rPr lang="pt-BR" dirty="0"/>
              <a:t>Tem como foco a iteração corrente</a:t>
            </a:r>
          </a:p>
          <a:p>
            <a:pPr algn="l">
              <a:spcBef>
                <a:spcPts val="2400"/>
              </a:spcBef>
            </a:pPr>
            <a:r>
              <a:rPr lang="pt-BR" dirty="0"/>
              <a:t>Mostra esforço x tempo</a:t>
            </a:r>
          </a:p>
          <a:p>
            <a:pPr lvl="1"/>
            <a:r>
              <a:rPr lang="pt-BR" b="1" dirty="0"/>
              <a:t>Eixo X</a:t>
            </a:r>
            <a:r>
              <a:rPr lang="pt-BR" dirty="0"/>
              <a:t>: tempo estimado para a iteração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Eixo Y</a:t>
            </a:r>
            <a:r>
              <a:rPr lang="pt-BR" dirty="0"/>
              <a:t>: esforço restante para a iteração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Linha diagonal</a:t>
            </a:r>
            <a:r>
              <a:rPr lang="pt-BR" dirty="0"/>
              <a:t>: decaimento de esforço assumindo linearidade</a:t>
            </a:r>
          </a:p>
        </p:txBody>
      </p:sp>
    </p:spTree>
    <p:extLst>
      <p:ext uri="{BB962C8B-B14F-4D97-AF65-F5344CB8AC3E}">
        <p14:creationId xmlns:p14="http://schemas.microsoft.com/office/powerpoint/2010/main" val="1486355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5972E-AB05-D53F-1064-59A8055D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6243ED-013D-AC1A-0240-67353AC25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2B2E12-82B0-343D-CFC0-A45F4A74A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3660"/>
            <a:ext cx="12192000" cy="597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41353-EF3A-795F-D95F-C66552BB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Preenchimento do gráfico de </a:t>
            </a:r>
            <a:r>
              <a:rPr lang="pt-BR" i="1" dirty="0" err="1"/>
              <a:t>burndown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89917B-83C7-1A70-B984-FFB27C092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cada dia (no </a:t>
            </a:r>
            <a:r>
              <a:rPr lang="pt-BR" i="1" dirty="0" err="1"/>
              <a:t>daily</a:t>
            </a:r>
            <a:r>
              <a:rPr lang="pt-BR" i="1" dirty="0"/>
              <a:t> meeting</a:t>
            </a:r>
            <a:r>
              <a:rPr lang="pt-BR" dirty="0"/>
              <a:t>), marcar o ponto no gráfico equivalente ao momento atual</a:t>
            </a:r>
          </a:p>
          <a:p>
            <a:pPr lvl="1"/>
            <a:r>
              <a:rPr lang="pt-BR" dirty="0"/>
              <a:t>Decaimento representa o quanto de trabalho previsto que já foi feito</a:t>
            </a:r>
          </a:p>
          <a:p>
            <a:pPr>
              <a:spcBef>
                <a:spcPts val="2400"/>
              </a:spcBef>
            </a:pPr>
            <a:r>
              <a:rPr lang="pt-BR" dirty="0"/>
              <a:t>Conectar o ponto atual com o ponto do dia anterior com uma linha</a:t>
            </a:r>
          </a:p>
          <a:p>
            <a:pPr>
              <a:spcBef>
                <a:spcPts val="2400"/>
              </a:spcBef>
            </a:pPr>
            <a:r>
              <a:rPr lang="pt-BR" dirty="0"/>
              <a:t>Analisar a situação atual do desenvolvimento e tomar as medidas necessárias</a:t>
            </a:r>
          </a:p>
        </p:txBody>
      </p:sp>
    </p:spTree>
    <p:extLst>
      <p:ext uri="{BB962C8B-B14F-4D97-AF65-F5344CB8AC3E}">
        <p14:creationId xmlns:p14="http://schemas.microsoft.com/office/powerpoint/2010/main" val="2020905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2E02E-25A2-4839-40B7-19E01C5E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Quadro de </a:t>
            </a:r>
            <a:r>
              <a:rPr lang="pt-BR" i="1" dirty="0" err="1"/>
              <a:t>burndown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41613-768C-45C6-3E1D-3A8D69C6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7BF900-5DA9-AD8C-BCBF-B28741A57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55" y="1568572"/>
            <a:ext cx="7980574" cy="525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2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2E02E-25A2-4839-40B7-19E01C5E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Quadro de </a:t>
            </a:r>
            <a:r>
              <a:rPr lang="pt-BR" i="1" dirty="0" err="1"/>
              <a:t>burndown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41613-768C-45C6-3E1D-3A8D69C6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9F3477-FC21-86AD-50F9-34CCBACA9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74" y="1690687"/>
            <a:ext cx="7773283" cy="514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147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2E02E-25A2-4839-40B7-19E01C5E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Quadro de </a:t>
            </a:r>
            <a:r>
              <a:rPr lang="pt-BR" i="1" dirty="0" err="1"/>
              <a:t>burndown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41613-768C-45C6-3E1D-3A8D69C6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3E1D0B-4286-3ADF-C3B3-8DDF95567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667" y="1690688"/>
            <a:ext cx="7844033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72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16462-5BBE-2107-ACFF-A7F023E1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 gráfico de </a:t>
            </a:r>
            <a:r>
              <a:rPr lang="pt-BR" i="1" dirty="0" err="1"/>
              <a:t>burndown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B884F-3C78-25D0-65C5-2A4609FD6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pt-BR" dirty="0"/>
              <a:t>O que significa quando o gráfico está </a:t>
            </a:r>
            <a:r>
              <a:rPr lang="pt-BR" b="1" dirty="0"/>
              <a:t>mais alto que a linha </a:t>
            </a:r>
            <a:r>
              <a:rPr lang="pt-BR" dirty="0"/>
              <a:t>de decaimento linear?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Atraso</a:t>
            </a:r>
            <a:r>
              <a:rPr lang="pt-BR" dirty="0"/>
              <a:t> no cronograma</a:t>
            </a:r>
          </a:p>
          <a:p>
            <a:pPr algn="l">
              <a:spcBef>
                <a:spcPts val="2400"/>
              </a:spcBef>
            </a:pPr>
            <a:r>
              <a:rPr lang="pt-BR" dirty="0"/>
              <a:t>O que significa quando o gráfico está </a:t>
            </a:r>
            <a:r>
              <a:rPr lang="pt-BR" b="1" dirty="0"/>
              <a:t>mais baixo que a linha </a:t>
            </a:r>
            <a:r>
              <a:rPr lang="pt-BR" dirty="0"/>
              <a:t>de decaimento linear?</a:t>
            </a:r>
          </a:p>
          <a:p>
            <a:pPr lvl="1"/>
            <a:r>
              <a:rPr lang="pt-BR" b="1" dirty="0">
                <a:solidFill>
                  <a:schemeClr val="accent6"/>
                </a:solidFill>
              </a:rPr>
              <a:t>Adiantamento</a:t>
            </a:r>
            <a:r>
              <a:rPr lang="pt-BR" dirty="0"/>
              <a:t> no cronograma</a:t>
            </a:r>
          </a:p>
          <a:p>
            <a:pPr algn="l">
              <a:spcBef>
                <a:spcPts val="2400"/>
              </a:spcBef>
            </a:pPr>
            <a:r>
              <a:rPr lang="pt-BR" dirty="0"/>
              <a:t>O que fazer em cada um desses casos?</a:t>
            </a:r>
          </a:p>
          <a:p>
            <a:pPr lvl="1"/>
            <a:r>
              <a:rPr lang="pt-BR" dirty="0"/>
              <a:t>Mitigar riscos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Refazer estimativas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Possibilidade de adicionar ou remover tarefas</a:t>
            </a:r>
          </a:p>
        </p:txBody>
      </p:sp>
    </p:spTree>
    <p:extLst>
      <p:ext uri="{BB962C8B-B14F-4D97-AF65-F5344CB8AC3E}">
        <p14:creationId xmlns:p14="http://schemas.microsoft.com/office/powerpoint/2010/main" val="341888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34C2E-0480-F6E0-5F7E-1915B769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28B6A1-6591-6711-91EA-46B6BE0DA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Compare o EVA e o </a:t>
            </a:r>
            <a:r>
              <a:rPr lang="pt-BR" dirty="0" err="1"/>
              <a:t>burndown</a:t>
            </a:r>
            <a:r>
              <a:rPr lang="pt-BR" dirty="0"/>
              <a:t> </a:t>
            </a:r>
            <a:r>
              <a:rPr lang="pt-BR" dirty="0" err="1"/>
              <a:t>chart</a:t>
            </a:r>
            <a:r>
              <a:rPr lang="pt-BR" dirty="0"/>
              <a:t> na planilha do </a:t>
            </a:r>
            <a:r>
              <a:rPr lang="pt-BR" dirty="0" err="1"/>
              <a:t>Classroom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F66EAB-631C-1DDD-13AD-DB1F33FC891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8915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Monitoramento e controle</a:t>
            </a:r>
          </a:p>
          <a:p>
            <a:pPr lvl="2"/>
            <a:r>
              <a:rPr lang="pt-BR" dirty="0"/>
              <a:t>Papel no planejamento</a:t>
            </a:r>
          </a:p>
          <a:p>
            <a:pPr lvl="2"/>
            <a:r>
              <a:rPr lang="pt-BR" dirty="0"/>
              <a:t>Técnicas tradicionais x ágeis</a:t>
            </a:r>
          </a:p>
          <a:p>
            <a:pPr lvl="2"/>
            <a:r>
              <a:rPr lang="pt-BR" b="1" dirty="0"/>
              <a:t>Ferramentas computacionais de suporte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Encerramento do projeto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Atividades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Termo de Aceite</a:t>
            </a:r>
          </a:p>
          <a:p>
            <a:pPr marL="1371600" lvl="2" indent="-457200">
              <a:spcBef>
                <a:spcPts val="2400"/>
              </a:spcBef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1971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Vantagens de utilizar o MS Project na construção civil">
            <a:extLst>
              <a:ext uri="{FF2B5EF4-FFF2-40B4-BE49-F238E27FC236}">
                <a16:creationId xmlns:a16="http://schemas.microsoft.com/office/drawing/2014/main" id="{2B84E517-166C-A96C-C52C-7C4F9A858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589" y="1745117"/>
            <a:ext cx="4515387" cy="202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275BF1-1061-E86A-8EDD-A6F44042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 computacionais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79C6DC25-E90D-CB6F-C782-32B5D30DB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406" y="1798138"/>
            <a:ext cx="693383" cy="60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sana: confira os benefícios da plataforma » Organize na Prática">
            <a:extLst>
              <a:ext uri="{FF2B5EF4-FFF2-40B4-BE49-F238E27FC236}">
                <a16:creationId xmlns:a16="http://schemas.microsoft.com/office/drawing/2014/main" id="{13D7929D-233D-2A4C-EB89-AB94541147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8" t="8571" r="6140"/>
          <a:stretch/>
        </p:blipFill>
        <p:spPr bwMode="auto">
          <a:xfrm>
            <a:off x="6601338" y="1615957"/>
            <a:ext cx="3581400" cy="238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ntrodução ao Trello: Como usar os quadros e cartões do Trello | Trello">
            <a:extLst>
              <a:ext uri="{FF2B5EF4-FFF2-40B4-BE49-F238E27FC236}">
                <a16:creationId xmlns:a16="http://schemas.microsoft.com/office/drawing/2014/main" id="{7F959D59-9E9C-617A-A305-EC388580D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589" y="4168177"/>
            <a:ext cx="4248150" cy="239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JIRA Software Customização">
            <a:extLst>
              <a:ext uri="{FF2B5EF4-FFF2-40B4-BE49-F238E27FC236}">
                <a16:creationId xmlns:a16="http://schemas.microsoft.com/office/drawing/2014/main" id="{DDC19BDE-3CF5-29EB-E1D6-990B8904B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81632"/>
            <a:ext cx="4306150" cy="2422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2" descr="Trello Logo and symbol, meaning, history, PNG">
            <a:extLst>
              <a:ext uri="{FF2B5EF4-FFF2-40B4-BE49-F238E27FC236}">
                <a16:creationId xmlns:a16="http://schemas.microsoft.com/office/drawing/2014/main" id="{D3D2D090-411E-8430-40AA-3E142A99B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052" y="6009191"/>
            <a:ext cx="956292" cy="54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Free Asana Logo Icon - Download Gratuito Logotipos Logo ...">
            <a:extLst>
              <a:ext uri="{FF2B5EF4-FFF2-40B4-BE49-F238E27FC236}">
                <a16:creationId xmlns:a16="http://schemas.microsoft.com/office/drawing/2014/main" id="{59510A45-299B-5DF9-8010-8FECA28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13" y="2975453"/>
            <a:ext cx="998248" cy="99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5914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EB9C8-D764-C232-B87C-E47A971FF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colocar no Plano de Projeto?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F2B05A-4451-BABB-8DD8-A2B5D6229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 quais serão os mecanismos de monitoramento e seus parâmetros: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</a:t>
            </a:r>
          </a:p>
          <a:p>
            <a:pPr lvl="2"/>
            <a:r>
              <a:rPr lang="pt-BR" dirty="0"/>
              <a:t>KPIs medidas mensalmente</a:t>
            </a:r>
          </a:p>
          <a:p>
            <a:pPr lvl="2"/>
            <a:r>
              <a:rPr lang="pt-BR" dirty="0"/>
              <a:t>EAV medida a cada marco do projeto</a:t>
            </a:r>
          </a:p>
          <a:p>
            <a:pPr lvl="2"/>
            <a:r>
              <a:rPr lang="pt-BR" dirty="0"/>
              <a:t>CPM medida diariamente</a:t>
            </a:r>
          </a:p>
          <a:p>
            <a:pPr lvl="2"/>
            <a:r>
              <a:rPr lang="pt-BR" i="1" dirty="0" err="1"/>
              <a:t>Burndown</a:t>
            </a:r>
            <a:r>
              <a:rPr lang="pt-BR" i="1" dirty="0"/>
              <a:t> </a:t>
            </a:r>
            <a:r>
              <a:rPr lang="pt-BR" i="1" dirty="0" err="1"/>
              <a:t>chart</a:t>
            </a:r>
            <a:r>
              <a:rPr lang="pt-BR" i="1" dirty="0"/>
              <a:t> </a:t>
            </a:r>
            <a:r>
              <a:rPr lang="pt-BR" dirty="0"/>
              <a:t>semanal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19483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Monitoramento e controle</a:t>
            </a:r>
          </a:p>
          <a:p>
            <a:pPr lvl="2"/>
            <a:r>
              <a:rPr lang="pt-BR" dirty="0"/>
              <a:t>Papel no planejamento</a:t>
            </a:r>
          </a:p>
          <a:p>
            <a:pPr lvl="2"/>
            <a:r>
              <a:rPr lang="pt-BR" dirty="0"/>
              <a:t>Técnicas tradicionais x ágeis</a:t>
            </a:r>
          </a:p>
          <a:p>
            <a:pPr lvl="2"/>
            <a:r>
              <a:rPr lang="pt-BR" dirty="0"/>
              <a:t>Ferramentas computacionais de suporte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Encerramento do projeto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b="1" dirty="0"/>
              <a:t>Atividades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Termo de Aceite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8104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3817A-3088-2478-8084-226E801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Encerramento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864C07-67BC-C3D3-4FB6-4065C4E2D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Última fase do ciclo de vida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Finalizar </a:t>
            </a:r>
            <a:r>
              <a:rPr lang="pt-BR" b="1" dirty="0"/>
              <a:t>formalmente</a:t>
            </a:r>
            <a:r>
              <a:rPr lang="pt-BR" dirty="0"/>
              <a:t> todas as atividades de um projeto</a:t>
            </a:r>
          </a:p>
          <a:p>
            <a:pPr lvl="1"/>
            <a:r>
              <a:rPr lang="pt-BR" dirty="0"/>
              <a:t>Conclusão de </a:t>
            </a:r>
            <a:r>
              <a:rPr lang="pt-BR" b="1" dirty="0"/>
              <a:t>todos os aspectos </a:t>
            </a:r>
            <a:r>
              <a:rPr lang="pt-BR" dirty="0"/>
              <a:t>do projeto</a:t>
            </a:r>
          </a:p>
          <a:p>
            <a:pPr lvl="1"/>
            <a:r>
              <a:rPr lang="pt-BR" b="1" dirty="0"/>
              <a:t>Lições aprendidas </a:t>
            </a:r>
            <a:r>
              <a:rPr lang="pt-BR" dirty="0"/>
              <a:t>sejam documentadas para projetos futuros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C56944C-893C-DC18-40E7-8BC3A769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25"/>
          <a:stretch/>
        </p:blipFill>
        <p:spPr>
          <a:xfrm>
            <a:off x="1568884" y="3966484"/>
            <a:ext cx="7900348" cy="241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486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02372-8211-75C0-95C8-DD9463D7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DBA96B-97FE-B717-141E-B82B46878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7686" cy="4351338"/>
          </a:xfrm>
        </p:spPr>
        <p:txBody>
          <a:bodyPr/>
          <a:lstStyle/>
          <a:p>
            <a:r>
              <a:rPr lang="pt-BR" dirty="0"/>
              <a:t>Fechar as contas do projeto</a:t>
            </a:r>
          </a:p>
          <a:p>
            <a:r>
              <a:rPr lang="pt-BR" dirty="0"/>
              <a:t>Terminar aceitação final</a:t>
            </a:r>
          </a:p>
          <a:p>
            <a:r>
              <a:rPr lang="pt-BR" dirty="0"/>
              <a:t>Arquivar documentação necessária</a:t>
            </a:r>
          </a:p>
          <a:p>
            <a:r>
              <a:rPr lang="pt-BR" dirty="0"/>
              <a:t>Atribuir equipe a novos projetos</a:t>
            </a:r>
          </a:p>
          <a:p>
            <a:r>
              <a:rPr lang="pt-BR" dirty="0"/>
              <a:t>Definir e comunicar os responsáveis pela manutenção do sistema</a:t>
            </a:r>
          </a:p>
        </p:txBody>
      </p:sp>
      <p:pic>
        <p:nvPicPr>
          <p:cNvPr id="2050" name="Picture 2" descr="PMKB | As Etapas do Gerenciamento de Projetos: O Encerramento - PMKB  Project Management Knowledge Base – Conhecimento e Experiência em  Gerenciamento de Projetos">
            <a:extLst>
              <a:ext uri="{FF2B5EF4-FFF2-40B4-BE49-F238E27FC236}">
                <a16:creationId xmlns:a16="http://schemas.microsoft.com/office/drawing/2014/main" id="{B3959C22-5963-B9EF-6054-E9EF9E23A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027" y="1825625"/>
            <a:ext cx="6506973" cy="3656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72E26B9-A212-A2D0-4E04-C0EC8A91D6E4}"/>
              </a:ext>
            </a:extLst>
          </p:cNvPr>
          <p:cNvSpPr txBox="1"/>
          <p:nvPr/>
        </p:nvSpPr>
        <p:spPr>
          <a:xfrm>
            <a:off x="5910943" y="548254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3"/>
              </a:rPr>
              <a:t>https://pmkb.com.br/as-etapas-do-gerenciamento-de-projetos-o-encerramento/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01671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97094-DD2F-04F1-DFB6-BD429332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4E2301-E26D-E713-2607-C5F7F0C0D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E43BCD-B4F2-0F70-F183-1FFD14FF4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467" y="0"/>
            <a:ext cx="5389248" cy="695232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D180E7A-5117-80BA-FB9A-551B1C7DC661}"/>
              </a:ext>
            </a:extLst>
          </p:cNvPr>
          <p:cNvSpPr/>
          <p:nvPr/>
        </p:nvSpPr>
        <p:spPr>
          <a:xfrm>
            <a:off x="7841103" y="871447"/>
            <a:ext cx="810528" cy="7228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7324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E5037-94FF-EB25-118D-2C8C41DB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Fatores de sucesso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00A22-D871-8974-ED8B-9B31CFD51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Aceitação do usuário final</a:t>
            </a:r>
          </a:p>
          <a:p>
            <a:r>
              <a:rPr lang="pt-BR" dirty="0"/>
              <a:t>Objetivos do negócio são alcançados</a:t>
            </a:r>
          </a:p>
          <a:p>
            <a:r>
              <a:rPr lang="pt-BR" dirty="0"/>
              <a:t>Objetivos do projeto são alcançados</a:t>
            </a:r>
          </a:p>
          <a:p>
            <a:r>
              <a:rPr lang="pt-BR" dirty="0"/>
              <a:t>Materiais do projeto são arquivados</a:t>
            </a:r>
          </a:p>
          <a:p>
            <a:r>
              <a:rPr lang="pt-BR" dirty="0"/>
              <a:t>Relacionamentos encerrados (equipe, fornecedores, cliente)</a:t>
            </a:r>
          </a:p>
        </p:txBody>
      </p:sp>
    </p:spTree>
    <p:extLst>
      <p:ext uri="{BB962C8B-B14F-4D97-AF65-F5344CB8AC3E}">
        <p14:creationId xmlns:p14="http://schemas.microsoft.com/office/powerpoint/2010/main" val="18540205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66ED9-35A1-A1F5-7064-FEF181B5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11656A-9DED-EA0E-1B0C-AAF56B4D8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Validar com stakeholders que o produto foi </a:t>
            </a:r>
            <a:r>
              <a:rPr lang="pt-BR" b="1" dirty="0"/>
              <a:t>entregue em conformidade</a:t>
            </a:r>
            <a:r>
              <a:rPr lang="pt-BR" dirty="0"/>
              <a:t> com requisitos e especificações da linha de base</a:t>
            </a:r>
          </a:p>
          <a:p>
            <a:pPr>
              <a:spcBef>
                <a:spcPts val="2400"/>
              </a:spcBef>
            </a:pPr>
            <a:r>
              <a:rPr lang="pt-BR" dirty="0"/>
              <a:t>Desvios foram </a:t>
            </a:r>
            <a:r>
              <a:rPr lang="pt-BR" b="1" dirty="0"/>
              <a:t>documentados e aprovados</a:t>
            </a:r>
          </a:p>
          <a:p>
            <a:pPr lvl="1"/>
            <a:r>
              <a:rPr lang="pt-BR" dirty="0"/>
              <a:t>Deixar ciente dos desvios, suas justificativas e planos de ação</a:t>
            </a:r>
          </a:p>
          <a:p>
            <a:pPr>
              <a:spcBef>
                <a:spcPts val="2400"/>
              </a:spcBef>
            </a:pPr>
            <a:r>
              <a:rPr lang="pt-BR" dirty="0"/>
              <a:t>Validação requer </a:t>
            </a:r>
            <a:r>
              <a:rPr lang="pt-BR" b="1" dirty="0"/>
              <a:t>aprovação formal </a:t>
            </a:r>
            <a:r>
              <a:rPr lang="pt-BR" dirty="0"/>
              <a:t>do cliente</a:t>
            </a:r>
          </a:p>
          <a:p>
            <a:pPr lvl="1"/>
            <a:r>
              <a:rPr lang="pt-BR" dirty="0"/>
              <a:t>Indica que projeto está concluído</a:t>
            </a:r>
          </a:p>
          <a:p>
            <a:pPr lvl="1"/>
            <a:r>
              <a:rPr lang="pt-BR" dirty="0"/>
              <a:t>Todos os requisitos foram atendidos</a:t>
            </a:r>
          </a:p>
        </p:txBody>
      </p:sp>
    </p:spTree>
    <p:extLst>
      <p:ext uri="{BB962C8B-B14F-4D97-AF65-F5344CB8AC3E}">
        <p14:creationId xmlns:p14="http://schemas.microsoft.com/office/powerpoint/2010/main" val="421876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DEC4A-F939-E308-BEEF-DFF13A06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Papel do gestor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4C588-8E4E-FB1F-23A9-9D49DEDA1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Garantir</a:t>
            </a:r>
          </a:p>
          <a:p>
            <a:pPr lvl="1"/>
            <a:r>
              <a:rPr lang="pt-BR" dirty="0"/>
              <a:t>Critérios de sucesso do projeto</a:t>
            </a:r>
          </a:p>
          <a:p>
            <a:pPr lvl="1"/>
            <a:r>
              <a:rPr lang="pt-BR" dirty="0"/>
              <a:t>Entregas verificadas e documentadas</a:t>
            </a:r>
          </a:p>
          <a:p>
            <a:pPr lvl="1"/>
            <a:r>
              <a:rPr lang="pt-BR" dirty="0"/>
              <a:t>Aceitação formal das entregas</a:t>
            </a:r>
          </a:p>
          <a:p>
            <a:pPr lvl="1"/>
            <a:r>
              <a:rPr lang="pt-BR" dirty="0"/>
              <a:t>Produto/serviço do projeto seja transferido para próxima fase ou produção</a:t>
            </a:r>
          </a:p>
          <a:p>
            <a:pPr lvl="1"/>
            <a:r>
              <a:rPr lang="pt-BR" dirty="0"/>
              <a:t>Sucesso ou fracasso seja auditado</a:t>
            </a:r>
          </a:p>
          <a:p>
            <a:pPr lvl="1"/>
            <a:r>
              <a:rPr lang="pt-BR" dirty="0"/>
              <a:t>Lições aprendidas sejam registradas para usos futuros</a:t>
            </a:r>
          </a:p>
          <a:p>
            <a:pPr lvl="1"/>
            <a:r>
              <a:rPr lang="pt-BR" dirty="0"/>
              <a:t>Cancelamento do projeto tenha as razões investigadas e documentadas</a:t>
            </a:r>
          </a:p>
        </p:txBody>
      </p:sp>
    </p:spTree>
    <p:extLst>
      <p:ext uri="{BB962C8B-B14F-4D97-AF65-F5344CB8AC3E}">
        <p14:creationId xmlns:p14="http://schemas.microsoft.com/office/powerpoint/2010/main" val="12131441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Monitoramento e controle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Encerramento do projeto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Atividades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b="1" dirty="0"/>
              <a:t>Termo de Aceite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0587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C99-1023-EBD7-D5A9-2EE591D0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F15EA-6377-92A9-4271-775278D7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266889-85D5-D56C-B61D-81A36978E48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Ciclo de vida de um projeto</a:t>
            </a:r>
          </a:p>
          <a:p>
            <a:pPr lvl="1"/>
            <a:r>
              <a:rPr lang="pt-BR" b="1" dirty="0"/>
              <a:t>Áreas de foco</a:t>
            </a:r>
            <a:r>
              <a:rPr lang="pt-BR" dirty="0"/>
              <a:t> (</a:t>
            </a:r>
            <a:r>
              <a:rPr lang="pt-BR" i="1" dirty="0"/>
              <a:t>Focus Area</a:t>
            </a:r>
            <a:r>
              <a:rPr lang="pt-BR" dirty="0"/>
              <a:t>) da gestão de projetos (fases)</a:t>
            </a:r>
          </a:p>
        </p:txBody>
      </p:sp>
      <p:sp>
        <p:nvSpPr>
          <p:cNvPr id="4" name="Retângulo de cantos arredondados 6">
            <a:extLst>
              <a:ext uri="{FF2B5EF4-FFF2-40B4-BE49-F238E27FC236}">
                <a16:creationId xmlns:a16="http://schemas.microsoft.com/office/drawing/2014/main" id="{FD3A30B4-1425-45EE-D9FB-EBD62AEC6885}"/>
              </a:ext>
            </a:extLst>
          </p:cNvPr>
          <p:cNvSpPr/>
          <p:nvPr/>
        </p:nvSpPr>
        <p:spPr>
          <a:xfrm>
            <a:off x="3773746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Planejamento</a:t>
            </a:r>
          </a:p>
        </p:txBody>
      </p:sp>
      <p:sp>
        <p:nvSpPr>
          <p:cNvPr id="5" name="Retângulo de cantos arredondados 7">
            <a:extLst>
              <a:ext uri="{FF2B5EF4-FFF2-40B4-BE49-F238E27FC236}">
                <a16:creationId xmlns:a16="http://schemas.microsoft.com/office/drawing/2014/main" id="{4627765F-5276-A06B-DA63-EB33C58DB32F}"/>
              </a:ext>
            </a:extLst>
          </p:cNvPr>
          <p:cNvSpPr/>
          <p:nvPr/>
        </p:nvSpPr>
        <p:spPr>
          <a:xfrm>
            <a:off x="5999150" y="2855476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Execução</a:t>
            </a:r>
          </a:p>
        </p:txBody>
      </p:sp>
      <p:sp>
        <p:nvSpPr>
          <p:cNvPr id="6" name="Retângulo de cantos arredondados 8">
            <a:extLst>
              <a:ext uri="{FF2B5EF4-FFF2-40B4-BE49-F238E27FC236}">
                <a16:creationId xmlns:a16="http://schemas.microsoft.com/office/drawing/2014/main" id="{012F0E9C-138E-8F0B-A1C3-623CED568D13}"/>
              </a:ext>
            </a:extLst>
          </p:cNvPr>
          <p:cNvSpPr/>
          <p:nvPr/>
        </p:nvSpPr>
        <p:spPr>
          <a:xfrm>
            <a:off x="5999150" y="4355674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Monitoramento e Controle</a:t>
            </a:r>
          </a:p>
        </p:txBody>
      </p:sp>
      <p:sp>
        <p:nvSpPr>
          <p:cNvPr id="7" name="Seta para cima e para baixo 10">
            <a:extLst>
              <a:ext uri="{FF2B5EF4-FFF2-40B4-BE49-F238E27FC236}">
                <a16:creationId xmlns:a16="http://schemas.microsoft.com/office/drawing/2014/main" id="{BB72F9D4-9DA3-DA33-76B4-CBB250480A72}"/>
              </a:ext>
            </a:extLst>
          </p:cNvPr>
          <p:cNvSpPr/>
          <p:nvPr/>
        </p:nvSpPr>
        <p:spPr>
          <a:xfrm>
            <a:off x="6634452" y="3641294"/>
            <a:ext cx="484632" cy="64294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Retângulo de cantos arredondados 11">
            <a:extLst>
              <a:ext uri="{FF2B5EF4-FFF2-40B4-BE49-F238E27FC236}">
                <a16:creationId xmlns:a16="http://schemas.microsoft.com/office/drawing/2014/main" id="{27548853-4BCA-4D29-C603-DE8FECC127E9}"/>
              </a:ext>
            </a:extLst>
          </p:cNvPr>
          <p:cNvSpPr/>
          <p:nvPr/>
        </p:nvSpPr>
        <p:spPr>
          <a:xfrm>
            <a:off x="1430751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Iniciação</a:t>
            </a:r>
          </a:p>
        </p:txBody>
      </p:sp>
      <p:sp>
        <p:nvSpPr>
          <p:cNvPr id="9" name="Retângulo de cantos arredondados 12">
            <a:extLst>
              <a:ext uri="{FF2B5EF4-FFF2-40B4-BE49-F238E27FC236}">
                <a16:creationId xmlns:a16="http://schemas.microsoft.com/office/drawing/2014/main" id="{EEEF21E4-23DD-F3B7-6280-CDC775E2126A}"/>
              </a:ext>
            </a:extLst>
          </p:cNvPr>
          <p:cNvSpPr/>
          <p:nvPr/>
        </p:nvSpPr>
        <p:spPr>
          <a:xfrm>
            <a:off x="8614558" y="3641294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Encerramento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EE843E-489C-BA8D-022C-64BA5DCCB7FE}"/>
              </a:ext>
            </a:extLst>
          </p:cNvPr>
          <p:cNvSpPr txBox="1"/>
          <p:nvPr/>
        </p:nvSpPr>
        <p:spPr>
          <a:xfrm>
            <a:off x="1363748" y="5050949"/>
            <a:ext cx="175400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i="1" dirty="0"/>
              <a:t>Business case</a:t>
            </a:r>
          </a:p>
          <a:p>
            <a:pPr algn="ctr"/>
            <a:r>
              <a:rPr lang="pt-BR" sz="1600" dirty="0"/>
              <a:t>Termo da Abertura</a:t>
            </a:r>
          </a:p>
          <a:p>
            <a:pPr algn="ctr"/>
            <a:endParaRPr lang="pt-BR" sz="16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4B6C93-587E-C516-71E9-AD692F3733FE}"/>
              </a:ext>
            </a:extLst>
          </p:cNvPr>
          <p:cNvSpPr txBox="1"/>
          <p:nvPr/>
        </p:nvSpPr>
        <p:spPr>
          <a:xfrm>
            <a:off x="8012152" y="5049013"/>
            <a:ext cx="28248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Termo de aceite/encerramento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Lições aprendidas</a:t>
            </a:r>
          </a:p>
          <a:p>
            <a:pPr algn="ctr"/>
            <a:r>
              <a:rPr lang="pt-BR" sz="1600" b="1" dirty="0">
                <a:solidFill>
                  <a:srgbClr val="FF0000"/>
                </a:solidFill>
              </a:rPr>
              <a:t>Relatório final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768082-CBCE-566C-3E47-8FC5E030105F}"/>
              </a:ext>
            </a:extLst>
          </p:cNvPr>
          <p:cNvSpPr txBox="1"/>
          <p:nvPr/>
        </p:nvSpPr>
        <p:spPr>
          <a:xfrm>
            <a:off x="3795517" y="4715674"/>
            <a:ext cx="157645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EAP</a:t>
            </a:r>
          </a:p>
          <a:p>
            <a:pPr algn="ctr"/>
            <a:r>
              <a:rPr lang="pt-BR" sz="1600" dirty="0"/>
              <a:t>Cronograma</a:t>
            </a:r>
          </a:p>
          <a:p>
            <a:pPr algn="ctr"/>
            <a:r>
              <a:rPr lang="pt-BR" sz="1600" dirty="0"/>
              <a:t>Orçamento</a:t>
            </a:r>
          </a:p>
          <a:p>
            <a:pPr algn="ctr"/>
            <a:r>
              <a:rPr lang="pt-BR" sz="1600" dirty="0"/>
              <a:t>Riscos</a:t>
            </a:r>
          </a:p>
          <a:p>
            <a:pPr algn="ctr"/>
            <a:r>
              <a:rPr lang="pt-BR" sz="1600" dirty="0"/>
              <a:t>Qualidade</a:t>
            </a:r>
          </a:p>
          <a:p>
            <a:pPr algn="ctr"/>
            <a:r>
              <a:rPr lang="pt-BR" sz="1600" dirty="0"/>
              <a:t>Comunicação</a:t>
            </a:r>
          </a:p>
          <a:p>
            <a:pPr algn="ctr"/>
            <a:r>
              <a:rPr lang="pt-BR" sz="1600" dirty="0"/>
              <a:t>Recursos/equipe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8AB70-79E7-8936-6580-AFDAB9A71148}"/>
              </a:ext>
            </a:extLst>
          </p:cNvPr>
          <p:cNvSpPr txBox="1"/>
          <p:nvPr/>
        </p:nvSpPr>
        <p:spPr>
          <a:xfrm>
            <a:off x="7794711" y="2890713"/>
            <a:ext cx="2067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Relatório de progresso</a:t>
            </a:r>
          </a:p>
          <a:p>
            <a:pPr algn="ctr"/>
            <a:r>
              <a:rPr lang="pt-BR" sz="1600" dirty="0"/>
              <a:t>Registro de mudanças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C0F74A7-476F-250E-EEC0-0641EBB69CAB}"/>
              </a:ext>
            </a:extLst>
          </p:cNvPr>
          <p:cNvSpPr txBox="1"/>
          <p:nvPr/>
        </p:nvSpPr>
        <p:spPr>
          <a:xfrm>
            <a:off x="5549295" y="5331227"/>
            <a:ext cx="254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Indicadores de desempenho</a:t>
            </a:r>
          </a:p>
          <a:p>
            <a:pPr algn="ctr"/>
            <a:r>
              <a:rPr lang="pt-BR" sz="1600" dirty="0"/>
              <a:t>Mudanças e correções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697837AD-7030-EAB7-7FEA-818DF218BD3C}"/>
              </a:ext>
            </a:extLst>
          </p:cNvPr>
          <p:cNvSpPr/>
          <p:nvPr/>
        </p:nvSpPr>
        <p:spPr>
          <a:xfrm>
            <a:off x="3220985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6E4713E6-9A10-C07B-67EB-EB2520D5171E}"/>
              </a:ext>
            </a:extLst>
          </p:cNvPr>
          <p:cNvSpPr/>
          <p:nvPr/>
        </p:nvSpPr>
        <p:spPr>
          <a:xfrm>
            <a:off x="5597259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0B6E6F0F-E248-A32C-19CC-5909190B7E9A}"/>
              </a:ext>
            </a:extLst>
          </p:cNvPr>
          <p:cNvSpPr/>
          <p:nvPr/>
        </p:nvSpPr>
        <p:spPr>
          <a:xfrm>
            <a:off x="8084416" y="3799604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B45E19-BC13-59D2-126C-D732C43C358F}"/>
              </a:ext>
            </a:extLst>
          </p:cNvPr>
          <p:cNvSpPr/>
          <p:nvPr/>
        </p:nvSpPr>
        <p:spPr>
          <a:xfrm>
            <a:off x="8416693" y="3504284"/>
            <a:ext cx="1979144" cy="13178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21D68-1E1E-58E1-776F-C26D805E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Termo de Aceite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060AEB-1B02-8996-49DE-474282B51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Formulário, no qual o GP relaciona os elementos que materializam a entrega de um produto/serviço elencado no Plano de Projeto;</a:t>
            </a:r>
          </a:p>
          <a:p>
            <a:pPr>
              <a:spcBef>
                <a:spcPts val="2400"/>
              </a:spcBef>
            </a:pPr>
            <a:r>
              <a:rPr lang="pt-BR" dirty="0"/>
              <a:t>Deve ser homologado junto à administração, funcionando como comprovação de que os recursos do projeto foram alocados como planejado e as métricas de qualidade foram alcançadas;</a:t>
            </a:r>
          </a:p>
          <a:p>
            <a:pPr>
              <a:spcBef>
                <a:spcPts val="2400"/>
              </a:spcBef>
            </a:pPr>
            <a:r>
              <a:rPr lang="pt-BR" dirty="0"/>
              <a:t>Formaliza o encerramento</a:t>
            </a:r>
          </a:p>
          <a:p>
            <a:pPr lvl="1"/>
            <a:r>
              <a:rPr lang="pt-BR" b="1" dirty="0"/>
              <a:t>Bem</a:t>
            </a:r>
            <a:r>
              <a:rPr lang="pt-BR" dirty="0"/>
              <a:t>: lista de funcionalidades implementadas e entregues conforme Plano de Projeto;</a:t>
            </a:r>
          </a:p>
          <a:p>
            <a:pPr lvl="1"/>
            <a:r>
              <a:rPr lang="pt-BR" b="1" dirty="0"/>
              <a:t>Mal</a:t>
            </a:r>
            <a:r>
              <a:rPr lang="pt-BR" dirty="0"/>
              <a:t>: cancelamento e suas razões; </a:t>
            </a:r>
          </a:p>
          <a:p>
            <a:pPr>
              <a:spcBef>
                <a:spcPts val="2400"/>
              </a:spcBef>
            </a:pPr>
            <a:r>
              <a:rPr lang="pt-BR" b="1" dirty="0"/>
              <a:t>Pagamentos do projeto podem ficar condicionados</a:t>
            </a:r>
            <a:r>
              <a:rPr lang="pt-BR" dirty="0"/>
              <a:t> ao Aceite formal do cliente!</a:t>
            </a:r>
          </a:p>
        </p:txBody>
      </p:sp>
    </p:spTree>
    <p:extLst>
      <p:ext uri="{BB962C8B-B14F-4D97-AF65-F5344CB8AC3E}">
        <p14:creationId xmlns:p14="http://schemas.microsoft.com/office/powerpoint/2010/main" val="333744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6177F-DE75-3C21-A116-8D16C902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Termo de Aceite - Exemplos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C807A2F-D8AD-2361-79B3-D60AAD06F1E2}"/>
              </a:ext>
            </a:extLst>
          </p:cNvPr>
          <p:cNvGrpSpPr/>
          <p:nvPr/>
        </p:nvGrpSpPr>
        <p:grpSpPr>
          <a:xfrm>
            <a:off x="7005855" y="2112319"/>
            <a:ext cx="4800600" cy="4064644"/>
            <a:chOff x="6570426" y="1934483"/>
            <a:chExt cx="4800600" cy="406464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7F1FCAD-C6DF-176F-A9F4-777946408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7877" y="1934483"/>
              <a:ext cx="3885699" cy="3617232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2821D74-30C6-DCC3-5D5B-40772B004F5D}"/>
                </a:ext>
              </a:extLst>
            </p:cNvPr>
            <p:cNvSpPr txBox="1"/>
            <p:nvPr/>
          </p:nvSpPr>
          <p:spPr>
            <a:xfrm>
              <a:off x="6570426" y="5660573"/>
              <a:ext cx="4800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600" dirty="0">
                  <a:hlinkClick r:id="rId3"/>
                </a:rPr>
                <a:t>https://www.pmtech.com.br/Templates/Aceite.pdf</a:t>
              </a:r>
              <a:r>
                <a:rPr lang="pt-BR" sz="1600" dirty="0"/>
                <a:t> 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1F52CAC-CB0D-3E17-6C1F-4AFA0B3CCBBC}"/>
              </a:ext>
            </a:extLst>
          </p:cNvPr>
          <p:cNvGrpSpPr/>
          <p:nvPr/>
        </p:nvGrpSpPr>
        <p:grpSpPr>
          <a:xfrm>
            <a:off x="203102" y="2237302"/>
            <a:ext cx="6096000" cy="3893494"/>
            <a:chOff x="203102" y="2237302"/>
            <a:chExt cx="6096000" cy="3893494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A14936BE-8A66-C303-BC2C-B1BDED2B8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300" y="2237302"/>
              <a:ext cx="5013604" cy="3006232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421E2EFE-A4B6-0EDE-D321-27D20637FD15}"/>
                </a:ext>
              </a:extLst>
            </p:cNvPr>
            <p:cNvSpPr txBox="1"/>
            <p:nvPr/>
          </p:nvSpPr>
          <p:spPr>
            <a:xfrm>
              <a:off x="203102" y="5546021"/>
              <a:ext cx="6096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600" dirty="0">
                  <a:hlinkClick r:id="rId5"/>
                </a:rPr>
                <a:t>https://www.tjsc.jus.br/documents/728949/4327713/Termo+de+encerramento/8aebd727-0aba-4d21-6fc6-bc92cb447b11</a:t>
              </a:r>
              <a:r>
                <a:rPr lang="pt-BR" sz="16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62538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91F4D-5C1F-2793-0275-F261B218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 avançados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0CD9B3-56CC-02F5-F5F0-A18EBCD5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Tópicos: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1- Gerenciamento de software livre </a:t>
            </a:r>
            <a:r>
              <a:rPr lang="pt-BR" b="1" dirty="0"/>
              <a:t>[Guilherme]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2- Gerenciamento de trabalho remoto </a:t>
            </a:r>
            <a:r>
              <a:rPr lang="pt-BR" b="1" dirty="0"/>
              <a:t>[Giovana]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3- Fatores de produtividade no desenvolvimento de software 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4- </a:t>
            </a:r>
            <a:r>
              <a:rPr lang="pt-BR" dirty="0" err="1"/>
              <a:t>LLMs</a:t>
            </a:r>
            <a:r>
              <a:rPr lang="pt-BR" dirty="0"/>
              <a:t> e desenvolvimento de SW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5- Estratégias de implantação de SW (</a:t>
            </a:r>
            <a:r>
              <a:rPr lang="pt-BR" b="1" i="1" dirty="0" err="1"/>
              <a:t>rollout</a:t>
            </a:r>
            <a:r>
              <a:rPr lang="pt-BR" dirty="0"/>
              <a:t>: alfa/beta, A/B, </a:t>
            </a:r>
            <a:r>
              <a:rPr lang="pt-BR" dirty="0" err="1"/>
              <a:t>canary</a:t>
            </a:r>
            <a:r>
              <a:rPr lang="pt-BR" dirty="0"/>
              <a:t> </a:t>
            </a:r>
            <a:r>
              <a:rPr lang="pt-BR" dirty="0" err="1"/>
              <a:t>tests</a:t>
            </a:r>
            <a:r>
              <a:rPr lang="pt-BR" dirty="0"/>
              <a:t>...)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6- Cultura </a:t>
            </a:r>
            <a:r>
              <a:rPr lang="pt-BR" dirty="0" err="1"/>
              <a:t>Ops</a:t>
            </a:r>
            <a:r>
              <a:rPr lang="pt-BR" dirty="0"/>
              <a:t>: </a:t>
            </a:r>
            <a:r>
              <a:rPr lang="pt-BR" dirty="0" err="1"/>
              <a:t>DevOps</a:t>
            </a:r>
            <a:r>
              <a:rPr lang="pt-BR" dirty="0"/>
              <a:t>, </a:t>
            </a:r>
            <a:r>
              <a:rPr lang="pt-BR" dirty="0" err="1"/>
              <a:t>MLOps</a:t>
            </a:r>
            <a:r>
              <a:rPr lang="pt-BR" dirty="0"/>
              <a:t>, </a:t>
            </a:r>
            <a:r>
              <a:rPr lang="pt-BR" dirty="0" err="1"/>
              <a:t>LLMOps</a:t>
            </a:r>
            <a:r>
              <a:rPr lang="pt-BR" dirty="0"/>
              <a:t>, AI </a:t>
            </a:r>
            <a:r>
              <a:rPr lang="pt-BR" dirty="0" err="1"/>
              <a:t>Ops</a:t>
            </a:r>
            <a:r>
              <a:rPr lang="pt-BR" dirty="0"/>
              <a:t> [</a:t>
            </a:r>
            <a:r>
              <a:rPr lang="pt-BR" b="1" dirty="0"/>
              <a:t>Mateus P.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7- Computação e as Ciências Sociais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8-Escalabilidade Ágil (</a:t>
            </a:r>
            <a:r>
              <a:rPr lang="pt-BR" dirty="0" err="1"/>
              <a:t>SAFe</a:t>
            </a:r>
            <a:r>
              <a:rPr lang="pt-BR" dirty="0"/>
              <a:t>, </a:t>
            </a:r>
            <a:r>
              <a:rPr lang="pt-BR" dirty="0" err="1"/>
              <a:t>LeSS</a:t>
            </a:r>
            <a:r>
              <a:rPr lang="pt-BR" dirty="0"/>
              <a:t>, Nexus) [</a:t>
            </a:r>
            <a:r>
              <a:rPr lang="pt-BR" b="1" dirty="0"/>
              <a:t>Gustavo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9-Questões culturais em produtos de software </a:t>
            </a:r>
            <a:endParaRPr lang="pt-BR" b="1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3895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800"/>
              </a:spcBef>
            </a:pPr>
            <a:r>
              <a:rPr lang="pt-BR" sz="1800" dirty="0"/>
              <a:t>PROJECT MANAGEMENT INSTITUTE (PMI). </a:t>
            </a:r>
            <a:r>
              <a:rPr lang="pt-BR" sz="1800" b="1" dirty="0"/>
              <a:t>Guia PMBOK®: Oitava Edição</a:t>
            </a:r>
            <a:r>
              <a:rPr lang="pt-BR" sz="1800" dirty="0"/>
              <a:t>. Newtown Square: Project Management </a:t>
            </a:r>
            <a:r>
              <a:rPr lang="pt-BR" sz="1800" dirty="0" err="1"/>
              <a:t>Institute</a:t>
            </a:r>
            <a:r>
              <a:rPr lang="pt-BR" sz="1800" dirty="0"/>
              <a:t>, 2025.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Pressman, R. S., 7ª </a:t>
            </a:r>
            <a:r>
              <a:rPr lang="pt-BR" sz="1800" dirty="0" err="1"/>
              <a:t>ed</a:t>
            </a:r>
            <a:r>
              <a:rPr lang="pt-BR" sz="1800" dirty="0"/>
              <a:t> (2011). </a:t>
            </a:r>
            <a:r>
              <a:rPr lang="pt-BR" sz="1800" b="1" dirty="0"/>
              <a:t>Engenharia de software</a:t>
            </a:r>
            <a:r>
              <a:rPr lang="pt-BR" sz="1800" dirty="0"/>
              <a:t>.</a:t>
            </a:r>
          </a:p>
          <a:p>
            <a:pPr>
              <a:spcBef>
                <a:spcPts val="1800"/>
              </a:spcBef>
            </a:pPr>
            <a:r>
              <a:rPr lang="pt-BR" sz="1800" dirty="0" err="1"/>
              <a:t>Sommerville</a:t>
            </a:r>
            <a:r>
              <a:rPr lang="pt-BR" sz="1800" dirty="0"/>
              <a:t>. I. </a:t>
            </a:r>
            <a:r>
              <a:rPr lang="pt-BR" sz="1800" b="1" dirty="0"/>
              <a:t>Engenharia de Software</a:t>
            </a:r>
            <a:r>
              <a:rPr lang="pt-BR" sz="1800" dirty="0"/>
              <a:t>, 9ª </a:t>
            </a:r>
            <a:r>
              <a:rPr lang="pt-BR" sz="1800" dirty="0" err="1"/>
              <a:t>ed</a:t>
            </a:r>
            <a:r>
              <a:rPr lang="pt-BR" sz="1800" dirty="0"/>
              <a:t> (2011).</a:t>
            </a:r>
          </a:p>
          <a:p>
            <a:pPr>
              <a:spcBef>
                <a:spcPts val="1800"/>
              </a:spcBef>
            </a:pPr>
            <a:r>
              <a:rPr lang="pt-BR" sz="1800" dirty="0">
                <a:hlinkClick r:id="rId3"/>
              </a:rPr>
              <a:t>https://www.cin.ufpe.br/~if717/slides/uma-introducao-aa-analise-do-valor-agregado.pdf</a:t>
            </a:r>
            <a:r>
              <a:rPr lang="pt-BR" sz="1800" dirty="0"/>
              <a:t> 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Notas de aulas, prof. Leonardo Murta (UFF). </a:t>
            </a:r>
            <a:r>
              <a:rPr lang="pt-BR" sz="1800" b="1" dirty="0"/>
              <a:t>Aula 3a - Gestão de riscos</a:t>
            </a:r>
            <a:r>
              <a:rPr lang="pt-BR" sz="1800" dirty="0"/>
              <a:t>: </a:t>
            </a:r>
            <a:r>
              <a:rPr lang="pt-BR" sz="1800" dirty="0">
                <a:hlinkClick r:id="rId4"/>
              </a:rPr>
              <a:t>https://leomurta.github.io/</a:t>
            </a:r>
            <a:endParaRPr lang="pt-BR" sz="1800" dirty="0"/>
          </a:p>
          <a:p>
            <a:pPr>
              <a:spcBef>
                <a:spcPts val="1800"/>
              </a:spcBef>
            </a:pPr>
            <a:r>
              <a:rPr lang="pt-BR" sz="1800" dirty="0"/>
              <a:t>Univesp, Gerenciamento de Projetos - </a:t>
            </a:r>
            <a:r>
              <a:rPr lang="pt-BR" sz="1800" b="1" dirty="0"/>
              <a:t>Aula 05 - Monitoramento e controle do projeto</a:t>
            </a:r>
            <a:r>
              <a:rPr lang="pt-BR" sz="1800" dirty="0"/>
              <a:t>: </a:t>
            </a:r>
            <a:r>
              <a:rPr lang="pt-BR" sz="1800" dirty="0">
                <a:hlinkClick r:id="rId5"/>
              </a:rPr>
              <a:t>https://www.youtube.com/watch?v=tuaHx_zzNeQ</a:t>
            </a:r>
            <a:r>
              <a:rPr lang="pt-BR" sz="1800" dirty="0"/>
              <a:t> 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Univesp, Gerenciamento de Projetos - </a:t>
            </a:r>
            <a:r>
              <a:rPr lang="pt-BR" sz="1800" b="1" dirty="0"/>
              <a:t>Aula 06 - Encerramento do projeto</a:t>
            </a:r>
            <a:r>
              <a:rPr lang="pt-BR" sz="1800" dirty="0"/>
              <a:t>: </a:t>
            </a:r>
            <a:r>
              <a:rPr lang="pt-BR" sz="1800" dirty="0">
                <a:hlinkClick r:id="rId6"/>
              </a:rPr>
              <a:t>https://www.youtube.com/watch?v=Tg0tf5S00ck&amp;t</a:t>
            </a:r>
            <a:r>
              <a:rPr lang="pt-BR" sz="1800" dirty="0"/>
              <a:t> 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91609-8BD3-E1EC-59DA-C09465A4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58D8B-D4B4-BA61-3D44-28420D68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BF36FE-1452-8A00-CCB7-5DF06F33F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43"/>
            <a:ext cx="12192000" cy="651751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121AFC-C9A9-6854-1BA7-C1FE26BAA76B}"/>
              </a:ext>
            </a:extLst>
          </p:cNvPr>
          <p:cNvSpPr txBox="1"/>
          <p:nvPr/>
        </p:nvSpPr>
        <p:spPr>
          <a:xfrm>
            <a:off x="4803258" y="45522"/>
            <a:ext cx="2405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https://www.jira.com</a:t>
            </a:r>
            <a:r>
              <a:rPr lang="pt-BR" dirty="0"/>
              <a:t>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B7AF3D-7BD3-7900-3E91-05A2FC6BBB13}"/>
              </a:ext>
            </a:extLst>
          </p:cNvPr>
          <p:cNvSpPr/>
          <p:nvPr/>
        </p:nvSpPr>
        <p:spPr>
          <a:xfrm>
            <a:off x="8931349" y="191509"/>
            <a:ext cx="1562986" cy="595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1341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DEFB7-CBAB-4C01-2837-452129DC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3B641-0B86-2979-E1C3-9CA52F230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47C600-D1A4-D825-B7BD-641E7E904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32" y="0"/>
            <a:ext cx="6071936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BB4B4C4-F421-0949-12C3-7DE120F40C28}"/>
              </a:ext>
            </a:extLst>
          </p:cNvPr>
          <p:cNvSpPr/>
          <p:nvPr/>
        </p:nvSpPr>
        <p:spPr>
          <a:xfrm>
            <a:off x="4051005" y="2105247"/>
            <a:ext cx="2934586" cy="818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2045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2E7DE-5499-4BD3-CC97-DB433E66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787919-E931-77B3-DFD8-CE7FF8F0E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3717A2-3FA2-FD69-082D-1215FC74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405" y="0"/>
            <a:ext cx="6287189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153C7E2-DE9F-40C9-A841-8364A37D6B2C}"/>
              </a:ext>
            </a:extLst>
          </p:cNvPr>
          <p:cNvSpPr/>
          <p:nvPr/>
        </p:nvSpPr>
        <p:spPr>
          <a:xfrm>
            <a:off x="3806456" y="2550228"/>
            <a:ext cx="4455042" cy="818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0353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D6B80-4692-3BE8-2817-8DA7C551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FEEF61-CB47-537F-C563-42CBD70FF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05C076-457C-A657-508E-7C9BC743B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314" y="0"/>
            <a:ext cx="5689372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FE30005-4733-906D-CE13-86D4E8FB226C}"/>
              </a:ext>
            </a:extLst>
          </p:cNvPr>
          <p:cNvSpPr/>
          <p:nvPr/>
        </p:nvSpPr>
        <p:spPr>
          <a:xfrm>
            <a:off x="4051005" y="2105247"/>
            <a:ext cx="4306186" cy="1828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9931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567FF-D90F-084A-131B-B7302678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24F13B-3438-76B2-57A8-283C56E2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43A3AA-565E-4E74-A7D2-61B29CDFB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391" y="0"/>
            <a:ext cx="6659218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3A3ACA2-BE5A-A531-B72D-0043DDBE08D8}"/>
              </a:ext>
            </a:extLst>
          </p:cNvPr>
          <p:cNvSpPr/>
          <p:nvPr/>
        </p:nvSpPr>
        <p:spPr>
          <a:xfrm>
            <a:off x="3434316" y="2413591"/>
            <a:ext cx="4922875" cy="10154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5533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4D16A-CB1B-F363-7EE7-71D4F713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3AB5B-0C16-06CB-7E2D-3F1B3E7A4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2870ED-B644-EDE7-31DF-FE9CF633E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123363"/>
            <a:ext cx="7544853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013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FB4B7-8C90-969A-3A51-C873703D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F367A9-1350-AF26-C3D6-AA93C0B5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6B4C4B-CA1C-EEEE-DCDB-57E18F8E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2040"/>
            <a:ext cx="12192000" cy="389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667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A1C33-2D5D-F36F-2485-1CE37B7B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C4AC0D-CFFB-81C1-31D1-D0FBEE4A2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66920B-B474-5A34-1648-0F7961EA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528232"/>
            <a:ext cx="10269383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048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3EA8B-9BF8-4A50-9184-1A97133C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AB2298-A9E0-90EF-24E1-4FDF2823C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AAADE4-B0A4-A544-7252-F89CBFF3D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76" y="0"/>
            <a:ext cx="10426248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377FBBE-538D-53AA-A345-395A9B71EBAB}"/>
              </a:ext>
            </a:extLst>
          </p:cNvPr>
          <p:cNvSpPr/>
          <p:nvPr/>
        </p:nvSpPr>
        <p:spPr>
          <a:xfrm>
            <a:off x="882876" y="2413591"/>
            <a:ext cx="5018194" cy="6804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6368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E56DC-F45F-EC2A-3309-159CD4D1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23560B-87DC-1202-199B-AD06B01BA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9568F0-F63D-D542-457F-B13EE822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2" y="0"/>
            <a:ext cx="10885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3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7F3EC-C09B-A92B-8DEB-7394AD2F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88C95-E76A-5211-2836-46794E53C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2F9289-B2CF-041A-C34F-936FAB814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745"/>
            <a:ext cx="12192000" cy="661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114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25B06-4BC8-87AA-33B4-EB9D4507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1A7E6-B0BF-F1E8-A755-44E5077E4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3531FB-16FD-53CA-60EB-1B24E150B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29"/>
            <a:ext cx="12192000" cy="646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588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7284B-E999-20C6-9759-74C905A5F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C2421F-B5C9-602B-52F6-1F406758D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69DD9D-284F-92F0-5EBB-43C4ACAD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190" y="0"/>
            <a:ext cx="7623620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D5D8F22-2D18-799F-BFAF-9CA9AC0B9999}"/>
              </a:ext>
            </a:extLst>
          </p:cNvPr>
          <p:cNvSpPr/>
          <p:nvPr/>
        </p:nvSpPr>
        <p:spPr>
          <a:xfrm>
            <a:off x="2626616" y="5971658"/>
            <a:ext cx="1286165" cy="6804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2061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EC18E11-9A17-27AC-BA4A-0F79A1BA6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70" y="0"/>
            <a:ext cx="8404860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8765527-9373-2F06-F6C5-D303E5A0587A}"/>
              </a:ext>
            </a:extLst>
          </p:cNvPr>
          <p:cNvSpPr/>
          <p:nvPr/>
        </p:nvSpPr>
        <p:spPr>
          <a:xfrm>
            <a:off x="9197537" y="24883"/>
            <a:ext cx="1286165" cy="6804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94DA4E-E610-C426-CB1A-3F4ABF722170}"/>
              </a:ext>
            </a:extLst>
          </p:cNvPr>
          <p:cNvSpPr/>
          <p:nvPr/>
        </p:nvSpPr>
        <p:spPr>
          <a:xfrm>
            <a:off x="4349090" y="3320811"/>
            <a:ext cx="1902854" cy="6804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D8AD749-9C0B-8E04-D848-D67D630EC67C}"/>
              </a:ext>
            </a:extLst>
          </p:cNvPr>
          <p:cNvSpPr/>
          <p:nvPr/>
        </p:nvSpPr>
        <p:spPr>
          <a:xfrm>
            <a:off x="7347846" y="6281913"/>
            <a:ext cx="881754" cy="4219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8037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63858</TotalTime>
  <Words>2653</Words>
  <Application>Microsoft Office PowerPoint</Application>
  <PresentationFormat>Widescreen</PresentationFormat>
  <Paragraphs>490</Paragraphs>
  <Slides>85</Slides>
  <Notes>8</Notes>
  <HiddenSlides>15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85</vt:i4>
      </vt:variant>
    </vt:vector>
  </HeadingPairs>
  <TitlesOfParts>
    <vt:vector size="91" baseType="lpstr">
      <vt:lpstr>Arial</vt:lpstr>
      <vt:lpstr>Calibri</vt:lpstr>
      <vt:lpstr>Calibri Light</vt:lpstr>
      <vt:lpstr>Nunito Sans</vt:lpstr>
      <vt:lpstr>Wingdings</vt:lpstr>
      <vt:lpstr>Tema do Office</vt:lpstr>
      <vt:lpstr>Apresentação do PowerPoint</vt:lpstr>
      <vt:lpstr>Na aula anterior, vimos...</vt:lpstr>
      <vt:lpstr>Apresentação do PowerPoint</vt:lpstr>
      <vt:lpstr>Objetivo do Gerenciamento de Projetos</vt:lpstr>
      <vt:lpstr>Agenda</vt:lpstr>
      <vt:lpstr>Agenda</vt:lpstr>
      <vt:lpstr>Objetivo</vt:lpstr>
      <vt:lpstr>História dos 3 times</vt:lpstr>
      <vt:lpstr>História dos 3 times</vt:lpstr>
      <vt:lpstr>História dos 3 times</vt:lpstr>
      <vt:lpstr>História dos 3 times</vt:lpstr>
      <vt:lpstr>Motivação</vt:lpstr>
      <vt:lpstr>Exemplo </vt:lpstr>
      <vt:lpstr>Motivação</vt:lpstr>
      <vt:lpstr>Objetivo</vt:lpstr>
      <vt:lpstr>Objetivo</vt:lpstr>
      <vt:lpstr>PMBOK 8 (2026)</vt:lpstr>
      <vt:lpstr>Objetivo</vt:lpstr>
      <vt:lpstr>Lembrando...</vt:lpstr>
      <vt:lpstr>Controlar recursos</vt:lpstr>
      <vt:lpstr>Controlar mudanças</vt:lpstr>
      <vt:lpstr>Controlar cronograma</vt:lpstr>
      <vt:lpstr>Controlar custos</vt:lpstr>
      <vt:lpstr>Controlar qualidade</vt:lpstr>
      <vt:lpstr>Controlar riscos</vt:lpstr>
      <vt:lpstr>Controlar aquisições</vt:lpstr>
      <vt:lpstr>Controlar stakeholders</vt:lpstr>
      <vt:lpstr>Agenda</vt:lpstr>
      <vt:lpstr>Técnicas - EVA</vt:lpstr>
      <vt:lpstr>Técnicas - EVA</vt:lpstr>
      <vt:lpstr>Técnicas - EVA</vt:lpstr>
      <vt:lpstr>Técnicas - EVA</vt:lpstr>
      <vt:lpstr>Técnicas - EVA</vt:lpstr>
      <vt:lpstr>Técnicas - EVA</vt:lpstr>
      <vt:lpstr>Técnicas - EVA</vt:lpstr>
      <vt:lpstr>Técnicas - EVA</vt:lpstr>
      <vt:lpstr>Exercício</vt:lpstr>
      <vt:lpstr>Benefícios potenciais EVA</vt:lpstr>
      <vt:lpstr>Outras Técnicas - KPI</vt:lpstr>
      <vt:lpstr>Técnicas - KPI</vt:lpstr>
      <vt:lpstr>Técnicas - KPI</vt:lpstr>
      <vt:lpstr>Técnicas - CPM</vt:lpstr>
      <vt:lpstr>Abordagem ágil</vt:lpstr>
      <vt:lpstr>Técnicas ágeis - Kanban</vt:lpstr>
      <vt:lpstr>Técnicas ágeis - Kanban</vt:lpstr>
      <vt:lpstr>Técnicas ágeis - Kanban</vt:lpstr>
      <vt:lpstr>Monitoramento e controle</vt:lpstr>
      <vt:lpstr>Gráfico de burndown</vt:lpstr>
      <vt:lpstr>Apresentação do PowerPoint</vt:lpstr>
      <vt:lpstr>Preenchimento do gráfico de burndown</vt:lpstr>
      <vt:lpstr>Quadro de burndown</vt:lpstr>
      <vt:lpstr>Quadro de burndown</vt:lpstr>
      <vt:lpstr>Quadro de burndown</vt:lpstr>
      <vt:lpstr>Análise do gráfico de burndown</vt:lpstr>
      <vt:lpstr>Atividade</vt:lpstr>
      <vt:lpstr>Agenda</vt:lpstr>
      <vt:lpstr>Ferramentas computacionais</vt:lpstr>
      <vt:lpstr>Como colocar no Plano de Projeto?</vt:lpstr>
      <vt:lpstr>Agenda</vt:lpstr>
      <vt:lpstr>Encerramento</vt:lpstr>
      <vt:lpstr>Objetivos</vt:lpstr>
      <vt:lpstr>Apresentação do PowerPoint</vt:lpstr>
      <vt:lpstr>Fatores de sucesso</vt:lpstr>
      <vt:lpstr>Escopo</vt:lpstr>
      <vt:lpstr>Papel do gestor</vt:lpstr>
      <vt:lpstr>Agenda</vt:lpstr>
      <vt:lpstr>PMBOK</vt:lpstr>
      <vt:lpstr>Termo de Aceite</vt:lpstr>
      <vt:lpstr>Termo de Aceite - Exemplos</vt:lpstr>
      <vt:lpstr>Seminários avançados</vt:lpstr>
      <vt:lpstr>Referências bibliográficas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1292</cp:revision>
  <dcterms:created xsi:type="dcterms:W3CDTF">2024-08-08T20:58:28Z</dcterms:created>
  <dcterms:modified xsi:type="dcterms:W3CDTF">2026-09-07T02:33:32Z</dcterms:modified>
</cp:coreProperties>
</file>