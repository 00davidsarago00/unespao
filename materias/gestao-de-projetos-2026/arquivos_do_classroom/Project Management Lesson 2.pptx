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7"/>
  </p:notesMasterIdLst>
  <p:handoutMasterIdLst>
    <p:handoutMasterId r:id="rId58"/>
  </p:handoutMasterIdLst>
  <p:sldIdLst>
    <p:sldId id="968" r:id="rId2"/>
    <p:sldId id="420" r:id="rId3"/>
    <p:sldId id="951" r:id="rId4"/>
    <p:sldId id="958" r:id="rId5"/>
    <p:sldId id="444" r:id="rId6"/>
    <p:sldId id="445" r:id="rId7"/>
    <p:sldId id="383" r:id="rId8"/>
    <p:sldId id="952" r:id="rId9"/>
    <p:sldId id="372" r:id="rId10"/>
    <p:sldId id="953" r:id="rId11"/>
    <p:sldId id="442" r:id="rId12"/>
    <p:sldId id="392" r:id="rId13"/>
    <p:sldId id="437" r:id="rId14"/>
    <p:sldId id="438" r:id="rId15"/>
    <p:sldId id="391" r:id="rId16"/>
    <p:sldId id="408" r:id="rId17"/>
    <p:sldId id="393" r:id="rId18"/>
    <p:sldId id="406" r:id="rId19"/>
    <p:sldId id="407" r:id="rId20"/>
    <p:sldId id="396" r:id="rId21"/>
    <p:sldId id="954" r:id="rId22"/>
    <p:sldId id="394" r:id="rId23"/>
    <p:sldId id="395" r:id="rId24"/>
    <p:sldId id="397" r:id="rId25"/>
    <p:sldId id="398" r:id="rId26"/>
    <p:sldId id="399" r:id="rId27"/>
    <p:sldId id="413" r:id="rId28"/>
    <p:sldId id="970" r:id="rId29"/>
    <p:sldId id="400" r:id="rId30"/>
    <p:sldId id="409" r:id="rId31"/>
    <p:sldId id="401" r:id="rId32"/>
    <p:sldId id="402" r:id="rId33"/>
    <p:sldId id="450" r:id="rId34"/>
    <p:sldId id="967" r:id="rId35"/>
    <p:sldId id="955" r:id="rId36"/>
    <p:sldId id="956" r:id="rId37"/>
    <p:sldId id="447" r:id="rId38"/>
    <p:sldId id="448" r:id="rId39"/>
    <p:sldId id="449" r:id="rId40"/>
    <p:sldId id="451" r:id="rId41"/>
    <p:sldId id="412" r:id="rId42"/>
    <p:sldId id="454" r:id="rId43"/>
    <p:sldId id="411" r:id="rId44"/>
    <p:sldId id="410" r:id="rId45"/>
    <p:sldId id="456" r:id="rId46"/>
    <p:sldId id="457" r:id="rId47"/>
    <p:sldId id="458" r:id="rId48"/>
    <p:sldId id="436" r:id="rId49"/>
    <p:sldId id="452" r:id="rId50"/>
    <p:sldId id="459" r:id="rId51"/>
    <p:sldId id="376" r:id="rId52"/>
    <p:sldId id="404" r:id="rId53"/>
    <p:sldId id="405" r:id="rId54"/>
    <p:sldId id="460" r:id="rId55"/>
    <p:sldId id="414" r:id="rId56"/>
  </p:sldIdLst>
  <p:sldSz cx="12192000" cy="6858000"/>
  <p:notesSz cx="6858000" cy="9144000"/>
  <p:defaultText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4B18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629" autoAdjust="0"/>
    <p:restoredTop sz="95097" autoAdjust="0"/>
  </p:normalViewPr>
  <p:slideViewPr>
    <p:cSldViewPr snapToGrid="0">
      <p:cViewPr varScale="1">
        <p:scale>
          <a:sx n="76" d="100"/>
          <a:sy n="76" d="100"/>
        </p:scale>
        <p:origin x="888" y="58"/>
      </p:cViewPr>
      <p:guideLst/>
    </p:cSldViewPr>
  </p:slideViewPr>
  <p:notesTextViewPr>
    <p:cViewPr>
      <p:scale>
        <a:sx n="1" d="1"/>
        <a:sy n="1" d="1"/>
      </p:scale>
      <p:origin x="0" y="0"/>
    </p:cViewPr>
  </p:notesTextViewPr>
  <p:notesViewPr>
    <p:cSldViewPr snapToGrid="0">
      <p:cViewPr varScale="1">
        <p:scale>
          <a:sx n="63" d="100"/>
          <a:sy n="63" d="100"/>
        </p:scale>
        <p:origin x="3134" y="6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handoutMaster" Target="handoutMasters/handoutMaster1.xml"/><Relationship Id="rId5" Type="http://schemas.openxmlformats.org/officeDocument/2006/relationships/slide" Target="slides/slide4.xml"/><Relationship Id="rId61"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648DC056-EC86-1D14-6A17-B9CF6718028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16341E98-B67C-BDF6-18B5-2E8DDC26E6F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5C3B5E1-A158-48A7-9E7E-0B53201D65DE}" type="datetimeFigureOut">
              <a:rPr lang="pt-BR" smtClean="0"/>
              <a:t>27/03/2026</a:t>
            </a:fld>
            <a:endParaRPr lang="pt-BR"/>
          </a:p>
        </p:txBody>
      </p:sp>
      <p:sp>
        <p:nvSpPr>
          <p:cNvPr id="4" name="Espaço Reservado para Rodapé 3">
            <a:extLst>
              <a:ext uri="{FF2B5EF4-FFF2-40B4-BE49-F238E27FC236}">
                <a16:creationId xmlns:a16="http://schemas.microsoft.com/office/drawing/2014/main" id="{C4A37A9E-80E3-86C5-CC3D-185F85B38A02}"/>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CB96474E-157A-54F7-6A34-58668D8B835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1AEC9D83-3408-479B-AF32-847F7A28B583}" type="slidenum">
              <a:rPr lang="pt-BR" smtClean="0"/>
              <a:t>‹nº›</a:t>
            </a:fld>
            <a:endParaRPr lang="pt-BR"/>
          </a:p>
        </p:txBody>
      </p:sp>
    </p:spTree>
    <p:extLst>
      <p:ext uri="{BB962C8B-B14F-4D97-AF65-F5344CB8AC3E}">
        <p14:creationId xmlns:p14="http://schemas.microsoft.com/office/powerpoint/2010/main" val="310625737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1D510B7-2C4F-477A-B06B-52F95EA26A07}" type="datetimeFigureOut">
              <a:rPr lang="pt-BR" smtClean="0"/>
              <a:t>27/03/2026</a:t>
            </a:fld>
            <a:endParaRPr lang="pt-BR"/>
          </a:p>
        </p:txBody>
      </p:sp>
      <p:sp>
        <p:nvSpPr>
          <p:cNvPr id="4" name="Espaço Reservado para Imagem de Sli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F49E112-8E62-415B-ABD8-A813EB2FB888}" type="slidenum">
              <a:rPr lang="pt-BR" smtClean="0"/>
              <a:t>‹nº›</a:t>
            </a:fld>
            <a:endParaRPr lang="pt-BR"/>
          </a:p>
        </p:txBody>
      </p:sp>
    </p:spTree>
    <p:extLst>
      <p:ext uri="{BB962C8B-B14F-4D97-AF65-F5344CB8AC3E}">
        <p14:creationId xmlns:p14="http://schemas.microsoft.com/office/powerpoint/2010/main" val="9433533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654F4DC4-6592-40BF-ABDB-9BFF74F557E8}" type="slidenum">
              <a:rPr lang="pt-BR" smtClean="0"/>
              <a:t>1</a:t>
            </a:fld>
            <a:endParaRPr lang="pt-BR"/>
          </a:p>
        </p:txBody>
      </p:sp>
    </p:spTree>
    <p:extLst>
      <p:ext uri="{BB962C8B-B14F-4D97-AF65-F5344CB8AC3E}">
        <p14:creationId xmlns:p14="http://schemas.microsoft.com/office/powerpoint/2010/main" val="152630006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r>
              <a:rPr lang="pt-BR" dirty="0"/>
              <a:t>Passo anterior: entender pra que existem os projetos</a:t>
            </a:r>
          </a:p>
        </p:txBody>
      </p:sp>
      <p:sp>
        <p:nvSpPr>
          <p:cNvPr id="4" name="Espaço Reservado para Número de Slide 3"/>
          <p:cNvSpPr>
            <a:spLocks noGrp="1"/>
          </p:cNvSpPr>
          <p:nvPr>
            <p:ph type="sldNum" sz="quarter" idx="5"/>
          </p:nvPr>
        </p:nvSpPr>
        <p:spPr/>
        <p:txBody>
          <a:bodyPr/>
          <a:lstStyle/>
          <a:p>
            <a:fld id="{BF49E112-8E62-415B-ABD8-A813EB2FB888}" type="slidenum">
              <a:rPr lang="pt-BR" smtClean="0"/>
              <a:t>8</a:t>
            </a:fld>
            <a:endParaRPr lang="pt-BR"/>
          </a:p>
        </p:txBody>
      </p:sp>
    </p:spTree>
    <p:extLst>
      <p:ext uri="{BB962C8B-B14F-4D97-AF65-F5344CB8AC3E}">
        <p14:creationId xmlns:p14="http://schemas.microsoft.com/office/powerpoint/2010/main" val="1412353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ço Reservado para Imagem de Slide 1"/>
          <p:cNvSpPr>
            <a:spLocks noGrp="1" noRot="1" noChangeAspect="1"/>
          </p:cNvSpPr>
          <p:nvPr>
            <p:ph type="sldImg"/>
          </p:nvPr>
        </p:nvSpPr>
        <p:spPr/>
      </p:sp>
      <p:sp>
        <p:nvSpPr>
          <p:cNvPr id="3" name="Espaço Reservado para Anotações 2"/>
          <p:cNvSpPr>
            <a:spLocks noGrp="1"/>
          </p:cNvSpPr>
          <p:nvPr>
            <p:ph type="body" idx="1"/>
          </p:nvPr>
        </p:nvSpPr>
        <p:spPr/>
        <p:txBody>
          <a:bodyPr/>
          <a:lstStyle/>
          <a:p>
            <a:endParaRPr lang="pt-BR" dirty="0"/>
          </a:p>
        </p:txBody>
      </p:sp>
      <p:sp>
        <p:nvSpPr>
          <p:cNvPr id="4" name="Espaço Reservado para Número de Slide 3"/>
          <p:cNvSpPr>
            <a:spLocks noGrp="1"/>
          </p:cNvSpPr>
          <p:nvPr>
            <p:ph type="sldNum" sz="quarter" idx="5"/>
          </p:nvPr>
        </p:nvSpPr>
        <p:spPr/>
        <p:txBody>
          <a:bodyPr/>
          <a:lstStyle/>
          <a:p>
            <a:fld id="{BF49E112-8E62-415B-ABD8-A813EB2FB888}" type="slidenum">
              <a:rPr lang="pt-BR" smtClean="0"/>
              <a:t>39</a:t>
            </a:fld>
            <a:endParaRPr lang="pt-BR"/>
          </a:p>
        </p:txBody>
      </p:sp>
    </p:spTree>
    <p:extLst>
      <p:ext uri="{BB962C8B-B14F-4D97-AF65-F5344CB8AC3E}">
        <p14:creationId xmlns:p14="http://schemas.microsoft.com/office/powerpoint/2010/main" val="42127145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Slide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4EEE53-4496-A3E2-6A1E-F394610A07EC}"/>
              </a:ext>
            </a:extLst>
          </p:cNvPr>
          <p:cNvSpPr>
            <a:spLocks noGrp="1"/>
          </p:cNvSpPr>
          <p:nvPr>
            <p:ph type="ctrTitle"/>
          </p:nvPr>
        </p:nvSpPr>
        <p:spPr>
          <a:xfrm>
            <a:off x="1524000" y="1122363"/>
            <a:ext cx="9144000" cy="2387600"/>
          </a:xfrm>
        </p:spPr>
        <p:txBody>
          <a:bodyPr anchor="b"/>
          <a:lstStyle>
            <a:lvl1pPr algn="ctr">
              <a:defRPr sz="6000"/>
            </a:lvl1pPr>
          </a:lstStyle>
          <a:p>
            <a:r>
              <a:rPr lang="pt-BR"/>
              <a:t>Clique para editar o título Mestre</a:t>
            </a:r>
          </a:p>
        </p:txBody>
      </p:sp>
      <p:sp>
        <p:nvSpPr>
          <p:cNvPr id="3" name="Subtítulo 2">
            <a:extLst>
              <a:ext uri="{FF2B5EF4-FFF2-40B4-BE49-F238E27FC236}">
                <a16:creationId xmlns:a16="http://schemas.microsoft.com/office/drawing/2014/main" id="{CA6E14C4-6394-A953-363A-3265B13529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pt-BR"/>
              <a:t>Clique para editar o estilo do subtítulo Mestre</a:t>
            </a:r>
          </a:p>
        </p:txBody>
      </p:sp>
      <p:sp>
        <p:nvSpPr>
          <p:cNvPr id="4" name="Espaço Reservado para Data 3">
            <a:extLst>
              <a:ext uri="{FF2B5EF4-FFF2-40B4-BE49-F238E27FC236}">
                <a16:creationId xmlns:a16="http://schemas.microsoft.com/office/drawing/2014/main" id="{58B17E62-4CE8-FA5E-81AB-27EC4D269040}"/>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5" name="Espaço Reservado para Rodapé 4">
            <a:extLst>
              <a:ext uri="{FF2B5EF4-FFF2-40B4-BE49-F238E27FC236}">
                <a16:creationId xmlns:a16="http://schemas.microsoft.com/office/drawing/2014/main" id="{454130A0-4376-BFAD-2C19-0E8710B097E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0E46AEA-B3F5-9F8B-1519-1C60D0D93034}"/>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38518575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67996DC-D503-DBDE-FDEA-EF1AEF759109}"/>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6CFC341-4D72-A837-B647-7464B505871D}"/>
              </a:ext>
            </a:extLst>
          </p:cNvPr>
          <p:cNvSpPr>
            <a:spLocks noGrp="1"/>
          </p:cNvSpPr>
          <p:nvPr>
            <p:ph idx="1"/>
          </p:nvPr>
        </p:nvSpPr>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4C613C88-DA31-EF9B-CB63-2C55411C80B3}"/>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5" name="Espaço Reservado para Rodapé 4">
            <a:extLst>
              <a:ext uri="{FF2B5EF4-FFF2-40B4-BE49-F238E27FC236}">
                <a16:creationId xmlns:a16="http://schemas.microsoft.com/office/drawing/2014/main" id="{5EE4FFD4-777E-4291-F5F9-C1162A3212DF}"/>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6B37AC90-32F2-5DF1-70B2-636B06F6E233}"/>
              </a:ext>
            </a:extLst>
          </p:cNvPr>
          <p:cNvSpPr>
            <a:spLocks noGrp="1"/>
          </p:cNvSpPr>
          <p:nvPr>
            <p:ph type="sldNum" sz="quarter" idx="12"/>
          </p:nvPr>
        </p:nvSpPr>
        <p:spPr/>
        <p:txBody>
          <a:bodyPr/>
          <a:lstStyle/>
          <a:p>
            <a:fld id="{6D8C0B3B-A50D-4B14-9D81-A18F38FBA0E7}" type="slidenum">
              <a:rPr lang="pt-BR" smtClean="0"/>
              <a:t>‹nº›</a:t>
            </a:fld>
            <a:endParaRPr lang="pt-BR"/>
          </a:p>
        </p:txBody>
      </p:sp>
      <p:cxnSp>
        <p:nvCxnSpPr>
          <p:cNvPr id="8" name="Conector reto 7">
            <a:extLst>
              <a:ext uri="{FF2B5EF4-FFF2-40B4-BE49-F238E27FC236}">
                <a16:creationId xmlns:a16="http://schemas.microsoft.com/office/drawing/2014/main" id="{A25EA031-D7FE-EFD6-B1F0-B9F04A5977E4}"/>
              </a:ext>
            </a:extLst>
          </p:cNvPr>
          <p:cNvCxnSpPr/>
          <p:nvPr userDrawn="1"/>
        </p:nvCxnSpPr>
        <p:spPr>
          <a:xfrm>
            <a:off x="838200" y="1515204"/>
            <a:ext cx="10515600" cy="0"/>
          </a:xfrm>
          <a:prstGeom prst="line">
            <a:avLst/>
          </a:prstGeom>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1459250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Cabeçalho da Se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ECF3C25-E803-1FD6-15EE-065624879FD2}"/>
              </a:ext>
            </a:extLst>
          </p:cNvPr>
          <p:cNvSpPr>
            <a:spLocks noGrp="1"/>
          </p:cNvSpPr>
          <p:nvPr>
            <p:ph type="title"/>
          </p:nvPr>
        </p:nvSpPr>
        <p:spPr>
          <a:xfrm>
            <a:off x="831850" y="1709738"/>
            <a:ext cx="10515600" cy="2852737"/>
          </a:xfrm>
        </p:spPr>
        <p:txBody>
          <a:bodyPr anchor="b"/>
          <a:lstStyle>
            <a:lvl1pPr>
              <a:defRPr sz="6000"/>
            </a:lvl1pPr>
          </a:lstStyle>
          <a:p>
            <a:r>
              <a:rPr lang="pt-BR"/>
              <a:t>Clique para editar o título Mestre</a:t>
            </a:r>
          </a:p>
        </p:txBody>
      </p:sp>
      <p:sp>
        <p:nvSpPr>
          <p:cNvPr id="3" name="Espaço Reservado para Texto 2">
            <a:extLst>
              <a:ext uri="{FF2B5EF4-FFF2-40B4-BE49-F238E27FC236}">
                <a16:creationId xmlns:a16="http://schemas.microsoft.com/office/drawing/2014/main" id="{4F4EF64E-0FB2-BB48-7DF6-0C9AA81ADB1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pt-BR"/>
              <a:t>Clique para editar os estilos de texto Mestres</a:t>
            </a:r>
          </a:p>
        </p:txBody>
      </p:sp>
      <p:sp>
        <p:nvSpPr>
          <p:cNvPr id="4" name="Espaço Reservado para Data 3">
            <a:extLst>
              <a:ext uri="{FF2B5EF4-FFF2-40B4-BE49-F238E27FC236}">
                <a16:creationId xmlns:a16="http://schemas.microsoft.com/office/drawing/2014/main" id="{09D1C8B2-5D85-B988-CB69-09B11AEE2E0C}"/>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5" name="Espaço Reservado para Rodapé 4">
            <a:extLst>
              <a:ext uri="{FF2B5EF4-FFF2-40B4-BE49-F238E27FC236}">
                <a16:creationId xmlns:a16="http://schemas.microsoft.com/office/drawing/2014/main" id="{B3463100-71C5-06BA-7A2B-C93B1BA247D6}"/>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7FC07F91-108E-B2C3-E6BF-816D7BCAB9A1}"/>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7582206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as Partes de Conteúd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2A537BA-DEFB-BDBF-86E4-1AB88B870F96}"/>
              </a:ext>
            </a:extLst>
          </p:cNvPr>
          <p:cNvSpPr>
            <a:spLocks noGrp="1"/>
          </p:cNvSpPr>
          <p:nvPr>
            <p:ph type="title"/>
          </p:nvPr>
        </p:nvSpPr>
        <p:spPr/>
        <p:txBody>
          <a:bodyPr/>
          <a:lstStyle/>
          <a:p>
            <a:r>
              <a:rPr lang="pt-BR"/>
              <a:t>Clique para editar o título Mestre</a:t>
            </a:r>
          </a:p>
        </p:txBody>
      </p:sp>
      <p:sp>
        <p:nvSpPr>
          <p:cNvPr id="3" name="Espaço Reservado para Conteúdo 2">
            <a:extLst>
              <a:ext uri="{FF2B5EF4-FFF2-40B4-BE49-F238E27FC236}">
                <a16:creationId xmlns:a16="http://schemas.microsoft.com/office/drawing/2014/main" id="{A2215E4C-711C-550D-DC6C-36CC1211680D}"/>
              </a:ext>
            </a:extLst>
          </p:cNvPr>
          <p:cNvSpPr>
            <a:spLocks noGrp="1"/>
          </p:cNvSpPr>
          <p:nvPr>
            <p:ph sz="half" idx="1"/>
          </p:nvPr>
        </p:nvSpPr>
        <p:spPr>
          <a:xfrm>
            <a:off x="838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Conteúdo 3">
            <a:extLst>
              <a:ext uri="{FF2B5EF4-FFF2-40B4-BE49-F238E27FC236}">
                <a16:creationId xmlns:a16="http://schemas.microsoft.com/office/drawing/2014/main" id="{FAE5C96C-6557-139C-829B-1E2006E8E4FA}"/>
              </a:ext>
            </a:extLst>
          </p:cNvPr>
          <p:cNvSpPr>
            <a:spLocks noGrp="1"/>
          </p:cNvSpPr>
          <p:nvPr>
            <p:ph sz="half" idx="2"/>
          </p:nvPr>
        </p:nvSpPr>
        <p:spPr>
          <a:xfrm>
            <a:off x="6172200" y="1825625"/>
            <a:ext cx="5181600" cy="435133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Data 4">
            <a:extLst>
              <a:ext uri="{FF2B5EF4-FFF2-40B4-BE49-F238E27FC236}">
                <a16:creationId xmlns:a16="http://schemas.microsoft.com/office/drawing/2014/main" id="{5078F9F2-431C-5E88-F592-33B5C0615170}"/>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6" name="Espaço Reservado para Rodapé 5">
            <a:extLst>
              <a:ext uri="{FF2B5EF4-FFF2-40B4-BE49-F238E27FC236}">
                <a16:creationId xmlns:a16="http://schemas.microsoft.com/office/drawing/2014/main" id="{AAC75C67-72C7-8FDC-C52F-B7B5F492196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0148C1A5-B006-91D7-168C-B7FC435E809B}"/>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217511126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çã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F688A85-0410-BF11-EF32-3AB351F4BF42}"/>
              </a:ext>
            </a:extLst>
          </p:cNvPr>
          <p:cNvSpPr>
            <a:spLocks noGrp="1"/>
          </p:cNvSpPr>
          <p:nvPr>
            <p:ph type="title"/>
          </p:nvPr>
        </p:nvSpPr>
        <p:spPr>
          <a:xfrm>
            <a:off x="839788" y="365125"/>
            <a:ext cx="10515600" cy="1325563"/>
          </a:xfrm>
        </p:spPr>
        <p:txBody>
          <a:bodyPr/>
          <a:lstStyle/>
          <a:p>
            <a:r>
              <a:rPr lang="pt-BR"/>
              <a:t>Clique para editar o título Mestre</a:t>
            </a:r>
          </a:p>
        </p:txBody>
      </p:sp>
      <p:sp>
        <p:nvSpPr>
          <p:cNvPr id="3" name="Espaço Reservado para Texto 2">
            <a:extLst>
              <a:ext uri="{FF2B5EF4-FFF2-40B4-BE49-F238E27FC236}">
                <a16:creationId xmlns:a16="http://schemas.microsoft.com/office/drawing/2014/main" id="{E54C2B90-2197-F269-EB61-113C72E13FD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4" name="Espaço Reservado para Conteúdo 3">
            <a:extLst>
              <a:ext uri="{FF2B5EF4-FFF2-40B4-BE49-F238E27FC236}">
                <a16:creationId xmlns:a16="http://schemas.microsoft.com/office/drawing/2014/main" id="{2C3DBFA4-22A6-0D4A-BDA8-6551FBF5A9A7}"/>
              </a:ext>
            </a:extLst>
          </p:cNvPr>
          <p:cNvSpPr>
            <a:spLocks noGrp="1"/>
          </p:cNvSpPr>
          <p:nvPr>
            <p:ph sz="half" idx="2"/>
          </p:nvPr>
        </p:nvSpPr>
        <p:spPr>
          <a:xfrm>
            <a:off x="839788" y="2505075"/>
            <a:ext cx="5157787"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5" name="Espaço Reservado para Texto 4">
            <a:extLst>
              <a:ext uri="{FF2B5EF4-FFF2-40B4-BE49-F238E27FC236}">
                <a16:creationId xmlns:a16="http://schemas.microsoft.com/office/drawing/2014/main" id="{BD0AAD23-4A7C-83D3-03A4-86524D6684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pt-BR"/>
              <a:t>Clique para editar os estilos de texto Mestres</a:t>
            </a:r>
          </a:p>
        </p:txBody>
      </p:sp>
      <p:sp>
        <p:nvSpPr>
          <p:cNvPr id="6" name="Espaço Reservado para Conteúdo 5">
            <a:extLst>
              <a:ext uri="{FF2B5EF4-FFF2-40B4-BE49-F238E27FC236}">
                <a16:creationId xmlns:a16="http://schemas.microsoft.com/office/drawing/2014/main" id="{37006DE9-BC23-B113-D3DF-02E204835E32}"/>
              </a:ext>
            </a:extLst>
          </p:cNvPr>
          <p:cNvSpPr>
            <a:spLocks noGrp="1"/>
          </p:cNvSpPr>
          <p:nvPr>
            <p:ph sz="quarter" idx="4"/>
          </p:nvPr>
        </p:nvSpPr>
        <p:spPr>
          <a:xfrm>
            <a:off x="6172200" y="2505075"/>
            <a:ext cx="5183188" cy="3684588"/>
          </a:xfrm>
        </p:spPr>
        <p:txBody>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7" name="Espaço Reservado para Data 6">
            <a:extLst>
              <a:ext uri="{FF2B5EF4-FFF2-40B4-BE49-F238E27FC236}">
                <a16:creationId xmlns:a16="http://schemas.microsoft.com/office/drawing/2014/main" id="{F6B2E737-754B-292E-CAD1-5040BCBE8E88}"/>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8" name="Espaço Reservado para Rodapé 7">
            <a:extLst>
              <a:ext uri="{FF2B5EF4-FFF2-40B4-BE49-F238E27FC236}">
                <a16:creationId xmlns:a16="http://schemas.microsoft.com/office/drawing/2014/main" id="{94F9919B-C697-30EF-D1BE-1A63A15665E8}"/>
              </a:ext>
            </a:extLst>
          </p:cNvPr>
          <p:cNvSpPr>
            <a:spLocks noGrp="1"/>
          </p:cNvSpPr>
          <p:nvPr>
            <p:ph type="ftr" sz="quarter" idx="11"/>
          </p:nvPr>
        </p:nvSpPr>
        <p:spPr/>
        <p:txBody>
          <a:bodyPr/>
          <a:lstStyle/>
          <a:p>
            <a:endParaRPr lang="pt-BR"/>
          </a:p>
        </p:txBody>
      </p:sp>
      <p:sp>
        <p:nvSpPr>
          <p:cNvPr id="9" name="Espaço Reservado para Número de Slide 8">
            <a:extLst>
              <a:ext uri="{FF2B5EF4-FFF2-40B4-BE49-F238E27FC236}">
                <a16:creationId xmlns:a16="http://schemas.microsoft.com/office/drawing/2014/main" id="{7F4FD2EC-724E-9612-CCBD-58B74958CBC4}"/>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530928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ment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7F755A3-EE94-2ADB-DEFA-BF2636879A67}"/>
              </a:ext>
            </a:extLst>
          </p:cNvPr>
          <p:cNvSpPr>
            <a:spLocks noGrp="1"/>
          </p:cNvSpPr>
          <p:nvPr>
            <p:ph type="title"/>
          </p:nvPr>
        </p:nvSpPr>
        <p:spPr/>
        <p:txBody>
          <a:bodyPr/>
          <a:lstStyle/>
          <a:p>
            <a:r>
              <a:rPr lang="pt-BR"/>
              <a:t>Clique para editar o título Mestre</a:t>
            </a:r>
          </a:p>
        </p:txBody>
      </p:sp>
      <p:sp>
        <p:nvSpPr>
          <p:cNvPr id="3" name="Espaço Reservado para Data 2">
            <a:extLst>
              <a:ext uri="{FF2B5EF4-FFF2-40B4-BE49-F238E27FC236}">
                <a16:creationId xmlns:a16="http://schemas.microsoft.com/office/drawing/2014/main" id="{8FDDA6BA-9556-EC1D-F0B4-6EE4FDA0800A}"/>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4" name="Espaço Reservado para Rodapé 3">
            <a:extLst>
              <a:ext uri="{FF2B5EF4-FFF2-40B4-BE49-F238E27FC236}">
                <a16:creationId xmlns:a16="http://schemas.microsoft.com/office/drawing/2014/main" id="{F6FA4AE6-7EB5-C71C-6FC1-EF0B1BF37FAD}"/>
              </a:ext>
            </a:extLst>
          </p:cNvPr>
          <p:cNvSpPr>
            <a:spLocks noGrp="1"/>
          </p:cNvSpPr>
          <p:nvPr>
            <p:ph type="ftr" sz="quarter" idx="11"/>
          </p:nvPr>
        </p:nvSpPr>
        <p:spPr/>
        <p:txBody>
          <a:bodyPr/>
          <a:lstStyle/>
          <a:p>
            <a:endParaRPr lang="pt-BR"/>
          </a:p>
        </p:txBody>
      </p:sp>
      <p:sp>
        <p:nvSpPr>
          <p:cNvPr id="5" name="Espaço Reservado para Número de Slide 4">
            <a:extLst>
              <a:ext uri="{FF2B5EF4-FFF2-40B4-BE49-F238E27FC236}">
                <a16:creationId xmlns:a16="http://schemas.microsoft.com/office/drawing/2014/main" id="{598EB463-39A2-79C1-1FB1-9A304C82A29E}"/>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386980592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m Branco">
    <p:spTree>
      <p:nvGrpSpPr>
        <p:cNvPr id="1" name=""/>
        <p:cNvGrpSpPr/>
        <p:nvPr/>
      </p:nvGrpSpPr>
      <p:grpSpPr>
        <a:xfrm>
          <a:off x="0" y="0"/>
          <a:ext cx="0" cy="0"/>
          <a:chOff x="0" y="0"/>
          <a:chExt cx="0" cy="0"/>
        </a:xfrm>
      </p:grpSpPr>
      <p:sp>
        <p:nvSpPr>
          <p:cNvPr id="2" name="Espaço Reservado para Data 1">
            <a:extLst>
              <a:ext uri="{FF2B5EF4-FFF2-40B4-BE49-F238E27FC236}">
                <a16:creationId xmlns:a16="http://schemas.microsoft.com/office/drawing/2014/main" id="{C47F4E4B-546F-EFED-83B5-C9411073F3B4}"/>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3" name="Espaço Reservado para Rodapé 2">
            <a:extLst>
              <a:ext uri="{FF2B5EF4-FFF2-40B4-BE49-F238E27FC236}">
                <a16:creationId xmlns:a16="http://schemas.microsoft.com/office/drawing/2014/main" id="{5B06F59A-6624-8B29-3DC2-249FD9F1FF97}"/>
              </a:ext>
            </a:extLst>
          </p:cNvPr>
          <p:cNvSpPr>
            <a:spLocks noGrp="1"/>
          </p:cNvSpPr>
          <p:nvPr>
            <p:ph type="ftr" sz="quarter" idx="11"/>
          </p:nvPr>
        </p:nvSpPr>
        <p:spPr/>
        <p:txBody>
          <a:bodyPr/>
          <a:lstStyle/>
          <a:p>
            <a:endParaRPr lang="pt-BR"/>
          </a:p>
        </p:txBody>
      </p:sp>
      <p:sp>
        <p:nvSpPr>
          <p:cNvPr id="4" name="Espaço Reservado para Número de Slide 3">
            <a:extLst>
              <a:ext uri="{FF2B5EF4-FFF2-40B4-BE49-F238E27FC236}">
                <a16:creationId xmlns:a16="http://schemas.microsoft.com/office/drawing/2014/main" id="{1943035F-A6C7-FEA7-0A8B-98F9D10E42C6}"/>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9472670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údo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A5757AE-DB7A-FDFD-4C06-C062E520BB6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Conteúdo 2">
            <a:extLst>
              <a:ext uri="{FF2B5EF4-FFF2-40B4-BE49-F238E27FC236}">
                <a16:creationId xmlns:a16="http://schemas.microsoft.com/office/drawing/2014/main" id="{798E0F6A-1456-7C25-E924-D0F19A3C21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Texto 3">
            <a:extLst>
              <a:ext uri="{FF2B5EF4-FFF2-40B4-BE49-F238E27FC236}">
                <a16:creationId xmlns:a16="http://schemas.microsoft.com/office/drawing/2014/main" id="{C20A3D52-CAF1-BDA9-7320-84E1446C287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201BAFD6-46CC-C0CA-2A5A-BC1C7F1D6B63}"/>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6" name="Espaço Reservado para Rodapé 5">
            <a:extLst>
              <a:ext uri="{FF2B5EF4-FFF2-40B4-BE49-F238E27FC236}">
                <a16:creationId xmlns:a16="http://schemas.microsoft.com/office/drawing/2014/main" id="{11DA92B0-8D0E-7794-93B9-C9553D87DBAF}"/>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F768B9B0-4579-6F80-C1B8-FA27F8F8AFFE}"/>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284630446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m com Legenda">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20180B8-6386-8AEE-8DC6-C9603A60E1C0}"/>
              </a:ext>
            </a:extLst>
          </p:cNvPr>
          <p:cNvSpPr>
            <a:spLocks noGrp="1"/>
          </p:cNvSpPr>
          <p:nvPr>
            <p:ph type="title"/>
          </p:nvPr>
        </p:nvSpPr>
        <p:spPr>
          <a:xfrm>
            <a:off x="839788" y="457200"/>
            <a:ext cx="3932237" cy="1600200"/>
          </a:xfrm>
        </p:spPr>
        <p:txBody>
          <a:bodyPr anchor="b"/>
          <a:lstStyle>
            <a:lvl1pPr>
              <a:defRPr sz="3200"/>
            </a:lvl1pPr>
          </a:lstStyle>
          <a:p>
            <a:r>
              <a:rPr lang="pt-BR"/>
              <a:t>Clique para editar o título Mestre</a:t>
            </a:r>
          </a:p>
        </p:txBody>
      </p:sp>
      <p:sp>
        <p:nvSpPr>
          <p:cNvPr id="3" name="Espaço Reservado para Imagem 2">
            <a:extLst>
              <a:ext uri="{FF2B5EF4-FFF2-40B4-BE49-F238E27FC236}">
                <a16:creationId xmlns:a16="http://schemas.microsoft.com/office/drawing/2014/main" id="{02E4419E-7A01-E2CC-F9AD-57C5A569783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pt-BR"/>
          </a:p>
        </p:txBody>
      </p:sp>
      <p:sp>
        <p:nvSpPr>
          <p:cNvPr id="4" name="Espaço Reservado para Texto 3">
            <a:extLst>
              <a:ext uri="{FF2B5EF4-FFF2-40B4-BE49-F238E27FC236}">
                <a16:creationId xmlns:a16="http://schemas.microsoft.com/office/drawing/2014/main" id="{06B8ED69-160C-8A04-B9E7-44FA1488458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pt-BR"/>
              <a:t>Clique para editar os estilos de texto Mestres</a:t>
            </a:r>
          </a:p>
        </p:txBody>
      </p:sp>
      <p:sp>
        <p:nvSpPr>
          <p:cNvPr id="5" name="Espaço Reservado para Data 4">
            <a:extLst>
              <a:ext uri="{FF2B5EF4-FFF2-40B4-BE49-F238E27FC236}">
                <a16:creationId xmlns:a16="http://schemas.microsoft.com/office/drawing/2014/main" id="{D4E3D235-4ABC-B5F2-C284-CDB0EEF00183}"/>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6" name="Espaço Reservado para Rodapé 5">
            <a:extLst>
              <a:ext uri="{FF2B5EF4-FFF2-40B4-BE49-F238E27FC236}">
                <a16:creationId xmlns:a16="http://schemas.microsoft.com/office/drawing/2014/main" id="{3CA32ED8-8A33-D05F-CA92-0C47DEEC1984}"/>
              </a:ext>
            </a:extLst>
          </p:cNvPr>
          <p:cNvSpPr>
            <a:spLocks noGrp="1"/>
          </p:cNvSpPr>
          <p:nvPr>
            <p:ph type="ftr" sz="quarter" idx="11"/>
          </p:nvPr>
        </p:nvSpPr>
        <p:spPr/>
        <p:txBody>
          <a:bodyPr/>
          <a:lstStyle/>
          <a:p>
            <a:endParaRPr lang="pt-BR"/>
          </a:p>
        </p:txBody>
      </p:sp>
      <p:sp>
        <p:nvSpPr>
          <p:cNvPr id="7" name="Espaço Reservado para Número de Slide 6">
            <a:extLst>
              <a:ext uri="{FF2B5EF4-FFF2-40B4-BE49-F238E27FC236}">
                <a16:creationId xmlns:a16="http://schemas.microsoft.com/office/drawing/2014/main" id="{4871FB84-A62F-EFA6-DE59-FD0E1BF446B6}"/>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8817557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e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B045591-6F7D-3731-678E-A661D9B1FE38}"/>
              </a:ext>
            </a:extLst>
          </p:cNvPr>
          <p:cNvSpPr>
            <a:spLocks noGrp="1"/>
          </p:cNvSpPr>
          <p:nvPr>
            <p:ph type="title"/>
          </p:nvPr>
        </p:nvSpPr>
        <p:spPr/>
        <p:txBody>
          <a:bodyPr/>
          <a:lstStyle/>
          <a:p>
            <a:r>
              <a:rPr lang="pt-BR"/>
              <a:t>Clique para editar o título Mestre</a:t>
            </a:r>
          </a:p>
        </p:txBody>
      </p:sp>
      <p:sp>
        <p:nvSpPr>
          <p:cNvPr id="3" name="Espaço Reservado para Texto Vertical 2">
            <a:extLst>
              <a:ext uri="{FF2B5EF4-FFF2-40B4-BE49-F238E27FC236}">
                <a16:creationId xmlns:a16="http://schemas.microsoft.com/office/drawing/2014/main" id="{42F35AD4-D2C4-9745-3F70-17BF94AABB1E}"/>
              </a:ext>
            </a:extLst>
          </p:cNvPr>
          <p:cNvSpPr>
            <a:spLocks noGrp="1"/>
          </p:cNvSpPr>
          <p:nvPr>
            <p:ph type="body" orient="vert" idx="1"/>
          </p:nvPr>
        </p:nvSpPr>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1B56CD63-97B2-201A-2DCA-71CBDC7CD07B}"/>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5" name="Espaço Reservado para Rodapé 4">
            <a:extLst>
              <a:ext uri="{FF2B5EF4-FFF2-40B4-BE49-F238E27FC236}">
                <a16:creationId xmlns:a16="http://schemas.microsoft.com/office/drawing/2014/main" id="{F53D7AB2-93AD-2A37-57DF-8931F33FB47C}"/>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8F55A946-3756-630E-AE00-F9892A126A11}"/>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16771418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exto e Título Vertical">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677F0C07-3A16-8240-12B5-89CAA31641F4}"/>
              </a:ext>
            </a:extLst>
          </p:cNvPr>
          <p:cNvSpPr>
            <a:spLocks noGrp="1"/>
          </p:cNvSpPr>
          <p:nvPr>
            <p:ph type="title" orient="vert"/>
          </p:nvPr>
        </p:nvSpPr>
        <p:spPr>
          <a:xfrm>
            <a:off x="8724900" y="365125"/>
            <a:ext cx="2628900" cy="5811838"/>
          </a:xfrm>
        </p:spPr>
        <p:txBody>
          <a:bodyPr vert="eaVert"/>
          <a:lstStyle/>
          <a:p>
            <a:r>
              <a:rPr lang="pt-BR"/>
              <a:t>Clique para editar o título Mestre</a:t>
            </a:r>
          </a:p>
        </p:txBody>
      </p:sp>
      <p:sp>
        <p:nvSpPr>
          <p:cNvPr id="3" name="Espaço Reservado para Texto Vertical 2">
            <a:extLst>
              <a:ext uri="{FF2B5EF4-FFF2-40B4-BE49-F238E27FC236}">
                <a16:creationId xmlns:a16="http://schemas.microsoft.com/office/drawing/2014/main" id="{5F0D0E76-6D0B-EB21-8D58-FAABD73D2DCC}"/>
              </a:ext>
            </a:extLst>
          </p:cNvPr>
          <p:cNvSpPr>
            <a:spLocks noGrp="1"/>
          </p:cNvSpPr>
          <p:nvPr>
            <p:ph type="body" orient="vert" idx="1"/>
          </p:nvPr>
        </p:nvSpPr>
        <p:spPr>
          <a:xfrm>
            <a:off x="838200" y="365125"/>
            <a:ext cx="7734300" cy="5811838"/>
          </a:xfrm>
        </p:spPr>
        <p:txBody>
          <a:bodyPr vert="eaVert"/>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B3B96767-50A1-8291-5946-3894818F77F1}"/>
              </a:ext>
            </a:extLst>
          </p:cNvPr>
          <p:cNvSpPr>
            <a:spLocks noGrp="1"/>
          </p:cNvSpPr>
          <p:nvPr>
            <p:ph type="dt" sz="half" idx="10"/>
          </p:nvPr>
        </p:nvSpPr>
        <p:spPr/>
        <p:txBody>
          <a:bodyPr/>
          <a:lstStyle/>
          <a:p>
            <a:fld id="{5CC9C46D-F5DA-4B24-A20B-D1BB78A23A6D}" type="datetimeFigureOut">
              <a:rPr lang="pt-BR" smtClean="0"/>
              <a:t>27/03/2026</a:t>
            </a:fld>
            <a:endParaRPr lang="pt-BR"/>
          </a:p>
        </p:txBody>
      </p:sp>
      <p:sp>
        <p:nvSpPr>
          <p:cNvPr id="5" name="Espaço Reservado para Rodapé 4">
            <a:extLst>
              <a:ext uri="{FF2B5EF4-FFF2-40B4-BE49-F238E27FC236}">
                <a16:creationId xmlns:a16="http://schemas.microsoft.com/office/drawing/2014/main" id="{B5E42EB6-582F-5FE7-0498-FAF30ADF0818}"/>
              </a:ext>
            </a:extLst>
          </p:cNvPr>
          <p:cNvSpPr>
            <a:spLocks noGrp="1"/>
          </p:cNvSpPr>
          <p:nvPr>
            <p:ph type="ftr" sz="quarter" idx="11"/>
          </p:nvPr>
        </p:nvSpPr>
        <p:spPr/>
        <p:txBody>
          <a:bodyPr/>
          <a:lstStyle/>
          <a:p>
            <a:endParaRPr lang="pt-BR"/>
          </a:p>
        </p:txBody>
      </p:sp>
      <p:sp>
        <p:nvSpPr>
          <p:cNvPr id="6" name="Espaço Reservado para Número de Slide 5">
            <a:extLst>
              <a:ext uri="{FF2B5EF4-FFF2-40B4-BE49-F238E27FC236}">
                <a16:creationId xmlns:a16="http://schemas.microsoft.com/office/drawing/2014/main" id="{C11E3DC5-DF55-B471-4548-6C4B2FCF8C57}"/>
              </a:ext>
            </a:extLst>
          </p:cNvPr>
          <p:cNvSpPr>
            <a:spLocks noGrp="1"/>
          </p:cNvSpPr>
          <p:nvPr>
            <p:ph type="sldNum" sz="quarter" idx="12"/>
          </p:nvPr>
        </p:nvSpPr>
        <p:spPr/>
        <p:txBody>
          <a:bodyPr/>
          <a:lstStyle/>
          <a:p>
            <a:fld id="{6D8C0B3B-A50D-4B14-9D81-A18F38FBA0E7}" type="slidenum">
              <a:rPr lang="pt-BR" smtClean="0"/>
              <a:t>‹nº›</a:t>
            </a:fld>
            <a:endParaRPr lang="pt-BR"/>
          </a:p>
        </p:txBody>
      </p:sp>
    </p:spTree>
    <p:extLst>
      <p:ext uri="{BB962C8B-B14F-4D97-AF65-F5344CB8AC3E}">
        <p14:creationId xmlns:p14="http://schemas.microsoft.com/office/powerpoint/2010/main" val="24027353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Título 1">
            <a:extLst>
              <a:ext uri="{FF2B5EF4-FFF2-40B4-BE49-F238E27FC236}">
                <a16:creationId xmlns:a16="http://schemas.microsoft.com/office/drawing/2014/main" id="{01508CD1-5410-E1E1-0499-FC995E8D3D3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pt-BR"/>
              <a:t>Clique para editar o título Mestre</a:t>
            </a:r>
          </a:p>
        </p:txBody>
      </p:sp>
      <p:sp>
        <p:nvSpPr>
          <p:cNvPr id="3" name="Espaço Reservado para Texto 2">
            <a:extLst>
              <a:ext uri="{FF2B5EF4-FFF2-40B4-BE49-F238E27FC236}">
                <a16:creationId xmlns:a16="http://schemas.microsoft.com/office/drawing/2014/main" id="{4DCC24E9-FE0E-F7B6-3AA9-FF1316735B8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4" name="Espaço Reservado para Data 3">
            <a:extLst>
              <a:ext uri="{FF2B5EF4-FFF2-40B4-BE49-F238E27FC236}">
                <a16:creationId xmlns:a16="http://schemas.microsoft.com/office/drawing/2014/main" id="{664908A4-44C6-8EAE-35C7-7F8CCF0C3F0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CC9C46D-F5DA-4B24-A20B-D1BB78A23A6D}" type="datetimeFigureOut">
              <a:rPr lang="pt-BR" smtClean="0"/>
              <a:t>27/03/2026</a:t>
            </a:fld>
            <a:endParaRPr lang="pt-BR"/>
          </a:p>
        </p:txBody>
      </p:sp>
      <p:sp>
        <p:nvSpPr>
          <p:cNvPr id="5" name="Espaço Reservado para Rodapé 4">
            <a:extLst>
              <a:ext uri="{FF2B5EF4-FFF2-40B4-BE49-F238E27FC236}">
                <a16:creationId xmlns:a16="http://schemas.microsoft.com/office/drawing/2014/main" id="{5F9C88EC-2A03-0BE8-6096-C618E3788D1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pt-BR"/>
          </a:p>
        </p:txBody>
      </p:sp>
      <p:sp>
        <p:nvSpPr>
          <p:cNvPr id="6" name="Espaço Reservado para Número de Slide 5">
            <a:extLst>
              <a:ext uri="{FF2B5EF4-FFF2-40B4-BE49-F238E27FC236}">
                <a16:creationId xmlns:a16="http://schemas.microsoft.com/office/drawing/2014/main" id="{683A640D-2AEB-AA52-CE93-6601BE6A221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D8C0B3B-A50D-4B14-9D81-A18F38FBA0E7}" type="slidenum">
              <a:rPr lang="pt-BR" smtClean="0"/>
              <a:t>‹nº›</a:t>
            </a:fld>
            <a:endParaRPr lang="pt-BR"/>
          </a:p>
        </p:txBody>
      </p:sp>
      <p:pic>
        <p:nvPicPr>
          <p:cNvPr id="7" name="Imagem 6">
            <a:extLst>
              <a:ext uri="{FF2B5EF4-FFF2-40B4-BE49-F238E27FC236}">
                <a16:creationId xmlns:a16="http://schemas.microsoft.com/office/drawing/2014/main" id="{DB7A203D-BC99-19AC-1440-0053B22389FE}"/>
              </a:ext>
            </a:extLst>
          </p:cNvPr>
          <p:cNvPicPr>
            <a:picLocks noChangeAspect="1"/>
          </p:cNvPicPr>
          <p:nvPr userDrawn="1"/>
        </p:nvPicPr>
        <p:blipFill>
          <a:blip r:embed="rId13"/>
          <a:stretch>
            <a:fillRect/>
          </a:stretch>
        </p:blipFill>
        <p:spPr>
          <a:xfrm>
            <a:off x="8610600" y="104579"/>
            <a:ext cx="3481023" cy="480425"/>
          </a:xfrm>
          <a:prstGeom prst="rect">
            <a:avLst/>
          </a:prstGeom>
        </p:spPr>
      </p:pic>
    </p:spTree>
    <p:extLst>
      <p:ext uri="{BB962C8B-B14F-4D97-AF65-F5344CB8AC3E}">
        <p14:creationId xmlns:p14="http://schemas.microsoft.com/office/powerpoint/2010/main" val="41668037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B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Bruno.penteado@unesp.br"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2.xml"/><Relationship Id="rId4" Type="http://schemas.openxmlformats.org/officeDocument/2006/relationships/image" Target="../media/image5.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hyperlink" Target="https://sebrae.com.br/Sebrae/Portal%20Sebrae/Anexos/ME_Missao-Visao-Valores.PDF"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jpe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4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hyperlink" Target="https://www.linkedin.com/pulse/tudo-o-que-voc%C3%AA-precisa-saber-sobre-origem-do-okr-e-porque-gomes/" TargetMode="External"/><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ítulo 1">
            <a:extLst>
              <a:ext uri="{FF2B5EF4-FFF2-40B4-BE49-F238E27FC236}">
                <a16:creationId xmlns:a16="http://schemas.microsoft.com/office/drawing/2014/main" id="{11CE52B2-35C1-BC52-58D1-71F38112F63D}"/>
              </a:ext>
            </a:extLst>
          </p:cNvPr>
          <p:cNvSpPr txBox="1">
            <a:spLocks/>
          </p:cNvSpPr>
          <p:nvPr/>
        </p:nvSpPr>
        <p:spPr>
          <a:xfrm>
            <a:off x="1524000" y="2048338"/>
            <a:ext cx="9144000" cy="2387600"/>
          </a:xfrm>
          <a:prstGeom prst="rect">
            <a:avLst/>
          </a:prstGeom>
        </p:spPr>
        <p:txBody>
          <a:bodyPr vert="horz" lIns="91440" tIns="45720" rIns="91440" bIns="45720" rtlCol="0" anchor="b">
            <a:normAutofit fontScale="97500" lnSpcReduction="100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pt-BR" b="1" dirty="0"/>
              <a:t>Aula 2 </a:t>
            </a:r>
            <a:br>
              <a:rPr lang="pt-BR" dirty="0"/>
            </a:br>
            <a:r>
              <a:rPr lang="pt-BR" dirty="0"/>
              <a:t>Alinhamento estratégico de projetos</a:t>
            </a:r>
          </a:p>
        </p:txBody>
      </p:sp>
      <p:sp>
        <p:nvSpPr>
          <p:cNvPr id="5" name="Subtítulo 2">
            <a:extLst>
              <a:ext uri="{FF2B5EF4-FFF2-40B4-BE49-F238E27FC236}">
                <a16:creationId xmlns:a16="http://schemas.microsoft.com/office/drawing/2014/main" id="{52575701-68BF-5229-3D18-C2C9D3651AA6}"/>
              </a:ext>
            </a:extLst>
          </p:cNvPr>
          <p:cNvSpPr txBox="1">
            <a:spLocks/>
          </p:cNvSpPr>
          <p:nvPr/>
        </p:nvSpPr>
        <p:spPr>
          <a:xfrm>
            <a:off x="1524000" y="4528013"/>
            <a:ext cx="9144000" cy="165576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pt-BR" dirty="0"/>
              <a:t>Bruno Elias Penteado</a:t>
            </a:r>
          </a:p>
          <a:p>
            <a:r>
              <a:rPr lang="pt-BR" sz="1800" i="1" dirty="0">
                <a:hlinkClick r:id="rId3"/>
              </a:rPr>
              <a:t>bruno.penteado@unesp.br</a:t>
            </a:r>
            <a:r>
              <a:rPr lang="pt-BR" sz="1800" i="1" dirty="0"/>
              <a:t> </a:t>
            </a:r>
          </a:p>
        </p:txBody>
      </p:sp>
    </p:spTree>
    <p:extLst>
      <p:ext uri="{BB962C8B-B14F-4D97-AF65-F5344CB8AC3E}">
        <p14:creationId xmlns:p14="http://schemas.microsoft.com/office/powerpoint/2010/main" val="3492919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42EE6F-4949-4C53-75BD-8540179D6AA8}"/>
              </a:ext>
            </a:extLst>
          </p:cNvPr>
          <p:cNvSpPr>
            <a:spLocks noGrp="1"/>
          </p:cNvSpPr>
          <p:nvPr>
            <p:ph type="title"/>
          </p:nvPr>
        </p:nvSpPr>
        <p:spPr/>
        <p:txBody>
          <a:bodyPr/>
          <a:lstStyle/>
          <a:p>
            <a:r>
              <a:rPr lang="pt-BR" dirty="0"/>
              <a:t>Apresentação dos projetos de grupo</a:t>
            </a:r>
          </a:p>
        </p:txBody>
      </p:sp>
      <p:sp>
        <p:nvSpPr>
          <p:cNvPr id="3" name="Espaço Reservado para Conteúdo 2">
            <a:extLst>
              <a:ext uri="{FF2B5EF4-FFF2-40B4-BE49-F238E27FC236}">
                <a16:creationId xmlns:a16="http://schemas.microsoft.com/office/drawing/2014/main" id="{CDF8B69B-4BDC-19DD-357B-2D0273F6C92E}"/>
              </a:ext>
            </a:extLst>
          </p:cNvPr>
          <p:cNvSpPr>
            <a:spLocks noGrp="1"/>
          </p:cNvSpPr>
          <p:nvPr>
            <p:ph idx="1"/>
          </p:nvPr>
        </p:nvSpPr>
        <p:spPr/>
        <p:txBody>
          <a:bodyPr>
            <a:normAutofit/>
          </a:bodyPr>
          <a:lstStyle/>
          <a:p>
            <a:pPr>
              <a:spcBef>
                <a:spcPts val="2400"/>
              </a:spcBef>
            </a:pPr>
            <a:r>
              <a:rPr lang="pt-BR" dirty="0"/>
              <a:t>Definir a finalidade do projeto</a:t>
            </a:r>
          </a:p>
          <a:p>
            <a:pPr lvl="1"/>
            <a:r>
              <a:rPr lang="pt-BR" dirty="0"/>
              <a:t>Levantar qual a demanda pelo projeto</a:t>
            </a:r>
          </a:p>
          <a:p>
            <a:pPr lvl="1"/>
            <a:r>
              <a:rPr lang="pt-BR" dirty="0"/>
              <a:t>Levantar as funcionalidades desejadas</a:t>
            </a:r>
          </a:p>
          <a:p>
            <a:pPr lvl="1"/>
            <a:r>
              <a:rPr lang="pt-BR" dirty="0"/>
              <a:t>Projetar arquitetura em alto nível</a:t>
            </a:r>
          </a:p>
        </p:txBody>
      </p:sp>
    </p:spTree>
    <p:extLst>
      <p:ext uri="{BB962C8B-B14F-4D97-AF65-F5344CB8AC3E}">
        <p14:creationId xmlns:p14="http://schemas.microsoft.com/office/powerpoint/2010/main" val="280588557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29F3574-594A-88B0-CB80-2A3952372795}"/>
              </a:ext>
            </a:extLst>
          </p:cNvPr>
          <p:cNvSpPr>
            <a:spLocks noGrp="1"/>
          </p:cNvSpPr>
          <p:nvPr>
            <p:ph type="title"/>
          </p:nvPr>
        </p:nvSpPr>
        <p:spPr/>
        <p:txBody>
          <a:bodyPr/>
          <a:lstStyle/>
          <a:p>
            <a:r>
              <a:rPr lang="pt-BR" dirty="0"/>
              <a:t>Avaliação</a:t>
            </a:r>
          </a:p>
        </p:txBody>
      </p:sp>
      <p:pic>
        <p:nvPicPr>
          <p:cNvPr id="4" name="Imagem 3">
            <a:extLst>
              <a:ext uri="{FF2B5EF4-FFF2-40B4-BE49-F238E27FC236}">
                <a16:creationId xmlns:a16="http://schemas.microsoft.com/office/drawing/2014/main" id="{931266CE-A496-D331-764A-83A2747FD4A5}"/>
              </a:ext>
            </a:extLst>
          </p:cNvPr>
          <p:cNvPicPr>
            <a:picLocks noChangeAspect="1"/>
          </p:cNvPicPr>
          <p:nvPr/>
        </p:nvPicPr>
        <p:blipFill>
          <a:blip r:embed="rId2"/>
          <a:stretch>
            <a:fillRect/>
          </a:stretch>
        </p:blipFill>
        <p:spPr>
          <a:xfrm>
            <a:off x="1083957" y="2200782"/>
            <a:ext cx="9334912" cy="2195220"/>
          </a:xfrm>
          <a:prstGeom prst="rect">
            <a:avLst/>
          </a:prstGeom>
        </p:spPr>
      </p:pic>
    </p:spTree>
    <p:extLst>
      <p:ext uri="{BB962C8B-B14F-4D97-AF65-F5344CB8AC3E}">
        <p14:creationId xmlns:p14="http://schemas.microsoft.com/office/powerpoint/2010/main" val="32306884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0CFF3D-2556-B633-08FE-9427C4F22B04}"/>
              </a:ext>
            </a:extLst>
          </p:cNvPr>
          <p:cNvSpPr>
            <a:spLocks noGrp="1"/>
          </p:cNvSpPr>
          <p:nvPr>
            <p:ph type="title"/>
          </p:nvPr>
        </p:nvSpPr>
        <p:spPr/>
        <p:txBody>
          <a:bodyPr/>
          <a:lstStyle/>
          <a:p>
            <a:r>
              <a:rPr lang="pt-BR" dirty="0"/>
              <a:t>Planejamento das aulas</a:t>
            </a:r>
          </a:p>
        </p:txBody>
      </p:sp>
      <p:graphicFrame>
        <p:nvGraphicFramePr>
          <p:cNvPr id="4" name="Espaço Reservado para Conteúdo 3">
            <a:extLst>
              <a:ext uri="{FF2B5EF4-FFF2-40B4-BE49-F238E27FC236}">
                <a16:creationId xmlns:a16="http://schemas.microsoft.com/office/drawing/2014/main" id="{A9556CB4-2D43-C77A-D78A-D1E4C59EC4E4}"/>
              </a:ext>
            </a:extLst>
          </p:cNvPr>
          <p:cNvGraphicFramePr>
            <a:graphicFrameLocks noGrp="1"/>
          </p:cNvGraphicFramePr>
          <p:nvPr>
            <p:ph idx="1"/>
            <p:extLst>
              <p:ext uri="{D42A27DB-BD31-4B8C-83A1-F6EECF244321}">
                <p14:modId xmlns:p14="http://schemas.microsoft.com/office/powerpoint/2010/main" val="2018757726"/>
              </p:ext>
            </p:extLst>
          </p:nvPr>
        </p:nvGraphicFramePr>
        <p:xfrm>
          <a:off x="3106964" y="1690688"/>
          <a:ext cx="6499260" cy="5056529"/>
        </p:xfrm>
        <a:graphic>
          <a:graphicData uri="http://schemas.openxmlformats.org/drawingml/2006/table">
            <a:tbl>
              <a:tblPr>
                <a:tableStyleId>{5C22544A-7EE6-4342-B048-85BDC9FD1C3A}</a:tableStyleId>
              </a:tblPr>
              <a:tblGrid>
                <a:gridCol w="1177225">
                  <a:extLst>
                    <a:ext uri="{9D8B030D-6E8A-4147-A177-3AD203B41FA5}">
                      <a16:colId xmlns:a16="http://schemas.microsoft.com/office/drawing/2014/main" val="4293976345"/>
                    </a:ext>
                  </a:extLst>
                </a:gridCol>
                <a:gridCol w="5322035">
                  <a:extLst>
                    <a:ext uri="{9D8B030D-6E8A-4147-A177-3AD203B41FA5}">
                      <a16:colId xmlns:a16="http://schemas.microsoft.com/office/drawing/2014/main" val="1655661049"/>
                    </a:ext>
                  </a:extLst>
                </a:gridCol>
              </a:tblGrid>
              <a:tr h="182880">
                <a:tc>
                  <a:txBody>
                    <a:bodyPr/>
                    <a:lstStyle/>
                    <a:p>
                      <a:pPr marL="0" algn="ctr" defTabSz="914400" rtl="0" eaLnBrk="1" fontAlgn="b" latinLnBrk="0" hangingPunct="1"/>
                      <a:r>
                        <a:rPr lang="pt-BR" sz="1600" b="1" u="none" strike="noStrike" kern="1200" dirty="0">
                          <a:solidFill>
                            <a:schemeClr val="dk1"/>
                          </a:solidFill>
                          <a:effectLst/>
                          <a:latin typeface="+mn-lt"/>
                          <a:ea typeface="+mn-ea"/>
                          <a:cs typeface="+mn-cs"/>
                        </a:rPr>
                        <a:t>Data</a:t>
                      </a:r>
                    </a:p>
                  </a:txBody>
                  <a:tcPr marL="7620" marR="7620" marT="7620" marB="0" anchor="b">
                    <a:solidFill>
                      <a:srgbClr val="F4B183"/>
                    </a:solidFill>
                  </a:tcPr>
                </a:tc>
                <a:tc>
                  <a:txBody>
                    <a:bodyPr/>
                    <a:lstStyle/>
                    <a:p>
                      <a:pPr marL="0" algn="ctr" defTabSz="914400" rtl="0" eaLnBrk="1" fontAlgn="b" latinLnBrk="0" hangingPunct="1"/>
                      <a:r>
                        <a:rPr lang="pt-BR" sz="1600" b="1" u="none" strike="noStrike" kern="1200" dirty="0">
                          <a:solidFill>
                            <a:schemeClr val="dk1"/>
                          </a:solidFill>
                          <a:effectLst/>
                          <a:latin typeface="+mn-lt"/>
                          <a:ea typeface="+mn-ea"/>
                          <a:cs typeface="+mn-cs"/>
                        </a:rPr>
                        <a:t>Conteúdo planejado</a:t>
                      </a:r>
                    </a:p>
                  </a:txBody>
                  <a:tcPr marL="7620" marR="7620" marT="7620" marB="0" anchor="b">
                    <a:solidFill>
                      <a:srgbClr val="F4B183"/>
                    </a:solidFill>
                  </a:tcPr>
                </a:tc>
                <a:extLst>
                  <a:ext uri="{0D108BD9-81ED-4DB2-BD59-A6C34878D82A}">
                    <a16:rowId xmlns:a16="http://schemas.microsoft.com/office/drawing/2014/main" val="1659474412"/>
                  </a:ext>
                </a:extLst>
              </a:tr>
              <a:tr h="182880">
                <a:tc>
                  <a:txBody>
                    <a:bodyPr/>
                    <a:lstStyle/>
                    <a:p>
                      <a:pPr algn="ctr" fontAlgn="b"/>
                      <a:r>
                        <a:rPr lang="pt-BR" sz="1600" b="0" i="0" u="none" strike="noStrike" dirty="0">
                          <a:solidFill>
                            <a:srgbClr val="000000"/>
                          </a:solidFill>
                          <a:effectLst/>
                          <a:latin typeface="Aptos Narrow" panose="020B0004020202020204" pitchFamily="34" charset="0"/>
                        </a:rPr>
                        <a:t>06/mar</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Plano de aulas da disciplina</a:t>
                      </a:r>
                    </a:p>
                  </a:txBody>
                  <a:tcPr marL="7620" marR="7620" marT="7620" marB="0" anchor="b"/>
                </a:tc>
                <a:extLst>
                  <a:ext uri="{0D108BD9-81ED-4DB2-BD59-A6C34878D82A}">
                    <a16:rowId xmlns:a16="http://schemas.microsoft.com/office/drawing/2014/main" val="1227435681"/>
                  </a:ext>
                </a:extLst>
              </a:tr>
              <a:tr h="182880">
                <a:tc>
                  <a:txBody>
                    <a:bodyPr/>
                    <a:lstStyle/>
                    <a:p>
                      <a:pPr algn="ctr" fontAlgn="b"/>
                      <a:r>
                        <a:rPr lang="pt-BR" sz="1600" b="0" i="0" u="none" strike="noStrike" dirty="0">
                          <a:solidFill>
                            <a:srgbClr val="000000"/>
                          </a:solidFill>
                          <a:effectLst/>
                          <a:latin typeface="Aptos Narrow" panose="020B0004020202020204" pitchFamily="34" charset="0"/>
                        </a:rPr>
                        <a:t>13/mar</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Introdução e conceitos de Gestão de Projetos</a:t>
                      </a:r>
                    </a:p>
                  </a:txBody>
                  <a:tcPr marL="7620" marR="7620" marT="7620" marB="0" anchor="b"/>
                </a:tc>
                <a:extLst>
                  <a:ext uri="{0D108BD9-81ED-4DB2-BD59-A6C34878D82A}">
                    <a16:rowId xmlns:a16="http://schemas.microsoft.com/office/drawing/2014/main" val="93228280"/>
                  </a:ext>
                </a:extLst>
              </a:tr>
              <a:tr h="182880">
                <a:tc>
                  <a:txBody>
                    <a:bodyPr/>
                    <a:lstStyle/>
                    <a:p>
                      <a:pPr algn="ctr" fontAlgn="b"/>
                      <a:r>
                        <a:rPr lang="pt-BR" sz="1600" b="0" i="0" u="none" strike="noStrike">
                          <a:solidFill>
                            <a:srgbClr val="000000"/>
                          </a:solidFill>
                          <a:effectLst/>
                          <a:latin typeface="Aptos Narrow" panose="020B0004020202020204" pitchFamily="34" charset="0"/>
                        </a:rPr>
                        <a:t>20/mar</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Complexidade do software e Introdução à Gestão de Projetos</a:t>
                      </a:r>
                    </a:p>
                  </a:txBody>
                  <a:tcPr marL="7620" marR="7620" marT="7620" marB="0" anchor="b"/>
                </a:tc>
                <a:extLst>
                  <a:ext uri="{0D108BD9-81ED-4DB2-BD59-A6C34878D82A}">
                    <a16:rowId xmlns:a16="http://schemas.microsoft.com/office/drawing/2014/main" val="4215803450"/>
                  </a:ext>
                </a:extLst>
              </a:tr>
              <a:tr h="182880">
                <a:tc>
                  <a:txBody>
                    <a:bodyPr/>
                    <a:lstStyle/>
                    <a:p>
                      <a:pPr algn="ctr" fontAlgn="b"/>
                      <a:r>
                        <a:rPr lang="pt-BR" sz="1600" b="0" i="0" u="none" strike="noStrike">
                          <a:solidFill>
                            <a:srgbClr val="000000"/>
                          </a:solidFill>
                          <a:effectLst/>
                          <a:latin typeface="Aptos Narrow" panose="020B0004020202020204" pitchFamily="34" charset="0"/>
                        </a:rPr>
                        <a:t>27/mar</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Alinhamento estratégico e Escopo de projeto</a:t>
                      </a:r>
                    </a:p>
                  </a:txBody>
                  <a:tcPr marL="7620" marR="7620" marT="7620" marB="0" anchor="b"/>
                </a:tc>
                <a:extLst>
                  <a:ext uri="{0D108BD9-81ED-4DB2-BD59-A6C34878D82A}">
                    <a16:rowId xmlns:a16="http://schemas.microsoft.com/office/drawing/2014/main" val="1326048347"/>
                  </a:ext>
                </a:extLst>
              </a:tr>
              <a:tr h="182880">
                <a:tc>
                  <a:txBody>
                    <a:bodyPr/>
                    <a:lstStyle/>
                    <a:p>
                      <a:pPr algn="ctr" fontAlgn="b"/>
                      <a:r>
                        <a:rPr lang="pt-BR" sz="1600" b="0" i="0" u="none" strike="noStrike">
                          <a:solidFill>
                            <a:srgbClr val="FF0000"/>
                          </a:solidFill>
                          <a:effectLst/>
                          <a:latin typeface="Aptos Narrow" panose="020B0004020202020204" pitchFamily="34" charset="0"/>
                        </a:rPr>
                        <a:t>03/abr</a:t>
                      </a:r>
                    </a:p>
                  </a:txBody>
                  <a:tcPr marL="7620" marR="7620" marT="7620" marB="0" anchor="b"/>
                </a:tc>
                <a:tc>
                  <a:txBody>
                    <a:bodyPr/>
                    <a:lstStyle/>
                    <a:p>
                      <a:pPr algn="l" fontAlgn="b"/>
                      <a:r>
                        <a:rPr lang="pt-BR" sz="1600" b="0" i="0" u="none" strike="noStrike">
                          <a:solidFill>
                            <a:srgbClr val="FF0000"/>
                          </a:solidFill>
                          <a:effectLst/>
                          <a:latin typeface="Aptos Narrow" panose="020B0004020202020204" pitchFamily="34" charset="0"/>
                        </a:rPr>
                        <a:t>Feriado - Sexta santa</a:t>
                      </a:r>
                    </a:p>
                  </a:txBody>
                  <a:tcPr marL="7620" marR="7620" marT="7620" marB="0" anchor="b"/>
                </a:tc>
                <a:extLst>
                  <a:ext uri="{0D108BD9-81ED-4DB2-BD59-A6C34878D82A}">
                    <a16:rowId xmlns:a16="http://schemas.microsoft.com/office/drawing/2014/main" val="2011516884"/>
                  </a:ext>
                </a:extLst>
              </a:tr>
              <a:tr h="182880">
                <a:tc>
                  <a:txBody>
                    <a:bodyPr/>
                    <a:lstStyle/>
                    <a:p>
                      <a:pPr algn="ctr" fontAlgn="b"/>
                      <a:r>
                        <a:rPr lang="pt-BR" sz="1600" b="0" i="0" u="none" strike="noStrike">
                          <a:solidFill>
                            <a:srgbClr val="000000"/>
                          </a:solidFill>
                          <a:effectLst/>
                          <a:latin typeface="Aptos Narrow" panose="020B0004020202020204" pitchFamily="34" charset="0"/>
                        </a:rPr>
                        <a:t>10/abr</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Escopo de projeto + EAP</a:t>
                      </a:r>
                    </a:p>
                  </a:txBody>
                  <a:tcPr marL="7620" marR="7620" marT="7620" marB="0" anchor="b"/>
                </a:tc>
                <a:extLst>
                  <a:ext uri="{0D108BD9-81ED-4DB2-BD59-A6C34878D82A}">
                    <a16:rowId xmlns:a16="http://schemas.microsoft.com/office/drawing/2014/main" val="3659857129"/>
                  </a:ext>
                </a:extLst>
              </a:tr>
              <a:tr h="278789">
                <a:tc>
                  <a:txBody>
                    <a:bodyPr/>
                    <a:lstStyle/>
                    <a:p>
                      <a:pPr algn="ctr" fontAlgn="b"/>
                      <a:r>
                        <a:rPr lang="pt-BR" sz="1600" b="0" i="0" u="none" strike="noStrike" dirty="0">
                          <a:solidFill>
                            <a:srgbClr val="000000"/>
                          </a:solidFill>
                          <a:effectLst/>
                          <a:latin typeface="Aptos Narrow" panose="020B0004020202020204" pitchFamily="34" charset="0"/>
                        </a:rPr>
                        <a:t>17/</a:t>
                      </a:r>
                      <a:r>
                        <a:rPr lang="pt-BR" sz="1600" b="0" i="0" u="none" strike="noStrike" dirty="0" err="1">
                          <a:solidFill>
                            <a:srgbClr val="000000"/>
                          </a:solidFill>
                          <a:effectLst/>
                          <a:latin typeface="Aptos Narrow" panose="020B0004020202020204" pitchFamily="34" charset="0"/>
                        </a:rPr>
                        <a:t>abr</a:t>
                      </a:r>
                      <a:endParaRPr lang="pt-BR" sz="1600" b="0" i="0" u="none" strike="noStrike" dirty="0">
                        <a:solidFill>
                          <a:srgbClr val="000000"/>
                        </a:solidFill>
                        <a:effectLst/>
                        <a:latin typeface="Aptos Narrow" panose="020B0004020202020204" pitchFamily="34" charset="0"/>
                      </a:endParaRP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Prática COCOMO e Story Points</a:t>
                      </a:r>
                    </a:p>
                  </a:txBody>
                  <a:tcPr marL="7620" marR="7620" marT="7620" marB="0" anchor="b"/>
                </a:tc>
                <a:extLst>
                  <a:ext uri="{0D108BD9-81ED-4DB2-BD59-A6C34878D82A}">
                    <a16:rowId xmlns:a16="http://schemas.microsoft.com/office/drawing/2014/main" val="2618685562"/>
                  </a:ext>
                </a:extLst>
              </a:tr>
              <a:tr h="182880">
                <a:tc>
                  <a:txBody>
                    <a:bodyPr/>
                    <a:lstStyle/>
                    <a:p>
                      <a:pPr algn="ctr" fontAlgn="b"/>
                      <a:r>
                        <a:rPr lang="pt-BR" sz="1600" b="0" i="0" u="none" strike="noStrike">
                          <a:solidFill>
                            <a:srgbClr val="000000"/>
                          </a:solidFill>
                          <a:effectLst/>
                          <a:latin typeface="Aptos Narrow" panose="020B0004020202020204" pitchFamily="34" charset="0"/>
                        </a:rPr>
                        <a:t>24/abr</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APF e outros</a:t>
                      </a:r>
                    </a:p>
                  </a:txBody>
                  <a:tcPr marL="7620" marR="7620" marT="7620" marB="0" anchor="b"/>
                </a:tc>
                <a:extLst>
                  <a:ext uri="{0D108BD9-81ED-4DB2-BD59-A6C34878D82A}">
                    <a16:rowId xmlns:a16="http://schemas.microsoft.com/office/drawing/2014/main" val="2920309569"/>
                  </a:ext>
                </a:extLst>
              </a:tr>
              <a:tr h="182880">
                <a:tc>
                  <a:txBody>
                    <a:bodyPr/>
                    <a:lstStyle/>
                    <a:p>
                      <a:pPr algn="ctr" fontAlgn="b"/>
                      <a:r>
                        <a:rPr lang="pt-BR" sz="1600" b="0" i="0" u="none" strike="noStrike">
                          <a:solidFill>
                            <a:srgbClr val="FF0000"/>
                          </a:solidFill>
                          <a:effectLst/>
                          <a:latin typeface="Aptos Narrow" panose="020B0004020202020204" pitchFamily="34" charset="0"/>
                        </a:rPr>
                        <a:t>01/mai</a:t>
                      </a:r>
                    </a:p>
                  </a:txBody>
                  <a:tcPr marL="7620" marR="7620" marT="7620" marB="0" anchor="b"/>
                </a:tc>
                <a:tc>
                  <a:txBody>
                    <a:bodyPr/>
                    <a:lstStyle/>
                    <a:p>
                      <a:pPr algn="l" fontAlgn="b"/>
                      <a:r>
                        <a:rPr lang="pt-BR" sz="1600" b="0" i="0" u="none" strike="noStrike" dirty="0">
                          <a:solidFill>
                            <a:srgbClr val="FF0000"/>
                          </a:solidFill>
                          <a:effectLst/>
                          <a:latin typeface="Aptos Narrow" panose="020B0004020202020204" pitchFamily="34" charset="0"/>
                        </a:rPr>
                        <a:t>Feriado - Dia do Trabalho</a:t>
                      </a:r>
                    </a:p>
                  </a:txBody>
                  <a:tcPr marL="7620" marR="7620" marT="7620" marB="0" anchor="b"/>
                </a:tc>
                <a:extLst>
                  <a:ext uri="{0D108BD9-81ED-4DB2-BD59-A6C34878D82A}">
                    <a16:rowId xmlns:a16="http://schemas.microsoft.com/office/drawing/2014/main" val="2482436603"/>
                  </a:ext>
                </a:extLst>
              </a:tr>
              <a:tr h="182880">
                <a:tc>
                  <a:txBody>
                    <a:bodyPr/>
                    <a:lstStyle/>
                    <a:p>
                      <a:pPr algn="ctr" fontAlgn="b"/>
                      <a:r>
                        <a:rPr lang="pt-BR" sz="1600" b="1" i="0" u="none" strike="noStrike">
                          <a:solidFill>
                            <a:srgbClr val="000000"/>
                          </a:solidFill>
                          <a:effectLst/>
                          <a:latin typeface="Aptos Narrow" panose="020B0004020202020204" pitchFamily="34" charset="0"/>
                        </a:rPr>
                        <a:t>08/mai</a:t>
                      </a:r>
                    </a:p>
                  </a:txBody>
                  <a:tcPr marL="7620" marR="7620" marT="7620" marB="0" anchor="b"/>
                </a:tc>
                <a:tc>
                  <a:txBody>
                    <a:bodyPr/>
                    <a:lstStyle/>
                    <a:p>
                      <a:pPr algn="l" fontAlgn="b"/>
                      <a:r>
                        <a:rPr lang="pt-BR" sz="1600" b="1" i="0" u="none" strike="noStrike" dirty="0">
                          <a:solidFill>
                            <a:srgbClr val="000000"/>
                          </a:solidFill>
                          <a:effectLst/>
                          <a:latin typeface="Aptos Narrow" panose="020B0004020202020204" pitchFamily="34" charset="0"/>
                        </a:rPr>
                        <a:t>P1</a:t>
                      </a:r>
                    </a:p>
                  </a:txBody>
                  <a:tcPr marL="7620" marR="7620" marT="7620" marB="0" anchor="b"/>
                </a:tc>
                <a:extLst>
                  <a:ext uri="{0D108BD9-81ED-4DB2-BD59-A6C34878D82A}">
                    <a16:rowId xmlns:a16="http://schemas.microsoft.com/office/drawing/2014/main" val="2906300237"/>
                  </a:ext>
                </a:extLst>
              </a:tr>
              <a:tr h="182880">
                <a:tc>
                  <a:txBody>
                    <a:bodyPr/>
                    <a:lstStyle/>
                    <a:p>
                      <a:pPr algn="ctr" fontAlgn="b"/>
                      <a:r>
                        <a:rPr lang="pt-BR" sz="1600" b="0" i="0" u="none" strike="noStrike">
                          <a:solidFill>
                            <a:srgbClr val="000000"/>
                          </a:solidFill>
                          <a:effectLst/>
                          <a:latin typeface="Aptos Narrow" panose="020B0004020202020204" pitchFamily="34" charset="0"/>
                        </a:rPr>
                        <a:t>15/mai</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Cronograma e orçamento</a:t>
                      </a:r>
                    </a:p>
                  </a:txBody>
                  <a:tcPr marL="7620" marR="7620" marT="7620" marB="0" anchor="b"/>
                </a:tc>
                <a:extLst>
                  <a:ext uri="{0D108BD9-81ED-4DB2-BD59-A6C34878D82A}">
                    <a16:rowId xmlns:a16="http://schemas.microsoft.com/office/drawing/2014/main" val="2923967035"/>
                  </a:ext>
                </a:extLst>
              </a:tr>
              <a:tr h="182880">
                <a:tc>
                  <a:txBody>
                    <a:bodyPr/>
                    <a:lstStyle/>
                    <a:p>
                      <a:pPr algn="ctr" fontAlgn="b"/>
                      <a:r>
                        <a:rPr lang="pt-BR" sz="1600" b="0" i="0" u="none" strike="noStrike">
                          <a:solidFill>
                            <a:srgbClr val="000000"/>
                          </a:solidFill>
                          <a:effectLst/>
                          <a:latin typeface="Aptos Narrow" panose="020B0004020202020204" pitchFamily="34" charset="0"/>
                        </a:rPr>
                        <a:t>22/mai</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Riscos e equipe</a:t>
                      </a:r>
                    </a:p>
                  </a:txBody>
                  <a:tcPr marL="7620" marR="7620" marT="7620" marB="0" anchor="b"/>
                </a:tc>
                <a:extLst>
                  <a:ext uri="{0D108BD9-81ED-4DB2-BD59-A6C34878D82A}">
                    <a16:rowId xmlns:a16="http://schemas.microsoft.com/office/drawing/2014/main" val="1248462807"/>
                  </a:ext>
                </a:extLst>
              </a:tr>
              <a:tr h="182880">
                <a:tc>
                  <a:txBody>
                    <a:bodyPr/>
                    <a:lstStyle/>
                    <a:p>
                      <a:pPr algn="ctr" fontAlgn="b"/>
                      <a:r>
                        <a:rPr lang="pt-BR" sz="1600" b="0" i="0" u="none" strike="noStrike">
                          <a:solidFill>
                            <a:srgbClr val="000000"/>
                          </a:solidFill>
                          <a:effectLst/>
                          <a:latin typeface="Aptos Narrow" panose="020B0004020202020204" pitchFamily="34" charset="0"/>
                        </a:rPr>
                        <a:t>29/mai</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Qualidade</a:t>
                      </a:r>
                    </a:p>
                  </a:txBody>
                  <a:tcPr marL="7620" marR="7620" marT="7620" marB="0" anchor="b"/>
                </a:tc>
                <a:extLst>
                  <a:ext uri="{0D108BD9-81ED-4DB2-BD59-A6C34878D82A}">
                    <a16:rowId xmlns:a16="http://schemas.microsoft.com/office/drawing/2014/main" val="676589156"/>
                  </a:ext>
                </a:extLst>
              </a:tr>
              <a:tr h="182880">
                <a:tc>
                  <a:txBody>
                    <a:bodyPr/>
                    <a:lstStyle/>
                    <a:p>
                      <a:pPr algn="ctr" fontAlgn="b"/>
                      <a:r>
                        <a:rPr lang="pt-BR" sz="1600" b="0" i="0" u="none" strike="noStrike">
                          <a:solidFill>
                            <a:srgbClr val="FF0000"/>
                          </a:solidFill>
                          <a:effectLst/>
                          <a:latin typeface="Aptos Narrow" panose="020B0004020202020204" pitchFamily="34" charset="0"/>
                        </a:rPr>
                        <a:t>05/jun</a:t>
                      </a:r>
                    </a:p>
                  </a:txBody>
                  <a:tcPr marL="7620" marR="7620" marT="7620" marB="0" anchor="b"/>
                </a:tc>
                <a:tc>
                  <a:txBody>
                    <a:bodyPr/>
                    <a:lstStyle/>
                    <a:p>
                      <a:pPr algn="l" fontAlgn="b"/>
                      <a:r>
                        <a:rPr lang="pt-BR" sz="1600" b="0" i="0" u="none" strike="noStrike" dirty="0">
                          <a:solidFill>
                            <a:srgbClr val="FF0000"/>
                          </a:solidFill>
                          <a:effectLst/>
                          <a:latin typeface="Aptos Narrow" panose="020B0004020202020204" pitchFamily="34" charset="0"/>
                        </a:rPr>
                        <a:t>Não haverá aula - Corpus Christi</a:t>
                      </a:r>
                    </a:p>
                  </a:txBody>
                  <a:tcPr marL="7620" marR="7620" marT="7620" marB="0" anchor="b"/>
                </a:tc>
                <a:extLst>
                  <a:ext uri="{0D108BD9-81ED-4DB2-BD59-A6C34878D82A}">
                    <a16:rowId xmlns:a16="http://schemas.microsoft.com/office/drawing/2014/main" val="3894097900"/>
                  </a:ext>
                </a:extLst>
              </a:tr>
              <a:tr h="182880">
                <a:tc>
                  <a:txBody>
                    <a:bodyPr/>
                    <a:lstStyle/>
                    <a:p>
                      <a:pPr algn="ctr" fontAlgn="b"/>
                      <a:r>
                        <a:rPr lang="pt-BR" sz="1600" b="0" i="0" u="none" strike="noStrike">
                          <a:solidFill>
                            <a:srgbClr val="000000"/>
                          </a:solidFill>
                          <a:effectLst/>
                          <a:latin typeface="Aptos Narrow" panose="020B0004020202020204" pitchFamily="34" charset="0"/>
                        </a:rPr>
                        <a:t>12/jun</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Gerenciamento de configuração</a:t>
                      </a:r>
                    </a:p>
                  </a:txBody>
                  <a:tcPr marL="7620" marR="7620" marT="7620" marB="0" anchor="b"/>
                </a:tc>
                <a:extLst>
                  <a:ext uri="{0D108BD9-81ED-4DB2-BD59-A6C34878D82A}">
                    <a16:rowId xmlns:a16="http://schemas.microsoft.com/office/drawing/2014/main" val="1999490107"/>
                  </a:ext>
                </a:extLst>
              </a:tr>
              <a:tr h="182880">
                <a:tc>
                  <a:txBody>
                    <a:bodyPr/>
                    <a:lstStyle/>
                    <a:p>
                      <a:pPr algn="ctr" fontAlgn="b"/>
                      <a:r>
                        <a:rPr lang="pt-BR" sz="1600" b="0" i="0" u="none" strike="noStrike">
                          <a:solidFill>
                            <a:srgbClr val="FF0000"/>
                          </a:solidFill>
                          <a:effectLst/>
                          <a:latin typeface="Aptos Narrow" panose="020B0004020202020204" pitchFamily="34" charset="0"/>
                        </a:rPr>
                        <a:t>19/jun</a:t>
                      </a:r>
                    </a:p>
                  </a:txBody>
                  <a:tcPr marL="7620" marR="7620" marT="7620" marB="0" anchor="b"/>
                </a:tc>
                <a:tc>
                  <a:txBody>
                    <a:bodyPr/>
                    <a:lstStyle/>
                    <a:p>
                      <a:pPr algn="l" fontAlgn="b"/>
                      <a:r>
                        <a:rPr lang="pt-BR" sz="1600" b="0" i="0" u="none" strike="noStrike" dirty="0">
                          <a:solidFill>
                            <a:srgbClr val="000000"/>
                          </a:solidFill>
                          <a:effectLst/>
                          <a:latin typeface="Aptos Narrow" panose="020B0004020202020204" pitchFamily="34" charset="0"/>
                        </a:rPr>
                        <a:t>Monitoramento, controle e encerramento</a:t>
                      </a:r>
                    </a:p>
                  </a:txBody>
                  <a:tcPr marL="7620" marR="7620" marT="7620" marB="0" anchor="b"/>
                </a:tc>
                <a:extLst>
                  <a:ext uri="{0D108BD9-81ED-4DB2-BD59-A6C34878D82A}">
                    <a16:rowId xmlns:a16="http://schemas.microsoft.com/office/drawing/2014/main" val="630515795"/>
                  </a:ext>
                </a:extLst>
              </a:tr>
              <a:tr h="182880">
                <a:tc>
                  <a:txBody>
                    <a:bodyPr/>
                    <a:lstStyle/>
                    <a:p>
                      <a:pPr algn="ctr" fontAlgn="b"/>
                      <a:r>
                        <a:rPr lang="pt-BR" sz="1600" b="1" i="0" u="none" strike="noStrike">
                          <a:solidFill>
                            <a:srgbClr val="000000"/>
                          </a:solidFill>
                          <a:effectLst/>
                          <a:latin typeface="Aptos Narrow" panose="020B0004020202020204" pitchFamily="34" charset="0"/>
                        </a:rPr>
                        <a:t>26/jun</a:t>
                      </a:r>
                    </a:p>
                  </a:txBody>
                  <a:tcPr marL="7620" marR="7620" marT="7620" marB="0" anchor="b"/>
                </a:tc>
                <a:tc>
                  <a:txBody>
                    <a:bodyPr/>
                    <a:lstStyle/>
                    <a:p>
                      <a:pPr algn="l" fontAlgn="b"/>
                      <a:r>
                        <a:rPr lang="pt-BR" sz="1600" b="1" i="0" u="none" strike="noStrike" dirty="0">
                          <a:solidFill>
                            <a:srgbClr val="000000"/>
                          </a:solidFill>
                          <a:effectLst/>
                          <a:latin typeface="Aptos Narrow" panose="020B0004020202020204" pitchFamily="34" charset="0"/>
                        </a:rPr>
                        <a:t>P2</a:t>
                      </a:r>
                    </a:p>
                  </a:txBody>
                  <a:tcPr marL="7620" marR="7620" marT="7620" marB="0" anchor="b"/>
                </a:tc>
                <a:extLst>
                  <a:ext uri="{0D108BD9-81ED-4DB2-BD59-A6C34878D82A}">
                    <a16:rowId xmlns:a16="http://schemas.microsoft.com/office/drawing/2014/main" val="31210757"/>
                  </a:ext>
                </a:extLst>
              </a:tr>
              <a:tr h="182880">
                <a:tc>
                  <a:txBody>
                    <a:bodyPr/>
                    <a:lstStyle/>
                    <a:p>
                      <a:pPr algn="ctr" fontAlgn="b"/>
                      <a:r>
                        <a:rPr lang="pt-BR" sz="1600" b="1" i="0" u="none" strike="noStrike">
                          <a:solidFill>
                            <a:srgbClr val="000000"/>
                          </a:solidFill>
                          <a:effectLst/>
                          <a:latin typeface="Aptos Narrow" panose="020B0004020202020204" pitchFamily="34" charset="0"/>
                        </a:rPr>
                        <a:t>03/jul</a:t>
                      </a:r>
                    </a:p>
                  </a:txBody>
                  <a:tcPr marL="7620" marR="7620" marT="7620" marB="0" anchor="b"/>
                </a:tc>
                <a:tc>
                  <a:txBody>
                    <a:bodyPr/>
                    <a:lstStyle/>
                    <a:p>
                      <a:pPr algn="l" fontAlgn="b"/>
                      <a:r>
                        <a:rPr lang="pt-BR" sz="1600" b="1" i="1" u="none" strike="noStrike" dirty="0">
                          <a:solidFill>
                            <a:srgbClr val="000000"/>
                          </a:solidFill>
                          <a:effectLst/>
                          <a:latin typeface="Aptos Narrow" panose="020B0004020202020204" pitchFamily="34" charset="0"/>
                        </a:rPr>
                        <a:t>Apresentação de seminários</a:t>
                      </a:r>
                    </a:p>
                  </a:txBody>
                  <a:tcPr marL="7620" marR="7620" marT="7620" marB="0" anchor="b"/>
                </a:tc>
                <a:extLst>
                  <a:ext uri="{0D108BD9-81ED-4DB2-BD59-A6C34878D82A}">
                    <a16:rowId xmlns:a16="http://schemas.microsoft.com/office/drawing/2014/main" val="3799580056"/>
                  </a:ext>
                </a:extLst>
              </a:tr>
              <a:tr h="182880">
                <a:tc>
                  <a:txBody>
                    <a:bodyPr/>
                    <a:lstStyle/>
                    <a:p>
                      <a:pPr algn="ctr" fontAlgn="b"/>
                      <a:r>
                        <a:rPr lang="pt-BR" sz="1600" b="1" i="0" u="none" strike="noStrike">
                          <a:solidFill>
                            <a:srgbClr val="000000"/>
                          </a:solidFill>
                          <a:effectLst/>
                          <a:latin typeface="Aptos Narrow" panose="020B0004020202020204" pitchFamily="34" charset="0"/>
                        </a:rPr>
                        <a:t>10/jul</a:t>
                      </a:r>
                    </a:p>
                  </a:txBody>
                  <a:tcPr marL="7620" marR="7620" marT="7620" marB="0" anchor="b"/>
                </a:tc>
                <a:tc>
                  <a:txBody>
                    <a:bodyPr/>
                    <a:lstStyle/>
                    <a:p>
                      <a:pPr algn="l" fontAlgn="b"/>
                      <a:r>
                        <a:rPr lang="pt-BR" sz="1600" b="1" i="0" u="none" strike="noStrike" dirty="0">
                          <a:solidFill>
                            <a:srgbClr val="000000"/>
                          </a:solidFill>
                          <a:effectLst/>
                          <a:latin typeface="Aptos Narrow" panose="020B0004020202020204" pitchFamily="34" charset="0"/>
                        </a:rPr>
                        <a:t>Exame final</a:t>
                      </a:r>
                    </a:p>
                  </a:txBody>
                  <a:tcPr marL="7620" marR="7620" marT="7620" marB="0" anchor="b"/>
                </a:tc>
                <a:extLst>
                  <a:ext uri="{0D108BD9-81ED-4DB2-BD59-A6C34878D82A}">
                    <a16:rowId xmlns:a16="http://schemas.microsoft.com/office/drawing/2014/main" val="20897851"/>
                  </a:ext>
                </a:extLst>
              </a:tr>
            </a:tbl>
          </a:graphicData>
        </a:graphic>
      </p:graphicFrame>
    </p:spTree>
    <p:extLst>
      <p:ext uri="{BB962C8B-B14F-4D97-AF65-F5344CB8AC3E}">
        <p14:creationId xmlns:p14="http://schemas.microsoft.com/office/powerpoint/2010/main" val="1161001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5F71B1-6633-6027-3693-2412DD3FAAAC}"/>
              </a:ext>
            </a:extLst>
          </p:cNvPr>
          <p:cNvSpPr>
            <a:spLocks noGrp="1"/>
          </p:cNvSpPr>
          <p:nvPr>
            <p:ph type="title"/>
          </p:nvPr>
        </p:nvSpPr>
        <p:spPr/>
        <p:txBody>
          <a:bodyPr/>
          <a:lstStyle/>
          <a:p>
            <a:r>
              <a:rPr lang="pt-BR" dirty="0"/>
              <a:t>Última aula</a:t>
            </a:r>
          </a:p>
        </p:txBody>
      </p:sp>
      <p:sp>
        <p:nvSpPr>
          <p:cNvPr id="3" name="Espaço Reservado para Conteúdo 2">
            <a:extLst>
              <a:ext uri="{FF2B5EF4-FFF2-40B4-BE49-F238E27FC236}">
                <a16:creationId xmlns:a16="http://schemas.microsoft.com/office/drawing/2014/main" id="{DD08598F-C49B-48EB-9C17-109300FDDC3E}"/>
              </a:ext>
            </a:extLst>
          </p:cNvPr>
          <p:cNvSpPr>
            <a:spLocks noGrp="1"/>
          </p:cNvSpPr>
          <p:nvPr>
            <p:ph idx="1"/>
          </p:nvPr>
        </p:nvSpPr>
        <p:spPr/>
        <p:txBody>
          <a:bodyPr/>
          <a:lstStyle/>
          <a:p>
            <a:endParaRPr lang="pt-BR" dirty="0"/>
          </a:p>
        </p:txBody>
      </p:sp>
      <p:pic>
        <p:nvPicPr>
          <p:cNvPr id="2050" name="Picture 2" descr="Padrões de Projetos: Soluções Reutilizáveis de Software Orientados a Objetos">
            <a:extLst>
              <a:ext uri="{FF2B5EF4-FFF2-40B4-BE49-F238E27FC236}">
                <a16:creationId xmlns:a16="http://schemas.microsoft.com/office/drawing/2014/main" id="{A1EE0979-DDE1-6634-FB29-40488CD289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9803" y="1977231"/>
            <a:ext cx="2838450" cy="4048125"/>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A8DA0DE5-12FC-B717-B59C-A76541D498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65074" y="2324100"/>
            <a:ext cx="2798618" cy="279861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Arquitetura Limpa: o Guia do Artesão Para Estrutura e Design de Software">
            <a:extLst>
              <a:ext uri="{FF2B5EF4-FFF2-40B4-BE49-F238E27FC236}">
                <a16:creationId xmlns:a16="http://schemas.microsoft.com/office/drawing/2014/main" id="{AF1219E3-D7B5-E7F3-73C5-AF5DE0B2EDD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72766" y="2286650"/>
            <a:ext cx="2950368" cy="29503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90132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20B76EE-1189-8D37-6F40-ACA3806DC30A}"/>
              </a:ext>
            </a:extLst>
          </p:cNvPr>
          <p:cNvSpPr>
            <a:spLocks noGrp="1"/>
          </p:cNvSpPr>
          <p:nvPr>
            <p:ph type="title"/>
          </p:nvPr>
        </p:nvSpPr>
        <p:spPr/>
        <p:txBody>
          <a:bodyPr/>
          <a:lstStyle/>
          <a:p>
            <a:r>
              <a:rPr lang="pt-BR" dirty="0"/>
              <a:t>Última aula</a:t>
            </a:r>
          </a:p>
        </p:txBody>
      </p:sp>
      <p:sp>
        <p:nvSpPr>
          <p:cNvPr id="3" name="Espaço Reservado para Conteúdo 2">
            <a:extLst>
              <a:ext uri="{FF2B5EF4-FFF2-40B4-BE49-F238E27FC236}">
                <a16:creationId xmlns:a16="http://schemas.microsoft.com/office/drawing/2014/main" id="{80A23C82-DC70-210D-4381-B13CF8F6102B}"/>
              </a:ext>
            </a:extLst>
          </p:cNvPr>
          <p:cNvSpPr>
            <a:spLocks noGrp="1"/>
          </p:cNvSpPr>
          <p:nvPr>
            <p:ph idx="1"/>
          </p:nvPr>
        </p:nvSpPr>
        <p:spPr>
          <a:xfrm>
            <a:off x="838200" y="1825625"/>
            <a:ext cx="4628103" cy="4351338"/>
          </a:xfrm>
        </p:spPr>
        <p:txBody>
          <a:bodyPr>
            <a:normAutofit/>
          </a:bodyPr>
          <a:lstStyle/>
          <a:p>
            <a:r>
              <a:rPr lang="pt-BR" dirty="0"/>
              <a:t>Como equipes se comunicavam no </a:t>
            </a:r>
            <a:r>
              <a:rPr lang="pt-BR" b="1" dirty="0"/>
              <a:t>IBM OS/360</a:t>
            </a:r>
            <a:r>
              <a:rPr lang="pt-BR" dirty="0"/>
              <a:t>? </a:t>
            </a:r>
          </a:p>
          <a:p>
            <a:pPr lvl="1">
              <a:spcBef>
                <a:spcPts val="1200"/>
              </a:spcBef>
            </a:pPr>
            <a:r>
              <a:rPr lang="pt-BR" dirty="0"/>
              <a:t>~1961-1966</a:t>
            </a:r>
          </a:p>
          <a:p>
            <a:pPr lvl="1">
              <a:spcBef>
                <a:spcPts val="1200"/>
              </a:spcBef>
            </a:pPr>
            <a:r>
              <a:rPr lang="pt-BR" dirty="0"/>
              <a:t>5 bilhões de dólares </a:t>
            </a:r>
          </a:p>
          <a:p>
            <a:pPr lvl="1">
              <a:spcBef>
                <a:spcPts val="1200"/>
              </a:spcBef>
            </a:pPr>
            <a:r>
              <a:rPr lang="pt-BR" dirty="0"/>
              <a:t>~1000 programadores, 5 anos</a:t>
            </a:r>
          </a:p>
          <a:p>
            <a:pPr lvl="1">
              <a:spcBef>
                <a:spcPts val="1200"/>
              </a:spcBef>
            </a:pPr>
            <a:r>
              <a:rPr lang="pt-BR" dirty="0"/>
              <a:t>Padronizou o SW para diferentes HW</a:t>
            </a:r>
          </a:p>
          <a:p>
            <a:pPr lvl="1">
              <a:spcBef>
                <a:spcPts val="1200"/>
              </a:spcBef>
            </a:pPr>
            <a:r>
              <a:rPr lang="pt-BR" dirty="0"/>
              <a:t>Dominou computação corporativa por muitos anos</a:t>
            </a:r>
          </a:p>
        </p:txBody>
      </p:sp>
      <p:sp>
        <p:nvSpPr>
          <p:cNvPr id="4" name="Retângulo 3">
            <a:extLst>
              <a:ext uri="{FF2B5EF4-FFF2-40B4-BE49-F238E27FC236}">
                <a16:creationId xmlns:a16="http://schemas.microsoft.com/office/drawing/2014/main" id="{4D334838-725C-A13B-9E5E-9FB11D750D7C}"/>
              </a:ext>
            </a:extLst>
          </p:cNvPr>
          <p:cNvSpPr/>
          <p:nvPr/>
        </p:nvSpPr>
        <p:spPr>
          <a:xfrm>
            <a:off x="5650523" y="1240971"/>
            <a:ext cx="6541477" cy="561702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spcBef>
                <a:spcPts val="1800"/>
              </a:spcBef>
            </a:pPr>
            <a:r>
              <a:rPr lang="pt-BR" b="1" dirty="0"/>
              <a:t>Arquitetura centralizada</a:t>
            </a:r>
            <a:r>
              <a:rPr lang="pt-BR" dirty="0"/>
              <a:t>: separação estrita entre interface e implementação</a:t>
            </a:r>
          </a:p>
          <a:p>
            <a:pPr lvl="1">
              <a:spcBef>
                <a:spcPts val="1800"/>
              </a:spcBef>
            </a:pPr>
            <a:r>
              <a:rPr lang="pt-BR" b="1" dirty="0"/>
              <a:t>Grupo de tarefas SPREAD</a:t>
            </a:r>
            <a:r>
              <a:rPr lang="pt-BR" dirty="0"/>
              <a:t>: unificou planejamento de diferentes unidades</a:t>
            </a:r>
          </a:p>
          <a:p>
            <a:pPr lvl="1">
              <a:spcBef>
                <a:spcPts val="1800"/>
              </a:spcBef>
            </a:pPr>
            <a:r>
              <a:rPr lang="pt-BR" b="1" dirty="0"/>
              <a:t>Rotação gerencial: </a:t>
            </a:r>
            <a:r>
              <a:rPr lang="pt-BR" dirty="0"/>
              <a:t>forçou engenheiros trocarem de equipes</a:t>
            </a:r>
          </a:p>
          <a:p>
            <a:pPr lvl="1">
              <a:spcBef>
                <a:spcPts val="1800"/>
              </a:spcBef>
            </a:pPr>
            <a:r>
              <a:rPr lang="pt-BR" b="1" dirty="0"/>
              <a:t>Abordagem da “equipe cirúrgica”: </a:t>
            </a:r>
            <a:r>
              <a:rPr lang="pt-BR" dirty="0"/>
              <a:t>equipe pequena, coesa com um Programador chefe (especificação e códigos-chave) apoiado por equipe especializada (testadores, documentação, ferramental)</a:t>
            </a:r>
          </a:p>
          <a:p>
            <a:pPr lvl="1">
              <a:spcBef>
                <a:spcPts val="1800"/>
              </a:spcBef>
            </a:pPr>
            <a:r>
              <a:rPr lang="pt-BR" b="1" dirty="0"/>
              <a:t>Programação modular</a:t>
            </a:r>
            <a:r>
              <a:rPr lang="pt-BR" dirty="0"/>
              <a:t>: divisão em 40 módulos, com especificações de interface, definida pelos arquitetos centrais</a:t>
            </a:r>
          </a:p>
          <a:p>
            <a:pPr lvl="1">
              <a:spcBef>
                <a:spcPts val="1800"/>
              </a:spcBef>
            </a:pPr>
            <a:r>
              <a:rPr lang="pt-BR" b="1" dirty="0"/>
              <a:t>Construção centralizada de ferramentas</a:t>
            </a:r>
            <a:r>
              <a:rPr lang="pt-BR" dirty="0"/>
              <a:t>: membros da equipe voltados para ferramentas internas (</a:t>
            </a:r>
            <a:r>
              <a:rPr lang="pt-BR" dirty="0" err="1"/>
              <a:t>debugger</a:t>
            </a:r>
            <a:r>
              <a:rPr lang="pt-BR" dirty="0"/>
              <a:t>, gerador de código), com equipe central para manter padronização</a:t>
            </a:r>
          </a:p>
        </p:txBody>
      </p:sp>
    </p:spTree>
    <p:extLst>
      <p:ext uri="{BB962C8B-B14F-4D97-AF65-F5344CB8AC3E}">
        <p14:creationId xmlns:p14="http://schemas.microsoft.com/office/powerpoint/2010/main" val="9215166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97A76A3-AEAD-D1EC-351D-9F6092DE906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E1B2EB5-7F48-42B2-32E3-AE536FEAA6F2}"/>
              </a:ext>
            </a:extLst>
          </p:cNvPr>
          <p:cNvSpPr>
            <a:spLocks noGrp="1"/>
          </p:cNvSpPr>
          <p:nvPr>
            <p:ph type="title"/>
          </p:nvPr>
        </p:nvSpPr>
        <p:spPr/>
        <p:txBody>
          <a:bodyPr/>
          <a:lstStyle/>
          <a:p>
            <a:r>
              <a:rPr lang="pt-BR" dirty="0"/>
              <a:t>Objetivos de hoje</a:t>
            </a:r>
          </a:p>
        </p:txBody>
      </p:sp>
      <p:sp>
        <p:nvSpPr>
          <p:cNvPr id="3" name="Espaço Reservado para Conteúdo 2">
            <a:extLst>
              <a:ext uri="{FF2B5EF4-FFF2-40B4-BE49-F238E27FC236}">
                <a16:creationId xmlns:a16="http://schemas.microsoft.com/office/drawing/2014/main" id="{CD05C052-44D3-124D-2F77-56AC9642ED55}"/>
              </a:ext>
            </a:extLst>
          </p:cNvPr>
          <p:cNvSpPr>
            <a:spLocks noGrp="1"/>
          </p:cNvSpPr>
          <p:nvPr>
            <p:ph idx="1"/>
          </p:nvPr>
        </p:nvSpPr>
        <p:spPr/>
        <p:txBody>
          <a:bodyPr/>
          <a:lstStyle/>
          <a:p>
            <a:r>
              <a:rPr lang="pt-BR" sz="2400" b="1" dirty="0"/>
              <a:t>Alinhamento de projetos aos negócios da organização </a:t>
            </a:r>
          </a:p>
          <a:p>
            <a:pPr lvl="1">
              <a:spcBef>
                <a:spcPts val="600"/>
              </a:spcBef>
            </a:pPr>
            <a:r>
              <a:rPr lang="pt-BR" sz="2000" b="1" dirty="0"/>
              <a:t>Estratégia organizacional e seus enquadramentos</a:t>
            </a:r>
          </a:p>
          <a:p>
            <a:pPr lvl="1">
              <a:spcBef>
                <a:spcPts val="600"/>
              </a:spcBef>
            </a:pPr>
            <a:r>
              <a:rPr lang="pt-BR" sz="2000" dirty="0"/>
              <a:t>Alinhamento estratégico</a:t>
            </a:r>
          </a:p>
          <a:p>
            <a:pPr lvl="1">
              <a:spcBef>
                <a:spcPts val="600"/>
              </a:spcBef>
            </a:pPr>
            <a:r>
              <a:rPr lang="pt-BR" sz="2000" dirty="0"/>
              <a:t>Valoração do projeto</a:t>
            </a:r>
          </a:p>
          <a:p>
            <a:pPr>
              <a:spcBef>
                <a:spcPts val="2400"/>
              </a:spcBef>
            </a:pPr>
            <a:r>
              <a:rPr lang="pt-BR" sz="2400" dirty="0"/>
              <a:t>Ferramentas de gestão estratégica</a:t>
            </a:r>
          </a:p>
          <a:p>
            <a:pPr lvl="1">
              <a:spcBef>
                <a:spcPts val="600"/>
              </a:spcBef>
            </a:pPr>
            <a:r>
              <a:rPr lang="pt-BR" sz="2000" dirty="0"/>
              <a:t>Balanced </a:t>
            </a:r>
            <a:r>
              <a:rPr lang="pt-BR" sz="2000" dirty="0" err="1"/>
              <a:t>scorecard</a:t>
            </a:r>
            <a:endParaRPr lang="pt-BR" sz="2000" dirty="0"/>
          </a:p>
          <a:p>
            <a:pPr lvl="1">
              <a:spcBef>
                <a:spcPts val="600"/>
              </a:spcBef>
            </a:pPr>
            <a:r>
              <a:rPr lang="pt-BR" sz="2000" dirty="0"/>
              <a:t>Canvas Project Model</a:t>
            </a:r>
          </a:p>
          <a:p>
            <a:pPr lvl="1">
              <a:spcBef>
                <a:spcPts val="600"/>
              </a:spcBef>
            </a:pPr>
            <a:r>
              <a:rPr lang="pt-BR" sz="2000" dirty="0"/>
              <a:t>KPI</a:t>
            </a:r>
          </a:p>
          <a:p>
            <a:pPr lvl="1">
              <a:spcBef>
                <a:spcPts val="600"/>
              </a:spcBef>
            </a:pPr>
            <a:r>
              <a:rPr lang="pt-BR" sz="2000" dirty="0" err="1"/>
              <a:t>OKRs</a:t>
            </a:r>
            <a:endParaRPr lang="pt-BR" sz="2000" dirty="0"/>
          </a:p>
          <a:p>
            <a:pPr>
              <a:spcBef>
                <a:spcPts val="2400"/>
              </a:spcBef>
            </a:pPr>
            <a:r>
              <a:rPr lang="pt-BR" sz="2400" dirty="0"/>
              <a:t>Aplicação ao projeto semestral</a:t>
            </a:r>
          </a:p>
          <a:p>
            <a:endParaRPr lang="pt-BR" dirty="0"/>
          </a:p>
        </p:txBody>
      </p:sp>
      <p:sp>
        <p:nvSpPr>
          <p:cNvPr id="4" name="Retângulo 3">
            <a:extLst>
              <a:ext uri="{FF2B5EF4-FFF2-40B4-BE49-F238E27FC236}">
                <a16:creationId xmlns:a16="http://schemas.microsoft.com/office/drawing/2014/main" id="{2F5E8DF0-E0FB-ED7B-4F79-1E86C889CB72}"/>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59594567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15B511-3088-A4FD-060B-3FFC2941840F}"/>
              </a:ext>
            </a:extLst>
          </p:cNvPr>
          <p:cNvSpPr>
            <a:spLocks noGrp="1"/>
          </p:cNvSpPr>
          <p:nvPr>
            <p:ph type="title"/>
          </p:nvPr>
        </p:nvSpPr>
        <p:spPr/>
        <p:txBody>
          <a:bodyPr/>
          <a:lstStyle/>
          <a:p>
            <a:r>
              <a:rPr lang="pt-BR" dirty="0"/>
              <a:t>Projetos (relembrando)</a:t>
            </a:r>
          </a:p>
        </p:txBody>
      </p:sp>
      <p:sp>
        <p:nvSpPr>
          <p:cNvPr id="3" name="Espaço Reservado para Conteúdo 2">
            <a:extLst>
              <a:ext uri="{FF2B5EF4-FFF2-40B4-BE49-F238E27FC236}">
                <a16:creationId xmlns:a16="http://schemas.microsoft.com/office/drawing/2014/main" id="{2A1C4F9B-FC60-2CA8-03F2-AFDC85BFEDE4}"/>
              </a:ext>
            </a:extLst>
          </p:cNvPr>
          <p:cNvSpPr>
            <a:spLocks noGrp="1"/>
          </p:cNvSpPr>
          <p:nvPr>
            <p:ph idx="1"/>
          </p:nvPr>
        </p:nvSpPr>
        <p:spPr/>
        <p:txBody>
          <a:bodyPr/>
          <a:lstStyle/>
          <a:p>
            <a:r>
              <a:rPr lang="pt-BR" dirty="0"/>
              <a:t>Meio para </a:t>
            </a:r>
            <a:r>
              <a:rPr lang="pt-BR" b="1" dirty="0"/>
              <a:t>atingir objetivos </a:t>
            </a:r>
            <a:r>
              <a:rPr lang="pt-BR" dirty="0"/>
              <a:t>estratégicos de uma organização</a:t>
            </a:r>
          </a:p>
          <a:p>
            <a:pPr lvl="1"/>
            <a:r>
              <a:rPr lang="pt-BR" dirty="0"/>
              <a:t>Demandas de mercado;</a:t>
            </a:r>
          </a:p>
          <a:p>
            <a:pPr lvl="1"/>
            <a:r>
              <a:rPr lang="pt-BR" dirty="0"/>
              <a:t>Oportunidade ou necessidade estratégica de negócios;</a:t>
            </a:r>
          </a:p>
          <a:p>
            <a:pPr lvl="1"/>
            <a:r>
              <a:rPr lang="pt-BR" dirty="0"/>
              <a:t>Solicitação de cliente;</a:t>
            </a:r>
          </a:p>
          <a:p>
            <a:pPr lvl="1"/>
            <a:r>
              <a:rPr lang="pt-BR" dirty="0"/>
              <a:t>Avanço tecnológico;</a:t>
            </a:r>
          </a:p>
          <a:p>
            <a:pPr lvl="1"/>
            <a:r>
              <a:rPr lang="pt-BR" dirty="0"/>
              <a:t>Requisito legal;</a:t>
            </a:r>
          </a:p>
          <a:p>
            <a:pPr lvl="1"/>
            <a:endParaRPr lang="pt-BR" dirty="0"/>
          </a:p>
          <a:p>
            <a:r>
              <a:rPr lang="pt-BR" i="1" dirty="0"/>
              <a:t>Alinhados a Programas e Portfolios </a:t>
            </a:r>
          </a:p>
          <a:p>
            <a:pPr marL="0" indent="0">
              <a:buNone/>
            </a:pPr>
            <a:r>
              <a:rPr lang="pt-BR" i="1" dirty="0">
                <a:sym typeface="Wingdings" panose="05000000000000000000" pitchFamily="2" charset="2"/>
              </a:rPr>
              <a:t> </a:t>
            </a:r>
            <a:r>
              <a:rPr lang="pt-BR" b="1" i="1" dirty="0">
                <a:sym typeface="Wingdings" panose="05000000000000000000" pitchFamily="2" charset="2"/>
              </a:rPr>
              <a:t>Planejamento estratégico</a:t>
            </a:r>
            <a:endParaRPr lang="pt-BR" b="1" i="1" dirty="0"/>
          </a:p>
        </p:txBody>
      </p:sp>
      <p:pic>
        <p:nvPicPr>
          <p:cNvPr id="10242" name="Picture 2" descr="Strategic planning, plan to overcome difficulty or obstacle to reach goal  or target, team brainstorm or competitor analysis, business success  concept, business team planning for success tactic chart 21824919 Vector  Art at">
            <a:extLst>
              <a:ext uri="{FF2B5EF4-FFF2-40B4-BE49-F238E27FC236}">
                <a16:creationId xmlns:a16="http://schemas.microsoft.com/office/drawing/2014/main" id="{CF18FD3D-E6F3-A8C6-B24B-739D85CCFD7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82797" y="3429000"/>
            <a:ext cx="4465074" cy="297671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99497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B773AA1-F4A1-C19C-0368-53B91BDB703C}"/>
              </a:ext>
            </a:extLst>
          </p:cNvPr>
          <p:cNvSpPr>
            <a:spLocks noGrp="1"/>
          </p:cNvSpPr>
          <p:nvPr>
            <p:ph type="title"/>
          </p:nvPr>
        </p:nvSpPr>
        <p:spPr/>
        <p:txBody>
          <a:bodyPr/>
          <a:lstStyle/>
          <a:p>
            <a:r>
              <a:rPr lang="pt-BR" dirty="0"/>
              <a:t>Estratégia organizacional</a:t>
            </a:r>
          </a:p>
        </p:txBody>
      </p:sp>
      <p:sp>
        <p:nvSpPr>
          <p:cNvPr id="3" name="Espaço Reservado para Conteúdo 2">
            <a:extLst>
              <a:ext uri="{FF2B5EF4-FFF2-40B4-BE49-F238E27FC236}">
                <a16:creationId xmlns:a16="http://schemas.microsoft.com/office/drawing/2014/main" id="{015CE004-8AAD-9907-F30D-AB0CC2EDEF27}"/>
              </a:ext>
            </a:extLst>
          </p:cNvPr>
          <p:cNvSpPr>
            <a:spLocks noGrp="1"/>
          </p:cNvSpPr>
          <p:nvPr>
            <p:ph idx="1"/>
          </p:nvPr>
        </p:nvSpPr>
        <p:spPr/>
        <p:txBody>
          <a:bodyPr/>
          <a:lstStyle/>
          <a:p>
            <a:r>
              <a:rPr lang="pt-BR" dirty="0"/>
              <a:t>O que é estratégia?</a:t>
            </a:r>
          </a:p>
          <a:p>
            <a:pPr lvl="1">
              <a:spcBef>
                <a:spcPts val="1800"/>
              </a:spcBef>
            </a:pPr>
            <a:r>
              <a:rPr lang="pt-BR" dirty="0"/>
              <a:t>“</a:t>
            </a:r>
            <a:r>
              <a:rPr lang="pt-BR" i="1" dirty="0"/>
              <a:t>um padrão ou plano que integra as principais metas, políticas e ações de uma organização em </a:t>
            </a:r>
            <a:r>
              <a:rPr lang="pt-BR" b="1" i="1" dirty="0"/>
              <a:t>um todo coeso</a:t>
            </a:r>
            <a:r>
              <a:rPr lang="pt-BR" dirty="0"/>
              <a:t>” (</a:t>
            </a:r>
            <a:r>
              <a:rPr lang="pt-BR" dirty="0" err="1"/>
              <a:t>Mintzberg</a:t>
            </a:r>
            <a:r>
              <a:rPr lang="pt-BR" dirty="0"/>
              <a:t>, 1998)</a:t>
            </a:r>
          </a:p>
          <a:p>
            <a:pPr lvl="1">
              <a:spcBef>
                <a:spcPts val="2400"/>
              </a:spcBef>
            </a:pPr>
            <a:r>
              <a:rPr lang="pt-BR" dirty="0"/>
              <a:t>“</a:t>
            </a:r>
            <a:r>
              <a:rPr lang="pt-BR" i="1" dirty="0"/>
              <a:t>a direção e o alcance de uma organização no </a:t>
            </a:r>
            <a:r>
              <a:rPr lang="pt-BR" b="1" i="1" dirty="0"/>
              <a:t>longo prazo</a:t>
            </a:r>
            <a:r>
              <a:rPr lang="pt-BR" i="1" dirty="0"/>
              <a:t>, que alcança vantagem em um </a:t>
            </a:r>
            <a:r>
              <a:rPr lang="pt-BR" b="1" i="1" dirty="0"/>
              <a:t>ambiente</a:t>
            </a:r>
            <a:r>
              <a:rPr lang="pt-BR" i="1" dirty="0"/>
              <a:t> mutável por meio de configuração de </a:t>
            </a:r>
            <a:r>
              <a:rPr lang="pt-BR" b="1" i="1" dirty="0"/>
              <a:t>recursos</a:t>
            </a:r>
            <a:r>
              <a:rPr lang="pt-BR" dirty="0"/>
              <a:t>” Johson, Scholes e </a:t>
            </a:r>
            <a:r>
              <a:rPr lang="pt-BR" dirty="0" err="1"/>
              <a:t>Whittington</a:t>
            </a:r>
            <a:r>
              <a:rPr lang="pt-BR" dirty="0"/>
              <a:t> (2008)</a:t>
            </a:r>
          </a:p>
          <a:p>
            <a:pPr lvl="1">
              <a:spcBef>
                <a:spcPts val="2400"/>
              </a:spcBef>
            </a:pPr>
            <a:r>
              <a:rPr lang="pt-BR" b="0" i="0" dirty="0">
                <a:solidFill>
                  <a:srgbClr val="202122"/>
                </a:solidFill>
                <a:effectLst/>
                <a:latin typeface="Arial" panose="020B0604020202020204" pitchFamily="34" charset="0"/>
              </a:rPr>
              <a:t>“</a:t>
            </a:r>
            <a:r>
              <a:rPr lang="pt-BR" i="1" dirty="0"/>
              <a:t>A essência da formulação de uma estratégia competitiva é relacionar uma </a:t>
            </a:r>
            <a:r>
              <a:rPr lang="pt-BR" b="1" i="1" dirty="0"/>
              <a:t>empresa com seu ambiente</a:t>
            </a:r>
            <a:r>
              <a:rPr lang="pt-BR" b="0" i="0" dirty="0">
                <a:solidFill>
                  <a:srgbClr val="202122"/>
                </a:solidFill>
                <a:effectLst/>
                <a:latin typeface="Arial" panose="020B0604020202020204" pitchFamily="34" charset="0"/>
              </a:rPr>
              <a:t>” (Porter, 1980)</a:t>
            </a:r>
            <a:endParaRPr lang="pt-BR" dirty="0"/>
          </a:p>
        </p:txBody>
      </p:sp>
    </p:spTree>
    <p:extLst>
      <p:ext uri="{BB962C8B-B14F-4D97-AF65-F5344CB8AC3E}">
        <p14:creationId xmlns:p14="http://schemas.microsoft.com/office/powerpoint/2010/main" val="402918770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BCA0CF3-4E53-5071-F079-C2A521114A97}"/>
              </a:ext>
            </a:extLst>
          </p:cNvPr>
          <p:cNvSpPr>
            <a:spLocks noGrp="1"/>
          </p:cNvSpPr>
          <p:nvPr>
            <p:ph type="title"/>
          </p:nvPr>
        </p:nvSpPr>
        <p:spPr/>
        <p:txBody>
          <a:bodyPr/>
          <a:lstStyle/>
          <a:p>
            <a:r>
              <a:rPr lang="pt-BR" dirty="0"/>
              <a:t>Estratégias organizacionais</a:t>
            </a:r>
          </a:p>
        </p:txBody>
      </p:sp>
      <p:sp>
        <p:nvSpPr>
          <p:cNvPr id="3" name="Espaço Reservado para Conteúdo 2">
            <a:extLst>
              <a:ext uri="{FF2B5EF4-FFF2-40B4-BE49-F238E27FC236}">
                <a16:creationId xmlns:a16="http://schemas.microsoft.com/office/drawing/2014/main" id="{6DE1106B-30C8-4E4D-8A16-FA2202835AA4}"/>
              </a:ext>
            </a:extLst>
          </p:cNvPr>
          <p:cNvSpPr>
            <a:spLocks noGrp="1"/>
          </p:cNvSpPr>
          <p:nvPr>
            <p:ph idx="1"/>
          </p:nvPr>
        </p:nvSpPr>
        <p:spPr/>
        <p:txBody>
          <a:bodyPr/>
          <a:lstStyle/>
          <a:p>
            <a:r>
              <a:rPr lang="pt-BR" dirty="0"/>
              <a:t>Modelo de forças competitivas de Porter</a:t>
            </a:r>
          </a:p>
        </p:txBody>
      </p:sp>
      <p:pic>
        <p:nvPicPr>
          <p:cNvPr id="9218" name="Picture 2" descr="5 Forças de Porter">
            <a:extLst>
              <a:ext uri="{FF2B5EF4-FFF2-40B4-BE49-F238E27FC236}">
                <a16:creationId xmlns:a16="http://schemas.microsoft.com/office/drawing/2014/main" id="{5953F1A4-C4AB-FCD1-760D-AE7E1D93F1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22625" y="2226408"/>
            <a:ext cx="4346749" cy="4346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40219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C91E3D-716B-DD10-F1B5-A9A4F8381A51}"/>
              </a:ext>
            </a:extLst>
          </p:cNvPr>
          <p:cNvSpPr>
            <a:spLocks noGrp="1"/>
          </p:cNvSpPr>
          <p:nvPr>
            <p:ph type="title"/>
          </p:nvPr>
        </p:nvSpPr>
        <p:spPr/>
        <p:txBody>
          <a:bodyPr/>
          <a:lstStyle/>
          <a:p>
            <a:r>
              <a:rPr lang="pt-BR" dirty="0"/>
              <a:t>Estratégias organizacionais</a:t>
            </a:r>
          </a:p>
        </p:txBody>
      </p:sp>
      <p:sp>
        <p:nvSpPr>
          <p:cNvPr id="3" name="Espaço Reservado para Conteúdo 2">
            <a:extLst>
              <a:ext uri="{FF2B5EF4-FFF2-40B4-BE49-F238E27FC236}">
                <a16:creationId xmlns:a16="http://schemas.microsoft.com/office/drawing/2014/main" id="{90165DA9-19AA-BCD1-EAC5-F34BE1236A9A}"/>
              </a:ext>
            </a:extLst>
          </p:cNvPr>
          <p:cNvSpPr>
            <a:spLocks noGrp="1"/>
          </p:cNvSpPr>
          <p:nvPr>
            <p:ph idx="1"/>
          </p:nvPr>
        </p:nvSpPr>
        <p:spPr/>
        <p:txBody>
          <a:bodyPr/>
          <a:lstStyle/>
          <a:p>
            <a:r>
              <a:rPr lang="pt-BR" dirty="0"/>
              <a:t>“</a:t>
            </a:r>
            <a:r>
              <a:rPr lang="pt-BR" i="1" dirty="0" err="1"/>
              <a:t>Competitive</a:t>
            </a:r>
            <a:r>
              <a:rPr lang="pt-BR" i="1" dirty="0"/>
              <a:t> </a:t>
            </a:r>
            <a:r>
              <a:rPr lang="pt-BR" i="1" dirty="0" err="1"/>
              <a:t>Strategy</a:t>
            </a:r>
            <a:r>
              <a:rPr lang="pt-BR" dirty="0"/>
              <a:t>” (Michael Porter, 1980)</a:t>
            </a:r>
          </a:p>
        </p:txBody>
      </p:sp>
      <p:pic>
        <p:nvPicPr>
          <p:cNvPr id="8194" name="Picture 2" descr="Estratégias competitivas genéricas – Wikipédia, a ...">
            <a:extLst>
              <a:ext uri="{FF2B5EF4-FFF2-40B4-BE49-F238E27FC236}">
                <a16:creationId xmlns:a16="http://schemas.microsoft.com/office/drawing/2014/main" id="{9AF9C5B9-681E-69EC-399D-8DE2963C28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2871" y="2600989"/>
            <a:ext cx="5701130" cy="389188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02015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B463F9D-6B8F-2068-C416-AEA8A14267D5}"/>
              </a:ext>
            </a:extLst>
          </p:cNvPr>
          <p:cNvSpPr>
            <a:spLocks noGrp="1"/>
          </p:cNvSpPr>
          <p:nvPr>
            <p:ph type="title"/>
          </p:nvPr>
        </p:nvSpPr>
        <p:spPr/>
        <p:txBody>
          <a:bodyPr/>
          <a:lstStyle/>
          <a:p>
            <a:r>
              <a:rPr lang="pt-BR" dirty="0"/>
              <a:t>Exemplos de estratégia</a:t>
            </a:r>
          </a:p>
        </p:txBody>
      </p:sp>
      <p:sp>
        <p:nvSpPr>
          <p:cNvPr id="3" name="Espaço Reservado para Conteúdo 2">
            <a:extLst>
              <a:ext uri="{FF2B5EF4-FFF2-40B4-BE49-F238E27FC236}">
                <a16:creationId xmlns:a16="http://schemas.microsoft.com/office/drawing/2014/main" id="{F46CF281-221F-6BCA-17FB-C82B77D82338}"/>
              </a:ext>
            </a:extLst>
          </p:cNvPr>
          <p:cNvSpPr>
            <a:spLocks noGrp="1"/>
          </p:cNvSpPr>
          <p:nvPr>
            <p:ph idx="1"/>
          </p:nvPr>
        </p:nvSpPr>
        <p:spPr/>
        <p:txBody>
          <a:bodyPr/>
          <a:lstStyle/>
          <a:p>
            <a:pPr lvl="1"/>
            <a:r>
              <a:rPr lang="pt-BR" dirty="0"/>
              <a:t>Competir por </a:t>
            </a:r>
            <a:r>
              <a:rPr lang="pt-BR" b="1" dirty="0"/>
              <a:t>menor preço</a:t>
            </a:r>
          </a:p>
          <a:p>
            <a:pPr lvl="2"/>
            <a:r>
              <a:rPr lang="pt-BR" dirty="0"/>
              <a:t>A empresa busca oferecer produtos ou serviços com custo mais baixo que os concorrentes, mantendo qualidade aceitável.</a:t>
            </a:r>
          </a:p>
          <a:p>
            <a:pPr lvl="2"/>
            <a:r>
              <a:rPr lang="pt-BR" dirty="0"/>
              <a:t>Como o software ajuda: automação de processos, otimização logística, sistemas de previsão de demanda.</a:t>
            </a:r>
          </a:p>
        </p:txBody>
      </p:sp>
      <p:pic>
        <p:nvPicPr>
          <p:cNvPr id="2051" name="Picture 3" descr="Ryanair: Avaliações e voos - Tripadvisor">
            <a:extLst>
              <a:ext uri="{FF2B5EF4-FFF2-40B4-BE49-F238E27FC236}">
                <a16:creationId xmlns:a16="http://schemas.microsoft.com/office/drawing/2014/main" id="{E51352F2-9004-4367-5482-458B640121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56938" y="4044147"/>
            <a:ext cx="297180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2053" name="Picture 5" descr="Amazon App | Software | TechTudo">
            <a:extLst>
              <a:ext uri="{FF2B5EF4-FFF2-40B4-BE49-F238E27FC236}">
                <a16:creationId xmlns:a16="http://schemas.microsoft.com/office/drawing/2014/main" id="{32A2A9EF-87CE-34AF-45E7-9E0231BC07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32374" b="32813"/>
          <a:stretch/>
        </p:blipFill>
        <p:spPr bwMode="auto">
          <a:xfrm>
            <a:off x="1680587" y="4388352"/>
            <a:ext cx="3443654" cy="1198845"/>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AFFE6B5B-1342-E95C-08B1-AFA0D4BD2595}"/>
              </a:ext>
            </a:extLst>
          </p:cNvPr>
          <p:cNvSpPr txBox="1"/>
          <p:nvPr/>
        </p:nvSpPr>
        <p:spPr>
          <a:xfrm>
            <a:off x="1228831" y="5587197"/>
            <a:ext cx="4547716" cy="830997"/>
          </a:xfrm>
          <a:prstGeom prst="rect">
            <a:avLst/>
          </a:prstGeom>
          <a:noFill/>
        </p:spPr>
        <p:txBody>
          <a:bodyPr wrap="square" rtlCol="0">
            <a:spAutoFit/>
          </a:bodyPr>
          <a:lstStyle/>
          <a:p>
            <a:pPr algn="ctr"/>
            <a:r>
              <a:rPr lang="pt-BR" sz="1600" dirty="0"/>
              <a:t>Usa sistemas de otimização de </a:t>
            </a:r>
            <a:r>
              <a:rPr lang="pt-BR" sz="1600" dirty="0" err="1"/>
              <a:t>supply</a:t>
            </a:r>
            <a:r>
              <a:rPr lang="pt-BR" sz="1600" dirty="0"/>
              <a:t> </a:t>
            </a:r>
            <a:r>
              <a:rPr lang="pt-BR" sz="1600" dirty="0" err="1"/>
              <a:t>chain</a:t>
            </a:r>
            <a:r>
              <a:rPr lang="pt-BR" sz="1600" dirty="0"/>
              <a:t> e logística baseados em software para reduzir custos e entregar mais rápido</a:t>
            </a:r>
          </a:p>
        </p:txBody>
      </p:sp>
      <p:sp>
        <p:nvSpPr>
          <p:cNvPr id="7" name="CaixaDeTexto 6">
            <a:extLst>
              <a:ext uri="{FF2B5EF4-FFF2-40B4-BE49-F238E27FC236}">
                <a16:creationId xmlns:a16="http://schemas.microsoft.com/office/drawing/2014/main" id="{FBDF4B2E-A9B2-E50A-85B6-B0F8C7BAA494}"/>
              </a:ext>
            </a:extLst>
          </p:cNvPr>
          <p:cNvSpPr txBox="1"/>
          <p:nvPr/>
        </p:nvSpPr>
        <p:spPr>
          <a:xfrm>
            <a:off x="6627307" y="5661878"/>
            <a:ext cx="4031062" cy="830997"/>
          </a:xfrm>
          <a:prstGeom prst="rect">
            <a:avLst/>
          </a:prstGeom>
          <a:noFill/>
        </p:spPr>
        <p:txBody>
          <a:bodyPr wrap="square">
            <a:spAutoFit/>
          </a:bodyPr>
          <a:lstStyle/>
          <a:p>
            <a:pPr algn="ctr"/>
            <a:r>
              <a:rPr lang="pt-BR" sz="1600" dirty="0"/>
              <a:t>sistema de reservas online enxuto reduziu custos de atendimento, permitindo passagens mais baratas.</a:t>
            </a:r>
          </a:p>
        </p:txBody>
      </p:sp>
    </p:spTree>
    <p:extLst>
      <p:ext uri="{BB962C8B-B14F-4D97-AF65-F5344CB8AC3E}">
        <p14:creationId xmlns:p14="http://schemas.microsoft.com/office/powerpoint/2010/main" val="36528861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113122-E242-BBFF-44F1-F4B14DFCE6DC}"/>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4493061-418D-9B28-1771-529DD5A166EE}"/>
              </a:ext>
            </a:extLst>
          </p:cNvPr>
          <p:cNvSpPr>
            <a:spLocks noGrp="1"/>
          </p:cNvSpPr>
          <p:nvPr>
            <p:ph type="title"/>
          </p:nvPr>
        </p:nvSpPr>
        <p:spPr/>
        <p:txBody>
          <a:bodyPr/>
          <a:lstStyle/>
          <a:p>
            <a:r>
              <a:rPr lang="pt-BR" dirty="0"/>
              <a:t>Exemplos de estratégia</a:t>
            </a:r>
          </a:p>
        </p:txBody>
      </p:sp>
      <p:sp>
        <p:nvSpPr>
          <p:cNvPr id="3" name="Espaço Reservado para Conteúdo 2">
            <a:extLst>
              <a:ext uri="{FF2B5EF4-FFF2-40B4-BE49-F238E27FC236}">
                <a16:creationId xmlns:a16="http://schemas.microsoft.com/office/drawing/2014/main" id="{6FD91B0C-D88C-019A-0A2F-1586468C463E}"/>
              </a:ext>
            </a:extLst>
          </p:cNvPr>
          <p:cNvSpPr>
            <a:spLocks noGrp="1"/>
          </p:cNvSpPr>
          <p:nvPr>
            <p:ph idx="1"/>
          </p:nvPr>
        </p:nvSpPr>
        <p:spPr/>
        <p:txBody>
          <a:bodyPr/>
          <a:lstStyle/>
          <a:p>
            <a:pPr lvl="1"/>
            <a:r>
              <a:rPr lang="pt-BR" dirty="0"/>
              <a:t>Competir por </a:t>
            </a:r>
            <a:r>
              <a:rPr lang="pt-BR" b="1" dirty="0"/>
              <a:t>inovação (diferenciação)</a:t>
            </a:r>
          </a:p>
          <a:p>
            <a:pPr lvl="2"/>
            <a:r>
              <a:rPr lang="pt-BR" dirty="0"/>
              <a:t>A empresa cria produtos/serviços inovadores que entregam valor único ao cliente.</a:t>
            </a:r>
          </a:p>
          <a:p>
            <a:pPr lvl="2"/>
            <a:r>
              <a:rPr lang="pt-BR" dirty="0"/>
              <a:t>Como o software ajuda: desenvolvimento de funcionalidades exclusivas, personalização por IA, integração com ecossistemas digitais.</a:t>
            </a:r>
          </a:p>
        </p:txBody>
      </p:sp>
      <p:sp>
        <p:nvSpPr>
          <p:cNvPr id="5" name="CaixaDeTexto 4">
            <a:extLst>
              <a:ext uri="{FF2B5EF4-FFF2-40B4-BE49-F238E27FC236}">
                <a16:creationId xmlns:a16="http://schemas.microsoft.com/office/drawing/2014/main" id="{8E38FF56-0199-D515-67D9-7B8F9787E5BC}"/>
              </a:ext>
            </a:extLst>
          </p:cNvPr>
          <p:cNvSpPr txBox="1"/>
          <p:nvPr/>
        </p:nvSpPr>
        <p:spPr>
          <a:xfrm>
            <a:off x="1228831" y="5587197"/>
            <a:ext cx="4547716" cy="584775"/>
          </a:xfrm>
          <a:prstGeom prst="rect">
            <a:avLst/>
          </a:prstGeom>
          <a:noFill/>
        </p:spPr>
        <p:txBody>
          <a:bodyPr wrap="square" rtlCol="0">
            <a:spAutoFit/>
          </a:bodyPr>
          <a:lstStyle/>
          <a:p>
            <a:pPr algn="ctr"/>
            <a:r>
              <a:rPr lang="pt-BR" sz="1600" dirty="0"/>
              <a:t>o software embarcado nos carros (</a:t>
            </a:r>
            <a:r>
              <a:rPr lang="pt-BR" sz="1600" dirty="0" err="1"/>
              <a:t>Autopilot</a:t>
            </a:r>
            <a:r>
              <a:rPr lang="pt-BR" sz="1600" dirty="0"/>
              <a:t>, atualizações OTA) é a principal diferenciação.</a:t>
            </a:r>
          </a:p>
        </p:txBody>
      </p:sp>
      <p:sp>
        <p:nvSpPr>
          <p:cNvPr id="7" name="CaixaDeTexto 6">
            <a:extLst>
              <a:ext uri="{FF2B5EF4-FFF2-40B4-BE49-F238E27FC236}">
                <a16:creationId xmlns:a16="http://schemas.microsoft.com/office/drawing/2014/main" id="{D1B5D8F8-D757-01A2-9C5C-8EA828D8C1FB}"/>
              </a:ext>
            </a:extLst>
          </p:cNvPr>
          <p:cNvSpPr txBox="1"/>
          <p:nvPr/>
        </p:nvSpPr>
        <p:spPr>
          <a:xfrm>
            <a:off x="6627307" y="5661878"/>
            <a:ext cx="4031062" cy="584775"/>
          </a:xfrm>
          <a:prstGeom prst="rect">
            <a:avLst/>
          </a:prstGeom>
          <a:noFill/>
        </p:spPr>
        <p:txBody>
          <a:bodyPr wrap="square">
            <a:spAutoFit/>
          </a:bodyPr>
          <a:lstStyle/>
          <a:p>
            <a:pPr algn="ctr"/>
            <a:r>
              <a:rPr lang="pt-BR" sz="1600" dirty="0"/>
              <a:t>ecossistema de apps e integração software-hardware cria barreiras de entrada.</a:t>
            </a:r>
          </a:p>
        </p:txBody>
      </p:sp>
      <p:pic>
        <p:nvPicPr>
          <p:cNvPr id="7171" name="Picture 3" descr="A História e Significado do Logotipo da Tesla - Free Logo Design">
            <a:extLst>
              <a:ext uri="{FF2B5EF4-FFF2-40B4-BE49-F238E27FC236}">
                <a16:creationId xmlns:a16="http://schemas.microsoft.com/office/drawing/2014/main" id="{FCF063AA-990D-EBAB-2AAA-76CEAC92FBB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23788" y="3852128"/>
            <a:ext cx="2533650" cy="1809750"/>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Apple iPhone 16 Pro Max (256 GB) – Titânio natural : Amazon.com.br">
            <a:extLst>
              <a:ext uri="{FF2B5EF4-FFF2-40B4-BE49-F238E27FC236}">
                <a16:creationId xmlns:a16="http://schemas.microsoft.com/office/drawing/2014/main" id="{461C14FC-E6F4-1887-6296-9CEC3A0F2D05}"/>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20306" t="13040" r="19768" b="12381"/>
          <a:stretch/>
        </p:blipFill>
        <p:spPr bwMode="auto">
          <a:xfrm>
            <a:off x="7840330" y="3852128"/>
            <a:ext cx="1449686" cy="180413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67421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08C269-6801-CA0C-E40D-231806C66DD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EF0A54-8C4D-8645-04CD-9ADE503288E5}"/>
              </a:ext>
            </a:extLst>
          </p:cNvPr>
          <p:cNvSpPr>
            <a:spLocks noGrp="1"/>
          </p:cNvSpPr>
          <p:nvPr>
            <p:ph type="title"/>
          </p:nvPr>
        </p:nvSpPr>
        <p:spPr/>
        <p:txBody>
          <a:bodyPr/>
          <a:lstStyle/>
          <a:p>
            <a:r>
              <a:rPr lang="pt-BR" dirty="0"/>
              <a:t>Exemplos de estratégia</a:t>
            </a:r>
          </a:p>
        </p:txBody>
      </p:sp>
      <p:sp>
        <p:nvSpPr>
          <p:cNvPr id="3" name="Espaço Reservado para Conteúdo 2">
            <a:extLst>
              <a:ext uri="{FF2B5EF4-FFF2-40B4-BE49-F238E27FC236}">
                <a16:creationId xmlns:a16="http://schemas.microsoft.com/office/drawing/2014/main" id="{10611F27-74D9-3796-39EA-923B5ABEADC2}"/>
              </a:ext>
            </a:extLst>
          </p:cNvPr>
          <p:cNvSpPr>
            <a:spLocks noGrp="1"/>
          </p:cNvSpPr>
          <p:nvPr>
            <p:ph idx="1"/>
          </p:nvPr>
        </p:nvSpPr>
        <p:spPr/>
        <p:txBody>
          <a:bodyPr/>
          <a:lstStyle/>
          <a:p>
            <a:pPr lvl="1"/>
            <a:r>
              <a:rPr lang="pt-BR" dirty="0"/>
              <a:t>Foco em </a:t>
            </a:r>
            <a:r>
              <a:rPr lang="pt-BR" b="1" dirty="0"/>
              <a:t>nichos (segmentação)</a:t>
            </a:r>
          </a:p>
          <a:p>
            <a:pPr lvl="2"/>
            <a:r>
              <a:rPr lang="pt-BR" dirty="0"/>
              <a:t>A empresa atende um segmento de mercado específico melhor do que concorrentes generalistas.</a:t>
            </a:r>
          </a:p>
          <a:p>
            <a:pPr lvl="2"/>
            <a:r>
              <a:rPr lang="pt-BR" dirty="0"/>
              <a:t>Como o software ajuda: soluções altamente customizadas para um público restrito</a:t>
            </a:r>
          </a:p>
        </p:txBody>
      </p:sp>
      <p:sp>
        <p:nvSpPr>
          <p:cNvPr id="5" name="CaixaDeTexto 4">
            <a:extLst>
              <a:ext uri="{FF2B5EF4-FFF2-40B4-BE49-F238E27FC236}">
                <a16:creationId xmlns:a16="http://schemas.microsoft.com/office/drawing/2014/main" id="{D1939422-0A46-7AE6-63C7-A6AD2BAD6C23}"/>
              </a:ext>
            </a:extLst>
          </p:cNvPr>
          <p:cNvSpPr txBox="1"/>
          <p:nvPr/>
        </p:nvSpPr>
        <p:spPr>
          <a:xfrm>
            <a:off x="1228831" y="5587197"/>
            <a:ext cx="4547716" cy="584775"/>
          </a:xfrm>
          <a:prstGeom prst="rect">
            <a:avLst/>
          </a:prstGeom>
          <a:noFill/>
        </p:spPr>
        <p:txBody>
          <a:bodyPr wrap="square" rtlCol="0">
            <a:spAutoFit/>
          </a:bodyPr>
          <a:lstStyle/>
          <a:p>
            <a:pPr algn="ctr"/>
            <a:r>
              <a:rPr lang="pt-BR" sz="1600" dirty="0"/>
              <a:t>voltado para pequenos e médios empreendedores digitais, com plataforma fácil de usar</a:t>
            </a:r>
          </a:p>
        </p:txBody>
      </p:sp>
      <p:sp>
        <p:nvSpPr>
          <p:cNvPr id="7" name="CaixaDeTexto 6">
            <a:extLst>
              <a:ext uri="{FF2B5EF4-FFF2-40B4-BE49-F238E27FC236}">
                <a16:creationId xmlns:a16="http://schemas.microsoft.com/office/drawing/2014/main" id="{F9FABA47-8096-AFBB-DD98-56876349AEEA}"/>
              </a:ext>
            </a:extLst>
          </p:cNvPr>
          <p:cNvSpPr txBox="1"/>
          <p:nvPr/>
        </p:nvSpPr>
        <p:spPr>
          <a:xfrm>
            <a:off x="6627307" y="5661878"/>
            <a:ext cx="4031062" cy="584775"/>
          </a:xfrm>
          <a:prstGeom prst="rect">
            <a:avLst/>
          </a:prstGeom>
          <a:noFill/>
        </p:spPr>
        <p:txBody>
          <a:bodyPr wrap="square">
            <a:spAutoFit/>
          </a:bodyPr>
          <a:lstStyle/>
          <a:p>
            <a:pPr algn="ctr"/>
            <a:r>
              <a:rPr lang="pt-BR" sz="1600" dirty="0"/>
              <a:t>softwares de gestão hospitalar focados em grandes redes de saúde nos EUA</a:t>
            </a:r>
          </a:p>
        </p:txBody>
      </p:sp>
      <p:pic>
        <p:nvPicPr>
          <p:cNvPr id="6147" name="Picture 3" descr="Shopify: Características, Preços e Funcionalidades">
            <a:extLst>
              <a:ext uri="{FF2B5EF4-FFF2-40B4-BE49-F238E27FC236}">
                <a16:creationId xmlns:a16="http://schemas.microsoft.com/office/drawing/2014/main" id="{21316190-22F7-5DB3-2C68-7EB7F5F6BB0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2313" y="4044147"/>
            <a:ext cx="2952750" cy="1543050"/>
          </a:xfrm>
          <a:prstGeom prst="rect">
            <a:avLst/>
          </a:prstGeom>
          <a:noFill/>
          <a:extLst>
            <a:ext uri="{909E8E84-426E-40DD-AFC4-6F175D3DCCD1}">
              <a14:hiddenFill xmlns:a14="http://schemas.microsoft.com/office/drawing/2010/main">
                <a:solidFill>
                  <a:srgbClr val="FFFFFF"/>
                </a:solidFill>
              </a14:hiddenFill>
            </a:ext>
          </a:extLst>
        </p:spPr>
      </p:pic>
      <p:pic>
        <p:nvPicPr>
          <p:cNvPr id="6149" name="Picture 5" descr="Epic Systems will support the government's TEFCA program for health records">
            <a:extLst>
              <a:ext uri="{FF2B5EF4-FFF2-40B4-BE49-F238E27FC236}">
                <a16:creationId xmlns:a16="http://schemas.microsoft.com/office/drawing/2014/main" id="{75D99B44-3E15-8828-41AC-F760F30080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36423" y="4015572"/>
            <a:ext cx="2857500" cy="16002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73458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F0753E9-F814-E021-878C-D112C4C89022}"/>
              </a:ext>
            </a:extLst>
          </p:cNvPr>
          <p:cNvSpPr>
            <a:spLocks noGrp="1"/>
          </p:cNvSpPr>
          <p:nvPr>
            <p:ph type="title"/>
          </p:nvPr>
        </p:nvSpPr>
        <p:spPr/>
        <p:txBody>
          <a:bodyPr/>
          <a:lstStyle/>
          <a:p>
            <a:r>
              <a:rPr lang="pt-BR" dirty="0"/>
              <a:t>Estratégia organizacional</a:t>
            </a:r>
          </a:p>
        </p:txBody>
      </p:sp>
      <p:sp>
        <p:nvSpPr>
          <p:cNvPr id="3" name="Espaço Reservado para Conteúdo 2">
            <a:extLst>
              <a:ext uri="{FF2B5EF4-FFF2-40B4-BE49-F238E27FC236}">
                <a16:creationId xmlns:a16="http://schemas.microsoft.com/office/drawing/2014/main" id="{4819196D-CB21-EE0F-886A-2C066A0204A3}"/>
              </a:ext>
            </a:extLst>
          </p:cNvPr>
          <p:cNvSpPr>
            <a:spLocks noGrp="1"/>
          </p:cNvSpPr>
          <p:nvPr>
            <p:ph idx="1"/>
          </p:nvPr>
        </p:nvSpPr>
        <p:spPr>
          <a:xfrm>
            <a:off x="838199" y="1825625"/>
            <a:ext cx="6386566" cy="4351338"/>
          </a:xfrm>
        </p:spPr>
        <p:txBody>
          <a:bodyPr>
            <a:normAutofit/>
          </a:bodyPr>
          <a:lstStyle/>
          <a:p>
            <a:r>
              <a:rPr lang="pt-BR" dirty="0"/>
              <a:t>Ferramenta: </a:t>
            </a:r>
            <a:r>
              <a:rPr lang="pt-BR" b="1" i="1" u="sng" dirty="0"/>
              <a:t>Missão-Visão-Valores</a:t>
            </a:r>
          </a:p>
          <a:p>
            <a:pPr>
              <a:spcBef>
                <a:spcPts val="2400"/>
              </a:spcBef>
            </a:pPr>
            <a:r>
              <a:rPr lang="pt-BR" dirty="0"/>
              <a:t>Conjunto de diretrizes de longo prazo que orientam as ações de uma organização</a:t>
            </a:r>
          </a:p>
          <a:p>
            <a:pPr lvl="1">
              <a:spcBef>
                <a:spcPts val="1800"/>
              </a:spcBef>
            </a:pPr>
            <a:r>
              <a:rPr lang="pt-BR" b="1" dirty="0"/>
              <a:t>Missão</a:t>
            </a:r>
            <a:r>
              <a:rPr lang="pt-BR" dirty="0"/>
              <a:t>: razão de existir;</a:t>
            </a:r>
          </a:p>
          <a:p>
            <a:pPr lvl="1">
              <a:spcBef>
                <a:spcPts val="1800"/>
              </a:spcBef>
            </a:pPr>
            <a:r>
              <a:rPr lang="pt-BR" b="1" dirty="0"/>
              <a:t>Visão</a:t>
            </a:r>
            <a:r>
              <a:rPr lang="pt-BR" dirty="0"/>
              <a:t>: futuro desejado;</a:t>
            </a:r>
          </a:p>
          <a:p>
            <a:pPr lvl="1">
              <a:spcBef>
                <a:spcPts val="1800"/>
              </a:spcBef>
            </a:pPr>
            <a:r>
              <a:rPr lang="pt-BR" b="1" dirty="0"/>
              <a:t>Valores</a:t>
            </a:r>
            <a:r>
              <a:rPr lang="pt-BR" dirty="0"/>
              <a:t>: princípios que devem estar presentes nos colaboradores e nas relações da empresa com terceiros;</a:t>
            </a:r>
          </a:p>
        </p:txBody>
      </p:sp>
      <p:sp>
        <p:nvSpPr>
          <p:cNvPr id="5" name="CaixaDeTexto 4">
            <a:extLst>
              <a:ext uri="{FF2B5EF4-FFF2-40B4-BE49-F238E27FC236}">
                <a16:creationId xmlns:a16="http://schemas.microsoft.com/office/drawing/2014/main" id="{51D4C44C-2D56-103F-505B-5B193E0B4256}"/>
              </a:ext>
            </a:extLst>
          </p:cNvPr>
          <p:cNvSpPr txBox="1"/>
          <p:nvPr/>
        </p:nvSpPr>
        <p:spPr>
          <a:xfrm>
            <a:off x="6556955" y="6492875"/>
            <a:ext cx="5724630" cy="285044"/>
          </a:xfrm>
          <a:prstGeom prst="rect">
            <a:avLst/>
          </a:prstGeom>
          <a:noFill/>
        </p:spPr>
        <p:txBody>
          <a:bodyPr wrap="square">
            <a:spAutoFit/>
          </a:bodyPr>
          <a:lstStyle/>
          <a:p>
            <a:pPr algn="ctr"/>
            <a:r>
              <a:rPr lang="pt-BR" sz="1200" dirty="0">
                <a:hlinkClick r:id="rId2"/>
              </a:rPr>
              <a:t>https://sebrae.com.br/Sebrae/Portal%20Sebrae/Anexos/ME_Missao-Visao-Valores.PDF</a:t>
            </a:r>
            <a:r>
              <a:rPr lang="pt-BR" sz="1200" dirty="0"/>
              <a:t> </a:t>
            </a:r>
          </a:p>
        </p:txBody>
      </p:sp>
      <p:pic>
        <p:nvPicPr>
          <p:cNvPr id="15362" name="Picture 2" descr="MISSAO VISAO VALORES">
            <a:extLst>
              <a:ext uri="{FF2B5EF4-FFF2-40B4-BE49-F238E27FC236}">
                <a16:creationId xmlns:a16="http://schemas.microsoft.com/office/drawing/2014/main" id="{0A710CF1-65B3-7349-95B6-364655A928A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64374" y="1695398"/>
            <a:ext cx="4709793" cy="44815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68748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C35B9A-FB0D-FC27-A6F4-27B41FD2C7F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74256DF-20E6-470B-3984-2AA6DA2CFA17}"/>
              </a:ext>
            </a:extLst>
          </p:cNvPr>
          <p:cNvSpPr>
            <a:spLocks noGrp="1"/>
          </p:cNvSpPr>
          <p:nvPr>
            <p:ph type="title"/>
          </p:nvPr>
        </p:nvSpPr>
        <p:spPr/>
        <p:txBody>
          <a:bodyPr/>
          <a:lstStyle/>
          <a:p>
            <a:r>
              <a:rPr lang="pt-BR" dirty="0"/>
              <a:t>Exemplos de MVV</a:t>
            </a:r>
          </a:p>
        </p:txBody>
      </p:sp>
      <p:sp>
        <p:nvSpPr>
          <p:cNvPr id="3" name="Espaço Reservado para Conteúdo 2">
            <a:extLst>
              <a:ext uri="{FF2B5EF4-FFF2-40B4-BE49-F238E27FC236}">
                <a16:creationId xmlns:a16="http://schemas.microsoft.com/office/drawing/2014/main" id="{C719A5A6-6869-0B36-02CD-9A3BE7584E18}"/>
              </a:ext>
            </a:extLst>
          </p:cNvPr>
          <p:cNvSpPr>
            <a:spLocks noGrp="1"/>
          </p:cNvSpPr>
          <p:nvPr>
            <p:ph idx="1"/>
          </p:nvPr>
        </p:nvSpPr>
        <p:spPr>
          <a:xfrm>
            <a:off x="838200" y="1825625"/>
            <a:ext cx="6235840" cy="4351338"/>
          </a:xfrm>
        </p:spPr>
        <p:txBody>
          <a:bodyPr/>
          <a:lstStyle/>
          <a:p>
            <a:r>
              <a:rPr lang="pt-BR" b="1" dirty="0"/>
              <a:t>Lupo</a:t>
            </a:r>
          </a:p>
          <a:p>
            <a:pPr lvl="1">
              <a:spcBef>
                <a:spcPts val="1800"/>
              </a:spcBef>
            </a:pPr>
            <a:r>
              <a:rPr lang="pt-BR" b="1" i="1" dirty="0">
                <a:solidFill>
                  <a:srgbClr val="03002F"/>
                </a:solidFill>
                <a:effectLst/>
                <a:latin typeface="FKGrotesk"/>
              </a:rPr>
              <a:t>Missão</a:t>
            </a:r>
            <a:r>
              <a:rPr lang="pt-BR" b="0" i="1" dirty="0">
                <a:solidFill>
                  <a:srgbClr val="03002F"/>
                </a:solidFill>
                <a:effectLst/>
                <a:latin typeface="FKGrotesk"/>
              </a:rPr>
              <a:t>: ser um time obstinado em prever e atender as necessidades dos clientes e consumidores sempre agregando valores.</a:t>
            </a:r>
            <a:endParaRPr lang="pt-BR" b="0" i="0" dirty="0">
              <a:solidFill>
                <a:srgbClr val="03002F"/>
              </a:solidFill>
              <a:effectLst/>
              <a:latin typeface="FKGrotesk"/>
            </a:endParaRPr>
          </a:p>
          <a:p>
            <a:pPr lvl="1">
              <a:spcBef>
                <a:spcPts val="1800"/>
              </a:spcBef>
            </a:pPr>
            <a:r>
              <a:rPr lang="pt-BR" b="1" i="1" dirty="0">
                <a:solidFill>
                  <a:srgbClr val="03002F"/>
                </a:solidFill>
                <a:effectLst/>
                <a:latin typeface="FKGrotesk"/>
              </a:rPr>
              <a:t>Visão</a:t>
            </a:r>
            <a:r>
              <a:rPr lang="pt-BR" b="0" i="1" dirty="0">
                <a:solidFill>
                  <a:srgbClr val="03002F"/>
                </a:solidFill>
                <a:effectLst/>
                <a:latin typeface="FKGrotesk"/>
              </a:rPr>
              <a:t>: ser marca líder e inspirar paixão em quem produz e em quem usa.</a:t>
            </a:r>
            <a:endParaRPr lang="pt-BR" b="0" i="0" dirty="0">
              <a:solidFill>
                <a:srgbClr val="03002F"/>
              </a:solidFill>
              <a:effectLst/>
              <a:latin typeface="FKGrotesk"/>
            </a:endParaRPr>
          </a:p>
          <a:p>
            <a:pPr lvl="1">
              <a:spcBef>
                <a:spcPts val="1800"/>
              </a:spcBef>
            </a:pPr>
            <a:r>
              <a:rPr lang="pt-BR" b="1" i="1" dirty="0">
                <a:solidFill>
                  <a:srgbClr val="03002F"/>
                </a:solidFill>
                <a:effectLst/>
                <a:latin typeface="FKGrotesk"/>
              </a:rPr>
              <a:t>Valores</a:t>
            </a:r>
            <a:r>
              <a:rPr lang="pt-BR" b="0" i="1" dirty="0">
                <a:solidFill>
                  <a:srgbClr val="03002F"/>
                </a:solidFill>
                <a:effectLst/>
                <a:latin typeface="FKGrotesk"/>
              </a:rPr>
              <a:t>: honestidade, respeito e dedicação.</a:t>
            </a:r>
            <a:endParaRPr lang="pt-BR" b="0" i="0" dirty="0">
              <a:solidFill>
                <a:srgbClr val="03002F"/>
              </a:solidFill>
              <a:effectLst/>
              <a:latin typeface="FKGrotesk"/>
            </a:endParaRPr>
          </a:p>
          <a:p>
            <a:pPr lvl="1"/>
            <a:endParaRPr lang="pt-BR" dirty="0"/>
          </a:p>
        </p:txBody>
      </p:sp>
      <p:pic>
        <p:nvPicPr>
          <p:cNvPr id="11266" name="Picture 2" descr="undefined">
            <a:extLst>
              <a:ext uri="{FF2B5EF4-FFF2-40B4-BE49-F238E27FC236}">
                <a16:creationId xmlns:a16="http://schemas.microsoft.com/office/drawing/2014/main" id="{0CFAF102-E21F-C417-9AAE-745AC19687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45345" y="2119004"/>
            <a:ext cx="4491613" cy="25433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184757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66E282-AEB3-4E5A-4042-13E3B6DE4D2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9EF859D-5610-A911-2159-A342EC4E76F1}"/>
              </a:ext>
            </a:extLst>
          </p:cNvPr>
          <p:cNvSpPr>
            <a:spLocks noGrp="1"/>
          </p:cNvSpPr>
          <p:nvPr>
            <p:ph type="title"/>
          </p:nvPr>
        </p:nvSpPr>
        <p:spPr/>
        <p:txBody>
          <a:bodyPr/>
          <a:lstStyle/>
          <a:p>
            <a:r>
              <a:rPr lang="pt-BR" dirty="0"/>
              <a:t>Exemplos de MVV</a:t>
            </a:r>
          </a:p>
        </p:txBody>
      </p:sp>
      <p:sp>
        <p:nvSpPr>
          <p:cNvPr id="3" name="Espaço Reservado para Conteúdo 2">
            <a:extLst>
              <a:ext uri="{FF2B5EF4-FFF2-40B4-BE49-F238E27FC236}">
                <a16:creationId xmlns:a16="http://schemas.microsoft.com/office/drawing/2014/main" id="{042A65A5-D492-DC77-CB13-B37C1BFED77A}"/>
              </a:ext>
            </a:extLst>
          </p:cNvPr>
          <p:cNvSpPr>
            <a:spLocks noGrp="1"/>
          </p:cNvSpPr>
          <p:nvPr>
            <p:ph idx="1"/>
          </p:nvPr>
        </p:nvSpPr>
        <p:spPr>
          <a:xfrm>
            <a:off x="838200" y="1825625"/>
            <a:ext cx="4889360" cy="4351338"/>
          </a:xfrm>
        </p:spPr>
        <p:txBody>
          <a:bodyPr>
            <a:normAutofit fontScale="92500" lnSpcReduction="10000"/>
          </a:bodyPr>
          <a:lstStyle/>
          <a:p>
            <a:r>
              <a:rPr lang="pt-BR" b="1" dirty="0"/>
              <a:t>Uber</a:t>
            </a:r>
          </a:p>
          <a:p>
            <a:pPr lvl="1">
              <a:spcBef>
                <a:spcPts val="1800"/>
              </a:spcBef>
            </a:pPr>
            <a:r>
              <a:rPr lang="pt-BR" b="0" i="1" dirty="0">
                <a:solidFill>
                  <a:srgbClr val="03002F"/>
                </a:solidFill>
                <a:effectLst/>
                <a:latin typeface="FKGrotesk"/>
              </a:rPr>
              <a:t>Criamos oportunidades ao colocar o mundo em movimento</a:t>
            </a:r>
            <a:endParaRPr lang="pt-BR" b="0" i="0" dirty="0">
              <a:solidFill>
                <a:srgbClr val="03002F"/>
              </a:solidFill>
              <a:effectLst/>
              <a:latin typeface="FKGrotesk"/>
            </a:endParaRPr>
          </a:p>
          <a:p>
            <a:pPr lvl="1">
              <a:spcBef>
                <a:spcPts val="1800"/>
              </a:spcBef>
            </a:pPr>
            <a:r>
              <a:rPr lang="pt-BR" b="0" i="1" dirty="0">
                <a:solidFill>
                  <a:srgbClr val="03002F"/>
                </a:solidFill>
                <a:effectLst/>
                <a:latin typeface="FKGrotesk"/>
              </a:rPr>
              <a:t>Quando as pessoas têm mobilidade, tudo é possível. As oportunidades surgem, as portas se abrem e os sonhos se tornam realidade. Nossa tecnologia, que começou como uma simples forma de pedir viagens ao toque de um botão, já possibilitou bilhões de conexões entre pessoas no mundo todo.</a:t>
            </a:r>
            <a:endParaRPr lang="pt-BR" b="0" i="0" dirty="0">
              <a:solidFill>
                <a:srgbClr val="03002F"/>
              </a:solidFill>
              <a:effectLst/>
              <a:latin typeface="FKGrotesk"/>
            </a:endParaRPr>
          </a:p>
          <a:p>
            <a:pPr lvl="1"/>
            <a:endParaRPr lang="pt-BR" dirty="0"/>
          </a:p>
        </p:txBody>
      </p:sp>
      <p:pic>
        <p:nvPicPr>
          <p:cNvPr id="12290" name="Picture 2" descr="undefined">
            <a:extLst>
              <a:ext uri="{FF2B5EF4-FFF2-40B4-BE49-F238E27FC236}">
                <a16:creationId xmlns:a16="http://schemas.microsoft.com/office/drawing/2014/main" id="{BE55AE98-3F6B-983E-BD91-A41E3691C1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60944" y="2608760"/>
            <a:ext cx="6331056" cy="278506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579205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3BA2FD-7CD6-7B25-020B-8CFCA06F98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FD71666-E32E-4E48-FEA1-D7B6E2FA46E2}"/>
              </a:ext>
            </a:extLst>
          </p:cNvPr>
          <p:cNvSpPr>
            <a:spLocks noGrp="1"/>
          </p:cNvSpPr>
          <p:nvPr>
            <p:ph type="title"/>
          </p:nvPr>
        </p:nvSpPr>
        <p:spPr/>
        <p:txBody>
          <a:bodyPr/>
          <a:lstStyle/>
          <a:p>
            <a:r>
              <a:rPr lang="pt-BR" dirty="0"/>
              <a:t>Exemplos de MVV</a:t>
            </a:r>
          </a:p>
        </p:txBody>
      </p:sp>
      <p:sp>
        <p:nvSpPr>
          <p:cNvPr id="5" name="Espaço Reservado para Conteúdo 4">
            <a:extLst>
              <a:ext uri="{FF2B5EF4-FFF2-40B4-BE49-F238E27FC236}">
                <a16:creationId xmlns:a16="http://schemas.microsoft.com/office/drawing/2014/main" id="{F5510823-6758-0E18-BAEE-BDB6DDA8E1BA}"/>
              </a:ext>
            </a:extLst>
          </p:cNvPr>
          <p:cNvSpPr>
            <a:spLocks noGrp="1"/>
          </p:cNvSpPr>
          <p:nvPr>
            <p:ph idx="1"/>
          </p:nvPr>
        </p:nvSpPr>
        <p:spPr/>
        <p:txBody>
          <a:bodyPr/>
          <a:lstStyle/>
          <a:p>
            <a:r>
              <a:rPr lang="pt-BR" dirty="0"/>
              <a:t>Microsoft</a:t>
            </a:r>
          </a:p>
        </p:txBody>
      </p:sp>
      <p:pic>
        <p:nvPicPr>
          <p:cNvPr id="13316" name="Picture 4" descr="Digital Living: The Last Week Of Bill Gates At Microsoft">
            <a:extLst>
              <a:ext uri="{FF2B5EF4-FFF2-40B4-BE49-F238E27FC236}">
                <a16:creationId xmlns:a16="http://schemas.microsoft.com/office/drawing/2014/main" id="{F4664DA5-16F0-087D-EA5A-77688F214A8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5800" y="2681890"/>
            <a:ext cx="6220399" cy="349507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2976668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C5484-B32F-D716-7EA4-3A143E2BFB4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FF6458-C99C-DD60-2417-9968E42BC4CD}"/>
              </a:ext>
            </a:extLst>
          </p:cNvPr>
          <p:cNvSpPr>
            <a:spLocks noGrp="1"/>
          </p:cNvSpPr>
          <p:nvPr>
            <p:ph type="title"/>
          </p:nvPr>
        </p:nvSpPr>
        <p:spPr/>
        <p:txBody>
          <a:bodyPr/>
          <a:lstStyle/>
          <a:p>
            <a:r>
              <a:rPr lang="pt-BR" dirty="0"/>
              <a:t>Exemplos de MVV</a:t>
            </a:r>
          </a:p>
        </p:txBody>
      </p:sp>
      <p:sp>
        <p:nvSpPr>
          <p:cNvPr id="3" name="Espaço Reservado para Conteúdo 2">
            <a:extLst>
              <a:ext uri="{FF2B5EF4-FFF2-40B4-BE49-F238E27FC236}">
                <a16:creationId xmlns:a16="http://schemas.microsoft.com/office/drawing/2014/main" id="{216127FE-0473-3571-6847-B542118E4733}"/>
              </a:ext>
            </a:extLst>
          </p:cNvPr>
          <p:cNvSpPr>
            <a:spLocks noGrp="1"/>
          </p:cNvSpPr>
          <p:nvPr>
            <p:ph idx="1"/>
          </p:nvPr>
        </p:nvSpPr>
        <p:spPr>
          <a:xfrm>
            <a:off x="838200" y="1825625"/>
            <a:ext cx="6059311" cy="4351338"/>
          </a:xfrm>
        </p:spPr>
        <p:txBody>
          <a:bodyPr/>
          <a:lstStyle/>
          <a:p>
            <a:r>
              <a:rPr lang="pt-BR" dirty="0"/>
              <a:t>Google</a:t>
            </a:r>
          </a:p>
          <a:p>
            <a:endParaRPr lang="pt-BR" dirty="0"/>
          </a:p>
          <a:p>
            <a:endParaRPr lang="pt-BR" dirty="0"/>
          </a:p>
          <a:p>
            <a:endParaRPr lang="pt-BR" dirty="0"/>
          </a:p>
          <a:p>
            <a:endParaRPr lang="pt-BR" dirty="0"/>
          </a:p>
          <a:p>
            <a:endParaRPr lang="pt-BR" dirty="0"/>
          </a:p>
        </p:txBody>
      </p:sp>
      <p:pic>
        <p:nvPicPr>
          <p:cNvPr id="10242" name="Picture 2" descr="undefined">
            <a:extLst>
              <a:ext uri="{FF2B5EF4-FFF2-40B4-BE49-F238E27FC236}">
                <a16:creationId xmlns:a16="http://schemas.microsoft.com/office/drawing/2014/main" id="{240C874E-A41B-2366-3618-CE96A845161F}"/>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5672" t="22819" r="18564" b="13184"/>
          <a:stretch/>
        </p:blipFill>
        <p:spPr bwMode="auto">
          <a:xfrm>
            <a:off x="1467554" y="2528713"/>
            <a:ext cx="5644445" cy="1986844"/>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9737FF1D-35AB-6092-166F-C64CD2D5DB0F}"/>
              </a:ext>
            </a:extLst>
          </p:cNvPr>
          <p:cNvSpPr txBox="1"/>
          <p:nvPr/>
        </p:nvSpPr>
        <p:spPr>
          <a:xfrm>
            <a:off x="6897511" y="2344047"/>
            <a:ext cx="5125156" cy="3785652"/>
          </a:xfrm>
          <a:prstGeom prst="rect">
            <a:avLst/>
          </a:prstGeom>
          <a:noFill/>
        </p:spPr>
        <p:txBody>
          <a:bodyPr wrap="square">
            <a:spAutoFit/>
          </a:bodyPr>
          <a:lstStyle/>
          <a:p>
            <a:pPr marL="742950" lvl="1" indent="-285750">
              <a:buFont typeface="Arial" panose="020B0604020202020204" pitchFamily="34" charset="0"/>
              <a:buChar char="•"/>
            </a:pPr>
            <a:r>
              <a:rPr lang="pt-BR" sz="2400" b="1" dirty="0"/>
              <a:t>Valores</a:t>
            </a:r>
          </a:p>
          <a:p>
            <a:pPr marL="1200150" lvl="2" indent="-285750">
              <a:buFont typeface="Arial" panose="020B0604020202020204" pitchFamily="34" charset="0"/>
              <a:buChar char="•"/>
            </a:pPr>
            <a:r>
              <a:rPr lang="pt-BR" b="1" i="0" dirty="0">
                <a:solidFill>
                  <a:srgbClr val="001D35"/>
                </a:solidFill>
                <a:effectLst/>
                <a:latin typeface="Google Sans"/>
              </a:rPr>
              <a:t>Foco no usuário acima de tudo</a:t>
            </a:r>
            <a:endParaRPr lang="pt-BR" i="0" dirty="0">
              <a:solidFill>
                <a:srgbClr val="001D35"/>
              </a:solidFill>
              <a:effectLst/>
              <a:latin typeface="Google Sans"/>
            </a:endParaRPr>
          </a:p>
          <a:p>
            <a:pPr marL="1200150" lvl="2" indent="-285750">
              <a:buFont typeface="Arial" panose="020B0604020202020204" pitchFamily="34" charset="0"/>
              <a:buChar char="•"/>
            </a:pPr>
            <a:r>
              <a:rPr lang="pt-BR" b="1" i="0" dirty="0">
                <a:solidFill>
                  <a:srgbClr val="001D35"/>
                </a:solidFill>
                <a:effectLst/>
                <a:latin typeface="Google Sans"/>
              </a:rPr>
              <a:t>É melhor fazer uma coisa desde que seja muito bem</a:t>
            </a:r>
            <a:endParaRPr lang="pt-BR" b="1" dirty="0">
              <a:solidFill>
                <a:srgbClr val="001D35"/>
              </a:solidFill>
              <a:latin typeface="Google Sans"/>
            </a:endParaRPr>
          </a:p>
          <a:p>
            <a:pPr marL="1200150" lvl="2" indent="-285750">
              <a:buFont typeface="Arial" panose="020B0604020202020204" pitchFamily="34" charset="0"/>
              <a:buChar char="•"/>
            </a:pPr>
            <a:r>
              <a:rPr lang="pt-BR" b="1" i="0" dirty="0">
                <a:solidFill>
                  <a:srgbClr val="001D35"/>
                </a:solidFill>
                <a:effectLst/>
                <a:latin typeface="Google Sans"/>
              </a:rPr>
              <a:t>Rápido é melhor do que devagar</a:t>
            </a:r>
          </a:p>
          <a:p>
            <a:pPr marL="1200150" lvl="2" indent="-285750">
              <a:buFont typeface="Arial" panose="020B0604020202020204" pitchFamily="34" charset="0"/>
              <a:buChar char="•"/>
            </a:pPr>
            <a:r>
              <a:rPr lang="pt-BR" b="1" i="0" dirty="0">
                <a:solidFill>
                  <a:srgbClr val="001D35"/>
                </a:solidFill>
                <a:effectLst/>
                <a:latin typeface="Google Sans"/>
              </a:rPr>
              <a:t>A democracia na web funciona</a:t>
            </a:r>
            <a:endParaRPr lang="pt-BR" b="1" dirty="0">
              <a:solidFill>
                <a:srgbClr val="001D35"/>
              </a:solidFill>
              <a:latin typeface="Google Sans"/>
            </a:endParaRPr>
          </a:p>
          <a:p>
            <a:pPr marL="1200150" lvl="2" indent="-285750">
              <a:buFont typeface="Arial" panose="020B0604020202020204" pitchFamily="34" charset="0"/>
              <a:buChar char="•"/>
            </a:pPr>
            <a:r>
              <a:rPr lang="pt-BR" b="1" i="0" dirty="0">
                <a:solidFill>
                  <a:srgbClr val="001D35"/>
                </a:solidFill>
                <a:effectLst/>
                <a:latin typeface="Google Sans"/>
              </a:rPr>
              <a:t>Você pode ganhar dinheiro sem fazer o mal</a:t>
            </a:r>
          </a:p>
          <a:p>
            <a:pPr marL="1200150" lvl="2" indent="-285750">
              <a:buFont typeface="Arial" panose="020B0604020202020204" pitchFamily="34" charset="0"/>
              <a:buChar char="•"/>
            </a:pPr>
            <a:r>
              <a:rPr lang="pt-BR" b="1" i="0" dirty="0">
                <a:solidFill>
                  <a:srgbClr val="001D35"/>
                </a:solidFill>
                <a:effectLst/>
                <a:latin typeface="Google Sans"/>
              </a:rPr>
              <a:t>Sempre tem mais informação lá fora</a:t>
            </a:r>
            <a:endParaRPr lang="pt-BR" b="1" dirty="0">
              <a:solidFill>
                <a:srgbClr val="001D35"/>
              </a:solidFill>
              <a:latin typeface="Google Sans"/>
            </a:endParaRPr>
          </a:p>
          <a:p>
            <a:pPr marL="1200150" lvl="2" indent="-285750">
              <a:buFont typeface="Arial" panose="020B0604020202020204" pitchFamily="34" charset="0"/>
              <a:buChar char="•"/>
            </a:pPr>
            <a:r>
              <a:rPr lang="pt-BR" b="1" i="0" dirty="0">
                <a:solidFill>
                  <a:srgbClr val="001D35"/>
                </a:solidFill>
                <a:effectLst/>
                <a:latin typeface="Google Sans"/>
              </a:rPr>
              <a:t>A necessidade de informação ultrapassa todas as fronteiras</a:t>
            </a:r>
          </a:p>
          <a:p>
            <a:pPr marL="1200150" lvl="2" indent="-285750">
              <a:buFont typeface="Arial" panose="020B0604020202020204" pitchFamily="34" charset="0"/>
              <a:buChar char="•"/>
            </a:pPr>
            <a:r>
              <a:rPr lang="pt-BR" b="1" i="0" dirty="0">
                <a:solidFill>
                  <a:srgbClr val="001D35"/>
                </a:solidFill>
                <a:effectLst/>
                <a:latin typeface="Google Sans"/>
              </a:rPr>
              <a:t>Você pode ser sério sem um terno</a:t>
            </a:r>
            <a:endParaRPr lang="pt-BR" b="1" dirty="0">
              <a:solidFill>
                <a:srgbClr val="001D35"/>
              </a:solidFill>
              <a:latin typeface="Google Sans"/>
            </a:endParaRPr>
          </a:p>
          <a:p>
            <a:pPr marL="1200150" lvl="2" indent="-285750">
              <a:buFont typeface="Arial" panose="020B0604020202020204" pitchFamily="34" charset="0"/>
              <a:buChar char="•"/>
            </a:pPr>
            <a:r>
              <a:rPr lang="pt-BR" b="1" i="0" dirty="0">
                <a:solidFill>
                  <a:srgbClr val="001D35"/>
                </a:solidFill>
                <a:effectLst/>
                <a:latin typeface="Google Sans"/>
              </a:rPr>
              <a:t>Bom é bom o suficiente</a:t>
            </a:r>
            <a:endParaRPr lang="pt-BR" dirty="0"/>
          </a:p>
        </p:txBody>
      </p:sp>
    </p:spTree>
    <p:extLst>
      <p:ext uri="{BB962C8B-B14F-4D97-AF65-F5344CB8AC3E}">
        <p14:creationId xmlns:p14="http://schemas.microsoft.com/office/powerpoint/2010/main" val="135142541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E86B792-DEAD-8549-5F51-5B8DF7A3D6C7}"/>
              </a:ext>
            </a:extLst>
          </p:cNvPr>
          <p:cNvSpPr>
            <a:spLocks noGrp="1"/>
          </p:cNvSpPr>
          <p:nvPr>
            <p:ph type="title"/>
          </p:nvPr>
        </p:nvSpPr>
        <p:spPr/>
        <p:txBody>
          <a:bodyPr/>
          <a:lstStyle/>
          <a:p>
            <a:r>
              <a:rPr lang="pt-BR" dirty="0"/>
              <a:t>Exemplos de MVV</a:t>
            </a:r>
          </a:p>
        </p:txBody>
      </p:sp>
      <p:sp>
        <p:nvSpPr>
          <p:cNvPr id="3" name="Espaço Reservado para Conteúdo 2">
            <a:extLst>
              <a:ext uri="{FF2B5EF4-FFF2-40B4-BE49-F238E27FC236}">
                <a16:creationId xmlns:a16="http://schemas.microsoft.com/office/drawing/2014/main" id="{EBF93E15-2690-FDDB-77A9-78AFA8AF6D4E}"/>
              </a:ext>
            </a:extLst>
          </p:cNvPr>
          <p:cNvSpPr>
            <a:spLocks noGrp="1"/>
          </p:cNvSpPr>
          <p:nvPr>
            <p:ph idx="1"/>
          </p:nvPr>
        </p:nvSpPr>
        <p:spPr/>
        <p:txBody>
          <a:bodyPr/>
          <a:lstStyle/>
          <a:p>
            <a:r>
              <a:rPr lang="pt-BR" dirty="0"/>
              <a:t>Qual será o do projeto de vocês?</a:t>
            </a:r>
          </a:p>
        </p:txBody>
      </p:sp>
    </p:spTree>
    <p:extLst>
      <p:ext uri="{BB962C8B-B14F-4D97-AF65-F5344CB8AC3E}">
        <p14:creationId xmlns:p14="http://schemas.microsoft.com/office/powerpoint/2010/main" val="407346790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BF9328-53C4-85D3-D518-129910D3541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E1191DF-AA4E-04A1-5CF2-EF7436E27F38}"/>
              </a:ext>
            </a:extLst>
          </p:cNvPr>
          <p:cNvSpPr>
            <a:spLocks noGrp="1"/>
          </p:cNvSpPr>
          <p:nvPr>
            <p:ph type="title"/>
          </p:nvPr>
        </p:nvSpPr>
        <p:spPr/>
        <p:txBody>
          <a:bodyPr/>
          <a:lstStyle/>
          <a:p>
            <a:r>
              <a:rPr lang="pt-BR" dirty="0"/>
              <a:t>Objetivos de hoje</a:t>
            </a:r>
          </a:p>
        </p:txBody>
      </p:sp>
      <p:sp>
        <p:nvSpPr>
          <p:cNvPr id="3" name="Espaço Reservado para Conteúdo 2">
            <a:extLst>
              <a:ext uri="{FF2B5EF4-FFF2-40B4-BE49-F238E27FC236}">
                <a16:creationId xmlns:a16="http://schemas.microsoft.com/office/drawing/2014/main" id="{19E79EB2-A8B9-2DC3-5E9D-F22845C10181}"/>
              </a:ext>
            </a:extLst>
          </p:cNvPr>
          <p:cNvSpPr>
            <a:spLocks noGrp="1"/>
          </p:cNvSpPr>
          <p:nvPr>
            <p:ph idx="1"/>
          </p:nvPr>
        </p:nvSpPr>
        <p:spPr/>
        <p:txBody>
          <a:bodyPr/>
          <a:lstStyle/>
          <a:p>
            <a:r>
              <a:rPr lang="pt-BR" sz="2400" b="1" dirty="0"/>
              <a:t>Alinhamento de projetos aos negócios da organização </a:t>
            </a:r>
          </a:p>
          <a:p>
            <a:pPr lvl="1">
              <a:spcBef>
                <a:spcPts val="600"/>
              </a:spcBef>
            </a:pPr>
            <a:r>
              <a:rPr lang="pt-BR" sz="2000" dirty="0"/>
              <a:t>Estratégia organizacional e seus enquadramentos</a:t>
            </a:r>
          </a:p>
          <a:p>
            <a:pPr lvl="1">
              <a:spcBef>
                <a:spcPts val="600"/>
              </a:spcBef>
            </a:pPr>
            <a:r>
              <a:rPr lang="pt-BR" sz="2000" b="1" dirty="0"/>
              <a:t>Alinhamento estratégico</a:t>
            </a:r>
          </a:p>
          <a:p>
            <a:pPr lvl="1">
              <a:spcBef>
                <a:spcPts val="600"/>
              </a:spcBef>
            </a:pPr>
            <a:r>
              <a:rPr lang="pt-BR" sz="2000" dirty="0"/>
              <a:t>Valoração do projeto</a:t>
            </a:r>
          </a:p>
          <a:p>
            <a:pPr>
              <a:spcBef>
                <a:spcPts val="2400"/>
              </a:spcBef>
            </a:pPr>
            <a:r>
              <a:rPr lang="pt-BR" sz="2400" dirty="0"/>
              <a:t>Ferramentas de gestão estratégica</a:t>
            </a:r>
          </a:p>
          <a:p>
            <a:pPr lvl="1">
              <a:spcBef>
                <a:spcPts val="600"/>
              </a:spcBef>
            </a:pPr>
            <a:r>
              <a:rPr lang="pt-BR" sz="2000" dirty="0"/>
              <a:t>Balanced </a:t>
            </a:r>
            <a:r>
              <a:rPr lang="pt-BR" sz="2000" dirty="0" err="1"/>
              <a:t>scorecard</a:t>
            </a:r>
            <a:endParaRPr lang="pt-BR" sz="2000" dirty="0"/>
          </a:p>
          <a:p>
            <a:pPr lvl="1">
              <a:spcBef>
                <a:spcPts val="600"/>
              </a:spcBef>
            </a:pPr>
            <a:r>
              <a:rPr lang="pt-BR" sz="2000" dirty="0"/>
              <a:t>Canvas Project Model</a:t>
            </a:r>
          </a:p>
          <a:p>
            <a:pPr lvl="1">
              <a:spcBef>
                <a:spcPts val="600"/>
              </a:spcBef>
            </a:pPr>
            <a:r>
              <a:rPr lang="pt-BR" sz="2000" dirty="0"/>
              <a:t>KPI</a:t>
            </a:r>
          </a:p>
          <a:p>
            <a:pPr lvl="1">
              <a:spcBef>
                <a:spcPts val="600"/>
              </a:spcBef>
            </a:pPr>
            <a:r>
              <a:rPr lang="pt-BR" sz="2000" dirty="0" err="1"/>
              <a:t>OKRs</a:t>
            </a:r>
            <a:endParaRPr lang="pt-BR" sz="2000" dirty="0"/>
          </a:p>
          <a:p>
            <a:pPr>
              <a:spcBef>
                <a:spcPts val="2400"/>
              </a:spcBef>
            </a:pPr>
            <a:r>
              <a:rPr lang="pt-BR" sz="2400" dirty="0"/>
              <a:t>Aplicação ao projeto semestral</a:t>
            </a:r>
          </a:p>
          <a:p>
            <a:endParaRPr lang="pt-BR" dirty="0"/>
          </a:p>
        </p:txBody>
      </p:sp>
      <p:sp>
        <p:nvSpPr>
          <p:cNvPr id="4" name="Retângulo 3">
            <a:extLst>
              <a:ext uri="{FF2B5EF4-FFF2-40B4-BE49-F238E27FC236}">
                <a16:creationId xmlns:a16="http://schemas.microsoft.com/office/drawing/2014/main" id="{AD4D72DC-0E61-5B1E-25F4-C597BFAA812A}"/>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87366238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CC1D30-3FF5-FF2C-B5D7-7F3A20B4677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8CD2FFD-31B6-E19D-EB7F-B5A8B853D98D}"/>
              </a:ext>
            </a:extLst>
          </p:cNvPr>
          <p:cNvSpPr>
            <a:spLocks noGrp="1"/>
          </p:cNvSpPr>
          <p:nvPr>
            <p:ph type="title"/>
          </p:nvPr>
        </p:nvSpPr>
        <p:spPr/>
        <p:txBody>
          <a:bodyPr/>
          <a:lstStyle/>
          <a:p>
            <a:r>
              <a:rPr lang="pt-BR" dirty="0"/>
              <a:t>Exemplos de MVV</a:t>
            </a:r>
          </a:p>
        </p:txBody>
      </p:sp>
      <p:sp>
        <p:nvSpPr>
          <p:cNvPr id="3" name="Espaço Reservado para Conteúdo 2">
            <a:extLst>
              <a:ext uri="{FF2B5EF4-FFF2-40B4-BE49-F238E27FC236}">
                <a16:creationId xmlns:a16="http://schemas.microsoft.com/office/drawing/2014/main" id="{10052A01-BD33-7A17-02D6-6C998BA46495}"/>
              </a:ext>
            </a:extLst>
          </p:cNvPr>
          <p:cNvSpPr>
            <a:spLocks noGrp="1"/>
          </p:cNvSpPr>
          <p:nvPr>
            <p:ph idx="1"/>
          </p:nvPr>
        </p:nvSpPr>
        <p:spPr/>
        <p:txBody>
          <a:bodyPr/>
          <a:lstStyle/>
          <a:p>
            <a:r>
              <a:rPr lang="pt-BR" dirty="0" err="1"/>
              <a:t>Amazon</a:t>
            </a:r>
            <a:endParaRPr lang="pt-BR" dirty="0"/>
          </a:p>
          <a:p>
            <a:pPr lvl="1"/>
            <a:r>
              <a:rPr lang="pt-BR" dirty="0"/>
              <a:t>Visão: “ser a empresa mais centrada no cliente do mundo”</a:t>
            </a:r>
          </a:p>
          <a:p>
            <a:pPr lvl="2"/>
            <a:r>
              <a:rPr lang="pt-BR" dirty="0"/>
              <a:t>Projetos de software:</a:t>
            </a:r>
          </a:p>
          <a:p>
            <a:pPr lvl="3"/>
            <a:r>
              <a:rPr lang="pt-BR" dirty="0"/>
              <a:t>Algoritmos de recomendação</a:t>
            </a:r>
          </a:p>
          <a:p>
            <a:pPr lvl="3"/>
            <a:r>
              <a:rPr lang="pt-BR" dirty="0"/>
              <a:t>Sistema de logística avançada</a:t>
            </a:r>
          </a:p>
          <a:p>
            <a:pPr lvl="3"/>
            <a:r>
              <a:rPr lang="pt-BR" dirty="0"/>
              <a:t>App Store</a:t>
            </a:r>
          </a:p>
          <a:p>
            <a:pPr lvl="3"/>
            <a:r>
              <a:rPr lang="pt-BR" dirty="0" err="1"/>
              <a:t>Alexa</a:t>
            </a:r>
            <a:endParaRPr lang="pt-BR" dirty="0"/>
          </a:p>
          <a:p>
            <a:pPr lvl="3"/>
            <a:endParaRPr lang="pt-BR" dirty="0"/>
          </a:p>
          <a:p>
            <a:r>
              <a:rPr lang="pt-BR" dirty="0"/>
              <a:t>Fictícia em saúde</a:t>
            </a:r>
          </a:p>
          <a:p>
            <a:pPr lvl="1"/>
            <a:r>
              <a:rPr lang="pt-BR" dirty="0"/>
              <a:t>Visão: “ampliar o acesso à saúde preventiva”</a:t>
            </a:r>
          </a:p>
          <a:p>
            <a:pPr lvl="2"/>
            <a:r>
              <a:rPr lang="pt-BR" dirty="0"/>
              <a:t>Projeto de software:</a:t>
            </a:r>
          </a:p>
          <a:p>
            <a:pPr lvl="3"/>
            <a:r>
              <a:rPr lang="pt-BR" dirty="0"/>
              <a:t>Aplicativo de telemedicina focado em checkups rápidos</a:t>
            </a:r>
          </a:p>
          <a:p>
            <a:pPr lvl="2"/>
            <a:endParaRPr lang="pt-BR" dirty="0"/>
          </a:p>
        </p:txBody>
      </p:sp>
    </p:spTree>
    <p:extLst>
      <p:ext uri="{BB962C8B-B14F-4D97-AF65-F5344CB8AC3E}">
        <p14:creationId xmlns:p14="http://schemas.microsoft.com/office/powerpoint/2010/main" val="843203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961732-B32E-C08C-AD7F-C1F557A2AAC4}"/>
              </a:ext>
            </a:extLst>
          </p:cNvPr>
          <p:cNvSpPr>
            <a:spLocks noGrp="1"/>
          </p:cNvSpPr>
          <p:nvPr>
            <p:ph type="title"/>
          </p:nvPr>
        </p:nvSpPr>
        <p:spPr/>
        <p:txBody>
          <a:bodyPr/>
          <a:lstStyle/>
          <a:p>
            <a:r>
              <a:rPr lang="pt-BR" dirty="0"/>
              <a:t>Estratégia organizacional</a:t>
            </a:r>
          </a:p>
        </p:txBody>
      </p:sp>
      <p:sp>
        <p:nvSpPr>
          <p:cNvPr id="3" name="Espaço Reservado para Conteúdo 2">
            <a:extLst>
              <a:ext uri="{FF2B5EF4-FFF2-40B4-BE49-F238E27FC236}">
                <a16:creationId xmlns:a16="http://schemas.microsoft.com/office/drawing/2014/main" id="{05BEE937-B5C7-0845-101E-78289B8016CB}"/>
              </a:ext>
            </a:extLst>
          </p:cNvPr>
          <p:cNvSpPr>
            <a:spLocks noGrp="1"/>
          </p:cNvSpPr>
          <p:nvPr>
            <p:ph idx="1"/>
          </p:nvPr>
        </p:nvSpPr>
        <p:spPr/>
        <p:txBody>
          <a:bodyPr/>
          <a:lstStyle/>
          <a:p>
            <a:r>
              <a:rPr lang="pt-BR" dirty="0"/>
              <a:t>Projetos de software não podem ser iniciados apenas por demanda técnica</a:t>
            </a:r>
          </a:p>
          <a:p>
            <a:pPr lvl="1"/>
            <a:r>
              <a:rPr lang="pt-BR" dirty="0"/>
              <a:t>“precisamos de um novo sistema porque o antigo está desatualizado”</a:t>
            </a:r>
          </a:p>
          <a:p>
            <a:pPr lvl="1"/>
            <a:endParaRPr lang="pt-BR" dirty="0"/>
          </a:p>
          <a:p>
            <a:r>
              <a:rPr lang="pt-BR" dirty="0"/>
              <a:t>Se não estiverem conectados à missão/visão, </a:t>
            </a:r>
            <a:r>
              <a:rPr lang="pt-BR" b="1" dirty="0"/>
              <a:t>viram custos operacionais em vez de investimentos estratégicos</a:t>
            </a:r>
          </a:p>
        </p:txBody>
      </p:sp>
      <p:pic>
        <p:nvPicPr>
          <p:cNvPr id="14338" name="Picture 2" descr="Alinhamento Estratégico - Administração e Gestão">
            <a:extLst>
              <a:ext uri="{FF2B5EF4-FFF2-40B4-BE49-F238E27FC236}">
                <a16:creationId xmlns:a16="http://schemas.microsoft.com/office/drawing/2014/main" id="{26319965-1CB2-624C-0B4B-2027A612F4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4399" y="4394060"/>
            <a:ext cx="4962525" cy="2209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8572093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234908-6380-D416-F007-D769D4C5F9DA}"/>
              </a:ext>
            </a:extLst>
          </p:cNvPr>
          <p:cNvSpPr>
            <a:spLocks noGrp="1"/>
          </p:cNvSpPr>
          <p:nvPr>
            <p:ph type="title"/>
          </p:nvPr>
        </p:nvSpPr>
        <p:spPr/>
        <p:txBody>
          <a:bodyPr/>
          <a:lstStyle/>
          <a:p>
            <a:r>
              <a:rPr lang="pt-BR" dirty="0"/>
              <a:t>Projetos de SW como vetores</a:t>
            </a:r>
          </a:p>
        </p:txBody>
      </p:sp>
      <p:sp>
        <p:nvSpPr>
          <p:cNvPr id="3" name="Espaço Reservado para Conteúdo 2">
            <a:extLst>
              <a:ext uri="{FF2B5EF4-FFF2-40B4-BE49-F238E27FC236}">
                <a16:creationId xmlns:a16="http://schemas.microsoft.com/office/drawing/2014/main" id="{53FC12A0-BDBA-8028-E1BF-EFA9394CDF9C}"/>
              </a:ext>
            </a:extLst>
          </p:cNvPr>
          <p:cNvSpPr>
            <a:spLocks noGrp="1"/>
          </p:cNvSpPr>
          <p:nvPr>
            <p:ph idx="1"/>
          </p:nvPr>
        </p:nvSpPr>
        <p:spPr/>
        <p:txBody>
          <a:bodyPr/>
          <a:lstStyle/>
          <a:p>
            <a:r>
              <a:rPr lang="pt-BR" dirty="0"/>
              <a:t>Projetos são instrumentos para </a:t>
            </a:r>
            <a:r>
              <a:rPr lang="pt-BR" b="1" dirty="0"/>
              <a:t>transformar a estratégia em realidade!</a:t>
            </a:r>
          </a:p>
          <a:p>
            <a:pPr lvl="1"/>
            <a:r>
              <a:rPr lang="pt-BR" dirty="0"/>
              <a:t>Novos produtos</a:t>
            </a:r>
          </a:p>
          <a:p>
            <a:pPr lvl="1"/>
            <a:r>
              <a:rPr lang="pt-BR" dirty="0"/>
              <a:t>Melhorias internas, eficiência operacional</a:t>
            </a:r>
          </a:p>
          <a:p>
            <a:pPr lvl="1"/>
            <a:r>
              <a:rPr lang="pt-BR" dirty="0"/>
              <a:t>Personalização</a:t>
            </a:r>
          </a:p>
          <a:p>
            <a:pPr lvl="1"/>
            <a:r>
              <a:rPr lang="pt-BR" dirty="0"/>
              <a:t>Experiência aumentada</a:t>
            </a:r>
          </a:p>
          <a:p>
            <a:pPr lvl="1"/>
            <a:r>
              <a:rPr lang="pt-BR" dirty="0"/>
              <a:t>Sustentabilidade</a:t>
            </a:r>
          </a:p>
        </p:txBody>
      </p:sp>
    </p:spTree>
    <p:extLst>
      <p:ext uri="{BB962C8B-B14F-4D97-AF65-F5344CB8AC3E}">
        <p14:creationId xmlns:p14="http://schemas.microsoft.com/office/powerpoint/2010/main" val="26602269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Effect transition="in" filter="fade">
                                      <p:cBhvr>
                                        <p:cTn id="13" dur="500"/>
                                        <p:tgtEl>
                                          <p:spTgt spid="3">
                                            <p:txEl>
                                              <p:pRg st="3" end="3"/>
                                            </p:txEl>
                                          </p:spTgt>
                                        </p:tgtEl>
                                      </p:cBhvr>
                                    </p:animEffect>
                                  </p:childTnLst>
                                </p:cTn>
                              </p:par>
                              <p:par>
                                <p:cTn id="14" presetID="10" presetClass="entr" presetSubtype="0" fill="hold" nodeType="withEffect">
                                  <p:stCondLst>
                                    <p:cond delay="0"/>
                                  </p:stCondLst>
                                  <p:childTnLst>
                                    <p:set>
                                      <p:cBhvr>
                                        <p:cTn id="15" dur="1" fill="hold">
                                          <p:stCondLst>
                                            <p:cond delay="0"/>
                                          </p:stCondLst>
                                        </p:cTn>
                                        <p:tgtEl>
                                          <p:spTgt spid="3">
                                            <p:txEl>
                                              <p:pRg st="4" end="4"/>
                                            </p:txEl>
                                          </p:spTgt>
                                        </p:tgtEl>
                                        <p:attrNameLst>
                                          <p:attrName>style.visibility</p:attrName>
                                        </p:attrNameLst>
                                      </p:cBhvr>
                                      <p:to>
                                        <p:strVal val="visible"/>
                                      </p:to>
                                    </p:set>
                                    <p:animEffect transition="in" filter="fade">
                                      <p:cBhvr>
                                        <p:cTn id="16" dur="500"/>
                                        <p:tgtEl>
                                          <p:spTgt spid="3">
                                            <p:txEl>
                                              <p:pRg st="4" end="4"/>
                                            </p:txEl>
                                          </p:spTgt>
                                        </p:tgtEl>
                                      </p:cBhvr>
                                    </p:animEffect>
                                  </p:childTnLst>
                                </p:cTn>
                              </p:par>
                              <p:par>
                                <p:cTn id="17" presetID="10" presetClass="entr" presetSubtype="0" fill="hold" nodeType="with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animEffect transition="in" filter="fade">
                                      <p:cBhvr>
                                        <p:cTn id="19"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ADBF6-99BF-2122-04A4-32114AA187D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72247EE-B253-5B99-7BCD-010C9D12275D}"/>
              </a:ext>
            </a:extLst>
          </p:cNvPr>
          <p:cNvSpPr>
            <a:spLocks noGrp="1"/>
          </p:cNvSpPr>
          <p:nvPr>
            <p:ph type="title"/>
          </p:nvPr>
        </p:nvSpPr>
        <p:spPr/>
        <p:txBody>
          <a:bodyPr/>
          <a:lstStyle/>
          <a:p>
            <a:r>
              <a:rPr lang="pt-BR" dirty="0"/>
              <a:t>Projetos de SW como vetores</a:t>
            </a:r>
          </a:p>
        </p:txBody>
      </p:sp>
      <p:sp>
        <p:nvSpPr>
          <p:cNvPr id="3" name="Espaço Reservado para Conteúdo 2">
            <a:extLst>
              <a:ext uri="{FF2B5EF4-FFF2-40B4-BE49-F238E27FC236}">
                <a16:creationId xmlns:a16="http://schemas.microsoft.com/office/drawing/2014/main" id="{123C4383-A080-362C-E391-89CD42EA1442}"/>
              </a:ext>
            </a:extLst>
          </p:cNvPr>
          <p:cNvSpPr>
            <a:spLocks noGrp="1"/>
          </p:cNvSpPr>
          <p:nvPr>
            <p:ph idx="1"/>
          </p:nvPr>
        </p:nvSpPr>
        <p:spPr/>
        <p:txBody>
          <a:bodyPr/>
          <a:lstStyle/>
          <a:p>
            <a:pPr>
              <a:spcBef>
                <a:spcPts val="2400"/>
              </a:spcBef>
            </a:pPr>
            <a:r>
              <a:rPr lang="pt-BR" dirty="0"/>
              <a:t>Muitas empresas iniciam projetos de software porque “a tecnologia existe” e não porque há um objetivo de negócio;</a:t>
            </a:r>
          </a:p>
          <a:p>
            <a:pPr>
              <a:spcBef>
                <a:spcPts val="2400"/>
              </a:spcBef>
            </a:pPr>
            <a:r>
              <a:rPr lang="pt-BR" b="1" dirty="0"/>
              <a:t>Resultado</a:t>
            </a:r>
            <a:r>
              <a:rPr lang="pt-BR" dirty="0"/>
              <a:t>: sistemas sofisticados mas sem impacto estratégico</a:t>
            </a:r>
          </a:p>
          <a:p>
            <a:pPr lvl="1">
              <a:spcBef>
                <a:spcPts val="2400"/>
              </a:spcBef>
            </a:pPr>
            <a:r>
              <a:rPr lang="pt-BR" dirty="0"/>
              <a:t>Funcionalidades nunca usadas</a:t>
            </a:r>
          </a:p>
        </p:txBody>
      </p:sp>
      <p:sp>
        <p:nvSpPr>
          <p:cNvPr id="5" name="Retângulo: Cantos Arredondados 4">
            <a:extLst>
              <a:ext uri="{FF2B5EF4-FFF2-40B4-BE49-F238E27FC236}">
                <a16:creationId xmlns:a16="http://schemas.microsoft.com/office/drawing/2014/main" id="{CE548A75-A7D4-B764-F4BA-12ACEC2A0DF5}"/>
              </a:ext>
            </a:extLst>
          </p:cNvPr>
          <p:cNvSpPr/>
          <p:nvPr/>
        </p:nvSpPr>
        <p:spPr>
          <a:xfrm>
            <a:off x="7349066" y="4222044"/>
            <a:ext cx="3070578" cy="1591734"/>
          </a:xfrm>
          <a:prstGeom prst="roundRect">
            <a:avLst>
              <a:gd name="adj" fmla="val 11702"/>
            </a:avLst>
          </a:prstGeom>
        </p:spPr>
        <p:style>
          <a:lnRef idx="1">
            <a:schemeClr val="accent4"/>
          </a:lnRef>
          <a:fillRef idx="2">
            <a:schemeClr val="accent4"/>
          </a:fillRef>
          <a:effectRef idx="1">
            <a:schemeClr val="accent4"/>
          </a:effectRef>
          <a:fontRef idx="minor">
            <a:schemeClr val="dk1"/>
          </a:fontRef>
        </p:style>
        <p:txBody>
          <a:bodyPr rtlCol="0" anchor="ctr"/>
          <a:lstStyle/>
          <a:p>
            <a:pPr algn="ctr"/>
            <a:r>
              <a:rPr lang="pt-BR" sz="2400" dirty="0"/>
              <a:t>Fonte de frustração de engenheiros!</a:t>
            </a:r>
          </a:p>
        </p:txBody>
      </p:sp>
    </p:spTree>
    <p:extLst>
      <p:ext uri="{BB962C8B-B14F-4D97-AF65-F5344CB8AC3E}">
        <p14:creationId xmlns:p14="http://schemas.microsoft.com/office/powerpoint/2010/main" val="9083564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500"/>
                                        <p:tgtEl>
                                          <p:spTgt spid="3">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2" end="2"/>
                                            </p:txEl>
                                          </p:spTgt>
                                        </p:tgtEl>
                                        <p:attrNameLst>
                                          <p:attrName>style.visibility</p:attrName>
                                        </p:attrNameLst>
                                      </p:cBhvr>
                                      <p:to>
                                        <p:strVal val="visible"/>
                                      </p:to>
                                    </p:set>
                                    <p:animEffect transition="in" filter="fade">
                                      <p:cBhvr>
                                        <p:cTn id="10" dur="500"/>
                                        <p:tgtEl>
                                          <p:spTgt spid="3">
                                            <p:txEl>
                                              <p:pRg st="2" end="2"/>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0B2E74-B944-F36A-C7FB-EDB2E0CD306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1CD1DD9-1F6F-91A0-14BC-4A9AA5C05CB4}"/>
              </a:ext>
            </a:extLst>
          </p:cNvPr>
          <p:cNvSpPr>
            <a:spLocks noGrp="1"/>
          </p:cNvSpPr>
          <p:nvPr>
            <p:ph type="title"/>
          </p:nvPr>
        </p:nvSpPr>
        <p:spPr/>
        <p:txBody>
          <a:bodyPr/>
          <a:lstStyle/>
          <a:p>
            <a:r>
              <a:rPr lang="pt-BR" dirty="0"/>
              <a:t>Exemplos</a:t>
            </a:r>
          </a:p>
        </p:txBody>
      </p:sp>
      <p:sp>
        <p:nvSpPr>
          <p:cNvPr id="3" name="Espaço Reservado para Conteúdo 2">
            <a:extLst>
              <a:ext uri="{FF2B5EF4-FFF2-40B4-BE49-F238E27FC236}">
                <a16:creationId xmlns:a16="http://schemas.microsoft.com/office/drawing/2014/main" id="{B478FF12-FA53-AAD0-C11D-7E900EA969CE}"/>
              </a:ext>
            </a:extLst>
          </p:cNvPr>
          <p:cNvSpPr>
            <a:spLocks noGrp="1"/>
          </p:cNvSpPr>
          <p:nvPr>
            <p:ph idx="1"/>
          </p:nvPr>
        </p:nvSpPr>
        <p:spPr>
          <a:xfrm>
            <a:off x="838200" y="1825625"/>
            <a:ext cx="5967845" cy="4351338"/>
          </a:xfrm>
        </p:spPr>
        <p:txBody>
          <a:bodyPr>
            <a:normAutofit/>
          </a:bodyPr>
          <a:lstStyle/>
          <a:p>
            <a:r>
              <a:rPr lang="pt-BR" dirty="0"/>
              <a:t>Nubank</a:t>
            </a:r>
          </a:p>
          <a:p>
            <a:pPr lvl="1">
              <a:spcBef>
                <a:spcPts val="1800"/>
              </a:spcBef>
            </a:pPr>
            <a:r>
              <a:rPr lang="pt-BR" b="1" dirty="0"/>
              <a:t>Estratégia: democratizar serviços financeiros</a:t>
            </a:r>
          </a:p>
          <a:p>
            <a:pPr lvl="1">
              <a:spcBef>
                <a:spcPts val="1800"/>
              </a:spcBef>
            </a:pPr>
            <a:r>
              <a:rPr lang="pt-BR" dirty="0"/>
              <a:t>Projeto de software:</a:t>
            </a:r>
          </a:p>
          <a:p>
            <a:pPr lvl="2">
              <a:spcBef>
                <a:spcPts val="1200"/>
              </a:spcBef>
            </a:pPr>
            <a:r>
              <a:rPr lang="pt-BR" dirty="0"/>
              <a:t>App simples, com abertura de conta em 5 minutos, sem burocracia</a:t>
            </a:r>
          </a:p>
          <a:p>
            <a:pPr lvl="2">
              <a:spcBef>
                <a:spcPts val="1200"/>
              </a:spcBef>
            </a:pPr>
            <a:r>
              <a:rPr lang="pt-BR" dirty="0"/>
              <a:t>Cartão sem tarifa</a:t>
            </a:r>
          </a:p>
          <a:p>
            <a:pPr lvl="2">
              <a:spcBef>
                <a:spcPts val="1200"/>
              </a:spcBef>
            </a:pPr>
            <a:r>
              <a:rPr lang="pt-BR" dirty="0"/>
              <a:t>Atendimento 100% digital</a:t>
            </a:r>
          </a:p>
        </p:txBody>
      </p:sp>
      <p:pic>
        <p:nvPicPr>
          <p:cNvPr id="17410" name="Picture 2" descr="Como abrir uma conta no Nubank pelo celular ou PC • Tecnoblog">
            <a:extLst>
              <a:ext uri="{FF2B5EF4-FFF2-40B4-BE49-F238E27FC236}">
                <a16:creationId xmlns:a16="http://schemas.microsoft.com/office/drawing/2014/main" id="{27A748F8-5E9F-A8A0-CF14-68ABFCB78CC9}"/>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4924" t="8637" r="16326" b="8787"/>
          <a:stretch/>
        </p:blipFill>
        <p:spPr bwMode="auto">
          <a:xfrm>
            <a:off x="6951518" y="1825625"/>
            <a:ext cx="4959991" cy="44680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9311391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6BA2A11-8AC7-74A1-8764-369BC1A99F4C}"/>
              </a:ext>
            </a:extLst>
          </p:cNvPr>
          <p:cNvSpPr>
            <a:spLocks noGrp="1"/>
          </p:cNvSpPr>
          <p:nvPr>
            <p:ph type="title"/>
          </p:nvPr>
        </p:nvSpPr>
        <p:spPr/>
        <p:txBody>
          <a:bodyPr/>
          <a:lstStyle/>
          <a:p>
            <a:r>
              <a:rPr lang="pt-BR" dirty="0"/>
              <a:t>Exemplos bem-sucedidos</a:t>
            </a:r>
          </a:p>
        </p:txBody>
      </p:sp>
      <p:sp>
        <p:nvSpPr>
          <p:cNvPr id="3" name="Espaço Reservado para Conteúdo 2">
            <a:extLst>
              <a:ext uri="{FF2B5EF4-FFF2-40B4-BE49-F238E27FC236}">
                <a16:creationId xmlns:a16="http://schemas.microsoft.com/office/drawing/2014/main" id="{729E0880-9DB4-BDC0-5CA4-6D4543F3701F}"/>
              </a:ext>
            </a:extLst>
          </p:cNvPr>
          <p:cNvSpPr>
            <a:spLocks noGrp="1"/>
          </p:cNvSpPr>
          <p:nvPr>
            <p:ph idx="1"/>
          </p:nvPr>
        </p:nvSpPr>
        <p:spPr>
          <a:xfrm>
            <a:off x="838200" y="1825625"/>
            <a:ext cx="4115637" cy="4351338"/>
          </a:xfrm>
        </p:spPr>
        <p:txBody>
          <a:bodyPr/>
          <a:lstStyle/>
          <a:p>
            <a:r>
              <a:rPr lang="pt-BR" dirty="0"/>
              <a:t>Retrospectiva Spotify</a:t>
            </a:r>
          </a:p>
          <a:p>
            <a:pPr lvl="1">
              <a:spcBef>
                <a:spcPts val="1800"/>
              </a:spcBef>
            </a:pPr>
            <a:r>
              <a:rPr lang="pt-BR" b="1" dirty="0"/>
              <a:t>Estratégia: engajar usuários e aumentar retenção</a:t>
            </a:r>
          </a:p>
          <a:p>
            <a:pPr lvl="1">
              <a:spcBef>
                <a:spcPts val="1800"/>
              </a:spcBef>
            </a:pPr>
            <a:r>
              <a:rPr lang="pt-BR" dirty="0"/>
              <a:t>Projeto de software:</a:t>
            </a:r>
          </a:p>
          <a:p>
            <a:pPr lvl="2">
              <a:spcBef>
                <a:spcPts val="1200"/>
              </a:spcBef>
            </a:pPr>
            <a:r>
              <a:rPr lang="pt-BR" dirty="0"/>
              <a:t>Geração anual de playlists personalizadas</a:t>
            </a:r>
          </a:p>
          <a:p>
            <a:pPr lvl="2">
              <a:spcBef>
                <a:spcPts val="1200"/>
              </a:spcBef>
            </a:pPr>
            <a:r>
              <a:rPr lang="pt-BR" dirty="0"/>
              <a:t>Compartilhamento social</a:t>
            </a:r>
          </a:p>
        </p:txBody>
      </p:sp>
      <p:pic>
        <p:nvPicPr>
          <p:cNvPr id="16386" name="Picture 2" descr="Spotify Wrapped Grips Users for Another Year – Lions' Digest">
            <a:extLst>
              <a:ext uri="{FF2B5EF4-FFF2-40B4-BE49-F238E27FC236}">
                <a16:creationId xmlns:a16="http://schemas.microsoft.com/office/drawing/2014/main" id="{8D1FE061-ECF7-57E1-0A10-075123827FEC}"/>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57" t="12330" r="5170" b="10551"/>
          <a:stretch/>
        </p:blipFill>
        <p:spPr bwMode="auto">
          <a:xfrm>
            <a:off x="4927041" y="2272977"/>
            <a:ext cx="7264959" cy="345663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382062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F4A447-8365-D4FC-92A0-7FD59819504E}"/>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6826A35-D773-9AB2-AC02-5A0C1F71C9C5}"/>
              </a:ext>
            </a:extLst>
          </p:cNvPr>
          <p:cNvSpPr>
            <a:spLocks noGrp="1"/>
          </p:cNvSpPr>
          <p:nvPr>
            <p:ph type="title"/>
          </p:nvPr>
        </p:nvSpPr>
        <p:spPr/>
        <p:txBody>
          <a:bodyPr/>
          <a:lstStyle/>
          <a:p>
            <a:r>
              <a:rPr lang="pt-BR" dirty="0"/>
              <a:t>Exemplos bem-sucedidos</a:t>
            </a:r>
          </a:p>
        </p:txBody>
      </p:sp>
      <p:sp>
        <p:nvSpPr>
          <p:cNvPr id="3" name="Espaço Reservado para Conteúdo 2">
            <a:extLst>
              <a:ext uri="{FF2B5EF4-FFF2-40B4-BE49-F238E27FC236}">
                <a16:creationId xmlns:a16="http://schemas.microsoft.com/office/drawing/2014/main" id="{6444A021-F87F-7FE7-96F5-F4BCAF156139}"/>
              </a:ext>
            </a:extLst>
          </p:cNvPr>
          <p:cNvSpPr>
            <a:spLocks noGrp="1"/>
          </p:cNvSpPr>
          <p:nvPr>
            <p:ph idx="1"/>
          </p:nvPr>
        </p:nvSpPr>
        <p:spPr>
          <a:xfrm>
            <a:off x="838200" y="1825625"/>
            <a:ext cx="5257800" cy="4351338"/>
          </a:xfrm>
        </p:spPr>
        <p:txBody>
          <a:bodyPr/>
          <a:lstStyle/>
          <a:p>
            <a:r>
              <a:rPr lang="pt-BR" dirty="0"/>
              <a:t>Pix</a:t>
            </a:r>
          </a:p>
          <a:p>
            <a:pPr lvl="1">
              <a:spcBef>
                <a:spcPts val="1800"/>
              </a:spcBef>
            </a:pPr>
            <a:r>
              <a:rPr lang="pt-BR" b="1" dirty="0"/>
              <a:t>Estratégia: aumentar a eficiência do sistema financeiro e promover inclusão financeira</a:t>
            </a:r>
          </a:p>
          <a:p>
            <a:pPr lvl="1">
              <a:spcBef>
                <a:spcPts val="1800"/>
              </a:spcBef>
            </a:pPr>
            <a:r>
              <a:rPr lang="pt-BR" dirty="0"/>
              <a:t>Projeto de software:</a:t>
            </a:r>
          </a:p>
          <a:p>
            <a:pPr lvl="2">
              <a:spcBef>
                <a:spcPts val="1200"/>
              </a:spcBef>
            </a:pPr>
            <a:r>
              <a:rPr lang="pt-BR" dirty="0"/>
              <a:t>Plataforma nacional de pagamentos instantâneos </a:t>
            </a:r>
          </a:p>
          <a:p>
            <a:pPr lvl="2">
              <a:spcBef>
                <a:spcPts val="1200"/>
              </a:spcBef>
            </a:pPr>
            <a:r>
              <a:rPr lang="pt-BR" dirty="0"/>
              <a:t>Integração de todas as instituições financeiras do país</a:t>
            </a:r>
          </a:p>
        </p:txBody>
      </p:sp>
      <p:pic>
        <p:nvPicPr>
          <p:cNvPr id="3074" name="Picture 2" descr="Pix – Wikipédia, a enciclopédia livre">
            <a:extLst>
              <a:ext uri="{FF2B5EF4-FFF2-40B4-BE49-F238E27FC236}">
                <a16:creationId xmlns:a16="http://schemas.microsoft.com/office/drawing/2014/main" id="{FB3A47A3-4B5C-1426-C834-972F730767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2734" y="2311854"/>
            <a:ext cx="3737270" cy="1325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7820218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ED07C7F-322F-7514-10E2-268CF4B3EC17}"/>
              </a:ext>
            </a:extLst>
          </p:cNvPr>
          <p:cNvSpPr>
            <a:spLocks noGrp="1"/>
          </p:cNvSpPr>
          <p:nvPr>
            <p:ph type="title"/>
          </p:nvPr>
        </p:nvSpPr>
        <p:spPr/>
        <p:txBody>
          <a:bodyPr/>
          <a:lstStyle/>
          <a:p>
            <a:r>
              <a:rPr lang="pt-BR" dirty="0"/>
              <a:t>Desalinhamento</a:t>
            </a:r>
          </a:p>
        </p:txBody>
      </p:sp>
      <p:sp>
        <p:nvSpPr>
          <p:cNvPr id="3" name="Espaço Reservado para Conteúdo 2">
            <a:extLst>
              <a:ext uri="{FF2B5EF4-FFF2-40B4-BE49-F238E27FC236}">
                <a16:creationId xmlns:a16="http://schemas.microsoft.com/office/drawing/2014/main" id="{948AFCD4-7960-40DC-9DA3-1C63BA211578}"/>
              </a:ext>
            </a:extLst>
          </p:cNvPr>
          <p:cNvSpPr>
            <a:spLocks noGrp="1"/>
          </p:cNvSpPr>
          <p:nvPr>
            <p:ph idx="1"/>
          </p:nvPr>
        </p:nvSpPr>
        <p:spPr/>
        <p:txBody>
          <a:bodyPr/>
          <a:lstStyle/>
          <a:p>
            <a:r>
              <a:rPr lang="pt-BR" dirty="0"/>
              <a:t>Projetos que </a:t>
            </a:r>
            <a:r>
              <a:rPr lang="pt-BR" b="1" dirty="0"/>
              <a:t>entregam</a:t>
            </a:r>
            <a:r>
              <a:rPr lang="pt-BR" dirty="0"/>
              <a:t> escopo técnico </a:t>
            </a:r>
            <a:r>
              <a:rPr lang="pt-BR" b="1" dirty="0">
                <a:solidFill>
                  <a:srgbClr val="FF0000"/>
                </a:solidFill>
              </a:rPr>
              <a:t>mas não atingem os objetivos estratégicos</a:t>
            </a:r>
            <a:r>
              <a:rPr lang="pt-BR" dirty="0"/>
              <a:t> da organização</a:t>
            </a:r>
          </a:p>
          <a:p>
            <a:pPr>
              <a:spcBef>
                <a:spcPts val="2400"/>
              </a:spcBef>
            </a:pPr>
            <a:r>
              <a:rPr lang="pt-BR" dirty="0"/>
              <a:t>Equipes podem celebrar entregas (app no ar, nova funcionalidade)</a:t>
            </a:r>
          </a:p>
          <a:p>
            <a:pPr lvl="1"/>
            <a:r>
              <a:rPr lang="pt-BR" dirty="0"/>
              <a:t>Negócio não sente o impacto (clientes não adotam, receita não cresce)</a:t>
            </a:r>
          </a:p>
          <a:p>
            <a:pPr lvl="1"/>
            <a:endParaRPr lang="pt-BR" dirty="0"/>
          </a:p>
          <a:p>
            <a:r>
              <a:rPr lang="pt-BR" dirty="0"/>
              <a:t>Resultado: desperdício de recursos, frustração da equipe e desconfiança da gestão</a:t>
            </a:r>
          </a:p>
        </p:txBody>
      </p:sp>
    </p:spTree>
    <p:extLst>
      <p:ext uri="{BB962C8B-B14F-4D97-AF65-F5344CB8AC3E}">
        <p14:creationId xmlns:p14="http://schemas.microsoft.com/office/powerpoint/2010/main" val="410761683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4F2764-6D6A-F7D5-3889-8F55889F250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EFDAD62-FBC3-C1B6-D9C7-14A0D51596DE}"/>
              </a:ext>
            </a:extLst>
          </p:cNvPr>
          <p:cNvSpPr>
            <a:spLocks noGrp="1"/>
          </p:cNvSpPr>
          <p:nvPr>
            <p:ph type="title"/>
          </p:nvPr>
        </p:nvSpPr>
        <p:spPr/>
        <p:txBody>
          <a:bodyPr/>
          <a:lstStyle/>
          <a:p>
            <a:r>
              <a:rPr lang="pt-BR" dirty="0"/>
              <a:t>Desalinhamento</a:t>
            </a:r>
          </a:p>
        </p:txBody>
      </p:sp>
      <p:sp>
        <p:nvSpPr>
          <p:cNvPr id="3" name="Espaço Reservado para Conteúdo 2">
            <a:extLst>
              <a:ext uri="{FF2B5EF4-FFF2-40B4-BE49-F238E27FC236}">
                <a16:creationId xmlns:a16="http://schemas.microsoft.com/office/drawing/2014/main" id="{211A9B12-3102-DC53-18C5-446471256BCE}"/>
              </a:ext>
            </a:extLst>
          </p:cNvPr>
          <p:cNvSpPr>
            <a:spLocks noGrp="1"/>
          </p:cNvSpPr>
          <p:nvPr>
            <p:ph idx="1"/>
          </p:nvPr>
        </p:nvSpPr>
        <p:spPr/>
        <p:txBody>
          <a:bodyPr/>
          <a:lstStyle/>
          <a:p>
            <a:r>
              <a:rPr lang="pt-BR" dirty="0"/>
              <a:t>Sintomas comuns:</a:t>
            </a:r>
          </a:p>
          <a:p>
            <a:pPr lvl="1">
              <a:spcBef>
                <a:spcPts val="1800"/>
              </a:spcBef>
            </a:pPr>
            <a:r>
              <a:rPr lang="pt-BR" dirty="0"/>
              <a:t>Projetos entregues no prazo, mas sem impacto real no negócio;</a:t>
            </a:r>
          </a:p>
          <a:p>
            <a:pPr lvl="1">
              <a:spcBef>
                <a:spcPts val="1800"/>
              </a:spcBef>
            </a:pPr>
            <a:r>
              <a:rPr lang="pt-BR" dirty="0"/>
              <a:t>Sistemas subutilizados ou abandonados;</a:t>
            </a:r>
          </a:p>
          <a:p>
            <a:pPr lvl="1">
              <a:spcBef>
                <a:spcPts val="1800"/>
              </a:spcBef>
            </a:pPr>
            <a:r>
              <a:rPr lang="pt-BR" dirty="0"/>
              <a:t>Recursos gastos em funcionalidades que não contribuem para a visão organizacional</a:t>
            </a:r>
          </a:p>
        </p:txBody>
      </p:sp>
    </p:spTree>
    <p:extLst>
      <p:ext uri="{BB962C8B-B14F-4D97-AF65-F5344CB8AC3E}">
        <p14:creationId xmlns:p14="http://schemas.microsoft.com/office/powerpoint/2010/main" val="325432767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B32603A-E9C3-3068-DAAE-113E65D645DE}"/>
              </a:ext>
            </a:extLst>
          </p:cNvPr>
          <p:cNvSpPr>
            <a:spLocks noGrp="1"/>
          </p:cNvSpPr>
          <p:nvPr>
            <p:ph type="title"/>
          </p:nvPr>
        </p:nvSpPr>
        <p:spPr/>
        <p:txBody>
          <a:bodyPr/>
          <a:lstStyle/>
          <a:p>
            <a:r>
              <a:rPr lang="pt-BR" dirty="0"/>
              <a:t>Exemplos</a:t>
            </a:r>
          </a:p>
        </p:txBody>
      </p:sp>
      <p:sp>
        <p:nvSpPr>
          <p:cNvPr id="3" name="Espaço Reservado para Conteúdo 2">
            <a:extLst>
              <a:ext uri="{FF2B5EF4-FFF2-40B4-BE49-F238E27FC236}">
                <a16:creationId xmlns:a16="http://schemas.microsoft.com/office/drawing/2014/main" id="{A7599AB0-EDBF-3A14-8DCC-99949059D834}"/>
              </a:ext>
            </a:extLst>
          </p:cNvPr>
          <p:cNvSpPr>
            <a:spLocks noGrp="1"/>
          </p:cNvSpPr>
          <p:nvPr>
            <p:ph idx="1"/>
          </p:nvPr>
        </p:nvSpPr>
        <p:spPr>
          <a:xfrm>
            <a:off x="838200" y="1825625"/>
            <a:ext cx="5030037" cy="4351338"/>
          </a:xfrm>
        </p:spPr>
        <p:txBody>
          <a:bodyPr>
            <a:normAutofit lnSpcReduction="10000"/>
          </a:bodyPr>
          <a:lstStyle/>
          <a:p>
            <a:r>
              <a:rPr lang="pt-BR" dirty="0"/>
              <a:t>Windows Phone</a:t>
            </a:r>
          </a:p>
          <a:p>
            <a:pPr lvl="1"/>
            <a:r>
              <a:rPr lang="pt-BR" dirty="0"/>
              <a:t>Produto tecnicamente sólido, mas não alinhado à estratégia do ecossistema</a:t>
            </a:r>
          </a:p>
          <a:p>
            <a:pPr lvl="2"/>
            <a:r>
              <a:rPr lang="pt-BR" dirty="0"/>
              <a:t>Poucos apps, baixa adesão de </a:t>
            </a:r>
            <a:r>
              <a:rPr lang="pt-BR" dirty="0" err="1"/>
              <a:t>devs</a:t>
            </a:r>
            <a:endParaRPr lang="pt-BR" dirty="0"/>
          </a:p>
          <a:p>
            <a:pPr marL="914400" lvl="2" indent="0">
              <a:buNone/>
            </a:pPr>
            <a:endParaRPr lang="pt-BR" dirty="0"/>
          </a:p>
          <a:p>
            <a:pPr>
              <a:spcBef>
                <a:spcPts val="2400"/>
              </a:spcBef>
            </a:pPr>
            <a:r>
              <a:rPr lang="pt-BR" dirty="0"/>
              <a:t>Contraexemplo </a:t>
            </a:r>
            <a:r>
              <a:rPr lang="pt-BR" i="1" dirty="0"/>
              <a:t>fictício</a:t>
            </a:r>
            <a:r>
              <a:rPr lang="pt-BR" dirty="0"/>
              <a:t> </a:t>
            </a:r>
          </a:p>
          <a:p>
            <a:pPr lvl="1">
              <a:spcBef>
                <a:spcPts val="1200"/>
              </a:spcBef>
            </a:pPr>
            <a:r>
              <a:rPr lang="pt-BR" dirty="0"/>
              <a:t>Desenvolver um </a:t>
            </a:r>
            <a:r>
              <a:rPr lang="pt-BR" dirty="0" err="1"/>
              <a:t>chatbot</a:t>
            </a:r>
            <a:r>
              <a:rPr lang="pt-BR" dirty="0"/>
              <a:t> avançado para atendimento, sem haver clientes suficientes para justificar </a:t>
            </a:r>
            <a:r>
              <a:rPr lang="pt-BR" dirty="0">
                <a:sym typeface="Wingdings" panose="05000000000000000000" pitchFamily="2" charset="2"/>
              </a:rPr>
              <a:t> recurso mal aplicado!</a:t>
            </a:r>
            <a:endParaRPr lang="pt-BR" dirty="0"/>
          </a:p>
        </p:txBody>
      </p:sp>
      <p:pic>
        <p:nvPicPr>
          <p:cNvPr id="18434" name="Picture 2" descr="How to make your phone into a 'Windows Phone' in 2024 | Windows Central">
            <a:extLst>
              <a:ext uri="{FF2B5EF4-FFF2-40B4-BE49-F238E27FC236}">
                <a16:creationId xmlns:a16="http://schemas.microsoft.com/office/drawing/2014/main" id="{6B33989D-02C2-39A9-670F-5564837B53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17936" y="1825625"/>
            <a:ext cx="3429000" cy="3429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352099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animEffect transition="in" filter="fade">
                                      <p:cBhvr>
                                        <p:cTn id="7" dur="500"/>
                                        <p:tgtEl>
                                          <p:spTgt spid="3">
                                            <p:txEl>
                                              <p:pRg st="4" end="4"/>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5" end="5"/>
                                            </p:txEl>
                                          </p:spTgt>
                                        </p:tgtEl>
                                        <p:attrNameLst>
                                          <p:attrName>style.visibility</p:attrName>
                                        </p:attrNameLst>
                                      </p:cBhvr>
                                      <p:to>
                                        <p:strVal val="visible"/>
                                      </p:to>
                                    </p:set>
                                    <p:animEffect transition="in" filter="fade">
                                      <p:cBhvr>
                                        <p:cTn id="10"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5E4C6C9-CAED-9BFF-0F71-22E4133674BC}"/>
              </a:ext>
            </a:extLst>
          </p:cNvPr>
          <p:cNvSpPr>
            <a:spLocks noGrp="1"/>
          </p:cNvSpPr>
          <p:nvPr>
            <p:ph type="title"/>
          </p:nvPr>
        </p:nvSpPr>
        <p:spPr/>
        <p:txBody>
          <a:bodyPr/>
          <a:lstStyle/>
          <a:p>
            <a:r>
              <a:rPr lang="pt-BR" dirty="0"/>
              <a:t>Ferramentas de alinhamento</a:t>
            </a:r>
          </a:p>
        </p:txBody>
      </p:sp>
      <p:sp>
        <p:nvSpPr>
          <p:cNvPr id="3" name="Espaço Reservado para Conteúdo 2">
            <a:extLst>
              <a:ext uri="{FF2B5EF4-FFF2-40B4-BE49-F238E27FC236}">
                <a16:creationId xmlns:a16="http://schemas.microsoft.com/office/drawing/2014/main" id="{C628EF7B-2591-A4C1-9677-6698CDEDA7B4}"/>
              </a:ext>
            </a:extLst>
          </p:cNvPr>
          <p:cNvSpPr>
            <a:spLocks noGrp="1"/>
          </p:cNvSpPr>
          <p:nvPr>
            <p:ph idx="1"/>
          </p:nvPr>
        </p:nvSpPr>
        <p:spPr/>
        <p:txBody>
          <a:bodyPr/>
          <a:lstStyle/>
          <a:p>
            <a:r>
              <a:rPr lang="pt-BR" dirty="0"/>
              <a:t>Métodos para garantir que projetos de software estejam conectados a objetivos organizacionais</a:t>
            </a:r>
          </a:p>
          <a:p>
            <a:endParaRPr lang="pt-BR" dirty="0"/>
          </a:p>
          <a:p>
            <a:r>
              <a:rPr lang="pt-BR" dirty="0"/>
              <a:t>Sem ferramentas formais, gestores </a:t>
            </a:r>
            <a:r>
              <a:rPr lang="pt-BR" b="1" dirty="0"/>
              <a:t>decidem por intuição ou por pressão </a:t>
            </a:r>
            <a:r>
              <a:rPr lang="pt-BR" dirty="0"/>
              <a:t>política – não por valor estratégico</a:t>
            </a:r>
          </a:p>
          <a:p>
            <a:pPr lvl="1">
              <a:spcBef>
                <a:spcPts val="1200"/>
              </a:spcBef>
            </a:pPr>
            <a:r>
              <a:rPr lang="pt-BR" dirty="0"/>
              <a:t>Priorização de projetos visíveis (bons para publicidade), mas não necessariamente importantes para o negócio</a:t>
            </a:r>
          </a:p>
        </p:txBody>
      </p:sp>
    </p:spTree>
    <p:extLst>
      <p:ext uri="{BB962C8B-B14F-4D97-AF65-F5344CB8AC3E}">
        <p14:creationId xmlns:p14="http://schemas.microsoft.com/office/powerpoint/2010/main" val="368739312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2D9820-19E6-F82B-1911-EEAEDEF7FC3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0195F92-E1A4-2739-A6AE-EDD5C6246AD1}"/>
              </a:ext>
            </a:extLst>
          </p:cNvPr>
          <p:cNvSpPr>
            <a:spLocks noGrp="1"/>
          </p:cNvSpPr>
          <p:nvPr>
            <p:ph type="title"/>
          </p:nvPr>
        </p:nvSpPr>
        <p:spPr/>
        <p:txBody>
          <a:bodyPr/>
          <a:lstStyle/>
          <a:p>
            <a:r>
              <a:rPr lang="pt-BR" dirty="0"/>
              <a:t>Objetivos de hoje</a:t>
            </a:r>
          </a:p>
        </p:txBody>
      </p:sp>
      <p:sp>
        <p:nvSpPr>
          <p:cNvPr id="3" name="Espaço Reservado para Conteúdo 2">
            <a:extLst>
              <a:ext uri="{FF2B5EF4-FFF2-40B4-BE49-F238E27FC236}">
                <a16:creationId xmlns:a16="http://schemas.microsoft.com/office/drawing/2014/main" id="{03B89F21-24E8-A2BC-7BC4-07000E40E44D}"/>
              </a:ext>
            </a:extLst>
          </p:cNvPr>
          <p:cNvSpPr>
            <a:spLocks noGrp="1"/>
          </p:cNvSpPr>
          <p:nvPr>
            <p:ph idx="1"/>
          </p:nvPr>
        </p:nvSpPr>
        <p:spPr/>
        <p:txBody>
          <a:bodyPr/>
          <a:lstStyle/>
          <a:p>
            <a:r>
              <a:rPr lang="pt-BR" sz="2400" b="1" dirty="0"/>
              <a:t>Alinhamento de projetos aos negócios da organização </a:t>
            </a:r>
          </a:p>
          <a:p>
            <a:pPr lvl="1">
              <a:spcBef>
                <a:spcPts val="600"/>
              </a:spcBef>
            </a:pPr>
            <a:r>
              <a:rPr lang="pt-BR" sz="2000" dirty="0"/>
              <a:t>Estratégia organizacional e seus enquadramentos</a:t>
            </a:r>
          </a:p>
          <a:p>
            <a:pPr lvl="1">
              <a:spcBef>
                <a:spcPts val="600"/>
              </a:spcBef>
            </a:pPr>
            <a:r>
              <a:rPr lang="pt-BR" sz="2000" dirty="0"/>
              <a:t>Alinhamento estratégico</a:t>
            </a:r>
          </a:p>
          <a:p>
            <a:pPr lvl="1">
              <a:spcBef>
                <a:spcPts val="600"/>
              </a:spcBef>
            </a:pPr>
            <a:r>
              <a:rPr lang="pt-BR" sz="2000" b="1" dirty="0"/>
              <a:t>Valoração do projeto</a:t>
            </a:r>
          </a:p>
          <a:p>
            <a:pPr>
              <a:spcBef>
                <a:spcPts val="2400"/>
              </a:spcBef>
            </a:pPr>
            <a:r>
              <a:rPr lang="pt-BR" sz="2400" dirty="0"/>
              <a:t>Ferramentas de gestão estratégica</a:t>
            </a:r>
          </a:p>
          <a:p>
            <a:pPr lvl="1">
              <a:spcBef>
                <a:spcPts val="600"/>
              </a:spcBef>
            </a:pPr>
            <a:r>
              <a:rPr lang="pt-BR" sz="2000" dirty="0"/>
              <a:t>Balanced </a:t>
            </a:r>
            <a:r>
              <a:rPr lang="pt-BR" sz="2000" dirty="0" err="1"/>
              <a:t>scorecard</a:t>
            </a:r>
            <a:endParaRPr lang="pt-BR" sz="2000" dirty="0"/>
          </a:p>
          <a:p>
            <a:pPr lvl="1">
              <a:spcBef>
                <a:spcPts val="600"/>
              </a:spcBef>
            </a:pPr>
            <a:r>
              <a:rPr lang="pt-BR" sz="2000" dirty="0"/>
              <a:t>Canvas Project Model</a:t>
            </a:r>
          </a:p>
          <a:p>
            <a:pPr lvl="1">
              <a:spcBef>
                <a:spcPts val="600"/>
              </a:spcBef>
            </a:pPr>
            <a:r>
              <a:rPr lang="pt-BR" sz="2000" dirty="0"/>
              <a:t>KPI</a:t>
            </a:r>
          </a:p>
          <a:p>
            <a:pPr lvl="1">
              <a:spcBef>
                <a:spcPts val="600"/>
              </a:spcBef>
            </a:pPr>
            <a:r>
              <a:rPr lang="pt-BR" sz="2000" dirty="0" err="1"/>
              <a:t>OKRs</a:t>
            </a:r>
            <a:endParaRPr lang="pt-BR" sz="2000" dirty="0"/>
          </a:p>
          <a:p>
            <a:pPr>
              <a:spcBef>
                <a:spcPts val="2400"/>
              </a:spcBef>
            </a:pPr>
            <a:r>
              <a:rPr lang="pt-BR" sz="2400" dirty="0"/>
              <a:t>Aplicação ao projeto semestral</a:t>
            </a:r>
          </a:p>
          <a:p>
            <a:endParaRPr lang="pt-BR" dirty="0"/>
          </a:p>
        </p:txBody>
      </p:sp>
      <p:sp>
        <p:nvSpPr>
          <p:cNvPr id="4" name="Retângulo 3">
            <a:extLst>
              <a:ext uri="{FF2B5EF4-FFF2-40B4-BE49-F238E27FC236}">
                <a16:creationId xmlns:a16="http://schemas.microsoft.com/office/drawing/2014/main" id="{4264681F-4367-4B12-A870-B967510FECA0}"/>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9277224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C2D15CE-3678-7C8F-8475-3257993C6D8E}"/>
              </a:ext>
            </a:extLst>
          </p:cNvPr>
          <p:cNvSpPr>
            <a:spLocks noGrp="1"/>
          </p:cNvSpPr>
          <p:nvPr>
            <p:ph type="title"/>
          </p:nvPr>
        </p:nvSpPr>
        <p:spPr/>
        <p:txBody>
          <a:bodyPr/>
          <a:lstStyle/>
          <a:p>
            <a:r>
              <a:rPr lang="pt-BR" i="1" dirty="0"/>
              <a:t>Business case</a:t>
            </a:r>
          </a:p>
        </p:txBody>
      </p:sp>
      <p:sp>
        <p:nvSpPr>
          <p:cNvPr id="3" name="Espaço Reservado para Conteúdo 2">
            <a:extLst>
              <a:ext uri="{FF2B5EF4-FFF2-40B4-BE49-F238E27FC236}">
                <a16:creationId xmlns:a16="http://schemas.microsoft.com/office/drawing/2014/main" id="{178DEEAC-29D6-40DE-040C-3B81EA851D25}"/>
              </a:ext>
            </a:extLst>
          </p:cNvPr>
          <p:cNvSpPr>
            <a:spLocks noGrp="1"/>
          </p:cNvSpPr>
          <p:nvPr>
            <p:ph idx="1"/>
          </p:nvPr>
        </p:nvSpPr>
        <p:spPr/>
        <p:txBody>
          <a:bodyPr>
            <a:normAutofit/>
          </a:bodyPr>
          <a:lstStyle/>
          <a:p>
            <a:r>
              <a:rPr lang="pt-BR" dirty="0"/>
              <a:t>Estudo documentado de </a:t>
            </a:r>
            <a:r>
              <a:rPr lang="pt-BR" b="1" dirty="0"/>
              <a:t>viabilidade econômica </a:t>
            </a:r>
            <a:r>
              <a:rPr lang="pt-BR" dirty="0"/>
              <a:t>usado para validar os benefícios a serem entregues por um projeto/programa/portfolio</a:t>
            </a:r>
          </a:p>
          <a:p>
            <a:pPr lvl="1"/>
            <a:r>
              <a:rPr lang="pt-BR" dirty="0"/>
              <a:t>Fase Inicial do projeto </a:t>
            </a:r>
            <a:r>
              <a:rPr lang="pt-BR" dirty="0">
                <a:sym typeface="Wingdings" panose="05000000000000000000" pitchFamily="2" charset="2"/>
              </a:rPr>
              <a:t> </a:t>
            </a:r>
            <a:r>
              <a:rPr lang="pt-BR" i="1" dirty="0">
                <a:sym typeface="Wingdings" panose="05000000000000000000" pitchFamily="2" charset="2"/>
              </a:rPr>
              <a:t>“Go”/”No go”</a:t>
            </a:r>
            <a:endParaRPr lang="pt-BR" i="1" dirty="0"/>
          </a:p>
          <a:p>
            <a:pPr>
              <a:spcBef>
                <a:spcPts val="2400"/>
              </a:spcBef>
            </a:pPr>
            <a:r>
              <a:rPr lang="pt-BR" dirty="0"/>
              <a:t>Projetos são iniciados por meio de um </a:t>
            </a:r>
            <a:r>
              <a:rPr lang="pt-BR" i="1" dirty="0"/>
              <a:t>business case </a:t>
            </a:r>
            <a:r>
              <a:rPr lang="pt-BR" dirty="0"/>
              <a:t>que esboça </a:t>
            </a:r>
            <a:r>
              <a:rPr lang="pt-BR" b="1" dirty="0"/>
              <a:t>custos</a:t>
            </a:r>
            <a:r>
              <a:rPr lang="pt-BR" dirty="0"/>
              <a:t>, </a:t>
            </a:r>
            <a:r>
              <a:rPr lang="pt-BR" b="1" dirty="0"/>
              <a:t>benefícios</a:t>
            </a:r>
            <a:r>
              <a:rPr lang="pt-BR" dirty="0"/>
              <a:t> e como </a:t>
            </a:r>
            <a:r>
              <a:rPr lang="pt-BR" b="1" dirty="0"/>
              <a:t>valor</a:t>
            </a:r>
            <a:r>
              <a:rPr lang="pt-BR" dirty="0"/>
              <a:t> vai ser criado – junto com critérios de sucesso do projeto</a:t>
            </a:r>
          </a:p>
          <a:p>
            <a:pPr>
              <a:spcBef>
                <a:spcPts val="2400"/>
              </a:spcBef>
            </a:pPr>
            <a:r>
              <a:rPr lang="pt-BR" dirty="0"/>
              <a:t>O Projeto deve estar alinhado aos objetivos e à estratégia do negócio </a:t>
            </a:r>
          </a:p>
          <a:p>
            <a:pPr lvl="1">
              <a:spcBef>
                <a:spcPts val="1200"/>
              </a:spcBef>
            </a:pPr>
            <a:r>
              <a:rPr lang="pt-BR" dirty="0"/>
              <a:t>Deve-se demonstrar que as entregas do projeto e os objetivos estão alinhados</a:t>
            </a:r>
          </a:p>
          <a:p>
            <a:pPr>
              <a:spcBef>
                <a:spcPts val="2400"/>
              </a:spcBef>
            </a:pPr>
            <a:endParaRPr lang="pt-BR" dirty="0"/>
          </a:p>
        </p:txBody>
      </p:sp>
    </p:spTree>
    <p:extLst>
      <p:ext uri="{BB962C8B-B14F-4D97-AF65-F5344CB8AC3E}">
        <p14:creationId xmlns:p14="http://schemas.microsoft.com/office/powerpoint/2010/main" val="215382629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F9BD12F-DF9E-D818-C597-8E9A4882F78D}"/>
              </a:ext>
            </a:extLst>
          </p:cNvPr>
          <p:cNvSpPr>
            <a:spLocks noGrp="1"/>
          </p:cNvSpPr>
          <p:nvPr>
            <p:ph type="title"/>
          </p:nvPr>
        </p:nvSpPr>
        <p:spPr/>
        <p:txBody>
          <a:bodyPr/>
          <a:lstStyle/>
          <a:p>
            <a:r>
              <a:rPr lang="pt-BR" dirty="0"/>
              <a:t>Valoração</a:t>
            </a:r>
          </a:p>
        </p:txBody>
      </p:sp>
      <p:sp>
        <p:nvSpPr>
          <p:cNvPr id="3" name="Espaço Reservado para Conteúdo 2">
            <a:extLst>
              <a:ext uri="{FF2B5EF4-FFF2-40B4-BE49-F238E27FC236}">
                <a16:creationId xmlns:a16="http://schemas.microsoft.com/office/drawing/2014/main" id="{F6B79004-4CA3-DE1F-9044-940047E92911}"/>
              </a:ext>
            </a:extLst>
          </p:cNvPr>
          <p:cNvSpPr>
            <a:spLocks noGrp="1"/>
          </p:cNvSpPr>
          <p:nvPr>
            <p:ph idx="1"/>
          </p:nvPr>
        </p:nvSpPr>
        <p:spPr/>
        <p:txBody>
          <a:bodyPr>
            <a:normAutofit/>
          </a:bodyPr>
          <a:lstStyle/>
          <a:p>
            <a:r>
              <a:rPr lang="pt-BR" dirty="0"/>
              <a:t>Processo para </a:t>
            </a:r>
            <a:r>
              <a:rPr lang="pt-BR" b="1" dirty="0"/>
              <a:t>mensurar, analisar e justificar o valor de um projeto </a:t>
            </a:r>
            <a:r>
              <a:rPr lang="pt-BR" dirty="0"/>
              <a:t>em termos financeiros, técnicos e estratégicos para a organização</a:t>
            </a:r>
          </a:p>
          <a:p>
            <a:pPr lvl="1">
              <a:spcBef>
                <a:spcPts val="1800"/>
              </a:spcBef>
            </a:pPr>
            <a:r>
              <a:rPr lang="pt-BR" dirty="0"/>
              <a:t>Determina o valor econômico ou estratégico de um projeto, a fim de apoiar a tomada de decisão sobre sua priorização, financiamento ou execução.</a:t>
            </a:r>
          </a:p>
          <a:p>
            <a:pPr lvl="1"/>
            <a:endParaRPr lang="pt-BR" dirty="0"/>
          </a:p>
          <a:p>
            <a:r>
              <a:rPr lang="pt-BR" dirty="0"/>
              <a:t>Não se limita a estimativa de custos!</a:t>
            </a:r>
          </a:p>
          <a:p>
            <a:pPr lvl="1">
              <a:spcBef>
                <a:spcPts val="1800"/>
              </a:spcBef>
            </a:pPr>
            <a:r>
              <a:rPr lang="pt-BR" dirty="0"/>
              <a:t>Busca compreender o retorno sobre investimento (ROI), benefícios tangíveis e intangíveis, riscos envolvidos</a:t>
            </a:r>
          </a:p>
          <a:p>
            <a:pPr lvl="1">
              <a:spcBef>
                <a:spcPts val="1800"/>
              </a:spcBef>
            </a:pPr>
            <a:r>
              <a:rPr lang="pt-BR" dirty="0"/>
              <a:t>Precisa se </a:t>
            </a:r>
            <a:r>
              <a:rPr lang="pt-BR" b="1" dirty="0"/>
              <a:t>alinhar aos objetivos estratégicos </a:t>
            </a:r>
            <a:r>
              <a:rPr lang="pt-BR" dirty="0"/>
              <a:t>da organização</a:t>
            </a:r>
          </a:p>
        </p:txBody>
      </p:sp>
    </p:spTree>
    <p:extLst>
      <p:ext uri="{BB962C8B-B14F-4D97-AF65-F5344CB8AC3E}">
        <p14:creationId xmlns:p14="http://schemas.microsoft.com/office/powerpoint/2010/main" val="22681232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3">
                                            <p:txEl>
                                              <p:pRg st="4" end="4"/>
                                            </p:txEl>
                                          </p:spTgt>
                                        </p:tgtEl>
                                        <p:attrNameLst>
                                          <p:attrName>style.visibility</p:attrName>
                                        </p:attrNameLst>
                                      </p:cBhvr>
                                      <p:to>
                                        <p:strVal val="visible"/>
                                      </p:to>
                                    </p:set>
                                    <p:animEffect transition="in" filter="fade">
                                      <p:cBhvr>
                                        <p:cTn id="10" dur="500"/>
                                        <p:tgtEl>
                                          <p:spTgt spid="3">
                                            <p:txEl>
                                              <p:pRg st="4" end="4"/>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3">
                                            <p:txEl>
                                              <p:pRg st="5" end="5"/>
                                            </p:txEl>
                                          </p:spTgt>
                                        </p:tgtEl>
                                        <p:attrNameLst>
                                          <p:attrName>style.visibility</p:attrName>
                                        </p:attrNameLst>
                                      </p:cBhvr>
                                      <p:to>
                                        <p:strVal val="visible"/>
                                      </p:to>
                                    </p:set>
                                    <p:animEffect transition="in" filter="fade">
                                      <p:cBhvr>
                                        <p:cTn id="13"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BF6BFB-2118-D254-076F-B75E3CB8E73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5CCEDE4-D970-16BB-39C0-3D1C94B3333A}"/>
              </a:ext>
            </a:extLst>
          </p:cNvPr>
          <p:cNvSpPr>
            <a:spLocks noGrp="1"/>
          </p:cNvSpPr>
          <p:nvPr>
            <p:ph type="title"/>
          </p:nvPr>
        </p:nvSpPr>
        <p:spPr/>
        <p:txBody>
          <a:bodyPr/>
          <a:lstStyle/>
          <a:p>
            <a:r>
              <a:rPr lang="pt-BR" dirty="0"/>
              <a:t>Seleção de projetos</a:t>
            </a:r>
          </a:p>
        </p:txBody>
      </p:sp>
      <p:sp>
        <p:nvSpPr>
          <p:cNvPr id="3" name="Espaço Reservado para Conteúdo 2">
            <a:extLst>
              <a:ext uri="{FF2B5EF4-FFF2-40B4-BE49-F238E27FC236}">
                <a16:creationId xmlns:a16="http://schemas.microsoft.com/office/drawing/2014/main" id="{AF141C06-9225-79F4-6316-8F680BB62E1F}"/>
              </a:ext>
            </a:extLst>
          </p:cNvPr>
          <p:cNvSpPr>
            <a:spLocks noGrp="1"/>
          </p:cNvSpPr>
          <p:nvPr>
            <p:ph idx="1"/>
          </p:nvPr>
        </p:nvSpPr>
        <p:spPr/>
        <p:txBody>
          <a:bodyPr/>
          <a:lstStyle/>
          <a:p>
            <a:r>
              <a:rPr lang="pt-BR" dirty="0"/>
              <a:t>É o processo usado para que uma empresa decida em quais projetos investir</a:t>
            </a:r>
          </a:p>
        </p:txBody>
      </p:sp>
      <p:pic>
        <p:nvPicPr>
          <p:cNvPr id="19458" name="Picture 2" descr="Matriz de Priorização de Projetos e Investimentos">
            <a:extLst>
              <a:ext uri="{FF2B5EF4-FFF2-40B4-BE49-F238E27FC236}">
                <a16:creationId xmlns:a16="http://schemas.microsoft.com/office/drawing/2014/main" id="{C6CCADBA-3402-4AE9-B52C-488B62D9A1B6}"/>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4346"/>
          <a:stretch/>
        </p:blipFill>
        <p:spPr bwMode="auto">
          <a:xfrm>
            <a:off x="2563419" y="2670464"/>
            <a:ext cx="8029575" cy="39732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141598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A49C897-A75C-BB4D-8CFF-C76387658366}"/>
              </a:ext>
            </a:extLst>
          </p:cNvPr>
          <p:cNvSpPr>
            <a:spLocks noGrp="1"/>
          </p:cNvSpPr>
          <p:nvPr>
            <p:ph type="title"/>
          </p:nvPr>
        </p:nvSpPr>
        <p:spPr/>
        <p:txBody>
          <a:bodyPr/>
          <a:lstStyle/>
          <a:p>
            <a:r>
              <a:rPr lang="pt-BR" dirty="0"/>
              <a:t>Valoração - Exemplos de Critérios</a:t>
            </a:r>
          </a:p>
        </p:txBody>
      </p:sp>
      <p:sp>
        <p:nvSpPr>
          <p:cNvPr id="3" name="Espaço Reservado para Conteúdo 2">
            <a:extLst>
              <a:ext uri="{FF2B5EF4-FFF2-40B4-BE49-F238E27FC236}">
                <a16:creationId xmlns:a16="http://schemas.microsoft.com/office/drawing/2014/main" id="{A1EE3FB5-D851-1988-92C6-A54337B3E431}"/>
              </a:ext>
            </a:extLst>
          </p:cNvPr>
          <p:cNvSpPr>
            <a:spLocks noGrp="1"/>
          </p:cNvSpPr>
          <p:nvPr>
            <p:ph idx="1"/>
          </p:nvPr>
        </p:nvSpPr>
        <p:spPr/>
        <p:txBody>
          <a:bodyPr>
            <a:normAutofit fontScale="85000" lnSpcReduction="20000"/>
          </a:bodyPr>
          <a:lstStyle/>
          <a:p>
            <a:pPr lvl="1">
              <a:spcBef>
                <a:spcPts val="1800"/>
              </a:spcBef>
            </a:pPr>
            <a:r>
              <a:rPr lang="pt-BR" dirty="0">
                <a:solidFill>
                  <a:schemeClr val="accent1"/>
                </a:solidFill>
              </a:rPr>
              <a:t>Ganho Financeiro</a:t>
            </a:r>
          </a:p>
          <a:p>
            <a:pPr lvl="2">
              <a:spcBef>
                <a:spcPts val="1200"/>
              </a:spcBef>
            </a:pPr>
            <a:r>
              <a:rPr lang="pt-BR" b="1" dirty="0"/>
              <a:t>Caixa</a:t>
            </a:r>
            <a:r>
              <a:rPr lang="pt-BR" dirty="0"/>
              <a:t>: diminuir CAPEX, liquidar ativos, reduzir capital de giro, reduzir custos de oportunidade</a:t>
            </a:r>
          </a:p>
          <a:p>
            <a:pPr lvl="2">
              <a:spcBef>
                <a:spcPts val="1200"/>
              </a:spcBef>
            </a:pPr>
            <a:r>
              <a:rPr lang="pt-BR" b="1" dirty="0"/>
              <a:t>Eficiência operacional</a:t>
            </a:r>
            <a:r>
              <a:rPr lang="pt-BR" dirty="0"/>
              <a:t>: aumento de produção, redução de custos, redução de perda de produção</a:t>
            </a:r>
          </a:p>
          <a:p>
            <a:pPr lvl="2">
              <a:spcBef>
                <a:spcPts val="1200"/>
              </a:spcBef>
            </a:pPr>
            <a:r>
              <a:rPr lang="pt-BR" b="1" dirty="0"/>
              <a:t>Gastos</a:t>
            </a:r>
            <a:r>
              <a:rPr lang="pt-BR" dirty="0"/>
              <a:t>: redução de despesas, multas, contratos, esforço humano</a:t>
            </a:r>
          </a:p>
          <a:p>
            <a:pPr lvl="2">
              <a:spcBef>
                <a:spcPts val="1200"/>
              </a:spcBef>
            </a:pPr>
            <a:r>
              <a:rPr lang="pt-BR" b="1" dirty="0"/>
              <a:t>Receita</a:t>
            </a:r>
            <a:r>
              <a:rPr lang="pt-BR" dirty="0"/>
              <a:t>: aumento ou antecipação de receita, aumento de vendas, aumento de margem</a:t>
            </a:r>
          </a:p>
          <a:p>
            <a:pPr lvl="2">
              <a:spcBef>
                <a:spcPts val="1200"/>
              </a:spcBef>
            </a:pPr>
            <a:r>
              <a:rPr lang="pt-BR" b="1" dirty="0"/>
              <a:t>Recuperação de perdas financeiras</a:t>
            </a:r>
            <a:r>
              <a:rPr lang="pt-BR" dirty="0"/>
              <a:t>: ganhos judiciais, recuperação de impostos</a:t>
            </a:r>
          </a:p>
          <a:p>
            <a:pPr lvl="2">
              <a:spcBef>
                <a:spcPts val="1200"/>
              </a:spcBef>
            </a:pPr>
            <a:r>
              <a:rPr lang="pt-BR" b="1" dirty="0"/>
              <a:t>Gasto evitado</a:t>
            </a:r>
          </a:p>
          <a:p>
            <a:pPr lvl="3"/>
            <a:r>
              <a:rPr lang="pt-BR" dirty="0"/>
              <a:t>Redução de riscos, despesas evitadas, manutenção não programada</a:t>
            </a:r>
          </a:p>
          <a:p>
            <a:pPr lvl="2">
              <a:spcBef>
                <a:spcPts val="1800"/>
              </a:spcBef>
            </a:pPr>
            <a:r>
              <a:rPr lang="pt-BR" b="1" dirty="0"/>
              <a:t>Ganho de eficiência</a:t>
            </a:r>
          </a:p>
          <a:p>
            <a:pPr lvl="3"/>
            <a:r>
              <a:rPr lang="pt-BR" dirty="0"/>
              <a:t>Antecipação de entrega, aumento de desempenho de esforço, redução de esforço</a:t>
            </a:r>
          </a:p>
          <a:p>
            <a:pPr lvl="1">
              <a:spcBef>
                <a:spcPts val="1800"/>
              </a:spcBef>
            </a:pPr>
            <a:r>
              <a:rPr lang="pt-BR" dirty="0">
                <a:solidFill>
                  <a:srgbClr val="00B050"/>
                </a:solidFill>
              </a:rPr>
              <a:t>Não financeiros</a:t>
            </a:r>
          </a:p>
          <a:p>
            <a:pPr lvl="2">
              <a:spcBef>
                <a:spcPts val="1200"/>
              </a:spcBef>
            </a:pPr>
            <a:r>
              <a:rPr lang="pt-BR" b="1" dirty="0"/>
              <a:t>Quantitativo</a:t>
            </a:r>
            <a:r>
              <a:rPr lang="pt-BR" dirty="0"/>
              <a:t>: produtividade, segurança operacional</a:t>
            </a:r>
          </a:p>
          <a:p>
            <a:pPr lvl="2">
              <a:spcBef>
                <a:spcPts val="1200"/>
              </a:spcBef>
            </a:pPr>
            <a:r>
              <a:rPr lang="pt-BR" b="1" dirty="0"/>
              <a:t>Qualitativo</a:t>
            </a:r>
            <a:r>
              <a:rPr lang="pt-BR" dirty="0"/>
              <a:t>: atualização tecnológica, estruturante, habilitador, normativo</a:t>
            </a:r>
          </a:p>
        </p:txBody>
      </p:sp>
    </p:spTree>
    <p:extLst>
      <p:ext uri="{BB962C8B-B14F-4D97-AF65-F5344CB8AC3E}">
        <p14:creationId xmlns:p14="http://schemas.microsoft.com/office/powerpoint/2010/main" val="33480708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D8F1AAD-4FB3-F9C7-F5BB-7249ABED7BC2}"/>
              </a:ext>
            </a:extLst>
          </p:cNvPr>
          <p:cNvSpPr>
            <a:spLocks noGrp="1"/>
          </p:cNvSpPr>
          <p:nvPr>
            <p:ph type="title"/>
          </p:nvPr>
        </p:nvSpPr>
        <p:spPr/>
        <p:txBody>
          <a:bodyPr/>
          <a:lstStyle/>
          <a:p>
            <a:r>
              <a:rPr lang="pt-BR" dirty="0"/>
              <a:t>Ferramentas de gestão</a:t>
            </a:r>
          </a:p>
        </p:txBody>
      </p:sp>
      <p:sp>
        <p:nvSpPr>
          <p:cNvPr id="3" name="Espaço Reservado para Conteúdo 2">
            <a:extLst>
              <a:ext uri="{FF2B5EF4-FFF2-40B4-BE49-F238E27FC236}">
                <a16:creationId xmlns:a16="http://schemas.microsoft.com/office/drawing/2014/main" id="{7725F40F-8180-641E-2F87-F27C186F1471}"/>
              </a:ext>
            </a:extLst>
          </p:cNvPr>
          <p:cNvSpPr>
            <a:spLocks noGrp="1"/>
          </p:cNvSpPr>
          <p:nvPr>
            <p:ph idx="1"/>
          </p:nvPr>
        </p:nvSpPr>
        <p:spPr/>
        <p:txBody>
          <a:bodyPr/>
          <a:lstStyle/>
          <a:p>
            <a:r>
              <a:rPr lang="pt-BR" b="1" dirty="0"/>
              <a:t>ROI (</a:t>
            </a:r>
            <a:r>
              <a:rPr lang="pt-BR" b="1" i="1" dirty="0" err="1"/>
              <a:t>Payback</a:t>
            </a:r>
            <a:r>
              <a:rPr lang="pt-BR" b="1" dirty="0"/>
              <a:t>)</a:t>
            </a:r>
          </a:p>
          <a:p>
            <a:pPr lvl="1"/>
            <a:r>
              <a:rPr lang="pt-BR" dirty="0"/>
              <a:t>Em quanto tempo se terá de volta o dinheiro investido?</a:t>
            </a:r>
          </a:p>
          <a:p>
            <a:pPr>
              <a:spcBef>
                <a:spcPts val="2400"/>
              </a:spcBef>
            </a:pPr>
            <a:r>
              <a:rPr lang="pt-BR" b="1" dirty="0"/>
              <a:t>Valor Presente Líquido (VPL)</a:t>
            </a:r>
          </a:p>
          <a:p>
            <a:pPr lvl="1"/>
            <a:r>
              <a:rPr lang="pt-BR" dirty="0"/>
              <a:t>Avalia atratividade de investimentos, se traz lucro ou prejuízo</a:t>
            </a:r>
          </a:p>
          <a:p>
            <a:pPr>
              <a:spcBef>
                <a:spcPts val="2400"/>
              </a:spcBef>
            </a:pPr>
            <a:r>
              <a:rPr lang="pt-BR" b="1" dirty="0"/>
              <a:t>Business Case</a:t>
            </a:r>
          </a:p>
          <a:p>
            <a:pPr lvl="1"/>
            <a:r>
              <a:rPr lang="pt-BR" dirty="0"/>
              <a:t>Justifica não só o retorno financeiro, mas também o valor estratégico</a:t>
            </a:r>
          </a:p>
          <a:p>
            <a:pPr lvl="1"/>
            <a:endParaRPr lang="pt-BR" dirty="0"/>
          </a:p>
          <a:p>
            <a:pPr lvl="1"/>
            <a:r>
              <a:rPr lang="pt-BR" dirty="0"/>
              <a:t>Dentre outros....</a:t>
            </a:r>
          </a:p>
        </p:txBody>
      </p:sp>
    </p:spTree>
    <p:extLst>
      <p:ext uri="{BB962C8B-B14F-4D97-AF65-F5344CB8AC3E}">
        <p14:creationId xmlns:p14="http://schemas.microsoft.com/office/powerpoint/2010/main" val="19080485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482" name="Picture 2" descr="O que faz um diretor de TI: 6 tarefas da rotina 👨‍💼">
            <a:extLst>
              <a:ext uri="{FF2B5EF4-FFF2-40B4-BE49-F238E27FC236}">
                <a16:creationId xmlns:a16="http://schemas.microsoft.com/office/drawing/2014/main" id="{109BFD9B-3CBA-4D91-5D44-07FD1E61836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292737" y="3129949"/>
            <a:ext cx="2899263" cy="1931634"/>
          </a:xfrm>
          <a:prstGeom prst="rect">
            <a:avLst/>
          </a:prstGeom>
          <a:noFill/>
          <a:extLst>
            <a:ext uri="{909E8E84-426E-40DD-AFC4-6F175D3DCCD1}">
              <a14:hiddenFill xmlns:a14="http://schemas.microsoft.com/office/drawing/2010/main">
                <a:solidFill>
                  <a:srgbClr val="FFFFFF"/>
                </a:solidFill>
              </a14:hiddenFill>
            </a:ext>
          </a:extLst>
        </p:spPr>
      </p:pic>
      <p:sp>
        <p:nvSpPr>
          <p:cNvPr id="2" name="Título 1">
            <a:extLst>
              <a:ext uri="{FF2B5EF4-FFF2-40B4-BE49-F238E27FC236}">
                <a16:creationId xmlns:a16="http://schemas.microsoft.com/office/drawing/2014/main" id="{29D39B42-26FD-685A-4172-4D7BE5200AEE}"/>
              </a:ext>
            </a:extLst>
          </p:cNvPr>
          <p:cNvSpPr>
            <a:spLocks noGrp="1"/>
          </p:cNvSpPr>
          <p:nvPr>
            <p:ph type="title"/>
          </p:nvPr>
        </p:nvSpPr>
        <p:spPr/>
        <p:txBody>
          <a:bodyPr/>
          <a:lstStyle/>
          <a:p>
            <a:r>
              <a:rPr lang="pt-BR" dirty="0"/>
              <a:t>Exemplo</a:t>
            </a:r>
          </a:p>
        </p:txBody>
      </p:sp>
      <p:sp>
        <p:nvSpPr>
          <p:cNvPr id="3" name="Espaço Reservado para Conteúdo 2">
            <a:extLst>
              <a:ext uri="{FF2B5EF4-FFF2-40B4-BE49-F238E27FC236}">
                <a16:creationId xmlns:a16="http://schemas.microsoft.com/office/drawing/2014/main" id="{17D95063-C002-5C7A-6B13-F558BA76C5B5}"/>
              </a:ext>
            </a:extLst>
          </p:cNvPr>
          <p:cNvSpPr>
            <a:spLocks noGrp="1"/>
          </p:cNvSpPr>
          <p:nvPr>
            <p:ph idx="1"/>
          </p:nvPr>
        </p:nvSpPr>
        <p:spPr>
          <a:xfrm>
            <a:off x="140926" y="1825625"/>
            <a:ext cx="4419786" cy="4351338"/>
          </a:xfrm>
        </p:spPr>
        <p:style>
          <a:lnRef idx="1">
            <a:schemeClr val="accent3"/>
          </a:lnRef>
          <a:fillRef idx="2">
            <a:schemeClr val="accent3"/>
          </a:fillRef>
          <a:effectRef idx="1">
            <a:schemeClr val="accent3"/>
          </a:effectRef>
          <a:fontRef idx="minor">
            <a:schemeClr val="dk1"/>
          </a:fontRef>
        </p:style>
        <p:txBody>
          <a:bodyPr/>
          <a:lstStyle/>
          <a:p>
            <a:pPr marL="0" indent="0">
              <a:buNone/>
            </a:pPr>
            <a:r>
              <a:rPr lang="pt-BR" dirty="0"/>
              <a:t>Empresa de tecnologia educacional tem como </a:t>
            </a:r>
            <a:r>
              <a:rPr lang="pt-BR" b="1" dirty="0"/>
              <a:t>objetivos estratégicos </a:t>
            </a:r>
            <a:r>
              <a:rPr lang="pt-BR" dirty="0"/>
              <a:t>para os próximos 5 anos:</a:t>
            </a:r>
          </a:p>
          <a:p>
            <a:pPr marL="450850" lvl="1">
              <a:spcBef>
                <a:spcPts val="1800"/>
              </a:spcBef>
            </a:pPr>
            <a:r>
              <a:rPr lang="pt-BR" dirty="0"/>
              <a:t>Expandir base de alunos online em 40%;</a:t>
            </a:r>
          </a:p>
          <a:p>
            <a:pPr marL="450850" lvl="1">
              <a:spcBef>
                <a:spcPts val="1800"/>
              </a:spcBef>
            </a:pPr>
            <a:r>
              <a:rPr lang="pt-BR" dirty="0"/>
              <a:t>Reduzir custos operacionais em 20%</a:t>
            </a:r>
          </a:p>
          <a:p>
            <a:pPr marL="450850" lvl="1">
              <a:spcBef>
                <a:spcPts val="1800"/>
              </a:spcBef>
            </a:pPr>
            <a:r>
              <a:rPr lang="pt-BR" dirty="0"/>
              <a:t>Melhorar experiência digital dos estudantes</a:t>
            </a:r>
          </a:p>
        </p:txBody>
      </p:sp>
      <p:sp>
        <p:nvSpPr>
          <p:cNvPr id="4" name="Espaço Reservado para Conteúdo 2">
            <a:extLst>
              <a:ext uri="{FF2B5EF4-FFF2-40B4-BE49-F238E27FC236}">
                <a16:creationId xmlns:a16="http://schemas.microsoft.com/office/drawing/2014/main" id="{16660D1F-9D82-C084-82B9-4C6E81E44EE1}"/>
              </a:ext>
            </a:extLst>
          </p:cNvPr>
          <p:cNvSpPr txBox="1">
            <a:spLocks/>
          </p:cNvSpPr>
          <p:nvPr/>
        </p:nvSpPr>
        <p:spPr>
          <a:xfrm>
            <a:off x="4733055" y="1690688"/>
            <a:ext cx="4952812" cy="233439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ormAutofit fontScale="850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Projeto A – Plataforma EAD:</a:t>
            </a:r>
          </a:p>
          <a:p>
            <a:pPr lvl="1">
              <a:spcBef>
                <a:spcPts val="1800"/>
              </a:spcBef>
            </a:pPr>
            <a:r>
              <a:rPr lang="pt-BR" b="1" dirty="0"/>
              <a:t>Custo</a:t>
            </a:r>
            <a:r>
              <a:rPr lang="pt-BR" dirty="0"/>
              <a:t>: 1 milhão;</a:t>
            </a:r>
          </a:p>
          <a:p>
            <a:pPr lvl="1">
              <a:spcBef>
                <a:spcPts val="1800"/>
              </a:spcBef>
            </a:pPr>
            <a:r>
              <a:rPr lang="pt-BR" b="1" dirty="0"/>
              <a:t>Benefícios esperados</a:t>
            </a:r>
            <a:r>
              <a:rPr lang="pt-BR" dirty="0"/>
              <a:t>: receita adicional de 600k por ano (durante 5 anos)</a:t>
            </a:r>
          </a:p>
          <a:p>
            <a:pPr lvl="1">
              <a:spcBef>
                <a:spcPts val="1800"/>
              </a:spcBef>
            </a:pPr>
            <a:r>
              <a:rPr lang="pt-BR" b="1" dirty="0"/>
              <a:t>Benefícios estratégicos</a:t>
            </a:r>
            <a:r>
              <a:rPr lang="pt-BR" dirty="0"/>
              <a:t>: aumenta capacidade de matrículas e melhora experiência online</a:t>
            </a:r>
          </a:p>
        </p:txBody>
      </p:sp>
      <p:sp>
        <p:nvSpPr>
          <p:cNvPr id="5" name="Espaço Reservado para Conteúdo 2">
            <a:extLst>
              <a:ext uri="{FF2B5EF4-FFF2-40B4-BE49-F238E27FC236}">
                <a16:creationId xmlns:a16="http://schemas.microsoft.com/office/drawing/2014/main" id="{9E560697-08D9-08FC-C52C-11645ACD7DF9}"/>
              </a:ext>
            </a:extLst>
          </p:cNvPr>
          <p:cNvSpPr txBox="1">
            <a:spLocks/>
          </p:cNvSpPr>
          <p:nvPr/>
        </p:nvSpPr>
        <p:spPr>
          <a:xfrm>
            <a:off x="4733055" y="4297145"/>
            <a:ext cx="4952812" cy="2334393"/>
          </a:xfrm>
          <a:prstGeom prst="rect">
            <a:avLst/>
          </a:prstGeom>
        </p:spPr>
        <p:style>
          <a:lnRef idx="1">
            <a:schemeClr val="accent6"/>
          </a:lnRef>
          <a:fillRef idx="2">
            <a:schemeClr val="accent6"/>
          </a:fillRef>
          <a:effectRef idx="1">
            <a:schemeClr val="accent6"/>
          </a:effectRef>
          <a:fontRef idx="minor">
            <a:schemeClr val="dk1"/>
          </a:fontRef>
        </p:style>
        <p:txBody>
          <a:bodyPr vert="horz" lIns="91440" tIns="45720" rIns="91440" bIns="45720" rtlCol="0">
            <a:normAutofit fontScale="77500" lnSpcReduction="2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pt-BR" dirty="0"/>
              <a:t>Projeto B – Automação Administrativa:</a:t>
            </a:r>
          </a:p>
          <a:p>
            <a:pPr lvl="1">
              <a:spcBef>
                <a:spcPts val="1800"/>
              </a:spcBef>
            </a:pPr>
            <a:r>
              <a:rPr lang="pt-BR" b="1" dirty="0"/>
              <a:t>Custo</a:t>
            </a:r>
            <a:r>
              <a:rPr lang="pt-BR" dirty="0"/>
              <a:t>: 500 k;</a:t>
            </a:r>
          </a:p>
          <a:p>
            <a:pPr lvl="1">
              <a:spcBef>
                <a:spcPts val="1800"/>
              </a:spcBef>
            </a:pPr>
            <a:r>
              <a:rPr lang="pt-BR" b="1" dirty="0"/>
              <a:t>Benefícios esperados</a:t>
            </a:r>
            <a:r>
              <a:rPr lang="pt-BR" dirty="0"/>
              <a:t>: economia de 250k por ano (durante 5 anos)</a:t>
            </a:r>
          </a:p>
          <a:p>
            <a:pPr lvl="1">
              <a:spcBef>
                <a:spcPts val="1800"/>
              </a:spcBef>
            </a:pPr>
            <a:r>
              <a:rPr lang="pt-BR" b="1" dirty="0"/>
              <a:t>Benefícios estratégicos: </a:t>
            </a:r>
            <a:r>
              <a:rPr lang="pt-BR" dirty="0"/>
              <a:t>reduz custos internos, sem impacto direto aos alunos</a:t>
            </a:r>
          </a:p>
        </p:txBody>
      </p:sp>
    </p:spTree>
    <p:extLst>
      <p:ext uri="{BB962C8B-B14F-4D97-AF65-F5344CB8AC3E}">
        <p14:creationId xmlns:p14="http://schemas.microsoft.com/office/powerpoint/2010/main" val="39222646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BF9F0-82AC-921B-9DC8-517865D611C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58520A10-F705-2826-35C5-2989C7B46E83}"/>
              </a:ext>
            </a:extLst>
          </p:cNvPr>
          <p:cNvSpPr>
            <a:spLocks noGrp="1"/>
          </p:cNvSpPr>
          <p:nvPr>
            <p:ph type="title"/>
          </p:nvPr>
        </p:nvSpPr>
        <p:spPr/>
        <p:txBody>
          <a:bodyPr/>
          <a:lstStyle/>
          <a:p>
            <a:r>
              <a:rPr lang="pt-BR" dirty="0"/>
              <a:t>Objetivos de hoje</a:t>
            </a:r>
          </a:p>
        </p:txBody>
      </p:sp>
      <p:sp>
        <p:nvSpPr>
          <p:cNvPr id="3" name="Espaço Reservado para Conteúdo 2">
            <a:extLst>
              <a:ext uri="{FF2B5EF4-FFF2-40B4-BE49-F238E27FC236}">
                <a16:creationId xmlns:a16="http://schemas.microsoft.com/office/drawing/2014/main" id="{534776BD-7FF2-B530-E2C3-4AA2BF0E9586}"/>
              </a:ext>
            </a:extLst>
          </p:cNvPr>
          <p:cNvSpPr>
            <a:spLocks noGrp="1"/>
          </p:cNvSpPr>
          <p:nvPr>
            <p:ph idx="1"/>
          </p:nvPr>
        </p:nvSpPr>
        <p:spPr/>
        <p:txBody>
          <a:bodyPr>
            <a:normAutofit lnSpcReduction="10000"/>
          </a:bodyPr>
          <a:lstStyle/>
          <a:p>
            <a:r>
              <a:rPr lang="pt-BR" sz="2400" dirty="0"/>
              <a:t>Alinhamento de projetos aos negócios da organização </a:t>
            </a:r>
          </a:p>
          <a:p>
            <a:pPr lvl="1">
              <a:spcBef>
                <a:spcPts val="600"/>
              </a:spcBef>
            </a:pPr>
            <a:r>
              <a:rPr lang="pt-BR" sz="2000" dirty="0"/>
              <a:t>Estratégia organizacional e seus enquadramentos</a:t>
            </a:r>
          </a:p>
          <a:p>
            <a:pPr lvl="1">
              <a:spcBef>
                <a:spcPts val="600"/>
              </a:spcBef>
            </a:pPr>
            <a:r>
              <a:rPr lang="pt-BR" sz="2000" dirty="0"/>
              <a:t>Alinhamento estratégico</a:t>
            </a:r>
          </a:p>
          <a:p>
            <a:pPr lvl="1">
              <a:spcBef>
                <a:spcPts val="600"/>
              </a:spcBef>
            </a:pPr>
            <a:r>
              <a:rPr lang="pt-BR" sz="2000" dirty="0"/>
              <a:t>Valoração do projeto</a:t>
            </a:r>
          </a:p>
          <a:p>
            <a:pPr>
              <a:spcBef>
                <a:spcPts val="2400"/>
              </a:spcBef>
            </a:pPr>
            <a:r>
              <a:rPr lang="pt-BR" sz="2400" b="1" dirty="0"/>
              <a:t>Ferramentas de gestão estratégica</a:t>
            </a:r>
          </a:p>
          <a:p>
            <a:pPr lvl="1">
              <a:spcBef>
                <a:spcPts val="600"/>
              </a:spcBef>
            </a:pPr>
            <a:r>
              <a:rPr lang="pt-BR" sz="2000" dirty="0"/>
              <a:t>Gerenciamento de portfolio</a:t>
            </a:r>
          </a:p>
          <a:p>
            <a:pPr lvl="1">
              <a:spcBef>
                <a:spcPts val="600"/>
              </a:spcBef>
            </a:pPr>
            <a:r>
              <a:rPr lang="pt-BR" sz="2000" dirty="0"/>
              <a:t>Balanced </a:t>
            </a:r>
            <a:r>
              <a:rPr lang="pt-BR" sz="2000" dirty="0" err="1"/>
              <a:t>scorecard</a:t>
            </a:r>
            <a:endParaRPr lang="pt-BR" sz="2000" dirty="0"/>
          </a:p>
          <a:p>
            <a:pPr lvl="1">
              <a:spcBef>
                <a:spcPts val="600"/>
              </a:spcBef>
            </a:pPr>
            <a:r>
              <a:rPr lang="pt-BR" sz="2000" dirty="0" err="1"/>
              <a:t>OKRs</a:t>
            </a:r>
            <a:endParaRPr lang="pt-BR" sz="2000" dirty="0"/>
          </a:p>
          <a:p>
            <a:pPr lvl="1">
              <a:spcBef>
                <a:spcPts val="600"/>
              </a:spcBef>
            </a:pPr>
            <a:r>
              <a:rPr lang="pt-BR" sz="2000" dirty="0"/>
              <a:t>KPI</a:t>
            </a:r>
          </a:p>
          <a:p>
            <a:pPr lvl="1">
              <a:spcBef>
                <a:spcPts val="600"/>
              </a:spcBef>
            </a:pPr>
            <a:endParaRPr lang="pt-BR" sz="2000" dirty="0"/>
          </a:p>
          <a:p>
            <a:pPr>
              <a:spcBef>
                <a:spcPts val="2400"/>
              </a:spcBef>
            </a:pPr>
            <a:r>
              <a:rPr lang="pt-BR" sz="2400" dirty="0"/>
              <a:t>Aplicação ao projeto semestral</a:t>
            </a:r>
          </a:p>
          <a:p>
            <a:endParaRPr lang="pt-BR" dirty="0"/>
          </a:p>
        </p:txBody>
      </p:sp>
      <p:sp>
        <p:nvSpPr>
          <p:cNvPr id="4" name="Retângulo 3">
            <a:extLst>
              <a:ext uri="{FF2B5EF4-FFF2-40B4-BE49-F238E27FC236}">
                <a16:creationId xmlns:a16="http://schemas.microsoft.com/office/drawing/2014/main" id="{E067D48F-7530-EEB9-8F45-E2355EE33CC4}"/>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7528397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CEDF809-9DE1-749B-FE65-5AC0C5BDCA01}"/>
              </a:ext>
            </a:extLst>
          </p:cNvPr>
          <p:cNvSpPr>
            <a:spLocks noGrp="1"/>
          </p:cNvSpPr>
          <p:nvPr>
            <p:ph type="title"/>
          </p:nvPr>
        </p:nvSpPr>
        <p:spPr/>
        <p:txBody>
          <a:bodyPr/>
          <a:lstStyle/>
          <a:p>
            <a:r>
              <a:rPr lang="pt-BR" dirty="0"/>
              <a:t>1) Gerenciamento de portfolio (PPM)</a:t>
            </a:r>
          </a:p>
        </p:txBody>
      </p:sp>
      <p:sp>
        <p:nvSpPr>
          <p:cNvPr id="3" name="Espaço Reservado para Conteúdo 2">
            <a:extLst>
              <a:ext uri="{FF2B5EF4-FFF2-40B4-BE49-F238E27FC236}">
                <a16:creationId xmlns:a16="http://schemas.microsoft.com/office/drawing/2014/main" id="{80BE6C07-BF6F-2523-7F01-96C2EA65D1BC}"/>
              </a:ext>
            </a:extLst>
          </p:cNvPr>
          <p:cNvSpPr>
            <a:spLocks noGrp="1"/>
          </p:cNvSpPr>
          <p:nvPr>
            <p:ph idx="1"/>
          </p:nvPr>
        </p:nvSpPr>
        <p:spPr/>
        <p:txBody>
          <a:bodyPr/>
          <a:lstStyle/>
          <a:p>
            <a:r>
              <a:rPr lang="pt-BR" dirty="0"/>
              <a:t>Seleção de projetos com base no valor estratégico</a:t>
            </a:r>
          </a:p>
          <a:p>
            <a:pPr lvl="1"/>
            <a:r>
              <a:rPr lang="pt-BR" dirty="0"/>
              <a:t>Mesmo tendo alinhamento pode </a:t>
            </a:r>
            <a:r>
              <a:rPr lang="pt-BR" b="1" dirty="0"/>
              <a:t>não render os resultados esperados</a:t>
            </a:r>
          </a:p>
          <a:p>
            <a:pPr>
              <a:spcBef>
                <a:spcPts val="2400"/>
              </a:spcBef>
            </a:pPr>
            <a:r>
              <a:rPr lang="pt-BR" dirty="0" err="1"/>
              <a:t>Ex</a:t>
            </a:r>
            <a:r>
              <a:rPr lang="pt-BR" dirty="0"/>
              <a:t>: empresas como </a:t>
            </a:r>
            <a:r>
              <a:rPr lang="pt-BR" b="1" dirty="0"/>
              <a:t>Google</a:t>
            </a:r>
            <a:r>
              <a:rPr lang="pt-BR" dirty="0"/>
              <a:t> e </a:t>
            </a:r>
            <a:r>
              <a:rPr lang="pt-BR" b="1" dirty="0"/>
              <a:t>Microsoft</a:t>
            </a:r>
            <a:r>
              <a:rPr lang="pt-BR" dirty="0"/>
              <a:t> cancelam projetos sem impacto para sua visão</a:t>
            </a:r>
          </a:p>
        </p:txBody>
      </p:sp>
      <p:pic>
        <p:nvPicPr>
          <p:cNvPr id="21506" name="Picture 2" descr="A história do Orkut">
            <a:extLst>
              <a:ext uri="{FF2B5EF4-FFF2-40B4-BE49-F238E27FC236}">
                <a16:creationId xmlns:a16="http://schemas.microsoft.com/office/drawing/2014/main" id="{1C495DA1-2418-292B-423E-36B3D8A114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33465" y="4001294"/>
            <a:ext cx="3935655" cy="2451786"/>
          </a:xfrm>
          <a:prstGeom prst="rect">
            <a:avLst/>
          </a:prstGeom>
          <a:noFill/>
          <a:extLst>
            <a:ext uri="{909E8E84-426E-40DD-AFC4-6F175D3DCCD1}">
              <a14:hiddenFill xmlns:a14="http://schemas.microsoft.com/office/drawing/2010/main">
                <a:solidFill>
                  <a:srgbClr val="FFFFFF"/>
                </a:solidFill>
              </a14:hiddenFill>
            </a:ext>
          </a:extLst>
        </p:spPr>
      </p:pic>
      <p:grpSp>
        <p:nvGrpSpPr>
          <p:cNvPr id="5" name="Agrupar 4">
            <a:extLst>
              <a:ext uri="{FF2B5EF4-FFF2-40B4-BE49-F238E27FC236}">
                <a16:creationId xmlns:a16="http://schemas.microsoft.com/office/drawing/2014/main" id="{EA98800F-B5CF-EF4D-1AFD-B17875771B20}"/>
              </a:ext>
            </a:extLst>
          </p:cNvPr>
          <p:cNvGrpSpPr/>
          <p:nvPr/>
        </p:nvGrpSpPr>
        <p:grpSpPr>
          <a:xfrm>
            <a:off x="5196336" y="4001294"/>
            <a:ext cx="3935655" cy="2066219"/>
            <a:chOff x="5196336" y="4001294"/>
            <a:chExt cx="3935655" cy="2066219"/>
          </a:xfrm>
        </p:grpSpPr>
        <p:pic>
          <p:nvPicPr>
            <p:cNvPr id="21508" name="Picture 4" descr="Finalmente! Google Glass se torna produto oficial como 'Enterprise Edition'  - Tudocelular.com">
              <a:extLst>
                <a:ext uri="{FF2B5EF4-FFF2-40B4-BE49-F238E27FC236}">
                  <a16:creationId xmlns:a16="http://schemas.microsoft.com/office/drawing/2014/main" id="{2D50865B-9F17-9317-6B7B-9E42E20DC2F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196336" y="4001294"/>
              <a:ext cx="3935655" cy="2066219"/>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4" name="CaixaDeTexto 3">
              <a:extLst>
                <a:ext uri="{FF2B5EF4-FFF2-40B4-BE49-F238E27FC236}">
                  <a16:creationId xmlns:a16="http://schemas.microsoft.com/office/drawing/2014/main" id="{E4FB2809-250A-A53F-4D2A-1DCCFD68196E}"/>
                </a:ext>
              </a:extLst>
            </p:cNvPr>
            <p:cNvSpPr txBox="1"/>
            <p:nvPr/>
          </p:nvSpPr>
          <p:spPr>
            <a:xfrm>
              <a:off x="6568487" y="5677690"/>
              <a:ext cx="1191352" cy="369332"/>
            </a:xfrm>
            <a:prstGeom prst="rect">
              <a:avLst/>
            </a:prstGeom>
            <a:noFill/>
          </p:spPr>
          <p:txBody>
            <a:bodyPr wrap="none" rtlCol="0">
              <a:spAutoFit/>
            </a:bodyPr>
            <a:lstStyle/>
            <a:p>
              <a:r>
                <a:rPr lang="pt-BR" dirty="0"/>
                <a:t>2013-2023</a:t>
              </a:r>
            </a:p>
          </p:txBody>
        </p:sp>
      </p:grpSp>
      <p:sp>
        <p:nvSpPr>
          <p:cNvPr id="6" name="CaixaDeTexto 5">
            <a:extLst>
              <a:ext uri="{FF2B5EF4-FFF2-40B4-BE49-F238E27FC236}">
                <a16:creationId xmlns:a16="http://schemas.microsoft.com/office/drawing/2014/main" id="{3803869A-35E8-245E-9EEA-7F39941F6441}"/>
              </a:ext>
            </a:extLst>
          </p:cNvPr>
          <p:cNvSpPr txBox="1"/>
          <p:nvPr/>
        </p:nvSpPr>
        <p:spPr>
          <a:xfrm>
            <a:off x="1824519" y="6460772"/>
            <a:ext cx="1191352" cy="369332"/>
          </a:xfrm>
          <a:prstGeom prst="rect">
            <a:avLst/>
          </a:prstGeom>
          <a:noFill/>
        </p:spPr>
        <p:txBody>
          <a:bodyPr wrap="none" rtlCol="0">
            <a:spAutoFit/>
          </a:bodyPr>
          <a:lstStyle/>
          <a:p>
            <a:r>
              <a:rPr lang="pt-BR" dirty="0"/>
              <a:t>2004-2014</a:t>
            </a:r>
          </a:p>
        </p:txBody>
      </p:sp>
      <p:pic>
        <p:nvPicPr>
          <p:cNvPr id="21510" name="Picture 6" descr="Ícone do Skype (símbolo e logotipo png)">
            <a:extLst>
              <a:ext uri="{FF2B5EF4-FFF2-40B4-BE49-F238E27FC236}">
                <a16:creationId xmlns:a16="http://schemas.microsoft.com/office/drawing/2014/main" id="{D786BE87-8A7C-970F-A1C7-4E41315E78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659207" y="3903897"/>
            <a:ext cx="2143125" cy="2143125"/>
          </a:xfrm>
          <a:prstGeom prst="rect">
            <a:avLst/>
          </a:prstGeom>
          <a:noFill/>
          <a:extLst>
            <a:ext uri="{909E8E84-426E-40DD-AFC4-6F175D3DCCD1}">
              <a14:hiddenFill xmlns:a14="http://schemas.microsoft.com/office/drawing/2010/main">
                <a:solidFill>
                  <a:srgbClr val="FFFFFF"/>
                </a:solidFill>
              </a14:hiddenFill>
            </a:ext>
          </a:extLst>
        </p:spPr>
      </p:pic>
      <p:sp>
        <p:nvSpPr>
          <p:cNvPr id="7" name="CaixaDeTexto 6">
            <a:extLst>
              <a:ext uri="{FF2B5EF4-FFF2-40B4-BE49-F238E27FC236}">
                <a16:creationId xmlns:a16="http://schemas.microsoft.com/office/drawing/2014/main" id="{FDE28A6E-D61E-1DC4-D79E-7B4EE3C73588}"/>
              </a:ext>
            </a:extLst>
          </p:cNvPr>
          <p:cNvSpPr txBox="1"/>
          <p:nvPr/>
        </p:nvSpPr>
        <p:spPr>
          <a:xfrm>
            <a:off x="10162448" y="5862356"/>
            <a:ext cx="1191352" cy="369332"/>
          </a:xfrm>
          <a:prstGeom prst="rect">
            <a:avLst/>
          </a:prstGeom>
          <a:noFill/>
        </p:spPr>
        <p:txBody>
          <a:bodyPr wrap="none" rtlCol="0">
            <a:spAutoFit/>
          </a:bodyPr>
          <a:lstStyle/>
          <a:p>
            <a:r>
              <a:rPr lang="pt-BR" dirty="0"/>
              <a:t>2005-2025</a:t>
            </a:r>
          </a:p>
        </p:txBody>
      </p:sp>
    </p:spTree>
    <p:extLst>
      <p:ext uri="{BB962C8B-B14F-4D97-AF65-F5344CB8AC3E}">
        <p14:creationId xmlns:p14="http://schemas.microsoft.com/office/powerpoint/2010/main" val="13665245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nodeType="withEffect">
                                  <p:stCondLst>
                                    <p:cond delay="0"/>
                                  </p:stCondLst>
                                  <p:childTnLst>
                                    <p:set>
                                      <p:cBhvr>
                                        <p:cTn id="9" dur="1" fill="hold">
                                          <p:stCondLst>
                                            <p:cond delay="0"/>
                                          </p:stCondLst>
                                        </p:cTn>
                                        <p:tgtEl>
                                          <p:spTgt spid="21506"/>
                                        </p:tgtEl>
                                        <p:attrNameLst>
                                          <p:attrName>style.visibility</p:attrName>
                                        </p:attrNameLst>
                                      </p:cBhvr>
                                      <p:to>
                                        <p:strVal val="visible"/>
                                      </p:to>
                                    </p:set>
                                    <p:animEffect transition="in" filter="fade">
                                      <p:cBhvr>
                                        <p:cTn id="10" dur="500"/>
                                        <p:tgtEl>
                                          <p:spTgt spid="215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0" presetClass="entr" presetSubtype="0" fill="hold" grpId="0"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par>
                                <p:cTn id="21" presetID="10" presetClass="entr" presetSubtype="0" fill="hold" nodeType="withEffect">
                                  <p:stCondLst>
                                    <p:cond delay="0"/>
                                  </p:stCondLst>
                                  <p:childTnLst>
                                    <p:set>
                                      <p:cBhvr>
                                        <p:cTn id="22" dur="1" fill="hold">
                                          <p:stCondLst>
                                            <p:cond delay="0"/>
                                          </p:stCondLst>
                                        </p:cTn>
                                        <p:tgtEl>
                                          <p:spTgt spid="21510"/>
                                        </p:tgtEl>
                                        <p:attrNameLst>
                                          <p:attrName>style.visibility</p:attrName>
                                        </p:attrNameLst>
                                      </p:cBhvr>
                                      <p:to>
                                        <p:strVal val="visible"/>
                                      </p:to>
                                    </p:set>
                                    <p:animEffect transition="in" filter="fade">
                                      <p:cBhvr>
                                        <p:cTn id="23" dur="500"/>
                                        <p:tgtEl>
                                          <p:spTgt spid="215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F47128-280B-B85B-5EF2-78328207135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E357BFCD-2100-55F7-4CAA-6B7FF190597B}"/>
              </a:ext>
            </a:extLst>
          </p:cNvPr>
          <p:cNvSpPr>
            <a:spLocks noGrp="1"/>
          </p:cNvSpPr>
          <p:nvPr>
            <p:ph type="title"/>
          </p:nvPr>
        </p:nvSpPr>
        <p:spPr/>
        <p:txBody>
          <a:bodyPr/>
          <a:lstStyle/>
          <a:p>
            <a:r>
              <a:rPr lang="pt-BR" dirty="0"/>
              <a:t>2) </a:t>
            </a:r>
            <a:r>
              <a:rPr lang="pt-BR" i="1" dirty="0" err="1"/>
              <a:t>Balanced</a:t>
            </a:r>
            <a:r>
              <a:rPr lang="pt-BR" i="1" dirty="0"/>
              <a:t> </a:t>
            </a:r>
            <a:r>
              <a:rPr lang="pt-BR" i="1" dirty="0" err="1"/>
              <a:t>scorecard</a:t>
            </a:r>
            <a:endParaRPr lang="pt-BR" i="1" dirty="0"/>
          </a:p>
        </p:txBody>
      </p:sp>
      <p:sp>
        <p:nvSpPr>
          <p:cNvPr id="3" name="Espaço Reservado para Conteúdo 2">
            <a:extLst>
              <a:ext uri="{FF2B5EF4-FFF2-40B4-BE49-F238E27FC236}">
                <a16:creationId xmlns:a16="http://schemas.microsoft.com/office/drawing/2014/main" id="{277ADC3E-87FF-C732-F4B4-B6A1714CB86C}"/>
              </a:ext>
            </a:extLst>
          </p:cNvPr>
          <p:cNvSpPr>
            <a:spLocks noGrp="1"/>
          </p:cNvSpPr>
          <p:nvPr>
            <p:ph idx="1"/>
          </p:nvPr>
        </p:nvSpPr>
        <p:spPr>
          <a:xfrm>
            <a:off x="838200" y="1825625"/>
            <a:ext cx="5257800" cy="4351338"/>
          </a:xfrm>
        </p:spPr>
        <p:txBody>
          <a:bodyPr>
            <a:normAutofit lnSpcReduction="10000"/>
          </a:bodyPr>
          <a:lstStyle/>
          <a:p>
            <a:pPr>
              <a:spcBef>
                <a:spcPts val="1800"/>
              </a:spcBef>
            </a:pPr>
            <a:r>
              <a:rPr lang="pt-BR" dirty="0"/>
              <a:t>Projetos de software devem atender pelo menos uma dessas perspectivas</a:t>
            </a:r>
          </a:p>
          <a:p>
            <a:pPr lvl="1">
              <a:spcBef>
                <a:spcPts val="1800"/>
              </a:spcBef>
            </a:pPr>
            <a:r>
              <a:rPr lang="pt-BR" b="1" dirty="0"/>
              <a:t>Financeiro</a:t>
            </a:r>
            <a:r>
              <a:rPr lang="pt-BR" dirty="0"/>
              <a:t> – retorno sobre capital</a:t>
            </a:r>
          </a:p>
          <a:p>
            <a:pPr lvl="1">
              <a:spcBef>
                <a:spcPts val="1800"/>
              </a:spcBef>
            </a:pPr>
            <a:r>
              <a:rPr lang="pt-BR" b="1" dirty="0"/>
              <a:t>Cliente</a:t>
            </a:r>
            <a:r>
              <a:rPr lang="pt-BR" dirty="0"/>
              <a:t> – fidelizar e encantar</a:t>
            </a:r>
          </a:p>
          <a:p>
            <a:pPr lvl="1">
              <a:spcBef>
                <a:spcPts val="1800"/>
              </a:spcBef>
            </a:pPr>
            <a:r>
              <a:rPr lang="pt-BR" b="1" dirty="0"/>
              <a:t>Processos internos </a:t>
            </a:r>
            <a:r>
              <a:rPr lang="pt-BR" dirty="0"/>
              <a:t>– baixo custo, zero defeitos, entregas pontuais, confiável, novos produtos</a:t>
            </a:r>
          </a:p>
          <a:p>
            <a:pPr lvl="1">
              <a:spcBef>
                <a:spcPts val="1800"/>
              </a:spcBef>
            </a:pPr>
            <a:r>
              <a:rPr lang="pt-BR" b="1" dirty="0"/>
              <a:t>Aprendizado</a:t>
            </a:r>
            <a:r>
              <a:rPr lang="pt-BR" dirty="0"/>
              <a:t> – produtividade e satisfação de colaboradores</a:t>
            </a:r>
          </a:p>
        </p:txBody>
      </p:sp>
      <p:pic>
        <p:nvPicPr>
          <p:cNvPr id="23554" name="Picture 2" descr="undefined">
            <a:extLst>
              <a:ext uri="{FF2B5EF4-FFF2-40B4-BE49-F238E27FC236}">
                <a16:creationId xmlns:a16="http://schemas.microsoft.com/office/drawing/2014/main" id="{A3EC6140-DE18-803F-493F-9BF062DB36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89511" y="1928971"/>
            <a:ext cx="5407379" cy="43394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218326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C3AA423-9D1C-9DD6-0AC9-56D1310F6B96}"/>
              </a:ext>
            </a:extLst>
          </p:cNvPr>
          <p:cNvSpPr>
            <a:spLocks noGrp="1"/>
          </p:cNvSpPr>
          <p:nvPr>
            <p:ph type="title"/>
          </p:nvPr>
        </p:nvSpPr>
        <p:spPr/>
        <p:txBody>
          <a:bodyPr/>
          <a:lstStyle/>
          <a:p>
            <a:r>
              <a:rPr lang="pt-BR" dirty="0"/>
              <a:t>2) </a:t>
            </a:r>
            <a:r>
              <a:rPr lang="pt-BR" i="1" dirty="0" err="1"/>
              <a:t>Balanced</a:t>
            </a:r>
            <a:r>
              <a:rPr lang="pt-BR" i="1" dirty="0"/>
              <a:t> </a:t>
            </a:r>
            <a:r>
              <a:rPr lang="pt-BR" i="1" dirty="0" err="1"/>
              <a:t>scorecard</a:t>
            </a:r>
            <a:endParaRPr lang="pt-BR" i="1" dirty="0"/>
          </a:p>
        </p:txBody>
      </p:sp>
      <p:sp>
        <p:nvSpPr>
          <p:cNvPr id="5" name="Espaço Reservado para Conteúdo 4">
            <a:extLst>
              <a:ext uri="{FF2B5EF4-FFF2-40B4-BE49-F238E27FC236}">
                <a16:creationId xmlns:a16="http://schemas.microsoft.com/office/drawing/2014/main" id="{E0756425-6A9B-0A99-850B-7BFF9B8D1349}"/>
              </a:ext>
            </a:extLst>
          </p:cNvPr>
          <p:cNvSpPr>
            <a:spLocks noGrp="1"/>
          </p:cNvSpPr>
          <p:nvPr>
            <p:ph idx="1"/>
          </p:nvPr>
        </p:nvSpPr>
        <p:spPr>
          <a:xfrm>
            <a:off x="4944532" y="1825625"/>
            <a:ext cx="6908801" cy="4667250"/>
          </a:xfrm>
        </p:spPr>
        <p:txBody>
          <a:bodyPr>
            <a:normAutofit fontScale="92500" lnSpcReduction="20000"/>
          </a:bodyPr>
          <a:lstStyle/>
          <a:p>
            <a:pPr marL="0" indent="0">
              <a:buNone/>
            </a:pPr>
            <a:r>
              <a:rPr lang="pt-BR" b="1" dirty="0"/>
              <a:t>Perspectivas</a:t>
            </a:r>
          </a:p>
          <a:p>
            <a:r>
              <a:rPr lang="pt-BR" sz="2400" b="1" dirty="0"/>
              <a:t>Financeiras</a:t>
            </a:r>
            <a:r>
              <a:rPr lang="pt-BR" sz="2400" dirty="0"/>
              <a:t>: reduzir custos administrativos</a:t>
            </a:r>
          </a:p>
          <a:p>
            <a:pPr lvl="1"/>
            <a:r>
              <a:rPr lang="pt-BR" sz="2000" dirty="0"/>
              <a:t>-20% até 2027</a:t>
            </a:r>
          </a:p>
          <a:p>
            <a:pPr lvl="1"/>
            <a:r>
              <a:rPr lang="pt-BR" sz="2000" dirty="0"/>
              <a:t>SW: automação de processos de matrículas e emissão de documentos</a:t>
            </a:r>
          </a:p>
          <a:p>
            <a:pPr>
              <a:spcBef>
                <a:spcPts val="1800"/>
              </a:spcBef>
            </a:pPr>
            <a:r>
              <a:rPr lang="pt-BR" sz="2400" b="1" dirty="0"/>
              <a:t>Clientes</a:t>
            </a:r>
            <a:r>
              <a:rPr lang="pt-BR" sz="2400" dirty="0"/>
              <a:t>: aumentar satisfação dos alunos</a:t>
            </a:r>
          </a:p>
          <a:p>
            <a:pPr lvl="1"/>
            <a:r>
              <a:rPr lang="pt-BR" sz="2000" dirty="0"/>
              <a:t>NPS &gt;80</a:t>
            </a:r>
          </a:p>
          <a:p>
            <a:pPr lvl="1"/>
            <a:r>
              <a:rPr lang="pt-BR" sz="2000" dirty="0"/>
              <a:t>SW: portal do aluno, consulta histórico, </a:t>
            </a:r>
            <a:r>
              <a:rPr lang="pt-BR" sz="2000" dirty="0" err="1"/>
              <a:t>docs</a:t>
            </a:r>
            <a:r>
              <a:rPr lang="pt-BR" sz="2000" dirty="0"/>
              <a:t> digitais</a:t>
            </a:r>
          </a:p>
          <a:p>
            <a:pPr>
              <a:spcBef>
                <a:spcPts val="1800"/>
              </a:spcBef>
            </a:pPr>
            <a:r>
              <a:rPr lang="pt-BR" sz="2400" b="1" dirty="0"/>
              <a:t>Processos internos</a:t>
            </a:r>
            <a:r>
              <a:rPr lang="pt-BR" sz="2400" dirty="0"/>
              <a:t>: melhorar atendimento</a:t>
            </a:r>
          </a:p>
          <a:p>
            <a:pPr lvl="1"/>
            <a:r>
              <a:rPr lang="pt-BR" sz="2000" dirty="0"/>
              <a:t>Tempo médio de matrícula: de 5 para 1 dia</a:t>
            </a:r>
          </a:p>
          <a:p>
            <a:pPr lvl="1"/>
            <a:r>
              <a:rPr lang="pt-BR" sz="2000" dirty="0"/>
              <a:t>SW: workflow automatizado de matrícula e análise de </a:t>
            </a:r>
            <a:r>
              <a:rPr lang="pt-BR" sz="2000" dirty="0" err="1"/>
              <a:t>docs</a:t>
            </a:r>
            <a:endParaRPr lang="pt-BR" sz="2000" dirty="0"/>
          </a:p>
          <a:p>
            <a:pPr>
              <a:spcBef>
                <a:spcPts val="1800"/>
              </a:spcBef>
            </a:pPr>
            <a:r>
              <a:rPr lang="pt-BR" sz="2400" b="1" dirty="0"/>
              <a:t>Aprendizado</a:t>
            </a:r>
            <a:r>
              <a:rPr lang="pt-BR" sz="2400" dirty="0"/>
              <a:t>: capacitar equipe de TI</a:t>
            </a:r>
          </a:p>
          <a:p>
            <a:pPr lvl="1"/>
            <a:r>
              <a:rPr lang="pt-BR" sz="2000" dirty="0"/>
              <a:t>100 equipe treinada até 2026</a:t>
            </a:r>
          </a:p>
          <a:p>
            <a:pPr lvl="1"/>
            <a:r>
              <a:rPr lang="pt-BR" sz="2000" dirty="0"/>
              <a:t>SW: capacitação </a:t>
            </a:r>
            <a:r>
              <a:rPr lang="pt-BR" sz="2000" dirty="0" err="1"/>
              <a:t>DevOps</a:t>
            </a:r>
            <a:r>
              <a:rPr lang="pt-BR" sz="2000" dirty="0"/>
              <a:t> e Cloud </a:t>
            </a:r>
            <a:r>
              <a:rPr lang="pt-BR" sz="2000" dirty="0" err="1"/>
              <a:t>Computing</a:t>
            </a:r>
            <a:endParaRPr lang="pt-BR" sz="2000" dirty="0"/>
          </a:p>
        </p:txBody>
      </p:sp>
      <p:sp>
        <p:nvSpPr>
          <p:cNvPr id="6" name="Espaço Reservado para Conteúdo 2">
            <a:extLst>
              <a:ext uri="{FF2B5EF4-FFF2-40B4-BE49-F238E27FC236}">
                <a16:creationId xmlns:a16="http://schemas.microsoft.com/office/drawing/2014/main" id="{78F62B91-F9E8-A7CE-29A7-A46D6D2F8050}"/>
              </a:ext>
            </a:extLst>
          </p:cNvPr>
          <p:cNvSpPr txBox="1">
            <a:spLocks/>
          </p:cNvSpPr>
          <p:nvPr/>
        </p:nvSpPr>
        <p:spPr>
          <a:xfrm>
            <a:off x="140926" y="1825625"/>
            <a:ext cx="4419786" cy="4351338"/>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pt-BR"/>
              <a:t>Empresa de tecnologia educacional tem como </a:t>
            </a:r>
            <a:r>
              <a:rPr lang="pt-BR" b="1"/>
              <a:t>objetivos estratégicos </a:t>
            </a:r>
            <a:r>
              <a:rPr lang="pt-BR"/>
              <a:t>para os próximos 5 anos:</a:t>
            </a:r>
          </a:p>
          <a:p>
            <a:pPr marL="450850" lvl="1">
              <a:spcBef>
                <a:spcPts val="1800"/>
              </a:spcBef>
            </a:pPr>
            <a:r>
              <a:rPr lang="pt-BR"/>
              <a:t>Expandir base de alunos online em 40%;</a:t>
            </a:r>
          </a:p>
          <a:p>
            <a:pPr marL="450850" lvl="1">
              <a:spcBef>
                <a:spcPts val="1800"/>
              </a:spcBef>
            </a:pPr>
            <a:r>
              <a:rPr lang="pt-BR"/>
              <a:t>Reduzir custos operacionais em 20%</a:t>
            </a:r>
          </a:p>
          <a:p>
            <a:pPr marL="450850" lvl="1">
              <a:spcBef>
                <a:spcPts val="1800"/>
              </a:spcBef>
            </a:pPr>
            <a:r>
              <a:rPr lang="pt-BR"/>
              <a:t>Melhorar experiência digital dos estudantes</a:t>
            </a:r>
            <a:endParaRPr lang="pt-BR" dirty="0"/>
          </a:p>
        </p:txBody>
      </p:sp>
    </p:spTree>
    <p:extLst>
      <p:ext uri="{BB962C8B-B14F-4D97-AF65-F5344CB8AC3E}">
        <p14:creationId xmlns:p14="http://schemas.microsoft.com/office/powerpoint/2010/main" val="20615179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animEffect transition="in" filter="fade">
                                      <p:cBhvr>
                                        <p:cTn id="7" dur="500"/>
                                        <p:tgtEl>
                                          <p:spTgt spid="5">
                                            <p:txEl>
                                              <p:pRg st="1" end="1"/>
                                            </p:txEl>
                                          </p:spTgt>
                                        </p:tgtEl>
                                      </p:cBhvr>
                                    </p:animEffect>
                                  </p:childTnLst>
                                </p:cTn>
                              </p:par>
                              <p:par>
                                <p:cTn id="8" presetID="10" presetClass="entr" presetSubtype="0" fill="hold" nodeType="withEffect">
                                  <p:stCondLst>
                                    <p:cond delay="0"/>
                                  </p:stCondLst>
                                  <p:childTnLst>
                                    <p:set>
                                      <p:cBhvr>
                                        <p:cTn id="9" dur="1" fill="hold">
                                          <p:stCondLst>
                                            <p:cond delay="0"/>
                                          </p:stCondLst>
                                        </p:cTn>
                                        <p:tgtEl>
                                          <p:spTgt spid="5">
                                            <p:txEl>
                                              <p:pRg st="2" end="2"/>
                                            </p:txEl>
                                          </p:spTgt>
                                        </p:tgtEl>
                                        <p:attrNameLst>
                                          <p:attrName>style.visibility</p:attrName>
                                        </p:attrNameLst>
                                      </p:cBhvr>
                                      <p:to>
                                        <p:strVal val="visible"/>
                                      </p:to>
                                    </p:set>
                                    <p:animEffect transition="in" filter="fade">
                                      <p:cBhvr>
                                        <p:cTn id="10" dur="500"/>
                                        <p:tgtEl>
                                          <p:spTgt spid="5">
                                            <p:txEl>
                                              <p:pRg st="2" end="2"/>
                                            </p:txEl>
                                          </p:spTgt>
                                        </p:tgtEl>
                                      </p:cBhvr>
                                    </p:animEffect>
                                  </p:childTnLst>
                                </p:cTn>
                              </p:par>
                              <p:par>
                                <p:cTn id="11" presetID="10" presetClass="entr" presetSubtype="0" fill="hold" nodeType="withEffect">
                                  <p:stCondLst>
                                    <p:cond delay="0"/>
                                  </p:stCondLst>
                                  <p:childTnLst>
                                    <p:set>
                                      <p:cBhvr>
                                        <p:cTn id="12" dur="1" fill="hold">
                                          <p:stCondLst>
                                            <p:cond delay="0"/>
                                          </p:stCondLst>
                                        </p:cTn>
                                        <p:tgtEl>
                                          <p:spTgt spid="5">
                                            <p:txEl>
                                              <p:pRg st="3" end="3"/>
                                            </p:txEl>
                                          </p:spTgt>
                                        </p:tgtEl>
                                        <p:attrNameLst>
                                          <p:attrName>style.visibility</p:attrName>
                                        </p:attrNameLst>
                                      </p:cBhvr>
                                      <p:to>
                                        <p:strVal val="visible"/>
                                      </p:to>
                                    </p:set>
                                    <p:animEffect transition="in" filter="fade">
                                      <p:cBhvr>
                                        <p:cTn id="13" dur="500"/>
                                        <p:tgtEl>
                                          <p:spTgt spid="5">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5">
                                            <p:txEl>
                                              <p:pRg st="4" end="4"/>
                                            </p:txEl>
                                          </p:spTgt>
                                        </p:tgtEl>
                                        <p:attrNameLst>
                                          <p:attrName>style.visibility</p:attrName>
                                        </p:attrNameLst>
                                      </p:cBhvr>
                                      <p:to>
                                        <p:strVal val="visible"/>
                                      </p:to>
                                    </p:set>
                                    <p:animEffect transition="in" filter="fade">
                                      <p:cBhvr>
                                        <p:cTn id="18" dur="500"/>
                                        <p:tgtEl>
                                          <p:spTgt spid="5">
                                            <p:txEl>
                                              <p:pRg st="4" end="4"/>
                                            </p:txEl>
                                          </p:spTgt>
                                        </p:tgtEl>
                                      </p:cBhvr>
                                    </p:animEffect>
                                  </p:childTnLst>
                                </p:cTn>
                              </p:par>
                              <p:par>
                                <p:cTn id="19" presetID="10" presetClass="entr" presetSubtype="0" fill="hold" nodeType="withEffect">
                                  <p:stCondLst>
                                    <p:cond delay="0"/>
                                  </p:stCondLst>
                                  <p:childTnLst>
                                    <p:set>
                                      <p:cBhvr>
                                        <p:cTn id="20" dur="1" fill="hold">
                                          <p:stCondLst>
                                            <p:cond delay="0"/>
                                          </p:stCondLst>
                                        </p:cTn>
                                        <p:tgtEl>
                                          <p:spTgt spid="5">
                                            <p:txEl>
                                              <p:pRg st="5" end="5"/>
                                            </p:txEl>
                                          </p:spTgt>
                                        </p:tgtEl>
                                        <p:attrNameLst>
                                          <p:attrName>style.visibility</p:attrName>
                                        </p:attrNameLst>
                                      </p:cBhvr>
                                      <p:to>
                                        <p:strVal val="visible"/>
                                      </p:to>
                                    </p:set>
                                    <p:animEffect transition="in" filter="fade">
                                      <p:cBhvr>
                                        <p:cTn id="21" dur="500"/>
                                        <p:tgtEl>
                                          <p:spTgt spid="5">
                                            <p:txEl>
                                              <p:pRg st="5" end="5"/>
                                            </p:txEl>
                                          </p:spTgt>
                                        </p:tgtEl>
                                      </p:cBhvr>
                                    </p:animEffect>
                                  </p:childTnLst>
                                </p:cTn>
                              </p:par>
                              <p:par>
                                <p:cTn id="22" presetID="10" presetClass="entr" presetSubtype="0" fill="hold" nodeType="withEffect">
                                  <p:stCondLst>
                                    <p:cond delay="0"/>
                                  </p:stCondLst>
                                  <p:childTnLst>
                                    <p:set>
                                      <p:cBhvr>
                                        <p:cTn id="23" dur="1" fill="hold">
                                          <p:stCondLst>
                                            <p:cond delay="0"/>
                                          </p:stCondLst>
                                        </p:cTn>
                                        <p:tgtEl>
                                          <p:spTgt spid="5">
                                            <p:txEl>
                                              <p:pRg st="6" end="6"/>
                                            </p:txEl>
                                          </p:spTgt>
                                        </p:tgtEl>
                                        <p:attrNameLst>
                                          <p:attrName>style.visibility</p:attrName>
                                        </p:attrNameLst>
                                      </p:cBhvr>
                                      <p:to>
                                        <p:strVal val="visible"/>
                                      </p:to>
                                    </p:set>
                                    <p:animEffect transition="in" filter="fade">
                                      <p:cBhvr>
                                        <p:cTn id="24" dur="500"/>
                                        <p:tgtEl>
                                          <p:spTgt spid="5">
                                            <p:txEl>
                                              <p:pRg st="6" end="6"/>
                                            </p:txEl>
                                          </p:spTgt>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nodeType="clickEffect">
                                  <p:stCondLst>
                                    <p:cond delay="0"/>
                                  </p:stCondLst>
                                  <p:childTnLst>
                                    <p:set>
                                      <p:cBhvr>
                                        <p:cTn id="28" dur="1" fill="hold">
                                          <p:stCondLst>
                                            <p:cond delay="0"/>
                                          </p:stCondLst>
                                        </p:cTn>
                                        <p:tgtEl>
                                          <p:spTgt spid="5">
                                            <p:txEl>
                                              <p:pRg st="7" end="7"/>
                                            </p:txEl>
                                          </p:spTgt>
                                        </p:tgtEl>
                                        <p:attrNameLst>
                                          <p:attrName>style.visibility</p:attrName>
                                        </p:attrNameLst>
                                      </p:cBhvr>
                                      <p:to>
                                        <p:strVal val="visible"/>
                                      </p:to>
                                    </p:set>
                                    <p:animEffect transition="in" filter="fade">
                                      <p:cBhvr>
                                        <p:cTn id="29" dur="500"/>
                                        <p:tgtEl>
                                          <p:spTgt spid="5">
                                            <p:txEl>
                                              <p:pRg st="7" end="7"/>
                                            </p:txEl>
                                          </p:spTgt>
                                        </p:tgtEl>
                                      </p:cBhvr>
                                    </p:animEffect>
                                  </p:childTnLst>
                                </p:cTn>
                              </p:par>
                              <p:par>
                                <p:cTn id="30" presetID="10" presetClass="entr" presetSubtype="0" fill="hold" nodeType="withEffect">
                                  <p:stCondLst>
                                    <p:cond delay="0"/>
                                  </p:stCondLst>
                                  <p:childTnLst>
                                    <p:set>
                                      <p:cBhvr>
                                        <p:cTn id="31" dur="1" fill="hold">
                                          <p:stCondLst>
                                            <p:cond delay="0"/>
                                          </p:stCondLst>
                                        </p:cTn>
                                        <p:tgtEl>
                                          <p:spTgt spid="5">
                                            <p:txEl>
                                              <p:pRg st="8" end="8"/>
                                            </p:txEl>
                                          </p:spTgt>
                                        </p:tgtEl>
                                        <p:attrNameLst>
                                          <p:attrName>style.visibility</p:attrName>
                                        </p:attrNameLst>
                                      </p:cBhvr>
                                      <p:to>
                                        <p:strVal val="visible"/>
                                      </p:to>
                                    </p:set>
                                    <p:animEffect transition="in" filter="fade">
                                      <p:cBhvr>
                                        <p:cTn id="32" dur="500"/>
                                        <p:tgtEl>
                                          <p:spTgt spid="5">
                                            <p:txEl>
                                              <p:pRg st="8" end="8"/>
                                            </p:txEl>
                                          </p:spTgt>
                                        </p:tgtEl>
                                      </p:cBhvr>
                                    </p:animEffect>
                                  </p:childTnLst>
                                </p:cTn>
                              </p:par>
                              <p:par>
                                <p:cTn id="33" presetID="10" presetClass="entr" presetSubtype="0" fill="hold" nodeType="with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animEffect transition="in" filter="fade">
                                      <p:cBhvr>
                                        <p:cTn id="35" dur="500"/>
                                        <p:tgtEl>
                                          <p:spTgt spid="5">
                                            <p:txEl>
                                              <p:pRg st="9" end="9"/>
                                            </p:txEl>
                                          </p:spTgt>
                                        </p:tgtEl>
                                      </p:cBhvr>
                                    </p:animEffec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nodeType="clickEffect">
                                  <p:stCondLst>
                                    <p:cond delay="0"/>
                                  </p:stCondLst>
                                  <p:childTnLst>
                                    <p:set>
                                      <p:cBhvr>
                                        <p:cTn id="39" dur="1" fill="hold">
                                          <p:stCondLst>
                                            <p:cond delay="0"/>
                                          </p:stCondLst>
                                        </p:cTn>
                                        <p:tgtEl>
                                          <p:spTgt spid="5">
                                            <p:txEl>
                                              <p:pRg st="10" end="10"/>
                                            </p:txEl>
                                          </p:spTgt>
                                        </p:tgtEl>
                                        <p:attrNameLst>
                                          <p:attrName>style.visibility</p:attrName>
                                        </p:attrNameLst>
                                      </p:cBhvr>
                                      <p:to>
                                        <p:strVal val="visible"/>
                                      </p:to>
                                    </p:set>
                                    <p:animEffect transition="in" filter="fade">
                                      <p:cBhvr>
                                        <p:cTn id="40" dur="500"/>
                                        <p:tgtEl>
                                          <p:spTgt spid="5">
                                            <p:txEl>
                                              <p:pRg st="10" end="10"/>
                                            </p:txEl>
                                          </p:spTgt>
                                        </p:tgtEl>
                                      </p:cBhvr>
                                    </p:animEffect>
                                  </p:childTnLst>
                                </p:cTn>
                              </p:par>
                              <p:par>
                                <p:cTn id="41" presetID="10" presetClass="entr" presetSubtype="0" fill="hold" nodeType="withEffect">
                                  <p:stCondLst>
                                    <p:cond delay="0"/>
                                  </p:stCondLst>
                                  <p:childTnLst>
                                    <p:set>
                                      <p:cBhvr>
                                        <p:cTn id="42" dur="1" fill="hold">
                                          <p:stCondLst>
                                            <p:cond delay="0"/>
                                          </p:stCondLst>
                                        </p:cTn>
                                        <p:tgtEl>
                                          <p:spTgt spid="5">
                                            <p:txEl>
                                              <p:pRg st="11" end="11"/>
                                            </p:txEl>
                                          </p:spTgt>
                                        </p:tgtEl>
                                        <p:attrNameLst>
                                          <p:attrName>style.visibility</p:attrName>
                                        </p:attrNameLst>
                                      </p:cBhvr>
                                      <p:to>
                                        <p:strVal val="visible"/>
                                      </p:to>
                                    </p:set>
                                    <p:animEffect transition="in" filter="fade">
                                      <p:cBhvr>
                                        <p:cTn id="43" dur="500"/>
                                        <p:tgtEl>
                                          <p:spTgt spid="5">
                                            <p:txEl>
                                              <p:pRg st="11" end="11"/>
                                            </p:txEl>
                                          </p:spTgt>
                                        </p:tgtEl>
                                      </p:cBhvr>
                                    </p:animEffect>
                                  </p:childTnLst>
                                </p:cTn>
                              </p:par>
                              <p:par>
                                <p:cTn id="44" presetID="10" presetClass="entr" presetSubtype="0" fill="hold" nodeType="withEffect">
                                  <p:stCondLst>
                                    <p:cond delay="0"/>
                                  </p:stCondLst>
                                  <p:childTnLst>
                                    <p:set>
                                      <p:cBhvr>
                                        <p:cTn id="45" dur="1" fill="hold">
                                          <p:stCondLst>
                                            <p:cond delay="0"/>
                                          </p:stCondLst>
                                        </p:cTn>
                                        <p:tgtEl>
                                          <p:spTgt spid="5">
                                            <p:txEl>
                                              <p:pRg st="12" end="12"/>
                                            </p:txEl>
                                          </p:spTgt>
                                        </p:tgtEl>
                                        <p:attrNameLst>
                                          <p:attrName>style.visibility</p:attrName>
                                        </p:attrNameLst>
                                      </p:cBhvr>
                                      <p:to>
                                        <p:strVal val="visible"/>
                                      </p:to>
                                    </p:set>
                                    <p:animEffect transition="in" filter="fade">
                                      <p:cBhvr>
                                        <p:cTn id="46" dur="500"/>
                                        <p:tgtEl>
                                          <p:spTgt spid="5">
                                            <p:txEl>
                                              <p:pRg st="12" end="1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4828F9-3177-9F12-59B3-229DE3F46D6F}"/>
              </a:ext>
            </a:extLst>
          </p:cNvPr>
          <p:cNvSpPr>
            <a:spLocks noGrp="1"/>
          </p:cNvSpPr>
          <p:nvPr>
            <p:ph type="title"/>
          </p:nvPr>
        </p:nvSpPr>
        <p:spPr/>
        <p:txBody>
          <a:bodyPr/>
          <a:lstStyle/>
          <a:p>
            <a:r>
              <a:rPr lang="pt-BR" dirty="0"/>
              <a:t>3) OKR</a:t>
            </a:r>
          </a:p>
        </p:txBody>
      </p:sp>
      <p:sp>
        <p:nvSpPr>
          <p:cNvPr id="3" name="Espaço Reservado para Conteúdo 2">
            <a:extLst>
              <a:ext uri="{FF2B5EF4-FFF2-40B4-BE49-F238E27FC236}">
                <a16:creationId xmlns:a16="http://schemas.microsoft.com/office/drawing/2014/main" id="{ACEB67B1-30FE-B793-4BAA-F43AC809DB23}"/>
              </a:ext>
            </a:extLst>
          </p:cNvPr>
          <p:cNvSpPr>
            <a:spLocks noGrp="1"/>
          </p:cNvSpPr>
          <p:nvPr>
            <p:ph idx="1"/>
          </p:nvPr>
        </p:nvSpPr>
        <p:spPr/>
        <p:txBody>
          <a:bodyPr/>
          <a:lstStyle/>
          <a:p>
            <a:r>
              <a:rPr lang="pt-BR" i="1" dirty="0" err="1"/>
              <a:t>Objectives</a:t>
            </a:r>
            <a:r>
              <a:rPr lang="pt-BR" i="1" dirty="0"/>
              <a:t> </a:t>
            </a:r>
            <a:r>
              <a:rPr lang="pt-BR" i="1" dirty="0" err="1"/>
              <a:t>and</a:t>
            </a:r>
            <a:r>
              <a:rPr lang="pt-BR" i="1" dirty="0"/>
              <a:t> Key </a:t>
            </a:r>
            <a:r>
              <a:rPr lang="pt-BR" i="1" dirty="0" err="1"/>
              <a:t>Results</a:t>
            </a:r>
            <a:endParaRPr lang="pt-BR" i="1" dirty="0"/>
          </a:p>
          <a:p>
            <a:r>
              <a:rPr lang="pt-BR" dirty="0"/>
              <a:t>Liga metas estratégicas a entregas de projetos</a:t>
            </a:r>
          </a:p>
          <a:p>
            <a:endParaRPr lang="pt-BR" dirty="0"/>
          </a:p>
        </p:txBody>
      </p:sp>
      <p:pic>
        <p:nvPicPr>
          <p:cNvPr id="24578" name="Picture 2">
            <a:extLst>
              <a:ext uri="{FF2B5EF4-FFF2-40B4-BE49-F238E27FC236}">
                <a16:creationId xmlns:a16="http://schemas.microsoft.com/office/drawing/2014/main" id="{E6913CDF-84BF-21DA-D47E-BB621A6957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4718" y="2766467"/>
            <a:ext cx="6322564" cy="3726408"/>
          </a:xfrm>
          <a:prstGeom prst="rect">
            <a:avLst/>
          </a:prstGeom>
          <a:noFill/>
          <a:extLst>
            <a:ext uri="{909E8E84-426E-40DD-AFC4-6F175D3DCCD1}">
              <a14:hiddenFill xmlns:a14="http://schemas.microsoft.com/office/drawing/2010/main">
                <a:solidFill>
                  <a:srgbClr val="FFFFFF"/>
                </a:solidFill>
              </a14:hiddenFill>
            </a:ext>
          </a:extLst>
        </p:spPr>
      </p:pic>
      <p:sp>
        <p:nvSpPr>
          <p:cNvPr id="5" name="CaixaDeTexto 4">
            <a:extLst>
              <a:ext uri="{FF2B5EF4-FFF2-40B4-BE49-F238E27FC236}">
                <a16:creationId xmlns:a16="http://schemas.microsoft.com/office/drawing/2014/main" id="{00B3D393-6FCF-B6BB-AF34-3E590614BF41}"/>
              </a:ext>
            </a:extLst>
          </p:cNvPr>
          <p:cNvSpPr txBox="1"/>
          <p:nvPr/>
        </p:nvSpPr>
        <p:spPr>
          <a:xfrm>
            <a:off x="1377244" y="6492875"/>
            <a:ext cx="9437512" cy="338554"/>
          </a:xfrm>
          <a:prstGeom prst="rect">
            <a:avLst/>
          </a:prstGeom>
          <a:noFill/>
        </p:spPr>
        <p:txBody>
          <a:bodyPr wrap="square">
            <a:spAutoFit/>
          </a:bodyPr>
          <a:lstStyle/>
          <a:p>
            <a:pPr algn="ctr"/>
            <a:r>
              <a:rPr lang="pt-BR" sz="1600" dirty="0">
                <a:hlinkClick r:id="rId3"/>
              </a:rPr>
              <a:t>https://www.linkedin.com/pulse/tudo-o-que-voc%C3%AA-precisa-saber-sobre-origem-do-okr-e-porque-gomes/</a:t>
            </a:r>
            <a:r>
              <a:rPr lang="pt-BR" sz="1600" dirty="0"/>
              <a:t> </a:t>
            </a:r>
          </a:p>
        </p:txBody>
      </p:sp>
      <p:pic>
        <p:nvPicPr>
          <p:cNvPr id="24582" name="Picture 6" descr="Avalie o que Importa: Como o Google, Bono Vox e a Fundação Gates Sacudiram  o Mundo com os OKRs | Amazon.com.br">
            <a:extLst>
              <a:ext uri="{FF2B5EF4-FFF2-40B4-BE49-F238E27FC236}">
                <a16:creationId xmlns:a16="http://schemas.microsoft.com/office/drawing/2014/main" id="{9992E8A8-A029-ED42-686D-C2A52C8CF3C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541491" y="2880607"/>
            <a:ext cx="2198333" cy="3296356"/>
          </a:xfrm>
          <a:prstGeom prst="rect">
            <a:avLst/>
          </a:prstGeom>
          <a:noFill/>
          <a:effectLst>
            <a:outerShdw blurRad="50800" dist="38100" dir="5400000" algn="t"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30448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fade">
                                      <p:cBhvr>
                                        <p:cTn id="7" dur="500"/>
                                        <p:tgtEl>
                                          <p:spTgt spid="2457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4582"/>
                                        </p:tgtEl>
                                        <p:attrNameLst>
                                          <p:attrName>style.visibility</p:attrName>
                                        </p:attrNameLst>
                                      </p:cBhvr>
                                      <p:to>
                                        <p:strVal val="visible"/>
                                      </p:to>
                                    </p:set>
                                    <p:animEffect transition="in" filter="fade">
                                      <p:cBhvr>
                                        <p:cTn id="15" dur="500"/>
                                        <p:tgtEl>
                                          <p:spTgt spid="2458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2E8D69B-EF88-34F9-1F7C-C455FE63FA76}"/>
              </a:ext>
            </a:extLst>
          </p:cNvPr>
          <p:cNvSpPr>
            <a:spLocks noGrp="1"/>
          </p:cNvSpPr>
          <p:nvPr>
            <p:ph type="title"/>
          </p:nvPr>
        </p:nvSpPr>
        <p:spPr/>
        <p:txBody>
          <a:bodyPr/>
          <a:lstStyle/>
          <a:p>
            <a:r>
              <a:rPr lang="pt-BR" dirty="0"/>
              <a:t>3) OKR</a:t>
            </a:r>
          </a:p>
        </p:txBody>
      </p:sp>
      <p:sp>
        <p:nvSpPr>
          <p:cNvPr id="3" name="Espaço Reservado para Conteúdo 2">
            <a:extLst>
              <a:ext uri="{FF2B5EF4-FFF2-40B4-BE49-F238E27FC236}">
                <a16:creationId xmlns:a16="http://schemas.microsoft.com/office/drawing/2014/main" id="{904926C7-5237-45F1-4A75-FDD1D8F7E155}"/>
              </a:ext>
            </a:extLst>
          </p:cNvPr>
          <p:cNvSpPr>
            <a:spLocks noGrp="1"/>
          </p:cNvSpPr>
          <p:nvPr>
            <p:ph idx="1"/>
          </p:nvPr>
        </p:nvSpPr>
        <p:spPr/>
        <p:txBody>
          <a:bodyPr/>
          <a:lstStyle/>
          <a:p>
            <a:r>
              <a:rPr lang="pt-BR" dirty="0"/>
              <a:t>Objetivos (O): </a:t>
            </a:r>
            <a:r>
              <a:rPr lang="pt-BR" dirty="0">
                <a:solidFill>
                  <a:srgbClr val="FF0000"/>
                </a:solidFill>
              </a:rPr>
              <a:t>qualitativos</a:t>
            </a:r>
            <a:r>
              <a:rPr lang="pt-BR" dirty="0"/>
              <a:t>, inspiradores, estratégicos</a:t>
            </a:r>
          </a:p>
          <a:p>
            <a:pPr lvl="1"/>
            <a:r>
              <a:rPr lang="pt-BR" dirty="0"/>
              <a:t>“melhorar a experiência digital dos alunos”</a:t>
            </a:r>
          </a:p>
          <a:p>
            <a:pPr>
              <a:spcBef>
                <a:spcPts val="2400"/>
              </a:spcBef>
            </a:pPr>
            <a:r>
              <a:rPr lang="pt-BR" dirty="0"/>
              <a:t>Resultados-chave (KR): </a:t>
            </a:r>
            <a:r>
              <a:rPr lang="pt-BR" dirty="0">
                <a:solidFill>
                  <a:schemeClr val="accent1"/>
                </a:solidFill>
              </a:rPr>
              <a:t>quantitativos</a:t>
            </a:r>
            <a:r>
              <a:rPr lang="pt-BR" dirty="0"/>
              <a:t>, mensuráveis, verificáveis</a:t>
            </a:r>
          </a:p>
          <a:p>
            <a:pPr lvl="1"/>
            <a:r>
              <a:rPr lang="pt-BR" dirty="0"/>
              <a:t>“NPS &gt; 80”</a:t>
            </a:r>
          </a:p>
          <a:p>
            <a:pPr lvl="1"/>
            <a:endParaRPr lang="pt-BR" dirty="0"/>
          </a:p>
          <a:p>
            <a:r>
              <a:rPr lang="pt-BR" dirty="0">
                <a:sym typeface="Wingdings" panose="05000000000000000000" pitchFamily="2" charset="2"/>
              </a:rPr>
              <a:t>KR do Projeto:</a:t>
            </a:r>
          </a:p>
          <a:p>
            <a:pPr lvl="2"/>
            <a:r>
              <a:rPr lang="pt-BR" dirty="0">
                <a:sym typeface="Wingdings" panose="05000000000000000000" pitchFamily="2" charset="2"/>
              </a:rPr>
              <a:t>“Reduzir tempo médio de resposta do app de 2s para 500 </a:t>
            </a:r>
            <a:r>
              <a:rPr lang="pt-BR" dirty="0" err="1">
                <a:sym typeface="Wingdings" panose="05000000000000000000" pitchFamily="2" charset="2"/>
              </a:rPr>
              <a:t>ms</a:t>
            </a:r>
            <a:r>
              <a:rPr lang="pt-BR" dirty="0">
                <a:sym typeface="Wingdings" panose="05000000000000000000" pitchFamily="2" charset="2"/>
              </a:rPr>
              <a:t>”</a:t>
            </a:r>
            <a:endParaRPr lang="pt-BR" dirty="0"/>
          </a:p>
          <a:p>
            <a:endParaRPr lang="pt-BR" dirty="0"/>
          </a:p>
        </p:txBody>
      </p:sp>
    </p:spTree>
    <p:extLst>
      <p:ext uri="{BB962C8B-B14F-4D97-AF65-F5344CB8AC3E}">
        <p14:creationId xmlns:p14="http://schemas.microsoft.com/office/powerpoint/2010/main" val="31716639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12A4F7-E9AD-AE9D-E0EE-CAEECF515B82}"/>
              </a:ext>
            </a:extLst>
          </p:cNvPr>
          <p:cNvSpPr>
            <a:spLocks noGrp="1"/>
          </p:cNvSpPr>
          <p:nvPr>
            <p:ph type="title"/>
          </p:nvPr>
        </p:nvSpPr>
        <p:spPr/>
        <p:txBody>
          <a:bodyPr/>
          <a:lstStyle/>
          <a:p>
            <a:r>
              <a:rPr lang="pt-BR" dirty="0"/>
              <a:t>3) OKR - Desdobramentos</a:t>
            </a:r>
          </a:p>
        </p:txBody>
      </p:sp>
      <p:pic>
        <p:nvPicPr>
          <p:cNvPr id="25602" name="Picture 2" descr="OKRs: The Only Guide You Need [2025]">
            <a:extLst>
              <a:ext uri="{FF2B5EF4-FFF2-40B4-BE49-F238E27FC236}">
                <a16:creationId xmlns:a16="http://schemas.microsoft.com/office/drawing/2014/main" id="{1E1B9D6F-8E3C-604D-B136-57897887151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90511" y="1755069"/>
            <a:ext cx="8593667" cy="4511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34180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CAECAD-6E21-A716-9837-8F0AF28263F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2DEC82F-93B0-8055-258F-8CC480704B24}"/>
              </a:ext>
            </a:extLst>
          </p:cNvPr>
          <p:cNvSpPr>
            <a:spLocks noGrp="1"/>
          </p:cNvSpPr>
          <p:nvPr>
            <p:ph type="title"/>
          </p:nvPr>
        </p:nvSpPr>
        <p:spPr/>
        <p:txBody>
          <a:bodyPr/>
          <a:lstStyle/>
          <a:p>
            <a:r>
              <a:rPr lang="pt-BR" dirty="0"/>
              <a:t>3) OKR</a:t>
            </a:r>
          </a:p>
        </p:txBody>
      </p:sp>
      <p:sp>
        <p:nvSpPr>
          <p:cNvPr id="6" name="Espaço Reservado para Conteúdo 2">
            <a:extLst>
              <a:ext uri="{FF2B5EF4-FFF2-40B4-BE49-F238E27FC236}">
                <a16:creationId xmlns:a16="http://schemas.microsoft.com/office/drawing/2014/main" id="{CDEBB5A3-CF01-3783-FD31-1EC3EB3A9D70}"/>
              </a:ext>
            </a:extLst>
          </p:cNvPr>
          <p:cNvSpPr txBox="1">
            <a:spLocks/>
          </p:cNvSpPr>
          <p:nvPr/>
        </p:nvSpPr>
        <p:spPr>
          <a:xfrm>
            <a:off x="140926" y="1825625"/>
            <a:ext cx="3539252" cy="4351338"/>
          </a:xfrm>
          <a:prstGeom prst="rect">
            <a:avLst/>
          </a:prstGeom>
        </p:spPr>
        <p:style>
          <a:lnRef idx="1">
            <a:schemeClr val="accent3"/>
          </a:lnRef>
          <a:fillRef idx="2">
            <a:schemeClr val="accent3"/>
          </a:fillRef>
          <a:effectRef idx="1">
            <a:schemeClr val="accent3"/>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0" indent="0">
              <a:buFont typeface="Arial" panose="020B0604020202020204" pitchFamily="34" charset="0"/>
              <a:buNone/>
            </a:pPr>
            <a:r>
              <a:rPr lang="pt-BR" sz="2400" dirty="0"/>
              <a:t>Empresa de tecnologia educacional tem como </a:t>
            </a:r>
            <a:r>
              <a:rPr lang="pt-BR" sz="2400" b="1" dirty="0"/>
              <a:t>objetivos estratégicos </a:t>
            </a:r>
            <a:r>
              <a:rPr lang="pt-BR" sz="2400" dirty="0"/>
              <a:t>para os próximos 5 anos:</a:t>
            </a:r>
          </a:p>
          <a:p>
            <a:pPr marL="450850" lvl="1">
              <a:spcBef>
                <a:spcPts val="1800"/>
              </a:spcBef>
            </a:pPr>
            <a:r>
              <a:rPr lang="pt-BR" sz="2000" dirty="0"/>
              <a:t>Expandir base de alunos online em 40%;</a:t>
            </a:r>
          </a:p>
          <a:p>
            <a:pPr marL="450850" lvl="1">
              <a:spcBef>
                <a:spcPts val="1800"/>
              </a:spcBef>
            </a:pPr>
            <a:r>
              <a:rPr lang="pt-BR" sz="2000" dirty="0"/>
              <a:t>Reduzir custos operacionais em 20%</a:t>
            </a:r>
          </a:p>
          <a:p>
            <a:pPr marL="450850" lvl="1">
              <a:spcBef>
                <a:spcPts val="1800"/>
              </a:spcBef>
            </a:pPr>
            <a:r>
              <a:rPr lang="pt-BR" sz="2000" dirty="0"/>
              <a:t>Melhorar experiência digital dos estudantes</a:t>
            </a:r>
          </a:p>
        </p:txBody>
      </p:sp>
      <p:graphicFrame>
        <p:nvGraphicFramePr>
          <p:cNvPr id="3" name="Tabela 2">
            <a:extLst>
              <a:ext uri="{FF2B5EF4-FFF2-40B4-BE49-F238E27FC236}">
                <a16:creationId xmlns:a16="http://schemas.microsoft.com/office/drawing/2014/main" id="{21FC424F-B362-60F2-3523-ECBAEA13F5DB}"/>
              </a:ext>
            </a:extLst>
          </p:cNvPr>
          <p:cNvGraphicFramePr>
            <a:graphicFrameLocks noGrp="1"/>
          </p:cNvGraphicFramePr>
          <p:nvPr>
            <p:extLst>
              <p:ext uri="{D42A27DB-BD31-4B8C-83A1-F6EECF244321}">
                <p14:modId xmlns:p14="http://schemas.microsoft.com/office/powerpoint/2010/main" val="2419340472"/>
              </p:ext>
            </p:extLst>
          </p:nvPr>
        </p:nvGraphicFramePr>
        <p:xfrm>
          <a:off x="3765030" y="538691"/>
          <a:ext cx="8286044" cy="6223000"/>
        </p:xfrm>
        <a:graphic>
          <a:graphicData uri="http://schemas.openxmlformats.org/drawingml/2006/table">
            <a:tbl>
              <a:tblPr firstRow="1" bandRow="1">
                <a:tableStyleId>{5C22544A-7EE6-4342-B048-85BDC9FD1C3A}</a:tableStyleId>
              </a:tblPr>
              <a:tblGrid>
                <a:gridCol w="2485813">
                  <a:extLst>
                    <a:ext uri="{9D8B030D-6E8A-4147-A177-3AD203B41FA5}">
                      <a16:colId xmlns:a16="http://schemas.microsoft.com/office/drawing/2014/main" val="957406831"/>
                    </a:ext>
                  </a:extLst>
                </a:gridCol>
                <a:gridCol w="5800231">
                  <a:extLst>
                    <a:ext uri="{9D8B030D-6E8A-4147-A177-3AD203B41FA5}">
                      <a16:colId xmlns:a16="http://schemas.microsoft.com/office/drawing/2014/main" val="3026057680"/>
                    </a:ext>
                  </a:extLst>
                </a:gridCol>
              </a:tblGrid>
              <a:tr h="370840">
                <a:tc>
                  <a:txBody>
                    <a:bodyPr/>
                    <a:lstStyle/>
                    <a:p>
                      <a:endParaRPr lang="pt-BR" dirty="0"/>
                    </a:p>
                  </a:txBody>
                  <a:tcPr/>
                </a:tc>
                <a:tc>
                  <a:txBody>
                    <a:bodyPr/>
                    <a:lstStyle/>
                    <a:p>
                      <a:endParaRPr lang="pt-BR" dirty="0"/>
                    </a:p>
                  </a:txBody>
                  <a:tcPr/>
                </a:tc>
                <a:extLst>
                  <a:ext uri="{0D108BD9-81ED-4DB2-BD59-A6C34878D82A}">
                    <a16:rowId xmlns:a16="http://schemas.microsoft.com/office/drawing/2014/main" val="958035101"/>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b="1" dirty="0"/>
                        <a:t>Objetivo 1: reduzir custos operacionais em 20%</a:t>
                      </a:r>
                    </a:p>
                    <a:p>
                      <a:endParaRPr lang="pt-BR" dirty="0"/>
                    </a:p>
                  </a:txBody>
                  <a:tcPr/>
                </a:tc>
                <a:tc>
                  <a:txBody>
                    <a:bodyPr/>
                    <a:lstStyle/>
                    <a:p>
                      <a:pPr marL="285750" indent="-285750">
                        <a:buFont typeface="Arial" panose="020B0604020202020204" pitchFamily="34" charset="0"/>
                        <a:buChar char="•"/>
                      </a:pPr>
                      <a:r>
                        <a:rPr lang="pt-BR" sz="1800" b="1" dirty="0"/>
                        <a:t>KR1: </a:t>
                      </a:r>
                      <a:r>
                        <a:rPr lang="pt-BR" sz="1800" b="0" dirty="0"/>
                        <a:t>reduzir custo médio de matrícula de R$100 para R$70 até o final do próximo ano</a:t>
                      </a:r>
                    </a:p>
                    <a:p>
                      <a:pPr marL="285750" indent="-285750">
                        <a:spcBef>
                          <a:spcPts val="1200"/>
                        </a:spcBef>
                        <a:buFont typeface="Arial" panose="020B0604020202020204" pitchFamily="34" charset="0"/>
                        <a:buChar char="•"/>
                      </a:pPr>
                      <a:r>
                        <a:rPr lang="pt-BR" sz="1800" b="1" dirty="0"/>
                        <a:t>KR2: </a:t>
                      </a:r>
                      <a:r>
                        <a:rPr lang="pt-BR" sz="1800" b="0" dirty="0"/>
                        <a:t>automatizar 80% dos processos administrativos de matrículas até dezembro/2027</a:t>
                      </a:r>
                    </a:p>
                    <a:p>
                      <a:pPr marL="285750" indent="-285750">
                        <a:spcBef>
                          <a:spcPts val="1200"/>
                        </a:spcBef>
                        <a:buFont typeface="Arial" panose="020B0604020202020204" pitchFamily="34" charset="0"/>
                        <a:buChar char="•"/>
                      </a:pPr>
                      <a:r>
                        <a:rPr lang="pt-BR" sz="1800" b="1" dirty="0"/>
                        <a:t>KR3: </a:t>
                      </a:r>
                      <a:r>
                        <a:rPr lang="pt-BR" sz="1800" b="0" dirty="0"/>
                        <a:t>diminuir tempo presencial de atendimento em secretaria em 50%</a:t>
                      </a:r>
                    </a:p>
                    <a:p>
                      <a:endParaRPr lang="pt-BR" dirty="0"/>
                    </a:p>
                  </a:txBody>
                  <a:tcPr/>
                </a:tc>
                <a:extLst>
                  <a:ext uri="{0D108BD9-81ED-4DB2-BD59-A6C34878D82A}">
                    <a16:rowId xmlns:a16="http://schemas.microsoft.com/office/drawing/2014/main" val="1151656515"/>
                  </a:ext>
                </a:extLst>
              </a:tr>
              <a:tr h="37084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pt-BR" sz="1800" b="1" dirty="0"/>
                        <a:t>Objetivo 2: melhorar experiência digital dos alunos</a:t>
                      </a:r>
                    </a:p>
                    <a:p>
                      <a:endParaRPr lang="pt-BR" dirty="0"/>
                    </a:p>
                  </a:txBody>
                  <a:tcPr/>
                </a:tc>
                <a:tc>
                  <a:txBody>
                    <a:bodyPr/>
                    <a:lstStyle/>
                    <a:p>
                      <a:pPr marL="285750" indent="-285750">
                        <a:buFont typeface="Arial" panose="020B0604020202020204" pitchFamily="34" charset="0"/>
                        <a:buChar char="•"/>
                      </a:pPr>
                      <a:r>
                        <a:rPr lang="pt-BR" sz="1800" b="1" dirty="0"/>
                        <a:t>KR1: </a:t>
                      </a:r>
                      <a:r>
                        <a:rPr lang="pt-BR" sz="1800" b="0" dirty="0"/>
                        <a:t>atingir NPS &gt;80 no portal acadêmico até o próximo semestre</a:t>
                      </a:r>
                    </a:p>
                    <a:p>
                      <a:pPr marL="285750" indent="-285750">
                        <a:spcBef>
                          <a:spcPts val="1200"/>
                        </a:spcBef>
                        <a:buFont typeface="Arial" panose="020B0604020202020204" pitchFamily="34" charset="0"/>
                        <a:buChar char="•"/>
                      </a:pPr>
                      <a:r>
                        <a:rPr lang="pt-BR" sz="1800" b="1" dirty="0"/>
                        <a:t>KR2: </a:t>
                      </a:r>
                      <a:r>
                        <a:rPr lang="pt-BR" sz="1800" b="0" dirty="0"/>
                        <a:t>reduzir tempo médio de matrícula de 5d para 1d</a:t>
                      </a:r>
                    </a:p>
                    <a:p>
                      <a:pPr marL="285750" indent="-285750">
                        <a:spcBef>
                          <a:spcPts val="1200"/>
                        </a:spcBef>
                        <a:buFont typeface="Arial" panose="020B0604020202020204" pitchFamily="34" charset="0"/>
                        <a:buChar char="•"/>
                      </a:pPr>
                      <a:r>
                        <a:rPr lang="pt-BR" sz="1800" b="1" dirty="0"/>
                        <a:t>KR3: </a:t>
                      </a:r>
                      <a:r>
                        <a:rPr lang="pt-BR" sz="1800" b="0" dirty="0" err="1"/>
                        <a:t>uptime</a:t>
                      </a:r>
                      <a:r>
                        <a:rPr lang="pt-BR" sz="1800" b="0" dirty="0"/>
                        <a:t> do sistema &gt;99.9% durante período de matrícula</a:t>
                      </a:r>
                    </a:p>
                    <a:p>
                      <a:endParaRPr lang="pt-BR" dirty="0"/>
                    </a:p>
                  </a:txBody>
                  <a:tcPr/>
                </a:tc>
                <a:extLst>
                  <a:ext uri="{0D108BD9-81ED-4DB2-BD59-A6C34878D82A}">
                    <a16:rowId xmlns:a16="http://schemas.microsoft.com/office/drawing/2014/main" val="825480575"/>
                  </a:ext>
                </a:extLst>
              </a:tr>
              <a:tr h="370840">
                <a:tc>
                  <a:txBody>
                    <a:bodyPr/>
                    <a:lstStyle/>
                    <a:p>
                      <a:r>
                        <a:rPr lang="pt-BR" b="1" dirty="0"/>
                        <a:t>Objetivo 3: expandir base de alunos online em 40%</a:t>
                      </a:r>
                    </a:p>
                  </a:txBody>
                  <a:tcPr/>
                </a:tc>
                <a:tc>
                  <a:txBody>
                    <a:bodyPr/>
                    <a:lstStyle/>
                    <a:p>
                      <a:pPr marL="285750" indent="-285750">
                        <a:buFont typeface="Arial" panose="020B0604020202020204" pitchFamily="34" charset="0"/>
                        <a:buChar char="•"/>
                      </a:pPr>
                      <a:r>
                        <a:rPr lang="pt-BR" b="1" dirty="0"/>
                        <a:t>KR1: </a:t>
                      </a:r>
                      <a:r>
                        <a:rPr lang="pt-BR" b="0" dirty="0"/>
                        <a:t>aumentar # de matrículas de 10k para 14k até 2027</a:t>
                      </a:r>
                    </a:p>
                    <a:p>
                      <a:pPr marL="285750" indent="-285750">
                        <a:spcBef>
                          <a:spcPts val="1200"/>
                        </a:spcBef>
                        <a:buFont typeface="Arial" panose="020B0604020202020204" pitchFamily="34" charset="0"/>
                        <a:buChar char="•"/>
                      </a:pPr>
                      <a:r>
                        <a:rPr lang="pt-BR" b="1" dirty="0"/>
                        <a:t>KR2: </a:t>
                      </a:r>
                      <a:r>
                        <a:rPr lang="pt-BR" b="0" dirty="0"/>
                        <a:t>lançar 10 novos cursos 100% online até o fim do próximo ano letivo</a:t>
                      </a:r>
                    </a:p>
                    <a:p>
                      <a:pPr marL="285750" indent="-285750">
                        <a:spcBef>
                          <a:spcPts val="1200"/>
                        </a:spcBef>
                        <a:buFont typeface="Arial" panose="020B0604020202020204" pitchFamily="34" charset="0"/>
                        <a:buChar char="•"/>
                      </a:pPr>
                      <a:r>
                        <a:rPr lang="pt-BR" b="1" dirty="0"/>
                        <a:t>KR3: </a:t>
                      </a:r>
                      <a:r>
                        <a:rPr lang="pt-BR" b="0" dirty="0"/>
                        <a:t>atingir retenção de 85% nos cursos online</a:t>
                      </a:r>
                    </a:p>
                  </a:txBody>
                  <a:tcPr/>
                </a:tc>
                <a:extLst>
                  <a:ext uri="{0D108BD9-81ED-4DB2-BD59-A6C34878D82A}">
                    <a16:rowId xmlns:a16="http://schemas.microsoft.com/office/drawing/2014/main" val="222009432"/>
                  </a:ext>
                </a:extLst>
              </a:tr>
            </a:tbl>
          </a:graphicData>
        </a:graphic>
      </p:graphicFrame>
    </p:spTree>
    <p:extLst>
      <p:ext uri="{BB962C8B-B14F-4D97-AF65-F5344CB8AC3E}">
        <p14:creationId xmlns:p14="http://schemas.microsoft.com/office/powerpoint/2010/main" val="33346583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E53FC3-6F9D-88E7-CB1C-20BCA7C014CE}"/>
              </a:ext>
            </a:extLst>
          </p:cNvPr>
          <p:cNvSpPr>
            <a:spLocks noGrp="1"/>
          </p:cNvSpPr>
          <p:nvPr>
            <p:ph type="title"/>
          </p:nvPr>
        </p:nvSpPr>
        <p:spPr/>
        <p:txBody>
          <a:bodyPr/>
          <a:lstStyle/>
          <a:p>
            <a:r>
              <a:rPr lang="pt-BR" dirty="0"/>
              <a:t>3) OKR</a:t>
            </a:r>
          </a:p>
        </p:txBody>
      </p:sp>
      <p:sp>
        <p:nvSpPr>
          <p:cNvPr id="3" name="Espaço Reservado para Conteúdo 2">
            <a:extLst>
              <a:ext uri="{FF2B5EF4-FFF2-40B4-BE49-F238E27FC236}">
                <a16:creationId xmlns:a16="http://schemas.microsoft.com/office/drawing/2014/main" id="{98E26CBC-8805-47BD-E4B8-AAC739DB727C}"/>
              </a:ext>
            </a:extLst>
          </p:cNvPr>
          <p:cNvSpPr>
            <a:spLocks noGrp="1"/>
          </p:cNvSpPr>
          <p:nvPr>
            <p:ph idx="1"/>
          </p:nvPr>
        </p:nvSpPr>
        <p:spPr/>
        <p:txBody>
          <a:bodyPr/>
          <a:lstStyle/>
          <a:p>
            <a:r>
              <a:rPr lang="pt-BR" dirty="0"/>
              <a:t>OKR de </a:t>
            </a:r>
            <a:r>
              <a:rPr lang="pt-BR" dirty="0">
                <a:solidFill>
                  <a:srgbClr val="FF0000"/>
                </a:solidFill>
              </a:rPr>
              <a:t>Projeto</a:t>
            </a:r>
            <a:r>
              <a:rPr lang="pt-BR" dirty="0"/>
              <a:t> x OKR de </a:t>
            </a:r>
            <a:r>
              <a:rPr lang="pt-BR" dirty="0">
                <a:solidFill>
                  <a:srgbClr val="0070C0"/>
                </a:solidFill>
              </a:rPr>
              <a:t>Produto</a:t>
            </a:r>
          </a:p>
          <a:p>
            <a:pPr lvl="1">
              <a:spcBef>
                <a:spcPts val="1200"/>
              </a:spcBef>
            </a:pPr>
            <a:r>
              <a:rPr lang="pt-BR" dirty="0">
                <a:solidFill>
                  <a:srgbClr val="FF0000"/>
                </a:solidFill>
              </a:rPr>
              <a:t>Projeto</a:t>
            </a:r>
            <a:r>
              <a:rPr lang="pt-BR" dirty="0"/>
              <a:t>:</a:t>
            </a:r>
          </a:p>
          <a:p>
            <a:pPr lvl="2"/>
            <a:r>
              <a:rPr lang="pt-BR" b="1" dirty="0"/>
              <a:t>Define metas e resultados mensuráveis para projetos específicos</a:t>
            </a:r>
          </a:p>
          <a:p>
            <a:pPr lvl="2"/>
            <a:r>
              <a:rPr lang="pt-BR" dirty="0"/>
              <a:t>Alinha equipes com os objetivos do projeto e auxilia o acompanhamento do progresso</a:t>
            </a:r>
          </a:p>
          <a:p>
            <a:pPr lvl="2"/>
            <a:r>
              <a:rPr lang="pt-BR" dirty="0" err="1"/>
              <a:t>Ex</a:t>
            </a:r>
            <a:r>
              <a:rPr lang="pt-BR" dirty="0"/>
              <a:t>: “lançar recurso X no prazo de 30 junho”, “reduzir tempo de desenvolvimento em 15%”, “lançar produto sem erros críticos até 30 junho”</a:t>
            </a:r>
          </a:p>
          <a:p>
            <a:pPr lvl="2"/>
            <a:endParaRPr lang="pt-BR" dirty="0"/>
          </a:p>
          <a:p>
            <a:pPr lvl="1"/>
            <a:r>
              <a:rPr lang="pt-BR" dirty="0">
                <a:solidFill>
                  <a:srgbClr val="0070C0"/>
                </a:solidFill>
              </a:rPr>
              <a:t>Produto</a:t>
            </a:r>
          </a:p>
          <a:p>
            <a:pPr lvl="2"/>
            <a:r>
              <a:rPr lang="pt-BR" b="1" dirty="0"/>
              <a:t>Foca no sucesso geral do produto (</a:t>
            </a:r>
            <a:r>
              <a:rPr lang="pt-BR" b="1" dirty="0" err="1"/>
              <a:t>ex</a:t>
            </a:r>
            <a:r>
              <a:rPr lang="pt-BR" b="1" dirty="0"/>
              <a:t>: métricas de uso, satisfação, receita)</a:t>
            </a:r>
          </a:p>
          <a:p>
            <a:pPr lvl="2"/>
            <a:r>
              <a:rPr lang="pt-BR" dirty="0"/>
              <a:t>Direciona o desenvolvimento e garante alinhamento com necessidades do mercado</a:t>
            </a:r>
          </a:p>
          <a:p>
            <a:pPr lvl="2"/>
            <a:r>
              <a:rPr lang="pt-BR" dirty="0" err="1"/>
              <a:t>Ex</a:t>
            </a:r>
            <a:r>
              <a:rPr lang="pt-BR" dirty="0"/>
              <a:t>: “aumentar retenção de usuários em 20%”, “alcançar 1000 usuários ativos”, “melhorar satisfação do cliente em 4.5”, “aumentar receita gerada pelo produto em 10%”</a:t>
            </a:r>
          </a:p>
        </p:txBody>
      </p:sp>
    </p:spTree>
    <p:extLst>
      <p:ext uri="{BB962C8B-B14F-4D97-AF65-F5344CB8AC3E}">
        <p14:creationId xmlns:p14="http://schemas.microsoft.com/office/powerpoint/2010/main" val="3543132675"/>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69BBB57-47EB-774B-3816-2C45CCFE1F97}"/>
              </a:ext>
            </a:extLst>
          </p:cNvPr>
          <p:cNvSpPr>
            <a:spLocks noGrp="1"/>
          </p:cNvSpPr>
          <p:nvPr>
            <p:ph type="title"/>
          </p:nvPr>
        </p:nvSpPr>
        <p:spPr/>
        <p:txBody>
          <a:bodyPr/>
          <a:lstStyle/>
          <a:p>
            <a:r>
              <a:rPr lang="pt-BR" dirty="0"/>
              <a:t>4) KPI</a:t>
            </a:r>
          </a:p>
        </p:txBody>
      </p:sp>
      <p:sp>
        <p:nvSpPr>
          <p:cNvPr id="3" name="Espaço Reservado para Conteúdo 2">
            <a:extLst>
              <a:ext uri="{FF2B5EF4-FFF2-40B4-BE49-F238E27FC236}">
                <a16:creationId xmlns:a16="http://schemas.microsoft.com/office/drawing/2014/main" id="{10BFEDEF-DAFE-4C53-3925-17B244A1FD29}"/>
              </a:ext>
            </a:extLst>
          </p:cNvPr>
          <p:cNvSpPr>
            <a:spLocks noGrp="1"/>
          </p:cNvSpPr>
          <p:nvPr>
            <p:ph idx="1"/>
          </p:nvPr>
        </p:nvSpPr>
        <p:spPr>
          <a:xfrm>
            <a:off x="838200" y="1825625"/>
            <a:ext cx="3541889" cy="4351338"/>
          </a:xfrm>
        </p:spPr>
        <p:txBody>
          <a:bodyPr/>
          <a:lstStyle/>
          <a:p>
            <a:r>
              <a:rPr lang="pt-BR" i="1" dirty="0"/>
              <a:t>Key </a:t>
            </a:r>
            <a:r>
              <a:rPr lang="pt-BR" i="1" dirty="0" err="1"/>
              <a:t>Process</a:t>
            </a:r>
            <a:r>
              <a:rPr lang="pt-BR" i="1" dirty="0"/>
              <a:t> Indicator</a:t>
            </a:r>
          </a:p>
          <a:p>
            <a:pPr>
              <a:spcBef>
                <a:spcPts val="2400"/>
              </a:spcBef>
            </a:pPr>
            <a:r>
              <a:rPr lang="pt-BR" dirty="0"/>
              <a:t>Medir e monitorar o nível de desempenho de sucesso da empresa/projeto/produto/processo</a:t>
            </a:r>
          </a:p>
        </p:txBody>
      </p:sp>
      <p:pic>
        <p:nvPicPr>
          <p:cNvPr id="26626" name="Picture 2" descr="software developement kpi">
            <a:extLst>
              <a:ext uri="{FF2B5EF4-FFF2-40B4-BE49-F238E27FC236}">
                <a16:creationId xmlns:a16="http://schemas.microsoft.com/office/drawing/2014/main" id="{D4A731FF-D1E8-9458-EE86-DF8D6A584C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71012" y="536222"/>
            <a:ext cx="7520988" cy="56407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7053258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5B8D065-2EDA-3327-B137-2A100C9CAD70}"/>
              </a:ext>
            </a:extLst>
          </p:cNvPr>
          <p:cNvSpPr>
            <a:spLocks noGrp="1"/>
          </p:cNvSpPr>
          <p:nvPr>
            <p:ph type="title"/>
          </p:nvPr>
        </p:nvSpPr>
        <p:spPr/>
        <p:txBody>
          <a:bodyPr/>
          <a:lstStyle/>
          <a:p>
            <a:r>
              <a:rPr lang="pt-BR" dirty="0"/>
              <a:t>OKR x KPI</a:t>
            </a:r>
          </a:p>
        </p:txBody>
      </p:sp>
      <p:graphicFrame>
        <p:nvGraphicFramePr>
          <p:cNvPr id="4" name="Espaço Reservado para Conteúdo 3">
            <a:extLst>
              <a:ext uri="{FF2B5EF4-FFF2-40B4-BE49-F238E27FC236}">
                <a16:creationId xmlns:a16="http://schemas.microsoft.com/office/drawing/2014/main" id="{73B24894-D2AE-692C-F06E-843DE72D5143}"/>
              </a:ext>
            </a:extLst>
          </p:cNvPr>
          <p:cNvGraphicFramePr>
            <a:graphicFrameLocks noGrp="1"/>
          </p:cNvGraphicFramePr>
          <p:nvPr>
            <p:ph idx="1"/>
          </p:nvPr>
        </p:nvGraphicFramePr>
        <p:xfrm>
          <a:off x="838200" y="1825625"/>
          <a:ext cx="10515600" cy="374904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34237766"/>
                    </a:ext>
                  </a:extLst>
                </a:gridCol>
                <a:gridCol w="5257800">
                  <a:extLst>
                    <a:ext uri="{9D8B030D-6E8A-4147-A177-3AD203B41FA5}">
                      <a16:colId xmlns:a16="http://schemas.microsoft.com/office/drawing/2014/main" val="3165204374"/>
                    </a:ext>
                  </a:extLst>
                </a:gridCol>
              </a:tblGrid>
              <a:tr h="370840">
                <a:tc>
                  <a:txBody>
                    <a:bodyPr/>
                    <a:lstStyle/>
                    <a:p>
                      <a:r>
                        <a:rPr lang="pt-BR" sz="2400" dirty="0"/>
                        <a:t>OKR</a:t>
                      </a:r>
                    </a:p>
                  </a:txBody>
                  <a:tcPr/>
                </a:tc>
                <a:tc>
                  <a:txBody>
                    <a:bodyPr/>
                    <a:lstStyle/>
                    <a:p>
                      <a:r>
                        <a:rPr lang="pt-BR" sz="2400" dirty="0"/>
                        <a:t>KPI</a:t>
                      </a:r>
                    </a:p>
                  </a:txBody>
                  <a:tcPr/>
                </a:tc>
                <a:extLst>
                  <a:ext uri="{0D108BD9-81ED-4DB2-BD59-A6C34878D82A}">
                    <a16:rowId xmlns:a16="http://schemas.microsoft.com/office/drawing/2014/main" val="3200428274"/>
                  </a:ext>
                </a:extLst>
              </a:tr>
              <a:tr h="370840">
                <a:tc>
                  <a:txBody>
                    <a:bodyPr/>
                    <a:lstStyle/>
                    <a:p>
                      <a:r>
                        <a:rPr lang="pt-BR" sz="2400" dirty="0"/>
                        <a:t>Objetivos orientados a ação e suas medidas</a:t>
                      </a:r>
                    </a:p>
                  </a:txBody>
                  <a:tcPr/>
                </a:tc>
                <a:tc>
                  <a:txBody>
                    <a:bodyPr/>
                    <a:lstStyle/>
                    <a:p>
                      <a:r>
                        <a:rPr lang="pt-BR" sz="2400" dirty="0"/>
                        <a:t>Números que medem  a saúde de uma organização</a:t>
                      </a:r>
                    </a:p>
                  </a:txBody>
                  <a:tcPr/>
                </a:tc>
                <a:extLst>
                  <a:ext uri="{0D108BD9-81ED-4DB2-BD59-A6C34878D82A}">
                    <a16:rowId xmlns:a16="http://schemas.microsoft.com/office/drawing/2014/main" val="231978818"/>
                  </a:ext>
                </a:extLst>
              </a:tr>
              <a:tr h="370840">
                <a:tc>
                  <a:txBody>
                    <a:bodyPr/>
                    <a:lstStyle/>
                    <a:p>
                      <a:r>
                        <a:rPr lang="pt-BR" sz="2400" dirty="0"/>
                        <a:t>Direcional, focada no futuro</a:t>
                      </a:r>
                    </a:p>
                  </a:txBody>
                  <a:tcPr/>
                </a:tc>
                <a:tc>
                  <a:txBody>
                    <a:bodyPr/>
                    <a:lstStyle/>
                    <a:p>
                      <a:r>
                        <a:rPr lang="pt-BR" sz="2400" dirty="0"/>
                        <a:t>Indicador de resultado (resultados passados)</a:t>
                      </a:r>
                    </a:p>
                  </a:txBody>
                  <a:tcPr/>
                </a:tc>
                <a:extLst>
                  <a:ext uri="{0D108BD9-81ED-4DB2-BD59-A6C34878D82A}">
                    <a16:rowId xmlns:a16="http://schemas.microsoft.com/office/drawing/2014/main" val="722906908"/>
                  </a:ext>
                </a:extLst>
              </a:tr>
              <a:tr h="370840">
                <a:tc>
                  <a:txBody>
                    <a:bodyPr/>
                    <a:lstStyle/>
                    <a:p>
                      <a:r>
                        <a:rPr lang="pt-BR" sz="2400" dirty="0"/>
                        <a:t>Agressivos e ousados, ajuda a apontar para coisas importantes</a:t>
                      </a:r>
                    </a:p>
                  </a:txBody>
                  <a:tcPr/>
                </a:tc>
                <a:tc>
                  <a:txBody>
                    <a:bodyPr/>
                    <a:lstStyle/>
                    <a:p>
                      <a:r>
                        <a:rPr lang="pt-BR" sz="2400" dirty="0"/>
                        <a:t>Monitora o estado atual e estabelece benchmark para melhorias</a:t>
                      </a:r>
                    </a:p>
                  </a:txBody>
                  <a:tcPr/>
                </a:tc>
                <a:extLst>
                  <a:ext uri="{0D108BD9-81ED-4DB2-BD59-A6C34878D82A}">
                    <a16:rowId xmlns:a16="http://schemas.microsoft.com/office/drawing/2014/main" val="1904785061"/>
                  </a:ext>
                </a:extLst>
              </a:tr>
              <a:tr h="370840">
                <a:tc>
                  <a:txBody>
                    <a:bodyPr/>
                    <a:lstStyle/>
                    <a:p>
                      <a:r>
                        <a:rPr lang="pt-BR" sz="2400" dirty="0"/>
                        <a:t>Tem período definido (trimestre, ano)</a:t>
                      </a:r>
                    </a:p>
                  </a:txBody>
                  <a:tcPr/>
                </a:tc>
                <a:tc>
                  <a:txBody>
                    <a:bodyPr/>
                    <a:lstStyle/>
                    <a:p>
                      <a:r>
                        <a:rPr lang="pt-BR" sz="2400" dirty="0"/>
                        <a:t>Medido continuamente, mesmas KPIs ao longo do tempo</a:t>
                      </a:r>
                    </a:p>
                  </a:txBody>
                  <a:tcPr/>
                </a:tc>
                <a:extLst>
                  <a:ext uri="{0D108BD9-81ED-4DB2-BD59-A6C34878D82A}">
                    <a16:rowId xmlns:a16="http://schemas.microsoft.com/office/drawing/2014/main" val="3400404862"/>
                  </a:ext>
                </a:extLst>
              </a:tr>
            </a:tbl>
          </a:graphicData>
        </a:graphic>
      </p:graphicFrame>
    </p:spTree>
    <p:extLst>
      <p:ext uri="{BB962C8B-B14F-4D97-AF65-F5344CB8AC3E}">
        <p14:creationId xmlns:p14="http://schemas.microsoft.com/office/powerpoint/2010/main" val="12167089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E59774C-7697-D881-D6EF-84561260321B}"/>
              </a:ext>
            </a:extLst>
          </p:cNvPr>
          <p:cNvSpPr>
            <a:spLocks noGrp="1"/>
          </p:cNvSpPr>
          <p:nvPr>
            <p:ph type="title"/>
          </p:nvPr>
        </p:nvSpPr>
        <p:spPr/>
        <p:txBody>
          <a:bodyPr/>
          <a:lstStyle/>
          <a:p>
            <a:r>
              <a:rPr lang="pt-BR" dirty="0"/>
              <a:t>Definição de metas</a:t>
            </a:r>
          </a:p>
        </p:txBody>
      </p:sp>
      <p:sp>
        <p:nvSpPr>
          <p:cNvPr id="3" name="Espaço Reservado para Conteúdo 2">
            <a:extLst>
              <a:ext uri="{FF2B5EF4-FFF2-40B4-BE49-F238E27FC236}">
                <a16:creationId xmlns:a16="http://schemas.microsoft.com/office/drawing/2014/main" id="{BDA727D9-259F-F313-497A-C86A54D2171E}"/>
              </a:ext>
            </a:extLst>
          </p:cNvPr>
          <p:cNvSpPr>
            <a:spLocks noGrp="1"/>
          </p:cNvSpPr>
          <p:nvPr>
            <p:ph idx="1"/>
          </p:nvPr>
        </p:nvSpPr>
        <p:spPr/>
        <p:txBody>
          <a:bodyPr/>
          <a:lstStyle/>
          <a:p>
            <a:r>
              <a:rPr lang="pt-BR" dirty="0"/>
              <a:t>Específicas, mensuráveis, atingíveis, relevantes, com tempo definido</a:t>
            </a:r>
          </a:p>
        </p:txBody>
      </p:sp>
      <p:pic>
        <p:nvPicPr>
          <p:cNvPr id="5" name="Imagem 4">
            <a:extLst>
              <a:ext uri="{FF2B5EF4-FFF2-40B4-BE49-F238E27FC236}">
                <a16:creationId xmlns:a16="http://schemas.microsoft.com/office/drawing/2014/main" id="{076423F3-FF7F-DD18-CC88-F16C4C8CBCE8}"/>
              </a:ext>
            </a:extLst>
          </p:cNvPr>
          <p:cNvPicPr>
            <a:picLocks noChangeAspect="1"/>
          </p:cNvPicPr>
          <p:nvPr/>
        </p:nvPicPr>
        <p:blipFill>
          <a:blip r:embed="rId2"/>
          <a:stretch>
            <a:fillRect/>
          </a:stretch>
        </p:blipFill>
        <p:spPr>
          <a:xfrm>
            <a:off x="2518863" y="2463263"/>
            <a:ext cx="7154273" cy="3848637"/>
          </a:xfrm>
          <a:prstGeom prst="rect">
            <a:avLst/>
          </a:prstGeom>
        </p:spPr>
      </p:pic>
    </p:spTree>
    <p:extLst>
      <p:ext uri="{BB962C8B-B14F-4D97-AF65-F5344CB8AC3E}">
        <p14:creationId xmlns:p14="http://schemas.microsoft.com/office/powerpoint/2010/main" val="3105008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DA20F76-CCDC-83F4-24FB-70447B397BA4}"/>
              </a:ext>
            </a:extLst>
          </p:cNvPr>
          <p:cNvSpPr>
            <a:spLocks noGrp="1"/>
          </p:cNvSpPr>
          <p:nvPr>
            <p:ph type="title"/>
          </p:nvPr>
        </p:nvSpPr>
        <p:spPr/>
        <p:txBody>
          <a:bodyPr/>
          <a:lstStyle/>
          <a:p>
            <a:r>
              <a:rPr lang="pt-BR" dirty="0"/>
              <a:t>Como garantir o alinhamento</a:t>
            </a:r>
          </a:p>
        </p:txBody>
      </p:sp>
      <p:sp>
        <p:nvSpPr>
          <p:cNvPr id="3" name="Espaço Reservado para Conteúdo 2">
            <a:extLst>
              <a:ext uri="{FF2B5EF4-FFF2-40B4-BE49-F238E27FC236}">
                <a16:creationId xmlns:a16="http://schemas.microsoft.com/office/drawing/2014/main" id="{A6336F22-B38F-E280-8C31-0F312CCC7AFF}"/>
              </a:ext>
            </a:extLst>
          </p:cNvPr>
          <p:cNvSpPr>
            <a:spLocks noGrp="1"/>
          </p:cNvSpPr>
          <p:nvPr>
            <p:ph idx="1"/>
          </p:nvPr>
        </p:nvSpPr>
        <p:spPr/>
        <p:txBody>
          <a:bodyPr/>
          <a:lstStyle/>
          <a:p>
            <a:r>
              <a:rPr lang="pt-BR" dirty="0"/>
              <a:t>Práticas de governança para </a:t>
            </a:r>
            <a:r>
              <a:rPr lang="pt-BR" b="1" dirty="0"/>
              <a:t>manter o projeto em sincronia com a estratégia</a:t>
            </a:r>
            <a:r>
              <a:rPr lang="pt-BR" dirty="0"/>
              <a:t>, desde a concepção até a entrega</a:t>
            </a:r>
          </a:p>
          <a:p>
            <a:endParaRPr lang="pt-BR" dirty="0"/>
          </a:p>
          <a:p>
            <a:r>
              <a:rPr lang="pt-BR" dirty="0"/>
              <a:t>Mesmo projetos bem alinhados no início podem se perder durante a execução, se o backlog for conduzido apenas por aspectos técnicos</a:t>
            </a:r>
          </a:p>
          <a:p>
            <a:pPr lvl="1">
              <a:spcBef>
                <a:spcPts val="1800"/>
              </a:spcBef>
            </a:pPr>
            <a:r>
              <a:rPr lang="pt-BR" dirty="0"/>
              <a:t>Importante revisar continuamente: </a:t>
            </a:r>
            <a:r>
              <a:rPr lang="pt-BR" b="1" dirty="0"/>
              <a:t>o que estamos entregando ainda faz sentido para os objetivos organizacionais?</a:t>
            </a:r>
          </a:p>
        </p:txBody>
      </p:sp>
    </p:spTree>
    <p:extLst>
      <p:ext uri="{BB962C8B-B14F-4D97-AF65-F5344CB8AC3E}">
        <p14:creationId xmlns:p14="http://schemas.microsoft.com/office/powerpoint/2010/main" val="45809254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3D9F15-7B17-5EF3-95A9-CC5822F3C96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E31FFDA-74B0-3C12-7809-B28724E0478C}"/>
              </a:ext>
            </a:extLst>
          </p:cNvPr>
          <p:cNvSpPr>
            <a:spLocks noGrp="1"/>
          </p:cNvSpPr>
          <p:nvPr>
            <p:ph type="title"/>
          </p:nvPr>
        </p:nvSpPr>
        <p:spPr/>
        <p:txBody>
          <a:bodyPr/>
          <a:lstStyle/>
          <a:p>
            <a:r>
              <a:rPr lang="pt-BR" dirty="0"/>
              <a:t>Ferramentas de alinhamento</a:t>
            </a:r>
          </a:p>
        </p:txBody>
      </p:sp>
      <p:sp>
        <p:nvSpPr>
          <p:cNvPr id="3" name="Espaço Reservado para Conteúdo 2">
            <a:extLst>
              <a:ext uri="{FF2B5EF4-FFF2-40B4-BE49-F238E27FC236}">
                <a16:creationId xmlns:a16="http://schemas.microsoft.com/office/drawing/2014/main" id="{79B0B29A-11BC-BA24-784E-A31C28453375}"/>
              </a:ext>
            </a:extLst>
          </p:cNvPr>
          <p:cNvSpPr>
            <a:spLocks noGrp="1"/>
          </p:cNvSpPr>
          <p:nvPr>
            <p:ph idx="1"/>
          </p:nvPr>
        </p:nvSpPr>
        <p:spPr/>
        <p:txBody>
          <a:bodyPr>
            <a:normAutofit lnSpcReduction="10000"/>
          </a:bodyPr>
          <a:lstStyle/>
          <a:p>
            <a:r>
              <a:rPr lang="pt-BR" dirty="0"/>
              <a:t>Exemplos</a:t>
            </a:r>
          </a:p>
          <a:p>
            <a:pPr lvl="1"/>
            <a:r>
              <a:rPr lang="pt-BR" b="1" dirty="0"/>
              <a:t>Antes do projeto</a:t>
            </a:r>
            <a:r>
              <a:rPr lang="pt-BR" dirty="0"/>
              <a:t>:</a:t>
            </a:r>
          </a:p>
          <a:p>
            <a:pPr lvl="2">
              <a:spcBef>
                <a:spcPts val="1200"/>
              </a:spcBef>
            </a:pPr>
            <a:r>
              <a:rPr lang="pt-BR" dirty="0"/>
              <a:t>Avaliação estratégica (valoração, alinhamento estratégico)</a:t>
            </a:r>
          </a:p>
          <a:p>
            <a:pPr lvl="2">
              <a:spcBef>
                <a:spcPts val="1200"/>
              </a:spcBef>
            </a:pPr>
            <a:r>
              <a:rPr lang="pt-BR" dirty="0"/>
              <a:t>“Este projeto contribui para qual objetivo organizacional?”</a:t>
            </a:r>
          </a:p>
          <a:p>
            <a:pPr lvl="2">
              <a:spcBef>
                <a:spcPts val="1200"/>
              </a:spcBef>
            </a:pPr>
            <a:r>
              <a:rPr lang="pt-BR" dirty="0"/>
              <a:t>Justificar como o projeto contribui para objetivos organizacionais</a:t>
            </a:r>
          </a:p>
          <a:p>
            <a:pPr lvl="1">
              <a:spcBef>
                <a:spcPts val="1800"/>
              </a:spcBef>
            </a:pPr>
            <a:r>
              <a:rPr lang="pt-BR" b="1" dirty="0"/>
              <a:t>Durante o projeto</a:t>
            </a:r>
            <a:r>
              <a:rPr lang="pt-BR" dirty="0"/>
              <a:t>:</a:t>
            </a:r>
          </a:p>
          <a:p>
            <a:pPr lvl="2"/>
            <a:r>
              <a:rPr lang="pt-BR" dirty="0"/>
              <a:t>Backlog revisado a cada sprint com base em métricas de negócio, não só técnicas</a:t>
            </a:r>
          </a:p>
          <a:p>
            <a:pPr lvl="1">
              <a:spcBef>
                <a:spcPts val="1800"/>
              </a:spcBef>
            </a:pPr>
            <a:r>
              <a:rPr lang="pt-BR" b="1" dirty="0"/>
              <a:t>Após o projeto</a:t>
            </a:r>
            <a:r>
              <a:rPr lang="pt-BR" dirty="0"/>
              <a:t>:</a:t>
            </a:r>
          </a:p>
          <a:p>
            <a:pPr lvl="2">
              <a:spcBef>
                <a:spcPts val="1200"/>
              </a:spcBef>
            </a:pPr>
            <a:r>
              <a:rPr lang="pt-BR" dirty="0"/>
              <a:t>Medir benefícios estratégicos (</a:t>
            </a:r>
            <a:r>
              <a:rPr lang="pt-BR" dirty="0" err="1"/>
              <a:t>ex</a:t>
            </a:r>
            <a:r>
              <a:rPr lang="pt-BR" dirty="0"/>
              <a:t>: aumento no # de usuários ativos)</a:t>
            </a:r>
          </a:p>
          <a:p>
            <a:pPr lvl="2">
              <a:spcBef>
                <a:spcPts val="1200"/>
              </a:spcBef>
            </a:pPr>
            <a:r>
              <a:rPr lang="pt-BR" dirty="0"/>
              <a:t>Não apenas entregas técnicas (</a:t>
            </a:r>
            <a:r>
              <a:rPr lang="pt-BR" dirty="0" err="1"/>
              <a:t>ex</a:t>
            </a:r>
            <a:r>
              <a:rPr lang="pt-BR" dirty="0"/>
              <a:t>: # de telas desenvolvidas)</a:t>
            </a:r>
          </a:p>
        </p:txBody>
      </p:sp>
    </p:spTree>
    <p:extLst>
      <p:ext uri="{BB962C8B-B14F-4D97-AF65-F5344CB8AC3E}">
        <p14:creationId xmlns:p14="http://schemas.microsoft.com/office/powerpoint/2010/main" val="279863910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DBDC68-1D99-8CA9-56B2-2814CC860D9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C987F98F-01F5-5DD8-A882-EE7C108FCABE}"/>
              </a:ext>
            </a:extLst>
          </p:cNvPr>
          <p:cNvSpPr>
            <a:spLocks noGrp="1"/>
          </p:cNvSpPr>
          <p:nvPr>
            <p:ph type="title"/>
          </p:nvPr>
        </p:nvSpPr>
        <p:spPr/>
        <p:txBody>
          <a:bodyPr/>
          <a:lstStyle/>
          <a:p>
            <a:r>
              <a:rPr lang="pt-BR" dirty="0"/>
              <a:t>Objetivos de hoje</a:t>
            </a:r>
          </a:p>
        </p:txBody>
      </p:sp>
      <p:sp>
        <p:nvSpPr>
          <p:cNvPr id="3" name="Espaço Reservado para Conteúdo 2">
            <a:extLst>
              <a:ext uri="{FF2B5EF4-FFF2-40B4-BE49-F238E27FC236}">
                <a16:creationId xmlns:a16="http://schemas.microsoft.com/office/drawing/2014/main" id="{C427F9F9-F2A0-D4C1-62AC-3CC82200981D}"/>
              </a:ext>
            </a:extLst>
          </p:cNvPr>
          <p:cNvSpPr>
            <a:spLocks noGrp="1"/>
          </p:cNvSpPr>
          <p:nvPr>
            <p:ph idx="1"/>
          </p:nvPr>
        </p:nvSpPr>
        <p:spPr/>
        <p:txBody>
          <a:bodyPr/>
          <a:lstStyle/>
          <a:p>
            <a:r>
              <a:rPr lang="pt-BR" sz="2400" dirty="0"/>
              <a:t>Alinhamento de projetos aos negócios da organização </a:t>
            </a:r>
          </a:p>
          <a:p>
            <a:pPr lvl="1">
              <a:spcBef>
                <a:spcPts val="600"/>
              </a:spcBef>
            </a:pPr>
            <a:r>
              <a:rPr lang="pt-BR" sz="2000" dirty="0"/>
              <a:t>Estratégia organizacional e seus enquadramentos</a:t>
            </a:r>
          </a:p>
          <a:p>
            <a:pPr lvl="1">
              <a:spcBef>
                <a:spcPts val="600"/>
              </a:spcBef>
            </a:pPr>
            <a:r>
              <a:rPr lang="pt-BR" sz="2000" dirty="0"/>
              <a:t>Alinhamento estratégico</a:t>
            </a:r>
          </a:p>
          <a:p>
            <a:pPr lvl="1">
              <a:spcBef>
                <a:spcPts val="600"/>
              </a:spcBef>
            </a:pPr>
            <a:r>
              <a:rPr lang="pt-BR" sz="2000" dirty="0"/>
              <a:t>Valoração do projeto</a:t>
            </a:r>
          </a:p>
          <a:p>
            <a:pPr>
              <a:spcBef>
                <a:spcPts val="2400"/>
              </a:spcBef>
            </a:pPr>
            <a:r>
              <a:rPr lang="pt-BR" sz="2400" dirty="0"/>
              <a:t>Ferramentas de gestão estratégica</a:t>
            </a:r>
          </a:p>
          <a:p>
            <a:pPr lvl="1">
              <a:spcBef>
                <a:spcPts val="600"/>
              </a:spcBef>
            </a:pPr>
            <a:r>
              <a:rPr lang="pt-BR" sz="2000" dirty="0"/>
              <a:t>Balanced </a:t>
            </a:r>
            <a:r>
              <a:rPr lang="pt-BR" sz="2000" dirty="0" err="1"/>
              <a:t>scorecard</a:t>
            </a:r>
            <a:endParaRPr lang="pt-BR" sz="2000" dirty="0"/>
          </a:p>
          <a:p>
            <a:pPr lvl="1">
              <a:spcBef>
                <a:spcPts val="600"/>
              </a:spcBef>
            </a:pPr>
            <a:r>
              <a:rPr lang="pt-BR" sz="2000" dirty="0"/>
              <a:t>Canvas Project Model</a:t>
            </a:r>
          </a:p>
          <a:p>
            <a:pPr lvl="1">
              <a:spcBef>
                <a:spcPts val="600"/>
              </a:spcBef>
            </a:pPr>
            <a:r>
              <a:rPr lang="pt-BR" sz="2000" dirty="0"/>
              <a:t>KPI</a:t>
            </a:r>
          </a:p>
          <a:p>
            <a:pPr lvl="1">
              <a:spcBef>
                <a:spcPts val="600"/>
              </a:spcBef>
            </a:pPr>
            <a:r>
              <a:rPr lang="pt-BR" sz="2000" dirty="0" err="1"/>
              <a:t>OKRs</a:t>
            </a:r>
            <a:endParaRPr lang="pt-BR" sz="2000" dirty="0"/>
          </a:p>
          <a:p>
            <a:pPr>
              <a:spcBef>
                <a:spcPts val="2400"/>
              </a:spcBef>
            </a:pPr>
            <a:r>
              <a:rPr lang="pt-BR" sz="2400" b="1" dirty="0"/>
              <a:t>Aplicação ao projeto semestral</a:t>
            </a:r>
          </a:p>
          <a:p>
            <a:endParaRPr lang="pt-BR" dirty="0"/>
          </a:p>
        </p:txBody>
      </p:sp>
      <p:sp>
        <p:nvSpPr>
          <p:cNvPr id="4" name="Retângulo 3">
            <a:extLst>
              <a:ext uri="{FF2B5EF4-FFF2-40B4-BE49-F238E27FC236}">
                <a16:creationId xmlns:a16="http://schemas.microsoft.com/office/drawing/2014/main" id="{B2C1E166-AA82-571E-A25B-BA4149E23106}"/>
              </a:ext>
            </a:extLst>
          </p:cNvPr>
          <p:cNvSpPr/>
          <p:nvPr/>
        </p:nvSpPr>
        <p:spPr>
          <a:xfrm>
            <a:off x="0" y="0"/>
            <a:ext cx="228600" cy="685800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23529003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2A84E4B-5076-0575-AFDA-56B832A173FC}"/>
              </a:ext>
            </a:extLst>
          </p:cNvPr>
          <p:cNvSpPr>
            <a:spLocks noGrp="1"/>
          </p:cNvSpPr>
          <p:nvPr>
            <p:ph type="title"/>
          </p:nvPr>
        </p:nvSpPr>
        <p:spPr/>
        <p:txBody>
          <a:bodyPr/>
          <a:lstStyle/>
          <a:p>
            <a:r>
              <a:rPr lang="pt-BR" dirty="0"/>
              <a:t>Atividade</a:t>
            </a:r>
          </a:p>
        </p:txBody>
      </p:sp>
      <p:sp>
        <p:nvSpPr>
          <p:cNvPr id="3" name="Espaço Reservado para Conteúdo 2">
            <a:extLst>
              <a:ext uri="{FF2B5EF4-FFF2-40B4-BE49-F238E27FC236}">
                <a16:creationId xmlns:a16="http://schemas.microsoft.com/office/drawing/2014/main" id="{C34EC07B-7CAD-1768-FAD2-FCCA5B8CB270}"/>
              </a:ext>
            </a:extLst>
          </p:cNvPr>
          <p:cNvSpPr>
            <a:spLocks noGrp="1"/>
          </p:cNvSpPr>
          <p:nvPr>
            <p:ph idx="1"/>
          </p:nvPr>
        </p:nvSpPr>
        <p:spPr/>
        <p:txBody>
          <a:bodyPr>
            <a:normAutofit/>
          </a:bodyPr>
          <a:lstStyle/>
          <a:p>
            <a:r>
              <a:rPr lang="pt-BR" dirty="0"/>
              <a:t>Projeto:</a:t>
            </a:r>
          </a:p>
          <a:p>
            <a:pPr lvl="1">
              <a:spcBef>
                <a:spcPts val="1800"/>
              </a:spcBef>
            </a:pPr>
            <a:r>
              <a:rPr lang="pt-BR" dirty="0"/>
              <a:t>Definir </a:t>
            </a:r>
            <a:r>
              <a:rPr lang="pt-BR" b="1" dirty="0"/>
              <a:t>missão e visão </a:t>
            </a:r>
            <a:r>
              <a:rPr lang="pt-BR" dirty="0"/>
              <a:t>da empresa de vocês para o projeto</a:t>
            </a:r>
          </a:p>
          <a:p>
            <a:pPr lvl="2">
              <a:spcBef>
                <a:spcPts val="600"/>
              </a:spcBef>
            </a:pPr>
            <a:r>
              <a:rPr lang="pt-BR" dirty="0"/>
              <a:t>1 parágrafo cada (missão e visão) ou juntando ambos</a:t>
            </a:r>
          </a:p>
          <a:p>
            <a:pPr lvl="1">
              <a:spcBef>
                <a:spcPts val="1800"/>
              </a:spcBef>
            </a:pPr>
            <a:r>
              <a:rPr lang="pt-BR" dirty="0"/>
              <a:t>Enquadrar o </a:t>
            </a:r>
            <a:r>
              <a:rPr lang="pt-BR" b="1" dirty="0"/>
              <a:t>projeto de vocês alinhado a essa visão</a:t>
            </a:r>
          </a:p>
          <a:p>
            <a:pPr lvl="2"/>
            <a:r>
              <a:rPr lang="pt-BR" dirty="0"/>
              <a:t>Como esse software apoia a estratégia?</a:t>
            </a:r>
          </a:p>
          <a:p>
            <a:pPr lvl="2"/>
            <a:endParaRPr lang="pt-BR" dirty="0"/>
          </a:p>
          <a:p>
            <a:pPr lvl="1"/>
            <a:r>
              <a:rPr lang="pt-BR" dirty="0"/>
              <a:t>Criar ao menos </a:t>
            </a:r>
            <a:r>
              <a:rPr lang="pt-BR" b="1" dirty="0"/>
              <a:t>1 Objetivo e 3 </a:t>
            </a:r>
            <a:r>
              <a:rPr lang="pt-BR" b="1" dirty="0" err="1"/>
              <a:t>KRs</a:t>
            </a:r>
            <a:r>
              <a:rPr lang="pt-BR" b="1" dirty="0"/>
              <a:t> </a:t>
            </a:r>
            <a:r>
              <a:rPr lang="pt-BR" dirty="0"/>
              <a:t>para o projeto</a:t>
            </a:r>
          </a:p>
          <a:p>
            <a:pPr lvl="2"/>
            <a:endParaRPr lang="pt-BR" dirty="0"/>
          </a:p>
        </p:txBody>
      </p:sp>
    </p:spTree>
    <p:extLst>
      <p:ext uri="{BB962C8B-B14F-4D97-AF65-F5344CB8AC3E}">
        <p14:creationId xmlns:p14="http://schemas.microsoft.com/office/powerpoint/2010/main" val="2593636944"/>
      </p:ext>
    </p:extLst>
  </p:cSld>
  <p:clrMapOvr>
    <a:masterClrMapping/>
  </p:clrMapOvr>
</p:sld>
</file>

<file path=ppt/theme/theme1.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22924</TotalTime>
  <Words>2922</Words>
  <Application>Microsoft Office PowerPoint</Application>
  <PresentationFormat>Widescreen</PresentationFormat>
  <Paragraphs>431</Paragraphs>
  <Slides>55</Slides>
  <Notes>3</Notes>
  <HiddenSlides>0</HiddenSlides>
  <MMClips>0</MMClips>
  <ScaleCrop>false</ScaleCrop>
  <HeadingPairs>
    <vt:vector size="6" baseType="variant">
      <vt:variant>
        <vt:lpstr>Fontes usadas</vt:lpstr>
      </vt:variant>
      <vt:variant>
        <vt:i4>7</vt:i4>
      </vt:variant>
      <vt:variant>
        <vt:lpstr>Tema</vt:lpstr>
      </vt:variant>
      <vt:variant>
        <vt:i4>1</vt:i4>
      </vt:variant>
      <vt:variant>
        <vt:lpstr>Títulos de slides</vt:lpstr>
      </vt:variant>
      <vt:variant>
        <vt:i4>55</vt:i4>
      </vt:variant>
    </vt:vector>
  </HeadingPairs>
  <TitlesOfParts>
    <vt:vector size="63" baseType="lpstr">
      <vt:lpstr>Aptos Narrow</vt:lpstr>
      <vt:lpstr>Arial</vt:lpstr>
      <vt:lpstr>Calibri</vt:lpstr>
      <vt:lpstr>Calibri Light</vt:lpstr>
      <vt:lpstr>FKGrotesk</vt:lpstr>
      <vt:lpstr>Google Sans</vt:lpstr>
      <vt:lpstr>Wingdings</vt:lpstr>
      <vt:lpstr>Tema do Office</vt:lpstr>
      <vt:lpstr>Apresentação do PowerPoint</vt:lpstr>
      <vt:lpstr>Apresentação dos projetos de grupo</vt:lpstr>
      <vt:lpstr>Avaliação</vt:lpstr>
      <vt:lpstr>Planejamento das aulas</vt:lpstr>
      <vt:lpstr>Última aula</vt:lpstr>
      <vt:lpstr>Última aula</vt:lpstr>
      <vt:lpstr>Objetivos de hoje</vt:lpstr>
      <vt:lpstr>Projetos (relembrando)</vt:lpstr>
      <vt:lpstr>Estratégia organizacional</vt:lpstr>
      <vt:lpstr>Estratégias organizacionais</vt:lpstr>
      <vt:lpstr>Estratégias organizacionais</vt:lpstr>
      <vt:lpstr>Exemplos de estratégia</vt:lpstr>
      <vt:lpstr>Exemplos de estratégia</vt:lpstr>
      <vt:lpstr>Exemplos de estratégia</vt:lpstr>
      <vt:lpstr>Estratégia organizacional</vt:lpstr>
      <vt:lpstr>Exemplos de MVV</vt:lpstr>
      <vt:lpstr>Exemplos de MVV</vt:lpstr>
      <vt:lpstr>Exemplos de MVV</vt:lpstr>
      <vt:lpstr>Exemplos de MVV</vt:lpstr>
      <vt:lpstr>Exemplos de MVV</vt:lpstr>
      <vt:lpstr>Objetivos de hoje</vt:lpstr>
      <vt:lpstr>Exemplos de MVV</vt:lpstr>
      <vt:lpstr>Estratégia organizacional</vt:lpstr>
      <vt:lpstr>Projetos de SW como vetores</vt:lpstr>
      <vt:lpstr>Projetos de SW como vetores</vt:lpstr>
      <vt:lpstr>Exemplos</vt:lpstr>
      <vt:lpstr>Exemplos bem-sucedidos</vt:lpstr>
      <vt:lpstr>Exemplos bem-sucedidos</vt:lpstr>
      <vt:lpstr>Desalinhamento</vt:lpstr>
      <vt:lpstr>Desalinhamento</vt:lpstr>
      <vt:lpstr>Exemplos</vt:lpstr>
      <vt:lpstr>Ferramentas de alinhamento</vt:lpstr>
      <vt:lpstr>Objetivos de hoje</vt:lpstr>
      <vt:lpstr>Business case</vt:lpstr>
      <vt:lpstr>Valoração</vt:lpstr>
      <vt:lpstr>Seleção de projetos</vt:lpstr>
      <vt:lpstr>Valoração - Exemplos de Critérios</vt:lpstr>
      <vt:lpstr>Ferramentas de gestão</vt:lpstr>
      <vt:lpstr>Exemplo</vt:lpstr>
      <vt:lpstr>Objetivos de hoje</vt:lpstr>
      <vt:lpstr>1) Gerenciamento de portfolio (PPM)</vt:lpstr>
      <vt:lpstr>2) Balanced scorecard</vt:lpstr>
      <vt:lpstr>2) Balanced scorecard</vt:lpstr>
      <vt:lpstr>3) OKR</vt:lpstr>
      <vt:lpstr>3) OKR</vt:lpstr>
      <vt:lpstr>3) OKR - Desdobramentos</vt:lpstr>
      <vt:lpstr>3) OKR</vt:lpstr>
      <vt:lpstr>3) OKR</vt:lpstr>
      <vt:lpstr>4) KPI</vt:lpstr>
      <vt:lpstr>OKR x KPI</vt:lpstr>
      <vt:lpstr>Definição de metas</vt:lpstr>
      <vt:lpstr>Como garantir o alinhamento</vt:lpstr>
      <vt:lpstr>Ferramentas de alinhamento</vt:lpstr>
      <vt:lpstr>Objetivos de hoje</vt:lpstr>
      <vt:lpstr>Atividade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Bruno Elias Penteado</dc:creator>
  <cp:lastModifiedBy>Author</cp:lastModifiedBy>
  <cp:revision>324</cp:revision>
  <dcterms:created xsi:type="dcterms:W3CDTF">2024-07-27T19:47:06Z</dcterms:created>
  <dcterms:modified xsi:type="dcterms:W3CDTF">2026-03-28T01:32:23Z</dcterms:modified>
</cp:coreProperties>
</file>