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handoutMasterIdLst>
    <p:handoutMasterId r:id="rId92"/>
  </p:handoutMasterIdLst>
  <p:sldIdLst>
    <p:sldId id="801" r:id="rId2"/>
    <p:sldId id="788" r:id="rId3"/>
    <p:sldId id="802" r:id="rId4"/>
    <p:sldId id="718" r:id="rId5"/>
    <p:sldId id="720" r:id="rId6"/>
    <p:sldId id="861" r:id="rId7"/>
    <p:sldId id="813" r:id="rId8"/>
    <p:sldId id="882" r:id="rId9"/>
    <p:sldId id="883" r:id="rId10"/>
    <p:sldId id="820" r:id="rId11"/>
    <p:sldId id="771" r:id="rId12"/>
    <p:sldId id="772" r:id="rId13"/>
    <p:sldId id="773" r:id="rId14"/>
    <p:sldId id="817" r:id="rId15"/>
    <p:sldId id="818" r:id="rId16"/>
    <p:sldId id="819" r:id="rId17"/>
    <p:sldId id="774" r:id="rId18"/>
    <p:sldId id="823" r:id="rId19"/>
    <p:sldId id="821" r:id="rId20"/>
    <p:sldId id="833" r:id="rId21"/>
    <p:sldId id="834" r:id="rId22"/>
    <p:sldId id="835" r:id="rId23"/>
    <p:sldId id="824" r:id="rId24"/>
    <p:sldId id="822" r:id="rId25"/>
    <p:sldId id="885" r:id="rId26"/>
    <p:sldId id="836" r:id="rId27"/>
    <p:sldId id="837" r:id="rId28"/>
    <p:sldId id="825" r:id="rId29"/>
    <p:sldId id="829" r:id="rId30"/>
    <p:sldId id="840" r:id="rId31"/>
    <p:sldId id="841" r:id="rId32"/>
    <p:sldId id="842" r:id="rId33"/>
    <p:sldId id="843" r:id="rId34"/>
    <p:sldId id="844" r:id="rId35"/>
    <p:sldId id="845" r:id="rId36"/>
    <p:sldId id="846" r:id="rId37"/>
    <p:sldId id="886" r:id="rId38"/>
    <p:sldId id="838" r:id="rId39"/>
    <p:sldId id="839" r:id="rId40"/>
    <p:sldId id="826" r:id="rId41"/>
    <p:sldId id="830" r:id="rId42"/>
    <p:sldId id="847" r:id="rId43"/>
    <p:sldId id="850" r:id="rId44"/>
    <p:sldId id="848" r:id="rId45"/>
    <p:sldId id="851" r:id="rId46"/>
    <p:sldId id="849" r:id="rId47"/>
    <p:sldId id="827" r:id="rId48"/>
    <p:sldId id="831" r:id="rId49"/>
    <p:sldId id="852" r:id="rId50"/>
    <p:sldId id="853" r:id="rId51"/>
    <p:sldId id="854" r:id="rId52"/>
    <p:sldId id="887" r:id="rId53"/>
    <p:sldId id="855" r:id="rId54"/>
    <p:sldId id="884" r:id="rId55"/>
    <p:sldId id="856" r:id="rId56"/>
    <p:sldId id="828" r:id="rId57"/>
    <p:sldId id="832" r:id="rId58"/>
    <p:sldId id="857" r:id="rId59"/>
    <p:sldId id="858" r:id="rId60"/>
    <p:sldId id="805" r:id="rId61"/>
    <p:sldId id="815" r:id="rId62"/>
    <p:sldId id="806" r:id="rId63"/>
    <p:sldId id="807" r:id="rId64"/>
    <p:sldId id="808" r:id="rId65"/>
    <p:sldId id="809" r:id="rId66"/>
    <p:sldId id="810" r:id="rId67"/>
    <p:sldId id="811" r:id="rId68"/>
    <p:sldId id="816" r:id="rId69"/>
    <p:sldId id="804" r:id="rId70"/>
    <p:sldId id="803" r:id="rId71"/>
    <p:sldId id="859" r:id="rId72"/>
    <p:sldId id="860" r:id="rId73"/>
    <p:sldId id="719" r:id="rId74"/>
    <p:sldId id="877" r:id="rId75"/>
    <p:sldId id="879" r:id="rId76"/>
    <p:sldId id="880" r:id="rId77"/>
    <p:sldId id="881" r:id="rId78"/>
    <p:sldId id="878" r:id="rId79"/>
    <p:sldId id="862" r:id="rId80"/>
    <p:sldId id="871" r:id="rId81"/>
    <p:sldId id="863" r:id="rId82"/>
    <p:sldId id="870" r:id="rId83"/>
    <p:sldId id="864" r:id="rId84"/>
    <p:sldId id="872" r:id="rId85"/>
    <p:sldId id="873" r:id="rId86"/>
    <p:sldId id="874" r:id="rId87"/>
    <p:sldId id="876" r:id="rId88"/>
    <p:sldId id="875" r:id="rId89"/>
    <p:sldId id="674" r:id="rId9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F8CF034-F307-4423-A15D-EBE2821C1A74}">
          <p14:sldIdLst>
            <p14:sldId id="801"/>
            <p14:sldId id="788"/>
          </p14:sldIdLst>
        </p14:section>
        <p14:section name="Organização de equipes" id="{C9C348B9-1F39-4B4D-80C8-103AD6C8AE51}">
          <p14:sldIdLst>
            <p14:sldId id="802"/>
            <p14:sldId id="718"/>
            <p14:sldId id="720"/>
            <p14:sldId id="861"/>
            <p14:sldId id="813"/>
          </p14:sldIdLst>
        </p14:section>
        <p14:section name="Interna" id="{45B13CE3-AFE8-43F6-BA2C-AEA40D76556B}">
          <p14:sldIdLst>
            <p14:sldId id="882"/>
            <p14:sldId id="883"/>
            <p14:sldId id="820"/>
            <p14:sldId id="771"/>
            <p14:sldId id="772"/>
            <p14:sldId id="773"/>
            <p14:sldId id="817"/>
            <p14:sldId id="818"/>
            <p14:sldId id="819"/>
            <p14:sldId id="774"/>
            <p14:sldId id="823"/>
            <p14:sldId id="821"/>
            <p14:sldId id="833"/>
            <p14:sldId id="834"/>
            <p14:sldId id="835"/>
            <p14:sldId id="824"/>
            <p14:sldId id="822"/>
            <p14:sldId id="885"/>
            <p14:sldId id="836"/>
            <p14:sldId id="837"/>
            <p14:sldId id="825"/>
            <p14:sldId id="829"/>
            <p14:sldId id="840"/>
            <p14:sldId id="841"/>
            <p14:sldId id="842"/>
            <p14:sldId id="843"/>
            <p14:sldId id="844"/>
            <p14:sldId id="845"/>
            <p14:sldId id="846"/>
            <p14:sldId id="886"/>
            <p14:sldId id="838"/>
            <p14:sldId id="839"/>
            <p14:sldId id="826"/>
            <p14:sldId id="830"/>
            <p14:sldId id="847"/>
            <p14:sldId id="850"/>
            <p14:sldId id="848"/>
            <p14:sldId id="851"/>
            <p14:sldId id="849"/>
            <p14:sldId id="827"/>
            <p14:sldId id="831"/>
            <p14:sldId id="852"/>
            <p14:sldId id="853"/>
            <p14:sldId id="854"/>
            <p14:sldId id="887"/>
            <p14:sldId id="855"/>
            <p14:sldId id="884"/>
            <p14:sldId id="856"/>
            <p14:sldId id="828"/>
            <p14:sldId id="832"/>
            <p14:sldId id="857"/>
            <p14:sldId id="858"/>
            <p14:sldId id="805"/>
            <p14:sldId id="815"/>
            <p14:sldId id="806"/>
            <p14:sldId id="807"/>
            <p14:sldId id="808"/>
            <p14:sldId id="809"/>
            <p14:sldId id="810"/>
            <p14:sldId id="811"/>
            <p14:sldId id="816"/>
            <p14:sldId id="804"/>
            <p14:sldId id="803"/>
            <p14:sldId id="859"/>
            <p14:sldId id="860"/>
          </p14:sldIdLst>
        </p14:section>
        <p14:section name="PMBOK" id="{3258367F-55A6-4892-8B9B-0059B0EA833C}">
          <p14:sldIdLst>
            <p14:sldId id="719"/>
            <p14:sldId id="877"/>
            <p14:sldId id="879"/>
            <p14:sldId id="880"/>
            <p14:sldId id="881"/>
            <p14:sldId id="878"/>
            <p14:sldId id="862"/>
            <p14:sldId id="871"/>
            <p14:sldId id="863"/>
            <p14:sldId id="870"/>
            <p14:sldId id="864"/>
            <p14:sldId id="872"/>
            <p14:sldId id="873"/>
            <p14:sldId id="874"/>
            <p14:sldId id="876"/>
            <p14:sldId id="875"/>
            <p14:sldId id="6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A1EC"/>
    <a:srgbClr val="FFDA6C"/>
    <a:srgbClr val="F5A85A"/>
    <a:srgbClr val="D09BB8"/>
    <a:srgbClr val="B7CDF2"/>
    <a:srgbClr val="FFC18C"/>
    <a:srgbClr val="DFBDCF"/>
    <a:srgbClr val="FFFFFF"/>
    <a:srgbClr val="FFE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290" autoAdjust="0"/>
  </p:normalViewPr>
  <p:slideViewPr>
    <p:cSldViewPr snapToGrid="0">
      <p:cViewPr varScale="1">
        <p:scale>
          <a:sx n="68" d="100"/>
          <a:sy n="68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34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33C9241-0163-F790-8967-E9AA0AECA4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567FA4-E1F4-E060-A2F2-49E8679206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E1259-FB64-4139-AFC7-D02551C6DC4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9D1E7A-4DDA-2734-A5FA-55CF7EA8E8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549CBA-8CB4-F072-3087-133734D214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3739A-45CD-4694-A738-525F6252F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824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3E948-8C8A-4D25-B2FA-9575257C2614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EB80A-D303-4B65-A110-475560BCED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106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Equipe </a:t>
            </a:r>
            <a:r>
              <a:rPr lang="pt-BR" dirty="0"/>
              <a:t>devops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461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754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1E94F-5ECB-75B0-8155-9C0E6235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EA4EBE1-7AF9-21CF-D1E8-D14D4BF81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8284E4-3A14-BB59-CAF1-23CAAE710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2CD677-DDC0-AD6D-1ACC-3496DE409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076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F066-02FE-137E-ABDF-2BBAD23E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06371A-C898-65CD-74BD-8EE212C5E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05385C-2CEF-503D-F5D0-9CC34588B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0C519F-86CB-3A8A-EF14-12C2E607B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40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gente acabou de ver que comunicação quebra quando um grupo cresce. Mas isso é sempre assim — e desde 1965 tem nome.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EB80A-D303-4B65-A110-475560BCEDA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598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EB80A-D303-4B65-A110-475560BCEDA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313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Blameless</a:t>
            </a:r>
            <a:r>
              <a:rPr lang="pt-BR" dirty="0"/>
              <a:t> post-mortem na filosofia ágil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EB80A-D303-4B65-A110-475560BCEDA4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12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Squad</a:t>
            </a:r>
            <a:r>
              <a:rPr lang="pt-BR" dirty="0"/>
              <a:t>: playlists; Tribo: música (</a:t>
            </a:r>
            <a:r>
              <a:rPr lang="pt-BR" dirty="0" err="1"/>
              <a:t>rerp</a:t>
            </a:r>
            <a:endParaRPr lang="pt-BR" dirty="0"/>
          </a:p>
          <a:p>
            <a:endParaRPr lang="pt-BR" dirty="0"/>
          </a:p>
          <a:p>
            <a:r>
              <a:rPr lang="pt-BR" dirty="0"/>
              <a:t>É importante saber que o próprio Spotify não opera mais exatamente assim hoje. É um estudo de caso muito influente — a ideia por trás dele continua valendo — mas não é uma fórmula pronta pra copiar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EB80A-D303-4B65-A110-475560BCEDA4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8724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Team </a:t>
            </a:r>
            <a:r>
              <a:rPr lang="pt-BR" dirty="0" err="1"/>
              <a:t>Topologies</a:t>
            </a:r>
            <a:r>
              <a:rPr lang="pt-BR" dirty="0"/>
              <a:t> é, na prática, a manobra reversa de Conway virando catálogo: em vez de inventar a estrutura do zero, você escolhe entre esses quatro tipos de time, pensando na arquitetura que quer obter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EB80A-D303-4B65-A110-475560BCEDA4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650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102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2h  -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4BD5F-03D5-7257-EB5F-0787D50FF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0199FD-273D-B0B6-01E9-366D410BE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DE83F5-D8E0-DB18-4B70-ADABB80CD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9C856D-906D-E6E7-C983-DE7EF2FD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1399F0-043A-6310-EE75-7D7F930E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890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5356D-C9A7-CC7A-12A0-A313BDCE9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0F4A20-109B-85B0-EEC8-B2A1D1CD3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755D41-DEE2-7CEA-BC9B-511A797D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574C07-3C74-254B-4115-83A9B2D9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51389A-D9C6-27DC-4E8B-1F3CF050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4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CC959-8B69-6463-9A9D-271A1606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B0D821-E2EA-49E0-53BD-59FA394F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B3DFA2-2A2B-A7F2-4A13-C47B0ACB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DA719C-CAB9-9449-8A1E-6E5C6504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D6B2E3-6011-D20B-F20A-4FDB804E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99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93A97-4B72-19A3-A77D-53E6B0A2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ACAB88-AC6A-E680-D290-FE8871FB1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0A5971-429F-4228-545C-B8B0E8EA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EF0510-35A2-8EE3-1E84-D4590D6E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B26700-ACAF-0D9D-8DCC-29F50400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1547D1-F785-DE23-E9F0-508E4542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242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71DEA-C90E-1B47-E845-2545135C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5A7C90-18E8-3D95-77A4-E2EBD7AC2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A8F075-8B6D-FDC5-1C75-DC693BF4E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590672-88DC-2D28-D8AF-9CD6485E2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C19183-D82F-9F6C-59AD-9436155F7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710442-8EC9-982B-B2C7-EE40D442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2294D22-9CA2-4744-ED0F-AA0989B42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51B59D-142D-2C01-3A48-053C1A4D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97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16F4D-EA7A-1E1A-3A22-2B50E4CD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524A3B-5922-9F25-51F6-E9872D26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51C003-B653-D86C-19EF-530A2659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9D7E0C-5A33-E02E-09F7-C9379BD3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7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38FC36-CDB7-68EE-DCB3-E4884431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639FE9-2755-3CCE-1607-F78467F6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80876-D3E0-DF52-6797-5C1B0898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36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AFD29-A932-7F64-3943-BDB90808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9B2E1A-D467-F581-A793-3EAB926D8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9C97DA-5D03-8B2A-461C-A4D4A7A96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872A91-9AA2-652E-E7E0-5C428B08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97CF53-2B64-EEE1-28CC-3E8D42BF5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3E46B-9109-9F10-52D3-60E6B59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96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D14E3-2100-1E87-70E8-46D4DCD5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9ADE77-68DB-608A-420F-38F251623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F79817-8E94-075D-224D-73B5B26F9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4265CF-8945-AB6B-139C-7BAA3281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037734-BAAC-6A8A-1247-8B268261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B8B15D-8242-830A-FD9D-42D976E8E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21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01522-AC8D-9E57-B3EF-01FB11A7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D2ECD8-D1D0-7D0A-684D-15BF82E5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A98935-0B66-5D9B-DCEB-1A5661C4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76961A-5621-7964-6436-4887539E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D73B10-EAC5-C1BF-1143-43F15BC6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20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842B03-26D4-A2DA-0B48-CA9F0C3BF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7D9A6A-6CFA-A4AB-4FD9-3C09391AE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44BC6D-648C-CFAA-FD35-86FD4CEE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8B5090-7FD0-12B9-7D58-602C66D2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69EF8A-2B26-C8F6-1B0E-33C1CA9F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98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4339569-2A9B-9A74-62BB-AB655992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35ABDF-17F0-E512-B09A-38A3CABAD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4B86BB-EBDA-65F9-0051-B1754F21C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90192-35DE-445D-943B-A7D1E3D76502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D2CF2E-FDB7-618A-AA78-1FD3E5C51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211676-B063-844D-424C-93204A1D9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8F0A0-E147-492E-88A4-CE2730EA8E4C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96B7EA-859F-6FC9-851A-EEB90215952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0457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7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gilemanifesto.org/iso/ptbr/manifesto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melconway.com/Home/pdf/committees.pdf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ash.harvard.edu/entities/publication/73120379-3450-6bd4-e053-0100007fdf3b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youtube.com/watch?v=NoGhC1LaaAE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8</a:t>
            </a:r>
            <a:r>
              <a:rPr lang="pt-BR" dirty="0"/>
              <a:t> </a:t>
            </a:r>
            <a:br>
              <a:rPr lang="pt-BR" dirty="0"/>
            </a:br>
            <a:r>
              <a:rPr lang="pt-BR" sz="5500" dirty="0"/>
              <a:t>Gestão de stakeholders</a:t>
            </a:r>
            <a:endParaRPr lang="pt-B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2000" i="1" dirty="0">
                <a:hlinkClick r:id="rId3"/>
              </a:rPr>
              <a:t>bruno.penteado@unesp.br</a:t>
            </a:r>
            <a:r>
              <a:rPr lang="pt-BR" sz="2000" i="1" dirty="0"/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Riscos de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Conceitos sobre Riscos de projeto</a:t>
            </a:r>
          </a:p>
          <a:p>
            <a:pPr lvl="2"/>
            <a:r>
              <a:rPr lang="pt-BR" dirty="0"/>
              <a:t>Risco, problema, incerteza, impacto</a:t>
            </a:r>
          </a:p>
          <a:p>
            <a:pPr lvl="2"/>
            <a:r>
              <a:rPr lang="pt-BR" dirty="0"/>
              <a:t>Quadrantes de conhecimento </a:t>
            </a:r>
          </a:p>
          <a:p>
            <a:pPr lvl="2"/>
            <a:r>
              <a:rPr lang="pt-BR" dirty="0"/>
              <a:t>Apetite, tolerância e exposição 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Processo de gestão</a:t>
            </a:r>
          </a:p>
          <a:p>
            <a:pPr lvl="2"/>
            <a:r>
              <a:rPr lang="pt-BR" dirty="0"/>
              <a:t>Planejar gestão/governança</a:t>
            </a:r>
          </a:p>
          <a:p>
            <a:pPr lvl="2"/>
            <a:r>
              <a:rPr lang="pt-BR" dirty="0"/>
              <a:t>Identificar, analisar, planejar resposta, monitorar</a:t>
            </a:r>
          </a:p>
          <a:p>
            <a:pPr lvl="2"/>
            <a:r>
              <a:rPr lang="pt-BR" dirty="0"/>
              <a:t>Plano de riscos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94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7F4CF-1840-BD16-751C-E57DB410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4F7579-8FFE-D4C6-F85F-CD66F1F54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Gestão de stakeholders 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Equipes internas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Equipes externas</a:t>
            </a:r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F93F8-7A10-09BC-2231-065B5FAB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8217421-93C3-8F5C-1112-3FE5B82AC3B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36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4BA38-7B0F-AE6D-A95D-8242381D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Elementos da Engenharia de SW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8BDC4A12-5880-1022-7A9A-862DCEB7C67B}"/>
              </a:ext>
            </a:extLst>
          </p:cNvPr>
          <p:cNvSpPr txBox="1">
            <a:spLocks/>
          </p:cNvSpPr>
          <p:nvPr/>
        </p:nvSpPr>
        <p:spPr>
          <a:xfrm>
            <a:off x="6725266" y="1825625"/>
            <a:ext cx="46285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Processo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Define os passos gerais</a:t>
            </a:r>
          </a:p>
          <a:p>
            <a:pPr lvl="1"/>
            <a:r>
              <a:rPr lang="pt-BR" dirty="0"/>
              <a:t>Estrutura o encadeamento de métodos e ferramentas</a:t>
            </a:r>
          </a:p>
          <a:p>
            <a:pPr>
              <a:spcBef>
                <a:spcPts val="2400"/>
              </a:spcBef>
            </a:pPr>
            <a:r>
              <a:rPr lang="pt-BR" b="1" dirty="0"/>
              <a:t>Métodos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Como fazer um passo específico do processo;</a:t>
            </a:r>
          </a:p>
          <a:p>
            <a:pPr>
              <a:spcBef>
                <a:spcPts val="2400"/>
              </a:spcBef>
            </a:pPr>
            <a:r>
              <a:rPr lang="pt-BR" b="1" dirty="0"/>
              <a:t>Ferramentas:</a:t>
            </a:r>
          </a:p>
          <a:p>
            <a:pPr lvl="1"/>
            <a:r>
              <a:rPr lang="pt-BR" dirty="0"/>
              <a:t>Automatizam o processos e os métodos.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F25819-290D-93D4-0DCD-AEA3627C42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82"/>
          <a:stretch/>
        </p:blipFill>
        <p:spPr>
          <a:xfrm>
            <a:off x="1157593" y="1732231"/>
            <a:ext cx="4429743" cy="4538126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A7DEB07-C00A-7BA0-4A7E-9BAFC539F466}"/>
              </a:ext>
            </a:extLst>
          </p:cNvPr>
          <p:cNvSpPr/>
          <p:nvPr/>
        </p:nvSpPr>
        <p:spPr>
          <a:xfrm>
            <a:off x="7233266" y="6012543"/>
            <a:ext cx="2925296" cy="5987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i="0" u="none" strike="noStrike" baseline="0" dirty="0">
                <a:solidFill>
                  <a:srgbClr val="231F20"/>
                </a:solidFill>
                <a:latin typeface="ImpressumStd-Roman"/>
              </a:rPr>
              <a:t>O que falta?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426171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62649-CE7D-310E-1501-B63F6EE4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Aspectos humanos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E1E63-3E37-7402-13A2-73128036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não é simplesmente um produto de soluções técnicas adequadas aplicadas a hábitos técnicos inadequados</a:t>
            </a:r>
          </a:p>
          <a:p>
            <a:pPr>
              <a:spcBef>
                <a:spcPts val="2400"/>
              </a:spcBef>
            </a:pPr>
            <a:r>
              <a:rPr lang="pt-BR" dirty="0"/>
              <a:t>Software é </a:t>
            </a:r>
            <a:r>
              <a:rPr lang="pt-BR" b="1" u="sng" dirty="0"/>
              <a:t>desenvolvido por </a:t>
            </a:r>
            <a:r>
              <a:rPr lang="pt-BR" b="1" dirty="0"/>
              <a:t>pessoas</a:t>
            </a:r>
            <a:r>
              <a:rPr lang="pt-BR" dirty="0"/>
              <a:t>, </a:t>
            </a:r>
            <a:r>
              <a:rPr lang="pt-BR" b="1" u="sng" dirty="0"/>
              <a:t>usado por </a:t>
            </a:r>
            <a:r>
              <a:rPr lang="pt-BR" b="1" dirty="0"/>
              <a:t>pessoas </a:t>
            </a:r>
            <a:r>
              <a:rPr lang="pt-BR" dirty="0"/>
              <a:t>e dá </a:t>
            </a:r>
            <a:r>
              <a:rPr lang="pt-BR" b="1" u="sng" dirty="0"/>
              <a:t>suporte à interação </a:t>
            </a:r>
            <a:r>
              <a:rPr lang="pt-BR" b="1" dirty="0"/>
              <a:t>entre pessoas</a:t>
            </a:r>
            <a:r>
              <a:rPr lang="pt-BR" dirty="0"/>
              <a:t>.</a:t>
            </a:r>
          </a:p>
          <a:p>
            <a:pPr>
              <a:spcBef>
                <a:spcPts val="2400"/>
              </a:spcBef>
            </a:pPr>
            <a:r>
              <a:rPr lang="pt-BR" dirty="0"/>
              <a:t>Características, comportamento e cooperação </a:t>
            </a:r>
            <a:r>
              <a:rPr lang="pt-BR" b="1" dirty="0"/>
              <a:t>das pessoas </a:t>
            </a:r>
            <a:r>
              <a:rPr lang="pt-BR" dirty="0"/>
              <a:t>são fundamentais no desenvolvimento prático de software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CBFDE88-5F10-F7DF-BAF1-650F782B04CF}"/>
              </a:ext>
            </a:extLst>
          </p:cNvPr>
          <p:cNvSpPr/>
          <p:nvPr/>
        </p:nvSpPr>
        <p:spPr>
          <a:xfrm>
            <a:off x="3374974" y="5397500"/>
            <a:ext cx="544205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i="0" u="none" strike="noStrike" baseline="0" dirty="0">
                <a:solidFill>
                  <a:srgbClr val="231F20"/>
                </a:solidFill>
                <a:latin typeface="ImpressumStd-Roman"/>
              </a:rPr>
              <a:t>sem pessoas habilitadas e motivadas, o sucesso é improvável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51307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ADD08-ADFD-FE5F-9809-1C2155A7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Stakeholders de um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D03D56-FDC3-B54A-5649-106D623B6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Patrocinador do projeto (</a:t>
            </a:r>
            <a:r>
              <a:rPr lang="pt-BR" i="1" dirty="0" err="1"/>
              <a:t>sponsor</a:t>
            </a:r>
            <a:r>
              <a:rPr lang="pt-BR" dirty="0"/>
              <a:t>), membros da equipe, todas as pessoas afetadas pelo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Projeto pode ter de alguns a milhares de stakeholders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Podem variar ao longo das fases do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Influência, poder, interesse dos stakeholders podem mudar com o desenrolar do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Habilidades-chave: negociação e resolução de conflito</a:t>
            </a:r>
          </a:p>
        </p:txBody>
      </p:sp>
    </p:spTree>
    <p:extLst>
      <p:ext uri="{BB962C8B-B14F-4D97-AF65-F5344CB8AC3E}">
        <p14:creationId xmlns:p14="http://schemas.microsoft.com/office/powerpoint/2010/main" val="230540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42C64-4148-482D-D861-F7736F00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Stakeholders de um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13D201-E0A0-CC16-B1D1-6AE1FD80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F0DFEF-68A1-62E6-C971-895DC64B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08" y="1863104"/>
            <a:ext cx="485842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87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D3A0-B239-71DE-92CA-2D13F0BE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C252E2-16EA-54D9-CF0A-E68A9FB70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Gestão de stakeholders 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Equipes internas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Equipes externas</a:t>
            </a:r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EA1669-824F-5A18-915D-31F3FD27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604C50F-CFBD-8177-5444-920211F4B55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697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1BCA-B6FD-AC1F-6A4E-05F49465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B9A1D-47F5-BC5F-7393-6487711E6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Stakeholders de um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55CD79-529F-7214-3B02-2CFE28B1A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E55ED1-744E-522C-B5E2-861E145C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08" y="1863104"/>
            <a:ext cx="4858428" cy="4448796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9B74779-1EED-06CE-8389-519D3630F244}"/>
              </a:ext>
            </a:extLst>
          </p:cNvPr>
          <p:cNvSpPr/>
          <p:nvPr/>
        </p:nvSpPr>
        <p:spPr>
          <a:xfrm>
            <a:off x="5034844" y="4651023"/>
            <a:ext cx="1670756" cy="13320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024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81EE0-7CC8-3209-0A9B-59389E15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E0E772-4AE5-D779-316F-E2838D37D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CB2A69-7EAC-03F3-D1A6-4302A899A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7"/>
            <a:ext cx="12192000" cy="197166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68D1CE1-C2F8-D98A-8DDF-CA2F63322A28}"/>
              </a:ext>
            </a:extLst>
          </p:cNvPr>
          <p:cNvSpPr/>
          <p:nvPr/>
        </p:nvSpPr>
        <p:spPr>
          <a:xfrm>
            <a:off x="0" y="2443166"/>
            <a:ext cx="1670756" cy="17224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155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E62C74-EAD9-1C18-E178-EE9C0E8AE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443"/>
            <a:ext cx="5706271" cy="601111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2FD585A-18C7-6882-8BA2-9B5B7C21F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225446" y="-37830"/>
            <a:ext cx="5237577" cy="797707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EC16F73-C0BD-0532-5B7E-6AA35B2AA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29000"/>
            <a:ext cx="1926771" cy="284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47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53582-1819-9AF3-0572-7556B7AF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Torre de Babel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50EDAF-220B-46CF-E214-D2F994CD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3889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Objetivo</a:t>
            </a:r>
            <a:r>
              <a:rPr lang="pt-BR" dirty="0"/>
              <a:t>: criar uma cidade cujo topo poderia tocar o céu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Humanos falavam todos a mesma língua, querendo chegar ao nível divino;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Deus confunde sua fala para que não se entendam mais e pessoas se espalham;</a:t>
            </a:r>
          </a:p>
          <a:p>
            <a:endParaRPr lang="pt-BR" dirty="0"/>
          </a:p>
          <a:p>
            <a:r>
              <a:rPr lang="pt-BR" dirty="0"/>
              <a:t>Do ponto de vista da engenharia: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Missão clara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Recursos humanos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Materiais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Tempo para execução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Tecnologia adequada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082017-ED2E-278E-E3B4-EE2BBCDA7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779865" y="2541951"/>
            <a:ext cx="3142114" cy="478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8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ABDDC-1897-5B05-B411-563A2343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Torre de Babel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F6A8EA-5553-885E-E956-37AE82EB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Grande falha, devido a 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Comunicação: </a:t>
            </a:r>
          </a:p>
          <a:p>
            <a:pPr lvl="2"/>
            <a:r>
              <a:rPr lang="pt-BR" dirty="0"/>
              <a:t>pessoas ficaram impossibilitadas de conversarem umas com as outras</a:t>
            </a:r>
          </a:p>
          <a:p>
            <a:pPr lvl="2"/>
            <a:r>
              <a:rPr lang="pt-BR" dirty="0"/>
              <a:t>Falta de comunicação levou a disputas, ressentimentos e ciúmes e isolamento entre grupos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Organização</a:t>
            </a:r>
          </a:p>
          <a:p>
            <a:pPr lvl="2"/>
            <a:r>
              <a:rPr lang="pt-BR" dirty="0"/>
              <a:t>Impossibilidade de coordenar as ações</a:t>
            </a:r>
          </a:p>
          <a:p>
            <a:pPr lvl="2"/>
            <a:endParaRPr lang="pt-BR" dirty="0"/>
          </a:p>
          <a:p>
            <a:r>
              <a:rPr lang="pt-BR" dirty="0"/>
              <a:t>Projetos de software:</a:t>
            </a:r>
          </a:p>
          <a:p>
            <a:pPr lvl="1"/>
            <a:r>
              <a:rPr lang="pt-BR" dirty="0"/>
              <a:t>“Mão esquerda não sabe o que a direita está fazendo”</a:t>
            </a:r>
          </a:p>
        </p:txBody>
      </p:sp>
    </p:spTree>
    <p:extLst>
      <p:ext uri="{BB962C8B-B14F-4D97-AF65-F5344CB8AC3E}">
        <p14:creationId xmlns:p14="http://schemas.microsoft.com/office/powerpoint/2010/main" val="121030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CE5C9-8D9F-242A-259D-6A82D09B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Torre de Babel (Brooks)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F082E4-7134-9171-66F0-5FBB9180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Brooks: </a:t>
            </a:r>
          </a:p>
          <a:p>
            <a:pPr lvl="1"/>
            <a:r>
              <a:rPr lang="pt-BR" dirty="0"/>
              <a:t>Falta de uma língua comum paralisa a coordenação</a:t>
            </a:r>
          </a:p>
          <a:p>
            <a:pPr>
              <a:spcBef>
                <a:spcPts val="2400"/>
              </a:spcBef>
            </a:pPr>
            <a:r>
              <a:rPr lang="pt-BR" dirty="0"/>
              <a:t>PMBOK: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Necessidade de engajamento contínuo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Estabelecer canais formais e informais de comunicação para que as expectativas e fluxos de informação não se corrompam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3630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FD5E-DA3F-3287-D538-26CE1519F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1A1CF-7872-1DEB-6051-A6432EBC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Torre de Babel (Brooks)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8C7577-86BE-7D87-3708-B10535046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Brooks: </a:t>
            </a:r>
          </a:p>
          <a:p>
            <a:pPr lvl="1"/>
            <a:r>
              <a:rPr lang="pt-BR" dirty="0"/>
              <a:t>Expansão desordenada de pessoal sem estrutura gera sobrecarga de comunicação (Lei de Brooks?)</a:t>
            </a:r>
          </a:p>
          <a:p>
            <a:pPr>
              <a:spcBef>
                <a:spcPts val="2400"/>
              </a:spcBef>
            </a:pPr>
            <a:r>
              <a:rPr lang="pt-BR" dirty="0"/>
              <a:t>PMBOK (PD de Recursos):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Trata como gestão de recursos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Otimiza capacidade, papeis claros, capacitação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Não necessariamente o aumento bruto de volume humano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3713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B67F-E981-7E04-1D9F-5CDD2B55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F619B-4EB6-F8EB-A2DD-BBD88223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Torre de Babel (Brooks)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33A800-B020-2E63-2E12-E8BB16D71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Brooks: </a:t>
            </a:r>
          </a:p>
          <a:p>
            <a:pPr lvl="1"/>
            <a:r>
              <a:rPr lang="pt-BR" dirty="0"/>
              <a:t>Ruiu por falta de diretrizes unificadas</a:t>
            </a:r>
          </a:p>
          <a:p>
            <a:pPr>
              <a:spcBef>
                <a:spcPts val="2400"/>
              </a:spcBef>
            </a:pPr>
            <a:r>
              <a:rPr lang="pt-BR" dirty="0"/>
              <a:t>PMBOK (PD Governança):</a:t>
            </a:r>
          </a:p>
          <a:p>
            <a:pPr lvl="1"/>
            <a:r>
              <a:rPr lang="pt-BR" dirty="0"/>
              <a:t>Integridade conceitual e alinhamento de escopo para prevenir desvios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7993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2A082-63DE-8EB0-47FC-F0F1FBBB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central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2AD4F2-DF40-BC45-53FC-7F2AFC4B4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Como organizar (dezenas de) pessoas de diferentes especialidades para construir um software funcional?</a:t>
            </a:r>
          </a:p>
          <a:p>
            <a:pPr lvl="1"/>
            <a:r>
              <a:rPr lang="pt-BR" dirty="0"/>
              <a:t>Divisão do trabalho</a:t>
            </a:r>
          </a:p>
          <a:p>
            <a:pPr lvl="1"/>
            <a:r>
              <a:rPr lang="pt-BR" dirty="0"/>
              <a:t>Especialização de funções e definição de papeis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Quanto mais pessoas, mais complexa a comunicação</a:t>
            </a:r>
          </a:p>
          <a:p>
            <a:pPr lvl="1"/>
            <a:r>
              <a:rPr lang="pt-BR" dirty="0"/>
              <a:t>Quanto mais diversa, maior necessidade de linguagem comum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Integridade conceitual: garantir que a visão do projeto venha de uma liderança centralizada ou arquitetura unificada, evitando ideias desconexas destruam a coesão do sistema</a:t>
            </a:r>
          </a:p>
          <a:p>
            <a:pPr lvl="1"/>
            <a:r>
              <a:rPr lang="pt-BR" dirty="0"/>
              <a:t>Adotar reuniões regulares de alinhamento técnico, conversas abertas e repositórios centralizados</a:t>
            </a:r>
          </a:p>
        </p:txBody>
      </p:sp>
    </p:spTree>
    <p:extLst>
      <p:ext uri="{BB962C8B-B14F-4D97-AF65-F5344CB8AC3E}">
        <p14:creationId xmlns:p14="http://schemas.microsoft.com/office/powerpoint/2010/main" val="382739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5688-1A1E-2317-04E5-37299B64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4C857-5767-04E0-EF88-9060BBC2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9A6E53-2045-7E06-C40B-E51B9CF38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DB4BF2-5523-9962-918E-A4638F15E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7"/>
            <a:ext cx="12192000" cy="19716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681A35-41B3-9D42-D36B-3F446FFF9832}"/>
              </a:ext>
            </a:extLst>
          </p:cNvPr>
          <p:cNvSpPr/>
          <p:nvPr/>
        </p:nvSpPr>
        <p:spPr>
          <a:xfrm>
            <a:off x="1704622" y="2443167"/>
            <a:ext cx="1670756" cy="17224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53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1F2E6-B3CD-D974-1E5D-E63E115F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de grupos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D4FCC-7799-8F12-3B63-A0B55B8C3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não for falha, mas uma fase?</a:t>
            </a:r>
          </a:p>
        </p:txBody>
      </p:sp>
    </p:spTree>
    <p:extLst>
      <p:ext uri="{BB962C8B-B14F-4D97-AF65-F5344CB8AC3E}">
        <p14:creationId xmlns:p14="http://schemas.microsoft.com/office/powerpoint/2010/main" val="2891458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F92EB-2532-EABB-F6FD-A52DBB27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 formação dos grupos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FC6BD5-2113-EEF0-FEA1-9AE56294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 </a:t>
            </a:r>
            <a:r>
              <a:rPr lang="pt-BR" dirty="0" err="1"/>
              <a:t>Tuckman</a:t>
            </a:r>
            <a:r>
              <a:rPr lang="pt-BR" dirty="0"/>
              <a:t> (1965)</a:t>
            </a:r>
          </a:p>
        </p:txBody>
      </p:sp>
      <p:pic>
        <p:nvPicPr>
          <p:cNvPr id="4098" name="Picture 2" descr="Modelo de Tuckman">
            <a:extLst>
              <a:ext uri="{FF2B5EF4-FFF2-40B4-BE49-F238E27FC236}">
                <a16:creationId xmlns:a16="http://schemas.microsoft.com/office/drawing/2014/main" id="{AF236F55-52E7-4EA5-A491-885FE8E41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716" y="2785120"/>
            <a:ext cx="8991600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498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8B3E-C7C3-E8EF-865A-D63BBFF3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da formação dos grupos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516100-E073-124D-DD55-31189D3FA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3132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Formação</a:t>
            </a:r>
            <a:r>
              <a:rPr lang="pt-BR" dirty="0"/>
              <a:t>: educado demais, ninguém confronta ninguém ainda</a:t>
            </a:r>
          </a:p>
          <a:p>
            <a:pPr>
              <a:spcBef>
                <a:spcPts val="1800"/>
              </a:spcBef>
            </a:pPr>
            <a:r>
              <a:rPr lang="pt-BR" b="1" dirty="0"/>
              <a:t>Confrontação</a:t>
            </a:r>
            <a:r>
              <a:rPr lang="pt-BR" dirty="0"/>
              <a:t>: as primeiras divergências reais aparecem: quem faz o quê, como se decide</a:t>
            </a:r>
          </a:p>
          <a:p>
            <a:pPr>
              <a:spcBef>
                <a:spcPts val="1800"/>
              </a:spcBef>
            </a:pPr>
            <a:r>
              <a:rPr lang="pt-BR" b="1" dirty="0"/>
              <a:t>Normatização</a:t>
            </a:r>
            <a:r>
              <a:rPr lang="pt-BR" dirty="0"/>
              <a:t>: o grupo já tem um jeito tácito de trabalhar junto</a:t>
            </a:r>
          </a:p>
          <a:p>
            <a:pPr>
              <a:spcBef>
                <a:spcPts val="1800"/>
              </a:spcBef>
            </a:pPr>
            <a:r>
              <a:rPr lang="pt-BR" b="1" dirty="0"/>
              <a:t>Atuação</a:t>
            </a:r>
            <a:r>
              <a:rPr lang="pt-BR" dirty="0"/>
              <a:t>: o time entrega de verdade, sem fricção constante</a:t>
            </a:r>
          </a:p>
          <a:p>
            <a:pPr>
              <a:spcBef>
                <a:spcPts val="1800"/>
              </a:spcBef>
            </a:pPr>
            <a:r>
              <a:rPr lang="pt-BR" b="1" dirty="0"/>
              <a:t>Dissolução</a:t>
            </a:r>
            <a:r>
              <a:rPr lang="pt-BR" dirty="0"/>
              <a:t>: o time se desfaz, o trabalho junto termina (1977)</a:t>
            </a:r>
          </a:p>
        </p:txBody>
      </p:sp>
      <p:pic>
        <p:nvPicPr>
          <p:cNvPr id="5122" name="Picture 2" descr="Estrutura de time - Gyaco">
            <a:extLst>
              <a:ext uri="{FF2B5EF4-FFF2-40B4-BE49-F238E27FC236}">
                <a16:creationId xmlns:a16="http://schemas.microsoft.com/office/drawing/2014/main" id="{5E6FC000-C09A-C53D-F388-71E267E51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629" y="2086982"/>
            <a:ext cx="5045898" cy="358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9A4E2F0-2886-8838-675C-32173FEA9AF8}"/>
              </a:ext>
            </a:extLst>
          </p:cNvPr>
          <p:cNvSpPr/>
          <p:nvPr/>
        </p:nvSpPr>
        <p:spPr>
          <a:xfrm>
            <a:off x="6461089" y="5476352"/>
            <a:ext cx="4451421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Um time de empresa raramente 'acaba', ele só muda de gente aos poucos</a:t>
            </a:r>
          </a:p>
        </p:txBody>
      </p:sp>
    </p:spTree>
    <p:extLst>
      <p:ext uri="{BB962C8B-B14F-4D97-AF65-F5344CB8AC3E}">
        <p14:creationId xmlns:p14="http://schemas.microsoft.com/office/powerpoint/2010/main" val="281815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4F14-D16C-4692-C638-FFED5E4CE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AEF29-FC74-4A00-BEA5-0AD590FE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de grupos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6FF46-C6FD-DB4B-6168-DA5044814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Reconhecendo a fase de seu próprio grupo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Formação</a:t>
            </a:r>
            <a:r>
              <a:rPr lang="pt-BR" dirty="0"/>
              <a:t>: primeira reunião do grupo, todo mundo elogiando a ideia de todo mundo, ninguém questionando nada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Confrontação</a:t>
            </a:r>
            <a:r>
              <a:rPr lang="pt-BR" dirty="0"/>
              <a:t>: alguém quis mudar a tecnologia no meio do caminho, ou uma entrega atrasou e ninguém sabia de quem era a culpa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a primeira discussão de verdade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Normatização</a:t>
            </a:r>
            <a:r>
              <a:rPr lang="pt-BR" dirty="0"/>
              <a:t>: o grupo já sabe: 'a gente sempre resolve empate assim', 'a gente sempre revisa antes de subir código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Desempenho</a:t>
            </a:r>
            <a:r>
              <a:rPr lang="pt-BR" dirty="0"/>
              <a:t>: as reuniões ficam mais curtas e mais produtivas porque todo mundo já sabe como o outro trabalha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Dissolução</a:t>
            </a:r>
            <a:r>
              <a:rPr lang="pt-BR" dirty="0"/>
              <a:t>: a entrega final, a apresentação do projeto, aquele misto de alívio e ressaca de time que só quem passou meses junto sente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30B387-D58D-9F9F-B2F7-E9F448D53388}"/>
              </a:ext>
            </a:extLst>
          </p:cNvPr>
          <p:cNvSpPr/>
          <p:nvPr/>
        </p:nvSpPr>
        <p:spPr>
          <a:xfrm>
            <a:off x="3870289" y="5854700"/>
            <a:ext cx="4451421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Em qual dessas fases o time de vocês está agora?</a:t>
            </a:r>
          </a:p>
        </p:txBody>
      </p:sp>
    </p:spTree>
    <p:extLst>
      <p:ext uri="{BB962C8B-B14F-4D97-AF65-F5344CB8AC3E}">
        <p14:creationId xmlns:p14="http://schemas.microsoft.com/office/powerpoint/2010/main" val="41369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3D78C-8F97-E994-CADC-4BE217DC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02394-DA00-7080-CD39-AA4D3F99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628CFD-ADB6-926B-EA68-38BE0C1C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D1B98A-E593-79A3-B90D-EA062BE06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7"/>
            <a:ext cx="12192000" cy="19716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7AECC83-11C6-3853-42EB-475F906B50E6}"/>
              </a:ext>
            </a:extLst>
          </p:cNvPr>
          <p:cNvSpPr/>
          <p:nvPr/>
        </p:nvSpPr>
        <p:spPr>
          <a:xfrm>
            <a:off x="3434861" y="2443167"/>
            <a:ext cx="1670756" cy="17224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66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DB96E-CBDE-3AB9-B59B-4FCB70DC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Peopleware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6F783-FA2C-2E8E-4132-7F7E117D9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Tuckman</a:t>
            </a:r>
            <a:r>
              <a:rPr lang="pt-BR" dirty="0"/>
              <a:t> mostra que todo grupo </a:t>
            </a:r>
            <a:r>
              <a:rPr lang="pt-BR" i="1" dirty="0"/>
              <a:t>pode</a:t>
            </a:r>
            <a:r>
              <a:rPr lang="pt-BR" dirty="0"/>
              <a:t> chegar lá. </a:t>
            </a:r>
          </a:p>
          <a:p>
            <a:endParaRPr lang="pt-BR" dirty="0"/>
          </a:p>
          <a:p>
            <a:r>
              <a:rPr lang="pt-BR" dirty="0"/>
              <a:t>Mas o que realmente empurra um grupo pra virar um time – e não só um grupo de pessoas que entrega tarefas na mesma pasta do Drive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92DC75-A23C-7760-6617-F183B799D755}"/>
              </a:ext>
            </a:extLst>
          </p:cNvPr>
          <p:cNvSpPr/>
          <p:nvPr/>
        </p:nvSpPr>
        <p:spPr>
          <a:xfrm>
            <a:off x="3870289" y="5578475"/>
            <a:ext cx="4451421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Cultura!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238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92D45-D469-D19C-2E6E-064202AF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38CF6-6FA2-B3FC-92E3-433F82A0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equipe de software</a:t>
            </a:r>
          </a:p>
        </p:txBody>
      </p:sp>
      <p:pic>
        <p:nvPicPr>
          <p:cNvPr id="1026" name="Picture 2" descr="Peopleware - productive Projects And Teams">
            <a:extLst>
              <a:ext uri="{FF2B5EF4-FFF2-40B4-BE49-F238E27FC236}">
                <a16:creationId xmlns:a16="http://schemas.microsoft.com/office/drawing/2014/main" id="{89B6C987-6711-E617-674F-A4477F85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709" y="1825625"/>
            <a:ext cx="3069091" cy="461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E99519A-FC43-58B1-13B7-C902E0C3A847}"/>
              </a:ext>
            </a:extLst>
          </p:cNvPr>
          <p:cNvSpPr/>
          <p:nvPr/>
        </p:nvSpPr>
        <p:spPr>
          <a:xfrm>
            <a:off x="696686" y="1825625"/>
            <a:ext cx="7413171" cy="4782004"/>
          </a:xfrm>
          <a:prstGeom prst="roundRect">
            <a:avLst>
              <a:gd name="adj" fmla="val 418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pt-BR" sz="1900" i="1" dirty="0">
                <a:solidFill>
                  <a:srgbClr val="231F20"/>
                </a:solidFill>
                <a:latin typeface="ImpressumStd-Roman"/>
              </a:rPr>
              <a:t>“</a:t>
            </a:r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Há uma tendência em se utilizar a palavra </a:t>
            </a:r>
            <a:r>
              <a:rPr lang="pt-BR" sz="1900" b="1" i="1" u="none" strike="noStrike" baseline="0" dirty="0">
                <a:solidFill>
                  <a:srgbClr val="231F20"/>
                </a:solidFill>
                <a:latin typeface="ImpressumStd-Roman"/>
              </a:rPr>
              <a:t>equipe</a:t>
            </a:r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 de forma constante e vaga na área de negócios, denominando qualquer grupo de profissionais designados para trabalharem juntos de “equipe”. Entretanto, muitos deles não se assemelham a equipes. Não há uma definição comum de sucesso nem um espírito de equipe identificável. </a:t>
            </a:r>
          </a:p>
          <a:p>
            <a:pPr algn="l"/>
            <a:endParaRPr lang="pt-BR" sz="1900" b="0" i="1" u="none" strike="noStrike" baseline="0" dirty="0">
              <a:solidFill>
                <a:srgbClr val="231F20"/>
              </a:solidFill>
              <a:latin typeface="ImpressumStd-Roman"/>
            </a:endParaRPr>
          </a:p>
          <a:p>
            <a:pPr algn="l"/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O que falta é um fenômeno que se denomina </a:t>
            </a:r>
            <a:r>
              <a:rPr lang="pt-BR" sz="1900" b="1" i="1" u="none" strike="noStrike" baseline="0" dirty="0">
                <a:solidFill>
                  <a:srgbClr val="231F20"/>
                </a:solidFill>
                <a:latin typeface="ImpressumStd-Roman"/>
              </a:rPr>
              <a:t>consistência</a:t>
            </a:r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.</a:t>
            </a:r>
          </a:p>
          <a:p>
            <a:pPr algn="l"/>
            <a:endParaRPr lang="pt-BR" sz="1900" b="0" i="1" u="none" strike="noStrike" baseline="0" dirty="0">
              <a:solidFill>
                <a:srgbClr val="231F20"/>
              </a:solidFill>
              <a:latin typeface="ImpressumStd-Roman"/>
            </a:endParaRPr>
          </a:p>
          <a:p>
            <a:pPr algn="l"/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Uma equipe consistente é um grupo de pessoas tão coesas, que </a:t>
            </a:r>
            <a:r>
              <a:rPr lang="pt-BR" sz="1900" b="1" i="1" u="none" strike="noStrike" baseline="0" dirty="0">
                <a:solidFill>
                  <a:srgbClr val="231F20"/>
                </a:solidFill>
                <a:latin typeface="ImpressumStd-Roman"/>
              </a:rPr>
              <a:t>o todo é maior que a soma das partes</a:t>
            </a:r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...</a:t>
            </a:r>
          </a:p>
          <a:p>
            <a:pPr algn="l"/>
            <a:endParaRPr lang="pt-BR" sz="1900" b="0" i="1" u="none" strike="noStrike" baseline="0" dirty="0">
              <a:solidFill>
                <a:srgbClr val="231F20"/>
              </a:solidFill>
              <a:latin typeface="ImpressumStd-Roman"/>
            </a:endParaRPr>
          </a:p>
          <a:p>
            <a:pPr algn="l"/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Quando uma equipe começa a ser consistente, a probabilidade de </a:t>
            </a:r>
            <a:r>
              <a:rPr lang="pt-BR" sz="1900" b="1" i="1" u="none" strike="noStrike" baseline="0" dirty="0">
                <a:solidFill>
                  <a:srgbClr val="231F20"/>
                </a:solidFill>
                <a:latin typeface="ImpressumStd-Roman"/>
              </a:rPr>
              <a:t>sucesso </a:t>
            </a:r>
            <a:r>
              <a:rPr lang="pt-BR" sz="1900" b="0" i="1" u="none" strike="noStrike" baseline="0" dirty="0">
                <a:solidFill>
                  <a:srgbClr val="231F20"/>
                </a:solidFill>
                <a:latin typeface="ImpressumStd-Roman"/>
              </a:rPr>
              <a:t>aumenta muito. A equipe pode se tornar imbatível, um rolo compressor de sucesso... Não é preciso gerenciá-la do modo tradicional”</a:t>
            </a:r>
            <a:endParaRPr lang="pt-BR" sz="1900" i="1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51F625-37C1-61D0-B7DA-EA19A055AC41}"/>
              </a:ext>
            </a:extLst>
          </p:cNvPr>
          <p:cNvSpPr/>
          <p:nvPr/>
        </p:nvSpPr>
        <p:spPr>
          <a:xfrm>
            <a:off x="8284709" y="3429000"/>
            <a:ext cx="3069091" cy="24601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400" dirty="0"/>
              <a:t>Objetivo comum;</a:t>
            </a:r>
          </a:p>
          <a:p>
            <a:pPr marL="285750" indent="-285750" algn="ctr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dirty="0"/>
              <a:t>Cultura comum;</a:t>
            </a:r>
          </a:p>
          <a:p>
            <a:pPr marL="285750" indent="-285750" algn="ctr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dirty="0"/>
              <a:t>Senso de pertencimento</a:t>
            </a:r>
          </a:p>
        </p:txBody>
      </p:sp>
    </p:spTree>
    <p:extLst>
      <p:ext uri="{BB962C8B-B14F-4D97-AF65-F5344CB8AC3E}">
        <p14:creationId xmlns:p14="http://schemas.microsoft.com/office/powerpoint/2010/main" val="173078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63BAA-E2FC-8B58-1D4A-512C8132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Peopleware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B71E8-27DF-5161-1CE4-E62758F48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todo maior que a soma das partes</a:t>
            </a:r>
          </a:p>
          <a:p>
            <a:pPr>
              <a:spcBef>
                <a:spcPts val="2400"/>
              </a:spcBef>
            </a:pPr>
            <a:r>
              <a:rPr lang="pt-BR" dirty="0"/>
              <a:t>Um time coeso ("</a:t>
            </a:r>
            <a:r>
              <a:rPr lang="pt-BR" i="1" dirty="0" err="1"/>
              <a:t>jelled</a:t>
            </a:r>
            <a:r>
              <a:rPr lang="pt-BR" i="1" dirty="0"/>
              <a:t> </a:t>
            </a:r>
            <a:r>
              <a:rPr lang="pt-BR" i="1" dirty="0" err="1"/>
              <a:t>team</a:t>
            </a:r>
            <a:r>
              <a:rPr lang="pt-BR" dirty="0"/>
              <a:t>") rende mais do que a soma das capacidades individuais de cada integrante</a:t>
            </a:r>
          </a:p>
          <a:p>
            <a:pPr>
              <a:spcBef>
                <a:spcPts val="2400"/>
              </a:spcBef>
            </a:pPr>
            <a:r>
              <a:rPr lang="pt-BR" dirty="0"/>
              <a:t>O que conecta o de time: </a:t>
            </a:r>
            <a:r>
              <a:rPr lang="pt-BR" dirty="0">
                <a:solidFill>
                  <a:schemeClr val="accent4"/>
                </a:solidFill>
              </a:rPr>
              <a:t>propósito comum</a:t>
            </a:r>
            <a:r>
              <a:rPr lang="pt-BR" dirty="0"/>
              <a:t>, </a:t>
            </a:r>
            <a:r>
              <a:rPr lang="pt-BR" dirty="0">
                <a:solidFill>
                  <a:srgbClr val="00B050"/>
                </a:solidFill>
              </a:rPr>
              <a:t>confiança mútua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senso de pertencimento</a:t>
            </a:r>
          </a:p>
          <a:p>
            <a:pPr>
              <a:spcBef>
                <a:spcPts val="2400"/>
              </a:spcBef>
            </a:pPr>
            <a:r>
              <a:rPr lang="pt-BR" dirty="0"/>
              <a:t>Isso não se decreta com uma reunião ou um discurso motivacional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 cultiva, dia a dia, nas pequenas decisões de como o grupo trata um erro, uma discordância, um pedido de ajuda</a:t>
            </a:r>
          </a:p>
        </p:txBody>
      </p:sp>
    </p:spTree>
    <p:extLst>
      <p:ext uri="{BB962C8B-B14F-4D97-AF65-F5344CB8AC3E}">
        <p14:creationId xmlns:p14="http://schemas.microsoft.com/office/powerpoint/2010/main" val="3863520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834DC-7D4A-0EA0-53EF-7CEF607DE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Peopleware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FCEF59-7D11-56B5-5955-4792982E0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Reconhecendo isso no seu próprio grupo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AC7F9D9-EBF3-E0D9-2CCF-E634E2E19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124353"/>
              </p:ext>
            </p:extLst>
          </p:nvPr>
        </p:nvGraphicFramePr>
        <p:xfrm>
          <a:off x="838200" y="2757810"/>
          <a:ext cx="10515600" cy="22860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343016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247172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 dirty="0"/>
                        <a:t>Grupo disperso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Time coeso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19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Cada um entrega sua parte isolada; reunião é só status </a:t>
                      </a:r>
                      <a:r>
                        <a:rPr lang="pt-BR" dirty="0" err="1"/>
                        <a:t>report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Alguém trava numa tarefa e outro já pergunta se pode ajudar, sem ser pedido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95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Um erro vira "de quem foi a culpa"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Um erro vira aprendizado do grupo, sem apontar dedo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85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Ninguém sabe direito o que o outro está fazendo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Todo mundo defende o projeto como se fosse dono dele, mesmo fora do grupo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920734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09A22B66-FFB5-B30F-8FE9-65E638720E60}"/>
              </a:ext>
            </a:extLst>
          </p:cNvPr>
          <p:cNvSpPr/>
          <p:nvPr/>
        </p:nvSpPr>
        <p:spPr>
          <a:xfrm>
            <a:off x="3870289" y="5578475"/>
            <a:ext cx="4451421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Em qual dessas fases o time de vocês está agora?</a:t>
            </a:r>
          </a:p>
        </p:txBody>
      </p:sp>
    </p:spTree>
    <p:extLst>
      <p:ext uri="{BB962C8B-B14F-4D97-AF65-F5344CB8AC3E}">
        <p14:creationId xmlns:p14="http://schemas.microsoft.com/office/powerpoint/2010/main" val="394938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18F4E-FF47-E9C2-7983-61B955C5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94CBC-8D80-945E-01B9-21A22088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02CED5-126B-6D77-E711-CD0E91AA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80C699-7DFF-AFE0-6A4E-4A251CEB6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7"/>
            <a:ext cx="12192000" cy="19716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19876FD-6CA6-9503-D538-572FE7049307}"/>
              </a:ext>
            </a:extLst>
          </p:cNvPr>
          <p:cNvSpPr/>
          <p:nvPr/>
        </p:nvSpPr>
        <p:spPr>
          <a:xfrm>
            <a:off x="5146431" y="2443167"/>
            <a:ext cx="1670756" cy="17224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43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B2EC4-52E9-E507-F766-2A3D1D1B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04A70-BD7B-55FB-AFBD-85F14711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de equipes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05A454-772B-BFCA-9AA3-D1794FCB5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Confiança e propósito não se decretam </a:t>
            </a:r>
          </a:p>
          <a:p>
            <a:pPr>
              <a:spcBef>
                <a:spcPts val="2400"/>
              </a:spcBef>
            </a:pPr>
            <a:r>
              <a:rPr lang="pt-BR" dirty="0"/>
              <a:t>Será que pelo menos a forma como o time se organiza no dia a dia ajuda ou atrapalha isso? </a:t>
            </a:r>
          </a:p>
          <a:p>
            <a:pPr>
              <a:spcBef>
                <a:spcPts val="2400"/>
              </a:spcBef>
            </a:pPr>
            <a:r>
              <a:rPr lang="pt-BR" dirty="0"/>
              <a:t>A resposta é sim, e tem mais de um jeito de fazer.</a:t>
            </a:r>
          </a:p>
        </p:txBody>
      </p:sp>
    </p:spTree>
    <p:extLst>
      <p:ext uri="{BB962C8B-B14F-4D97-AF65-F5344CB8AC3E}">
        <p14:creationId xmlns:p14="http://schemas.microsoft.com/office/powerpoint/2010/main" val="3710759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28BF-E540-2648-5153-5A2D151F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3D508-7C84-DBB3-B0E6-164F66D2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da equipe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186E695-B1AA-2278-C1D4-BCD2C1DC4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37241" cy="4351338"/>
              </a:xfrm>
            </p:spPr>
            <p:txBody>
              <a:bodyPr/>
              <a:lstStyle/>
              <a:p>
                <a:r>
                  <a:rPr lang="pt-BR" dirty="0"/>
                  <a:t>Times grandes = comunicação complexa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pt-BR" dirty="0"/>
                  <a:t>Mais pessoas, menos trabalho feito e mais confusão</a:t>
                </a:r>
              </a:p>
              <a:p>
                <a:pPr lvl="1">
                  <a:spcBef>
                    <a:spcPts val="18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∗(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pt-BR" dirty="0"/>
                  <a:t> </a:t>
                </a:r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4D43BE7-0E65-5B03-3F46-61B6553F08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37241" cy="4351338"/>
              </a:xfrm>
              <a:blipFill>
                <a:blip r:embed="rId2"/>
                <a:stretch>
                  <a:fillRect l="-2138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F70C3423-F759-6350-C594-42222B11A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15886"/>
            <a:ext cx="5137241" cy="477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836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C6F4-56EE-5DDB-7D5B-AF2646A2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8F3FA-07E9-156A-1DE2-E2EC5887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33A0F5-052F-F968-7336-22258A396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3581" cy="4351338"/>
          </a:xfrm>
        </p:spPr>
        <p:txBody>
          <a:bodyPr/>
          <a:lstStyle/>
          <a:p>
            <a:r>
              <a:rPr lang="pt-BR" dirty="0"/>
              <a:t>Modelos principais:</a:t>
            </a:r>
          </a:p>
          <a:p>
            <a:pPr lvl="1"/>
            <a:r>
              <a:rPr lang="pt-BR" b="1" dirty="0"/>
              <a:t>Equipe hierárquica</a:t>
            </a:r>
          </a:p>
          <a:p>
            <a:pPr lvl="1"/>
            <a:r>
              <a:rPr lang="pt-BR" i="1" dirty="0" err="1"/>
              <a:t>Chief</a:t>
            </a:r>
            <a:r>
              <a:rPr lang="pt-BR" i="1" dirty="0"/>
              <a:t> </a:t>
            </a:r>
            <a:r>
              <a:rPr lang="pt-BR" i="1" dirty="0" err="1"/>
              <a:t>programmer</a:t>
            </a:r>
            <a:endParaRPr lang="pt-BR" i="1" dirty="0"/>
          </a:p>
          <a:p>
            <a:pPr lvl="1"/>
            <a:r>
              <a:rPr lang="pt-BR" i="1" dirty="0" err="1"/>
              <a:t>Egoless</a:t>
            </a:r>
            <a:endParaRPr lang="pt-BR" i="1" dirty="0"/>
          </a:p>
          <a:p>
            <a:pPr lvl="1"/>
            <a:r>
              <a:rPr lang="pt-BR" dirty="0"/>
              <a:t>Democrática</a:t>
            </a:r>
          </a:p>
          <a:p>
            <a:pPr lvl="1"/>
            <a:r>
              <a:rPr lang="pt-BR" dirty="0"/>
              <a:t>Equipes funcionais e multifuncionais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E962FA8-5501-C621-F653-A6410D830572}"/>
              </a:ext>
            </a:extLst>
          </p:cNvPr>
          <p:cNvGraphicFramePr>
            <a:graphicFrameLocks noGrp="1"/>
          </p:cNvGraphicFramePr>
          <p:nvPr/>
        </p:nvGraphicFramePr>
        <p:xfrm>
          <a:off x="2223873" y="5559776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363717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946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Limita caminhos de comunicação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Expansível para equipes grandes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Distorção pelos caminhos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Hierarquias sociais e financeiras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57699"/>
                  </a:ext>
                </a:extLst>
              </a:tr>
            </a:tbl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78C1CBCF-5EDC-8345-1C81-6D7DC24BC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29" y="2410606"/>
            <a:ext cx="3791689" cy="23419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8959FBC-2330-46DA-EE6D-6C0B445D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978" y="2331078"/>
            <a:ext cx="3535586" cy="233915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10CE7B-B6C7-5950-1A9B-3DE6A8F3AC4A}"/>
              </a:ext>
            </a:extLst>
          </p:cNvPr>
          <p:cNvSpPr txBox="1"/>
          <p:nvPr/>
        </p:nvSpPr>
        <p:spPr>
          <a:xfrm>
            <a:off x="5755324" y="1865981"/>
            <a:ext cx="1065100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b="1" i="1" dirty="0"/>
              <a:t>Estrutura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0139913-7CF8-10C9-9F72-9658208AC3BB}"/>
              </a:ext>
            </a:extLst>
          </p:cNvPr>
          <p:cNvSpPr txBox="1"/>
          <p:nvPr/>
        </p:nvSpPr>
        <p:spPr>
          <a:xfrm>
            <a:off x="9268032" y="1885601"/>
            <a:ext cx="146347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b="1" i="1" dirty="0"/>
              <a:t>Comunicação</a:t>
            </a:r>
          </a:p>
        </p:txBody>
      </p:sp>
    </p:spTree>
    <p:extLst>
      <p:ext uri="{BB962C8B-B14F-4D97-AF65-F5344CB8AC3E}">
        <p14:creationId xmlns:p14="http://schemas.microsoft.com/office/powerpoint/2010/main" val="3988235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38DF-FC8E-4C27-474A-5238F374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83856-3CB7-8F13-A459-1AF90D99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542E7-7774-6ACE-BB75-E08B296B6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3151" cy="4351338"/>
          </a:xfrm>
        </p:spPr>
        <p:txBody>
          <a:bodyPr/>
          <a:lstStyle/>
          <a:p>
            <a:r>
              <a:rPr lang="pt-BR" dirty="0"/>
              <a:t>Modelos principais:</a:t>
            </a:r>
          </a:p>
          <a:p>
            <a:pPr lvl="1"/>
            <a:r>
              <a:rPr lang="pt-BR" dirty="0"/>
              <a:t>Equipe hierárquica</a:t>
            </a:r>
          </a:p>
          <a:p>
            <a:pPr lvl="1"/>
            <a:r>
              <a:rPr lang="pt-BR" b="1" i="1" dirty="0" err="1"/>
              <a:t>Chief</a:t>
            </a:r>
            <a:r>
              <a:rPr lang="pt-BR" b="1" i="1" dirty="0"/>
              <a:t> </a:t>
            </a:r>
            <a:r>
              <a:rPr lang="pt-BR" b="1" i="1" dirty="0" err="1"/>
              <a:t>programmer</a:t>
            </a:r>
            <a:endParaRPr lang="pt-BR" i="1" dirty="0"/>
          </a:p>
          <a:p>
            <a:pPr lvl="1"/>
            <a:r>
              <a:rPr lang="pt-BR" i="1" dirty="0" err="1"/>
              <a:t>Egoless</a:t>
            </a:r>
            <a:endParaRPr lang="pt-BR" i="1" dirty="0"/>
          </a:p>
          <a:p>
            <a:pPr lvl="1"/>
            <a:r>
              <a:rPr lang="pt-BR" dirty="0"/>
              <a:t>Democrática</a:t>
            </a:r>
          </a:p>
          <a:p>
            <a:pPr lvl="1"/>
            <a:r>
              <a:rPr lang="pt-BR" dirty="0"/>
              <a:t>Equipes funcionais e multifuncionais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8BF462F-264E-7868-49BC-34F67C18B015}"/>
              </a:ext>
            </a:extLst>
          </p:cNvPr>
          <p:cNvGraphicFramePr>
            <a:graphicFrameLocks noGrp="1"/>
          </p:cNvGraphicFramePr>
          <p:nvPr/>
        </p:nvGraphicFramePr>
        <p:xfrm>
          <a:off x="1436914" y="5449752"/>
          <a:ext cx="9318172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030">
                  <a:extLst>
                    <a:ext uri="{9D8B030D-6E8A-4147-A177-3AD203B41FA5}">
                      <a16:colId xmlns:a16="http://schemas.microsoft.com/office/drawing/2014/main" val="3136371787"/>
                    </a:ext>
                  </a:extLst>
                </a:gridCol>
                <a:gridCol w="5225142">
                  <a:extLst>
                    <a:ext uri="{9D8B030D-6E8A-4147-A177-3AD203B41FA5}">
                      <a16:colId xmlns:a16="http://schemas.microsoft.com/office/drawing/2014/main" val="272946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Tomada de decisão centralizada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Caminhos de comunicação reduzidos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Pequenos projetos de alta complexidade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Depende de uma única pessoa (sobrecarga/gargalo)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i="1" dirty="0" err="1"/>
                        <a:t>Chief</a:t>
                      </a:r>
                      <a:r>
                        <a:rPr lang="pt-BR" dirty="0"/>
                        <a:t> pode levar todos os créditos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Sensível às habilidades do </a:t>
                      </a:r>
                      <a:r>
                        <a:rPr lang="pt-BR" i="1" dirty="0" err="1"/>
                        <a:t>chief</a:t>
                      </a:r>
                      <a:r>
                        <a:rPr lang="pt-BR" i="1" dirty="0"/>
                        <a:t> </a:t>
                      </a:r>
                      <a:r>
                        <a:rPr lang="pt-BR" i="1" dirty="0" err="1"/>
                        <a:t>programmer</a:t>
                      </a:r>
                      <a:endParaRPr lang="pt-BR" i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57699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80DE759-4509-DEA5-4939-5E020C85B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803" y="2258249"/>
            <a:ext cx="5820311" cy="31123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1F0461F-978A-08DE-DC6D-BF0D68C39FF9}"/>
              </a:ext>
            </a:extLst>
          </p:cNvPr>
          <p:cNvSpPr txBox="1"/>
          <p:nvPr/>
        </p:nvSpPr>
        <p:spPr>
          <a:xfrm>
            <a:off x="6223410" y="1809763"/>
            <a:ext cx="1065100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b="1" i="1" dirty="0"/>
              <a:t>Estrutura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F1BF40-9903-0351-C631-114ABA221299}"/>
              </a:ext>
            </a:extLst>
          </p:cNvPr>
          <p:cNvSpPr txBox="1"/>
          <p:nvPr/>
        </p:nvSpPr>
        <p:spPr>
          <a:xfrm>
            <a:off x="8828966" y="1806576"/>
            <a:ext cx="146347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b="1" i="1" dirty="0"/>
              <a:t>Comunicação</a:t>
            </a:r>
          </a:p>
        </p:txBody>
      </p:sp>
    </p:spTree>
    <p:extLst>
      <p:ext uri="{BB962C8B-B14F-4D97-AF65-F5344CB8AC3E}">
        <p14:creationId xmlns:p14="http://schemas.microsoft.com/office/powerpoint/2010/main" val="4173457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1B51-CA83-B0EC-6B3C-51ABDDA2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5B301-5E03-0482-11AF-F39B3D29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C536C6-0BD0-A339-404A-A1DEA5142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78086" cy="4351338"/>
          </a:xfrm>
        </p:spPr>
        <p:txBody>
          <a:bodyPr/>
          <a:lstStyle/>
          <a:p>
            <a:r>
              <a:rPr lang="pt-BR" dirty="0"/>
              <a:t>Modelos principais:</a:t>
            </a:r>
          </a:p>
          <a:p>
            <a:pPr lvl="1"/>
            <a:r>
              <a:rPr lang="pt-BR" dirty="0"/>
              <a:t>Equipe hierárquica</a:t>
            </a:r>
          </a:p>
          <a:p>
            <a:pPr lvl="1"/>
            <a:r>
              <a:rPr lang="pt-BR" i="1" dirty="0" err="1"/>
              <a:t>Chief</a:t>
            </a:r>
            <a:r>
              <a:rPr lang="pt-BR" i="1" dirty="0"/>
              <a:t> </a:t>
            </a:r>
            <a:r>
              <a:rPr lang="pt-BR" i="1" dirty="0" err="1"/>
              <a:t>programmer</a:t>
            </a:r>
            <a:endParaRPr lang="pt-BR" i="1" dirty="0"/>
          </a:p>
          <a:p>
            <a:pPr lvl="1"/>
            <a:r>
              <a:rPr lang="pt-BR" b="1" i="1" dirty="0" err="1"/>
              <a:t>Egoless</a:t>
            </a:r>
            <a:endParaRPr lang="pt-BR" i="1" dirty="0"/>
          </a:p>
          <a:p>
            <a:pPr lvl="1"/>
            <a:r>
              <a:rPr lang="pt-BR" dirty="0"/>
              <a:t>Democrática</a:t>
            </a:r>
          </a:p>
          <a:p>
            <a:pPr lvl="1"/>
            <a:r>
              <a:rPr lang="pt-BR" dirty="0"/>
              <a:t>Equipes funcionais e multifuncionais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2D8EF13-A5FE-6B15-0089-CC8DBEAE2AEE}"/>
              </a:ext>
            </a:extLst>
          </p:cNvPr>
          <p:cNvGraphicFramePr>
            <a:graphicFrameLocks noGrp="1"/>
          </p:cNvGraphicFramePr>
          <p:nvPr/>
        </p:nvGraphicFramePr>
        <p:xfrm>
          <a:off x="1701799" y="5087828"/>
          <a:ext cx="878840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945">
                  <a:extLst>
                    <a:ext uri="{9D8B030D-6E8A-4147-A177-3AD203B41FA5}">
                      <a16:colId xmlns:a16="http://schemas.microsoft.com/office/drawing/2014/main" val="3136371787"/>
                    </a:ext>
                  </a:extLst>
                </a:gridCol>
                <a:gridCol w="4528457">
                  <a:extLst>
                    <a:ext uri="{9D8B030D-6E8A-4147-A177-3AD203B41FA5}">
                      <a16:colId xmlns:a16="http://schemas.microsoft.com/office/drawing/2014/main" val="272946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Organização define objetivos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Decisões por meio de consenso do grupo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Autogestão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Exige maturidade e nivelamento profissional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Consensos são complexos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Difícil em culturas competitivas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Menor </a:t>
                      </a:r>
                      <a:r>
                        <a:rPr lang="pt-BR" dirty="0" err="1"/>
                        <a:t>accountability</a:t>
                      </a:r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57699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E60E7D0B-B052-25F6-E554-F2F537C65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57" y="2141311"/>
            <a:ext cx="6248401" cy="249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88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419B1-9270-8359-C6B1-D31D1D8A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16F5B-6045-8412-319B-D149234F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803667-3F9A-012F-BB60-2D688210C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2743" cy="4351338"/>
          </a:xfrm>
        </p:spPr>
        <p:txBody>
          <a:bodyPr/>
          <a:lstStyle/>
          <a:p>
            <a:r>
              <a:rPr lang="pt-BR" dirty="0"/>
              <a:t>Modelos principais:</a:t>
            </a:r>
          </a:p>
          <a:p>
            <a:pPr lvl="1"/>
            <a:r>
              <a:rPr lang="pt-BR" dirty="0"/>
              <a:t>Equipe hierárquica</a:t>
            </a:r>
          </a:p>
          <a:p>
            <a:pPr lvl="1"/>
            <a:r>
              <a:rPr lang="pt-BR" i="1" dirty="0" err="1"/>
              <a:t>Chief</a:t>
            </a:r>
            <a:r>
              <a:rPr lang="pt-BR" i="1" dirty="0"/>
              <a:t> </a:t>
            </a:r>
            <a:r>
              <a:rPr lang="pt-BR" i="1" dirty="0" err="1"/>
              <a:t>programmer</a:t>
            </a:r>
            <a:endParaRPr lang="pt-BR" i="1" dirty="0"/>
          </a:p>
          <a:p>
            <a:pPr lvl="1"/>
            <a:r>
              <a:rPr lang="pt-BR" i="1" dirty="0" err="1"/>
              <a:t>Egoless</a:t>
            </a:r>
            <a:endParaRPr lang="pt-BR" i="1" dirty="0"/>
          </a:p>
          <a:p>
            <a:pPr lvl="1"/>
            <a:r>
              <a:rPr lang="pt-BR" b="1" dirty="0"/>
              <a:t>Democrática</a:t>
            </a:r>
            <a:endParaRPr lang="pt-BR" dirty="0"/>
          </a:p>
          <a:p>
            <a:pPr lvl="1"/>
            <a:r>
              <a:rPr lang="pt-BR" dirty="0"/>
              <a:t>Equipes funcionais e multifuncionais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3887BD-ADC1-3399-DD5E-CE637BEF4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07" y="1825625"/>
            <a:ext cx="6940765" cy="277245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16D46FF-C583-3A31-14A5-9AE2E0C3A696}"/>
              </a:ext>
            </a:extLst>
          </p:cNvPr>
          <p:cNvGraphicFramePr>
            <a:graphicFrameLocks noGrp="1"/>
          </p:cNvGraphicFramePr>
          <p:nvPr/>
        </p:nvGraphicFramePr>
        <p:xfrm>
          <a:off x="1690914" y="5050972"/>
          <a:ext cx="8810172" cy="1509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5086">
                  <a:extLst>
                    <a:ext uri="{9D8B030D-6E8A-4147-A177-3AD203B41FA5}">
                      <a16:colId xmlns:a16="http://schemas.microsoft.com/office/drawing/2014/main" val="3136371787"/>
                    </a:ext>
                  </a:extLst>
                </a:gridCol>
                <a:gridCol w="4405086">
                  <a:extLst>
                    <a:ext uri="{9D8B030D-6E8A-4147-A177-3AD203B41FA5}">
                      <a16:colId xmlns:a16="http://schemas.microsoft.com/office/drawing/2014/main" val="2729464520"/>
                    </a:ext>
                  </a:extLst>
                </a:gridCol>
              </a:tblGrid>
              <a:tr h="150916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Um único líder, que coordena atividades e dá palavra final quando não há consenso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Colaboração e aprendizado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Exige maturidade e nivelamento profissional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Consensos são complexos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dirty="0"/>
                        <a:t>Difícil em culturas competitivas</a:t>
                      </a:r>
                      <a:endParaRPr lang="pt-BR" i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57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2287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84EB-76B7-8B38-6806-11F4C24B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7972C-89B3-925B-77AA-C87FE886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8976A8-2559-705C-A18A-2B76AAB66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06010" cy="4351338"/>
          </a:xfrm>
        </p:spPr>
        <p:txBody>
          <a:bodyPr/>
          <a:lstStyle/>
          <a:p>
            <a:r>
              <a:rPr lang="pt-BR" dirty="0"/>
              <a:t>Modelos principais:</a:t>
            </a:r>
          </a:p>
          <a:p>
            <a:pPr lvl="1"/>
            <a:r>
              <a:rPr lang="pt-BR" dirty="0"/>
              <a:t>Equipe hierárquica</a:t>
            </a:r>
          </a:p>
          <a:p>
            <a:pPr lvl="1"/>
            <a:r>
              <a:rPr lang="pt-BR" i="1" dirty="0" err="1"/>
              <a:t>Chief</a:t>
            </a:r>
            <a:r>
              <a:rPr lang="pt-BR" i="1" dirty="0"/>
              <a:t> </a:t>
            </a:r>
            <a:r>
              <a:rPr lang="pt-BR" i="1" dirty="0" err="1"/>
              <a:t>programmer</a:t>
            </a:r>
            <a:endParaRPr lang="pt-BR" i="1" dirty="0"/>
          </a:p>
          <a:p>
            <a:pPr lvl="1"/>
            <a:r>
              <a:rPr lang="pt-BR" i="1" dirty="0" err="1"/>
              <a:t>Egoless</a:t>
            </a:r>
            <a:endParaRPr lang="pt-BR" i="1" dirty="0"/>
          </a:p>
          <a:p>
            <a:pPr lvl="1"/>
            <a:r>
              <a:rPr lang="pt-BR" dirty="0"/>
              <a:t>Democrática</a:t>
            </a:r>
          </a:p>
          <a:p>
            <a:pPr lvl="1"/>
            <a:r>
              <a:rPr lang="pt-BR" b="1" dirty="0"/>
              <a:t>Equipes funcionais e multifuncionais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020704-06F5-2C1C-28FE-D5EE6593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210" y="1690688"/>
            <a:ext cx="6572876" cy="2953720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CC98C1C-3A79-E07C-5EBB-1E6850E79BF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553688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363717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9464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57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60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E753-1FEF-8246-739F-B0E32C85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586E0-3B14-F824-866D-EBA4A2BC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4DD6361-8446-95FD-78A8-62B744E39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84" y="45522"/>
            <a:ext cx="7037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78DD518-DD92-2D96-7FE9-B201E16B16BE}"/>
              </a:ext>
            </a:extLst>
          </p:cNvPr>
          <p:cNvSpPr txBox="1"/>
          <p:nvPr/>
        </p:nvSpPr>
        <p:spPr>
          <a:xfrm>
            <a:off x="9026071" y="6256465"/>
            <a:ext cx="316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https://bonkersworld.net/organizational-charts</a:t>
            </a:r>
          </a:p>
        </p:txBody>
      </p:sp>
    </p:spTree>
    <p:extLst>
      <p:ext uri="{BB962C8B-B14F-4D97-AF65-F5344CB8AC3E}">
        <p14:creationId xmlns:p14="http://schemas.microsoft.com/office/powerpoint/2010/main" val="890644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6350E-901F-B519-32BE-2549B855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589FD-8537-AE27-EF86-23784A72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de equipes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7C7C1-7E4E-6EAD-19C2-2092BDDC2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2550" cy="4351338"/>
          </a:xfrm>
        </p:spPr>
        <p:txBody>
          <a:bodyPr/>
          <a:lstStyle/>
          <a:p>
            <a:r>
              <a:rPr lang="pt-BR" dirty="0"/>
              <a:t>Filosofia ágil:</a:t>
            </a:r>
          </a:p>
          <a:p>
            <a:pPr lvl="1"/>
            <a:r>
              <a:rPr lang="pt-BR" dirty="0"/>
              <a:t>Satisfação do cliente;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Entrega incremental de software;</a:t>
            </a:r>
          </a:p>
          <a:p>
            <a:pPr lvl="1">
              <a:spcBef>
                <a:spcPts val="1200"/>
              </a:spcBef>
            </a:pPr>
            <a:r>
              <a:rPr lang="pt-BR" b="1" dirty="0">
                <a:solidFill>
                  <a:srgbClr val="FF0000"/>
                </a:solidFill>
              </a:rPr>
              <a:t>Pequenas equipes altamente motivadas;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Métodos informais;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Mínimo de artefatos de Engenharia de software;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Simplicidade de desenvolvimento;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1DDE462-2460-3DAA-365F-8ED89C5BA1EB}"/>
              </a:ext>
            </a:extLst>
          </p:cNvPr>
          <p:cNvGrpSpPr/>
          <p:nvPr/>
        </p:nvGrpSpPr>
        <p:grpSpPr>
          <a:xfrm>
            <a:off x="6560750" y="2131857"/>
            <a:ext cx="5315564" cy="3673599"/>
            <a:chOff x="6560750" y="2131857"/>
            <a:chExt cx="5315564" cy="367359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50820A4-6C9F-7556-99CF-A56C1DC9B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60750" y="2131857"/>
              <a:ext cx="5315564" cy="3302093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59DC707-1789-E1E6-1354-0EEAAD0C0C86}"/>
                </a:ext>
              </a:extLst>
            </p:cNvPr>
            <p:cNvSpPr txBox="1"/>
            <p:nvPr/>
          </p:nvSpPr>
          <p:spPr>
            <a:xfrm>
              <a:off x="7210117" y="5497679"/>
              <a:ext cx="401682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dirty="0">
                  <a:hlinkClick r:id="rId3"/>
                </a:rPr>
                <a:t>https://agilemanifesto.org/iso/ptbr/manifesto.html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99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8CEB6-CBC2-9B96-6BC8-AFD47E151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de equipes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E29FA-2873-C705-B975-9749D0AF5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Não existe estrutura certa – apenas equilíbrio de escolhas (</a:t>
            </a:r>
            <a:r>
              <a:rPr lang="pt-BR" i="1" dirty="0"/>
              <a:t>trade-</a:t>
            </a:r>
            <a:r>
              <a:rPr lang="pt-BR" i="1" dirty="0" err="1"/>
              <a:t>offs</a:t>
            </a:r>
            <a:r>
              <a:rPr lang="pt-BR" i="1" dirty="0"/>
              <a:t>)</a:t>
            </a:r>
          </a:p>
          <a:p>
            <a:pPr>
              <a:spcBef>
                <a:spcPts val="2400"/>
              </a:spcBef>
            </a:pPr>
            <a:r>
              <a:rPr lang="pt-BR" dirty="0"/>
              <a:t>A partir dos anos 2000, o movimento ágil empurrou a indústria pra longe da hierárquica e do </a:t>
            </a:r>
            <a:r>
              <a:rPr lang="pt-BR" i="1" dirty="0" err="1"/>
              <a:t>chief</a:t>
            </a:r>
            <a:r>
              <a:rPr lang="pt-BR" i="1" dirty="0"/>
              <a:t> </a:t>
            </a:r>
            <a:r>
              <a:rPr lang="pt-BR" i="1" dirty="0" err="1"/>
              <a:t>programmer</a:t>
            </a:r>
            <a:r>
              <a:rPr lang="pt-BR" dirty="0"/>
              <a:t>, e pra perto da democrática e da multifuncional. </a:t>
            </a:r>
          </a:p>
          <a:p>
            <a:pPr>
              <a:spcBef>
                <a:spcPts val="2400"/>
              </a:spcBef>
            </a:pPr>
            <a:r>
              <a:rPr lang="pt-BR" dirty="0"/>
              <a:t>O Manifesto Ágil prioriza 'indivíduos e interações' sobre processos rígidos - e práticas como propriedade coletiva do código (XP) e times auto-organizados (Scrum) são, na prática, o modelo </a:t>
            </a:r>
            <a:r>
              <a:rPr lang="pt-BR" b="1" i="1" dirty="0" err="1"/>
              <a:t>egoless</a:t>
            </a:r>
            <a:r>
              <a:rPr lang="pt-BR" dirty="0"/>
              <a:t> e </a:t>
            </a:r>
            <a:r>
              <a:rPr lang="pt-BR" b="1" i="1" dirty="0"/>
              <a:t>democrático</a:t>
            </a:r>
            <a:r>
              <a:rPr lang="pt-BR" dirty="0"/>
              <a:t> virando padrão de mercado, décadas depois de terem sido descritos.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6382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FCF88-DCA3-9519-6235-B07C4DCB5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de equipes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3AB2F2-BC00-1691-D394-0DCC1CBA8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Vocês escolheram uma estrutura para o grupo de vocês, mesmo sem perceber: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Hierárquica</a:t>
            </a:r>
            <a:r>
              <a:rPr lang="pt-BR" dirty="0"/>
              <a:t>: uma pessoa decide tudo e distribui tarefas prontas pros outros</a:t>
            </a:r>
          </a:p>
          <a:p>
            <a:pPr lvl="1">
              <a:spcBef>
                <a:spcPts val="1800"/>
              </a:spcBef>
            </a:pPr>
            <a:r>
              <a:rPr lang="pt-BR" b="1" dirty="0" err="1"/>
              <a:t>Chief</a:t>
            </a:r>
            <a:r>
              <a:rPr lang="pt-BR" b="1" dirty="0"/>
              <a:t> </a:t>
            </a:r>
            <a:r>
              <a:rPr lang="pt-BR" b="1" dirty="0" err="1"/>
              <a:t>programmer</a:t>
            </a:r>
            <a:r>
              <a:rPr lang="pt-BR" dirty="0"/>
              <a:t>: a pessoa mais experiente do grupo resolve sozinha os problemas mais difíceis, o resto segue</a:t>
            </a:r>
          </a:p>
          <a:p>
            <a:pPr lvl="1">
              <a:spcBef>
                <a:spcPts val="1800"/>
              </a:spcBef>
            </a:pPr>
            <a:r>
              <a:rPr lang="pt-BR" b="1" dirty="0" err="1"/>
              <a:t>Egoless</a:t>
            </a:r>
            <a:r>
              <a:rPr lang="pt-BR" dirty="0"/>
              <a:t>: qualquer um mexe em qualquer parte do código, sem dono fixo de módulo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Democrática</a:t>
            </a:r>
            <a:r>
              <a:rPr lang="pt-BR" dirty="0"/>
              <a:t>: decisões técnicas são discutidas e, no fim, votadas em grupo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Funcional x multifuncional</a:t>
            </a:r>
            <a:r>
              <a:rPr lang="pt-BR" dirty="0"/>
              <a:t>: vocês se dividiram por especialidade (um só cuida do banco, outro só do front) ou cada um entrega um pedaço vertical de funcionalidade?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B33ECB-D7D5-305B-0070-1E9B10AA9DEC}"/>
              </a:ext>
            </a:extLst>
          </p:cNvPr>
          <p:cNvSpPr/>
          <p:nvPr/>
        </p:nvSpPr>
        <p:spPr>
          <a:xfrm>
            <a:off x="4041111" y="5854700"/>
            <a:ext cx="4451421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Qual dessas descreve o time de vocês agora — e foi escolha consciente ou só aconteceu?</a:t>
            </a:r>
          </a:p>
        </p:txBody>
      </p:sp>
    </p:spTree>
    <p:extLst>
      <p:ext uri="{BB962C8B-B14F-4D97-AF65-F5344CB8AC3E}">
        <p14:creationId xmlns:p14="http://schemas.microsoft.com/office/powerpoint/2010/main" val="357902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9701-E661-FE7D-A93A-B0E1B270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93AE9-C4BB-ABFD-4015-9B1FD643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F945FA-E4D8-3141-6BFB-15B923D7B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2508B4-14EC-5EF3-3E9A-55CBCF3E4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7"/>
            <a:ext cx="12192000" cy="19716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81CBC-F788-D646-FDFE-CB121588EE24}"/>
              </a:ext>
            </a:extLst>
          </p:cNvPr>
          <p:cNvSpPr/>
          <p:nvPr/>
        </p:nvSpPr>
        <p:spPr>
          <a:xfrm>
            <a:off x="6942667" y="2443167"/>
            <a:ext cx="1670756" cy="19716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45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631C-1570-98C8-847C-B2C0AFFE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6647B-1622-177A-6BDA-D65A776D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de equipe importa?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3C1F8-BA90-DEAC-AB08-E061094B1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Reparem que nenhuma dessas estruturas foi só uma escolha de organograma </a:t>
            </a:r>
          </a:p>
          <a:p>
            <a:pPr>
              <a:spcBef>
                <a:spcPts val="2400"/>
              </a:spcBef>
            </a:pPr>
            <a:r>
              <a:rPr lang="pt-BR" dirty="0"/>
              <a:t>Ela decidiu quem fala com quem no dia-a-dia. </a:t>
            </a:r>
          </a:p>
          <a:p>
            <a:pPr>
              <a:spcBef>
                <a:spcPts val="2400"/>
              </a:spcBef>
            </a:pPr>
            <a:r>
              <a:rPr lang="pt-BR" dirty="0"/>
              <a:t>E essa escolha tem uma consequência que vai muito além do clima do time</a:t>
            </a:r>
          </a:p>
        </p:txBody>
      </p:sp>
    </p:spTree>
    <p:extLst>
      <p:ext uri="{BB962C8B-B14F-4D97-AF65-F5344CB8AC3E}">
        <p14:creationId xmlns:p14="http://schemas.microsoft.com/office/powerpoint/2010/main" val="1064903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3A368-3E1B-962C-5AFE-D402BD7C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Conway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19956A-E3E7-7034-007A-8F24D614E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Lei de Conway</a:t>
            </a:r>
            <a:r>
              <a:rPr lang="pt-BR" dirty="0"/>
              <a:t>: quando a equipe vira arquitetura;</a:t>
            </a:r>
          </a:p>
          <a:p>
            <a:r>
              <a:rPr lang="pt-BR" dirty="0"/>
              <a:t>Sistemas espelham quem os constrói;</a:t>
            </a:r>
          </a:p>
          <a:p>
            <a:r>
              <a:rPr lang="pt-BR" dirty="0"/>
              <a:t>Melvin Conway (1968): organizações tendem a produzir sistemas cuja estrutura copia a estrutura de comunicação da própria organização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25AD902-CCFD-E3A7-48CE-516E91770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864" y="4098544"/>
            <a:ext cx="5435003" cy="259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173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D47E2-90AA-EC89-FAEF-0262D569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Conway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8E6C02-235A-1861-8985-87D5BB928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3E1B25-3FA0-C701-7CF6-94566EEE1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81" y="2523615"/>
            <a:ext cx="5715798" cy="34580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95774B4-AD8E-14E0-C1DE-3889E164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34" y="2328326"/>
            <a:ext cx="4753638" cy="384863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2356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2B4AB-8B65-4735-7F30-DA8BEB15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Conway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943626-90F2-0D39-41DD-FD46F3BD3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8345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Artigo original: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Uma equipe construindo um compilador foi dividida em subgrupos que se comunicavam pouco entre si.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compilador final saiu estruturado em tantas fases ("passes") quantos eram os subgrupos — ninguém planejou isso, aconteceu sozinho.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232C91B-FE62-3980-1F23-D86FA61F3E5D}"/>
              </a:ext>
            </a:extLst>
          </p:cNvPr>
          <p:cNvGrpSpPr/>
          <p:nvPr/>
        </p:nvGrpSpPr>
        <p:grpSpPr>
          <a:xfrm>
            <a:off x="6508070" y="476912"/>
            <a:ext cx="5101876" cy="6323740"/>
            <a:chOff x="6508070" y="476912"/>
            <a:chExt cx="5101876" cy="632374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60A4343-5BC7-8E78-C95E-0EE3799FD2A4}"/>
                </a:ext>
              </a:extLst>
            </p:cNvPr>
            <p:cNvSpPr txBox="1"/>
            <p:nvPr/>
          </p:nvSpPr>
          <p:spPr>
            <a:xfrm>
              <a:off x="6764216" y="6492875"/>
              <a:ext cx="45895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dirty="0">
                  <a:hlinkClick r:id="rId2"/>
                </a:rPr>
                <a:t>https://www.melconway.com/Home/pdf/committees.pdf</a:t>
              </a:r>
              <a:r>
                <a:rPr lang="pt-BR" sz="1400" dirty="0"/>
                <a:t> </a:t>
              </a:r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E5E27E1-DE0A-D874-ECBC-E9D8A3894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8070" y="476912"/>
              <a:ext cx="5101876" cy="6015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43695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E1D45-7495-0D3A-6724-168304BE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7CC9C-951D-CB2C-094A-D1268E4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Conway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FD3D7-0DA8-8256-9AAF-EBB169934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3190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Reavaliada em 2012</a:t>
            </a:r>
          </a:p>
          <a:p>
            <a:pPr>
              <a:spcBef>
                <a:spcPts val="2400"/>
              </a:spcBef>
            </a:pPr>
            <a:r>
              <a:rPr lang="pt-BR" dirty="0"/>
              <a:t>Autores compararam bases de código que resolviam o mesmo problema, construídas por organizações diferentes: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Times fechados e centralizados produziram software mais monolítico e acoplado;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comunidades de código aberto, mais distribuídas, produziram software mais modular. 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87B0DE37-1A99-D719-7F65-5B019DE2F83D}"/>
              </a:ext>
            </a:extLst>
          </p:cNvPr>
          <p:cNvGrpSpPr/>
          <p:nvPr/>
        </p:nvGrpSpPr>
        <p:grpSpPr>
          <a:xfrm>
            <a:off x="6024106" y="1215850"/>
            <a:ext cx="6094324" cy="4584895"/>
            <a:chOff x="6024106" y="1215850"/>
            <a:chExt cx="6094324" cy="458489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A83473FE-EE5F-B24A-85D0-6949828C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3206" y="1215850"/>
              <a:ext cx="6076125" cy="4220308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2F14A16-95FB-5981-43BF-3AA8EA1A2361}"/>
                </a:ext>
              </a:extLst>
            </p:cNvPr>
            <p:cNvSpPr txBox="1"/>
            <p:nvPr/>
          </p:nvSpPr>
          <p:spPr>
            <a:xfrm>
              <a:off x="6024106" y="5523746"/>
              <a:ext cx="60943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200" dirty="0">
                  <a:hlinkClick r:id="rId3"/>
                </a:rPr>
                <a:t>https://dash.harvard.edu/entities/publication/73120379-3450-6bd4-e053-0100007fdf3b</a:t>
              </a:r>
              <a:r>
                <a:rPr lang="pt-BR" sz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16572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C1ECA-A958-45FD-4974-9BFEEDFD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Conway - Como solucionar?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582DC4-ED4F-4936-705E-291931B3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 a estrutura vira arquitetura de qualquer jeito, desenhe a estrutura de propósito (Manobra reversa de Conway)</a:t>
            </a:r>
          </a:p>
          <a:p>
            <a:pPr>
              <a:spcBef>
                <a:spcPts val="2400"/>
              </a:spcBef>
            </a:pPr>
            <a:r>
              <a:rPr lang="pt-BR" dirty="0"/>
              <a:t>Desenhar a equipe pensando na arquitetura que vocês querem obter, em vez de deixar a arquitetura emergir de uma divisão de trabalho aleatória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Ex.: </a:t>
            </a:r>
            <a:r>
              <a:rPr lang="pt-BR" dirty="0" err="1"/>
              <a:t>Amazon</a:t>
            </a:r>
            <a:r>
              <a:rPr lang="pt-BR" dirty="0"/>
              <a:t> reorganizou-se em "</a:t>
            </a:r>
            <a:r>
              <a:rPr lang="pt-BR" dirty="0" err="1"/>
              <a:t>two</a:t>
            </a:r>
            <a:r>
              <a:rPr lang="pt-BR" dirty="0"/>
              <a:t>-pizza </a:t>
            </a:r>
            <a:r>
              <a:rPr lang="pt-BR" dirty="0" err="1"/>
              <a:t>teams</a:t>
            </a:r>
            <a:r>
              <a:rPr lang="pt-BR" dirty="0"/>
              <a:t>" com um mandato interno de só se comunicar via APIs entre times, e sua arquitetura de serviços reflete exatamente essa divisão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F49BCEA-C107-66B1-2C26-D230746D724A}"/>
              </a:ext>
            </a:extLst>
          </p:cNvPr>
          <p:cNvSpPr/>
          <p:nvPr/>
        </p:nvSpPr>
        <p:spPr>
          <a:xfrm>
            <a:off x="2393244" y="4143022"/>
            <a:ext cx="7653867" cy="26059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Se vocês querem um </a:t>
            </a:r>
            <a:r>
              <a:rPr lang="pt-BR" sz="2400" dirty="0" err="1"/>
              <a:t>backend</a:t>
            </a:r>
            <a:r>
              <a:rPr lang="pt-BR" sz="2400" dirty="0"/>
              <a:t> e um </a:t>
            </a:r>
            <a:r>
              <a:rPr lang="pt-BR" sz="2400" dirty="0" err="1"/>
              <a:t>frontend</a:t>
            </a:r>
            <a:r>
              <a:rPr lang="pt-BR" sz="2400" dirty="0"/>
              <a:t> bem desacoplados no projeto de vocês, não é sobre escrever código desacoplado - é sobre ter pessoas diferentes donas de cada lado, com um contrato claro de API entre elas, desde o começo. A separação nasce da equipe, não do código</a:t>
            </a:r>
          </a:p>
        </p:txBody>
      </p:sp>
    </p:spTree>
    <p:extLst>
      <p:ext uri="{BB962C8B-B14F-4D97-AF65-F5344CB8AC3E}">
        <p14:creationId xmlns:p14="http://schemas.microsoft.com/office/powerpoint/2010/main" val="242820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A2C5-FB16-8E94-621C-371AF4A0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6F3D4-E21C-BB42-18B5-82E4709C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A307D-71D3-FE41-8A75-88BED80DE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CC0F33-6294-22DC-8FD2-0CAACA427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7"/>
            <a:ext cx="12192000" cy="19716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11889F8-1D02-FC0E-9007-248388F76FEC}"/>
              </a:ext>
            </a:extLst>
          </p:cNvPr>
          <p:cNvSpPr/>
          <p:nvPr/>
        </p:nvSpPr>
        <p:spPr>
          <a:xfrm>
            <a:off x="8669867" y="2443167"/>
            <a:ext cx="1670756" cy="19716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4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3037-841C-88E5-6AAA-0991B514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6439E-A7F8-13DC-9C60-B019B538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Escalando organização de equipes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1CCCCE-1B61-3745-5AFB-BC4B7F10F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Dá pra fazer isso de propósito, em escala?</a:t>
            </a:r>
          </a:p>
          <a:p>
            <a:pPr>
              <a:spcBef>
                <a:spcPts val="2400"/>
              </a:spcBef>
            </a:pPr>
            <a:r>
              <a:rPr lang="pt-BR" dirty="0"/>
              <a:t>A </a:t>
            </a:r>
            <a:r>
              <a:rPr lang="pt-BR" b="1" i="1" dirty="0"/>
              <a:t>Lei de Conway </a:t>
            </a:r>
            <a:r>
              <a:rPr lang="pt-BR" dirty="0"/>
              <a:t>avisa que equipe e produto se moldam um ao outro de qualquer jeito, quer você planeje ou não. </a:t>
            </a:r>
          </a:p>
          <a:p>
            <a:pPr>
              <a:spcBef>
                <a:spcPts val="2400"/>
              </a:spcBef>
            </a:pPr>
            <a:r>
              <a:rPr lang="pt-BR" dirty="0"/>
              <a:t>Então: dá pra desenhar essa relação de propósito – não numa equipe de 5 pessoas, mas numa empresa inteira, com centenas de pessoas? 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Foi exatamente essa pergunta que o Spotify tentou responder (2012)</a:t>
            </a:r>
          </a:p>
        </p:txBody>
      </p:sp>
    </p:spTree>
    <p:extLst>
      <p:ext uri="{BB962C8B-B14F-4D97-AF65-F5344CB8AC3E}">
        <p14:creationId xmlns:p14="http://schemas.microsoft.com/office/powerpoint/2010/main" val="350151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8529-3287-5B00-A47D-36CBAE60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Spotify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FBDFA9-7E6B-8FA7-0F9D-53746B07F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Autonomia com alinhamento, em escala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Squads</a:t>
            </a:r>
            <a:r>
              <a:rPr lang="pt-BR" dirty="0"/>
              <a:t> — times pequenos, autônomos, do tamanho de um Scrum, cada um com uma missão de longo prazo clara (tamanho de 2 pizzas: 6 a 10 pessoas)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Tribos</a:t>
            </a:r>
            <a:r>
              <a:rPr lang="pt-BR" dirty="0"/>
              <a:t> — agrupamento de </a:t>
            </a:r>
            <a:r>
              <a:rPr lang="pt-BR" dirty="0" err="1"/>
              <a:t>squads</a:t>
            </a:r>
            <a:r>
              <a:rPr lang="pt-BR" dirty="0"/>
              <a:t> que trabalham em áreas relacionadas do produto (~8-10 </a:t>
            </a:r>
            <a:r>
              <a:rPr lang="pt-BR" dirty="0" err="1"/>
              <a:t>squads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b="1" dirty="0" err="1"/>
              <a:t>Chapters</a:t>
            </a:r>
            <a:r>
              <a:rPr lang="pt-BR" b="1" dirty="0"/>
              <a:t> / guildas </a:t>
            </a:r>
            <a:r>
              <a:rPr lang="pt-BR" dirty="0"/>
              <a:t>— conexão horizontal entre </a:t>
            </a:r>
            <a:r>
              <a:rPr lang="pt-BR" dirty="0" err="1"/>
              <a:t>squads</a:t>
            </a:r>
            <a:r>
              <a:rPr lang="pt-BR" dirty="0"/>
              <a:t>, pra especialistas da mesma área trocarem conhecimento sem quebrar a autonomia do </a:t>
            </a:r>
            <a:r>
              <a:rPr lang="pt-BR" dirty="0" err="1"/>
              <a:t>squad</a:t>
            </a:r>
            <a:endParaRPr lang="pt-BR" dirty="0"/>
          </a:p>
        </p:txBody>
      </p:sp>
      <p:pic>
        <p:nvPicPr>
          <p:cNvPr id="12291" name="Picture 3" descr="TUTORIAL] Regras de stream no Spotify – EXO BRASIL">
            <a:extLst>
              <a:ext uri="{FF2B5EF4-FFF2-40B4-BE49-F238E27FC236}">
                <a16:creationId xmlns:a16="http://schemas.microsoft.com/office/drawing/2014/main" id="{08860117-DE36-A6CF-E80A-ACC47F2E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289" y="5538436"/>
            <a:ext cx="3680178" cy="11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3319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121CB-3D31-298E-0C53-7E000577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Spotify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49F879-47F6-DB3D-6574-1C8FB1108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3422" y="1825625"/>
            <a:ext cx="2740378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 err="1"/>
              <a:t>Squad</a:t>
            </a:r>
            <a:r>
              <a:rPr lang="pt-BR" dirty="0"/>
              <a:t> de playlists;</a:t>
            </a:r>
          </a:p>
          <a:p>
            <a:endParaRPr lang="pt-BR" dirty="0"/>
          </a:p>
          <a:p>
            <a:r>
              <a:rPr lang="pt-BR" b="1" dirty="0"/>
              <a:t>Tribo</a:t>
            </a:r>
            <a:r>
              <a:rPr lang="pt-BR" dirty="0"/>
              <a:t> de música: reprodução, descoberta, gerenciamento de acervo</a:t>
            </a:r>
          </a:p>
          <a:p>
            <a:endParaRPr lang="pt-BR" dirty="0"/>
          </a:p>
          <a:p>
            <a:r>
              <a:rPr lang="pt-BR" b="1" dirty="0" err="1"/>
              <a:t>Chapter</a:t>
            </a:r>
            <a:r>
              <a:rPr lang="pt-BR" dirty="0"/>
              <a:t>: banco de dados, </a:t>
            </a:r>
            <a:r>
              <a:rPr lang="pt-BR" dirty="0" err="1"/>
              <a:t>DevOps</a:t>
            </a:r>
            <a:r>
              <a:rPr lang="pt-BR" dirty="0"/>
              <a:t>, UX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1EFB560-26BB-2A54-545F-94442D901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1" y="1669187"/>
            <a:ext cx="7756483" cy="45077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E450E18-4DCA-CA4B-735B-5741FDC30CCF}"/>
              </a:ext>
            </a:extLst>
          </p:cNvPr>
          <p:cNvSpPr txBox="1"/>
          <p:nvPr/>
        </p:nvSpPr>
        <p:spPr>
          <a:xfrm>
            <a:off x="1456266" y="6211669"/>
            <a:ext cx="9279467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spcBef>
                <a:spcPts val="1800"/>
              </a:spcBef>
            </a:pPr>
            <a:r>
              <a:rPr lang="pt-BR" b="1" dirty="0"/>
              <a:t>Ideia central</a:t>
            </a:r>
            <a:r>
              <a:rPr lang="pt-BR" dirty="0"/>
              <a:t>: alinhamento e autonomia não são opostos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um </a:t>
            </a:r>
            <a:r>
              <a:rPr lang="pt-BR" i="1" dirty="0" err="1"/>
              <a:t>squad</a:t>
            </a:r>
            <a:r>
              <a:rPr lang="pt-BR" dirty="0"/>
              <a:t> bem alinhado em propósito pode ter autonomia total sobre como entrega</a:t>
            </a:r>
          </a:p>
        </p:txBody>
      </p:sp>
    </p:spTree>
    <p:extLst>
      <p:ext uri="{BB962C8B-B14F-4D97-AF65-F5344CB8AC3E}">
        <p14:creationId xmlns:p14="http://schemas.microsoft.com/office/powerpoint/2010/main" val="10614998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04B0E-9604-DB3A-A7A6-983637BE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C283B-5BD5-48CC-6341-1604BAA36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5362" name="Picture 2" descr="What You Can Learn From Spotify Squads and Agile Design">
            <a:extLst>
              <a:ext uri="{FF2B5EF4-FFF2-40B4-BE49-F238E27FC236}">
                <a16:creationId xmlns:a16="http://schemas.microsoft.com/office/drawing/2014/main" id="{0F070BDC-9BB0-F43C-8EE0-D74D0A3DC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0"/>
            <a:ext cx="5448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080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13FD-8370-6322-DDE0-2D9AB0FB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4349A-97B8-ED26-AAF1-F84E2AAE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ágil em escala Spotify (2019)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940512-48B8-4257-1E53-2D12E61B91DC}"/>
              </a:ext>
            </a:extLst>
          </p:cNvPr>
          <p:cNvSpPr txBox="1"/>
          <p:nvPr/>
        </p:nvSpPr>
        <p:spPr>
          <a:xfrm>
            <a:off x="3572933" y="6176963"/>
            <a:ext cx="5367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https://www.youtube.com/watch?v=NoGhC1LaaAE</a:t>
            </a:r>
            <a:r>
              <a:rPr lang="pt-BR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1E2F8D-BD82-3523-1EBD-860E6BEFA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010" y="1690688"/>
            <a:ext cx="7127977" cy="443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696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16C32-74D8-21AC-7E3E-EFED9E10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Escalando a organização de equipes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B19C70-0B37-200F-5226-861E6A5F1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Team </a:t>
            </a:r>
            <a:r>
              <a:rPr lang="pt-BR" dirty="0" err="1"/>
              <a:t>Topologies</a:t>
            </a:r>
            <a:endParaRPr lang="pt-BR" dirty="0"/>
          </a:p>
        </p:txBody>
      </p:sp>
      <p:pic>
        <p:nvPicPr>
          <p:cNvPr id="16386" name="Picture 2" descr="Team Topologies">
            <a:extLst>
              <a:ext uri="{FF2B5EF4-FFF2-40B4-BE49-F238E27FC236}">
                <a16:creationId xmlns:a16="http://schemas.microsoft.com/office/drawing/2014/main" id="{3851CD1F-EAC4-4FA1-2CAB-9FB155BE2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60" y="2833511"/>
            <a:ext cx="5221074" cy="313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5089A37-7C53-A0AF-8D5B-93D1E071ACFD}"/>
              </a:ext>
            </a:extLst>
          </p:cNvPr>
          <p:cNvSpPr/>
          <p:nvPr/>
        </p:nvSpPr>
        <p:spPr>
          <a:xfrm>
            <a:off x="6524977" y="2088443"/>
            <a:ext cx="2585156" cy="1986845"/>
          </a:xfrm>
          <a:prstGeom prst="rect">
            <a:avLst/>
          </a:prstGeom>
          <a:solidFill>
            <a:srgbClr val="FFEEB9"/>
          </a:solidFill>
          <a:ln>
            <a:solidFill>
              <a:srgbClr val="FFDA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 err="1">
                <a:solidFill>
                  <a:schemeClr val="tx1"/>
                </a:solidFill>
              </a:rPr>
              <a:t>Stream-aligned</a:t>
            </a:r>
            <a:r>
              <a:rPr lang="pt-BR" b="1" u="sng" dirty="0">
                <a:solidFill>
                  <a:schemeClr val="tx1"/>
                </a:solidFill>
              </a:rPr>
              <a:t> </a:t>
            </a:r>
            <a:r>
              <a:rPr lang="pt-BR" b="1" u="sng" dirty="0" err="1">
                <a:solidFill>
                  <a:schemeClr val="tx1"/>
                </a:solidFill>
              </a:rPr>
              <a:t>team</a:t>
            </a:r>
            <a:r>
              <a:rPr lang="pt-BR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time alinhado a um fluxo de valor, entrega ponta a ponta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BC872E1-4C17-6C4A-0B1D-7DB198BCE0F3}"/>
              </a:ext>
            </a:extLst>
          </p:cNvPr>
          <p:cNvSpPr/>
          <p:nvPr/>
        </p:nvSpPr>
        <p:spPr>
          <a:xfrm>
            <a:off x="9273821" y="2088442"/>
            <a:ext cx="2585156" cy="1986845"/>
          </a:xfrm>
          <a:prstGeom prst="rect">
            <a:avLst/>
          </a:prstGeom>
          <a:solidFill>
            <a:srgbClr val="DFBDCF"/>
          </a:solidFill>
          <a:ln>
            <a:solidFill>
              <a:srgbClr val="D09B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 err="1">
                <a:solidFill>
                  <a:schemeClr val="tx1"/>
                </a:solidFill>
              </a:rPr>
              <a:t>Enabling</a:t>
            </a:r>
            <a:r>
              <a:rPr lang="pt-BR" b="1" u="sng" dirty="0">
                <a:solidFill>
                  <a:schemeClr val="tx1"/>
                </a:solidFill>
              </a:rPr>
              <a:t> </a:t>
            </a:r>
            <a:r>
              <a:rPr lang="pt-BR" b="1" u="sng" dirty="0" err="1">
                <a:solidFill>
                  <a:schemeClr val="tx1"/>
                </a:solidFill>
              </a:rPr>
              <a:t>team</a:t>
            </a:r>
            <a:r>
              <a:rPr lang="pt-BR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time que ensina uma capacidade nova a outros times (</a:t>
            </a:r>
            <a:r>
              <a:rPr lang="pt-BR" dirty="0" err="1">
                <a:solidFill>
                  <a:schemeClr val="tx1"/>
                </a:solidFill>
              </a:rPr>
              <a:t>ex</a:t>
            </a:r>
            <a:r>
              <a:rPr lang="pt-BR" dirty="0">
                <a:solidFill>
                  <a:schemeClr val="tx1"/>
                </a:solidFill>
              </a:rPr>
              <a:t>: segurança, acessibilidade)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360078-D0A8-2905-98FE-AB36A04C388B}"/>
              </a:ext>
            </a:extLst>
          </p:cNvPr>
          <p:cNvSpPr/>
          <p:nvPr/>
        </p:nvSpPr>
        <p:spPr>
          <a:xfrm>
            <a:off x="6524977" y="4247533"/>
            <a:ext cx="2585156" cy="1986845"/>
          </a:xfrm>
          <a:prstGeom prst="rect">
            <a:avLst/>
          </a:prstGeom>
          <a:solidFill>
            <a:srgbClr val="FFC18C"/>
          </a:solidFill>
          <a:ln>
            <a:solidFill>
              <a:srgbClr val="F5A8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 err="1">
                <a:solidFill>
                  <a:schemeClr val="tx1"/>
                </a:solidFill>
              </a:rPr>
              <a:t>Complicated</a:t>
            </a:r>
            <a:r>
              <a:rPr lang="pt-BR" b="1" u="sng" dirty="0">
                <a:solidFill>
                  <a:schemeClr val="tx1"/>
                </a:solidFill>
              </a:rPr>
              <a:t> </a:t>
            </a:r>
            <a:r>
              <a:rPr lang="pt-BR" b="1" u="sng" dirty="0" err="1">
                <a:solidFill>
                  <a:schemeClr val="tx1"/>
                </a:solidFill>
              </a:rPr>
              <a:t>subsystem</a:t>
            </a:r>
            <a:r>
              <a:rPr lang="pt-BR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time dono de um domínio técnico profundo (</a:t>
            </a:r>
            <a:r>
              <a:rPr lang="pt-BR" dirty="0" err="1">
                <a:solidFill>
                  <a:schemeClr val="tx1"/>
                </a:solidFill>
              </a:rPr>
              <a:t>ex</a:t>
            </a:r>
            <a:r>
              <a:rPr lang="pt-BR" dirty="0">
                <a:solidFill>
                  <a:schemeClr val="tx1"/>
                </a:solidFill>
              </a:rPr>
              <a:t>: motor de recomendação)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7AADCA0-E451-6B2C-08F8-C9681816881E}"/>
              </a:ext>
            </a:extLst>
          </p:cNvPr>
          <p:cNvSpPr/>
          <p:nvPr/>
        </p:nvSpPr>
        <p:spPr>
          <a:xfrm>
            <a:off x="9273821" y="4247533"/>
            <a:ext cx="2585156" cy="1986845"/>
          </a:xfrm>
          <a:prstGeom prst="rect">
            <a:avLst/>
          </a:prstGeom>
          <a:solidFill>
            <a:srgbClr val="B7CDF2"/>
          </a:solidFill>
          <a:ln>
            <a:solidFill>
              <a:srgbClr val="72A1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>
                <a:solidFill>
                  <a:schemeClr val="tx1"/>
                </a:solidFill>
              </a:rPr>
              <a:t>Platform </a:t>
            </a:r>
            <a:r>
              <a:rPr lang="pt-BR" b="1" u="sng" dirty="0" err="1">
                <a:solidFill>
                  <a:schemeClr val="tx1"/>
                </a:solidFill>
              </a:rPr>
              <a:t>team</a:t>
            </a:r>
            <a:r>
              <a:rPr lang="pt-BR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time que provê capacidades reutilizáveis pros outros (</a:t>
            </a:r>
            <a:r>
              <a:rPr lang="pt-BR" dirty="0" err="1">
                <a:solidFill>
                  <a:schemeClr val="tx1"/>
                </a:solidFill>
              </a:rPr>
              <a:t>ex</a:t>
            </a:r>
            <a:r>
              <a:rPr lang="pt-BR" dirty="0">
                <a:solidFill>
                  <a:schemeClr val="tx1"/>
                </a:solidFill>
              </a:rPr>
              <a:t>: infraestrutura de </a:t>
            </a:r>
            <a:r>
              <a:rPr lang="pt-BR" dirty="0" err="1">
                <a:solidFill>
                  <a:schemeClr val="tx1"/>
                </a:solidFill>
              </a:rPr>
              <a:t>deploy</a:t>
            </a:r>
            <a:r>
              <a:rPr lang="pt-BR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26547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50C51-433E-9882-723D-BA6C1511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Escalando a organização de equipes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8BED84-1566-3887-EE96-BFEF08BB3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9572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Team </a:t>
            </a:r>
            <a:r>
              <a:rPr lang="pt-BR" dirty="0" err="1"/>
              <a:t>Topologies</a:t>
            </a:r>
            <a:r>
              <a:rPr lang="pt-BR" dirty="0"/>
              <a:t> (2022-2023) </a:t>
            </a:r>
          </a:p>
          <a:p>
            <a:pPr lvl="1">
              <a:spcBef>
                <a:spcPts val="1800"/>
              </a:spcBef>
            </a:pPr>
            <a:r>
              <a:rPr lang="pt-BR" b="1" dirty="0" err="1"/>
              <a:t>Stream-aligned</a:t>
            </a:r>
            <a:r>
              <a:rPr lang="pt-BR" dirty="0"/>
              <a:t>: </a:t>
            </a:r>
            <a:r>
              <a:rPr lang="pt-BR" dirty="0" err="1"/>
              <a:t>squads</a:t>
            </a:r>
            <a:r>
              <a:rPr lang="pt-BR" dirty="0"/>
              <a:t> em torno de produtos digitais e jornada do cliente (Abertura de contas, Empréstimos), com autonomia ponta a ponta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Platform</a:t>
            </a:r>
            <a:r>
              <a:rPr lang="pt-BR" dirty="0"/>
              <a:t>: </a:t>
            </a:r>
            <a:r>
              <a:rPr lang="pt-BR" dirty="0" err="1"/>
              <a:t>produtização</a:t>
            </a:r>
            <a:r>
              <a:rPr lang="pt-BR" dirty="0"/>
              <a:t> das ferramentas internas (consumo de APIs, segurança, microsserviços)</a:t>
            </a:r>
          </a:p>
          <a:p>
            <a:pPr lvl="1">
              <a:spcBef>
                <a:spcPts val="1800"/>
              </a:spcBef>
            </a:pPr>
            <a:r>
              <a:rPr lang="pt-BR" b="1" dirty="0" err="1"/>
              <a:t>Enabling</a:t>
            </a:r>
            <a:r>
              <a:rPr lang="pt-BR" dirty="0"/>
              <a:t>: times de capacitação especializados, atuando temporariamente para ensinar novas práticas de engenharia e arquitetura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CDB82A-895C-9BF6-694F-8B374C59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661" y="1825625"/>
            <a:ext cx="5359372" cy="446991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CBA34B9-BF27-AAA1-2074-8D3680A5D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443" y="1292467"/>
            <a:ext cx="3499557" cy="106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551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3CFBE-E5F0-9DE9-7637-18EBFFCF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F6AF2-A484-DDC5-E0E6-B2102543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Escalando a organização de equipes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150EF8-2BE7-BBFD-B175-FCAB3932E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é preciso seguir à risca esses modelos</a:t>
            </a:r>
          </a:p>
          <a:p>
            <a:pPr>
              <a:spcBef>
                <a:spcPts val="2400"/>
              </a:spcBef>
            </a:pPr>
            <a:r>
              <a:rPr lang="pt-BR" b="1" dirty="0"/>
              <a:t>Princípio central</a:t>
            </a:r>
            <a:r>
              <a:rPr lang="pt-BR" dirty="0"/>
              <a:t>: pessoas/grupos ter um domínio claro de dono, com fronteira de interface clara entre as partes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9AD00A-9196-C0BB-32F9-643D058309C7}"/>
              </a:ext>
            </a:extLst>
          </p:cNvPr>
          <p:cNvSpPr/>
          <p:nvPr/>
        </p:nvSpPr>
        <p:spPr>
          <a:xfrm>
            <a:off x="2991896" y="4060250"/>
            <a:ext cx="6208208" cy="21167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Pensando no que vocês viram sobre Conway: a divisão de responsabilidades que vocês têm hoje ajuda ou atrapalha a arquitetura que vocês querem construir?</a:t>
            </a:r>
          </a:p>
        </p:txBody>
      </p:sp>
    </p:spTree>
    <p:extLst>
      <p:ext uri="{BB962C8B-B14F-4D97-AF65-F5344CB8AC3E}">
        <p14:creationId xmlns:p14="http://schemas.microsoft.com/office/powerpoint/2010/main" val="187350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70FA-BCC6-73E0-94A5-4F5AAA3F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B2F0C-DC9E-5E1C-3A79-F7BAD90D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42713E-E5E4-BE72-8B01-EFDD9E188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33646B-3343-8AAB-C770-368609D87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7"/>
            <a:ext cx="12192000" cy="19716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4E34430-8482-6993-2C76-58889D41AEE1}"/>
              </a:ext>
            </a:extLst>
          </p:cNvPr>
          <p:cNvSpPr/>
          <p:nvPr/>
        </p:nvSpPr>
        <p:spPr>
          <a:xfrm>
            <a:off x="10430933" y="2308230"/>
            <a:ext cx="1670756" cy="23540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48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6818-9FCB-5B2D-3B34-02DFA1EE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79C47-4F96-A928-C6E6-1E6FB3AE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Institucionalização do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195AA5-72FC-95E8-21F2-C490A1007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Spotify e Team </a:t>
            </a:r>
            <a:r>
              <a:rPr lang="pt-BR" dirty="0" err="1"/>
              <a:t>Topologies</a:t>
            </a:r>
            <a:r>
              <a:rPr lang="pt-BR" dirty="0"/>
              <a:t> são respostas nascidas da prática, de empresas específicas resolvendo o próprio problema. </a:t>
            </a:r>
          </a:p>
          <a:p>
            <a:pPr>
              <a:spcBef>
                <a:spcPts val="2400"/>
              </a:spcBef>
            </a:pPr>
            <a:r>
              <a:rPr lang="pt-BR" dirty="0"/>
              <a:t>Mas será que existe uma tentativa mais formal, vinda da própria disciplina de gestão de projetos, de sistematizar tudo que vimos -  da Torre de Babel às topologias de equipes - num processo?</a:t>
            </a:r>
          </a:p>
        </p:txBody>
      </p:sp>
    </p:spTree>
    <p:extLst>
      <p:ext uri="{BB962C8B-B14F-4D97-AF65-F5344CB8AC3E}">
        <p14:creationId xmlns:p14="http://schemas.microsoft.com/office/powerpoint/2010/main" val="32602824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F8FD3-6B8D-B222-5874-5BF45E93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- A resposta institucional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63146B-2041-9524-7A35-5EED88E2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PMBOK 8 dedica um domínio inteiro a isso: o </a:t>
            </a:r>
            <a:r>
              <a:rPr lang="pt-BR" b="1" i="1" dirty="0" err="1"/>
              <a:t>Resource</a:t>
            </a:r>
            <a:r>
              <a:rPr lang="pt-BR" b="1" i="1" dirty="0"/>
              <a:t> Performance Domain</a:t>
            </a:r>
          </a:p>
          <a:p>
            <a:pPr>
              <a:spcBef>
                <a:spcPts val="2400"/>
              </a:spcBef>
            </a:pPr>
            <a:r>
              <a:rPr lang="pt-BR" dirty="0"/>
              <a:t>Mantém a distinção entre </a:t>
            </a:r>
            <a:r>
              <a:rPr lang="pt-BR" b="1" dirty="0"/>
              <a:t>liderar</a:t>
            </a:r>
            <a:r>
              <a:rPr lang="pt-BR" dirty="0"/>
              <a:t> (motivar, remover obstáculo) e </a:t>
            </a:r>
            <a:r>
              <a:rPr lang="pt-BR" b="1" dirty="0"/>
              <a:t>gerenciar</a:t>
            </a:r>
            <a:r>
              <a:rPr lang="pt-BR" dirty="0"/>
              <a:t> (planejar, cobrar) </a:t>
            </a:r>
          </a:p>
        </p:txBody>
      </p:sp>
    </p:spTree>
    <p:extLst>
      <p:ext uri="{BB962C8B-B14F-4D97-AF65-F5344CB8AC3E}">
        <p14:creationId xmlns:p14="http://schemas.microsoft.com/office/powerpoint/2010/main" val="34866742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6E04F-8273-C4BE-867F-D6157D2C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- A resposta institucional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BF1B4-8091-93F0-C52F-4F1FF3D34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38600" cy="4351338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2400"/>
              </a:spcBef>
            </a:pPr>
            <a:r>
              <a:rPr lang="pt-BR" b="1" dirty="0"/>
              <a:t>5 processos</a:t>
            </a:r>
            <a:r>
              <a:rPr lang="pt-BR" dirty="0"/>
              <a:t>: planejar, estimar, adquirir, liderar a equipe, monitorar e controlar recursos</a:t>
            </a:r>
          </a:p>
          <a:p>
            <a:pPr>
              <a:spcBef>
                <a:spcPts val="2400"/>
              </a:spcBef>
            </a:pPr>
            <a:r>
              <a:rPr lang="pt-BR" dirty="0"/>
              <a:t>Ele não entrega uma estrutura pronta — entrega um processo pra </a:t>
            </a:r>
            <a:r>
              <a:rPr lang="pt-BR" b="1" dirty="0"/>
              <a:t>você decidir a sua</a:t>
            </a:r>
            <a:r>
              <a:rPr lang="pt-BR" dirty="0"/>
              <a:t>, de propósito, e documentar essa decisão</a:t>
            </a:r>
          </a:p>
          <a:p>
            <a:pPr>
              <a:spcBef>
                <a:spcPts val="2400"/>
              </a:spcBef>
            </a:pPr>
            <a:r>
              <a:rPr lang="pt-BR" dirty="0"/>
              <a:t>O artefato central desse processo tem nome: </a:t>
            </a:r>
            <a:r>
              <a:rPr lang="pt-BR" b="1" i="1" dirty="0" err="1"/>
              <a:t>team</a:t>
            </a:r>
            <a:r>
              <a:rPr lang="pt-BR" b="1" i="1" dirty="0"/>
              <a:t> charter (TNE)</a:t>
            </a:r>
          </a:p>
          <a:p>
            <a:pPr marL="0" indent="0">
              <a:spcBef>
                <a:spcPts val="2400"/>
              </a:spcBef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7DB68B-3228-54B7-319C-73A7BADBC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708" y="1690688"/>
            <a:ext cx="7497291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4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CBF85-287D-1985-FC90-2E9C28410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TNE – Termo de Nomeação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86123-56F0-01DF-B9F2-432CDF7A3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Documento que estabelece os valores, acordos e diretrizes operacionais para a equipe.</a:t>
            </a:r>
          </a:p>
          <a:p>
            <a:pPr>
              <a:spcBef>
                <a:spcPts val="2400"/>
              </a:spcBef>
            </a:pPr>
            <a:r>
              <a:rPr lang="pt-BR" dirty="0"/>
              <a:t>Estabelece </a:t>
            </a:r>
            <a:r>
              <a:rPr lang="pt-BR" b="1" dirty="0"/>
              <a:t>expectativas claras sobre comportamentos aceitáveis</a:t>
            </a:r>
            <a:r>
              <a:rPr lang="pt-BR" dirty="0"/>
              <a:t> pelos membros da equipe</a:t>
            </a:r>
          </a:p>
          <a:p>
            <a:pPr>
              <a:spcBef>
                <a:spcPts val="2400"/>
              </a:spcBef>
            </a:pPr>
            <a:r>
              <a:rPr lang="pt-BR" dirty="0"/>
              <a:t>O compromisso com diretrizes claras diminui os mal-entendidos e aumenta a produtividade</a:t>
            </a:r>
          </a:p>
        </p:txBody>
      </p:sp>
    </p:spTree>
    <p:extLst>
      <p:ext uri="{BB962C8B-B14F-4D97-AF65-F5344CB8AC3E}">
        <p14:creationId xmlns:p14="http://schemas.microsoft.com/office/powerpoint/2010/main" val="1254003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8E93-D1F3-09B6-385C-FE8BA7FF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33DB5-FD1C-7C6D-1DA0-46FB1DEF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TNE – Termo de Nomeação de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393D41-D747-2C9B-4E8C-CD9847B18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Idealmente, criado pela </a:t>
            </a:r>
            <a:r>
              <a:rPr lang="pt-BR" b="1" dirty="0"/>
              <a:t>própria equipe </a:t>
            </a:r>
            <a:r>
              <a:rPr lang="pt-BR" dirty="0"/>
              <a:t>do projeto</a:t>
            </a:r>
          </a:p>
          <a:p>
            <a:pPr lvl="1"/>
            <a:r>
              <a:rPr lang="pt-BR" dirty="0"/>
              <a:t>Ou ao menos tem a oportunidade de contribuir para sua criação</a:t>
            </a:r>
          </a:p>
          <a:p>
            <a:pPr>
              <a:spcBef>
                <a:spcPts val="2400"/>
              </a:spcBef>
            </a:pPr>
            <a:r>
              <a:rPr lang="pt-BR" dirty="0"/>
              <a:t>Todos compartilham a responsabilidade de garantir que as regras documentadas sejam </a:t>
            </a:r>
            <a:r>
              <a:rPr lang="pt-BR" b="1" dirty="0"/>
              <a:t>seguidas</a:t>
            </a:r>
          </a:p>
          <a:p>
            <a:pPr>
              <a:spcBef>
                <a:spcPts val="2400"/>
              </a:spcBef>
            </a:pPr>
            <a:r>
              <a:rPr lang="pt-BR" dirty="0"/>
              <a:t>Documento pode ser revisado e atualizado </a:t>
            </a:r>
            <a:r>
              <a:rPr lang="pt-BR" b="1" dirty="0"/>
              <a:t>periodicamente</a:t>
            </a:r>
            <a:r>
              <a:rPr lang="pt-BR" dirty="0"/>
              <a:t> para integrar novos membros e manter o alinhamento do grupo</a:t>
            </a:r>
          </a:p>
          <a:p>
            <a:pPr>
              <a:spcBef>
                <a:spcPts val="2400"/>
              </a:spcBef>
            </a:pPr>
            <a:r>
              <a:rPr lang="pt-BR" dirty="0"/>
              <a:t>Quando um novo membro entra na equipe, o Termo deve ser o </a:t>
            </a:r>
            <a:r>
              <a:rPr lang="pt-BR" b="1" dirty="0"/>
              <a:t>primeiro documento a ser compartilhado</a:t>
            </a:r>
          </a:p>
        </p:txBody>
      </p:sp>
    </p:spTree>
    <p:extLst>
      <p:ext uri="{BB962C8B-B14F-4D97-AF65-F5344CB8AC3E}">
        <p14:creationId xmlns:p14="http://schemas.microsoft.com/office/powerpoint/2010/main" val="59752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1BF0F-8036-6F4E-63B5-F7B4CFFF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 - </a:t>
            </a:r>
            <a:r>
              <a:rPr lang="pt-BR" dirty="0"/>
              <a:t>Valores da equipe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1DE126-D771-E017-8C28-432CD7267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0089" y="1825625"/>
            <a:ext cx="4433711" cy="43513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Princípios fundamentais que guiam o comportamento e as decisões da equipe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Ex.: Integridade, transparência, respeito, compromisso com a qualidade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40E65C1-FB20-1CF6-38AD-D773318C72D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Team Charter deve conter: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Valores da equipe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Plano de comunicação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Critérios de tomada de decisão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Processo de resolução de conflitos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Diretrizes para reuniões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Acordos de trabalho</a:t>
            </a:r>
          </a:p>
        </p:txBody>
      </p:sp>
    </p:spTree>
    <p:extLst>
      <p:ext uri="{BB962C8B-B14F-4D97-AF65-F5344CB8AC3E}">
        <p14:creationId xmlns:p14="http://schemas.microsoft.com/office/powerpoint/2010/main" val="220003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BD191-7F0E-D97E-E69A-7C767FDA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79313-FD7D-851B-0C47-ED5000E7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 </a:t>
            </a:r>
            <a:r>
              <a:rPr lang="pt-BR" dirty="0"/>
              <a:t>– Diretrizes de comunicação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15F5C4-05D2-44C2-F1F9-CED3BB31C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223" y="1825625"/>
            <a:ext cx="4467576" cy="43513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Como a equipe se comunica internamente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Canais preferidos (e-mail, reuniões, ferramentas de colaboração)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Tempo de resposta esperado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Como comunicar impedimentos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5E863F1-C4D2-374C-3DCB-2484A23D45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Team Charter deve conter: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Valores da equipe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Plano de comunicação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Critérios de tomada de decisão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Processo de resolução de conflitos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Diretrizes para reuniões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Acordos de trabalho</a:t>
            </a:r>
          </a:p>
        </p:txBody>
      </p:sp>
    </p:spTree>
    <p:extLst>
      <p:ext uri="{BB962C8B-B14F-4D97-AF65-F5344CB8AC3E}">
        <p14:creationId xmlns:p14="http://schemas.microsoft.com/office/powerpoint/2010/main" val="161987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97E2-0FF6-927A-C485-1A1606BC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483F2-9CE9-FF02-76BF-CB94031D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 </a:t>
            </a:r>
            <a:r>
              <a:rPr lang="pt-BR" dirty="0"/>
              <a:t>– Tomada de decisão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28211-6405-3473-FDB5-6B6D6F402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7510" y="1825625"/>
            <a:ext cx="4456289" cy="43513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Como as decisões sã tomadas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Consenso, votação, decisão do líder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Quem tem a palavra final em que tipo de decisão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35D3BE9-1FEE-B2F9-5D5C-B38D6D0F8FC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Team Charter deve conter: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Valores da equipe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Plano de comunicação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Critérios de tomada de decisão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Processo de resolução de conflitos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Diretrizes para reuniões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Acordos de trabalho</a:t>
            </a:r>
          </a:p>
        </p:txBody>
      </p:sp>
    </p:spTree>
    <p:extLst>
      <p:ext uri="{BB962C8B-B14F-4D97-AF65-F5344CB8AC3E}">
        <p14:creationId xmlns:p14="http://schemas.microsoft.com/office/powerpoint/2010/main" val="100329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A8DF-B05E-57D4-1B5C-C587803C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8CF15-C7C4-3D79-539B-3454FFC0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</a:t>
            </a:r>
            <a:r>
              <a:rPr lang="pt-BR" dirty="0"/>
              <a:t> – Resolução de conflitos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7DC68-0C0A-F168-DA7A-5332E7684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32" y="1825625"/>
            <a:ext cx="4478867" cy="43513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Processos para elaborar como desentendimentos serão abordados, antes de envolver o gerente de projeto ou o patrocinador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Escalada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Mediação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Processo de arbitragem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EA3BC03-8E22-AF97-0308-59394DA06F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Team Charter deve conter: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Valores da equipe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Plano de comunicação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Critérios de tomada de decisão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Processo de resolução de conflitos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Diretrizes para reuniões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Acordos de trabalho</a:t>
            </a:r>
          </a:p>
        </p:txBody>
      </p:sp>
    </p:spTree>
    <p:extLst>
      <p:ext uri="{BB962C8B-B14F-4D97-AF65-F5344CB8AC3E}">
        <p14:creationId xmlns:p14="http://schemas.microsoft.com/office/powerpoint/2010/main" val="211219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2719-185A-ACEE-54DC-A2E41539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B518E-551A-417B-3FDC-52DC5772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</a:t>
            </a:r>
            <a:r>
              <a:rPr lang="pt-BR" dirty="0"/>
              <a:t> – Diretrizes para reuniões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498D62-A331-EE76-6932-CE3065E69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932" y="1825625"/>
            <a:ext cx="4478867" cy="43513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Determina os parâmetros para as reuniões da equipe do projeto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Frequência, duração, agenda padrão, expectativas de participação, pontualidade, código de conduta nas reuniões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9AAE295E-4869-FB38-053C-453A9281689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Team Charter deve conter: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Valores da equipe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Plano de comunicação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Critérios de tomada de decisão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Processo de resolução de conflitos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Diretrizes para reuniões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Acordos de trabalho</a:t>
            </a:r>
          </a:p>
        </p:txBody>
      </p:sp>
    </p:spTree>
    <p:extLst>
      <p:ext uri="{BB962C8B-B14F-4D97-AF65-F5344CB8AC3E}">
        <p14:creationId xmlns:p14="http://schemas.microsoft.com/office/powerpoint/2010/main" val="242657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CFCC-693C-F23D-8DF4-1F3B0C6A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9AFE7-FE0A-A9DE-C8CF-49BA5DBE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076"/>
            <a:ext cx="10515600" cy="1325563"/>
          </a:xfrm>
        </p:spPr>
        <p:txBody>
          <a:bodyPr/>
          <a:lstStyle/>
          <a:p>
            <a:r>
              <a:rPr lang="pt-BR" i="1" dirty="0"/>
              <a:t>Team Charter</a:t>
            </a:r>
            <a:r>
              <a:rPr lang="pt-BR" dirty="0"/>
              <a:t> – Acordos da equipe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D9AEAA-C5C9-1CC4-9BAF-69A40C3DC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222" y="1825625"/>
            <a:ext cx="4467578" cy="43513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/>
              <a:t>Compromissos específicos da equipe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Disponibilidade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Horários de trabalho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Política de ausências planejadas e imprevistas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Como cobrir ausências de membros-chave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F8FC892-53E5-BC1F-D113-115939BD232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Team Charter deve conter:</a:t>
            </a:r>
          </a:p>
          <a:p>
            <a:pPr lvl="1"/>
            <a:r>
              <a:rPr lang="pt-BR" dirty="0"/>
              <a:t>Valores da equipe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Plano de comunicação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Critérios de tomada de decisão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Processo de resolução de conflitos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Diretrizes para reuniões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Acordos de trabalho</a:t>
            </a:r>
          </a:p>
        </p:txBody>
      </p:sp>
    </p:spTree>
    <p:extLst>
      <p:ext uri="{BB962C8B-B14F-4D97-AF65-F5344CB8AC3E}">
        <p14:creationId xmlns:p14="http://schemas.microsoft.com/office/powerpoint/2010/main" val="764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1736F-DE14-DCC1-50CD-78B2433B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9E1368-5F57-DC7C-33F3-6041F16F1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Varia conforme a abordagem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Preditiva</a:t>
            </a:r>
            <a:r>
              <a:rPr lang="pt-BR" dirty="0"/>
              <a:t>: termo criado no início do projeto, durante o planejamento. Importante em equipes grandes ou distribuídas onde os membros não se conhece. Foca em papeis, responsabilidades, processos de decisão e políticas de comunicação. Revisado em marcos importantes do projeto e quando a composição da equipe muda significativamente;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Ágil</a:t>
            </a:r>
            <a:r>
              <a:rPr lang="pt-BR" dirty="0"/>
              <a:t>: termo é uma prática fundamental (também chamado de Acordo de Trabalho ou Contrato Social). Criado na primeira sprint ou release e atualizado a cada retrospectiva. Cobre: definição de pronto (</a:t>
            </a:r>
            <a:r>
              <a:rPr lang="pt-BR" dirty="0" err="1"/>
              <a:t>DoD</a:t>
            </a:r>
            <a:r>
              <a:rPr lang="pt-BR" dirty="0"/>
              <a:t>), critérios de aceite das estórias, cerimônias ágeis, regras para o board, políticas de WIP e como a equipe melhora continuamente.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Híbrida</a:t>
            </a:r>
            <a:r>
              <a:rPr lang="pt-BR" dirty="0"/>
              <a:t>: termo com 2 partes: i) acordos gerais (válida para toda a duração do projeto) e </a:t>
            </a:r>
            <a:r>
              <a:rPr lang="pt-BR" dirty="0" err="1"/>
              <a:t>ii</a:t>
            </a:r>
            <a:r>
              <a:rPr lang="pt-BR" dirty="0"/>
              <a:t>) seção de acordos ágeis (para sprints da equipe). A integração dos dois conjuntos garante consistência cultural entre as diferentes equipes do projeto</a:t>
            </a:r>
          </a:p>
        </p:txBody>
      </p:sp>
    </p:spTree>
    <p:extLst>
      <p:ext uri="{BB962C8B-B14F-4D97-AF65-F5344CB8AC3E}">
        <p14:creationId xmlns:p14="http://schemas.microsoft.com/office/powerpoint/2010/main" val="273307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271F1-E077-336D-BAFB-59B64F6E3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333485-664D-4446-3665-AC75E5A81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Simple Team Charter Template">
            <a:extLst>
              <a:ext uri="{FF2B5EF4-FFF2-40B4-BE49-F238E27FC236}">
                <a16:creationId xmlns:a16="http://schemas.microsoft.com/office/drawing/2014/main" id="{73AF420E-7444-152D-A6E9-E5ABED449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8" y="0"/>
            <a:ext cx="3856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1963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552CD-358B-0DE2-9752-B2EE5E7C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D923D3-70A8-55EF-1090-E4FC30720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Scrum Team Charter Canvas">
            <a:extLst>
              <a:ext uri="{FF2B5EF4-FFF2-40B4-BE49-F238E27FC236}">
                <a16:creationId xmlns:a16="http://schemas.microsoft.com/office/drawing/2014/main" id="{DB30AE4C-AC1E-3787-024B-A3F35E525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0"/>
            <a:ext cx="9515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289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97AC2-9BE2-181B-1A35-B49CFEC0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Team charter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B60DD16-6CF2-5049-2247-9B0FA41B7B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753172"/>
              </p:ext>
            </p:extLst>
          </p:nvPr>
        </p:nvGraphicFramePr>
        <p:xfrm>
          <a:off x="835378" y="2446814"/>
          <a:ext cx="10518422" cy="2560320"/>
        </p:xfrm>
        <a:graphic>
          <a:graphicData uri="http://schemas.openxmlformats.org/drawingml/2006/table">
            <a:tbl>
              <a:tblPr/>
              <a:tblGrid>
                <a:gridCol w="3420533">
                  <a:extLst>
                    <a:ext uri="{9D8B030D-6E8A-4147-A177-3AD203B41FA5}">
                      <a16:colId xmlns:a16="http://schemas.microsoft.com/office/drawing/2014/main" val="2181229274"/>
                    </a:ext>
                  </a:extLst>
                </a:gridCol>
                <a:gridCol w="7097889">
                  <a:extLst>
                    <a:ext uri="{9D8B030D-6E8A-4147-A177-3AD203B41FA5}">
                      <a16:colId xmlns:a16="http://schemas.microsoft.com/office/drawing/2014/main" val="304971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 dirty="0"/>
                        <a:t>O que vimos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Onde isso aparece no Team Charter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17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Torre de Babel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Normas de comunicação — canal, frequência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926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/>
                        <a:t>Tuckman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Como decidimos em desacordo (o atrito é esperado, não é fracasso)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58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/>
                        <a:t>Peopleware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Propósito — o que gruda o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30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Estruturas de equipe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Papéis e responsabilidades de cada integrante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500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Lei de Conway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Pensar como a divisão de papéis vai moldar o que vocês constroem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605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Spotify / Team </a:t>
                      </a:r>
                      <a:r>
                        <a:rPr lang="pt-BR" dirty="0" err="1"/>
                        <a:t>Topologies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Autonomia com alinhamento - quem decide o quê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0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4137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5F433-76C6-EE3D-2096-50FAD474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3D7CE-BF0C-C935-5E4B-E60BE873B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Criem um Team Charter para o projeto de vocês.</a:t>
            </a:r>
          </a:p>
          <a:p>
            <a:pPr>
              <a:spcBef>
                <a:spcPts val="2400"/>
              </a:spcBef>
            </a:pPr>
            <a:r>
              <a:rPr lang="pt-BR" i="1" dirty="0" err="1"/>
              <a:t>Template</a:t>
            </a:r>
            <a:r>
              <a:rPr lang="pt-BR" dirty="0"/>
              <a:t> disponível no </a:t>
            </a:r>
            <a:r>
              <a:rPr lang="pt-BR" i="1" dirty="0"/>
              <a:t>Google </a:t>
            </a:r>
            <a:r>
              <a:rPr lang="pt-BR" i="1" dirty="0" err="1"/>
              <a:t>Classroom</a:t>
            </a:r>
            <a:endParaRPr lang="pt-BR" i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CA0A84-4A16-EDB4-4A6E-68878B10433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840E2A-F281-BAF9-F73A-62A98060C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058" y="3227634"/>
            <a:ext cx="3322053" cy="34610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11EC03C-219C-6183-B4CF-CACF0041F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195" y="3119492"/>
            <a:ext cx="3659747" cy="373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129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Gestão de stakeholders 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Equipes internas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Equipes externas</a:t>
            </a:r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55E550-36C8-EB05-68E8-8A19D46BF18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5865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FFED2-7FA2-7FD7-9C7C-36B79B46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Stakeholders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402BB-8E77-B7D4-B616-65C6F4754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stakeholders externos em projetos: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Patrocinador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Usuários-chave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Fornecedores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Órgãos reguladores</a:t>
            </a:r>
          </a:p>
        </p:txBody>
      </p:sp>
    </p:spTree>
    <p:extLst>
      <p:ext uri="{BB962C8B-B14F-4D97-AF65-F5344CB8AC3E}">
        <p14:creationId xmlns:p14="http://schemas.microsoft.com/office/powerpoint/2010/main" val="26734876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491A-679E-EAC7-4B72-2A5C9FD5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E27DF-DD92-B688-C505-74129225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Stakeholders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9B43FA-B34D-523F-574F-1FA7FBE4C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stakeholders externos em projetos: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Patrocinador</a:t>
            </a:r>
            <a:r>
              <a:rPr lang="pt-BR" dirty="0"/>
              <a:t>: quem financia, autoriza e pode cancelar o projeto — nem sempre é quem usa o sistema.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alinhar expectativa sobre prazos que não podem mudar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reportar risco com antecedência</a:t>
            </a:r>
          </a:p>
        </p:txBody>
      </p:sp>
    </p:spTree>
    <p:extLst>
      <p:ext uri="{BB962C8B-B14F-4D97-AF65-F5344CB8AC3E}">
        <p14:creationId xmlns:p14="http://schemas.microsoft.com/office/powerpoint/2010/main" val="21864144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80B96-90E1-73AF-7747-950028502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48153-5B3C-2879-355D-C5FAD7EF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Stakeholders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295DAD-9985-1FD4-6EF7-27595FB73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stakeholders externos em projetos: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Usuários-chave</a:t>
            </a:r>
            <a:r>
              <a:rPr lang="pt-BR" dirty="0"/>
              <a:t>: quem vai de fato operar o sistema no dia a dia — nem sempre é quem contrata ou aprova o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usabilidade dentro do fluxo de trabalho real do usuário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envolver o usuário-chave </a:t>
            </a:r>
            <a:r>
              <a:rPr lang="pt-BR" b="1" dirty="0"/>
              <a:t>durante o design</a:t>
            </a:r>
            <a:r>
              <a:rPr lang="pt-BR" dirty="0"/>
              <a:t>, não só na validação final;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gerenciar resistência à mudança</a:t>
            </a:r>
          </a:p>
        </p:txBody>
      </p:sp>
    </p:spTree>
    <p:extLst>
      <p:ext uri="{BB962C8B-B14F-4D97-AF65-F5344CB8AC3E}">
        <p14:creationId xmlns:p14="http://schemas.microsoft.com/office/powerpoint/2010/main" val="32495595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5DF6-1540-AE8C-774C-E95B33EE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CD1B7-A6C0-A5F2-B45D-80A0EDAF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Stakeholders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0C8324-E4C9-ED5D-B2CA-04F541A2C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stakeholders externos em projetos: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Fornecedores: quem fornece dados, sistemas ou serviços que o seu projeto depende, mas não controla.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qualidade e validação de dados/integração vindos de terceiros, contrato de API claro, SLA de disponibilidade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autoridade pra cobrar qualidade do fornecedor</a:t>
            </a:r>
          </a:p>
        </p:txBody>
      </p:sp>
    </p:spTree>
    <p:extLst>
      <p:ext uri="{BB962C8B-B14F-4D97-AF65-F5344CB8AC3E}">
        <p14:creationId xmlns:p14="http://schemas.microsoft.com/office/powerpoint/2010/main" val="8614750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8F9B-44E7-12C2-98C2-8B51A58B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6C79C-FC8A-DD59-DFCF-36E9A2B4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Stakeholders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10C840-EFEF-EA35-C813-5BD0BA8DB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stakeholders externos em projetos: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Órgãos reguladores: quem pode aprovar, multar ou barrar o projeto por motivos legais, independente da qualidade técnica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Aderência ao compliance de governança corporativa (dados, processos, legislações)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tempo de aprovação regulatória entra no cronograma do projeto</a:t>
            </a:r>
          </a:p>
        </p:txBody>
      </p:sp>
    </p:spTree>
    <p:extLst>
      <p:ext uri="{BB962C8B-B14F-4D97-AF65-F5344CB8AC3E}">
        <p14:creationId xmlns:p14="http://schemas.microsoft.com/office/powerpoint/2010/main" val="9215527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222C3-3A44-A55A-B075-C891E284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– Stakeholder Performance Domain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2A5C9-F010-9A9C-EC9A-49969A70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8F074B-EDF6-1E47-158C-713EBB9AF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86" y="1525803"/>
            <a:ext cx="8972427" cy="518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500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336AF-BCF0-45B1-32C1-0A3C51CC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927C0-F2E6-9C9C-D483-F1D2A275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0A1644-B8FF-8C44-77E0-CF60895AC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709EEA-2E5A-D4C8-39ED-4A39CE52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32" y="1825625"/>
            <a:ext cx="6642392" cy="383758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CBCE9C1-68D3-8782-95A2-88712EA361E7}"/>
              </a:ext>
            </a:extLst>
          </p:cNvPr>
          <p:cNvSpPr/>
          <p:nvPr/>
        </p:nvSpPr>
        <p:spPr>
          <a:xfrm>
            <a:off x="211666" y="2749585"/>
            <a:ext cx="1253067" cy="8741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57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DF99F-4286-9DA9-068B-043461E1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– Stakeholder Performance Domain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D4BA10-17EA-5611-0386-2BB82875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1) </a:t>
            </a:r>
            <a:r>
              <a:rPr lang="pt-BR" b="1" dirty="0"/>
              <a:t>Identificar os stakeholders </a:t>
            </a:r>
            <a:r>
              <a:rPr lang="pt-BR" dirty="0"/>
              <a:t>(Iniciação)</a:t>
            </a:r>
          </a:p>
          <a:p>
            <a:endParaRPr lang="pt-BR" dirty="0"/>
          </a:p>
          <a:p>
            <a:r>
              <a:rPr lang="pt-BR" dirty="0"/>
              <a:t>Processo de identificação contínua</a:t>
            </a:r>
          </a:p>
          <a:p>
            <a:pPr>
              <a:spcBef>
                <a:spcPts val="2400"/>
              </a:spcBef>
            </a:pPr>
            <a:r>
              <a:rPr lang="pt-BR" dirty="0"/>
              <a:t>Análise e documentação de informações relevantes sobre suas necessidades, expectativas, interesses, requisitos e potenciais impactos no projeto</a:t>
            </a:r>
          </a:p>
        </p:txBody>
      </p:sp>
    </p:spTree>
    <p:extLst>
      <p:ext uri="{BB962C8B-B14F-4D97-AF65-F5344CB8AC3E}">
        <p14:creationId xmlns:p14="http://schemas.microsoft.com/office/powerpoint/2010/main" val="24740348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9A7AE-0FD1-AFC3-E85C-38A135F3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– Stakeholder Performance Domain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4AB425-BC9D-0F49-0604-8C8F59920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4956" cy="4351338"/>
          </a:xfrm>
        </p:spPr>
        <p:txBody>
          <a:bodyPr/>
          <a:lstStyle/>
          <a:p>
            <a:r>
              <a:rPr lang="pt-BR" b="1" dirty="0"/>
              <a:t>Engajamento dos stakeholders </a:t>
            </a:r>
          </a:p>
          <a:p>
            <a:endParaRPr lang="pt-BR" dirty="0"/>
          </a:p>
          <a:p>
            <a:r>
              <a:rPr lang="pt-BR" sz="2800" u="sng" dirty="0">
                <a:solidFill>
                  <a:schemeClr val="accent4"/>
                </a:solidFill>
              </a:rPr>
              <a:t>Planejar, gerenciar e monitorar o engajamento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E8E66D-88E3-94B0-2E85-78156D7D5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608" y="2082502"/>
            <a:ext cx="6642392" cy="383758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D7BA74D-4240-389D-410E-764870F62AAC}"/>
              </a:ext>
            </a:extLst>
          </p:cNvPr>
          <p:cNvSpPr/>
          <p:nvPr/>
        </p:nvSpPr>
        <p:spPr>
          <a:xfrm>
            <a:off x="7470984" y="2342500"/>
            <a:ext cx="1670756" cy="35662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7EC55-EC7E-BCCE-D2FE-DFD98859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– Stakeholder Performance Domain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B752C4-DC17-22E0-DE2F-CEBCEA9A6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Processo de desenvolver estratégias para engajar, se comunicar, se relacionar e trabalhar com os stakeholders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Baseado em suas </a:t>
            </a:r>
            <a:r>
              <a:rPr lang="pt-BR" b="1" dirty="0"/>
              <a:t>necessidades, expectativas, interesses, requisitos e impacto potencial</a:t>
            </a:r>
            <a:r>
              <a:rPr lang="pt-BR" dirty="0"/>
              <a:t> no projeto</a:t>
            </a:r>
          </a:p>
        </p:txBody>
      </p:sp>
    </p:spTree>
    <p:extLst>
      <p:ext uri="{BB962C8B-B14F-4D97-AF65-F5344CB8AC3E}">
        <p14:creationId xmlns:p14="http://schemas.microsoft.com/office/powerpoint/2010/main" val="10547950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4B6D-670E-E758-856B-F6520A23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5DED18-5F9C-D06D-4B4D-8288AEA49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6244" cy="4351338"/>
          </a:xfrm>
        </p:spPr>
        <p:txBody>
          <a:bodyPr/>
          <a:lstStyle/>
          <a:p>
            <a:r>
              <a:rPr lang="pt-BR" b="1" dirty="0"/>
              <a:t>Comunicação com os stakeholders </a:t>
            </a:r>
          </a:p>
          <a:p>
            <a:endParaRPr lang="pt-BR" dirty="0"/>
          </a:p>
          <a:p>
            <a:r>
              <a:rPr lang="pt-BR" dirty="0">
                <a:solidFill>
                  <a:schemeClr val="accent4"/>
                </a:solidFill>
              </a:rPr>
              <a:t>Planejar, gerenciar e monitorar a </a:t>
            </a:r>
            <a:r>
              <a:rPr lang="pt-BR" u="sng" dirty="0">
                <a:solidFill>
                  <a:schemeClr val="accent4"/>
                </a:solidFill>
              </a:rPr>
              <a:t>comunicação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283073-287E-10D3-9B4B-BD97D9E4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608" y="2062692"/>
            <a:ext cx="6642392" cy="38375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3F3F0C4-2579-7CFD-E506-5ABDB25D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– Stakeholder Performance Domain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C55B15B-ACDA-F6A9-613D-18C70F9D074D}"/>
              </a:ext>
            </a:extLst>
          </p:cNvPr>
          <p:cNvSpPr/>
          <p:nvPr/>
        </p:nvSpPr>
        <p:spPr>
          <a:xfrm>
            <a:off x="8473433" y="2333978"/>
            <a:ext cx="1670756" cy="35662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39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897E-084F-FF56-87FB-2C756B70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C8FCA-8645-3482-46C3-C5FA8DF2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– Stakeholder Performance Domain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50D4BE-3EEA-6C3B-02C1-79B185CCA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pt-BR" dirty="0"/>
              <a:t>Como se comunicar com stakeholders (internos ou externos)</a:t>
            </a:r>
          </a:p>
          <a:p>
            <a:pPr>
              <a:spcBef>
                <a:spcPts val="2400"/>
              </a:spcBef>
            </a:pPr>
            <a:r>
              <a:rPr lang="pt-BR" dirty="0"/>
              <a:t>Assegurar a apropriada coleta, criação, distribuição, armazenamento, recuperação, gestão, monitoramento e o descarte de informações sobre 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Monitorar que as necessidades informacionais dos stakeholders sejam atendidas</a:t>
            </a:r>
          </a:p>
        </p:txBody>
      </p:sp>
    </p:spTree>
    <p:extLst>
      <p:ext uri="{BB962C8B-B14F-4D97-AF65-F5344CB8AC3E}">
        <p14:creationId xmlns:p14="http://schemas.microsoft.com/office/powerpoint/2010/main" val="28024367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8F9F4-2DE1-5034-6C04-A0D490B3A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B7E8BD-55B0-78CF-2FE6-62C93A144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Projetos ágeis exigem feedback contínuo das funcionalidades e estórias de usuário para garantir o alinhamento do produto com as necessidades dos stakeholders.</a:t>
            </a:r>
          </a:p>
          <a:p>
            <a:r>
              <a:rPr lang="pt-BR" dirty="0"/>
              <a:t>Equipes geralmente empregam reuniões diárias de coordenação e usam plataformas de comunicação para colaboração e compartilhamento de informações em tempo real</a:t>
            </a:r>
          </a:p>
          <a:p>
            <a:r>
              <a:rPr lang="pt-BR" dirty="0"/>
              <a:t>Esta abordagem facilita ajustes rápidos, maior engajamento e um </a:t>
            </a:r>
            <a:r>
              <a:rPr lang="pt-BR" i="1" dirty="0"/>
              <a:t>time-</a:t>
            </a:r>
            <a:r>
              <a:rPr lang="pt-BR" i="1" dirty="0" err="1"/>
              <a:t>to</a:t>
            </a:r>
            <a:r>
              <a:rPr lang="pt-BR" i="1" dirty="0"/>
              <a:t>-</a:t>
            </a:r>
            <a:r>
              <a:rPr lang="pt-BR" i="1" dirty="0" err="1"/>
              <a:t>market</a:t>
            </a:r>
            <a:r>
              <a:rPr lang="pt-BR" i="1" dirty="0"/>
              <a:t> </a:t>
            </a:r>
            <a:r>
              <a:rPr lang="pt-BR" dirty="0"/>
              <a:t>(lançamento para o mercado) acelerado</a:t>
            </a:r>
          </a:p>
        </p:txBody>
      </p:sp>
    </p:spTree>
    <p:extLst>
      <p:ext uri="{BB962C8B-B14F-4D97-AF65-F5344CB8AC3E}">
        <p14:creationId xmlns:p14="http://schemas.microsoft.com/office/powerpoint/2010/main" val="34136028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EB0CA-A1AF-4753-2CCA-096595B3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D2278-3A67-C450-01CA-E5292C98A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Projeto de manufatura envolver implementar um sistema ERP de larga escala</a:t>
            </a:r>
          </a:p>
          <a:p>
            <a:r>
              <a:rPr lang="pt-BR" dirty="0"/>
              <a:t>Atualizações formais do projeto são disseminadas quinzenalmente por e-mail ou assembleias mensais para garantir o alinhamento entre níveis hierárquicos e setoriais dentro da empresa</a:t>
            </a:r>
          </a:p>
        </p:txBody>
      </p:sp>
    </p:spTree>
    <p:extLst>
      <p:ext uri="{BB962C8B-B14F-4D97-AF65-F5344CB8AC3E}">
        <p14:creationId xmlns:p14="http://schemas.microsoft.com/office/powerpoint/2010/main" val="8842358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DE52E-6D36-E78F-27FE-767182BD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C3416B-40F6-0044-1772-3D8FAF21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Projeto global de tamanho médio exige estratégias de comunicação inclusivas</a:t>
            </a:r>
          </a:p>
          <a:p>
            <a:r>
              <a:rPr lang="pt-BR" dirty="0"/>
              <a:t>Atualizações </a:t>
            </a:r>
            <a:r>
              <a:rPr lang="pt-BR" dirty="0" err="1"/>
              <a:t>multilinguais</a:t>
            </a:r>
            <a:r>
              <a:rPr lang="pt-BR" dirty="0"/>
              <a:t> e fóruns virtuais mensais ajudam a assegurar o engajamento e o feedback dos stakeholders de </a:t>
            </a:r>
            <a:r>
              <a:rPr lang="pt-BR" dirty="0" err="1"/>
              <a:t>dferentes</a:t>
            </a:r>
            <a:r>
              <a:rPr lang="pt-BR" dirty="0"/>
              <a:t> backgrounds culturais</a:t>
            </a:r>
          </a:p>
        </p:txBody>
      </p:sp>
    </p:spTree>
    <p:extLst>
      <p:ext uri="{BB962C8B-B14F-4D97-AF65-F5344CB8AC3E}">
        <p14:creationId xmlns:p14="http://schemas.microsoft.com/office/powerpoint/2010/main" val="20616072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pt-BR" sz="1800" dirty="0"/>
              <a:t>PROJECT MANAGEMENT INSTITUTE (PMI). </a:t>
            </a:r>
            <a:r>
              <a:rPr lang="pt-BR" sz="1800" b="1" dirty="0"/>
              <a:t>Guia PMBOK®: Oitava Edição</a:t>
            </a:r>
            <a:r>
              <a:rPr lang="pt-BR" sz="1800" dirty="0"/>
              <a:t>. Newtown Square: Project Management </a:t>
            </a:r>
            <a:r>
              <a:rPr lang="pt-BR" sz="1800" dirty="0" err="1"/>
              <a:t>Institute</a:t>
            </a:r>
            <a:r>
              <a:rPr lang="pt-BR" sz="1800" dirty="0"/>
              <a:t>, 2025.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Pressman, R. S., 7ª </a:t>
            </a:r>
            <a:r>
              <a:rPr lang="pt-BR" sz="1800" dirty="0" err="1"/>
              <a:t>ed</a:t>
            </a:r>
            <a:r>
              <a:rPr lang="pt-BR" sz="1800" dirty="0"/>
              <a:t> (2011). </a:t>
            </a:r>
            <a:r>
              <a:rPr lang="pt-BR" sz="1800" b="1" dirty="0"/>
              <a:t>Engenharia de software</a:t>
            </a:r>
            <a:r>
              <a:rPr lang="pt-BR" sz="1800" dirty="0"/>
              <a:t>.</a:t>
            </a:r>
          </a:p>
          <a:p>
            <a:pPr>
              <a:spcBef>
                <a:spcPts val="1800"/>
              </a:spcBef>
            </a:pPr>
            <a:r>
              <a:rPr lang="pt-BR" sz="1800" dirty="0" err="1"/>
              <a:t>Sommerville</a:t>
            </a:r>
            <a:r>
              <a:rPr lang="pt-BR" sz="1800" dirty="0"/>
              <a:t>. I. </a:t>
            </a:r>
            <a:r>
              <a:rPr lang="pt-BR" sz="1800" b="1" dirty="0"/>
              <a:t>Engenharia de Software</a:t>
            </a:r>
            <a:r>
              <a:rPr lang="pt-BR" sz="1800" dirty="0"/>
              <a:t>, 9ª </a:t>
            </a:r>
            <a:r>
              <a:rPr lang="pt-BR" sz="1800" dirty="0" err="1"/>
              <a:t>ed</a:t>
            </a:r>
            <a:r>
              <a:rPr lang="pt-BR" sz="1800" dirty="0"/>
              <a:t> (2011).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4065</Words>
  <Application>Microsoft Office PowerPoint</Application>
  <PresentationFormat>Widescreen</PresentationFormat>
  <Paragraphs>509</Paragraphs>
  <Slides>89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89</vt:i4>
      </vt:variant>
    </vt:vector>
  </HeadingPairs>
  <TitlesOfParts>
    <vt:vector size="96" baseType="lpstr">
      <vt:lpstr>Aptos</vt:lpstr>
      <vt:lpstr>Aptos Display</vt:lpstr>
      <vt:lpstr>Arial</vt:lpstr>
      <vt:lpstr>Cambria Math</vt:lpstr>
      <vt:lpstr>ImpressumStd-Roman</vt:lpstr>
      <vt:lpstr>Wingdings</vt:lpstr>
      <vt:lpstr>Tema do Office</vt:lpstr>
      <vt:lpstr>Apresentação do PowerPoint</vt:lpstr>
      <vt:lpstr>Na aula anterior, vimos...</vt:lpstr>
      <vt:lpstr>Agenda</vt:lpstr>
      <vt:lpstr>Elementos da Engenharia de SW</vt:lpstr>
      <vt:lpstr>Aspectos humanos</vt:lpstr>
      <vt:lpstr>Stakeholders de um projeto</vt:lpstr>
      <vt:lpstr>Stakeholders de um projeto</vt:lpstr>
      <vt:lpstr>Agenda</vt:lpstr>
      <vt:lpstr>Stakeholders de um projeto</vt:lpstr>
      <vt:lpstr>Gestão de equipe</vt:lpstr>
      <vt:lpstr>Apresentação do PowerPoint</vt:lpstr>
      <vt:lpstr>Torre de Babel</vt:lpstr>
      <vt:lpstr>Torre de Babel</vt:lpstr>
      <vt:lpstr>Torre de Babel (Brooks)</vt:lpstr>
      <vt:lpstr>Torre de Babel (Brooks)</vt:lpstr>
      <vt:lpstr>Torre de Babel (Brooks)</vt:lpstr>
      <vt:lpstr>Questão central</vt:lpstr>
      <vt:lpstr>Gestão de equipe</vt:lpstr>
      <vt:lpstr>Formação de grupos</vt:lpstr>
      <vt:lpstr>Teoria da formação dos grupos</vt:lpstr>
      <vt:lpstr>Teoria da formação dos grupos</vt:lpstr>
      <vt:lpstr>Formação de grupos</vt:lpstr>
      <vt:lpstr>Gestão de equipe</vt:lpstr>
      <vt:lpstr>Peopleware</vt:lpstr>
      <vt:lpstr>A equipe de software</vt:lpstr>
      <vt:lpstr>Peopleware</vt:lpstr>
      <vt:lpstr>Peopleware</vt:lpstr>
      <vt:lpstr>Gestão de equipe</vt:lpstr>
      <vt:lpstr>Organização de equipes</vt:lpstr>
      <vt:lpstr>Tamanho da equipe</vt:lpstr>
      <vt:lpstr>Estrutura do grupo</vt:lpstr>
      <vt:lpstr>Estrutura do grupo</vt:lpstr>
      <vt:lpstr>Estrutura do grupo</vt:lpstr>
      <vt:lpstr>Estrutura do grupo</vt:lpstr>
      <vt:lpstr>Estrutura do grupo</vt:lpstr>
      <vt:lpstr>Apresentação do PowerPoint</vt:lpstr>
      <vt:lpstr>Organização de equipes ágeis</vt:lpstr>
      <vt:lpstr>Organização de equipes</vt:lpstr>
      <vt:lpstr>Organização de equipes</vt:lpstr>
      <vt:lpstr>Gestão de equipe</vt:lpstr>
      <vt:lpstr>Organização de equipe importa?</vt:lpstr>
      <vt:lpstr>Lei de Conway</vt:lpstr>
      <vt:lpstr>Lei de Conway</vt:lpstr>
      <vt:lpstr>Lei de Conway</vt:lpstr>
      <vt:lpstr>Lei de Conway</vt:lpstr>
      <vt:lpstr>Lei de Conway - Como solucionar?</vt:lpstr>
      <vt:lpstr>Gestão de equipe</vt:lpstr>
      <vt:lpstr>Escalando organização de equipes</vt:lpstr>
      <vt:lpstr>Modelo Spotify</vt:lpstr>
      <vt:lpstr>Modelo Spotify</vt:lpstr>
      <vt:lpstr>Apresentação do PowerPoint</vt:lpstr>
      <vt:lpstr>Modelo ágil em escala Spotify (2019)</vt:lpstr>
      <vt:lpstr>Escalando a organização de equipes</vt:lpstr>
      <vt:lpstr>Escalando a organização de equipes</vt:lpstr>
      <vt:lpstr>Escalando a organização de equipes</vt:lpstr>
      <vt:lpstr>Gestão de equipe</vt:lpstr>
      <vt:lpstr>Institucionalização do problema</vt:lpstr>
      <vt:lpstr>PMBOK - A resposta institucional</vt:lpstr>
      <vt:lpstr>PMBOK - A resposta institucional</vt:lpstr>
      <vt:lpstr>TNE – Termo de Nomeação de Equipe</vt:lpstr>
      <vt:lpstr>TNE – Termo de Nomeação de Equipe</vt:lpstr>
      <vt:lpstr>Team Charter - Valores da equipe</vt:lpstr>
      <vt:lpstr>Team Charter – Diretrizes de comunicação</vt:lpstr>
      <vt:lpstr>Team Charter – Tomada de decisão</vt:lpstr>
      <vt:lpstr>Team Charter – Resolução de conflitos</vt:lpstr>
      <vt:lpstr>Team Charter – Diretrizes para reuniões</vt:lpstr>
      <vt:lpstr>Team Charter – Acordos da equipe</vt:lpstr>
      <vt:lpstr>Team charter</vt:lpstr>
      <vt:lpstr>Team charter</vt:lpstr>
      <vt:lpstr>Apresentação do PowerPoint</vt:lpstr>
      <vt:lpstr>Team charter</vt:lpstr>
      <vt:lpstr>Atividade</vt:lpstr>
      <vt:lpstr>Agenda</vt:lpstr>
      <vt:lpstr>Gestão de Stakeholders</vt:lpstr>
      <vt:lpstr>Gestão de Stakeholders</vt:lpstr>
      <vt:lpstr>Gestão de Stakeholders</vt:lpstr>
      <vt:lpstr>Gestão de Stakeholders</vt:lpstr>
      <vt:lpstr>Gestão de Stakeholders</vt:lpstr>
      <vt:lpstr>PMBOK – Stakeholder Performance Domain</vt:lpstr>
      <vt:lpstr>Apresentação do PowerPoint</vt:lpstr>
      <vt:lpstr>PMBOK – Stakeholder Performance Domain</vt:lpstr>
      <vt:lpstr>PMBOK – Stakeholder Performance Domain</vt:lpstr>
      <vt:lpstr>PMBOK – Stakeholder Performance Domain</vt:lpstr>
      <vt:lpstr>PMBOK – Stakeholder Performance Domain</vt:lpstr>
      <vt:lpstr>PMBOK – Stakeholder Performance Domain</vt:lpstr>
      <vt:lpstr>Exemplo 1</vt:lpstr>
      <vt:lpstr>Exemplo 2</vt:lpstr>
      <vt:lpstr>Exemplo 3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</dc:creator>
  <cp:lastModifiedBy>Author</cp:lastModifiedBy>
  <cp:revision>103</cp:revision>
  <dcterms:created xsi:type="dcterms:W3CDTF">2026-08-14T20:36:18Z</dcterms:created>
  <dcterms:modified xsi:type="dcterms:W3CDTF">2026-08-22T00:00:28Z</dcterms:modified>
</cp:coreProperties>
</file>