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382" r:id="rId3"/>
    <p:sldId id="722" r:id="rId4"/>
    <p:sldId id="723" r:id="rId5"/>
    <p:sldId id="724" r:id="rId6"/>
    <p:sldId id="725" r:id="rId7"/>
    <p:sldId id="726" r:id="rId8"/>
    <p:sldId id="743" r:id="rId9"/>
    <p:sldId id="744" r:id="rId10"/>
    <p:sldId id="741" r:id="rId11"/>
    <p:sldId id="734" r:id="rId12"/>
    <p:sldId id="807" r:id="rId13"/>
    <p:sldId id="808" r:id="rId14"/>
    <p:sldId id="810" r:id="rId15"/>
    <p:sldId id="811" r:id="rId16"/>
    <p:sldId id="786" r:id="rId17"/>
    <p:sldId id="796" r:id="rId18"/>
    <p:sldId id="799" r:id="rId19"/>
    <p:sldId id="797" r:id="rId20"/>
    <p:sldId id="800" r:id="rId21"/>
    <p:sldId id="809" r:id="rId22"/>
    <p:sldId id="798" r:id="rId23"/>
    <p:sldId id="801" r:id="rId24"/>
    <p:sldId id="813" r:id="rId25"/>
    <p:sldId id="814" r:id="rId26"/>
    <p:sldId id="732" r:id="rId27"/>
    <p:sldId id="531" r:id="rId28"/>
    <p:sldId id="720" r:id="rId29"/>
    <p:sldId id="735" r:id="rId30"/>
    <p:sldId id="738" r:id="rId31"/>
    <p:sldId id="736" r:id="rId32"/>
    <p:sldId id="745" r:id="rId33"/>
    <p:sldId id="746" r:id="rId34"/>
    <p:sldId id="747" r:id="rId35"/>
    <p:sldId id="748" r:id="rId36"/>
    <p:sldId id="749" r:id="rId37"/>
    <p:sldId id="750" r:id="rId38"/>
    <p:sldId id="751" r:id="rId39"/>
    <p:sldId id="752" r:id="rId40"/>
    <p:sldId id="815" r:id="rId41"/>
    <p:sldId id="803" r:id="rId42"/>
    <p:sldId id="806" r:id="rId43"/>
    <p:sldId id="784" r:id="rId44"/>
    <p:sldId id="760" r:id="rId45"/>
    <p:sldId id="737" r:id="rId46"/>
    <p:sldId id="764" r:id="rId47"/>
    <p:sldId id="783" r:id="rId48"/>
    <p:sldId id="721" r:id="rId49"/>
    <p:sldId id="767" r:id="rId50"/>
    <p:sldId id="757" r:id="rId51"/>
    <p:sldId id="781" r:id="rId52"/>
    <p:sldId id="780" r:id="rId53"/>
    <p:sldId id="769" r:id="rId54"/>
    <p:sldId id="772" r:id="rId55"/>
    <p:sldId id="771" r:id="rId56"/>
    <p:sldId id="816" r:id="rId57"/>
    <p:sldId id="770" r:id="rId58"/>
    <p:sldId id="817" r:id="rId59"/>
    <p:sldId id="774" r:id="rId60"/>
    <p:sldId id="776" r:id="rId61"/>
    <p:sldId id="777" r:id="rId62"/>
    <p:sldId id="792" r:id="rId63"/>
    <p:sldId id="793" r:id="rId64"/>
    <p:sldId id="778" r:id="rId65"/>
    <p:sldId id="773" r:id="rId66"/>
    <p:sldId id="779" r:id="rId67"/>
    <p:sldId id="804" r:id="rId68"/>
    <p:sldId id="775" r:id="rId69"/>
    <p:sldId id="754" r:id="rId70"/>
    <p:sldId id="788" r:id="rId71"/>
    <p:sldId id="755" r:id="rId72"/>
    <p:sldId id="758" r:id="rId73"/>
    <p:sldId id="785" r:id="rId74"/>
    <p:sldId id="787" r:id="rId75"/>
    <p:sldId id="759" r:id="rId76"/>
    <p:sldId id="421" r:id="rId77"/>
    <p:sldId id="674" r:id="rId78"/>
    <p:sldId id="805" r:id="rId7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âmbulo" id="{4EC86D00-4420-4C6F-BCD1-3E1D9C03789E}">
          <p14:sldIdLst>
            <p14:sldId id="256"/>
            <p14:sldId id="382"/>
          </p14:sldIdLst>
        </p14:section>
        <p14:section name="Conceitos de qualidade" id="{DF465357-F9D9-4EC2-90C3-9A900F8A8419}">
          <p14:sldIdLst>
            <p14:sldId id="722"/>
            <p14:sldId id="723"/>
            <p14:sldId id="724"/>
            <p14:sldId id="725"/>
            <p14:sldId id="726"/>
            <p14:sldId id="743"/>
            <p14:sldId id="744"/>
            <p14:sldId id="741"/>
            <p14:sldId id="734"/>
            <p14:sldId id="807"/>
            <p14:sldId id="808"/>
            <p14:sldId id="810"/>
            <p14:sldId id="811"/>
            <p14:sldId id="786"/>
            <p14:sldId id="796"/>
            <p14:sldId id="799"/>
            <p14:sldId id="797"/>
            <p14:sldId id="800"/>
            <p14:sldId id="809"/>
            <p14:sldId id="798"/>
            <p14:sldId id="801"/>
            <p14:sldId id="813"/>
            <p14:sldId id="814"/>
            <p14:sldId id="732"/>
            <p14:sldId id="531"/>
          </p14:sldIdLst>
        </p14:section>
        <p14:section name="Qualidade de Produto" id="{213B4191-C8DF-497C-8EBC-7C272E4ED092}">
          <p14:sldIdLst>
            <p14:sldId id="720"/>
            <p14:sldId id="735"/>
            <p14:sldId id="738"/>
            <p14:sldId id="736"/>
            <p14:sldId id="745"/>
            <p14:sldId id="746"/>
            <p14:sldId id="747"/>
            <p14:sldId id="748"/>
            <p14:sldId id="749"/>
            <p14:sldId id="750"/>
            <p14:sldId id="751"/>
            <p14:sldId id="752"/>
            <p14:sldId id="815"/>
            <p14:sldId id="803"/>
            <p14:sldId id="806"/>
            <p14:sldId id="784"/>
            <p14:sldId id="760"/>
            <p14:sldId id="737"/>
            <p14:sldId id="764"/>
            <p14:sldId id="783"/>
          </p14:sldIdLst>
        </p14:section>
        <p14:section name="Qualidade de processo" id="{6C2A3FE0-A39F-4851-BC24-9DF52F1AA7E4}">
          <p14:sldIdLst>
            <p14:sldId id="721"/>
            <p14:sldId id="767"/>
            <p14:sldId id="757"/>
            <p14:sldId id="781"/>
            <p14:sldId id="780"/>
            <p14:sldId id="769"/>
            <p14:sldId id="772"/>
            <p14:sldId id="771"/>
            <p14:sldId id="816"/>
            <p14:sldId id="770"/>
            <p14:sldId id="817"/>
            <p14:sldId id="774"/>
            <p14:sldId id="776"/>
            <p14:sldId id="777"/>
            <p14:sldId id="792"/>
            <p14:sldId id="793"/>
            <p14:sldId id="778"/>
            <p14:sldId id="773"/>
            <p14:sldId id="779"/>
            <p14:sldId id="804"/>
          </p14:sldIdLst>
        </p14:section>
        <p14:section name="Custos da qualidade" id="{662B4F25-EA60-4736-B33A-E2DAAA744149}">
          <p14:sldIdLst>
            <p14:sldId id="775"/>
            <p14:sldId id="754"/>
            <p14:sldId id="788"/>
            <p14:sldId id="755"/>
            <p14:sldId id="758"/>
            <p14:sldId id="785"/>
            <p14:sldId id="787"/>
            <p14:sldId id="759"/>
            <p14:sldId id="421"/>
          </p14:sldIdLst>
        </p14:section>
        <p14:section name="Refs" id="{F65D350F-258C-4860-9B11-97FB6D76D198}">
          <p14:sldIdLst>
            <p14:sldId id="674"/>
            <p14:sldId id="8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393" autoAdjust="0"/>
  </p:normalViewPr>
  <p:slideViewPr>
    <p:cSldViewPr snapToGrid="0">
      <p:cViewPr varScale="1">
        <p:scale>
          <a:sx n="68" d="100"/>
          <a:sy n="68" d="100"/>
        </p:scale>
        <p:origin x="11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97A3C5-3685-4E6C-AEFB-4FBD89DA9B2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B8E7BBCD-E1E2-4110-96B7-D4C11CBC6E53}">
      <dgm:prSet phldrT="[Texto]"/>
      <dgm:spPr/>
      <dgm:t>
        <a:bodyPr/>
        <a:lstStyle/>
        <a:p>
          <a:r>
            <a:rPr lang="pt-BR" dirty="0"/>
            <a:t>Objetivos da qualidade</a:t>
          </a:r>
        </a:p>
      </dgm:t>
    </dgm:pt>
    <dgm:pt modelId="{5F542C74-95EC-47C1-BDEF-1B03C17B2841}" type="parTrans" cxnId="{17B3D0FC-CA05-4E0E-A287-10A9EFEF46D9}">
      <dgm:prSet/>
      <dgm:spPr/>
      <dgm:t>
        <a:bodyPr/>
        <a:lstStyle/>
        <a:p>
          <a:endParaRPr lang="pt-BR"/>
        </a:p>
      </dgm:t>
    </dgm:pt>
    <dgm:pt modelId="{63AE116C-DCA9-4390-826B-E52452AE9DA9}" type="sibTrans" cxnId="{17B3D0FC-CA05-4E0E-A287-10A9EFEF46D9}">
      <dgm:prSet/>
      <dgm:spPr/>
      <dgm:t>
        <a:bodyPr/>
        <a:lstStyle/>
        <a:p>
          <a:endParaRPr lang="pt-BR"/>
        </a:p>
      </dgm:t>
    </dgm:pt>
    <dgm:pt modelId="{FC4E4443-036D-4FFF-BB06-C95F2AA49A2F}">
      <dgm:prSet phldrT="[Texto]"/>
      <dgm:spPr/>
      <dgm:t>
        <a:bodyPr/>
        <a:lstStyle/>
        <a:p>
          <a:r>
            <a:rPr lang="pt-BR" dirty="0"/>
            <a:t>Escolha de métricas</a:t>
          </a:r>
        </a:p>
      </dgm:t>
    </dgm:pt>
    <dgm:pt modelId="{2B8B7101-C1A2-4508-8B11-A2748A52CDBE}" type="parTrans" cxnId="{F1B5315A-A163-44A5-9E16-97EA03EA51AA}">
      <dgm:prSet/>
      <dgm:spPr/>
      <dgm:t>
        <a:bodyPr/>
        <a:lstStyle/>
        <a:p>
          <a:endParaRPr lang="pt-BR"/>
        </a:p>
      </dgm:t>
    </dgm:pt>
    <dgm:pt modelId="{729CD3C2-B87C-42AB-85C9-B8BD1A5F6D1E}" type="sibTrans" cxnId="{F1B5315A-A163-44A5-9E16-97EA03EA51AA}">
      <dgm:prSet/>
      <dgm:spPr/>
      <dgm:t>
        <a:bodyPr/>
        <a:lstStyle/>
        <a:p>
          <a:endParaRPr lang="pt-BR"/>
        </a:p>
      </dgm:t>
    </dgm:pt>
    <dgm:pt modelId="{3C907AA8-A94B-4E22-A48E-C381E0AE6052}">
      <dgm:prSet phldrT="[Texto]"/>
      <dgm:spPr/>
      <dgm:t>
        <a:bodyPr/>
        <a:lstStyle/>
        <a:p>
          <a:r>
            <a:rPr lang="pt-BR" dirty="0"/>
            <a:t>Critérios de aceitação</a:t>
          </a:r>
        </a:p>
      </dgm:t>
    </dgm:pt>
    <dgm:pt modelId="{709A7A3B-679B-4536-AB8D-2AFE6FA40AFD}" type="parTrans" cxnId="{02F9671A-38C0-4F8E-9B83-60AA5E0CA74B}">
      <dgm:prSet/>
      <dgm:spPr/>
      <dgm:t>
        <a:bodyPr/>
        <a:lstStyle/>
        <a:p>
          <a:endParaRPr lang="pt-BR"/>
        </a:p>
      </dgm:t>
    </dgm:pt>
    <dgm:pt modelId="{36A7F0CF-98ED-47EE-974C-F6041E9B4572}" type="sibTrans" cxnId="{02F9671A-38C0-4F8E-9B83-60AA5E0CA74B}">
      <dgm:prSet/>
      <dgm:spPr/>
      <dgm:t>
        <a:bodyPr/>
        <a:lstStyle/>
        <a:p>
          <a:endParaRPr lang="pt-BR"/>
        </a:p>
      </dgm:t>
    </dgm:pt>
    <dgm:pt modelId="{35A382F7-9850-4D24-B242-9FF113C5F322}">
      <dgm:prSet phldrT="[Texto]"/>
      <dgm:spPr/>
      <dgm:t>
        <a:bodyPr/>
        <a:lstStyle/>
        <a:p>
          <a:r>
            <a:rPr lang="pt-BR" dirty="0"/>
            <a:t>Papeis e responsabilidades</a:t>
          </a:r>
        </a:p>
      </dgm:t>
    </dgm:pt>
    <dgm:pt modelId="{920BA9D9-69A0-4644-8FB8-E01E6023AC10}" type="parTrans" cxnId="{970933F9-B7D3-4F70-A3F1-B97E43111BBB}">
      <dgm:prSet/>
      <dgm:spPr/>
      <dgm:t>
        <a:bodyPr/>
        <a:lstStyle/>
        <a:p>
          <a:endParaRPr lang="pt-BR"/>
        </a:p>
      </dgm:t>
    </dgm:pt>
    <dgm:pt modelId="{6FB2EAF3-55D4-4535-85D8-71C29F247189}" type="sibTrans" cxnId="{970933F9-B7D3-4F70-A3F1-B97E43111BBB}">
      <dgm:prSet/>
      <dgm:spPr/>
      <dgm:t>
        <a:bodyPr/>
        <a:lstStyle/>
        <a:p>
          <a:endParaRPr lang="pt-BR"/>
        </a:p>
      </dgm:t>
    </dgm:pt>
    <dgm:pt modelId="{0A9B9B30-A622-47F6-8A08-7749CFFD5C09}" type="pres">
      <dgm:prSet presAssocID="{1497A3C5-3685-4E6C-AEFB-4FBD89DA9B2F}" presName="CompostProcess" presStyleCnt="0">
        <dgm:presLayoutVars>
          <dgm:dir/>
          <dgm:resizeHandles val="exact"/>
        </dgm:presLayoutVars>
      </dgm:prSet>
      <dgm:spPr/>
    </dgm:pt>
    <dgm:pt modelId="{6C731083-7161-4211-9EF4-C72138A11514}" type="pres">
      <dgm:prSet presAssocID="{1497A3C5-3685-4E6C-AEFB-4FBD89DA9B2F}" presName="arrow" presStyleLbl="bgShp" presStyleIdx="0" presStyleCnt="1" custLinFactNeighborX="1323" custLinFactNeighborY="20564"/>
      <dgm:spPr/>
    </dgm:pt>
    <dgm:pt modelId="{9EF97490-4900-4ED0-A7DD-0B68F2378516}" type="pres">
      <dgm:prSet presAssocID="{1497A3C5-3685-4E6C-AEFB-4FBD89DA9B2F}" presName="linearProcess" presStyleCnt="0"/>
      <dgm:spPr/>
    </dgm:pt>
    <dgm:pt modelId="{C846B34A-E612-436C-9C7B-311B0795646E}" type="pres">
      <dgm:prSet presAssocID="{B8E7BBCD-E1E2-4110-96B7-D4C11CBC6E53}" presName="textNode" presStyleLbl="node1" presStyleIdx="0" presStyleCnt="4">
        <dgm:presLayoutVars>
          <dgm:bulletEnabled val="1"/>
        </dgm:presLayoutVars>
      </dgm:prSet>
      <dgm:spPr/>
    </dgm:pt>
    <dgm:pt modelId="{6BFE7C70-40FF-4111-B79F-1E202B525774}" type="pres">
      <dgm:prSet presAssocID="{63AE116C-DCA9-4390-826B-E52452AE9DA9}" presName="sibTrans" presStyleCnt="0"/>
      <dgm:spPr/>
    </dgm:pt>
    <dgm:pt modelId="{C5921183-16EB-4401-B2DB-16B5BCB796D6}" type="pres">
      <dgm:prSet presAssocID="{FC4E4443-036D-4FFF-BB06-C95F2AA49A2F}" presName="textNode" presStyleLbl="node1" presStyleIdx="1" presStyleCnt="4">
        <dgm:presLayoutVars>
          <dgm:bulletEnabled val="1"/>
        </dgm:presLayoutVars>
      </dgm:prSet>
      <dgm:spPr/>
    </dgm:pt>
    <dgm:pt modelId="{20E6C5A7-DFC2-4F44-92DB-57DA8894D9D8}" type="pres">
      <dgm:prSet presAssocID="{729CD3C2-B87C-42AB-85C9-B8BD1A5F6D1E}" presName="sibTrans" presStyleCnt="0"/>
      <dgm:spPr/>
    </dgm:pt>
    <dgm:pt modelId="{5CFF2AE3-565E-42D2-9BF7-4CD0CF614E0F}" type="pres">
      <dgm:prSet presAssocID="{3C907AA8-A94B-4E22-A48E-C381E0AE6052}" presName="textNode" presStyleLbl="node1" presStyleIdx="2" presStyleCnt="4">
        <dgm:presLayoutVars>
          <dgm:bulletEnabled val="1"/>
        </dgm:presLayoutVars>
      </dgm:prSet>
      <dgm:spPr/>
    </dgm:pt>
    <dgm:pt modelId="{B91B24C0-B645-4AA1-87A5-DC42AC36982D}" type="pres">
      <dgm:prSet presAssocID="{36A7F0CF-98ED-47EE-974C-F6041E9B4572}" presName="sibTrans" presStyleCnt="0"/>
      <dgm:spPr/>
    </dgm:pt>
    <dgm:pt modelId="{D3A9AF65-F500-46A7-95F5-184A413A6DF1}" type="pres">
      <dgm:prSet presAssocID="{35A382F7-9850-4D24-B242-9FF113C5F322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1FA6706-430D-440F-BBF7-056144611612}" type="presOf" srcId="{35A382F7-9850-4D24-B242-9FF113C5F322}" destId="{D3A9AF65-F500-46A7-95F5-184A413A6DF1}" srcOrd="0" destOrd="0" presId="urn:microsoft.com/office/officeart/2005/8/layout/hProcess9"/>
    <dgm:cxn modelId="{02F9671A-38C0-4F8E-9B83-60AA5E0CA74B}" srcId="{1497A3C5-3685-4E6C-AEFB-4FBD89DA9B2F}" destId="{3C907AA8-A94B-4E22-A48E-C381E0AE6052}" srcOrd="2" destOrd="0" parTransId="{709A7A3B-679B-4536-AB8D-2AFE6FA40AFD}" sibTransId="{36A7F0CF-98ED-47EE-974C-F6041E9B4572}"/>
    <dgm:cxn modelId="{6DF23B55-9423-4A13-94F6-12F82DA840ED}" type="presOf" srcId="{B8E7BBCD-E1E2-4110-96B7-D4C11CBC6E53}" destId="{C846B34A-E612-436C-9C7B-311B0795646E}" srcOrd="0" destOrd="0" presId="urn:microsoft.com/office/officeart/2005/8/layout/hProcess9"/>
    <dgm:cxn modelId="{0CFA4678-4137-4B37-A57B-B4A900A31323}" type="presOf" srcId="{1497A3C5-3685-4E6C-AEFB-4FBD89DA9B2F}" destId="{0A9B9B30-A622-47F6-8A08-7749CFFD5C09}" srcOrd="0" destOrd="0" presId="urn:microsoft.com/office/officeart/2005/8/layout/hProcess9"/>
    <dgm:cxn modelId="{F1B5315A-A163-44A5-9E16-97EA03EA51AA}" srcId="{1497A3C5-3685-4E6C-AEFB-4FBD89DA9B2F}" destId="{FC4E4443-036D-4FFF-BB06-C95F2AA49A2F}" srcOrd="1" destOrd="0" parTransId="{2B8B7101-C1A2-4508-8B11-A2748A52CDBE}" sibTransId="{729CD3C2-B87C-42AB-85C9-B8BD1A5F6D1E}"/>
    <dgm:cxn modelId="{6626E788-91AF-4746-824E-6DFC242B0286}" type="presOf" srcId="{FC4E4443-036D-4FFF-BB06-C95F2AA49A2F}" destId="{C5921183-16EB-4401-B2DB-16B5BCB796D6}" srcOrd="0" destOrd="0" presId="urn:microsoft.com/office/officeart/2005/8/layout/hProcess9"/>
    <dgm:cxn modelId="{CE5F35CB-FB1E-4C38-A588-8D4560C6A886}" type="presOf" srcId="{3C907AA8-A94B-4E22-A48E-C381E0AE6052}" destId="{5CFF2AE3-565E-42D2-9BF7-4CD0CF614E0F}" srcOrd="0" destOrd="0" presId="urn:microsoft.com/office/officeart/2005/8/layout/hProcess9"/>
    <dgm:cxn modelId="{970933F9-B7D3-4F70-A3F1-B97E43111BBB}" srcId="{1497A3C5-3685-4E6C-AEFB-4FBD89DA9B2F}" destId="{35A382F7-9850-4D24-B242-9FF113C5F322}" srcOrd="3" destOrd="0" parTransId="{920BA9D9-69A0-4644-8FB8-E01E6023AC10}" sibTransId="{6FB2EAF3-55D4-4535-85D8-71C29F247189}"/>
    <dgm:cxn modelId="{17B3D0FC-CA05-4E0E-A287-10A9EFEF46D9}" srcId="{1497A3C5-3685-4E6C-AEFB-4FBD89DA9B2F}" destId="{B8E7BBCD-E1E2-4110-96B7-D4C11CBC6E53}" srcOrd="0" destOrd="0" parTransId="{5F542C74-95EC-47C1-BDEF-1B03C17B2841}" sibTransId="{63AE116C-DCA9-4390-826B-E52452AE9DA9}"/>
    <dgm:cxn modelId="{726D7F3D-9A82-4586-AA45-26FC28E8479C}" type="presParOf" srcId="{0A9B9B30-A622-47F6-8A08-7749CFFD5C09}" destId="{6C731083-7161-4211-9EF4-C72138A11514}" srcOrd="0" destOrd="0" presId="urn:microsoft.com/office/officeart/2005/8/layout/hProcess9"/>
    <dgm:cxn modelId="{E4717104-1827-4BE1-A332-D7EEE3A77435}" type="presParOf" srcId="{0A9B9B30-A622-47F6-8A08-7749CFFD5C09}" destId="{9EF97490-4900-4ED0-A7DD-0B68F2378516}" srcOrd="1" destOrd="0" presId="urn:microsoft.com/office/officeart/2005/8/layout/hProcess9"/>
    <dgm:cxn modelId="{0DF07F70-FCE2-413D-B0D0-A09E7FAACED8}" type="presParOf" srcId="{9EF97490-4900-4ED0-A7DD-0B68F2378516}" destId="{C846B34A-E612-436C-9C7B-311B0795646E}" srcOrd="0" destOrd="0" presId="urn:microsoft.com/office/officeart/2005/8/layout/hProcess9"/>
    <dgm:cxn modelId="{F582C5FB-34FC-4BAE-A534-A42B10D40073}" type="presParOf" srcId="{9EF97490-4900-4ED0-A7DD-0B68F2378516}" destId="{6BFE7C70-40FF-4111-B79F-1E202B525774}" srcOrd="1" destOrd="0" presId="urn:microsoft.com/office/officeart/2005/8/layout/hProcess9"/>
    <dgm:cxn modelId="{5F7C6D50-95BE-4EC2-946E-1EBDB798E08F}" type="presParOf" srcId="{9EF97490-4900-4ED0-A7DD-0B68F2378516}" destId="{C5921183-16EB-4401-B2DB-16B5BCB796D6}" srcOrd="2" destOrd="0" presId="urn:microsoft.com/office/officeart/2005/8/layout/hProcess9"/>
    <dgm:cxn modelId="{9AC53FA7-D46B-4052-9EA6-217A93C8F9F2}" type="presParOf" srcId="{9EF97490-4900-4ED0-A7DD-0B68F2378516}" destId="{20E6C5A7-DFC2-4F44-92DB-57DA8894D9D8}" srcOrd="3" destOrd="0" presId="urn:microsoft.com/office/officeart/2005/8/layout/hProcess9"/>
    <dgm:cxn modelId="{D78E21AD-F7EB-4DE2-887E-C237FDA14BC2}" type="presParOf" srcId="{9EF97490-4900-4ED0-A7DD-0B68F2378516}" destId="{5CFF2AE3-565E-42D2-9BF7-4CD0CF614E0F}" srcOrd="4" destOrd="0" presId="urn:microsoft.com/office/officeart/2005/8/layout/hProcess9"/>
    <dgm:cxn modelId="{BEF97DA2-A7DA-4620-92D7-1686BEB3624A}" type="presParOf" srcId="{9EF97490-4900-4ED0-A7DD-0B68F2378516}" destId="{B91B24C0-B645-4AA1-87A5-DC42AC36982D}" srcOrd="5" destOrd="0" presId="urn:microsoft.com/office/officeart/2005/8/layout/hProcess9"/>
    <dgm:cxn modelId="{85A7DE5C-500A-4A38-9461-8FDC681EAFB1}" type="presParOf" srcId="{9EF97490-4900-4ED0-A7DD-0B68F2378516}" destId="{D3A9AF65-F500-46A7-95F5-184A413A6DF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97A3C5-3685-4E6C-AEFB-4FBD89DA9B2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B8E7BBCD-E1E2-4110-96B7-D4C11CBC6E53}">
      <dgm:prSet phldrT="[Texto]"/>
      <dgm:spPr/>
      <dgm:t>
        <a:bodyPr/>
        <a:lstStyle/>
        <a:p>
          <a:r>
            <a:rPr lang="pt-BR" dirty="0"/>
            <a:t>Objetivos da qualidade</a:t>
          </a:r>
        </a:p>
      </dgm:t>
    </dgm:pt>
    <dgm:pt modelId="{5F542C74-95EC-47C1-BDEF-1B03C17B2841}" type="parTrans" cxnId="{17B3D0FC-CA05-4E0E-A287-10A9EFEF46D9}">
      <dgm:prSet/>
      <dgm:spPr/>
      <dgm:t>
        <a:bodyPr/>
        <a:lstStyle/>
        <a:p>
          <a:endParaRPr lang="pt-BR"/>
        </a:p>
      </dgm:t>
    </dgm:pt>
    <dgm:pt modelId="{63AE116C-DCA9-4390-826B-E52452AE9DA9}" type="sibTrans" cxnId="{17B3D0FC-CA05-4E0E-A287-10A9EFEF46D9}">
      <dgm:prSet/>
      <dgm:spPr/>
      <dgm:t>
        <a:bodyPr/>
        <a:lstStyle/>
        <a:p>
          <a:endParaRPr lang="pt-BR"/>
        </a:p>
      </dgm:t>
    </dgm:pt>
    <dgm:pt modelId="{FC4E4443-036D-4FFF-BB06-C95F2AA49A2F}">
      <dgm:prSet phldrT="[Texto]"/>
      <dgm:spPr/>
      <dgm:t>
        <a:bodyPr/>
        <a:lstStyle/>
        <a:p>
          <a:r>
            <a:rPr lang="pt-BR" dirty="0"/>
            <a:t>Escolha de métricas</a:t>
          </a:r>
        </a:p>
      </dgm:t>
    </dgm:pt>
    <dgm:pt modelId="{2B8B7101-C1A2-4508-8B11-A2748A52CDBE}" type="parTrans" cxnId="{F1B5315A-A163-44A5-9E16-97EA03EA51AA}">
      <dgm:prSet/>
      <dgm:spPr/>
      <dgm:t>
        <a:bodyPr/>
        <a:lstStyle/>
        <a:p>
          <a:endParaRPr lang="pt-BR"/>
        </a:p>
      </dgm:t>
    </dgm:pt>
    <dgm:pt modelId="{729CD3C2-B87C-42AB-85C9-B8BD1A5F6D1E}" type="sibTrans" cxnId="{F1B5315A-A163-44A5-9E16-97EA03EA51AA}">
      <dgm:prSet/>
      <dgm:spPr/>
      <dgm:t>
        <a:bodyPr/>
        <a:lstStyle/>
        <a:p>
          <a:endParaRPr lang="pt-BR"/>
        </a:p>
      </dgm:t>
    </dgm:pt>
    <dgm:pt modelId="{3C907AA8-A94B-4E22-A48E-C381E0AE6052}">
      <dgm:prSet phldrT="[Texto]"/>
      <dgm:spPr/>
      <dgm:t>
        <a:bodyPr/>
        <a:lstStyle/>
        <a:p>
          <a:r>
            <a:rPr lang="pt-BR" dirty="0"/>
            <a:t>Critérios de aceitação</a:t>
          </a:r>
        </a:p>
      </dgm:t>
    </dgm:pt>
    <dgm:pt modelId="{709A7A3B-679B-4536-AB8D-2AFE6FA40AFD}" type="parTrans" cxnId="{02F9671A-38C0-4F8E-9B83-60AA5E0CA74B}">
      <dgm:prSet/>
      <dgm:spPr/>
      <dgm:t>
        <a:bodyPr/>
        <a:lstStyle/>
        <a:p>
          <a:endParaRPr lang="pt-BR"/>
        </a:p>
      </dgm:t>
    </dgm:pt>
    <dgm:pt modelId="{36A7F0CF-98ED-47EE-974C-F6041E9B4572}" type="sibTrans" cxnId="{02F9671A-38C0-4F8E-9B83-60AA5E0CA74B}">
      <dgm:prSet/>
      <dgm:spPr/>
      <dgm:t>
        <a:bodyPr/>
        <a:lstStyle/>
        <a:p>
          <a:endParaRPr lang="pt-BR"/>
        </a:p>
      </dgm:t>
    </dgm:pt>
    <dgm:pt modelId="{35A382F7-9850-4D24-B242-9FF113C5F322}">
      <dgm:prSet phldrT="[Texto]"/>
      <dgm:spPr/>
      <dgm:t>
        <a:bodyPr/>
        <a:lstStyle/>
        <a:p>
          <a:r>
            <a:rPr lang="pt-BR" dirty="0"/>
            <a:t>Papeis e responsabilidades</a:t>
          </a:r>
        </a:p>
      </dgm:t>
    </dgm:pt>
    <dgm:pt modelId="{920BA9D9-69A0-4644-8FB8-E01E6023AC10}" type="parTrans" cxnId="{970933F9-B7D3-4F70-A3F1-B97E43111BBB}">
      <dgm:prSet/>
      <dgm:spPr/>
      <dgm:t>
        <a:bodyPr/>
        <a:lstStyle/>
        <a:p>
          <a:endParaRPr lang="pt-BR"/>
        </a:p>
      </dgm:t>
    </dgm:pt>
    <dgm:pt modelId="{6FB2EAF3-55D4-4535-85D8-71C29F247189}" type="sibTrans" cxnId="{970933F9-B7D3-4F70-A3F1-B97E43111BBB}">
      <dgm:prSet/>
      <dgm:spPr/>
      <dgm:t>
        <a:bodyPr/>
        <a:lstStyle/>
        <a:p>
          <a:endParaRPr lang="pt-BR"/>
        </a:p>
      </dgm:t>
    </dgm:pt>
    <dgm:pt modelId="{0A9B9B30-A622-47F6-8A08-7749CFFD5C09}" type="pres">
      <dgm:prSet presAssocID="{1497A3C5-3685-4E6C-AEFB-4FBD89DA9B2F}" presName="CompostProcess" presStyleCnt="0">
        <dgm:presLayoutVars>
          <dgm:dir/>
          <dgm:resizeHandles val="exact"/>
        </dgm:presLayoutVars>
      </dgm:prSet>
      <dgm:spPr/>
    </dgm:pt>
    <dgm:pt modelId="{6C731083-7161-4211-9EF4-C72138A11514}" type="pres">
      <dgm:prSet presAssocID="{1497A3C5-3685-4E6C-AEFB-4FBD89DA9B2F}" presName="arrow" presStyleLbl="bgShp" presStyleIdx="0" presStyleCnt="1" custLinFactNeighborX="1224" custLinFactNeighborY="-366"/>
      <dgm:spPr/>
    </dgm:pt>
    <dgm:pt modelId="{9EF97490-4900-4ED0-A7DD-0B68F2378516}" type="pres">
      <dgm:prSet presAssocID="{1497A3C5-3685-4E6C-AEFB-4FBD89DA9B2F}" presName="linearProcess" presStyleCnt="0"/>
      <dgm:spPr/>
    </dgm:pt>
    <dgm:pt modelId="{C846B34A-E612-436C-9C7B-311B0795646E}" type="pres">
      <dgm:prSet presAssocID="{B8E7BBCD-E1E2-4110-96B7-D4C11CBC6E53}" presName="textNode" presStyleLbl="node1" presStyleIdx="0" presStyleCnt="4">
        <dgm:presLayoutVars>
          <dgm:bulletEnabled val="1"/>
        </dgm:presLayoutVars>
      </dgm:prSet>
      <dgm:spPr/>
    </dgm:pt>
    <dgm:pt modelId="{6BFE7C70-40FF-4111-B79F-1E202B525774}" type="pres">
      <dgm:prSet presAssocID="{63AE116C-DCA9-4390-826B-E52452AE9DA9}" presName="sibTrans" presStyleCnt="0"/>
      <dgm:spPr/>
    </dgm:pt>
    <dgm:pt modelId="{C5921183-16EB-4401-B2DB-16B5BCB796D6}" type="pres">
      <dgm:prSet presAssocID="{FC4E4443-036D-4FFF-BB06-C95F2AA49A2F}" presName="textNode" presStyleLbl="node1" presStyleIdx="1" presStyleCnt="4">
        <dgm:presLayoutVars>
          <dgm:bulletEnabled val="1"/>
        </dgm:presLayoutVars>
      </dgm:prSet>
      <dgm:spPr/>
    </dgm:pt>
    <dgm:pt modelId="{20E6C5A7-DFC2-4F44-92DB-57DA8894D9D8}" type="pres">
      <dgm:prSet presAssocID="{729CD3C2-B87C-42AB-85C9-B8BD1A5F6D1E}" presName="sibTrans" presStyleCnt="0"/>
      <dgm:spPr/>
    </dgm:pt>
    <dgm:pt modelId="{5CFF2AE3-565E-42D2-9BF7-4CD0CF614E0F}" type="pres">
      <dgm:prSet presAssocID="{3C907AA8-A94B-4E22-A48E-C381E0AE6052}" presName="textNode" presStyleLbl="node1" presStyleIdx="2" presStyleCnt="4">
        <dgm:presLayoutVars>
          <dgm:bulletEnabled val="1"/>
        </dgm:presLayoutVars>
      </dgm:prSet>
      <dgm:spPr/>
    </dgm:pt>
    <dgm:pt modelId="{B91B24C0-B645-4AA1-87A5-DC42AC36982D}" type="pres">
      <dgm:prSet presAssocID="{36A7F0CF-98ED-47EE-974C-F6041E9B4572}" presName="sibTrans" presStyleCnt="0"/>
      <dgm:spPr/>
    </dgm:pt>
    <dgm:pt modelId="{D3A9AF65-F500-46A7-95F5-184A413A6DF1}" type="pres">
      <dgm:prSet presAssocID="{35A382F7-9850-4D24-B242-9FF113C5F322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91FA6706-430D-440F-BBF7-056144611612}" type="presOf" srcId="{35A382F7-9850-4D24-B242-9FF113C5F322}" destId="{D3A9AF65-F500-46A7-95F5-184A413A6DF1}" srcOrd="0" destOrd="0" presId="urn:microsoft.com/office/officeart/2005/8/layout/hProcess9"/>
    <dgm:cxn modelId="{02F9671A-38C0-4F8E-9B83-60AA5E0CA74B}" srcId="{1497A3C5-3685-4E6C-AEFB-4FBD89DA9B2F}" destId="{3C907AA8-A94B-4E22-A48E-C381E0AE6052}" srcOrd="2" destOrd="0" parTransId="{709A7A3B-679B-4536-AB8D-2AFE6FA40AFD}" sibTransId="{36A7F0CF-98ED-47EE-974C-F6041E9B4572}"/>
    <dgm:cxn modelId="{6DF23B55-9423-4A13-94F6-12F82DA840ED}" type="presOf" srcId="{B8E7BBCD-E1E2-4110-96B7-D4C11CBC6E53}" destId="{C846B34A-E612-436C-9C7B-311B0795646E}" srcOrd="0" destOrd="0" presId="urn:microsoft.com/office/officeart/2005/8/layout/hProcess9"/>
    <dgm:cxn modelId="{0CFA4678-4137-4B37-A57B-B4A900A31323}" type="presOf" srcId="{1497A3C5-3685-4E6C-AEFB-4FBD89DA9B2F}" destId="{0A9B9B30-A622-47F6-8A08-7749CFFD5C09}" srcOrd="0" destOrd="0" presId="urn:microsoft.com/office/officeart/2005/8/layout/hProcess9"/>
    <dgm:cxn modelId="{F1B5315A-A163-44A5-9E16-97EA03EA51AA}" srcId="{1497A3C5-3685-4E6C-AEFB-4FBD89DA9B2F}" destId="{FC4E4443-036D-4FFF-BB06-C95F2AA49A2F}" srcOrd="1" destOrd="0" parTransId="{2B8B7101-C1A2-4508-8B11-A2748A52CDBE}" sibTransId="{729CD3C2-B87C-42AB-85C9-B8BD1A5F6D1E}"/>
    <dgm:cxn modelId="{6626E788-91AF-4746-824E-6DFC242B0286}" type="presOf" srcId="{FC4E4443-036D-4FFF-BB06-C95F2AA49A2F}" destId="{C5921183-16EB-4401-B2DB-16B5BCB796D6}" srcOrd="0" destOrd="0" presId="urn:microsoft.com/office/officeart/2005/8/layout/hProcess9"/>
    <dgm:cxn modelId="{CE5F35CB-FB1E-4C38-A588-8D4560C6A886}" type="presOf" srcId="{3C907AA8-A94B-4E22-A48E-C381E0AE6052}" destId="{5CFF2AE3-565E-42D2-9BF7-4CD0CF614E0F}" srcOrd="0" destOrd="0" presId="urn:microsoft.com/office/officeart/2005/8/layout/hProcess9"/>
    <dgm:cxn modelId="{970933F9-B7D3-4F70-A3F1-B97E43111BBB}" srcId="{1497A3C5-3685-4E6C-AEFB-4FBD89DA9B2F}" destId="{35A382F7-9850-4D24-B242-9FF113C5F322}" srcOrd="3" destOrd="0" parTransId="{920BA9D9-69A0-4644-8FB8-E01E6023AC10}" sibTransId="{6FB2EAF3-55D4-4535-85D8-71C29F247189}"/>
    <dgm:cxn modelId="{17B3D0FC-CA05-4E0E-A287-10A9EFEF46D9}" srcId="{1497A3C5-3685-4E6C-AEFB-4FBD89DA9B2F}" destId="{B8E7BBCD-E1E2-4110-96B7-D4C11CBC6E53}" srcOrd="0" destOrd="0" parTransId="{5F542C74-95EC-47C1-BDEF-1B03C17B2841}" sibTransId="{63AE116C-DCA9-4390-826B-E52452AE9DA9}"/>
    <dgm:cxn modelId="{726D7F3D-9A82-4586-AA45-26FC28E8479C}" type="presParOf" srcId="{0A9B9B30-A622-47F6-8A08-7749CFFD5C09}" destId="{6C731083-7161-4211-9EF4-C72138A11514}" srcOrd="0" destOrd="0" presId="urn:microsoft.com/office/officeart/2005/8/layout/hProcess9"/>
    <dgm:cxn modelId="{E4717104-1827-4BE1-A332-D7EEE3A77435}" type="presParOf" srcId="{0A9B9B30-A622-47F6-8A08-7749CFFD5C09}" destId="{9EF97490-4900-4ED0-A7DD-0B68F2378516}" srcOrd="1" destOrd="0" presId="urn:microsoft.com/office/officeart/2005/8/layout/hProcess9"/>
    <dgm:cxn modelId="{0DF07F70-FCE2-413D-B0D0-A09E7FAACED8}" type="presParOf" srcId="{9EF97490-4900-4ED0-A7DD-0B68F2378516}" destId="{C846B34A-E612-436C-9C7B-311B0795646E}" srcOrd="0" destOrd="0" presId="urn:microsoft.com/office/officeart/2005/8/layout/hProcess9"/>
    <dgm:cxn modelId="{F582C5FB-34FC-4BAE-A534-A42B10D40073}" type="presParOf" srcId="{9EF97490-4900-4ED0-A7DD-0B68F2378516}" destId="{6BFE7C70-40FF-4111-B79F-1E202B525774}" srcOrd="1" destOrd="0" presId="urn:microsoft.com/office/officeart/2005/8/layout/hProcess9"/>
    <dgm:cxn modelId="{5F7C6D50-95BE-4EC2-946E-1EBDB798E08F}" type="presParOf" srcId="{9EF97490-4900-4ED0-A7DD-0B68F2378516}" destId="{C5921183-16EB-4401-B2DB-16B5BCB796D6}" srcOrd="2" destOrd="0" presId="urn:microsoft.com/office/officeart/2005/8/layout/hProcess9"/>
    <dgm:cxn modelId="{9AC53FA7-D46B-4052-9EA6-217A93C8F9F2}" type="presParOf" srcId="{9EF97490-4900-4ED0-A7DD-0B68F2378516}" destId="{20E6C5A7-DFC2-4F44-92DB-57DA8894D9D8}" srcOrd="3" destOrd="0" presId="urn:microsoft.com/office/officeart/2005/8/layout/hProcess9"/>
    <dgm:cxn modelId="{D78E21AD-F7EB-4DE2-887E-C237FDA14BC2}" type="presParOf" srcId="{9EF97490-4900-4ED0-A7DD-0B68F2378516}" destId="{5CFF2AE3-565E-42D2-9BF7-4CD0CF614E0F}" srcOrd="4" destOrd="0" presId="urn:microsoft.com/office/officeart/2005/8/layout/hProcess9"/>
    <dgm:cxn modelId="{BEF97DA2-A7DA-4620-92D7-1686BEB3624A}" type="presParOf" srcId="{9EF97490-4900-4ED0-A7DD-0B68F2378516}" destId="{B91B24C0-B645-4AA1-87A5-DC42AC36982D}" srcOrd="5" destOrd="0" presId="urn:microsoft.com/office/officeart/2005/8/layout/hProcess9"/>
    <dgm:cxn modelId="{85A7DE5C-500A-4A38-9461-8FDC681EAFB1}" type="presParOf" srcId="{9EF97490-4900-4ED0-A7DD-0B68F2378516}" destId="{D3A9AF65-F500-46A7-95F5-184A413A6DF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88BCC6-D5E9-45DB-A352-BAC60D10F882}" type="doc">
      <dgm:prSet loTypeId="urn:microsoft.com/office/officeart/2005/8/layout/vList4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B68FE9D1-ECF2-40C8-B6E1-AC495CF3C29A}">
      <dgm:prSet phldrT="[Texto]"/>
      <dgm:spPr/>
      <dgm:t>
        <a:bodyPr/>
        <a:lstStyle/>
        <a:p>
          <a:r>
            <a:rPr lang="pt-BR" dirty="0"/>
            <a:t>Políticas</a:t>
          </a:r>
        </a:p>
      </dgm:t>
    </dgm:pt>
    <dgm:pt modelId="{4D156CDD-C330-468F-988C-3BD942769AFA}" type="parTrans" cxnId="{E1C4317D-3013-4311-B4D0-CAA0C45502B4}">
      <dgm:prSet/>
      <dgm:spPr/>
      <dgm:t>
        <a:bodyPr/>
        <a:lstStyle/>
        <a:p>
          <a:endParaRPr lang="pt-BR"/>
        </a:p>
      </dgm:t>
    </dgm:pt>
    <dgm:pt modelId="{4962442D-5383-4CE1-BB21-D13391E688FF}" type="sibTrans" cxnId="{E1C4317D-3013-4311-B4D0-CAA0C45502B4}">
      <dgm:prSet/>
      <dgm:spPr/>
      <dgm:t>
        <a:bodyPr/>
        <a:lstStyle/>
        <a:p>
          <a:endParaRPr lang="pt-BR"/>
        </a:p>
      </dgm:t>
    </dgm:pt>
    <dgm:pt modelId="{D0992DD0-7033-4672-A1F1-8C24B8E20980}">
      <dgm:prSet phldrT="[Texto]"/>
      <dgm:spPr/>
      <dgm:t>
        <a:bodyPr/>
        <a:lstStyle/>
        <a:p>
          <a:r>
            <a:rPr lang="pt-BR" dirty="0"/>
            <a:t>Ferramentas de QA</a:t>
          </a:r>
        </a:p>
      </dgm:t>
    </dgm:pt>
    <dgm:pt modelId="{803B463C-D6AD-4BD4-B417-1182E03AA185}" type="parTrans" cxnId="{2323B5D3-2772-4703-BD54-9D2693877F7F}">
      <dgm:prSet/>
      <dgm:spPr/>
      <dgm:t>
        <a:bodyPr/>
        <a:lstStyle/>
        <a:p>
          <a:endParaRPr lang="pt-BR"/>
        </a:p>
      </dgm:t>
    </dgm:pt>
    <dgm:pt modelId="{678AC4D8-3348-4473-83AF-AB8687A83820}" type="sibTrans" cxnId="{2323B5D3-2772-4703-BD54-9D2693877F7F}">
      <dgm:prSet/>
      <dgm:spPr/>
      <dgm:t>
        <a:bodyPr/>
        <a:lstStyle/>
        <a:p>
          <a:endParaRPr lang="pt-BR"/>
        </a:p>
      </dgm:t>
    </dgm:pt>
    <dgm:pt modelId="{7532AE4F-D3B4-426B-AE2A-5DF22015AB13}">
      <dgm:prSet phldrT="[Texto]"/>
      <dgm:spPr/>
      <dgm:t>
        <a:bodyPr/>
        <a:lstStyle/>
        <a:p>
          <a:r>
            <a:rPr lang="pt-BR" dirty="0"/>
            <a:t>Processos</a:t>
          </a:r>
        </a:p>
      </dgm:t>
    </dgm:pt>
    <dgm:pt modelId="{90FFAAB2-AAD6-49DB-BA36-0044212EC2E0}" type="parTrans" cxnId="{1B403621-022A-43D0-8CEF-C8BC4826B9AF}">
      <dgm:prSet/>
      <dgm:spPr/>
      <dgm:t>
        <a:bodyPr/>
        <a:lstStyle/>
        <a:p>
          <a:endParaRPr lang="pt-BR"/>
        </a:p>
      </dgm:t>
    </dgm:pt>
    <dgm:pt modelId="{EB701D1E-4E16-429E-8460-CAE6D25D4CF4}" type="sibTrans" cxnId="{1B403621-022A-43D0-8CEF-C8BC4826B9AF}">
      <dgm:prSet/>
      <dgm:spPr/>
      <dgm:t>
        <a:bodyPr/>
        <a:lstStyle/>
        <a:p>
          <a:endParaRPr lang="pt-BR"/>
        </a:p>
      </dgm:t>
    </dgm:pt>
    <dgm:pt modelId="{633C9E77-FFDB-4CBD-B057-FCA78543E84D}">
      <dgm:prSet phldrT="[Texto]"/>
      <dgm:spPr/>
      <dgm:t>
        <a:bodyPr/>
        <a:lstStyle/>
        <a:p>
          <a:r>
            <a:rPr lang="pt-BR" dirty="0"/>
            <a:t>Estruturam o trabalho: metodologias ágeis, modelos de maturidade</a:t>
          </a:r>
        </a:p>
      </dgm:t>
    </dgm:pt>
    <dgm:pt modelId="{44E0EBBE-5810-45CE-961F-25853C7656AC}" type="parTrans" cxnId="{03793CA0-3B24-46E6-A2F2-7C3EBB455213}">
      <dgm:prSet/>
      <dgm:spPr/>
      <dgm:t>
        <a:bodyPr/>
        <a:lstStyle/>
        <a:p>
          <a:endParaRPr lang="pt-BR"/>
        </a:p>
      </dgm:t>
    </dgm:pt>
    <dgm:pt modelId="{ECC1777B-BA1F-45B0-A7C7-95927D032184}" type="sibTrans" cxnId="{03793CA0-3B24-46E6-A2F2-7C3EBB455213}">
      <dgm:prSet/>
      <dgm:spPr/>
      <dgm:t>
        <a:bodyPr/>
        <a:lstStyle/>
        <a:p>
          <a:endParaRPr lang="pt-BR"/>
        </a:p>
      </dgm:t>
    </dgm:pt>
    <dgm:pt modelId="{63B216D8-0F85-40E7-AD75-BF65423B0AFD}">
      <dgm:prSet phldrT="[Texto]"/>
      <dgm:spPr/>
      <dgm:t>
        <a:bodyPr/>
        <a:lstStyle/>
        <a:p>
          <a:r>
            <a:rPr lang="pt-BR" dirty="0"/>
            <a:t>Padrões e convenções</a:t>
          </a:r>
        </a:p>
      </dgm:t>
    </dgm:pt>
    <dgm:pt modelId="{8D4E494D-5532-4A8D-B70B-40BB21B5BAEE}" type="parTrans" cxnId="{714F5A5B-10C5-489C-90D8-374E9BAEC8BC}">
      <dgm:prSet/>
      <dgm:spPr/>
      <dgm:t>
        <a:bodyPr/>
        <a:lstStyle/>
        <a:p>
          <a:endParaRPr lang="pt-BR"/>
        </a:p>
      </dgm:t>
    </dgm:pt>
    <dgm:pt modelId="{028C909E-ED40-40FD-973F-3561701E5936}" type="sibTrans" cxnId="{714F5A5B-10C5-489C-90D8-374E9BAEC8BC}">
      <dgm:prSet/>
      <dgm:spPr/>
      <dgm:t>
        <a:bodyPr/>
        <a:lstStyle/>
        <a:p>
          <a:endParaRPr lang="pt-BR"/>
        </a:p>
      </dgm:t>
    </dgm:pt>
    <dgm:pt modelId="{F9451874-C0AE-4B33-A172-65E933185EA4}">
      <dgm:prSet phldrT="[Texto]"/>
      <dgm:spPr/>
      <dgm:t>
        <a:bodyPr/>
        <a:lstStyle/>
        <a:p>
          <a:r>
            <a:rPr lang="pt-BR" dirty="0"/>
            <a:t>Padrões de codificação, de nomenclatura e padrões arquiteturais</a:t>
          </a:r>
        </a:p>
      </dgm:t>
    </dgm:pt>
    <dgm:pt modelId="{781D8D56-9B77-403E-8B09-16F9B3B94BA4}" type="parTrans" cxnId="{AE95A3FE-AB6E-43C7-ADC1-3D1CB9F4B785}">
      <dgm:prSet/>
      <dgm:spPr/>
      <dgm:t>
        <a:bodyPr/>
        <a:lstStyle/>
        <a:p>
          <a:endParaRPr lang="pt-BR"/>
        </a:p>
      </dgm:t>
    </dgm:pt>
    <dgm:pt modelId="{7108C3AB-E198-487F-9B0C-9A5201A00435}" type="sibTrans" cxnId="{AE95A3FE-AB6E-43C7-ADC1-3D1CB9F4B785}">
      <dgm:prSet/>
      <dgm:spPr/>
      <dgm:t>
        <a:bodyPr/>
        <a:lstStyle/>
        <a:p>
          <a:endParaRPr lang="pt-BR"/>
        </a:p>
      </dgm:t>
    </dgm:pt>
    <dgm:pt modelId="{A4A4F64D-7D7C-4C09-A043-802BBC13D28C}">
      <dgm:prSet phldrT="[Texto]"/>
      <dgm:spPr/>
      <dgm:t>
        <a:bodyPr/>
        <a:lstStyle/>
        <a:p>
          <a:r>
            <a:rPr lang="pt-BR" dirty="0"/>
            <a:t>Documentação e relatórios</a:t>
          </a:r>
        </a:p>
      </dgm:t>
    </dgm:pt>
    <dgm:pt modelId="{0D0CB6C2-8253-4508-9EF9-BC9337524F82}" type="parTrans" cxnId="{FFE2252E-D79A-4C7F-A271-F14DCE530438}">
      <dgm:prSet/>
      <dgm:spPr/>
      <dgm:t>
        <a:bodyPr/>
        <a:lstStyle/>
        <a:p>
          <a:endParaRPr lang="pt-BR"/>
        </a:p>
      </dgm:t>
    </dgm:pt>
    <dgm:pt modelId="{68E342A3-FE77-4D75-B747-DF23F717D307}" type="sibTrans" cxnId="{FFE2252E-D79A-4C7F-A271-F14DCE530438}">
      <dgm:prSet/>
      <dgm:spPr/>
      <dgm:t>
        <a:bodyPr/>
        <a:lstStyle/>
        <a:p>
          <a:endParaRPr lang="pt-BR"/>
        </a:p>
      </dgm:t>
    </dgm:pt>
    <dgm:pt modelId="{7FA5D380-92F3-465B-9539-A7B59F79E2C1}">
      <dgm:prSet phldrT="[Texto]"/>
      <dgm:spPr/>
      <dgm:t>
        <a:bodyPr/>
        <a:lstStyle/>
        <a:p>
          <a:r>
            <a:rPr lang="pt-BR" dirty="0"/>
            <a:t>Revisões e auditorias</a:t>
          </a:r>
        </a:p>
      </dgm:t>
    </dgm:pt>
    <dgm:pt modelId="{E088AE48-71DE-4A3D-82B0-6E0BB8EB6BC0}" type="parTrans" cxnId="{62DB4E8A-B40F-4915-93D0-2606A8CB00C2}">
      <dgm:prSet/>
      <dgm:spPr/>
      <dgm:t>
        <a:bodyPr/>
        <a:lstStyle/>
        <a:p>
          <a:endParaRPr lang="pt-BR"/>
        </a:p>
      </dgm:t>
    </dgm:pt>
    <dgm:pt modelId="{C19C3862-392E-4240-995D-A3BC81DB655C}" type="sibTrans" cxnId="{62DB4E8A-B40F-4915-93D0-2606A8CB00C2}">
      <dgm:prSet/>
      <dgm:spPr/>
      <dgm:t>
        <a:bodyPr/>
        <a:lstStyle/>
        <a:p>
          <a:endParaRPr lang="pt-BR"/>
        </a:p>
      </dgm:t>
    </dgm:pt>
    <dgm:pt modelId="{16E2AAE6-8869-4567-9983-B978BB3B56CF}">
      <dgm:prSet phldrT="[Texto]"/>
      <dgm:spPr/>
      <dgm:t>
        <a:bodyPr/>
        <a:lstStyle/>
        <a:p>
          <a:r>
            <a:rPr lang="pt-BR" dirty="0"/>
            <a:t>Treinamento e capacitação</a:t>
          </a:r>
        </a:p>
      </dgm:t>
    </dgm:pt>
    <dgm:pt modelId="{6889C715-702E-49E2-A543-E98A8F7965EB}" type="parTrans" cxnId="{6E3280FC-A754-4D5E-9E63-2A0D9EE8C1B7}">
      <dgm:prSet/>
      <dgm:spPr/>
      <dgm:t>
        <a:bodyPr/>
        <a:lstStyle/>
        <a:p>
          <a:endParaRPr lang="pt-BR"/>
        </a:p>
      </dgm:t>
    </dgm:pt>
    <dgm:pt modelId="{402957E0-9C45-442D-B3A3-C2C26FDBF14D}" type="sibTrans" cxnId="{6E3280FC-A754-4D5E-9E63-2A0D9EE8C1B7}">
      <dgm:prSet/>
      <dgm:spPr/>
      <dgm:t>
        <a:bodyPr/>
        <a:lstStyle/>
        <a:p>
          <a:endParaRPr lang="pt-BR"/>
        </a:p>
      </dgm:t>
    </dgm:pt>
    <dgm:pt modelId="{B362108C-1C6C-478C-ABE2-4BC5F35273FA}">
      <dgm:prSet phldrT="[Texto]"/>
      <dgm:spPr/>
      <dgm:t>
        <a:bodyPr/>
        <a:lstStyle/>
        <a:p>
          <a:r>
            <a:rPr lang="pt-BR" dirty="0"/>
            <a:t>Conformidade a padrões e normas; políticas de qualidade de código</a:t>
          </a:r>
        </a:p>
      </dgm:t>
    </dgm:pt>
    <dgm:pt modelId="{3415C4A7-5259-4DBD-A592-189F2BE50689}" type="parTrans" cxnId="{EEFCCCBF-5370-4FDD-9707-8776127EAFEE}">
      <dgm:prSet/>
      <dgm:spPr/>
      <dgm:t>
        <a:bodyPr/>
        <a:lstStyle/>
        <a:p>
          <a:endParaRPr lang="pt-BR"/>
        </a:p>
      </dgm:t>
    </dgm:pt>
    <dgm:pt modelId="{44BC6DEE-CF73-4B9F-9A05-41BECCAC985F}" type="sibTrans" cxnId="{EEFCCCBF-5370-4FDD-9707-8776127EAFEE}">
      <dgm:prSet/>
      <dgm:spPr/>
      <dgm:t>
        <a:bodyPr/>
        <a:lstStyle/>
        <a:p>
          <a:endParaRPr lang="pt-BR"/>
        </a:p>
      </dgm:t>
    </dgm:pt>
    <dgm:pt modelId="{9CF21BBE-88ED-4702-9B27-90609E2DB285}">
      <dgm:prSet phldrT="[Texto]"/>
      <dgm:spPr/>
      <dgm:t>
        <a:bodyPr/>
        <a:lstStyle/>
        <a:p>
          <a:r>
            <a:rPr lang="pt-BR" dirty="0"/>
            <a:t>Define ferramentas para: CI/CD, testes automatizados, análise estática, etc.</a:t>
          </a:r>
        </a:p>
      </dgm:t>
    </dgm:pt>
    <dgm:pt modelId="{0949CE2A-47A5-49B7-800F-50DE9F84D454}" type="parTrans" cxnId="{CF4107A9-EC24-4997-A907-4AF9E33CE205}">
      <dgm:prSet/>
      <dgm:spPr/>
      <dgm:t>
        <a:bodyPr/>
        <a:lstStyle/>
        <a:p>
          <a:endParaRPr lang="pt-BR"/>
        </a:p>
      </dgm:t>
    </dgm:pt>
    <dgm:pt modelId="{18DA2EF2-37E9-46FB-96BF-FE61195A57F7}" type="sibTrans" cxnId="{CF4107A9-EC24-4997-A907-4AF9E33CE205}">
      <dgm:prSet/>
      <dgm:spPr/>
      <dgm:t>
        <a:bodyPr/>
        <a:lstStyle/>
        <a:p>
          <a:endParaRPr lang="pt-BR"/>
        </a:p>
      </dgm:t>
    </dgm:pt>
    <dgm:pt modelId="{265D24BA-8DC2-4B11-9511-3881CDB74BB6}">
      <dgm:prSet phldrT="[Texto]"/>
      <dgm:spPr/>
      <dgm:t>
        <a:bodyPr/>
        <a:lstStyle/>
        <a:p>
          <a:r>
            <a:rPr lang="pt-BR" dirty="0"/>
            <a:t>Planos de qualidade, de testes, relatórios de defeitos, documentação do processo</a:t>
          </a:r>
        </a:p>
      </dgm:t>
    </dgm:pt>
    <dgm:pt modelId="{6E27F426-3825-4394-A78A-EF720C7AC875}" type="parTrans" cxnId="{4DE32EDB-3F7F-4527-A903-17502263CB0D}">
      <dgm:prSet/>
      <dgm:spPr/>
      <dgm:t>
        <a:bodyPr/>
        <a:lstStyle/>
        <a:p>
          <a:endParaRPr lang="pt-BR"/>
        </a:p>
      </dgm:t>
    </dgm:pt>
    <dgm:pt modelId="{45F2C111-AAE0-44C1-844F-6DEA28F78CEC}" type="sibTrans" cxnId="{4DE32EDB-3F7F-4527-A903-17502263CB0D}">
      <dgm:prSet/>
      <dgm:spPr/>
      <dgm:t>
        <a:bodyPr/>
        <a:lstStyle/>
        <a:p>
          <a:endParaRPr lang="pt-BR"/>
        </a:p>
      </dgm:t>
    </dgm:pt>
    <dgm:pt modelId="{9E52E28F-B0C0-47EE-A2A5-44868EE6816A}">
      <dgm:prSet phldrT="[Texto]"/>
      <dgm:spPr/>
      <dgm:t>
        <a:bodyPr/>
        <a:lstStyle/>
        <a:p>
          <a:r>
            <a:rPr lang="pt-BR" dirty="0"/>
            <a:t>Workshops sobre as práticas, capacitação em normas, revisões de código</a:t>
          </a:r>
        </a:p>
      </dgm:t>
    </dgm:pt>
    <dgm:pt modelId="{84F5DFD3-1277-4B44-86AD-B7D9111492BB}" type="parTrans" cxnId="{952111F3-97DB-4190-B046-DBDC413CD06C}">
      <dgm:prSet/>
      <dgm:spPr/>
      <dgm:t>
        <a:bodyPr/>
        <a:lstStyle/>
        <a:p>
          <a:endParaRPr lang="pt-BR"/>
        </a:p>
      </dgm:t>
    </dgm:pt>
    <dgm:pt modelId="{601C3FC7-3B3A-464B-BA1B-12382F48FB17}" type="sibTrans" cxnId="{952111F3-97DB-4190-B046-DBDC413CD06C}">
      <dgm:prSet/>
      <dgm:spPr/>
      <dgm:t>
        <a:bodyPr/>
        <a:lstStyle/>
        <a:p>
          <a:endParaRPr lang="pt-BR"/>
        </a:p>
      </dgm:t>
    </dgm:pt>
    <dgm:pt modelId="{13C81038-B615-4643-98D6-1492E43233F8}">
      <dgm:prSet phldrT="[Texto]"/>
      <dgm:spPr/>
      <dgm:t>
        <a:bodyPr/>
        <a:lstStyle/>
        <a:p>
          <a:r>
            <a:rPr lang="pt-BR" dirty="0"/>
            <a:t>Auditorias internas, retrospectivas, lições aprendidas, revisão de código</a:t>
          </a:r>
        </a:p>
      </dgm:t>
    </dgm:pt>
    <dgm:pt modelId="{14F9AC76-CAC9-42AB-813C-A4AEB2E7A768}" type="parTrans" cxnId="{73DD738B-1775-4B47-9D86-C82A4F1CAF32}">
      <dgm:prSet/>
      <dgm:spPr/>
      <dgm:t>
        <a:bodyPr/>
        <a:lstStyle/>
        <a:p>
          <a:endParaRPr lang="pt-BR"/>
        </a:p>
      </dgm:t>
    </dgm:pt>
    <dgm:pt modelId="{4F3D9A43-8CE4-47E3-A715-F268FCA2C24C}" type="sibTrans" cxnId="{73DD738B-1775-4B47-9D86-C82A4F1CAF32}">
      <dgm:prSet/>
      <dgm:spPr/>
      <dgm:t>
        <a:bodyPr/>
        <a:lstStyle/>
        <a:p>
          <a:endParaRPr lang="pt-BR"/>
        </a:p>
      </dgm:t>
    </dgm:pt>
    <dgm:pt modelId="{5273EDAC-6DF8-41FF-80AE-6FD841F3BCA6}" type="pres">
      <dgm:prSet presAssocID="{5288BCC6-D5E9-45DB-A352-BAC60D10F882}" presName="linear" presStyleCnt="0">
        <dgm:presLayoutVars>
          <dgm:dir/>
          <dgm:resizeHandles val="exact"/>
        </dgm:presLayoutVars>
      </dgm:prSet>
      <dgm:spPr/>
    </dgm:pt>
    <dgm:pt modelId="{52A4DFDF-AC78-4CE1-87FE-A1E4168C3C5D}" type="pres">
      <dgm:prSet presAssocID="{B68FE9D1-ECF2-40C8-B6E1-AC495CF3C29A}" presName="comp" presStyleCnt="0"/>
      <dgm:spPr/>
    </dgm:pt>
    <dgm:pt modelId="{AC2FB313-80B2-4C48-9546-E17354659C14}" type="pres">
      <dgm:prSet presAssocID="{B68FE9D1-ECF2-40C8-B6E1-AC495CF3C29A}" presName="box" presStyleLbl="node1" presStyleIdx="0" presStyleCnt="7"/>
      <dgm:spPr/>
    </dgm:pt>
    <dgm:pt modelId="{C84A1217-E0CF-4B3D-AF43-441ED808C2AF}" type="pres">
      <dgm:prSet presAssocID="{B68FE9D1-ECF2-40C8-B6E1-AC495CF3C29A}" presName="img" presStyleLbl="fgImgPlace1" presStyleIdx="0" presStyleCnt="7"/>
      <dgm:spPr/>
    </dgm:pt>
    <dgm:pt modelId="{D6347EED-6AAF-4F13-A614-4566646E89FA}" type="pres">
      <dgm:prSet presAssocID="{B68FE9D1-ECF2-40C8-B6E1-AC495CF3C29A}" presName="text" presStyleLbl="node1" presStyleIdx="0" presStyleCnt="7">
        <dgm:presLayoutVars>
          <dgm:bulletEnabled val="1"/>
        </dgm:presLayoutVars>
      </dgm:prSet>
      <dgm:spPr/>
    </dgm:pt>
    <dgm:pt modelId="{2D14035E-83C2-495F-A62D-EC63525591BF}" type="pres">
      <dgm:prSet presAssocID="{4962442D-5383-4CE1-BB21-D13391E688FF}" presName="spacer" presStyleCnt="0"/>
      <dgm:spPr/>
    </dgm:pt>
    <dgm:pt modelId="{8F94F8E9-9471-4CD5-B523-98F8EDF5CF14}" type="pres">
      <dgm:prSet presAssocID="{7532AE4F-D3B4-426B-AE2A-5DF22015AB13}" presName="comp" presStyleCnt="0"/>
      <dgm:spPr/>
    </dgm:pt>
    <dgm:pt modelId="{61CD32A8-8B7C-424B-918A-9C3F34B4F421}" type="pres">
      <dgm:prSet presAssocID="{7532AE4F-D3B4-426B-AE2A-5DF22015AB13}" presName="box" presStyleLbl="node1" presStyleIdx="1" presStyleCnt="7"/>
      <dgm:spPr/>
    </dgm:pt>
    <dgm:pt modelId="{7B5851FA-A5AB-440C-9EEE-069AF9110CED}" type="pres">
      <dgm:prSet presAssocID="{7532AE4F-D3B4-426B-AE2A-5DF22015AB13}" presName="img" presStyleLbl="fgImgPlace1" presStyleIdx="1" presStyleCnt="7"/>
      <dgm:spPr/>
    </dgm:pt>
    <dgm:pt modelId="{FB79EF7D-1F88-4A05-A166-4615F5ABC02A}" type="pres">
      <dgm:prSet presAssocID="{7532AE4F-D3B4-426B-AE2A-5DF22015AB13}" presName="text" presStyleLbl="node1" presStyleIdx="1" presStyleCnt="7">
        <dgm:presLayoutVars>
          <dgm:bulletEnabled val="1"/>
        </dgm:presLayoutVars>
      </dgm:prSet>
      <dgm:spPr/>
    </dgm:pt>
    <dgm:pt modelId="{448B883D-44FF-4A61-AE83-32CA47F9FA9B}" type="pres">
      <dgm:prSet presAssocID="{EB701D1E-4E16-429E-8460-CAE6D25D4CF4}" presName="spacer" presStyleCnt="0"/>
      <dgm:spPr/>
    </dgm:pt>
    <dgm:pt modelId="{4A527A91-3C8A-4C8E-B4BC-F727C4E08962}" type="pres">
      <dgm:prSet presAssocID="{63B216D8-0F85-40E7-AD75-BF65423B0AFD}" presName="comp" presStyleCnt="0"/>
      <dgm:spPr/>
    </dgm:pt>
    <dgm:pt modelId="{C301870A-54A2-4D47-981F-FA8D5418D793}" type="pres">
      <dgm:prSet presAssocID="{63B216D8-0F85-40E7-AD75-BF65423B0AFD}" presName="box" presStyleLbl="node1" presStyleIdx="2" presStyleCnt="7"/>
      <dgm:spPr/>
    </dgm:pt>
    <dgm:pt modelId="{6C5397B4-D446-4082-95FA-7463FCD3E51A}" type="pres">
      <dgm:prSet presAssocID="{63B216D8-0F85-40E7-AD75-BF65423B0AFD}" presName="img" presStyleLbl="fgImgPlace1" presStyleIdx="2" presStyleCnt="7"/>
      <dgm:spPr/>
    </dgm:pt>
    <dgm:pt modelId="{D98C9B2B-20E5-4B3A-A4D7-AC868092B283}" type="pres">
      <dgm:prSet presAssocID="{63B216D8-0F85-40E7-AD75-BF65423B0AFD}" presName="text" presStyleLbl="node1" presStyleIdx="2" presStyleCnt="7">
        <dgm:presLayoutVars>
          <dgm:bulletEnabled val="1"/>
        </dgm:presLayoutVars>
      </dgm:prSet>
      <dgm:spPr/>
    </dgm:pt>
    <dgm:pt modelId="{82C84E31-BBC5-40FE-AE0E-DE5A44F8CDB6}" type="pres">
      <dgm:prSet presAssocID="{028C909E-ED40-40FD-973F-3561701E5936}" presName="spacer" presStyleCnt="0"/>
      <dgm:spPr/>
    </dgm:pt>
    <dgm:pt modelId="{BC264614-C935-407F-AC78-A14A53D90B92}" type="pres">
      <dgm:prSet presAssocID="{A4A4F64D-7D7C-4C09-A043-802BBC13D28C}" presName="comp" presStyleCnt="0"/>
      <dgm:spPr/>
    </dgm:pt>
    <dgm:pt modelId="{BAAEBE35-D0C5-414F-B2C9-30D674114EAD}" type="pres">
      <dgm:prSet presAssocID="{A4A4F64D-7D7C-4C09-A043-802BBC13D28C}" presName="box" presStyleLbl="node1" presStyleIdx="3" presStyleCnt="7"/>
      <dgm:spPr/>
    </dgm:pt>
    <dgm:pt modelId="{B7A3639E-B525-4C76-9736-7CA97DE91D6D}" type="pres">
      <dgm:prSet presAssocID="{A4A4F64D-7D7C-4C09-A043-802BBC13D28C}" presName="img" presStyleLbl="fgImgPlace1" presStyleIdx="3" presStyleCnt="7"/>
      <dgm:spPr/>
    </dgm:pt>
    <dgm:pt modelId="{E00D6EDD-E76F-4C81-BB2E-937681E589D3}" type="pres">
      <dgm:prSet presAssocID="{A4A4F64D-7D7C-4C09-A043-802BBC13D28C}" presName="text" presStyleLbl="node1" presStyleIdx="3" presStyleCnt="7">
        <dgm:presLayoutVars>
          <dgm:bulletEnabled val="1"/>
        </dgm:presLayoutVars>
      </dgm:prSet>
      <dgm:spPr/>
    </dgm:pt>
    <dgm:pt modelId="{D6FB8441-C1A5-411A-B62A-DC723D3A305F}" type="pres">
      <dgm:prSet presAssocID="{68E342A3-FE77-4D75-B747-DF23F717D307}" presName="spacer" presStyleCnt="0"/>
      <dgm:spPr/>
    </dgm:pt>
    <dgm:pt modelId="{87D280CB-982B-4493-A699-89B44CBC4D1B}" type="pres">
      <dgm:prSet presAssocID="{7FA5D380-92F3-465B-9539-A7B59F79E2C1}" presName="comp" presStyleCnt="0"/>
      <dgm:spPr/>
    </dgm:pt>
    <dgm:pt modelId="{032EC77C-6907-4E50-BFC3-BAD3BE141119}" type="pres">
      <dgm:prSet presAssocID="{7FA5D380-92F3-465B-9539-A7B59F79E2C1}" presName="box" presStyleLbl="node1" presStyleIdx="4" presStyleCnt="7"/>
      <dgm:spPr/>
    </dgm:pt>
    <dgm:pt modelId="{5B1A632B-5BB8-4A42-86E1-F191318D151F}" type="pres">
      <dgm:prSet presAssocID="{7FA5D380-92F3-465B-9539-A7B59F79E2C1}" presName="img" presStyleLbl="fgImgPlace1" presStyleIdx="4" presStyleCnt="7"/>
      <dgm:spPr/>
    </dgm:pt>
    <dgm:pt modelId="{C9007BFA-A2A6-4FDF-A8CE-EFF3D02A0B4B}" type="pres">
      <dgm:prSet presAssocID="{7FA5D380-92F3-465B-9539-A7B59F79E2C1}" presName="text" presStyleLbl="node1" presStyleIdx="4" presStyleCnt="7">
        <dgm:presLayoutVars>
          <dgm:bulletEnabled val="1"/>
        </dgm:presLayoutVars>
      </dgm:prSet>
      <dgm:spPr/>
    </dgm:pt>
    <dgm:pt modelId="{98E07E8C-890F-4C86-A0B2-4332E5CAB252}" type="pres">
      <dgm:prSet presAssocID="{C19C3862-392E-4240-995D-A3BC81DB655C}" presName="spacer" presStyleCnt="0"/>
      <dgm:spPr/>
    </dgm:pt>
    <dgm:pt modelId="{506921AE-3698-43C2-ACB7-F1F24DA4C1BA}" type="pres">
      <dgm:prSet presAssocID="{16E2AAE6-8869-4567-9983-B978BB3B56CF}" presName="comp" presStyleCnt="0"/>
      <dgm:spPr/>
    </dgm:pt>
    <dgm:pt modelId="{08A51260-0BA0-4135-97FE-3D71C4DCE4A2}" type="pres">
      <dgm:prSet presAssocID="{16E2AAE6-8869-4567-9983-B978BB3B56CF}" presName="box" presStyleLbl="node1" presStyleIdx="5" presStyleCnt="7"/>
      <dgm:spPr/>
    </dgm:pt>
    <dgm:pt modelId="{64E18F9B-CEEC-4813-8E06-7BF07E1038B0}" type="pres">
      <dgm:prSet presAssocID="{16E2AAE6-8869-4567-9983-B978BB3B56CF}" presName="img" presStyleLbl="fgImgPlace1" presStyleIdx="5" presStyleCnt="7"/>
      <dgm:spPr/>
    </dgm:pt>
    <dgm:pt modelId="{B1FDB041-8D09-4097-B603-ECF05AA82638}" type="pres">
      <dgm:prSet presAssocID="{16E2AAE6-8869-4567-9983-B978BB3B56CF}" presName="text" presStyleLbl="node1" presStyleIdx="5" presStyleCnt="7">
        <dgm:presLayoutVars>
          <dgm:bulletEnabled val="1"/>
        </dgm:presLayoutVars>
      </dgm:prSet>
      <dgm:spPr/>
    </dgm:pt>
    <dgm:pt modelId="{15F1C7F8-DC42-4167-8381-2673CDE89227}" type="pres">
      <dgm:prSet presAssocID="{402957E0-9C45-442D-B3A3-C2C26FDBF14D}" presName="spacer" presStyleCnt="0"/>
      <dgm:spPr/>
    </dgm:pt>
    <dgm:pt modelId="{A07B3FA5-AE79-438A-86EE-6F1CAA0FA3A2}" type="pres">
      <dgm:prSet presAssocID="{D0992DD0-7033-4672-A1F1-8C24B8E20980}" presName="comp" presStyleCnt="0"/>
      <dgm:spPr/>
    </dgm:pt>
    <dgm:pt modelId="{004ADDE4-E383-47C3-B631-4ACD1F9887D4}" type="pres">
      <dgm:prSet presAssocID="{D0992DD0-7033-4672-A1F1-8C24B8E20980}" presName="box" presStyleLbl="node1" presStyleIdx="6" presStyleCnt="7"/>
      <dgm:spPr/>
    </dgm:pt>
    <dgm:pt modelId="{3631DF3D-5973-4BFC-A64D-03530B770490}" type="pres">
      <dgm:prSet presAssocID="{D0992DD0-7033-4672-A1F1-8C24B8E20980}" presName="img" presStyleLbl="fgImgPlace1" presStyleIdx="6" presStyleCnt="7"/>
      <dgm:spPr/>
    </dgm:pt>
    <dgm:pt modelId="{A0CB793D-00CC-41F7-ACA1-8D4AE8E828F3}" type="pres">
      <dgm:prSet presAssocID="{D0992DD0-7033-4672-A1F1-8C24B8E20980}" presName="text" presStyleLbl="node1" presStyleIdx="6" presStyleCnt="7">
        <dgm:presLayoutVars>
          <dgm:bulletEnabled val="1"/>
        </dgm:presLayoutVars>
      </dgm:prSet>
      <dgm:spPr/>
    </dgm:pt>
  </dgm:ptLst>
  <dgm:cxnLst>
    <dgm:cxn modelId="{AD6F3010-8B0C-439C-9770-EF4A97EC776A}" type="presOf" srcId="{16E2AAE6-8869-4567-9983-B978BB3B56CF}" destId="{B1FDB041-8D09-4097-B603-ECF05AA82638}" srcOrd="1" destOrd="0" presId="urn:microsoft.com/office/officeart/2005/8/layout/vList4"/>
    <dgm:cxn modelId="{23ECCF15-8C68-4DE9-AA1F-08BAFE935B49}" type="presOf" srcId="{B362108C-1C6C-478C-ABE2-4BC5F35273FA}" destId="{AC2FB313-80B2-4C48-9546-E17354659C14}" srcOrd="0" destOrd="1" presId="urn:microsoft.com/office/officeart/2005/8/layout/vList4"/>
    <dgm:cxn modelId="{1B403621-022A-43D0-8CEF-C8BC4826B9AF}" srcId="{5288BCC6-D5E9-45DB-A352-BAC60D10F882}" destId="{7532AE4F-D3B4-426B-AE2A-5DF22015AB13}" srcOrd="1" destOrd="0" parTransId="{90FFAAB2-AAD6-49DB-BA36-0044212EC2E0}" sibTransId="{EB701D1E-4E16-429E-8460-CAE6D25D4CF4}"/>
    <dgm:cxn modelId="{0EA1CB2A-E631-46F7-AA36-926BB79F62BA}" type="presOf" srcId="{A4A4F64D-7D7C-4C09-A043-802BBC13D28C}" destId="{E00D6EDD-E76F-4C81-BB2E-937681E589D3}" srcOrd="1" destOrd="0" presId="urn:microsoft.com/office/officeart/2005/8/layout/vList4"/>
    <dgm:cxn modelId="{9E6A472D-00D1-478A-955D-65CEB0B2C80A}" type="presOf" srcId="{265D24BA-8DC2-4B11-9511-3881CDB74BB6}" destId="{E00D6EDD-E76F-4C81-BB2E-937681E589D3}" srcOrd="1" destOrd="1" presId="urn:microsoft.com/office/officeart/2005/8/layout/vList4"/>
    <dgm:cxn modelId="{FFE2252E-D79A-4C7F-A271-F14DCE530438}" srcId="{5288BCC6-D5E9-45DB-A352-BAC60D10F882}" destId="{A4A4F64D-7D7C-4C09-A043-802BBC13D28C}" srcOrd="3" destOrd="0" parTransId="{0D0CB6C2-8253-4508-9EF9-BC9337524F82}" sibTransId="{68E342A3-FE77-4D75-B747-DF23F717D307}"/>
    <dgm:cxn modelId="{98934D34-13DE-47F3-9FB4-19E78AAD150F}" type="presOf" srcId="{13C81038-B615-4643-98D6-1492E43233F8}" destId="{C9007BFA-A2A6-4FDF-A8CE-EFF3D02A0B4B}" srcOrd="1" destOrd="1" presId="urn:microsoft.com/office/officeart/2005/8/layout/vList4"/>
    <dgm:cxn modelId="{E21FCA34-502C-47AB-B10C-C23675E78FA5}" type="presOf" srcId="{63B216D8-0F85-40E7-AD75-BF65423B0AFD}" destId="{C301870A-54A2-4D47-981F-FA8D5418D793}" srcOrd="0" destOrd="0" presId="urn:microsoft.com/office/officeart/2005/8/layout/vList4"/>
    <dgm:cxn modelId="{714F5A5B-10C5-489C-90D8-374E9BAEC8BC}" srcId="{5288BCC6-D5E9-45DB-A352-BAC60D10F882}" destId="{63B216D8-0F85-40E7-AD75-BF65423B0AFD}" srcOrd="2" destOrd="0" parTransId="{8D4E494D-5532-4A8D-B70B-40BB21B5BAEE}" sibTransId="{028C909E-ED40-40FD-973F-3561701E5936}"/>
    <dgm:cxn modelId="{ABA82161-B878-4BB7-9790-50BDA8E70459}" type="presOf" srcId="{7532AE4F-D3B4-426B-AE2A-5DF22015AB13}" destId="{61CD32A8-8B7C-424B-918A-9C3F34B4F421}" srcOrd="0" destOrd="0" presId="urn:microsoft.com/office/officeart/2005/8/layout/vList4"/>
    <dgm:cxn modelId="{B5455861-E93C-42FE-8161-42BE9534EA1C}" type="presOf" srcId="{D0992DD0-7033-4672-A1F1-8C24B8E20980}" destId="{A0CB793D-00CC-41F7-ACA1-8D4AE8E828F3}" srcOrd="1" destOrd="0" presId="urn:microsoft.com/office/officeart/2005/8/layout/vList4"/>
    <dgm:cxn modelId="{25B26347-2255-49BA-8B01-EFBA3D1DA87F}" type="presOf" srcId="{D0992DD0-7033-4672-A1F1-8C24B8E20980}" destId="{004ADDE4-E383-47C3-B631-4ACD1F9887D4}" srcOrd="0" destOrd="0" presId="urn:microsoft.com/office/officeart/2005/8/layout/vList4"/>
    <dgm:cxn modelId="{FC3BB667-D26F-4D13-98F2-A73EA7DE9C7D}" type="presOf" srcId="{63B216D8-0F85-40E7-AD75-BF65423B0AFD}" destId="{D98C9B2B-20E5-4B3A-A4D7-AC868092B283}" srcOrd="1" destOrd="0" presId="urn:microsoft.com/office/officeart/2005/8/layout/vList4"/>
    <dgm:cxn modelId="{05D55B4F-30A3-4EE8-A4BB-CED204DC696C}" type="presOf" srcId="{5288BCC6-D5E9-45DB-A352-BAC60D10F882}" destId="{5273EDAC-6DF8-41FF-80AE-6FD841F3BCA6}" srcOrd="0" destOrd="0" presId="urn:microsoft.com/office/officeart/2005/8/layout/vList4"/>
    <dgm:cxn modelId="{C5614E7C-69AA-4611-9404-92F83C03DDF4}" type="presOf" srcId="{7532AE4F-D3B4-426B-AE2A-5DF22015AB13}" destId="{FB79EF7D-1F88-4A05-A166-4615F5ABC02A}" srcOrd="1" destOrd="0" presId="urn:microsoft.com/office/officeart/2005/8/layout/vList4"/>
    <dgm:cxn modelId="{E1C4317D-3013-4311-B4D0-CAA0C45502B4}" srcId="{5288BCC6-D5E9-45DB-A352-BAC60D10F882}" destId="{B68FE9D1-ECF2-40C8-B6E1-AC495CF3C29A}" srcOrd="0" destOrd="0" parTransId="{4D156CDD-C330-468F-988C-3BD942769AFA}" sibTransId="{4962442D-5383-4CE1-BB21-D13391E688FF}"/>
    <dgm:cxn modelId="{8A1C7683-978D-45DA-A66E-7E24877C6480}" type="presOf" srcId="{633C9E77-FFDB-4CBD-B057-FCA78543E84D}" destId="{61CD32A8-8B7C-424B-918A-9C3F34B4F421}" srcOrd="0" destOrd="1" presId="urn:microsoft.com/office/officeart/2005/8/layout/vList4"/>
    <dgm:cxn modelId="{62DB4E8A-B40F-4915-93D0-2606A8CB00C2}" srcId="{5288BCC6-D5E9-45DB-A352-BAC60D10F882}" destId="{7FA5D380-92F3-465B-9539-A7B59F79E2C1}" srcOrd="4" destOrd="0" parTransId="{E088AE48-71DE-4A3D-82B0-6E0BB8EB6BC0}" sibTransId="{C19C3862-392E-4240-995D-A3BC81DB655C}"/>
    <dgm:cxn modelId="{73DD738B-1775-4B47-9D86-C82A4F1CAF32}" srcId="{7FA5D380-92F3-465B-9539-A7B59F79E2C1}" destId="{13C81038-B615-4643-98D6-1492E43233F8}" srcOrd="0" destOrd="0" parTransId="{14F9AC76-CAC9-42AB-813C-A4AEB2E7A768}" sibTransId="{4F3D9A43-8CE4-47E3-A715-F268FCA2C24C}"/>
    <dgm:cxn modelId="{E6A44492-EEA9-4E5D-B18C-AAFAE6F16B97}" type="presOf" srcId="{265D24BA-8DC2-4B11-9511-3881CDB74BB6}" destId="{BAAEBE35-D0C5-414F-B2C9-30D674114EAD}" srcOrd="0" destOrd="1" presId="urn:microsoft.com/office/officeart/2005/8/layout/vList4"/>
    <dgm:cxn modelId="{54B0B09C-3202-48F0-B40A-1CFD69D3B0EE}" type="presOf" srcId="{7FA5D380-92F3-465B-9539-A7B59F79E2C1}" destId="{C9007BFA-A2A6-4FDF-A8CE-EFF3D02A0B4B}" srcOrd="1" destOrd="0" presId="urn:microsoft.com/office/officeart/2005/8/layout/vList4"/>
    <dgm:cxn modelId="{D0EA0CA0-4149-45B6-8F2D-07BF1997A354}" type="presOf" srcId="{9E52E28F-B0C0-47EE-A2A5-44868EE6816A}" destId="{08A51260-0BA0-4135-97FE-3D71C4DCE4A2}" srcOrd="0" destOrd="1" presId="urn:microsoft.com/office/officeart/2005/8/layout/vList4"/>
    <dgm:cxn modelId="{03793CA0-3B24-46E6-A2F2-7C3EBB455213}" srcId="{7532AE4F-D3B4-426B-AE2A-5DF22015AB13}" destId="{633C9E77-FFDB-4CBD-B057-FCA78543E84D}" srcOrd="0" destOrd="0" parTransId="{44E0EBBE-5810-45CE-961F-25853C7656AC}" sibTransId="{ECC1777B-BA1F-45B0-A7C7-95927D032184}"/>
    <dgm:cxn modelId="{636B59A0-2876-4C86-A18B-2771C731E296}" type="presOf" srcId="{7FA5D380-92F3-465B-9539-A7B59F79E2C1}" destId="{032EC77C-6907-4E50-BFC3-BAD3BE141119}" srcOrd="0" destOrd="0" presId="urn:microsoft.com/office/officeart/2005/8/layout/vList4"/>
    <dgm:cxn modelId="{EA8AF3A2-67D8-4063-82E5-CB91CC3D4B9B}" type="presOf" srcId="{633C9E77-FFDB-4CBD-B057-FCA78543E84D}" destId="{FB79EF7D-1F88-4A05-A166-4615F5ABC02A}" srcOrd="1" destOrd="1" presId="urn:microsoft.com/office/officeart/2005/8/layout/vList4"/>
    <dgm:cxn modelId="{CF4107A9-EC24-4997-A907-4AF9E33CE205}" srcId="{D0992DD0-7033-4672-A1F1-8C24B8E20980}" destId="{9CF21BBE-88ED-4702-9B27-90609E2DB285}" srcOrd="0" destOrd="0" parTransId="{0949CE2A-47A5-49B7-800F-50DE9F84D454}" sibTransId="{18DA2EF2-37E9-46FB-96BF-FE61195A57F7}"/>
    <dgm:cxn modelId="{AD74CCB4-EE6D-451A-9B88-0DDCE8D0D7D9}" type="presOf" srcId="{9CF21BBE-88ED-4702-9B27-90609E2DB285}" destId="{A0CB793D-00CC-41F7-ACA1-8D4AE8E828F3}" srcOrd="1" destOrd="1" presId="urn:microsoft.com/office/officeart/2005/8/layout/vList4"/>
    <dgm:cxn modelId="{5008B8B5-F2E3-4FCF-8B6F-9BD96459D2F9}" type="presOf" srcId="{9CF21BBE-88ED-4702-9B27-90609E2DB285}" destId="{004ADDE4-E383-47C3-B631-4ACD1F9887D4}" srcOrd="0" destOrd="1" presId="urn:microsoft.com/office/officeart/2005/8/layout/vList4"/>
    <dgm:cxn modelId="{040E64BF-9B12-45FB-AA1E-8ECCD542C46F}" type="presOf" srcId="{13C81038-B615-4643-98D6-1492E43233F8}" destId="{032EC77C-6907-4E50-BFC3-BAD3BE141119}" srcOrd="0" destOrd="1" presId="urn:microsoft.com/office/officeart/2005/8/layout/vList4"/>
    <dgm:cxn modelId="{EEFCCCBF-5370-4FDD-9707-8776127EAFEE}" srcId="{B68FE9D1-ECF2-40C8-B6E1-AC495CF3C29A}" destId="{B362108C-1C6C-478C-ABE2-4BC5F35273FA}" srcOrd="0" destOrd="0" parTransId="{3415C4A7-5259-4DBD-A592-189F2BE50689}" sibTransId="{44BC6DEE-CF73-4B9F-9A05-41BECCAC985F}"/>
    <dgm:cxn modelId="{2323B5D3-2772-4703-BD54-9D2693877F7F}" srcId="{5288BCC6-D5E9-45DB-A352-BAC60D10F882}" destId="{D0992DD0-7033-4672-A1F1-8C24B8E20980}" srcOrd="6" destOrd="0" parTransId="{803B463C-D6AD-4BD4-B417-1182E03AA185}" sibTransId="{678AC4D8-3348-4473-83AF-AB8687A83820}"/>
    <dgm:cxn modelId="{B2E4A6D6-E305-45F3-BCF4-9D42571D3C86}" type="presOf" srcId="{9E52E28F-B0C0-47EE-A2A5-44868EE6816A}" destId="{B1FDB041-8D09-4097-B603-ECF05AA82638}" srcOrd="1" destOrd="1" presId="urn:microsoft.com/office/officeart/2005/8/layout/vList4"/>
    <dgm:cxn modelId="{E9E5FDD6-41B0-4F5A-9089-9D9C42BF4654}" type="presOf" srcId="{F9451874-C0AE-4B33-A172-65E933185EA4}" destId="{D98C9B2B-20E5-4B3A-A4D7-AC868092B283}" srcOrd="1" destOrd="1" presId="urn:microsoft.com/office/officeart/2005/8/layout/vList4"/>
    <dgm:cxn modelId="{661289D9-F2D3-44CF-959D-BAD8DB012A9E}" type="presOf" srcId="{B68FE9D1-ECF2-40C8-B6E1-AC495CF3C29A}" destId="{AC2FB313-80B2-4C48-9546-E17354659C14}" srcOrd="0" destOrd="0" presId="urn:microsoft.com/office/officeart/2005/8/layout/vList4"/>
    <dgm:cxn modelId="{4DE32EDB-3F7F-4527-A903-17502263CB0D}" srcId="{A4A4F64D-7D7C-4C09-A043-802BBC13D28C}" destId="{265D24BA-8DC2-4B11-9511-3881CDB74BB6}" srcOrd="0" destOrd="0" parTransId="{6E27F426-3825-4394-A78A-EF720C7AC875}" sibTransId="{45F2C111-AAE0-44C1-844F-6DEA28F78CEC}"/>
    <dgm:cxn modelId="{2DFBEDDF-A6E8-42ED-83CA-0353AEE34833}" type="presOf" srcId="{A4A4F64D-7D7C-4C09-A043-802BBC13D28C}" destId="{BAAEBE35-D0C5-414F-B2C9-30D674114EAD}" srcOrd="0" destOrd="0" presId="urn:microsoft.com/office/officeart/2005/8/layout/vList4"/>
    <dgm:cxn modelId="{D9BB9CE7-86E4-4D51-88C4-654C411C4EFA}" type="presOf" srcId="{F9451874-C0AE-4B33-A172-65E933185EA4}" destId="{C301870A-54A2-4D47-981F-FA8D5418D793}" srcOrd="0" destOrd="1" presId="urn:microsoft.com/office/officeart/2005/8/layout/vList4"/>
    <dgm:cxn modelId="{279DB1E8-4A9B-4097-B395-8A1600ED4130}" type="presOf" srcId="{B68FE9D1-ECF2-40C8-B6E1-AC495CF3C29A}" destId="{D6347EED-6AAF-4F13-A614-4566646E89FA}" srcOrd="1" destOrd="0" presId="urn:microsoft.com/office/officeart/2005/8/layout/vList4"/>
    <dgm:cxn modelId="{94891BEA-A173-4FF7-A1C7-BC6A6B8927AD}" type="presOf" srcId="{B362108C-1C6C-478C-ABE2-4BC5F35273FA}" destId="{D6347EED-6AAF-4F13-A614-4566646E89FA}" srcOrd="1" destOrd="1" presId="urn:microsoft.com/office/officeart/2005/8/layout/vList4"/>
    <dgm:cxn modelId="{952111F3-97DB-4190-B046-DBDC413CD06C}" srcId="{16E2AAE6-8869-4567-9983-B978BB3B56CF}" destId="{9E52E28F-B0C0-47EE-A2A5-44868EE6816A}" srcOrd="0" destOrd="0" parTransId="{84F5DFD3-1277-4B44-86AD-B7D9111492BB}" sibTransId="{601C3FC7-3B3A-464B-BA1B-12382F48FB17}"/>
    <dgm:cxn modelId="{6E3280FC-A754-4D5E-9E63-2A0D9EE8C1B7}" srcId="{5288BCC6-D5E9-45DB-A352-BAC60D10F882}" destId="{16E2AAE6-8869-4567-9983-B978BB3B56CF}" srcOrd="5" destOrd="0" parTransId="{6889C715-702E-49E2-A543-E98A8F7965EB}" sibTransId="{402957E0-9C45-442D-B3A3-C2C26FDBF14D}"/>
    <dgm:cxn modelId="{59BE8CFE-0BAD-47ED-8BF1-3DB09FEED5BE}" type="presOf" srcId="{16E2AAE6-8869-4567-9983-B978BB3B56CF}" destId="{08A51260-0BA0-4135-97FE-3D71C4DCE4A2}" srcOrd="0" destOrd="0" presId="urn:microsoft.com/office/officeart/2005/8/layout/vList4"/>
    <dgm:cxn modelId="{AE95A3FE-AB6E-43C7-ADC1-3D1CB9F4B785}" srcId="{63B216D8-0F85-40E7-AD75-BF65423B0AFD}" destId="{F9451874-C0AE-4B33-A172-65E933185EA4}" srcOrd="0" destOrd="0" parTransId="{781D8D56-9B77-403E-8B09-16F9B3B94BA4}" sibTransId="{7108C3AB-E198-487F-9B0C-9A5201A00435}"/>
    <dgm:cxn modelId="{B189E982-8263-4C96-97C0-DAE715C2F0AF}" type="presParOf" srcId="{5273EDAC-6DF8-41FF-80AE-6FD841F3BCA6}" destId="{52A4DFDF-AC78-4CE1-87FE-A1E4168C3C5D}" srcOrd="0" destOrd="0" presId="urn:microsoft.com/office/officeart/2005/8/layout/vList4"/>
    <dgm:cxn modelId="{B9A43D64-C95A-4292-9815-56320D8A47E9}" type="presParOf" srcId="{52A4DFDF-AC78-4CE1-87FE-A1E4168C3C5D}" destId="{AC2FB313-80B2-4C48-9546-E17354659C14}" srcOrd="0" destOrd="0" presId="urn:microsoft.com/office/officeart/2005/8/layout/vList4"/>
    <dgm:cxn modelId="{F9C0E7BA-32AE-4B7A-A747-579565184D6B}" type="presParOf" srcId="{52A4DFDF-AC78-4CE1-87FE-A1E4168C3C5D}" destId="{C84A1217-E0CF-4B3D-AF43-441ED808C2AF}" srcOrd="1" destOrd="0" presId="urn:microsoft.com/office/officeart/2005/8/layout/vList4"/>
    <dgm:cxn modelId="{B73406B6-8397-4FDC-AD70-D64A381760D2}" type="presParOf" srcId="{52A4DFDF-AC78-4CE1-87FE-A1E4168C3C5D}" destId="{D6347EED-6AAF-4F13-A614-4566646E89FA}" srcOrd="2" destOrd="0" presId="urn:microsoft.com/office/officeart/2005/8/layout/vList4"/>
    <dgm:cxn modelId="{AA685D98-26E6-4E6A-9623-88EFB4844556}" type="presParOf" srcId="{5273EDAC-6DF8-41FF-80AE-6FD841F3BCA6}" destId="{2D14035E-83C2-495F-A62D-EC63525591BF}" srcOrd="1" destOrd="0" presId="urn:microsoft.com/office/officeart/2005/8/layout/vList4"/>
    <dgm:cxn modelId="{CF9E8CF2-04E6-4341-96A2-BCFF617DF437}" type="presParOf" srcId="{5273EDAC-6DF8-41FF-80AE-6FD841F3BCA6}" destId="{8F94F8E9-9471-4CD5-B523-98F8EDF5CF14}" srcOrd="2" destOrd="0" presId="urn:microsoft.com/office/officeart/2005/8/layout/vList4"/>
    <dgm:cxn modelId="{5046E7D6-95B5-4168-BB53-EAF6BA60CFF7}" type="presParOf" srcId="{8F94F8E9-9471-4CD5-B523-98F8EDF5CF14}" destId="{61CD32A8-8B7C-424B-918A-9C3F34B4F421}" srcOrd="0" destOrd="0" presId="urn:microsoft.com/office/officeart/2005/8/layout/vList4"/>
    <dgm:cxn modelId="{AF1FB836-4707-4C73-8174-4A0406CFFB57}" type="presParOf" srcId="{8F94F8E9-9471-4CD5-B523-98F8EDF5CF14}" destId="{7B5851FA-A5AB-440C-9EEE-069AF9110CED}" srcOrd="1" destOrd="0" presId="urn:microsoft.com/office/officeart/2005/8/layout/vList4"/>
    <dgm:cxn modelId="{85DD6F24-E41D-4306-A4CC-7A713567B7BD}" type="presParOf" srcId="{8F94F8E9-9471-4CD5-B523-98F8EDF5CF14}" destId="{FB79EF7D-1F88-4A05-A166-4615F5ABC02A}" srcOrd="2" destOrd="0" presId="urn:microsoft.com/office/officeart/2005/8/layout/vList4"/>
    <dgm:cxn modelId="{1F8C09C2-9BA3-46AA-9EE8-8E9E542A205D}" type="presParOf" srcId="{5273EDAC-6DF8-41FF-80AE-6FD841F3BCA6}" destId="{448B883D-44FF-4A61-AE83-32CA47F9FA9B}" srcOrd="3" destOrd="0" presId="urn:microsoft.com/office/officeart/2005/8/layout/vList4"/>
    <dgm:cxn modelId="{B58DE3EB-F97C-4CFB-B5CE-A37CFF1ED66F}" type="presParOf" srcId="{5273EDAC-6DF8-41FF-80AE-6FD841F3BCA6}" destId="{4A527A91-3C8A-4C8E-B4BC-F727C4E08962}" srcOrd="4" destOrd="0" presId="urn:microsoft.com/office/officeart/2005/8/layout/vList4"/>
    <dgm:cxn modelId="{DEAA1733-6585-43D7-BF10-536406DFF331}" type="presParOf" srcId="{4A527A91-3C8A-4C8E-B4BC-F727C4E08962}" destId="{C301870A-54A2-4D47-981F-FA8D5418D793}" srcOrd="0" destOrd="0" presId="urn:microsoft.com/office/officeart/2005/8/layout/vList4"/>
    <dgm:cxn modelId="{83F6C3C0-A924-4CF6-ABB0-4BBA79EC492C}" type="presParOf" srcId="{4A527A91-3C8A-4C8E-B4BC-F727C4E08962}" destId="{6C5397B4-D446-4082-95FA-7463FCD3E51A}" srcOrd="1" destOrd="0" presId="urn:microsoft.com/office/officeart/2005/8/layout/vList4"/>
    <dgm:cxn modelId="{D9E3A711-09CE-41FA-B00C-65280AE882A2}" type="presParOf" srcId="{4A527A91-3C8A-4C8E-B4BC-F727C4E08962}" destId="{D98C9B2B-20E5-4B3A-A4D7-AC868092B283}" srcOrd="2" destOrd="0" presId="urn:microsoft.com/office/officeart/2005/8/layout/vList4"/>
    <dgm:cxn modelId="{3CEBEB7A-D750-447F-94BA-4553A7895F75}" type="presParOf" srcId="{5273EDAC-6DF8-41FF-80AE-6FD841F3BCA6}" destId="{82C84E31-BBC5-40FE-AE0E-DE5A44F8CDB6}" srcOrd="5" destOrd="0" presId="urn:microsoft.com/office/officeart/2005/8/layout/vList4"/>
    <dgm:cxn modelId="{7DA9D684-EC27-4D76-9471-82935AC0487D}" type="presParOf" srcId="{5273EDAC-6DF8-41FF-80AE-6FD841F3BCA6}" destId="{BC264614-C935-407F-AC78-A14A53D90B92}" srcOrd="6" destOrd="0" presId="urn:microsoft.com/office/officeart/2005/8/layout/vList4"/>
    <dgm:cxn modelId="{4DC022EE-CEE1-48AD-B02D-4D5EFA1663B7}" type="presParOf" srcId="{BC264614-C935-407F-AC78-A14A53D90B92}" destId="{BAAEBE35-D0C5-414F-B2C9-30D674114EAD}" srcOrd="0" destOrd="0" presId="urn:microsoft.com/office/officeart/2005/8/layout/vList4"/>
    <dgm:cxn modelId="{DC4F32CB-3975-40B8-846F-E94CA228F6DA}" type="presParOf" srcId="{BC264614-C935-407F-AC78-A14A53D90B92}" destId="{B7A3639E-B525-4C76-9736-7CA97DE91D6D}" srcOrd="1" destOrd="0" presId="urn:microsoft.com/office/officeart/2005/8/layout/vList4"/>
    <dgm:cxn modelId="{F8DDDB7D-F4E8-4FBF-B0C4-FEE261023DDC}" type="presParOf" srcId="{BC264614-C935-407F-AC78-A14A53D90B92}" destId="{E00D6EDD-E76F-4C81-BB2E-937681E589D3}" srcOrd="2" destOrd="0" presId="urn:microsoft.com/office/officeart/2005/8/layout/vList4"/>
    <dgm:cxn modelId="{167AC23D-AA30-4518-9CA9-63D2C121C13E}" type="presParOf" srcId="{5273EDAC-6DF8-41FF-80AE-6FD841F3BCA6}" destId="{D6FB8441-C1A5-411A-B62A-DC723D3A305F}" srcOrd="7" destOrd="0" presId="urn:microsoft.com/office/officeart/2005/8/layout/vList4"/>
    <dgm:cxn modelId="{C80C98BC-4C79-4684-A05D-26A8C744DF42}" type="presParOf" srcId="{5273EDAC-6DF8-41FF-80AE-6FD841F3BCA6}" destId="{87D280CB-982B-4493-A699-89B44CBC4D1B}" srcOrd="8" destOrd="0" presId="urn:microsoft.com/office/officeart/2005/8/layout/vList4"/>
    <dgm:cxn modelId="{DBE0C3F6-E12A-4663-B873-A9F48B53C400}" type="presParOf" srcId="{87D280CB-982B-4493-A699-89B44CBC4D1B}" destId="{032EC77C-6907-4E50-BFC3-BAD3BE141119}" srcOrd="0" destOrd="0" presId="urn:microsoft.com/office/officeart/2005/8/layout/vList4"/>
    <dgm:cxn modelId="{D8BB6C0E-1A32-49A2-8E5C-68C0009C2DA7}" type="presParOf" srcId="{87D280CB-982B-4493-A699-89B44CBC4D1B}" destId="{5B1A632B-5BB8-4A42-86E1-F191318D151F}" srcOrd="1" destOrd="0" presId="urn:microsoft.com/office/officeart/2005/8/layout/vList4"/>
    <dgm:cxn modelId="{C8F50AEC-88AF-4700-9867-C31A63B0EF2B}" type="presParOf" srcId="{87D280CB-982B-4493-A699-89B44CBC4D1B}" destId="{C9007BFA-A2A6-4FDF-A8CE-EFF3D02A0B4B}" srcOrd="2" destOrd="0" presId="urn:microsoft.com/office/officeart/2005/8/layout/vList4"/>
    <dgm:cxn modelId="{7FA61956-A032-4CCA-A672-5738389F04E9}" type="presParOf" srcId="{5273EDAC-6DF8-41FF-80AE-6FD841F3BCA6}" destId="{98E07E8C-890F-4C86-A0B2-4332E5CAB252}" srcOrd="9" destOrd="0" presId="urn:microsoft.com/office/officeart/2005/8/layout/vList4"/>
    <dgm:cxn modelId="{97F8286A-C908-44E6-9521-FD42A8D16360}" type="presParOf" srcId="{5273EDAC-6DF8-41FF-80AE-6FD841F3BCA6}" destId="{506921AE-3698-43C2-ACB7-F1F24DA4C1BA}" srcOrd="10" destOrd="0" presId="urn:microsoft.com/office/officeart/2005/8/layout/vList4"/>
    <dgm:cxn modelId="{87B26E00-7467-4A21-8D0F-1822A035401B}" type="presParOf" srcId="{506921AE-3698-43C2-ACB7-F1F24DA4C1BA}" destId="{08A51260-0BA0-4135-97FE-3D71C4DCE4A2}" srcOrd="0" destOrd="0" presId="urn:microsoft.com/office/officeart/2005/8/layout/vList4"/>
    <dgm:cxn modelId="{C1CFF950-08B1-45C5-AD72-642FE1E9E714}" type="presParOf" srcId="{506921AE-3698-43C2-ACB7-F1F24DA4C1BA}" destId="{64E18F9B-CEEC-4813-8E06-7BF07E1038B0}" srcOrd="1" destOrd="0" presId="urn:microsoft.com/office/officeart/2005/8/layout/vList4"/>
    <dgm:cxn modelId="{15F25E9D-4BCB-41B7-A23E-8CDE2BEAF4A4}" type="presParOf" srcId="{506921AE-3698-43C2-ACB7-F1F24DA4C1BA}" destId="{B1FDB041-8D09-4097-B603-ECF05AA82638}" srcOrd="2" destOrd="0" presId="urn:microsoft.com/office/officeart/2005/8/layout/vList4"/>
    <dgm:cxn modelId="{6BD003DE-5663-421A-B085-8256A9D0E1B8}" type="presParOf" srcId="{5273EDAC-6DF8-41FF-80AE-6FD841F3BCA6}" destId="{15F1C7F8-DC42-4167-8381-2673CDE89227}" srcOrd="11" destOrd="0" presId="urn:microsoft.com/office/officeart/2005/8/layout/vList4"/>
    <dgm:cxn modelId="{D43144BB-CD0C-4DA9-8644-8A0DEE48CD00}" type="presParOf" srcId="{5273EDAC-6DF8-41FF-80AE-6FD841F3BCA6}" destId="{A07B3FA5-AE79-438A-86EE-6F1CAA0FA3A2}" srcOrd="12" destOrd="0" presId="urn:microsoft.com/office/officeart/2005/8/layout/vList4"/>
    <dgm:cxn modelId="{28FAB766-FEE2-44D3-8F22-59EED2D9DF43}" type="presParOf" srcId="{A07B3FA5-AE79-438A-86EE-6F1CAA0FA3A2}" destId="{004ADDE4-E383-47C3-B631-4ACD1F9887D4}" srcOrd="0" destOrd="0" presId="urn:microsoft.com/office/officeart/2005/8/layout/vList4"/>
    <dgm:cxn modelId="{2B1473F1-A2FD-4C16-AAD1-999E1F555D1A}" type="presParOf" srcId="{A07B3FA5-AE79-438A-86EE-6F1CAA0FA3A2}" destId="{3631DF3D-5973-4BFC-A64D-03530B770490}" srcOrd="1" destOrd="0" presId="urn:microsoft.com/office/officeart/2005/8/layout/vList4"/>
    <dgm:cxn modelId="{AEE0741D-F6CE-477A-A70C-87070C30711F}" type="presParOf" srcId="{A07B3FA5-AE79-438A-86EE-6F1CAA0FA3A2}" destId="{A0CB793D-00CC-41F7-ACA1-8D4AE8E828F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31083-7161-4211-9EF4-C72138A11514}">
      <dsp:nvSpPr>
        <dsp:cNvPr id="0" name=""/>
        <dsp:cNvSpPr/>
      </dsp:nvSpPr>
      <dsp:spPr>
        <a:xfrm>
          <a:off x="865544" y="0"/>
          <a:ext cx="8530448" cy="308275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6B34A-E612-436C-9C7B-311B0795646E}">
      <dsp:nvSpPr>
        <dsp:cNvPr id="0" name=""/>
        <dsp:cNvSpPr/>
      </dsp:nvSpPr>
      <dsp:spPr>
        <a:xfrm>
          <a:off x="8146" y="924825"/>
          <a:ext cx="2398668" cy="123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Objetivos da qualidade</a:t>
          </a:r>
        </a:p>
      </dsp:txBody>
      <dsp:txXfrm>
        <a:off x="68341" y="985020"/>
        <a:ext cx="2278278" cy="1112710"/>
      </dsp:txXfrm>
    </dsp:sp>
    <dsp:sp modelId="{C5921183-16EB-4401-B2DB-16B5BCB796D6}">
      <dsp:nvSpPr>
        <dsp:cNvPr id="0" name=""/>
        <dsp:cNvSpPr/>
      </dsp:nvSpPr>
      <dsp:spPr>
        <a:xfrm>
          <a:off x="2548433" y="924825"/>
          <a:ext cx="2398668" cy="123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Escolha de métricas</a:t>
          </a:r>
        </a:p>
      </dsp:txBody>
      <dsp:txXfrm>
        <a:off x="2608628" y="985020"/>
        <a:ext cx="2278278" cy="1112710"/>
      </dsp:txXfrm>
    </dsp:sp>
    <dsp:sp modelId="{5CFF2AE3-565E-42D2-9BF7-4CD0CF614E0F}">
      <dsp:nvSpPr>
        <dsp:cNvPr id="0" name=""/>
        <dsp:cNvSpPr/>
      </dsp:nvSpPr>
      <dsp:spPr>
        <a:xfrm>
          <a:off x="5088720" y="924825"/>
          <a:ext cx="2398668" cy="123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Critérios de aceitação</a:t>
          </a:r>
        </a:p>
      </dsp:txBody>
      <dsp:txXfrm>
        <a:off x="5148915" y="985020"/>
        <a:ext cx="2278278" cy="1112710"/>
      </dsp:txXfrm>
    </dsp:sp>
    <dsp:sp modelId="{D3A9AF65-F500-46A7-95F5-184A413A6DF1}">
      <dsp:nvSpPr>
        <dsp:cNvPr id="0" name=""/>
        <dsp:cNvSpPr/>
      </dsp:nvSpPr>
      <dsp:spPr>
        <a:xfrm>
          <a:off x="7629007" y="924825"/>
          <a:ext cx="2398668" cy="123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Papeis e responsabilidades</a:t>
          </a:r>
        </a:p>
      </dsp:txBody>
      <dsp:txXfrm>
        <a:off x="7689202" y="985020"/>
        <a:ext cx="2278278" cy="11127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731083-7161-4211-9EF4-C72138A11514}">
      <dsp:nvSpPr>
        <dsp:cNvPr id="0" name=""/>
        <dsp:cNvSpPr/>
      </dsp:nvSpPr>
      <dsp:spPr>
        <a:xfrm>
          <a:off x="857099" y="0"/>
          <a:ext cx="8530448" cy="308275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46B34A-E612-436C-9C7B-311B0795646E}">
      <dsp:nvSpPr>
        <dsp:cNvPr id="0" name=""/>
        <dsp:cNvSpPr/>
      </dsp:nvSpPr>
      <dsp:spPr>
        <a:xfrm>
          <a:off x="8146" y="924825"/>
          <a:ext cx="2398668" cy="123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Objetivos da qualidade</a:t>
          </a:r>
        </a:p>
      </dsp:txBody>
      <dsp:txXfrm>
        <a:off x="68341" y="985020"/>
        <a:ext cx="2278278" cy="1112710"/>
      </dsp:txXfrm>
    </dsp:sp>
    <dsp:sp modelId="{C5921183-16EB-4401-B2DB-16B5BCB796D6}">
      <dsp:nvSpPr>
        <dsp:cNvPr id="0" name=""/>
        <dsp:cNvSpPr/>
      </dsp:nvSpPr>
      <dsp:spPr>
        <a:xfrm>
          <a:off x="2548433" y="924825"/>
          <a:ext cx="2398668" cy="123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Escolha de métricas</a:t>
          </a:r>
        </a:p>
      </dsp:txBody>
      <dsp:txXfrm>
        <a:off x="2608628" y="985020"/>
        <a:ext cx="2278278" cy="1112710"/>
      </dsp:txXfrm>
    </dsp:sp>
    <dsp:sp modelId="{5CFF2AE3-565E-42D2-9BF7-4CD0CF614E0F}">
      <dsp:nvSpPr>
        <dsp:cNvPr id="0" name=""/>
        <dsp:cNvSpPr/>
      </dsp:nvSpPr>
      <dsp:spPr>
        <a:xfrm>
          <a:off x="5088720" y="924825"/>
          <a:ext cx="2398668" cy="123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Critérios de aceitação</a:t>
          </a:r>
        </a:p>
      </dsp:txBody>
      <dsp:txXfrm>
        <a:off x="5148915" y="985020"/>
        <a:ext cx="2278278" cy="1112710"/>
      </dsp:txXfrm>
    </dsp:sp>
    <dsp:sp modelId="{D3A9AF65-F500-46A7-95F5-184A413A6DF1}">
      <dsp:nvSpPr>
        <dsp:cNvPr id="0" name=""/>
        <dsp:cNvSpPr/>
      </dsp:nvSpPr>
      <dsp:spPr>
        <a:xfrm>
          <a:off x="7629007" y="924825"/>
          <a:ext cx="2398668" cy="123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Papeis e responsabilidades</a:t>
          </a:r>
        </a:p>
      </dsp:txBody>
      <dsp:txXfrm>
        <a:off x="7689202" y="985020"/>
        <a:ext cx="2278278" cy="11127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FB313-80B2-4C48-9546-E17354659C14}">
      <dsp:nvSpPr>
        <dsp:cNvPr id="0" name=""/>
        <dsp:cNvSpPr/>
      </dsp:nvSpPr>
      <dsp:spPr>
        <a:xfrm>
          <a:off x="0" y="0"/>
          <a:ext cx="8128000" cy="71172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Políticas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Conformidade a padrões e normas; políticas de qualidade de código</a:t>
          </a:r>
        </a:p>
      </dsp:txBody>
      <dsp:txXfrm>
        <a:off x="1696772" y="0"/>
        <a:ext cx="6431227" cy="711729"/>
      </dsp:txXfrm>
    </dsp:sp>
    <dsp:sp modelId="{C84A1217-E0CF-4B3D-AF43-441ED808C2AF}">
      <dsp:nvSpPr>
        <dsp:cNvPr id="0" name=""/>
        <dsp:cNvSpPr/>
      </dsp:nvSpPr>
      <dsp:spPr>
        <a:xfrm>
          <a:off x="71172" y="71172"/>
          <a:ext cx="1625600" cy="56938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D32A8-8B7C-424B-918A-9C3F34B4F421}">
      <dsp:nvSpPr>
        <dsp:cNvPr id="0" name=""/>
        <dsp:cNvSpPr/>
      </dsp:nvSpPr>
      <dsp:spPr>
        <a:xfrm>
          <a:off x="0" y="782902"/>
          <a:ext cx="8128000" cy="711729"/>
        </a:xfrm>
        <a:prstGeom prst="roundRect">
          <a:avLst>
            <a:gd name="adj" fmla="val 10000"/>
          </a:avLst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Processos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Estruturam o trabalho: metodologias ágeis, modelos de maturidade</a:t>
          </a:r>
        </a:p>
      </dsp:txBody>
      <dsp:txXfrm>
        <a:off x="1696772" y="782902"/>
        <a:ext cx="6431227" cy="711729"/>
      </dsp:txXfrm>
    </dsp:sp>
    <dsp:sp modelId="{7B5851FA-A5AB-440C-9EEE-069AF9110CED}">
      <dsp:nvSpPr>
        <dsp:cNvPr id="0" name=""/>
        <dsp:cNvSpPr/>
      </dsp:nvSpPr>
      <dsp:spPr>
        <a:xfrm>
          <a:off x="71172" y="854075"/>
          <a:ext cx="1625600" cy="56938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-1121607"/>
            <a:satOff val="-3825"/>
            <a:lumOff val="-6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01870A-54A2-4D47-981F-FA8D5418D793}">
      <dsp:nvSpPr>
        <dsp:cNvPr id="0" name=""/>
        <dsp:cNvSpPr/>
      </dsp:nvSpPr>
      <dsp:spPr>
        <a:xfrm>
          <a:off x="0" y="1565804"/>
          <a:ext cx="8128000" cy="711729"/>
        </a:xfrm>
        <a:prstGeom prst="roundRect">
          <a:avLst>
            <a:gd name="adj" fmla="val 1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Padrões e convenções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Padrões de codificação, de nomenclatura e padrões arquiteturais</a:t>
          </a:r>
        </a:p>
      </dsp:txBody>
      <dsp:txXfrm>
        <a:off x="1696772" y="1565804"/>
        <a:ext cx="6431227" cy="711729"/>
      </dsp:txXfrm>
    </dsp:sp>
    <dsp:sp modelId="{6C5397B4-D446-4082-95FA-7463FCD3E51A}">
      <dsp:nvSpPr>
        <dsp:cNvPr id="0" name=""/>
        <dsp:cNvSpPr/>
      </dsp:nvSpPr>
      <dsp:spPr>
        <a:xfrm>
          <a:off x="71172" y="1636977"/>
          <a:ext cx="1625600" cy="56938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-2243214"/>
            <a:satOff val="-7649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AEBE35-D0C5-414F-B2C9-30D674114EAD}">
      <dsp:nvSpPr>
        <dsp:cNvPr id="0" name=""/>
        <dsp:cNvSpPr/>
      </dsp:nvSpPr>
      <dsp:spPr>
        <a:xfrm>
          <a:off x="0" y="2348706"/>
          <a:ext cx="8128000" cy="711729"/>
        </a:xfrm>
        <a:prstGeom prst="roundRect">
          <a:avLst>
            <a:gd name="adj" fmla="val 1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Documentação e relatórios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Planos de qualidade, de testes, relatórios de defeitos, documentação do processo</a:t>
          </a:r>
        </a:p>
      </dsp:txBody>
      <dsp:txXfrm>
        <a:off x="1696772" y="2348706"/>
        <a:ext cx="6431227" cy="711729"/>
      </dsp:txXfrm>
    </dsp:sp>
    <dsp:sp modelId="{B7A3639E-B525-4C76-9736-7CA97DE91D6D}">
      <dsp:nvSpPr>
        <dsp:cNvPr id="0" name=""/>
        <dsp:cNvSpPr/>
      </dsp:nvSpPr>
      <dsp:spPr>
        <a:xfrm>
          <a:off x="71172" y="2419879"/>
          <a:ext cx="1625600" cy="56938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-3364820"/>
            <a:satOff val="-11474"/>
            <a:lumOff val="-19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2EC77C-6907-4E50-BFC3-BAD3BE141119}">
      <dsp:nvSpPr>
        <dsp:cNvPr id="0" name=""/>
        <dsp:cNvSpPr/>
      </dsp:nvSpPr>
      <dsp:spPr>
        <a:xfrm>
          <a:off x="0" y="3131608"/>
          <a:ext cx="8128000" cy="711729"/>
        </a:xfrm>
        <a:prstGeom prst="roundRect">
          <a:avLst>
            <a:gd name="adj" fmla="val 1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Revisões e auditorias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Auditorias internas, retrospectivas, lições aprendidas, revisão de código</a:t>
          </a:r>
        </a:p>
      </dsp:txBody>
      <dsp:txXfrm>
        <a:off x="1696772" y="3131608"/>
        <a:ext cx="6431227" cy="711729"/>
      </dsp:txXfrm>
    </dsp:sp>
    <dsp:sp modelId="{5B1A632B-5BB8-4A42-86E1-F191318D151F}">
      <dsp:nvSpPr>
        <dsp:cNvPr id="0" name=""/>
        <dsp:cNvSpPr/>
      </dsp:nvSpPr>
      <dsp:spPr>
        <a:xfrm>
          <a:off x="71172" y="3202781"/>
          <a:ext cx="1625600" cy="56938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-4486427"/>
            <a:satOff val="-15298"/>
            <a:lumOff val="-254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A51260-0BA0-4135-97FE-3D71C4DCE4A2}">
      <dsp:nvSpPr>
        <dsp:cNvPr id="0" name=""/>
        <dsp:cNvSpPr/>
      </dsp:nvSpPr>
      <dsp:spPr>
        <a:xfrm>
          <a:off x="0" y="3914510"/>
          <a:ext cx="8128000" cy="711729"/>
        </a:xfrm>
        <a:prstGeom prst="roundRect">
          <a:avLst>
            <a:gd name="adj" fmla="val 10000"/>
          </a:avLst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Treinamento e capacitação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Workshops sobre as práticas, capacitação em normas, revisões de código</a:t>
          </a:r>
        </a:p>
      </dsp:txBody>
      <dsp:txXfrm>
        <a:off x="1696772" y="3914510"/>
        <a:ext cx="6431227" cy="711729"/>
      </dsp:txXfrm>
    </dsp:sp>
    <dsp:sp modelId="{64E18F9B-CEEC-4813-8E06-7BF07E1038B0}">
      <dsp:nvSpPr>
        <dsp:cNvPr id="0" name=""/>
        <dsp:cNvSpPr/>
      </dsp:nvSpPr>
      <dsp:spPr>
        <a:xfrm>
          <a:off x="71172" y="3985683"/>
          <a:ext cx="1625600" cy="56938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-5608033"/>
            <a:satOff val="-19123"/>
            <a:lumOff val="-31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4ADDE4-E383-47C3-B631-4ACD1F9887D4}">
      <dsp:nvSpPr>
        <dsp:cNvPr id="0" name=""/>
        <dsp:cNvSpPr/>
      </dsp:nvSpPr>
      <dsp:spPr>
        <a:xfrm>
          <a:off x="0" y="4697412"/>
          <a:ext cx="8128000" cy="711729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kern="1200" dirty="0"/>
            <a:t>Ferramentas de QA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400" kern="1200" dirty="0"/>
            <a:t>Define ferramentas para: CI/CD, testes automatizados, análise estática, etc.</a:t>
          </a:r>
        </a:p>
      </dsp:txBody>
      <dsp:txXfrm>
        <a:off x="1696772" y="4697412"/>
        <a:ext cx="6431227" cy="711729"/>
      </dsp:txXfrm>
    </dsp:sp>
    <dsp:sp modelId="{3631DF3D-5973-4BFC-A64D-03530B770490}">
      <dsp:nvSpPr>
        <dsp:cNvPr id="0" name=""/>
        <dsp:cNvSpPr/>
      </dsp:nvSpPr>
      <dsp:spPr>
        <a:xfrm>
          <a:off x="71172" y="4768585"/>
          <a:ext cx="1625600" cy="569383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-6729641"/>
            <a:satOff val="-22947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300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195F-421F-D529-B3EB-1E26525B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61714E-4D8C-3A4E-CF26-E9AC60EFE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A44D06-3C93-0AA3-E05F-56599E637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ABEB9F5-B195-46A8-F161-896D3C778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8463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missão crítica (controle de voo); software embarcado (</a:t>
            </a:r>
            <a:r>
              <a:rPr lang="pt-BR" dirty="0" err="1"/>
              <a:t>sw</a:t>
            </a:r>
            <a:r>
              <a:rPr lang="pt-BR" dirty="0"/>
              <a:t> de carro)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018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Ex</a:t>
            </a:r>
            <a:r>
              <a:rPr lang="pt-BR" dirty="0"/>
              <a:t>: folha de pagamento; interativo com usuário (marketplace)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415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Deixou de ser uma área de conhecimento isolada e passou a ser parte dos princípios centrais do PMBOK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047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Validação (</a:t>
            </a:r>
            <a:r>
              <a:rPr lang="pt-BR" dirty="0" err="1"/>
              <a:t>EngSW</a:t>
            </a:r>
            <a:r>
              <a:rPr lang="pt-BR" dirty="0"/>
              <a:t>) -&gt; </a:t>
            </a:r>
            <a:r>
              <a:rPr lang="pt-BR" dirty="0" err="1"/>
              <a:t>Validate</a:t>
            </a:r>
            <a:r>
              <a:rPr lang="pt-BR" dirty="0"/>
              <a:t> </a:t>
            </a:r>
            <a:r>
              <a:rPr lang="pt-BR" dirty="0" err="1"/>
              <a:t>Scope</a:t>
            </a:r>
            <a:r>
              <a:rPr lang="pt-BR" dirty="0"/>
              <a:t> (PMBOK)</a:t>
            </a:r>
          </a:p>
          <a:p>
            <a:r>
              <a:rPr lang="pt-BR" dirty="0"/>
              <a:t>Verificação (</a:t>
            </a:r>
            <a:r>
              <a:rPr lang="pt-BR" dirty="0" err="1"/>
              <a:t>EngSW</a:t>
            </a:r>
            <a:r>
              <a:rPr lang="pt-BR" dirty="0"/>
              <a:t>) -&gt;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28552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478A2-8637-0D43-9536-347DADD6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BAFBADC-D8FB-8692-2EDF-855A9B5C6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2C8218-B830-99D9-5003-6159EB752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229F67-200F-3386-A1F5-EBBA19F4D3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758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600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Última atualização: 2023 (o anterior é de 2011)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1836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1A3C5-3FB5-D68C-C9B9-0D8E09E4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AAAD5F-C8E9-3CA6-3711-D0D2B866F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94A866-AB6C-B113-80ED-3FB529E1F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0D79BA6-840D-141B-E8C9-05FF7629E4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422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1A05D-BAFD-267A-12EB-319AFD473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9F6528-CCF2-3208-9DDA-197A389FD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53BD3E9-537E-2402-C278-39F214BBB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Cap. 6 Pressman + Cap. 33 Pressman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CED804-848B-F301-C656-239189FAF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345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33 alunos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E012C9-B69A-465D-BE2B-CE551A843A77}" type="slidenum">
              <a:rPr lang="pt-BR" smtClean="0"/>
              <a:t>76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158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2h  -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7797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D1D07FB-9C32-6AD9-1647-8AEAAA8BD28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610600" y="104579"/>
            <a:ext cx="3481023" cy="48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amir-masoud-amooee-pmp-pba-acp-3413781b2_pmbok8-projectmanagement-pmp-activity-7412029478534656001-1j-K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7.png"/><Relationship Id="rId18" Type="http://schemas.openxmlformats.org/officeDocument/2006/relationships/image" Target="../media/image20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13.png"/><Relationship Id="rId12" Type="http://schemas.openxmlformats.org/officeDocument/2006/relationships/hyperlink" Target="https://www.monolitonimbus.com.br/metricas-para-comparar-previsoes/" TargetMode="External"/><Relationship Id="rId17" Type="http://schemas.openxmlformats.org/officeDocument/2006/relationships/image" Target="../media/image19.png"/><Relationship Id="rId2" Type="http://schemas.openxmlformats.org/officeDocument/2006/relationships/diagramData" Target="../diagrams/data1.xml"/><Relationship Id="rId16" Type="http://schemas.openxmlformats.org/officeDocument/2006/relationships/hyperlink" Target="https://openclipart.org/detail/7983/red-green-ok-not-ok-icons" TargetMode="Externa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6.jp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8.png"/><Relationship Id="rId10" Type="http://schemas.openxmlformats.org/officeDocument/2006/relationships/image" Target="../media/image15.png"/><Relationship Id="rId19" Type="http://schemas.openxmlformats.org/officeDocument/2006/relationships/hyperlink" Target="https://svgsilh.com/pt/image/776196.html" TargetMode="External"/><Relationship Id="rId4" Type="http://schemas.openxmlformats.org/officeDocument/2006/relationships/diagramQuickStyle" Target="../diagrams/quickStyle1.xml"/><Relationship Id="rId9" Type="http://schemas.openxmlformats.org/officeDocument/2006/relationships/hyperlink" Target="https://svgsilh.com/es/image/2304567.html" TargetMode="External"/><Relationship Id="rId1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nventionalcommits.org/en/v1.0.0/" TargetMode="External"/><Relationship Id="rId2" Type="http://schemas.openxmlformats.org/officeDocument/2006/relationships/hyperlink" Target="https://docs.github.com/pt/pull-requests/collaborating-with-pull-requests/reviewing-changes-in-pull-requests/about-pull-request-review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features/actions?locale=pt-BR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manuelgsouza.gitbooks.io/resumos-faculdade/content/analise-sistemas/quarto-periodo/testes.html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iinside.com.br/08/03/2010/certificacao-cmmi-custa-r-1-milhao-a-attps/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qualyteam.com/pb/blog/como-identificar-os-custos-da-qualidade/" TargetMode="Externa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ketchbubble.com/en/presentation-risk-based-testing.html" TargetMode="Externa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leomurta.github.io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9 </a:t>
            </a:r>
            <a:br>
              <a:rPr lang="pt-BR" dirty="0"/>
            </a:br>
            <a:r>
              <a:rPr lang="pt-BR" dirty="0"/>
              <a:t>Gestão da Qualidade de Produto e de Processo de Software 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2000" dirty="0">
                <a:hlinkClick r:id="rId3"/>
              </a:rPr>
              <a:t>bruno.penteado@unesp.br</a:t>
            </a:r>
            <a:r>
              <a:rPr lang="pt-B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Gestão de stakeholders </a:t>
            </a:r>
            <a:r>
              <a:rPr lang="pt-BR" dirty="0"/>
              <a:t>: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Equipes internas (</a:t>
            </a:r>
            <a:r>
              <a:rPr lang="pt-BR" i="1" dirty="0" err="1"/>
              <a:t>Resource</a:t>
            </a:r>
            <a:r>
              <a:rPr lang="pt-BR" i="1" dirty="0"/>
              <a:t> Performance Domain</a:t>
            </a:r>
            <a:r>
              <a:rPr lang="pt-BR" dirty="0"/>
              <a:t>)</a:t>
            </a:r>
          </a:p>
          <a:p>
            <a:pPr marL="914400" lvl="1" indent="-457200">
              <a:spcBef>
                <a:spcPts val="1800"/>
              </a:spcBef>
              <a:buFont typeface="+mj-lt"/>
              <a:buAutoNum type="arabicPeriod"/>
            </a:pPr>
            <a:r>
              <a:rPr lang="pt-BR" dirty="0"/>
              <a:t>Equipes externas (</a:t>
            </a:r>
            <a:r>
              <a:rPr lang="pt-BR" i="1" dirty="0"/>
              <a:t>Stakeholder Performance Domain</a:t>
            </a:r>
            <a:r>
              <a:rPr lang="pt-B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1883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F7FE3-4A0D-247A-DA7E-49665364C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1A562E-C6B0-16AA-3DAA-09B5A554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Conceitos de qualidade de software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Qualidade de produto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Qualidade de processo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 de maturidade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Custos da qualidade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7974BA-0415-EE22-0FCC-63E48C25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D0AFCE-7C02-8543-96D5-97BBD9F00BF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110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49C21-8C17-8C95-DED3-2839AB69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software?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45C98-4C85-BC79-ECB8-257FE79B3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é qualidade?</a:t>
            </a:r>
          </a:p>
          <a:p>
            <a:r>
              <a:rPr lang="pt-BR" dirty="0"/>
              <a:t>O que é software de qualidade?</a:t>
            </a:r>
          </a:p>
          <a:p>
            <a:r>
              <a:rPr lang="pt-BR" dirty="0"/>
              <a:t>Como saber se o software que vocês estão desenvolvendo é de qualidade?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9C1ADA2-A122-4B00-0B2A-31E2A424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593" y="3482555"/>
            <a:ext cx="4153480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2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58F82-A6CE-98A6-CF04-EFD37C81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depende da perspectiva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21AD3B-C26A-09CF-2CBC-99B4098C9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FC66D5-A2EB-8892-71F6-70C817C2B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6" y="1756004"/>
            <a:ext cx="10659963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455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75EF0-0717-D426-E71B-D2F9BC132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D226F7-6CDD-A8AD-1110-20A4AC7F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C3C067-EB13-8648-63EA-0C80CA415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6518"/>
            <a:ext cx="10602805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01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90F47-59FB-C81A-83CB-D97D9199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F23535-06E4-B30F-08BB-7D4CC9283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2CC599-DFFF-7A7D-50AE-AAFA0E7A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36" y="1332729"/>
            <a:ext cx="10498015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6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D92C7-7A33-B690-40D3-D83841ED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88895D-BD5C-6A6C-DECA-5993D3873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A4EF39-2947-EDD5-C9FF-F4FF3E2969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4"/>
          <a:stretch/>
        </p:blipFill>
        <p:spPr>
          <a:xfrm>
            <a:off x="1436914" y="1680370"/>
            <a:ext cx="9458710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65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E2F41-919B-880E-A835-4BC31049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997760-2E41-4905-E704-97B7ED5CD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2243413-5490-A576-8CF8-BE09301D1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912" y="1647146"/>
            <a:ext cx="9449721" cy="496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4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CF1EB-1181-756F-60BC-B77091294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0DFF31-8785-13C0-8D53-5A24CA1A7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Satisfação do usuário </a:t>
            </a:r>
            <a:r>
              <a:rPr lang="pt-BR" dirty="0"/>
              <a:t>= </a:t>
            </a:r>
          </a:p>
          <a:p>
            <a:pPr marL="457200" lvl="1" indent="0">
              <a:buNone/>
            </a:pPr>
            <a:r>
              <a:rPr lang="pt-BR" dirty="0"/>
              <a:t>produto compatível a processo otimizado</a:t>
            </a:r>
          </a:p>
          <a:p>
            <a:pPr marL="457200" lvl="1" indent="0">
              <a:buNone/>
            </a:pPr>
            <a:r>
              <a:rPr lang="pt-BR" dirty="0"/>
              <a:t>+ boa qualidade dos atributos</a:t>
            </a:r>
          </a:p>
          <a:p>
            <a:pPr marL="457200" lvl="1" indent="0">
              <a:buNone/>
            </a:pPr>
            <a:r>
              <a:rPr lang="pt-BR" dirty="0"/>
              <a:t>+ entrega dentro do orçamento e do prazo previsto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09C278A-09B0-C791-6684-6BE021E17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241" y="3608932"/>
            <a:ext cx="5081517" cy="302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2E4B6E-1538-2DBB-4352-E3D285787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950174-3D2D-921D-868C-FBFAD48A38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657" y="1825625"/>
            <a:ext cx="6368143" cy="4351338"/>
          </a:xfrm>
        </p:spPr>
        <p:txBody>
          <a:bodyPr/>
          <a:lstStyle/>
          <a:p>
            <a:r>
              <a:rPr lang="pt-BR" dirty="0"/>
              <a:t>Qualidade </a:t>
            </a:r>
            <a:r>
              <a:rPr lang="pt-BR" b="1" dirty="0">
                <a:solidFill>
                  <a:schemeClr val="accent1"/>
                </a:solidFill>
              </a:rPr>
              <a:t>não</a:t>
            </a:r>
            <a:r>
              <a:rPr lang="pt-BR" dirty="0"/>
              <a:t> </a:t>
            </a:r>
            <a:r>
              <a:rPr lang="pt-BR" b="1" dirty="0">
                <a:solidFill>
                  <a:schemeClr val="accent1"/>
                </a:solidFill>
              </a:rPr>
              <a:t>pode</a:t>
            </a:r>
            <a:r>
              <a:rPr lang="pt-BR" dirty="0"/>
              <a:t> ser incorporada </a:t>
            </a:r>
            <a:r>
              <a:rPr lang="pt-BR" b="1" dirty="0">
                <a:solidFill>
                  <a:schemeClr val="accent1"/>
                </a:solidFill>
              </a:rPr>
              <a:t>depois de produto pronto</a:t>
            </a:r>
            <a:r>
              <a:rPr lang="pt-BR" dirty="0"/>
              <a:t>!</a:t>
            </a:r>
          </a:p>
          <a:p>
            <a:pPr>
              <a:spcBef>
                <a:spcPts val="2400"/>
              </a:spcBef>
            </a:pPr>
            <a:r>
              <a:rPr lang="pt-BR" dirty="0"/>
              <a:t>Para que possa ser efetivamente incorporada ao produto, a qualidade deve ser um objetivo constante do </a:t>
            </a:r>
            <a:r>
              <a:rPr lang="pt-BR" b="1" dirty="0">
                <a:solidFill>
                  <a:schemeClr val="accent1"/>
                </a:solidFill>
              </a:rPr>
              <a:t>processo</a:t>
            </a:r>
            <a:r>
              <a:rPr lang="pt-BR" dirty="0">
                <a:solidFill>
                  <a:schemeClr val="accent1"/>
                </a:solidFill>
              </a:rPr>
              <a:t> de desenvolvimento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15425CC-4C36-1D18-CB84-1DD34001A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15" y="1690688"/>
            <a:ext cx="3229426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949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CF06A-5915-97C4-FC11-9330659C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8 (2026)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54E838-751B-8BB6-E582-C2725B95F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026" name="Picture 2" descr="Grupos de Processos segundo o PMBoK - DevMedia">
            <a:extLst>
              <a:ext uri="{FF2B5EF4-FFF2-40B4-BE49-F238E27FC236}">
                <a16:creationId xmlns:a16="http://schemas.microsoft.com/office/drawing/2014/main" id="{08C2087F-BECB-DEAB-884D-35DF09AFB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67" y="1981994"/>
            <a:ext cx="60960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ject Performance Domains Explained (Updated for PMBOK 8!)">
            <a:extLst>
              <a:ext uri="{FF2B5EF4-FFF2-40B4-BE49-F238E27FC236}">
                <a16:creationId xmlns:a16="http://schemas.microsoft.com/office/drawing/2014/main" id="{51493401-603F-AD33-1132-44B37B96A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568" y="1825625"/>
            <a:ext cx="493656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7C40076-EE57-D3BF-7FAD-199E5527158A}"/>
              </a:ext>
            </a:extLst>
          </p:cNvPr>
          <p:cNvSpPr/>
          <p:nvPr/>
        </p:nvSpPr>
        <p:spPr>
          <a:xfrm>
            <a:off x="251267" y="3815644"/>
            <a:ext cx="2246489" cy="45155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BEE4C0-9A36-2CF0-CB4C-8946431E9CD8}"/>
              </a:ext>
            </a:extLst>
          </p:cNvPr>
          <p:cNvSpPr txBox="1"/>
          <p:nvPr/>
        </p:nvSpPr>
        <p:spPr>
          <a:xfrm>
            <a:off x="8836889" y="6176963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PMBOK 8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4C3C67-347A-4780-8FE6-CFDBA4BEEF74}"/>
              </a:ext>
            </a:extLst>
          </p:cNvPr>
          <p:cNvSpPr txBox="1"/>
          <p:nvPr/>
        </p:nvSpPr>
        <p:spPr>
          <a:xfrm>
            <a:off x="2866906" y="6148666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PMBOK 6</a:t>
            </a:r>
          </a:p>
        </p:txBody>
      </p:sp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7B34B5F2-46A3-2030-BF7E-1F4FBDEC7842}"/>
              </a:ext>
            </a:extLst>
          </p:cNvPr>
          <p:cNvSpPr/>
          <p:nvPr/>
        </p:nvSpPr>
        <p:spPr>
          <a:xfrm rot="16200000">
            <a:off x="6467946" y="3505838"/>
            <a:ext cx="869244" cy="10711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5598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FC4DE-8101-8A07-CC8A-37710F5C1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8 (2026)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A92AE6-66DB-712C-392F-79F8B2D1DE4F}"/>
              </a:ext>
            </a:extLst>
          </p:cNvPr>
          <p:cNvSpPr/>
          <p:nvPr/>
        </p:nvSpPr>
        <p:spPr>
          <a:xfrm>
            <a:off x="4284133" y="2257778"/>
            <a:ext cx="3623733" cy="93697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Qualidade</a:t>
            </a:r>
          </a:p>
        </p:txBody>
      </p:sp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999CA54B-42DD-3CE8-8CCB-10527AD46292}"/>
              </a:ext>
            </a:extLst>
          </p:cNvPr>
          <p:cNvSpPr/>
          <p:nvPr/>
        </p:nvSpPr>
        <p:spPr>
          <a:xfrm rot="2157666">
            <a:off x="4521460" y="3347907"/>
            <a:ext cx="869244" cy="10711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Baixo 5">
            <a:extLst>
              <a:ext uri="{FF2B5EF4-FFF2-40B4-BE49-F238E27FC236}">
                <a16:creationId xmlns:a16="http://schemas.microsoft.com/office/drawing/2014/main" id="{E9D2E1D3-9CD3-21E7-0B77-5F84CD4F25FC}"/>
              </a:ext>
            </a:extLst>
          </p:cNvPr>
          <p:cNvSpPr/>
          <p:nvPr/>
        </p:nvSpPr>
        <p:spPr>
          <a:xfrm rot="19574536">
            <a:off x="6825579" y="3371341"/>
            <a:ext cx="869244" cy="10711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966A43E-7767-98EF-3DFC-C4D33C95E50F}"/>
              </a:ext>
            </a:extLst>
          </p:cNvPr>
          <p:cNvSpPr/>
          <p:nvPr/>
        </p:nvSpPr>
        <p:spPr>
          <a:xfrm>
            <a:off x="855392" y="4437616"/>
            <a:ext cx="3939823" cy="145518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 err="1">
                <a:solidFill>
                  <a:schemeClr val="dk1"/>
                </a:solidFill>
              </a:rPr>
              <a:t>Scope</a:t>
            </a:r>
            <a:r>
              <a:rPr lang="pt-BR" sz="3200" dirty="0">
                <a:solidFill>
                  <a:schemeClr val="dk1"/>
                </a:solidFill>
              </a:rPr>
              <a:t> </a:t>
            </a:r>
          </a:p>
          <a:p>
            <a:pPr algn="ctr"/>
            <a:r>
              <a:rPr lang="pt-BR" sz="3200" dirty="0">
                <a:solidFill>
                  <a:schemeClr val="dk1"/>
                </a:solidFill>
              </a:rPr>
              <a:t>Performance Domain</a:t>
            </a:r>
          </a:p>
          <a:p>
            <a:pPr algn="ctr"/>
            <a:r>
              <a:rPr lang="pt-BR" sz="2400" dirty="0" err="1"/>
              <a:t>Validate</a:t>
            </a:r>
            <a:r>
              <a:rPr lang="pt-BR" sz="2400" dirty="0"/>
              <a:t> </a:t>
            </a:r>
            <a:r>
              <a:rPr lang="pt-BR" sz="2400" dirty="0" err="1"/>
              <a:t>scope</a:t>
            </a:r>
            <a:endParaRPr lang="pt-BR" sz="2800" dirty="0">
              <a:solidFill>
                <a:schemeClr val="dk1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0B08A00-DA02-3BE5-08D2-70CDAB61E112}"/>
              </a:ext>
            </a:extLst>
          </p:cNvPr>
          <p:cNvSpPr/>
          <p:nvPr/>
        </p:nvSpPr>
        <p:spPr>
          <a:xfrm>
            <a:off x="7086860" y="4448362"/>
            <a:ext cx="3939823" cy="144443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>
                <a:solidFill>
                  <a:schemeClr val="dk1"/>
                </a:solidFill>
              </a:rPr>
              <a:t>Governance Performance Domain</a:t>
            </a:r>
          </a:p>
          <a:p>
            <a:pPr algn="ctr"/>
            <a:r>
              <a:rPr lang="pt-BR" sz="2400" dirty="0" err="1"/>
              <a:t>Manage</a:t>
            </a:r>
            <a:r>
              <a:rPr lang="pt-BR" sz="2400" dirty="0"/>
              <a:t> </a:t>
            </a:r>
            <a:r>
              <a:rPr lang="pt-BR" sz="2400" dirty="0" err="1"/>
              <a:t>Quality</a:t>
            </a:r>
            <a:r>
              <a:rPr lang="pt-BR" sz="2400" dirty="0"/>
              <a:t> </a:t>
            </a:r>
            <a:r>
              <a:rPr lang="pt-BR" sz="2400" dirty="0" err="1"/>
              <a:t>Assurance</a:t>
            </a:r>
            <a:endParaRPr lang="pt-BR" sz="2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28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230B8-9885-53C6-AEAB-90678167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8 (2026)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8FED6B-FA1F-0ECE-15A9-D6747C4CA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Incorporar qualidade aos processos e às entregas</a:t>
            </a:r>
          </a:p>
          <a:p>
            <a:endParaRPr lang="pt-BR" dirty="0"/>
          </a:p>
        </p:txBody>
      </p:sp>
      <p:pic>
        <p:nvPicPr>
          <p:cNvPr id="2050" name="Picture 2" descr="Hi everyone, | Ricardo Viana Vargas, Ph.D.">
            <a:extLst>
              <a:ext uri="{FF2B5EF4-FFF2-40B4-BE49-F238E27FC236}">
                <a16:creationId xmlns:a16="http://schemas.microsoft.com/office/drawing/2014/main" id="{155542FA-7DA0-034C-738A-83CC6A07E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206625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FFCBF65-3DB8-9429-7965-88556CF5A2A1}"/>
              </a:ext>
            </a:extLst>
          </p:cNvPr>
          <p:cNvSpPr txBox="1"/>
          <p:nvPr/>
        </p:nvSpPr>
        <p:spPr>
          <a:xfrm>
            <a:off x="287866" y="6557963"/>
            <a:ext cx="11384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hlinkClick r:id="rId3"/>
              </a:rPr>
              <a:t>https://www.linkedin.com/posts/amir-masoud-amooee-pmp-pba-acp-3413781b2_pmbok8-projectmanagement-pmp-activity-7412029478534656001-1j-K</a:t>
            </a:r>
            <a:r>
              <a:rPr lang="pt-BR" sz="1400" dirty="0"/>
              <a:t> 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FFBA98D-B22A-79BB-F1C7-7157D098DDBF}"/>
              </a:ext>
            </a:extLst>
          </p:cNvPr>
          <p:cNvSpPr/>
          <p:nvPr/>
        </p:nvSpPr>
        <p:spPr>
          <a:xfrm>
            <a:off x="4797778" y="3549738"/>
            <a:ext cx="1399822" cy="276216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7240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2D738-1DB0-4940-23E4-CDFBEEAF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PMBOK 8 (2026)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AFD848-683B-A7B8-AA40-B46F0D7DA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pt-BR" dirty="0"/>
              <a:t>Qualidade é o quanto uma entrega — e o processo que a produziu — atende ou supera o que o projeto se propôs a entregar. </a:t>
            </a:r>
          </a:p>
          <a:p>
            <a:pPr lvl="1">
              <a:spcBef>
                <a:spcPts val="1200"/>
              </a:spcBef>
            </a:pPr>
            <a:r>
              <a:rPr lang="pt-BR" dirty="0"/>
              <a:t>Isso é medido por quatro coisas: os critérios de aceitação combinados, a </a:t>
            </a:r>
            <a:r>
              <a:rPr lang="pt-BR" dirty="0" err="1"/>
              <a:t>Definition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Done</a:t>
            </a:r>
            <a:r>
              <a:rPr lang="pt-BR" dirty="0"/>
              <a:t>, o quanto está "pronto para uso" (</a:t>
            </a:r>
            <a:r>
              <a:rPr lang="pt-BR" i="1" dirty="0" err="1"/>
              <a:t>fit</a:t>
            </a:r>
            <a:r>
              <a:rPr lang="pt-BR" i="1" dirty="0"/>
              <a:t> for use</a:t>
            </a:r>
            <a:r>
              <a:rPr lang="pt-BR" dirty="0"/>
              <a:t>), e a eficiência de chegar lá.</a:t>
            </a:r>
          </a:p>
          <a:p>
            <a:pPr rtl="0">
              <a:spcBef>
                <a:spcPts val="2400"/>
              </a:spcBef>
            </a:pPr>
            <a:r>
              <a:rPr lang="pt-BR" dirty="0"/>
              <a:t>Três perguntas resumem isso: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Performance</a:t>
            </a:r>
            <a:r>
              <a:rPr lang="pt-BR" dirty="0"/>
              <a:t> — funciona como a equipe e as partes interessadas esperavam?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Conformidade</a:t>
            </a:r>
            <a:r>
              <a:rPr lang="pt-BR" dirty="0"/>
              <a:t> — está de acordo com a especificação e serve para o uso pretendido </a:t>
            </a:r>
            <a:r>
              <a:rPr lang="pt-BR" i="1" dirty="0"/>
              <a:t>(</a:t>
            </a:r>
            <a:r>
              <a:rPr lang="pt-BR" i="1" dirty="0" err="1"/>
              <a:t>fit</a:t>
            </a:r>
            <a:r>
              <a:rPr lang="pt-BR" i="1" dirty="0"/>
              <a:t> for use)?</a:t>
            </a:r>
          </a:p>
          <a:p>
            <a:pPr lvl="1">
              <a:spcBef>
                <a:spcPts val="1200"/>
              </a:spcBef>
            </a:pPr>
            <a:r>
              <a:rPr lang="pt-BR" b="1" dirty="0"/>
              <a:t>Confiabilidade</a:t>
            </a:r>
            <a:r>
              <a:rPr lang="pt-BR" dirty="0"/>
              <a:t> — continua entregando esse resultado de forma consistente?</a:t>
            </a:r>
          </a:p>
        </p:txBody>
      </p:sp>
    </p:spTree>
    <p:extLst>
      <p:ext uri="{BB962C8B-B14F-4D97-AF65-F5344CB8AC3E}">
        <p14:creationId xmlns:p14="http://schemas.microsoft.com/office/powerpoint/2010/main" val="314044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2EB1D-0AAF-70FC-590A-AB3EF2E1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4EC41B-48E9-C38C-E631-D0D6AEB6E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alcançar?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Métodos</a:t>
            </a:r>
            <a:r>
              <a:rPr lang="pt-BR" dirty="0"/>
              <a:t> de </a:t>
            </a:r>
            <a:r>
              <a:rPr lang="pt-BR" b="1" dirty="0">
                <a:solidFill>
                  <a:schemeClr val="accent1"/>
                </a:solidFill>
              </a:rPr>
              <a:t>Engenharia</a:t>
            </a:r>
            <a:r>
              <a:rPr lang="pt-BR" dirty="0"/>
              <a:t> de Software (</a:t>
            </a:r>
            <a:r>
              <a:rPr lang="pt-BR" i="1" dirty="0"/>
              <a:t>revisão de código, testes...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Técnicas</a:t>
            </a:r>
            <a:r>
              <a:rPr lang="pt-BR" dirty="0"/>
              <a:t> de </a:t>
            </a:r>
            <a:r>
              <a:rPr lang="pt-BR" b="1" dirty="0">
                <a:solidFill>
                  <a:schemeClr val="accent1"/>
                </a:solidFill>
              </a:rPr>
              <a:t>Gerenciamento</a:t>
            </a:r>
            <a:r>
              <a:rPr lang="pt-BR" dirty="0"/>
              <a:t> de Software (</a:t>
            </a:r>
            <a:r>
              <a:rPr lang="pt-BR" i="1" dirty="0"/>
              <a:t>planejamento, progresso, custo...</a:t>
            </a:r>
            <a:r>
              <a:rPr lang="pt-BR" dirty="0"/>
              <a:t>)</a:t>
            </a:r>
          </a:p>
          <a:p>
            <a:pPr lvl="1"/>
            <a:endParaRPr lang="pt-BR" b="1" dirty="0"/>
          </a:p>
          <a:p>
            <a:pPr lvl="1"/>
            <a:r>
              <a:rPr lang="pt-BR" b="1" dirty="0"/>
              <a:t>Planejamento</a:t>
            </a:r>
            <a:r>
              <a:rPr lang="pt-BR" dirty="0"/>
              <a:t> da </a:t>
            </a:r>
            <a:r>
              <a:rPr lang="pt-BR" dirty="0">
                <a:solidFill>
                  <a:schemeClr val="accent1"/>
                </a:solidFill>
              </a:rPr>
              <a:t>qualidade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Garantia da qualidade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Controle da qualidade</a:t>
            </a:r>
          </a:p>
        </p:txBody>
      </p:sp>
    </p:spTree>
    <p:extLst>
      <p:ext uri="{BB962C8B-B14F-4D97-AF65-F5344CB8AC3E}">
        <p14:creationId xmlns:p14="http://schemas.microsoft.com/office/powerpoint/2010/main" val="4089518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9EBE4-002B-9436-A7F5-61740EB0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Planejamento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AA7F51-B845-0E50-7E5A-8BE6CE845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Define como o projeto irá atingir os </a:t>
            </a:r>
            <a:r>
              <a:rPr lang="pt-BR" b="1" dirty="0"/>
              <a:t>padrões de qualidade esperados:</a:t>
            </a:r>
          </a:p>
          <a:p>
            <a:pPr lvl="1"/>
            <a:r>
              <a:rPr lang="pt-BR" b="1" dirty="0"/>
              <a:t>O que </a:t>
            </a:r>
            <a:r>
              <a:rPr lang="pt-BR" dirty="0"/>
              <a:t>significa “qualidade” para aquele sistema (ex.: segurança, usabilidade, desempenho).</a:t>
            </a:r>
          </a:p>
          <a:p>
            <a:pPr lvl="1"/>
            <a:r>
              <a:rPr lang="pt-BR" b="1" dirty="0"/>
              <a:t>Como </a:t>
            </a:r>
            <a:r>
              <a:rPr lang="pt-BR" dirty="0"/>
              <a:t>será medida essa qualidade (métricas)</a:t>
            </a:r>
          </a:p>
          <a:p>
            <a:pPr lvl="1"/>
            <a:r>
              <a:rPr lang="pt-BR" b="1" dirty="0"/>
              <a:t>Quem</a:t>
            </a:r>
            <a:r>
              <a:rPr lang="pt-BR" dirty="0"/>
              <a:t> é o responsável por verificar e validar</a:t>
            </a:r>
          </a:p>
          <a:p>
            <a:pPr lvl="1"/>
            <a:r>
              <a:rPr lang="pt-BR" b="1" dirty="0"/>
              <a:t>Quando</a:t>
            </a:r>
            <a:r>
              <a:rPr lang="pt-BR" dirty="0"/>
              <a:t> as atividades de verificação ocorrerão</a:t>
            </a:r>
          </a:p>
          <a:p>
            <a:pPr lvl="1"/>
            <a:endParaRPr lang="pt-BR" dirty="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B8A9BDC-3A80-5E79-90CA-3701513CD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4268483"/>
              </p:ext>
            </p:extLst>
          </p:nvPr>
        </p:nvGraphicFramePr>
        <p:xfrm>
          <a:off x="973667" y="3645428"/>
          <a:ext cx="10035822" cy="308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Gráfico 5">
            <a:extLst>
              <a:ext uri="{FF2B5EF4-FFF2-40B4-BE49-F238E27FC236}">
                <a16:creationId xmlns:a16="http://schemas.microsoft.com/office/drawing/2014/main" id="{E6E1F983-6A89-C262-1B5D-AE10DF5662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673577" y="5805311"/>
            <a:ext cx="922867" cy="92286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4863584-9452-06B1-82D2-A2291005BB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71774" y="5857874"/>
            <a:ext cx="983583" cy="922868"/>
          </a:xfrm>
          <a:prstGeom prst="rect">
            <a:avLst/>
          </a:prstGeom>
        </p:spPr>
      </p:pic>
      <p:pic>
        <p:nvPicPr>
          <p:cNvPr id="12" name="Imagem 11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F67ECC4-ABD0-E8CD-EF96-A537CBBFE82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l="51395" t="3803" r="25343" b="27971"/>
          <a:stretch/>
        </p:blipFill>
        <p:spPr>
          <a:xfrm>
            <a:off x="6526389" y="5926739"/>
            <a:ext cx="824089" cy="822795"/>
          </a:xfrm>
          <a:prstGeom prst="rect">
            <a:avLst/>
          </a:prstGeom>
        </p:spPr>
      </p:pic>
      <p:pic>
        <p:nvPicPr>
          <p:cNvPr id="14" name="Imagem 1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F3416405-5CF2-E158-BD6D-4E0EA712D3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7500" b="67500" l="52979" r="72979">
                        <a14:foregroundMark x1="55745" y1="58750" x2="55745" y2="58750"/>
                        <a14:foregroundMark x1="55745" y1="55000" x2="54681" y2="42500"/>
                        <a14:foregroundMark x1="54468" y1="40625" x2="54468" y2="40625"/>
                        <a14:foregroundMark x1="54894" y1="21250" x2="65745" y2="12500"/>
                        <a14:foregroundMark x1="65745" y1="12500" x2="70426" y2="16875"/>
                        <a14:foregroundMark x1="70426" y1="16875" x2="72979" y2="35625"/>
                        <a14:foregroundMark x1="72979" y1="35625" x2="72979" y2="42500"/>
                        <a14:foregroundMark x1="63617" y1="8125" x2="63617" y2="8125"/>
                        <a14:foregroundMark x1="65745" y1="7500" x2="65745" y2="7500"/>
                        <a14:foregroundMark x1="67021" y1="10000" x2="62553" y2="8125"/>
                        <a14:foregroundMark x1="62553" y1="8125" x2="57872" y2="11250"/>
                        <a14:foregroundMark x1="57872" y1="11250" x2="54468" y2="25625"/>
                        <a14:foregroundMark x1="54468" y1="25625" x2="53191" y2="38125"/>
                        <a14:foregroundMark x1="53191" y1="38125" x2="54894" y2="55000"/>
                        <a14:foregroundMark x1="54894" y1="55000" x2="59574" y2="64375"/>
                        <a14:foregroundMark x1="59574" y1="64375" x2="65319" y2="67500"/>
                        <a14:foregroundMark x1="65319" y1="67500" x2="69149" y2="62500"/>
                        <a14:foregroundMark x1="69149" y1="62500" x2="71702" y2="50000"/>
                        <a14:foregroundMark x1="71702" y1="50000" x2="72979" y2="37500"/>
                        <a14:foregroundMark x1="72979" y1="37500" x2="72128" y2="22500"/>
                        <a14:foregroundMark x1="72128" y1="22500" x2="68936" y2="12500"/>
                        <a14:foregroundMark x1="68936" y1="12500" x2="66596" y2="9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l="51395" t="3803" r="25343" b="27971"/>
          <a:stretch/>
        </p:blipFill>
        <p:spPr>
          <a:xfrm>
            <a:off x="10158646" y="5970763"/>
            <a:ext cx="735905" cy="734749"/>
          </a:xfrm>
          <a:prstGeom prst="rect">
            <a:avLst/>
          </a:prstGeom>
        </p:spPr>
      </p:pic>
      <p:pic>
        <p:nvPicPr>
          <p:cNvPr id="16" name="Imagem 15" descr="Ícone&#10;&#10;Descrição gerada automaticamente">
            <a:extLst>
              <a:ext uri="{FF2B5EF4-FFF2-40B4-BE49-F238E27FC236}">
                <a16:creationId xmlns:a16="http://schemas.microsoft.com/office/drawing/2014/main" id="{058E8367-3391-8D9A-25EE-CFDF79358B4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7467567" y="6152075"/>
            <a:ext cx="681599" cy="340800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E1A1ECC-08E2-2ED3-AC9A-30E050109FB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4271929" y="5993694"/>
            <a:ext cx="672604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754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203D0-C7B8-6CA6-3AFF-D8C67509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1) Planejamento da qualidade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1A6B21D-B269-7B9D-78BA-0DC83DE352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3430280"/>
              </p:ext>
            </p:extLst>
          </p:nvPr>
        </p:nvGraphicFramePr>
        <p:xfrm>
          <a:off x="838200" y="1263472"/>
          <a:ext cx="10035822" cy="308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4677D24-A818-C307-607A-6F12558FF102}"/>
              </a:ext>
            </a:extLst>
          </p:cNvPr>
          <p:cNvSpPr txBox="1"/>
          <p:nvPr/>
        </p:nvSpPr>
        <p:spPr>
          <a:xfrm>
            <a:off x="564444" y="3725332"/>
            <a:ext cx="2585155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2400" b="1" dirty="0"/>
              <a:t>Desempenho</a:t>
            </a:r>
            <a:r>
              <a:rPr lang="pt-BR" sz="2400" dirty="0"/>
              <a:t>:</a:t>
            </a:r>
          </a:p>
          <a:p>
            <a:r>
              <a:rPr lang="pt-BR" sz="2400" dirty="0"/>
              <a:t>O sistema deve ter </a:t>
            </a:r>
          </a:p>
          <a:p>
            <a:r>
              <a:rPr lang="pt-BR" sz="2400" i="1" dirty="0"/>
              <a:t>tempo de resposta </a:t>
            </a:r>
            <a:r>
              <a:rPr lang="pt-BR" sz="2400" dirty="0"/>
              <a:t>&lt; 2s por requisição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1A6D36-A3CC-E966-3EC6-16748B201349}"/>
              </a:ext>
            </a:extLst>
          </p:cNvPr>
          <p:cNvSpPr txBox="1"/>
          <p:nvPr/>
        </p:nvSpPr>
        <p:spPr>
          <a:xfrm>
            <a:off x="8590845" y="3721075"/>
            <a:ext cx="2568222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400" dirty="0"/>
              <a:t>Líder técnico planeja métricas; </a:t>
            </a:r>
          </a:p>
          <a:p>
            <a:endParaRPr lang="pt-BR" sz="2400" dirty="0"/>
          </a:p>
          <a:p>
            <a:r>
              <a:rPr lang="pt-BR" sz="2400" dirty="0"/>
              <a:t>Equipe realiza próprios testes; </a:t>
            </a:r>
          </a:p>
          <a:p>
            <a:endParaRPr lang="pt-BR" sz="2400" dirty="0"/>
          </a:p>
          <a:p>
            <a:r>
              <a:rPr lang="pt-BR" sz="2400" dirty="0"/>
              <a:t>PO valida resultados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C4634BD-CEFA-65D7-B1CE-FFC04D097514}"/>
              </a:ext>
            </a:extLst>
          </p:cNvPr>
          <p:cNvSpPr txBox="1"/>
          <p:nvPr/>
        </p:nvSpPr>
        <p:spPr>
          <a:xfrm>
            <a:off x="3239911" y="3735608"/>
            <a:ext cx="2585155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/>
              <a:t>Em ambiente </a:t>
            </a:r>
            <a:r>
              <a:rPr lang="pt-BR" sz="2000" b="1" dirty="0"/>
              <a:t>HMG</a:t>
            </a:r>
          </a:p>
          <a:p>
            <a:endParaRPr lang="pt-BR" sz="2000" dirty="0"/>
          </a:p>
          <a:p>
            <a:r>
              <a:rPr lang="pt-BR" sz="2000" dirty="0"/>
              <a:t>Teste de carga com 1000 usuários usando </a:t>
            </a:r>
            <a:r>
              <a:rPr lang="pt-BR" sz="2000" dirty="0" err="1"/>
              <a:t>JMeter</a:t>
            </a:r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Todas páginas com tempo de resposta estabelecido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AF2BACB-E4A0-371E-3BE1-382DF4E10B1A}"/>
              </a:ext>
            </a:extLst>
          </p:cNvPr>
          <p:cNvSpPr txBox="1"/>
          <p:nvPr/>
        </p:nvSpPr>
        <p:spPr>
          <a:xfrm>
            <a:off x="5915378" y="3735608"/>
            <a:ext cx="2585155" cy="30469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400" dirty="0"/>
              <a:t>Teste de carga executado 10 vezes</a:t>
            </a:r>
          </a:p>
          <a:p>
            <a:endParaRPr lang="pt-BR" sz="2400" dirty="0"/>
          </a:p>
          <a:p>
            <a:r>
              <a:rPr lang="pt-BR" sz="2400" dirty="0"/>
              <a:t>Tempo médio e desvio padrão devem estar no máximo 10% acima do limite</a:t>
            </a:r>
          </a:p>
        </p:txBody>
      </p:sp>
    </p:spTree>
    <p:extLst>
      <p:ext uri="{BB962C8B-B14F-4D97-AF65-F5344CB8AC3E}">
        <p14:creationId xmlns:p14="http://schemas.microsoft.com/office/powerpoint/2010/main" val="937586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12CC5-5367-2692-6E92-5DB84F48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Garantia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27E200-3AC6-0136-3006-4DD1E9B82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Atividades que asseguram que os </a:t>
            </a:r>
            <a:r>
              <a:rPr lang="pt-BR" b="1" dirty="0"/>
              <a:t>processos </a:t>
            </a:r>
            <a:r>
              <a:rPr lang="pt-BR" dirty="0"/>
              <a:t>usados para desenvolver o software estão sendo </a:t>
            </a:r>
            <a:r>
              <a:rPr lang="pt-BR" b="1" dirty="0"/>
              <a:t>seguidos corretamente </a:t>
            </a:r>
            <a:r>
              <a:rPr lang="pt-BR" dirty="0"/>
              <a:t>e </a:t>
            </a:r>
            <a:r>
              <a:rPr lang="pt-BR" b="1" dirty="0"/>
              <a:t>são eficazes </a:t>
            </a:r>
            <a:r>
              <a:rPr lang="pt-BR" dirty="0"/>
              <a:t>para gerar qualidade.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Foco no </a:t>
            </a:r>
            <a:r>
              <a:rPr lang="pt-BR" b="1" dirty="0"/>
              <a:t>processo</a:t>
            </a:r>
            <a:r>
              <a:rPr lang="pt-BR" dirty="0"/>
              <a:t> (não apenas no produto final)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Auditorias</a:t>
            </a:r>
            <a:r>
              <a:rPr lang="pt-BR" dirty="0"/>
              <a:t> ou </a:t>
            </a:r>
            <a:r>
              <a:rPr lang="pt-BR" b="1" dirty="0"/>
              <a:t>revisões</a:t>
            </a:r>
            <a:r>
              <a:rPr lang="pt-BR" dirty="0"/>
              <a:t> periódicas (código, documentação, builds)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Padrões</a:t>
            </a:r>
            <a:r>
              <a:rPr lang="pt-BR" dirty="0"/>
              <a:t> e </a:t>
            </a:r>
            <a:r>
              <a:rPr lang="pt-BR" b="1" dirty="0"/>
              <a:t>políticas</a:t>
            </a:r>
            <a:r>
              <a:rPr lang="pt-BR" dirty="0"/>
              <a:t> definidas e comunicadas à equipe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Melhoria contínua</a:t>
            </a:r>
            <a:r>
              <a:rPr lang="pt-BR" dirty="0"/>
              <a:t>: identificar causas-raiz de defeitos e preveni-los.</a:t>
            </a:r>
          </a:p>
        </p:txBody>
      </p:sp>
      <p:sp>
        <p:nvSpPr>
          <p:cNvPr id="5" name="Fluxograma: Processo 4">
            <a:extLst>
              <a:ext uri="{FF2B5EF4-FFF2-40B4-BE49-F238E27FC236}">
                <a16:creationId xmlns:a16="http://schemas.microsoft.com/office/drawing/2014/main" id="{521B409C-85DD-2DAC-584E-0613335486FA}"/>
              </a:ext>
            </a:extLst>
          </p:cNvPr>
          <p:cNvSpPr/>
          <p:nvPr/>
        </p:nvSpPr>
        <p:spPr>
          <a:xfrm>
            <a:off x="4413954" y="5532967"/>
            <a:ext cx="3002845" cy="1106311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pt-BR" sz="2400" dirty="0"/>
              <a:t>“fazer certo da primeira vez”</a:t>
            </a:r>
          </a:p>
        </p:txBody>
      </p:sp>
      <p:pic>
        <p:nvPicPr>
          <p:cNvPr id="1029" name="Picture 5" descr="Agrojet recebe sua terceira certificação ISO 9001">
            <a:extLst>
              <a:ext uri="{FF2B5EF4-FFF2-40B4-BE49-F238E27FC236}">
                <a16:creationId xmlns:a16="http://schemas.microsoft.com/office/drawing/2014/main" id="{5B11F1B9-6964-35FC-4E04-3EBA796D7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539" y="2724944"/>
            <a:ext cx="17907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692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1D351-4F72-91ED-DA2A-79B853DF7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Garantia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30D091-1383-0E1D-F3C0-90C6CD92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Exemplos de qualidade no processo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017A106-449F-7128-B4F1-EA7149533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621537"/>
              </p:ext>
            </p:extLst>
          </p:nvPr>
        </p:nvGraphicFramePr>
        <p:xfrm>
          <a:off x="838200" y="2525272"/>
          <a:ext cx="10687756" cy="326136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623475864"/>
                    </a:ext>
                  </a:extLst>
                </a:gridCol>
                <a:gridCol w="4100689">
                  <a:extLst>
                    <a:ext uri="{9D8B030D-6E8A-4147-A177-3AD203B41FA5}">
                      <a16:colId xmlns:a16="http://schemas.microsoft.com/office/drawing/2014/main" val="619500509"/>
                    </a:ext>
                  </a:extLst>
                </a:gridCol>
                <a:gridCol w="3081867">
                  <a:extLst>
                    <a:ext uri="{9D8B030D-6E8A-4147-A177-3AD203B41FA5}">
                      <a16:colId xmlns:a16="http://schemas.microsoft.com/office/drawing/2014/main" val="1846411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400" b="1" dirty="0"/>
                        <a:t>Atividade de QA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/>
                        <a:t>Descrição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/>
                        <a:t>Ferramenta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5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000" dirty="0"/>
                        <a:t>Revisão de código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Outro membro revisa cada PR antes de merge.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hlinkClick r:id="rId2"/>
                        </a:rPr>
                        <a:t>GitHub PR Review</a:t>
                      </a:r>
                      <a:endParaRPr lang="pt-B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7429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000"/>
                        <a:t>Padronização de commits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A equipe usa convenção de mensagens de </a:t>
                      </a:r>
                      <a:r>
                        <a:rPr lang="pt-BR" sz="2000" dirty="0" err="1"/>
                        <a:t>commit</a:t>
                      </a:r>
                      <a:r>
                        <a:rPr lang="pt-BR" sz="2000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 err="1">
                          <a:hlinkClick r:id="rId3"/>
                        </a:rPr>
                        <a:t>Conventional</a:t>
                      </a:r>
                      <a:r>
                        <a:rPr lang="pt-BR" sz="2000" dirty="0">
                          <a:hlinkClick r:id="rId3"/>
                        </a:rPr>
                        <a:t> </a:t>
                      </a:r>
                      <a:r>
                        <a:rPr lang="pt-BR" sz="2000" dirty="0" err="1">
                          <a:hlinkClick r:id="rId3"/>
                        </a:rPr>
                        <a:t>Commits</a:t>
                      </a:r>
                      <a:endParaRPr lang="pt-B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188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000"/>
                        <a:t>Pipeline de build automatizado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O projeto não aceita merge se os testes falharem.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hlinkClick r:id="rId4"/>
                        </a:rPr>
                        <a:t>GitHub </a:t>
                      </a:r>
                      <a:r>
                        <a:rPr lang="pt-BR" sz="2000" dirty="0" err="1">
                          <a:hlinkClick r:id="rId4"/>
                        </a:rPr>
                        <a:t>Actions</a:t>
                      </a:r>
                      <a:endParaRPr lang="pt-BR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925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000"/>
                        <a:t>Checklist de qualidade de sprint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No final de cada sprint, a equipe avalia se os padrões foram seguidos.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Formulário Google / </a:t>
                      </a:r>
                      <a:r>
                        <a:rPr lang="pt-BR" sz="2000" dirty="0" err="1"/>
                        <a:t>Trello</a:t>
                      </a:r>
                      <a:r>
                        <a:rPr lang="pt-BR" sz="2000" dirty="0"/>
                        <a:t> checklist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652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818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71A42-5591-B363-2518-9DD70361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2) Garantia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8FD32-1519-4755-9C72-3DE753063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7756" cy="4351338"/>
          </a:xfrm>
        </p:spPr>
        <p:txBody>
          <a:bodyPr>
            <a:normAutofit fontScale="92500"/>
          </a:bodyPr>
          <a:lstStyle/>
          <a:p>
            <a:r>
              <a:rPr lang="pt-BR" dirty="0"/>
              <a:t>Governance &gt; </a:t>
            </a:r>
            <a:r>
              <a:rPr lang="pt-BR" dirty="0" err="1"/>
              <a:t>Manage</a:t>
            </a:r>
            <a:r>
              <a:rPr lang="pt-BR" dirty="0"/>
              <a:t> </a:t>
            </a:r>
            <a:r>
              <a:rPr lang="pt-BR" dirty="0" err="1"/>
              <a:t>Quality</a:t>
            </a:r>
            <a:r>
              <a:rPr lang="pt-BR" dirty="0"/>
              <a:t> </a:t>
            </a:r>
            <a:r>
              <a:rPr lang="pt-BR" dirty="0" err="1"/>
              <a:t>Assurance</a:t>
            </a:r>
            <a:endParaRPr lang="pt-BR" dirty="0"/>
          </a:p>
          <a:p>
            <a:pPr>
              <a:spcBef>
                <a:spcPts val="2400"/>
              </a:spcBef>
            </a:pPr>
            <a:r>
              <a:rPr lang="pt-BR" dirty="0"/>
              <a:t>Traduz o plano de gestão da qualidade em atividades executáveis que incorporam as politicas de qualidade no projeto</a:t>
            </a:r>
          </a:p>
          <a:p>
            <a:pPr>
              <a:spcBef>
                <a:spcPts val="2400"/>
              </a:spcBef>
            </a:pPr>
            <a:r>
              <a:rPr lang="pt-BR" dirty="0"/>
              <a:t>Foco na prevenção e no processo </a:t>
            </a:r>
            <a:r>
              <a:rPr lang="pt-BR" dirty="0">
                <a:sym typeface="Wingdings" panose="05000000000000000000" pitchFamily="2" charset="2"/>
              </a:rPr>
              <a:t> garante que a equipe esta usando padrões, ferramentas e processos corretos para evitar a criação de defeitos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Técnicas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Auditorias de qualidade: </a:t>
            </a:r>
            <a:r>
              <a:rPr lang="pt-BR" dirty="0" err="1">
                <a:sym typeface="Wingdings" panose="05000000000000000000" pitchFamily="2" charset="2"/>
              </a:rPr>
              <a:t>devs</a:t>
            </a:r>
            <a:r>
              <a:rPr lang="pt-BR" dirty="0">
                <a:sym typeface="Wingdings" panose="05000000000000000000" pitchFamily="2" charset="2"/>
              </a:rPr>
              <a:t> estão seguindo padrões de código e arquitetura?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Melhoria contínua: analise de causa raiz de bugs frequentes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Métricas: cobertura de testes unitários, densidade de defeitos, eficiência de testes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156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D48B5-61A2-DCED-8BCF-701E2590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3) Controle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1F1F4-74FE-EC43-D856-CA569E4D3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Visa verificar</a:t>
            </a:r>
            <a:r>
              <a:rPr lang="pt-BR" b="1" dirty="0"/>
              <a:t> </a:t>
            </a:r>
            <a:r>
              <a:rPr lang="pt-BR" dirty="0"/>
              <a:t>se</a:t>
            </a:r>
            <a:r>
              <a:rPr lang="pt-BR" b="1" dirty="0"/>
              <a:t> </a:t>
            </a:r>
            <a:r>
              <a:rPr lang="pt-BR" dirty="0"/>
              <a:t>o</a:t>
            </a:r>
            <a:r>
              <a:rPr lang="pt-BR" b="1" dirty="0"/>
              <a:t> produto atende </a:t>
            </a:r>
            <a:r>
              <a:rPr lang="pt-BR" dirty="0"/>
              <a:t>aos</a:t>
            </a:r>
            <a:r>
              <a:rPr lang="pt-BR" b="1" dirty="0"/>
              <a:t> padrões planejados</a:t>
            </a:r>
            <a:r>
              <a:rPr lang="pt-BR" dirty="0"/>
              <a:t>.</a:t>
            </a:r>
          </a:p>
          <a:p>
            <a:r>
              <a:rPr lang="pt-BR" dirty="0"/>
              <a:t>Parte </a:t>
            </a:r>
            <a:r>
              <a:rPr lang="pt-BR" b="1" dirty="0"/>
              <a:t>mensurável </a:t>
            </a:r>
            <a:r>
              <a:rPr lang="pt-BR" dirty="0"/>
              <a:t>e</a:t>
            </a:r>
            <a:r>
              <a:rPr lang="pt-BR" b="1" dirty="0"/>
              <a:t> objetiva</a:t>
            </a:r>
            <a:r>
              <a:rPr lang="pt-BR" dirty="0"/>
              <a:t> — testes, inspeções, medições</a:t>
            </a:r>
          </a:p>
        </p:txBody>
      </p:sp>
      <p:sp>
        <p:nvSpPr>
          <p:cNvPr id="4" name="Fluxograma: Processo 3">
            <a:extLst>
              <a:ext uri="{FF2B5EF4-FFF2-40B4-BE49-F238E27FC236}">
                <a16:creationId xmlns:a16="http://schemas.microsoft.com/office/drawing/2014/main" id="{980CEA36-4ACE-ABE5-6B61-5E1793D93E40}"/>
              </a:ext>
            </a:extLst>
          </p:cNvPr>
          <p:cNvSpPr/>
          <p:nvPr/>
        </p:nvSpPr>
        <p:spPr>
          <a:xfrm>
            <a:off x="4413954" y="5532967"/>
            <a:ext cx="3002845" cy="1106311"/>
          </a:xfrm>
          <a:prstGeom prst="flowChart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pt-BR" sz="2400" dirty="0"/>
              <a:t>“verificar se o que foi feito está certo”</a:t>
            </a:r>
          </a:p>
        </p:txBody>
      </p:sp>
      <p:pic>
        <p:nvPicPr>
          <p:cNvPr id="4100" name="Picture 4" descr="Controle de qualidade: o que é, para que serve e como realizar? | Blog |  Videnci">
            <a:extLst>
              <a:ext uri="{FF2B5EF4-FFF2-40B4-BE49-F238E27FC236}">
                <a16:creationId xmlns:a16="http://schemas.microsoft.com/office/drawing/2014/main" id="{7354D08E-40B0-2337-9303-93E6C8D56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529" y="2893529"/>
            <a:ext cx="3859742" cy="2571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28862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A326-57C8-9517-2F71-7CE84C64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5DBA6-0F89-7C47-5EA7-3269305B1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3) Controle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18D464-0365-D9FC-2F21-E2EE53FD2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E840D905-2D42-FFFC-7B44-5D5F71B11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383492"/>
              </p:ext>
            </p:extLst>
          </p:nvPr>
        </p:nvGraphicFramePr>
        <p:xfrm>
          <a:off x="609599" y="2538254"/>
          <a:ext cx="11164710" cy="374904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721570">
                  <a:extLst>
                    <a:ext uri="{9D8B030D-6E8A-4147-A177-3AD203B41FA5}">
                      <a16:colId xmlns:a16="http://schemas.microsoft.com/office/drawing/2014/main" val="39420226"/>
                    </a:ext>
                  </a:extLst>
                </a:gridCol>
                <a:gridCol w="3721570">
                  <a:extLst>
                    <a:ext uri="{9D8B030D-6E8A-4147-A177-3AD203B41FA5}">
                      <a16:colId xmlns:a16="http://schemas.microsoft.com/office/drawing/2014/main" val="2602112477"/>
                    </a:ext>
                  </a:extLst>
                </a:gridCol>
                <a:gridCol w="3721570">
                  <a:extLst>
                    <a:ext uri="{9D8B030D-6E8A-4147-A177-3AD203B41FA5}">
                      <a16:colId xmlns:a16="http://schemas.microsoft.com/office/drawing/2014/main" val="19936425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400" b="1" dirty="0"/>
                        <a:t>Atividade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/>
                        <a:t>Descrição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400" b="1" dirty="0"/>
                        <a:t>Exemplo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862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b="0"/>
                        <a:t>Testes automatizados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Validam requisitos funcionais e não funcionais.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Testes unitários, integração, aceitação.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992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b="0"/>
                        <a:t>Inspeção de artefatos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Revisão manual de requisitos, design ou código.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Checklist de qualidade antes da entrega.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941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b="0"/>
                        <a:t>Monitoramento de métricas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Acompanhar indicadores definidos no planejamento.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Taxa de defeitos, performance, cobertura.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276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2400" b="0" dirty="0"/>
                        <a:t>Relatórios de qualidade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/>
                        <a:t>Documentar conformidade e não conformidade.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“Módulo X falhou em 2 dos 15 testes de integração.”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0241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626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1543C-6128-8C32-2A4C-83220513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3) Controle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EE93F-6BAB-396C-5F29-5A00ACE00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err="1"/>
              <a:t>Scope</a:t>
            </a:r>
            <a:r>
              <a:rPr lang="pt-BR" dirty="0"/>
              <a:t> &gt; </a:t>
            </a:r>
            <a:r>
              <a:rPr lang="pt-BR" dirty="0" err="1"/>
              <a:t>Validate</a:t>
            </a:r>
            <a:r>
              <a:rPr lang="pt-BR" dirty="0"/>
              <a:t> </a:t>
            </a:r>
            <a:r>
              <a:rPr lang="pt-BR" dirty="0" err="1"/>
              <a:t>scope</a:t>
            </a:r>
            <a:endParaRPr lang="pt-BR" dirty="0"/>
          </a:p>
          <a:p>
            <a:pPr>
              <a:spcBef>
                <a:spcPts val="2400"/>
              </a:spcBef>
            </a:pPr>
            <a:r>
              <a:rPr lang="pt-BR" dirty="0"/>
              <a:t>Processo de formalizar a aceitação das entregas concluídas do projeto pelo cliente ou patrocinador</a:t>
            </a:r>
          </a:p>
          <a:p>
            <a:pPr>
              <a:spcBef>
                <a:spcPts val="2400"/>
              </a:spcBef>
            </a:pPr>
            <a:r>
              <a:rPr lang="pt-BR" dirty="0"/>
              <a:t>Foco: aceitação e conformidade </a:t>
            </a:r>
            <a:r>
              <a:rPr lang="pt-BR" dirty="0">
                <a:sym typeface="Wingdings" panose="05000000000000000000" pitchFamily="2" charset="2"/>
              </a:rPr>
              <a:t> não busca apenas encontrar erros mas confirmar que o software atende aos critérios de sucesso acordados</a:t>
            </a:r>
          </a:p>
          <a:p>
            <a:pPr>
              <a:spcBef>
                <a:spcPts val="2400"/>
              </a:spcBef>
            </a:pPr>
            <a:r>
              <a:rPr lang="pt-BR" dirty="0">
                <a:sym typeface="Wingdings" panose="05000000000000000000" pitchFamily="2" charset="2"/>
              </a:rPr>
              <a:t>Técnicas: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Entrada: entregas verificas – módulos já passaram pelos testes internos;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Inspeção: demo com cliente (sprint reviews ou homologações);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Saída: entregas aceitas formalmente ou solicitações de mudança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6029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C28B-8D81-CD33-AB24-162B21EDB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70FAD-C22C-E20E-F385-3CBCC76D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Visão global da qualidade de software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B1EC579-CAED-8BFB-5DCD-952B34B45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854309"/>
              </p:ext>
            </p:extLst>
          </p:nvPr>
        </p:nvGraphicFramePr>
        <p:xfrm>
          <a:off x="506334" y="2132138"/>
          <a:ext cx="11405110" cy="4761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444">
                  <a:extLst>
                    <a:ext uri="{9D8B030D-6E8A-4147-A177-3AD203B41FA5}">
                      <a16:colId xmlns:a16="http://schemas.microsoft.com/office/drawing/2014/main" val="2811883595"/>
                    </a:ext>
                  </a:extLst>
                </a:gridCol>
                <a:gridCol w="4989689">
                  <a:extLst>
                    <a:ext uri="{9D8B030D-6E8A-4147-A177-3AD203B41FA5}">
                      <a16:colId xmlns:a16="http://schemas.microsoft.com/office/drawing/2014/main" val="2006228550"/>
                    </a:ext>
                  </a:extLst>
                </a:gridCol>
                <a:gridCol w="4663977">
                  <a:extLst>
                    <a:ext uri="{9D8B030D-6E8A-4147-A177-3AD203B41FA5}">
                      <a16:colId xmlns:a16="http://schemas.microsoft.com/office/drawing/2014/main" val="2594057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PROCESSO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PRODUTO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056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i="1" dirty="0"/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Prevenir</a:t>
                      </a:r>
                      <a:r>
                        <a:rPr lang="pt-BR" sz="2000" dirty="0"/>
                        <a:t> por meio de processos padronizados e otimizados para minimizar a ocorrência de defeitos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Detectar</a:t>
                      </a:r>
                      <a:r>
                        <a:rPr lang="pt-BR" sz="2000" dirty="0"/>
                        <a:t> e </a:t>
                      </a:r>
                      <a:r>
                        <a:rPr lang="pt-BR" sz="2000" b="1" dirty="0"/>
                        <a:t>corrigir</a:t>
                      </a:r>
                      <a:r>
                        <a:rPr lang="pt-BR" sz="2000" dirty="0"/>
                        <a:t> problemas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806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i="1" dirty="0"/>
                        <a:t>PMBOK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Governance &gt; </a:t>
                      </a:r>
                      <a:r>
                        <a:rPr lang="pt-BR" sz="2000" dirty="0" err="1"/>
                        <a:t>Manage</a:t>
                      </a:r>
                      <a:r>
                        <a:rPr lang="pt-BR" sz="2000" dirty="0"/>
                        <a:t> </a:t>
                      </a:r>
                      <a:r>
                        <a:rPr lang="pt-BR" sz="2000" dirty="0" err="1"/>
                        <a:t>quality</a:t>
                      </a:r>
                      <a:r>
                        <a:rPr lang="pt-BR" sz="2000" dirty="0"/>
                        <a:t> </a:t>
                      </a:r>
                      <a:r>
                        <a:rPr lang="pt-BR" sz="2000" dirty="0" err="1"/>
                        <a:t>assurance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 err="1"/>
                        <a:t>Scope</a:t>
                      </a:r>
                      <a:r>
                        <a:rPr lang="pt-BR" sz="2000" dirty="0"/>
                        <a:t> &gt; </a:t>
                      </a:r>
                      <a:r>
                        <a:rPr lang="pt-BR" sz="2000" dirty="0" err="1"/>
                        <a:t>Validate</a:t>
                      </a:r>
                      <a:r>
                        <a:rPr lang="pt-BR" sz="2000" dirty="0"/>
                        <a:t> </a:t>
                      </a:r>
                      <a:r>
                        <a:rPr lang="pt-BR" sz="2000" dirty="0" err="1"/>
                        <a:t>Scope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7303000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r>
                        <a:rPr lang="pt-BR" sz="2000" i="1" dirty="0"/>
                        <a:t>Características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Mais abrangente e estrutural, </a:t>
                      </a:r>
                      <a:r>
                        <a:rPr lang="pt-BR" sz="2000" b="1" dirty="0"/>
                        <a:t>organizacional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inspeção</a:t>
                      </a:r>
                      <a:r>
                        <a:rPr lang="pt-BR" sz="2000" dirty="0"/>
                        <a:t> de produto final para identificar defeitos presentes e garantir conformidade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980655"/>
                  </a:ext>
                </a:extLst>
              </a:tr>
              <a:tr h="725079">
                <a:tc>
                  <a:txBody>
                    <a:bodyPr/>
                    <a:lstStyle/>
                    <a:p>
                      <a:r>
                        <a:rPr lang="pt-BR" sz="2000" i="1" dirty="0"/>
                        <a:t>Práticas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Processos</a:t>
                      </a:r>
                      <a:r>
                        <a:rPr lang="pt-BR" sz="2000" dirty="0"/>
                        <a:t>, </a:t>
                      </a:r>
                      <a:r>
                        <a:rPr lang="pt-BR" sz="2000" b="1" dirty="0"/>
                        <a:t>políticas</a:t>
                      </a:r>
                      <a:r>
                        <a:rPr lang="pt-BR" sz="2000" dirty="0"/>
                        <a:t>, padrões, convenções, capacitação, gerenciamento de configuração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Testes</a:t>
                      </a:r>
                      <a:r>
                        <a:rPr lang="pt-BR" sz="2000" dirty="0"/>
                        <a:t> e inspeções no produto, medição e análise de defeitos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641993"/>
                  </a:ext>
                </a:extLst>
              </a:tr>
              <a:tr h="531314">
                <a:tc>
                  <a:txBody>
                    <a:bodyPr/>
                    <a:lstStyle/>
                    <a:p>
                      <a:r>
                        <a:rPr lang="pt-BR" sz="2000" i="1" dirty="0"/>
                        <a:t>Modelos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Maturidade: </a:t>
                      </a:r>
                      <a:r>
                        <a:rPr lang="pt-BR" sz="2000" dirty="0" err="1"/>
                        <a:t>CMMi</a:t>
                      </a:r>
                      <a:r>
                        <a:rPr lang="pt-BR" sz="2000" dirty="0"/>
                        <a:t>, MPS.BR, SPICE, 6-SIGMA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Normas ISO 25010, IEEE 1044, IEE 829...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469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i="1" dirty="0"/>
                        <a:t>Ferramentas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Ferramentas de processo, análise estática, controle de versão, CI/CD, auditoria, </a:t>
                      </a:r>
                      <a:r>
                        <a:rPr lang="pt-BR" sz="2000" i="1" dirty="0"/>
                        <a:t>compliance</a:t>
                      </a:r>
                      <a:r>
                        <a:rPr lang="pt-BR" sz="2000" dirty="0"/>
                        <a:t> e gerenciamento de processos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Testes funcionais automatizados, desempenho, usabilidade, segurança, gerenciamento de defeitos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3801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5632F7AF-45AB-EBAE-D42C-3AC98D19964B}"/>
              </a:ext>
            </a:extLst>
          </p:cNvPr>
          <p:cNvSpPr txBox="1"/>
          <p:nvPr/>
        </p:nvSpPr>
        <p:spPr>
          <a:xfrm>
            <a:off x="393445" y="1542081"/>
            <a:ext cx="1140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Qualidade de software</a:t>
            </a:r>
            <a:r>
              <a:rPr lang="pt-BR" dirty="0"/>
              <a:t>: busca garantir que tanto o </a:t>
            </a:r>
            <a:r>
              <a:rPr lang="pt-BR" b="1" dirty="0">
                <a:solidFill>
                  <a:schemeClr val="accent1"/>
                </a:solidFill>
              </a:rPr>
              <a:t>processo</a:t>
            </a:r>
            <a:r>
              <a:rPr lang="pt-BR" dirty="0"/>
              <a:t> quanto o </a:t>
            </a:r>
            <a:r>
              <a:rPr lang="pt-BR" b="1" dirty="0">
                <a:solidFill>
                  <a:schemeClr val="accent1"/>
                </a:solidFill>
              </a:rPr>
              <a:t>produto</a:t>
            </a:r>
            <a:r>
              <a:rPr lang="pt-BR" dirty="0"/>
              <a:t> estejam dentro de </a:t>
            </a:r>
            <a:r>
              <a:rPr lang="pt-BR" b="1" dirty="0">
                <a:solidFill>
                  <a:schemeClr val="accent1"/>
                </a:solidFill>
              </a:rPr>
              <a:t>padrões</a:t>
            </a:r>
            <a:r>
              <a:rPr lang="pt-BR" dirty="0"/>
              <a:t> estabelecidos</a:t>
            </a:r>
          </a:p>
        </p:txBody>
      </p:sp>
    </p:spTree>
    <p:extLst>
      <p:ext uri="{BB962C8B-B14F-4D97-AF65-F5344CB8AC3E}">
        <p14:creationId xmlns:p14="http://schemas.microsoft.com/office/powerpoint/2010/main" val="2311895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7F0C-B6C8-E17B-DD7E-D0139D2A2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FA058-B479-FFFA-5DAF-6B46B9776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Verificação e validação (V&amp;V)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5F2052-5CF2-D7BF-D668-7C26942FB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Conjunto de atividades</a:t>
            </a:r>
            <a:r>
              <a:rPr lang="pt-BR" dirty="0"/>
              <a:t> que garante a </a:t>
            </a:r>
            <a:r>
              <a:rPr lang="pt-BR" b="1" dirty="0"/>
              <a:t>qualidade do software</a:t>
            </a:r>
            <a:r>
              <a:rPr lang="pt-BR" dirty="0"/>
              <a:t> durante o desenvolvimento</a:t>
            </a:r>
          </a:p>
        </p:txBody>
      </p:sp>
      <p:pic>
        <p:nvPicPr>
          <p:cNvPr id="4098" name="Picture 2" descr="Verificação x Validação">
            <a:extLst>
              <a:ext uri="{FF2B5EF4-FFF2-40B4-BE49-F238E27FC236}">
                <a16:creationId xmlns:a16="http://schemas.microsoft.com/office/drawing/2014/main" id="{294EC4A5-0035-C77E-FC30-96A07C2D64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841"/>
          <a:stretch/>
        </p:blipFill>
        <p:spPr bwMode="auto">
          <a:xfrm>
            <a:off x="2980644" y="3136901"/>
            <a:ext cx="6579019" cy="2418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9F3A398D-CE5D-6BE8-C67E-36B203AC033A}"/>
              </a:ext>
            </a:extLst>
          </p:cNvPr>
          <p:cNvSpPr/>
          <p:nvPr/>
        </p:nvSpPr>
        <p:spPr>
          <a:xfrm>
            <a:off x="9211356" y="3298102"/>
            <a:ext cx="2571000" cy="17119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pt-BR" sz="2000" b="1" i="0" u="none" strike="noStrike" baseline="0" dirty="0">
                <a:latin typeface="Calibri" panose="020F0502020204030204" pitchFamily="34" charset="0"/>
              </a:rPr>
              <a:t>Não adianta fazer com perfeição um software que não seja o que o usuário deseja!</a:t>
            </a:r>
            <a:endParaRPr lang="pt-BR" sz="20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8EAE3A-1F08-5BB9-0CAB-C50663437129}"/>
              </a:ext>
            </a:extLst>
          </p:cNvPr>
          <p:cNvSpPr txBox="1"/>
          <p:nvPr/>
        </p:nvSpPr>
        <p:spPr>
          <a:xfrm>
            <a:off x="720307" y="5761463"/>
            <a:ext cx="5672900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2400" dirty="0"/>
              <a:t>Estamos fazendo o </a:t>
            </a:r>
            <a:r>
              <a:rPr lang="pt-BR" sz="2400" b="1" dirty="0"/>
              <a:t>software corretamente</a:t>
            </a:r>
            <a:r>
              <a:rPr lang="pt-BR" sz="2400" dirty="0"/>
              <a:t>?</a:t>
            </a:r>
          </a:p>
          <a:p>
            <a:r>
              <a:rPr lang="pt-BR" sz="2400" dirty="0"/>
              <a:t>Aderência aos requisitos do </a:t>
            </a:r>
            <a:r>
              <a:rPr lang="pt-BR" sz="2400" b="1" dirty="0"/>
              <a:t>processo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7876F86-7352-1D67-9134-35D7A648526E}"/>
              </a:ext>
            </a:extLst>
          </p:cNvPr>
          <p:cNvSpPr txBox="1"/>
          <p:nvPr/>
        </p:nvSpPr>
        <p:spPr>
          <a:xfrm>
            <a:off x="6675511" y="5761464"/>
            <a:ext cx="4858831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2400" dirty="0"/>
              <a:t>Estamos fazendo o </a:t>
            </a:r>
            <a:r>
              <a:rPr lang="pt-BR" sz="2400" b="1" dirty="0"/>
              <a:t>software correto</a:t>
            </a:r>
            <a:r>
              <a:rPr lang="pt-BR" sz="2400" dirty="0"/>
              <a:t>?</a:t>
            </a:r>
          </a:p>
          <a:p>
            <a:r>
              <a:rPr lang="pt-BR" sz="2400" dirty="0"/>
              <a:t>Aderência às expectativas do </a:t>
            </a:r>
            <a:r>
              <a:rPr lang="pt-BR" sz="2400" b="1" dirty="0"/>
              <a:t>produto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5F75DB-0890-59F7-AEFB-A76EE67C53F8}"/>
              </a:ext>
            </a:extLst>
          </p:cNvPr>
          <p:cNvSpPr/>
          <p:nvPr/>
        </p:nvSpPr>
        <p:spPr>
          <a:xfrm>
            <a:off x="553156" y="5686234"/>
            <a:ext cx="11108266" cy="539993"/>
          </a:xfrm>
          <a:prstGeom prst="rect">
            <a:avLst/>
          </a:prstGeom>
          <a:noFill/>
          <a:ln w="730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59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0944381-B735-B2FD-1DE1-BF447FDFCC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64" b="13857"/>
          <a:stretch/>
        </p:blipFill>
        <p:spPr bwMode="auto">
          <a:xfrm>
            <a:off x="981756" y="1992086"/>
            <a:ext cx="10372044" cy="4321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9C376FF-90EA-9C4F-DC07-F31F9F53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software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E0DB5B0-67D6-45DF-85DE-28603361B668}"/>
              </a:ext>
            </a:extLst>
          </p:cNvPr>
          <p:cNvSpPr/>
          <p:nvPr/>
        </p:nvSpPr>
        <p:spPr>
          <a:xfrm>
            <a:off x="5823856" y="2743200"/>
            <a:ext cx="2177143" cy="357051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Controle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26191B2-68FA-8B41-16C4-4E2ED361EEF1}"/>
              </a:ext>
            </a:extLst>
          </p:cNvPr>
          <p:cNvSpPr/>
          <p:nvPr/>
        </p:nvSpPr>
        <p:spPr>
          <a:xfrm>
            <a:off x="981757" y="3135086"/>
            <a:ext cx="10228488" cy="16872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 anchorCtr="0"/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Garantia</a:t>
            </a:r>
          </a:p>
        </p:txBody>
      </p:sp>
    </p:spTree>
    <p:extLst>
      <p:ext uri="{BB962C8B-B14F-4D97-AF65-F5344CB8AC3E}">
        <p14:creationId xmlns:p14="http://schemas.microsoft.com/office/powerpoint/2010/main" val="3218090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5849-EEF6-D323-3B60-D04E35F1F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120408-C8C4-C34B-0D47-781B1BC398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Conceitos de qualidade de software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Qualidade de produto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Qualidade de processo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 de maturidade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Custo da qualidade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3713725-60E5-89D3-6875-21505BBA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C8034A0-388B-9E6C-0600-F8B2C02532F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4213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088FC3-41F1-8B4D-F6E3-F6136F2EE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>
                <a:solidFill>
                  <a:schemeClr val="accent1"/>
                </a:solidFill>
              </a:rPr>
              <a:t>Requisitos de software </a:t>
            </a:r>
            <a:r>
              <a:rPr lang="pt-BR" dirty="0"/>
              <a:t>são a base para como a qualidade é medida</a:t>
            </a:r>
          </a:p>
          <a:p>
            <a:r>
              <a:rPr lang="pt-BR" dirty="0"/>
              <a:t>Existem requisitos </a:t>
            </a:r>
            <a:r>
              <a:rPr lang="pt-BR" b="1" dirty="0">
                <a:solidFill>
                  <a:schemeClr val="accent1"/>
                </a:solidFill>
              </a:rPr>
              <a:t>implícitos</a:t>
            </a:r>
            <a:r>
              <a:rPr lang="pt-BR" dirty="0"/>
              <a:t> na especificação. 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i="1" dirty="0" err="1"/>
              <a:t>manutenabilidade</a:t>
            </a:r>
            <a:endParaRPr lang="pt-BR" i="1" dirty="0"/>
          </a:p>
          <a:p>
            <a:pPr lvl="1"/>
            <a:r>
              <a:rPr lang="pt-BR" dirty="0"/>
              <a:t>Se software atende aos requisitos explícitos mas falha nos implícitos sua qualidade é suspeita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22D57132-5EAA-540A-E494-1661FFDCF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produto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47B4830-548A-F933-39AC-8363C9597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38" y="3709945"/>
            <a:ext cx="3349807" cy="289768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299910E-53E3-3373-CF98-E16B16369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745" y="4128803"/>
            <a:ext cx="7326719" cy="181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1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29649-56A7-0334-FB8F-90DFF26EA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Propagação de defeitos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0125EB-C3DB-DABE-86C4-C027D9B0F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034" y="1690688"/>
            <a:ext cx="8582767" cy="490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56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8D3A9-7027-2ED6-3843-9EB6CF61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0D4CF5-7D62-13AF-070A-4789C496A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124" name="Picture 4" descr="Qualidade do Produto de Software/ ISO/IEC 25010:2011 | Download Scientific  Diagram">
            <a:extLst>
              <a:ext uri="{FF2B5EF4-FFF2-40B4-BE49-F238E27FC236}">
                <a16:creationId xmlns:a16="http://schemas.microsoft.com/office/drawing/2014/main" id="{760A49BB-77CB-F4D3-33F9-90DFB350F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7" y="1846263"/>
            <a:ext cx="12108865" cy="433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40BCA87D-10D5-785A-F290-BD1E30DD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</p:spTree>
    <p:extLst>
      <p:ext uri="{BB962C8B-B14F-4D97-AF65-F5344CB8AC3E}">
        <p14:creationId xmlns:p14="http://schemas.microsoft.com/office/powerpoint/2010/main" val="355213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B7358-8B23-2A23-78B0-0450C29EC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C1A1FB-C15D-BC6B-33A6-25505BC6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964FA6-4E70-44A1-AAE6-850EB87C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2" y="1825625"/>
            <a:ext cx="11981845" cy="429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42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462A1-2864-FA31-6382-52A24E9A7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5D6826-FFEB-2483-FA92-FA778254A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8AB5E6-D576-C9E4-58BA-AC9208D8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9" y="1831463"/>
            <a:ext cx="11956685" cy="433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31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9016C-8B60-3226-F866-0EDD9F24D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CD2F42-2AD4-8182-268B-D99EE702C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807BC95-6E10-867C-683E-2A10548AF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2" y="1826626"/>
            <a:ext cx="11928926" cy="436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1440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19168-6A01-D71D-C63D-14D269E0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2D0588-AB2F-223B-D62C-03981CDCF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2D325D-1382-3A29-7EEB-D0BD92DDE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95" y="1647144"/>
            <a:ext cx="11060068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9350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68CF9-5281-3807-1656-BF127434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FC2C98-7FC2-A71A-C404-835AC835D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B09D03-176D-B593-2CDB-9FD1D5E87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" y="1662436"/>
            <a:ext cx="11041016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27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2FFE3-4803-4E28-C439-D39FD54C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5A822B-301D-9AE5-C2B9-D62E55609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6D35312-FB57-216C-57DC-00A615EFC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32" y="1647098"/>
            <a:ext cx="11050542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207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8268E-BE5E-FA54-4074-210956F32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34B699-C4CA-3996-C702-AF6D41D83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74A163-E851-5B06-8452-CF801E126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3" y="1668917"/>
            <a:ext cx="11176620" cy="491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3078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8FCF9-59FC-40F0-741C-7EBBB6E0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 ISO/IEC 25.010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84223A-7FB0-DA0D-F1F2-82D0FAACC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F09EAE0-FDD0-1B09-A0E5-C85AC3338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9" y="1677766"/>
            <a:ext cx="11143658" cy="495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6520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BA5A6-5FB5-AB9F-FBEA-A3F479CCA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BCC70-E00E-EBBA-1C99-B42A6DAB7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074" name="Picture 2" descr="Atualização na ISO 25010: Edição 2023 e a Importância da Arquitetura de  Software">
            <a:extLst>
              <a:ext uri="{FF2B5EF4-FFF2-40B4-BE49-F238E27FC236}">
                <a16:creationId xmlns:a16="http://schemas.microsoft.com/office/drawing/2014/main" id="{7EE2CB73-D8C7-BFA0-3D56-05CBFEA37B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0"/>
            <a:ext cx="10895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2539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B6717-0D99-B129-5FB1-9C0DBCD44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 para ISO/IEC 25.010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79D0523-756A-5BEB-7A34-E07B41B72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8680813"/>
              </p:ext>
            </p:extLst>
          </p:nvPr>
        </p:nvGraphicFramePr>
        <p:xfrm>
          <a:off x="353514" y="1742879"/>
          <a:ext cx="11484972" cy="4749996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191197">
                  <a:extLst>
                    <a:ext uri="{9D8B030D-6E8A-4147-A177-3AD203B41FA5}">
                      <a16:colId xmlns:a16="http://schemas.microsoft.com/office/drawing/2014/main" val="1960971135"/>
                    </a:ext>
                  </a:extLst>
                </a:gridCol>
                <a:gridCol w="3420533">
                  <a:extLst>
                    <a:ext uri="{9D8B030D-6E8A-4147-A177-3AD203B41FA5}">
                      <a16:colId xmlns:a16="http://schemas.microsoft.com/office/drawing/2014/main" val="4294875317"/>
                    </a:ext>
                  </a:extLst>
                </a:gridCol>
                <a:gridCol w="4873242">
                  <a:extLst>
                    <a:ext uri="{9D8B030D-6E8A-4147-A177-3AD203B41FA5}">
                      <a16:colId xmlns:a16="http://schemas.microsoft.com/office/drawing/2014/main" val="265589457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r>
                        <a:rPr lang="pt-BR" sz="2000" b="1" dirty="0"/>
                        <a:t>Dimensão (ISO 25010)</a:t>
                      </a:r>
                      <a:endParaRPr lang="pt-BR" sz="2000" dirty="0"/>
                    </a:p>
                  </a:txBody>
                  <a:tcPr marL="75023" marR="75023" marT="37512" marB="3751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Métrica Exemplo</a:t>
                      </a:r>
                      <a:endParaRPr lang="pt-BR" sz="2000" dirty="0"/>
                    </a:p>
                  </a:txBody>
                  <a:tcPr marL="75023" marR="75023" marT="37512" marB="3751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Descrição / Como medir</a:t>
                      </a:r>
                      <a:endParaRPr lang="pt-BR" sz="2000" dirty="0"/>
                    </a:p>
                  </a:txBody>
                  <a:tcPr marL="75023" marR="75023" marT="37512" marB="37512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240581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r>
                        <a:rPr lang="pt-BR" sz="2000" b="1"/>
                        <a:t>Funcionalidade (Adequação funcional)</a:t>
                      </a:r>
                      <a:endParaRPr lang="pt-BR" sz="20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Taxa de cobertura de requisitos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Percentual de requisitos funcionais implementados e testados com sucesso.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68638678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r>
                        <a:rPr lang="pt-BR" sz="2000" b="1"/>
                        <a:t>Confiabilidade</a:t>
                      </a:r>
                      <a:endParaRPr lang="pt-BR" sz="20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MTBF (Mean Time Between Failures)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Tempo médio entre falhas registradas em uso real ou teste.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335295340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r>
                        <a:rPr lang="pt-BR" sz="2000" b="1"/>
                        <a:t>Usabilidade</a:t>
                      </a:r>
                      <a:endParaRPr lang="pt-BR" sz="20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Tempo médio para completar tarefa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Mede o tempo que um usuário leva para realizar uma tarefa típica (ex.: cadastro).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31559192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r>
                        <a:rPr lang="pt-BR" sz="2000" b="1"/>
                        <a:t>Eficiência de desempenho</a:t>
                      </a:r>
                      <a:endParaRPr lang="pt-BR" sz="20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Tempo de resposta médio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Média do tempo de resposta do sistema sob carga normal de uso.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197346750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r>
                        <a:rPr lang="pt-BR" sz="2000" b="1"/>
                        <a:t>Manutenibilidade</a:t>
                      </a:r>
                      <a:endParaRPr lang="pt-BR" sz="20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Complexidade ciclomática média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Mede a complexidade do código; valores altos indicam menor manutenibilidade.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432158312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r>
                        <a:rPr lang="pt-BR" sz="2000" b="1" dirty="0"/>
                        <a:t>Segurança</a:t>
                      </a:r>
                      <a:endParaRPr lang="pt-BR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/>
                        <a:t>Percentual de vulnerabilidades corrigidas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Razão entre vulnerabilidades detectadas e corrigidas em um período.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4224960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8301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2B9C5-D450-BDD8-407D-A104D06D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664AA8-C415-9A3A-8176-7EC600133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E72291-F985-D9B3-13BE-06B1F4D49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947" y="365125"/>
            <a:ext cx="6269897" cy="560242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A623432-2600-3F8E-62DB-CDEBD05271A6}"/>
              </a:ext>
            </a:extLst>
          </p:cNvPr>
          <p:cNvSpPr txBox="1"/>
          <p:nvPr/>
        </p:nvSpPr>
        <p:spPr>
          <a:xfrm>
            <a:off x="2359377" y="6223882"/>
            <a:ext cx="8135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Martin, Robert C. </a:t>
            </a:r>
            <a:r>
              <a:rPr lang="pt-BR" b="1" dirty="0"/>
              <a:t>Código Limpo – Habilidades práticas do </a:t>
            </a:r>
            <a:r>
              <a:rPr lang="pt-BR" b="1" dirty="0" err="1"/>
              <a:t>Agile</a:t>
            </a:r>
            <a:r>
              <a:rPr lang="pt-BR" b="1" dirty="0"/>
              <a:t> Software</a:t>
            </a:r>
            <a:r>
              <a:rPr lang="pt-BR" dirty="0"/>
              <a:t>. Alta Books</a:t>
            </a:r>
          </a:p>
        </p:txBody>
      </p:sp>
    </p:spTree>
    <p:extLst>
      <p:ext uri="{BB962C8B-B14F-4D97-AF65-F5344CB8AC3E}">
        <p14:creationId xmlns:p14="http://schemas.microsoft.com/office/powerpoint/2010/main" val="35551665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2567A-61E9-AD4A-E00A-BE5F26CC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 de qualidade de produto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FEC94F-FF38-7703-5DB9-F9E2EEA68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Projetos Orientados a Objetos (</a:t>
            </a:r>
            <a:r>
              <a:rPr lang="pt-BR" dirty="0" err="1"/>
              <a:t>Sommerville</a:t>
            </a:r>
            <a:r>
              <a:rPr lang="pt-BR" dirty="0"/>
              <a:t>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Tamanho</a:t>
            </a:r>
            <a:r>
              <a:rPr lang="pt-BR" dirty="0"/>
              <a:t>: LOC/</a:t>
            </a:r>
            <a:r>
              <a:rPr lang="pt-BR" dirty="0" err="1"/>
              <a:t>Class</a:t>
            </a:r>
            <a:r>
              <a:rPr lang="pt-BR" dirty="0"/>
              <a:t>, # de métodos por classe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Complexidade</a:t>
            </a:r>
            <a:r>
              <a:rPr lang="pt-BR" dirty="0"/>
              <a:t>: Complexidade ciclomática, # de parâmetros por método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Coesão</a:t>
            </a:r>
            <a:r>
              <a:rPr lang="pt-BR" dirty="0"/>
              <a:t>: LCOM (falta de coesão),coesão de classe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Acoplamento</a:t>
            </a:r>
            <a:r>
              <a:rPr lang="pt-BR" dirty="0"/>
              <a:t>: acoplamento entre objetos (CBO), respostas por classe (RFC)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Herança</a:t>
            </a:r>
            <a:r>
              <a:rPr lang="pt-BR" dirty="0"/>
              <a:t>: profundidade da </a:t>
            </a:r>
            <a:r>
              <a:rPr lang="pt-BR" dirty="0" err="1"/>
              <a:t>hieararquia</a:t>
            </a:r>
            <a:r>
              <a:rPr lang="pt-BR" dirty="0"/>
              <a:t> (DIT), numero de filhos (NOC)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Reusabilidade</a:t>
            </a:r>
            <a:r>
              <a:rPr lang="pt-BR" dirty="0"/>
              <a:t>: taxa de reuso	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Estabilidade</a:t>
            </a:r>
            <a:r>
              <a:rPr lang="pt-BR" dirty="0"/>
              <a:t>: propensão a mudanças, propensão a falhas</a:t>
            </a:r>
          </a:p>
        </p:txBody>
      </p:sp>
    </p:spTree>
    <p:extLst>
      <p:ext uri="{BB962C8B-B14F-4D97-AF65-F5344CB8AC3E}">
        <p14:creationId xmlns:p14="http://schemas.microsoft.com/office/powerpoint/2010/main" val="14446146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BD356-6694-95A2-0C03-ECDD18EF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Especificidades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06BA59-CBDB-4C86-E3EA-08076E45D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Quais as características principais da ISO 25010 para estes softwares?</a:t>
            </a:r>
          </a:p>
        </p:txBody>
      </p:sp>
      <p:pic>
        <p:nvPicPr>
          <p:cNvPr id="13314" name="Picture 2" descr="30 Great Examples of Mobile App Design - How To Make Money Online">
            <a:extLst>
              <a:ext uri="{FF2B5EF4-FFF2-40B4-BE49-F238E27FC236}">
                <a16:creationId xmlns:a16="http://schemas.microsoft.com/office/drawing/2014/main" id="{0F944FBA-4AE9-BD64-26CA-177524A71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646022"/>
            <a:ext cx="2710543" cy="271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Rocket launch challenge — Science Learning Hub">
            <a:extLst>
              <a:ext uri="{FF2B5EF4-FFF2-40B4-BE49-F238E27FC236}">
                <a16:creationId xmlns:a16="http://schemas.microsoft.com/office/drawing/2014/main" id="{B6C2582D-391A-253C-3C0C-593FDBB50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497" y="2781980"/>
            <a:ext cx="285750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Central de Vendedores - Como gerenciar sua primeira venda com sucesso">
            <a:extLst>
              <a:ext uri="{FF2B5EF4-FFF2-40B4-BE49-F238E27FC236}">
                <a16:creationId xmlns:a16="http://schemas.microsoft.com/office/drawing/2014/main" id="{6A07A965-BCE6-9AB5-4F70-2489D172C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847" y="2580594"/>
            <a:ext cx="3893141" cy="2545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3941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947D3-5042-C1A1-8C38-54B67CFD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produto</a:t>
            </a:r>
          </a:p>
        </p:txBody>
      </p:sp>
      <p:pic>
        <p:nvPicPr>
          <p:cNvPr id="6146" name="Picture 2" descr="Conceitos Iniciais">
            <a:extLst>
              <a:ext uri="{FF2B5EF4-FFF2-40B4-BE49-F238E27FC236}">
                <a16:creationId xmlns:a16="http://schemas.microsoft.com/office/drawing/2014/main" id="{83416716-51F3-FFF1-06AF-1CE84A91F8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9" b="2988"/>
          <a:stretch/>
        </p:blipFill>
        <p:spPr bwMode="auto">
          <a:xfrm>
            <a:off x="1562553" y="1534886"/>
            <a:ext cx="8947876" cy="5323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62D649A-D050-2557-8F60-A2CBD5F7D24C}"/>
              </a:ext>
            </a:extLst>
          </p:cNvPr>
          <p:cNvSpPr txBox="1"/>
          <p:nvPr/>
        </p:nvSpPr>
        <p:spPr>
          <a:xfrm>
            <a:off x="8616042" y="6090523"/>
            <a:ext cx="34621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hlinkClick r:id="rId3"/>
              </a:rPr>
              <a:t>https://emanuelgsouza.gitbooks.io/resumos-faculdade/content/analise-sistemas/quarto-periodo/testes.html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85829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AEF897-349E-7730-2D70-E0A637D56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Testes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122318-4875-3408-45CA-45F173399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Impossível testar todas as combinações possíveis!</a:t>
            </a:r>
          </a:p>
          <a:p>
            <a:endParaRPr lang="pt-BR" dirty="0"/>
          </a:p>
          <a:p>
            <a:r>
              <a:rPr lang="pt-BR" dirty="0"/>
              <a:t>Quem faz os testes?</a:t>
            </a:r>
          </a:p>
          <a:p>
            <a:pPr lvl="1"/>
            <a:r>
              <a:rPr lang="pt-BR" dirty="0"/>
              <a:t>Desenvolvedores: testes de unidade</a:t>
            </a:r>
          </a:p>
          <a:p>
            <a:pPr lvl="1"/>
            <a:r>
              <a:rPr lang="pt-BR" dirty="0"/>
              <a:t>Equipe independente de testes: integração e sistema como um todo</a:t>
            </a:r>
          </a:p>
          <a:p>
            <a:pPr lvl="1"/>
            <a:r>
              <a:rPr lang="pt-BR" dirty="0"/>
              <a:t>Usuários: aceitação</a:t>
            </a:r>
          </a:p>
          <a:p>
            <a:pPr lvl="1"/>
            <a:endParaRPr lang="pt-BR" dirty="0"/>
          </a:p>
          <a:p>
            <a:r>
              <a:rPr lang="pt-BR" dirty="0"/>
              <a:t>Testes não substituem produtos de qualidade</a:t>
            </a:r>
          </a:p>
          <a:p>
            <a:pPr lvl="1"/>
            <a:r>
              <a:rPr lang="pt-BR" dirty="0"/>
              <a:t>Precisam ser refeitos (retrabalho!)</a:t>
            </a:r>
          </a:p>
        </p:txBody>
      </p:sp>
    </p:spTree>
    <p:extLst>
      <p:ext uri="{BB962C8B-B14F-4D97-AF65-F5344CB8AC3E}">
        <p14:creationId xmlns:p14="http://schemas.microsoft.com/office/powerpoint/2010/main" val="17852754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78EE1-45A1-993A-286C-A8046711F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Níveis de teste</a:t>
            </a:r>
          </a:p>
        </p:txBody>
      </p:sp>
      <p:pic>
        <p:nvPicPr>
          <p:cNvPr id="1026" name="Picture 2" descr="Levels of Testing in Software Testing">
            <a:extLst>
              <a:ext uri="{FF2B5EF4-FFF2-40B4-BE49-F238E27FC236}">
                <a16:creationId xmlns:a16="http://schemas.microsoft.com/office/drawing/2014/main" id="{7D285C8F-2786-F068-4F84-30D9747EF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743" y="2058874"/>
            <a:ext cx="4368764" cy="3884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-model: Advantages in terms of quality in waterfall development - Software  Testing and Development Company">
            <a:extLst>
              <a:ext uri="{FF2B5EF4-FFF2-40B4-BE49-F238E27FC236}">
                <a16:creationId xmlns:a16="http://schemas.microsoft.com/office/drawing/2014/main" id="{F8BFC69B-DB21-FC8B-33F2-A14182134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3" r="11710"/>
          <a:stretch/>
        </p:blipFill>
        <p:spPr bwMode="auto">
          <a:xfrm>
            <a:off x="5889172" y="2058874"/>
            <a:ext cx="5377543" cy="353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3406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D051E-F0FC-433F-F54E-924FCCC86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A30E36-212F-7902-10CC-BA1822244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Conceitos de qualidade de software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Qualidade de produto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Qualidade de processo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 de maturidade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Garantia da qualidade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75F258-D5AD-15E7-BD14-4E8558DBA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5C9B05-CA64-896B-BDBE-CA39F7DC366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42688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086B8-76E1-4D24-7357-DB090EB38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processo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FCA87A-DAE1-09E8-9AB7-3A7F090D8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Qualidade de software não se forma espontaneamente</a:t>
            </a:r>
          </a:p>
          <a:p>
            <a:pPr>
              <a:spcBef>
                <a:spcPts val="2400"/>
              </a:spcBef>
            </a:pPr>
            <a:r>
              <a:rPr lang="pt-BR" b="1" dirty="0">
                <a:solidFill>
                  <a:schemeClr val="accent1"/>
                </a:solidFill>
              </a:rPr>
              <a:t>Suposição</a:t>
            </a:r>
            <a:r>
              <a:rPr lang="pt-BR" dirty="0"/>
              <a:t>: a </a:t>
            </a:r>
            <a:r>
              <a:rPr lang="pt-BR" b="1" dirty="0"/>
              <a:t>qualidade do produto está ligada à qualidade do processo</a:t>
            </a:r>
          </a:p>
          <a:p>
            <a:pPr>
              <a:spcBef>
                <a:spcPts val="2400"/>
              </a:spcBef>
            </a:pPr>
            <a:r>
              <a:rPr lang="pt-BR" dirty="0"/>
              <a:t>Um bom processo não garante que os produtos de software são de boa qualidade</a:t>
            </a:r>
          </a:p>
          <a:p>
            <a:pPr lvl="1"/>
            <a:r>
              <a:rPr lang="pt-BR" dirty="0"/>
              <a:t>É indicativo de que a </a:t>
            </a:r>
            <a:r>
              <a:rPr lang="pt-BR" b="1" dirty="0">
                <a:solidFill>
                  <a:schemeClr val="accent1"/>
                </a:solidFill>
              </a:rPr>
              <a:t>organização</a:t>
            </a:r>
            <a:r>
              <a:rPr lang="pt-BR" dirty="0"/>
              <a:t> é capaz de produzir produtos de software de maneira consistente!</a:t>
            </a:r>
          </a:p>
        </p:txBody>
      </p:sp>
    </p:spTree>
    <p:extLst>
      <p:ext uri="{BB962C8B-B14F-4D97-AF65-F5344CB8AC3E}">
        <p14:creationId xmlns:p14="http://schemas.microsoft.com/office/powerpoint/2010/main" val="10320496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6BCE5D-5AA1-225F-C377-6ABD2D8F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processo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0D1F63-A178-9FCF-48FB-52AAF48A2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71527" cy="435133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Sintomas de </a:t>
            </a:r>
            <a:r>
              <a:rPr lang="pt-BR" b="1" dirty="0">
                <a:solidFill>
                  <a:srgbClr val="FF0000"/>
                </a:solidFill>
              </a:rPr>
              <a:t>falhas</a:t>
            </a:r>
            <a:r>
              <a:rPr lang="pt-BR" dirty="0"/>
              <a:t> no processo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Compromissos </a:t>
            </a:r>
            <a:r>
              <a:rPr lang="pt-BR" b="1" dirty="0"/>
              <a:t>não cumpridos</a:t>
            </a:r>
          </a:p>
          <a:p>
            <a:pPr lvl="2"/>
            <a:r>
              <a:rPr lang="pt-BR" dirty="0"/>
              <a:t>Entregas atrasadas, cortes de última hora, custos não planejados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Falta de visibilidade </a:t>
            </a:r>
            <a:r>
              <a:rPr lang="pt-BR" dirty="0"/>
              <a:t>do progresso</a:t>
            </a:r>
          </a:p>
          <a:p>
            <a:pPr lvl="2"/>
            <a:r>
              <a:rPr lang="pt-BR" dirty="0"/>
              <a:t>Surpresa constante sobre o andamento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Problemas de </a:t>
            </a:r>
            <a:r>
              <a:rPr lang="pt-BR" b="1" dirty="0"/>
              <a:t>qualidade</a:t>
            </a:r>
          </a:p>
          <a:p>
            <a:pPr lvl="2"/>
            <a:r>
              <a:rPr lang="pt-BR" dirty="0"/>
              <a:t>Muito retrabalho, produto não funciona corretamente, cliente reclama após entrega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Pouca </a:t>
            </a:r>
            <a:r>
              <a:rPr lang="pt-BR" b="1" dirty="0"/>
              <a:t>motivação</a:t>
            </a:r>
          </a:p>
          <a:p>
            <a:pPr lvl="2"/>
            <a:r>
              <a:rPr lang="pt-BR" dirty="0"/>
              <a:t>Pessoas frustradas, equipe procura responsáveis pelos problemas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EED2B0-C69E-0682-DBA2-8E25357B6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727" y="2295711"/>
            <a:ext cx="3168203" cy="341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4257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61B829-1183-AC6A-928C-68035442A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Garantia da Qualidade de Software (SQA)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7955A0-E68C-40FA-F339-7C96AF777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97629" cy="4351338"/>
          </a:xfrm>
        </p:spPr>
        <p:txBody>
          <a:bodyPr/>
          <a:lstStyle/>
          <a:p>
            <a:r>
              <a:rPr lang="pt-BR" dirty="0"/>
              <a:t>Envolve procedimentos </a:t>
            </a:r>
            <a:r>
              <a:rPr lang="pt-BR" b="1" dirty="0"/>
              <a:t>organizacionais</a:t>
            </a:r>
            <a:r>
              <a:rPr lang="pt-BR" dirty="0"/>
              <a:t> para dirigir o processo de melhoria dos processos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38AFEE9-9F35-9900-167D-BC25FC683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1083730"/>
              </p:ext>
            </p:extLst>
          </p:nvPr>
        </p:nvGraphicFramePr>
        <p:xfrm>
          <a:off x="3762828" y="12919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25283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95CBB-F6E6-39BE-422D-9CC46155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Métricas de processo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FA578E-5980-FB87-0B16-4D8479AF5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878"/>
            <a:ext cx="10515600" cy="5032376"/>
          </a:xfrm>
        </p:spPr>
        <p:txBody>
          <a:bodyPr>
            <a:normAutofit fontScale="77500" lnSpcReduction="20000"/>
          </a:bodyPr>
          <a:lstStyle/>
          <a:p>
            <a:r>
              <a:rPr lang="pt-BR" b="1" dirty="0"/>
              <a:t>Produtividade</a:t>
            </a:r>
          </a:p>
          <a:p>
            <a:pPr lvl="1"/>
            <a:r>
              <a:rPr lang="pt-BR" dirty="0"/>
              <a:t>Velocidade (pontos de estórias por sprint), taxa de entrega (</a:t>
            </a:r>
            <a:r>
              <a:rPr lang="pt-BR" dirty="0" err="1"/>
              <a:t>qtd</a:t>
            </a:r>
            <a:r>
              <a:rPr lang="pt-BR" dirty="0"/>
              <a:t> de </a:t>
            </a:r>
            <a:r>
              <a:rPr lang="pt-BR" dirty="0" err="1"/>
              <a:t>user</a:t>
            </a:r>
            <a:r>
              <a:rPr lang="pt-BR" dirty="0"/>
              <a:t> stories em um período;</a:t>
            </a:r>
          </a:p>
          <a:p>
            <a:r>
              <a:rPr lang="pt-BR" b="1" dirty="0"/>
              <a:t>Qualidade do código</a:t>
            </a:r>
          </a:p>
          <a:p>
            <a:pPr lvl="1"/>
            <a:r>
              <a:rPr lang="pt-BR" dirty="0"/>
              <a:t>Densidade de defeitos, complexidade ciclomática, cobertura de testes</a:t>
            </a:r>
          </a:p>
          <a:p>
            <a:r>
              <a:rPr lang="pt-BR" b="1" dirty="0"/>
              <a:t>Eficiência</a:t>
            </a:r>
          </a:p>
          <a:p>
            <a:pPr lvl="1"/>
            <a:r>
              <a:rPr lang="pt-BR" i="1" dirty="0"/>
              <a:t>Lead e </a:t>
            </a:r>
            <a:r>
              <a:rPr lang="pt-BR" i="1" dirty="0" err="1"/>
              <a:t>cycle</a:t>
            </a:r>
            <a:r>
              <a:rPr lang="pt-BR" i="1" dirty="0"/>
              <a:t> time </a:t>
            </a:r>
            <a:r>
              <a:rPr lang="pt-BR" dirty="0"/>
              <a:t>(tempo de início ao fim de uma tarefa), utilização de recursos (tarefas de desenvolvimento vs. outras)</a:t>
            </a:r>
          </a:p>
          <a:p>
            <a:r>
              <a:rPr lang="pt-BR" b="1" dirty="0"/>
              <a:t>Qualidade de testes</a:t>
            </a:r>
          </a:p>
          <a:p>
            <a:pPr lvl="1"/>
            <a:r>
              <a:rPr lang="pt-BR" dirty="0"/>
              <a:t>Taxa de defeitos detectados nos testes (comparado com após lançamento), taxa de regressão, tempo médio de detecção e correção de defeitos;</a:t>
            </a:r>
          </a:p>
          <a:p>
            <a:r>
              <a:rPr lang="pt-BR" b="1" dirty="0"/>
              <a:t>Satisfação</a:t>
            </a:r>
          </a:p>
          <a:p>
            <a:pPr lvl="1"/>
            <a:r>
              <a:rPr lang="pt-BR" dirty="0"/>
              <a:t>Net Promoter Score (</a:t>
            </a:r>
            <a:r>
              <a:rPr lang="pt-BR" dirty="0" err="1"/>
              <a:t>prob</a:t>
            </a:r>
            <a:r>
              <a:rPr lang="pt-BR" dirty="0"/>
              <a:t> de cliente recomendar produto), taxa de retorno, %  de entrega no prazo</a:t>
            </a:r>
          </a:p>
          <a:p>
            <a:r>
              <a:rPr lang="pt-BR" b="1" dirty="0"/>
              <a:t>Manutenção e suporte</a:t>
            </a:r>
          </a:p>
          <a:p>
            <a:pPr lvl="1"/>
            <a:r>
              <a:rPr lang="pt-BR" dirty="0"/>
              <a:t>Tempo médio de resolução, # de incidentes reabertos, taxa de retrabalho</a:t>
            </a:r>
          </a:p>
          <a:p>
            <a:r>
              <a:rPr lang="pt-BR" b="1" dirty="0"/>
              <a:t>Integração contínua</a:t>
            </a:r>
          </a:p>
          <a:p>
            <a:pPr lvl="1"/>
            <a:r>
              <a:rPr lang="pt-BR" dirty="0"/>
              <a:t>Frequência de builds e releases, tempo de build e testes, taxa de sucesso de </a:t>
            </a:r>
            <a:r>
              <a:rPr lang="pt-BR" dirty="0" err="1"/>
              <a:t>deploys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111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F62BD-EB16-A0A7-F623-1D880FF16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Modelos de maturidade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D06968-110B-333D-9440-7F5617C9A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Servem para guiar organizações na busca pela qualidade</a:t>
            </a:r>
          </a:p>
          <a:p>
            <a:pPr>
              <a:spcBef>
                <a:spcPts val="2400"/>
              </a:spcBef>
            </a:pPr>
            <a:r>
              <a:rPr lang="pt-BR" dirty="0"/>
              <a:t>Não determinam </a:t>
            </a:r>
            <a:r>
              <a:rPr lang="pt-BR" b="1" dirty="0"/>
              <a:t>como</a:t>
            </a:r>
            <a:r>
              <a:rPr lang="pt-BR" dirty="0"/>
              <a:t> algo deve ser feito, mas </a:t>
            </a:r>
            <a:r>
              <a:rPr lang="pt-BR" b="1" dirty="0"/>
              <a:t>o que </a:t>
            </a:r>
            <a:r>
              <a:rPr lang="pt-BR" dirty="0"/>
              <a:t>deve ser feito ao longo do processo</a:t>
            </a:r>
          </a:p>
          <a:p>
            <a:pPr>
              <a:spcBef>
                <a:spcPts val="2400"/>
              </a:spcBef>
            </a:pPr>
            <a:r>
              <a:rPr lang="pt-BR" dirty="0"/>
              <a:t>Inicialmente, incompatíveis com métodos ágeis</a:t>
            </a:r>
          </a:p>
          <a:p>
            <a:pPr lvl="1"/>
            <a:r>
              <a:rPr lang="pt-BR" dirty="0"/>
              <a:t>Adaptações existentes</a:t>
            </a:r>
          </a:p>
          <a:p>
            <a:pPr>
              <a:spcBef>
                <a:spcPts val="2400"/>
              </a:spcBef>
            </a:pPr>
            <a:r>
              <a:rPr lang="pt-BR" dirty="0"/>
              <a:t>Principais modelos em uso no Brasil:</a:t>
            </a:r>
          </a:p>
          <a:p>
            <a:pPr lvl="1"/>
            <a:r>
              <a:rPr lang="pt-BR" dirty="0"/>
              <a:t>CMMI</a:t>
            </a:r>
          </a:p>
          <a:p>
            <a:pPr lvl="1"/>
            <a:r>
              <a:rPr lang="pt-BR" dirty="0"/>
              <a:t>MPS.BR</a:t>
            </a:r>
          </a:p>
        </p:txBody>
      </p:sp>
    </p:spTree>
    <p:extLst>
      <p:ext uri="{BB962C8B-B14F-4D97-AF65-F5344CB8AC3E}">
        <p14:creationId xmlns:p14="http://schemas.microsoft.com/office/powerpoint/2010/main" val="40174208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B4DA5-0B9D-B894-2CD1-66872ABA8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CMMI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12AA89-DD81-F0C6-ECC5-085373675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i="1" dirty="0" err="1"/>
              <a:t>Capability</a:t>
            </a:r>
            <a:r>
              <a:rPr lang="pt-BR" i="1" dirty="0"/>
              <a:t> </a:t>
            </a:r>
            <a:r>
              <a:rPr lang="pt-BR" i="1" dirty="0" err="1"/>
              <a:t>Maturity</a:t>
            </a:r>
            <a:r>
              <a:rPr lang="pt-BR" i="1" dirty="0"/>
              <a:t> Model </a:t>
            </a:r>
            <a:r>
              <a:rPr lang="pt-BR" i="1" dirty="0" err="1"/>
              <a:t>Integration</a:t>
            </a:r>
            <a:endParaRPr lang="pt-BR" i="1" dirty="0"/>
          </a:p>
          <a:p>
            <a:r>
              <a:rPr lang="pt-BR" dirty="0"/>
              <a:t>Proposto pelo Instituto de Engenharia de Software em 1987</a:t>
            </a:r>
          </a:p>
          <a:p>
            <a:pPr lvl="1"/>
            <a:r>
              <a:rPr lang="pt-BR" dirty="0"/>
              <a:t>Universidade de Carnegie Mellon</a:t>
            </a:r>
          </a:p>
          <a:p>
            <a:pPr lvl="1"/>
            <a:r>
              <a:rPr lang="pt-BR" dirty="0"/>
              <a:t>Iniciativa do Departamento de Defesa (</a:t>
            </a:r>
            <a:r>
              <a:rPr lang="pt-BR" dirty="0" err="1"/>
              <a:t>DoD</a:t>
            </a:r>
            <a:r>
              <a:rPr lang="pt-BR" dirty="0"/>
              <a:t>) norte-americano</a:t>
            </a:r>
          </a:p>
          <a:p>
            <a:pPr lvl="1"/>
            <a:r>
              <a:rPr lang="pt-BR" dirty="0"/>
              <a:t>Gerenciado pelo Instituto CMMI, ISACA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B33ABA35-A57C-8AB8-1236-FFEE0102B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828" y="4543116"/>
            <a:ext cx="5246914" cy="1768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2" name="Picture 8" descr="Como fazer a sua empresa conseguir uma certificação CMMI">
            <a:extLst>
              <a:ext uri="{FF2B5EF4-FFF2-40B4-BE49-F238E27FC236}">
                <a16:creationId xmlns:a16="http://schemas.microsoft.com/office/drawing/2014/main" id="{ABA675A1-A198-C8BC-E4E8-6F5BD1F78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49" y="4251493"/>
            <a:ext cx="4378779" cy="235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7995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5EEC4-C8EA-3827-14AE-5EE61A93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CMMI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1486DE-0F61-C505-467E-14CE934ED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73486" cy="4462286"/>
          </a:xfrm>
        </p:spPr>
        <p:txBody>
          <a:bodyPr>
            <a:normAutofit lnSpcReduction="10000"/>
          </a:bodyPr>
          <a:lstStyle/>
          <a:p>
            <a:r>
              <a:rPr lang="pt-BR" i="1" dirty="0" err="1"/>
              <a:t>Capability</a:t>
            </a:r>
            <a:r>
              <a:rPr lang="pt-BR" i="1" dirty="0"/>
              <a:t> </a:t>
            </a:r>
            <a:r>
              <a:rPr lang="pt-BR" i="1" dirty="0" err="1"/>
              <a:t>Maturity</a:t>
            </a:r>
            <a:r>
              <a:rPr lang="pt-BR" i="1" dirty="0"/>
              <a:t> Model </a:t>
            </a:r>
            <a:r>
              <a:rPr lang="pt-BR" i="1" dirty="0" err="1"/>
              <a:t>Integration</a:t>
            </a:r>
            <a:endParaRPr lang="pt-BR" i="1" dirty="0"/>
          </a:p>
          <a:p>
            <a:pPr>
              <a:spcBef>
                <a:spcPts val="2400"/>
              </a:spcBef>
            </a:pPr>
            <a:r>
              <a:rPr lang="pt-BR" dirty="0"/>
              <a:t>5 níveis para estabelecer </a:t>
            </a:r>
            <a:r>
              <a:rPr lang="pt-BR" b="1" dirty="0">
                <a:solidFill>
                  <a:schemeClr val="accent1"/>
                </a:solidFill>
              </a:rPr>
              <a:t>prioridades</a:t>
            </a:r>
            <a:r>
              <a:rPr lang="pt-BR" dirty="0"/>
              <a:t> em programas de melhoria</a:t>
            </a:r>
          </a:p>
          <a:p>
            <a:pPr>
              <a:spcBef>
                <a:spcPts val="2400"/>
              </a:spcBef>
            </a:pPr>
            <a:r>
              <a:rPr lang="pt-BR" dirty="0"/>
              <a:t>Cada nível é </a:t>
            </a:r>
            <a:r>
              <a:rPr lang="pt-BR" b="1" dirty="0">
                <a:solidFill>
                  <a:schemeClr val="accent1"/>
                </a:solidFill>
              </a:rPr>
              <a:t>pré-requisito</a:t>
            </a:r>
            <a:r>
              <a:rPr lang="pt-BR" dirty="0"/>
              <a:t> do outro</a:t>
            </a:r>
          </a:p>
          <a:p>
            <a:pPr>
              <a:spcBef>
                <a:spcPts val="2400"/>
              </a:spcBef>
            </a:pPr>
            <a:r>
              <a:rPr lang="pt-BR" dirty="0"/>
              <a:t>Não é possível </a:t>
            </a:r>
            <a:r>
              <a:rPr lang="pt-BR" b="1" dirty="0">
                <a:solidFill>
                  <a:schemeClr val="accent1"/>
                </a:solidFill>
              </a:rPr>
              <a:t>saltar</a:t>
            </a:r>
            <a:r>
              <a:rPr lang="pt-BR" dirty="0"/>
              <a:t> níveis</a:t>
            </a:r>
          </a:p>
          <a:p>
            <a:pPr>
              <a:spcBef>
                <a:spcPts val="2400"/>
              </a:spcBef>
            </a:pPr>
            <a:r>
              <a:rPr lang="pt-BR" dirty="0"/>
              <a:t>Cada nível se apoia nas competências do nível anterior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B4884D-B19B-C40A-8867-83FBC2C5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0" y="1825625"/>
            <a:ext cx="5693671" cy="377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9227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D74AFD-FC5C-BCCB-6FE9-2F7CE8C5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CMMI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74306F-BB4D-B6A3-1880-9475ABA54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é uma metodologia de desenvolvimento!</a:t>
            </a:r>
          </a:p>
          <a:p>
            <a:pPr lvl="1"/>
            <a:r>
              <a:rPr lang="pt-BR" dirty="0"/>
              <a:t>É modelo que diz </a:t>
            </a:r>
            <a:r>
              <a:rPr lang="pt-BR" dirty="0">
                <a:solidFill>
                  <a:schemeClr val="accent1"/>
                </a:solidFill>
              </a:rPr>
              <a:t>o quê deve ser feito </a:t>
            </a:r>
            <a:r>
              <a:rPr lang="pt-BR" dirty="0"/>
              <a:t>para garantir a qualidade e </a:t>
            </a:r>
            <a:r>
              <a:rPr lang="pt-BR" dirty="0">
                <a:solidFill>
                  <a:srgbClr val="FF0000"/>
                </a:solidFill>
              </a:rPr>
              <a:t>não como</a:t>
            </a:r>
            <a:r>
              <a:rPr lang="pt-BR" dirty="0"/>
              <a:t>;</a:t>
            </a:r>
          </a:p>
          <a:p>
            <a:pPr lvl="1"/>
            <a:endParaRPr lang="pt-BR" dirty="0"/>
          </a:p>
          <a:p>
            <a:r>
              <a:rPr lang="pt-BR" dirty="0"/>
              <a:t>Foco no processo</a:t>
            </a:r>
          </a:p>
          <a:p>
            <a:pPr lvl="1"/>
            <a:r>
              <a:rPr lang="pt-BR" dirty="0"/>
              <a:t>Premissa: qualidade do produto final é diretamente influenciada pela qualidade dos processos usados para cria-lo</a:t>
            </a:r>
          </a:p>
          <a:p>
            <a:pPr lvl="1"/>
            <a:endParaRPr lang="pt-BR" dirty="0"/>
          </a:p>
          <a:p>
            <a:r>
              <a:rPr lang="pt-BR" dirty="0"/>
              <a:t>Multinacionais, bancos e órgãos governamentais frequentemente exigem que seus fornecedores de software sejam certificados em CMMI (geralmente Nível 3 ou superior) para participar de licitações.</a:t>
            </a:r>
          </a:p>
        </p:txBody>
      </p:sp>
    </p:spTree>
    <p:extLst>
      <p:ext uri="{BB962C8B-B14F-4D97-AF65-F5344CB8AC3E}">
        <p14:creationId xmlns:p14="http://schemas.microsoft.com/office/powerpoint/2010/main" val="131227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6C62B-3D42-4192-DA9D-7373A61A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CMMi</a:t>
            </a:r>
            <a:endParaRPr lang="pt-BR" dirty="0"/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46BDB9D-6EC8-2B5E-F8EA-3AEEE35FF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737583"/>
              </p:ext>
            </p:extLst>
          </p:nvPr>
        </p:nvGraphicFramePr>
        <p:xfrm>
          <a:off x="21769" y="324984"/>
          <a:ext cx="12137573" cy="622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1830">
                  <a:extLst>
                    <a:ext uri="{9D8B030D-6E8A-4147-A177-3AD203B41FA5}">
                      <a16:colId xmlns:a16="http://schemas.microsoft.com/office/drawing/2014/main" val="1327018422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2539118874"/>
                    </a:ext>
                  </a:extLst>
                </a:gridCol>
                <a:gridCol w="3282346">
                  <a:extLst>
                    <a:ext uri="{9D8B030D-6E8A-4147-A177-3AD203B41FA5}">
                      <a16:colId xmlns:a16="http://schemas.microsoft.com/office/drawing/2014/main" val="776487908"/>
                    </a:ext>
                  </a:extLst>
                </a:gridCol>
                <a:gridCol w="2579094">
                  <a:extLst>
                    <a:ext uri="{9D8B030D-6E8A-4147-A177-3AD203B41FA5}">
                      <a16:colId xmlns:a16="http://schemas.microsoft.com/office/drawing/2014/main" val="2325182498"/>
                    </a:ext>
                  </a:extLst>
                </a:gridCol>
                <a:gridCol w="1747674">
                  <a:extLst>
                    <a:ext uri="{9D8B030D-6E8A-4147-A177-3AD203B41FA5}">
                      <a16:colId xmlns:a16="http://schemas.microsoft.com/office/drawing/2014/main" val="41218236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Nível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Nível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Nível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Nível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Nível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1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b="1" dirty="0"/>
                        <a:t>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GERENCIADO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DEFINIDO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GERENCIADO QUANTITATIVAMENTE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EM OTIMIZAÇÃO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96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i="1" dirty="0"/>
                        <a:t>Organizações caóticas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Organizações disciplinadas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Organizações padronizadas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Organizações previsíveis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i="1" dirty="0"/>
                        <a:t>Org c/ melhoria contínua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072594"/>
                  </a:ext>
                </a:extLst>
              </a:tr>
              <a:tr h="657784">
                <a:tc>
                  <a:txBody>
                    <a:bodyPr/>
                    <a:lstStyle/>
                    <a:p>
                      <a:r>
                        <a:rPr lang="pt-BR" sz="1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Ger. Requisitos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 err="1"/>
                        <a:t>Planej</a:t>
                      </a:r>
                      <a:r>
                        <a:rPr lang="pt-BR" sz="1600" dirty="0"/>
                        <a:t> projetos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Monitoramento e controle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Gestão de subcontratação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Medição  análise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Garantia da qualidade de Processo e Produto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pt-BR" sz="1600" dirty="0"/>
                        <a:t>Gerenciamento de configuração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Desenvolvimento de requisitos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Solução técnica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Integração de produto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Validação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Verificação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Foco no processo organizacional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Definição do processo </a:t>
                      </a:r>
                      <a:r>
                        <a:rPr lang="pt-BR" sz="1600" dirty="0" err="1"/>
                        <a:t>org</a:t>
                      </a:r>
                      <a:endParaRPr lang="pt-BR" sz="16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Treinamento organizacional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Gerenciamento integrado do </a:t>
                      </a:r>
                      <a:r>
                        <a:rPr lang="pt-BR" sz="1600" dirty="0" err="1"/>
                        <a:t>proj</a:t>
                      </a:r>
                      <a:endParaRPr lang="pt-BR" sz="1600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Gerenciamento de riscos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Análise de decisão e resolução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Desempenho de processo organizacional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Gerenciamento quantitativo de projeto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Desenvolvimento e inovação organizacional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pt-BR" sz="1600" dirty="0"/>
                        <a:t>Análise de causa e  resolução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538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600" dirty="0"/>
                        <a:t>Gerenciamento caixa-preta, </a:t>
                      </a:r>
                      <a:r>
                        <a:rPr lang="pt-BR" sz="1600" i="1" dirty="0" err="1"/>
                        <a:t>ad-hoc</a:t>
                      </a:r>
                      <a:r>
                        <a:rPr lang="pt-BR" sz="1600" dirty="0"/>
                        <a:t>, sucesso baseado em heroísmo de indivíduos; excesso de orçamento e cronograma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Processo é série de caixas-pretas, visível em determinados pontos; visa a eficiência na gestão de projetos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Funções e responsabilidades bem entendidas; produção visível por meio do processo; melhores práticas e lições aprendidas de gestão são compartilhadas pela organização; padronização de processos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Bases objetivas para tomada de decisão gerencial; capacidade de prever desempenho; projetos administrados e decisões tomadas baseadas em números; processos estáveis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Mudança disciplinada; melhorias nos processos estáveis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20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8412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00ACA-6271-F797-249E-172D8BB3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CMMI x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01318C-51FD-044D-DB8E-AD2CCBF17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Abordagem hibrida em empresas: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Flexibilidade do </a:t>
            </a:r>
            <a:r>
              <a:rPr lang="pt-BR" b="1" dirty="0"/>
              <a:t>Scrum/</a:t>
            </a:r>
            <a:r>
              <a:rPr lang="pt-BR" b="1" dirty="0" err="1"/>
              <a:t>Agile</a:t>
            </a:r>
            <a:r>
              <a:rPr lang="pt-BR" b="1" dirty="0"/>
              <a:t> </a:t>
            </a:r>
            <a:r>
              <a:rPr lang="pt-BR" dirty="0"/>
              <a:t>no dia a dia (</a:t>
            </a:r>
            <a:r>
              <a:rPr lang="pt-BR" dirty="0">
                <a:solidFill>
                  <a:srgbClr val="FF0000"/>
                </a:solidFill>
              </a:rPr>
              <a:t>como fazer</a:t>
            </a:r>
            <a:r>
              <a:rPr lang="pt-BR" dirty="0"/>
              <a:t>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Como as equipes se organizam e entregam valor de forma rápida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Estrutura de governança do </a:t>
            </a:r>
            <a:r>
              <a:rPr lang="pt-BR" b="1" dirty="0"/>
              <a:t>CMMI</a:t>
            </a:r>
            <a:r>
              <a:rPr lang="pt-BR" dirty="0"/>
              <a:t> para manter a maturidade organizacional (o controle </a:t>
            </a:r>
            <a:r>
              <a:rPr lang="pt-BR" dirty="0">
                <a:solidFill>
                  <a:schemeClr val="accent1"/>
                </a:solidFill>
              </a:rPr>
              <a:t>do que fazer</a:t>
            </a:r>
            <a:r>
              <a:rPr lang="pt-BR" dirty="0"/>
              <a:t>)</a:t>
            </a:r>
          </a:p>
          <a:p>
            <a:pPr lvl="2">
              <a:spcBef>
                <a:spcPts val="1200"/>
              </a:spcBef>
            </a:pPr>
            <a:r>
              <a:rPr lang="pt-BR" dirty="0"/>
              <a:t>Capacidade institucional de medir resultados, gerenciar o conhecimento e garantir estabilidade em nível organizacional</a:t>
            </a:r>
          </a:p>
        </p:txBody>
      </p:sp>
    </p:spTree>
    <p:extLst>
      <p:ext uri="{BB962C8B-B14F-4D97-AF65-F5344CB8AC3E}">
        <p14:creationId xmlns:p14="http://schemas.microsoft.com/office/powerpoint/2010/main" val="133568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C9FF55-8D37-ACB8-5DF4-5E6BCA4DA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CMMI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8C2AE13-E0F8-FE42-7F6E-957A02EA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6" y="1967894"/>
            <a:ext cx="8621328" cy="4344006"/>
          </a:xfrm>
          <a:prstGeom prst="rect">
            <a:avLst/>
          </a:prstGeom>
        </p:spPr>
      </p:pic>
      <p:pic>
        <p:nvPicPr>
          <p:cNvPr id="21510" name="Picture 6" descr="IACIT conquista certificação CMMI Nível 3 | IACIT">
            <a:extLst>
              <a:ext uri="{FF2B5EF4-FFF2-40B4-BE49-F238E27FC236}">
                <a16:creationId xmlns:a16="http://schemas.microsoft.com/office/drawing/2014/main" id="{5B075273-965D-B83F-6FB0-55E57A66A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261" y="2822599"/>
            <a:ext cx="3509282" cy="263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BD65E25-9974-74DA-1284-E1C6249CE9DA}"/>
              </a:ext>
            </a:extLst>
          </p:cNvPr>
          <p:cNvSpPr txBox="1"/>
          <p:nvPr/>
        </p:nvSpPr>
        <p:spPr>
          <a:xfrm>
            <a:off x="3331028" y="647609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hlinkClick r:id="rId4"/>
              </a:rPr>
              <a:t>https://tiinside.com.br/08/03/2010/certificacao-cmmi-custa-r-1-milhao-a-attps/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20535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D8621-6668-5EFC-FFE3-773C75DF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MPS.BR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2FB27D-D402-F434-8A77-98AAFE516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de melhoria de processos de software brasileiro</a:t>
            </a:r>
          </a:p>
          <a:p>
            <a:pPr lvl="1"/>
            <a:r>
              <a:rPr lang="pt-BR" dirty="0"/>
              <a:t>Criado em 2003</a:t>
            </a:r>
          </a:p>
          <a:p>
            <a:pPr lvl="1"/>
            <a:r>
              <a:rPr lang="pt-BR" dirty="0"/>
              <a:t>Adaptado para realidade de </a:t>
            </a:r>
            <a:r>
              <a:rPr lang="pt-BR" b="1" dirty="0"/>
              <a:t>empresas brasileiras</a:t>
            </a:r>
          </a:p>
          <a:p>
            <a:pPr lvl="1"/>
            <a:r>
              <a:rPr lang="pt-BR" dirty="0"/>
              <a:t>Visando pequenas, médias e grandes empresas</a:t>
            </a:r>
          </a:p>
          <a:p>
            <a:pPr lvl="1"/>
            <a:r>
              <a:rPr lang="pt-BR" dirty="0"/>
              <a:t>Iniciativa </a:t>
            </a:r>
            <a:r>
              <a:rPr lang="pt-BR" i="1" dirty="0"/>
              <a:t>Softex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68CA30-B6DA-2FF6-0387-458976854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23" y="3629472"/>
            <a:ext cx="2325864" cy="296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456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AB5356-C890-7A5A-62B2-B0E1FB57D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MPS.BR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D47D2C-321C-9461-84F4-47261E6BA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97" y="1570702"/>
            <a:ext cx="9383434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615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BC448-BB46-6E49-AA57-E22CB2426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MPS.BR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ED793D2-167E-E3C0-F00C-2DE3BCDE96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" t="11339" r="1695" b="3541"/>
          <a:stretch/>
        </p:blipFill>
        <p:spPr bwMode="auto">
          <a:xfrm>
            <a:off x="1654628" y="1690688"/>
            <a:ext cx="9318171" cy="4971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6921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E62596-A7DB-F4E0-4841-195F59BA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MPS.BR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42614DD-E9A9-C736-51B0-74FF23C36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570" y="1658408"/>
            <a:ext cx="9041081" cy="4834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4830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3816F-A897-B0FD-38E3-8CF8EF5A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MPS.BR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B19491-B8EB-717E-DBD7-F9EFEB19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569"/>
          <a:stretch/>
        </p:blipFill>
        <p:spPr>
          <a:xfrm>
            <a:off x="2279752" y="1690688"/>
            <a:ext cx="7632496" cy="50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5121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2F2077-B8E3-A530-65D6-96737921E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de processo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24BF2E-43B8-C6A9-8036-46A68E283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Cenário</a:t>
            </a:r>
            <a:r>
              <a:rPr lang="pt-BR" dirty="0"/>
              <a:t>: imagine que você é o líder de projetos de uma grande organização e deve selecionar fornecedores para um software grande e de alta complexidade</a:t>
            </a:r>
          </a:p>
          <a:p>
            <a:pPr lvl="1"/>
            <a:r>
              <a:rPr lang="pt-BR" dirty="0"/>
              <a:t>Que informações usar para selecionar fornecedores?</a:t>
            </a:r>
          </a:p>
          <a:p>
            <a:pPr lvl="1"/>
            <a:endParaRPr lang="pt-BR" dirty="0"/>
          </a:p>
          <a:p>
            <a:r>
              <a:rPr lang="pt-BR" dirty="0"/>
              <a:t>Dependendo do tipo de software e da organização, opta-se por empresas que tenham demonstrado ter um processo sólido de desenvolvimento</a:t>
            </a:r>
          </a:p>
          <a:p>
            <a:pPr lvl="1"/>
            <a:r>
              <a:rPr lang="pt-BR" dirty="0"/>
              <a:t>Comprovado por </a:t>
            </a:r>
            <a:r>
              <a:rPr lang="pt-BR" b="1" dirty="0"/>
              <a:t>certificações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04396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21EEB-0D9A-E497-3D48-FA3A8EE2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0CA427-16F7-4F5E-8C62-5A81CBA41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Satisfação </a:t>
            </a:r>
            <a:r>
              <a:rPr lang="pt-BR" dirty="0"/>
              <a:t>do cliente!</a:t>
            </a:r>
          </a:p>
          <a:p>
            <a:pPr>
              <a:spcBef>
                <a:spcPts val="2400"/>
              </a:spcBef>
            </a:pPr>
            <a:r>
              <a:rPr lang="pt-BR" dirty="0"/>
              <a:t>Outros indicadores importantes:</a:t>
            </a:r>
          </a:p>
          <a:p>
            <a:pPr lvl="1"/>
            <a:r>
              <a:rPr lang="pt-BR" b="1" dirty="0"/>
              <a:t>Qualidade </a:t>
            </a:r>
            <a:r>
              <a:rPr lang="pt-BR" dirty="0"/>
              <a:t>dos produtos gerados</a:t>
            </a:r>
          </a:p>
          <a:p>
            <a:pPr lvl="1"/>
            <a:r>
              <a:rPr lang="pt-BR" b="1" dirty="0"/>
              <a:t>Custo </a:t>
            </a:r>
            <a:r>
              <a:rPr lang="pt-BR" dirty="0"/>
              <a:t>real do projeto</a:t>
            </a:r>
          </a:p>
          <a:p>
            <a:pPr lvl="1"/>
            <a:r>
              <a:rPr lang="pt-BR" b="1" dirty="0"/>
              <a:t>Duração</a:t>
            </a:r>
            <a:r>
              <a:rPr lang="pt-BR" dirty="0"/>
              <a:t> real do projeto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00B0876-3EF8-2C95-A8A4-32614C4A8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36" y="2734941"/>
            <a:ext cx="2613673" cy="215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545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25D32-A5FA-293A-5A1C-1780C18E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4C52B1-7D83-F7DB-AED3-8D889EC9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Preencher planilha com 8 requisitos de qualidade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4 de produto, justificando a escolha à natureza do seu software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4 de processo, adequados a como seria o processo de desenvolvimento em sua equipe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E75BB06-5BD5-380A-E6B6-C27AF1E7EFE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777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6F042-792D-311D-13FC-FB11CF387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912F5C-8B02-0EB6-793C-A4C4419EB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Conceitos de qualidade de software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Qualidade de produto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dirty="0"/>
              <a:t>Qualidade de processo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Métricas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/>
              <a:t>Modelos de maturidade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b="1" dirty="0"/>
              <a:t>Custo da qualidade</a:t>
            </a:r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arabicPeriod"/>
            </a:pPr>
            <a:endParaRPr lang="pt-BR" dirty="0"/>
          </a:p>
          <a:p>
            <a:pPr marL="971550" lvl="1" indent="-514350">
              <a:buFont typeface="+mj-lt"/>
              <a:buAutoNum type="arabicPeriod"/>
            </a:pPr>
            <a:endParaRPr lang="pt-BR" dirty="0"/>
          </a:p>
          <a:p>
            <a:pPr marL="1371600" lvl="2" indent="-457200">
              <a:buFont typeface="+mj-lt"/>
              <a:buAutoNum type="romanLcPeriod"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AB4AF5-9D42-2FF9-1DE7-57C693A85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09AE2E5-162C-D00F-2607-C81C8AF74C1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87633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79BAB-672E-54DF-A071-94C7E8DA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Custo da qualidade</a:t>
            </a:r>
          </a:p>
        </p:txBody>
      </p:sp>
      <p:pic>
        <p:nvPicPr>
          <p:cNvPr id="9222" name="Picture 6" descr="Cost of Fixing a Defect [9] | Download Scientific Diagram">
            <a:extLst>
              <a:ext uri="{FF2B5EF4-FFF2-40B4-BE49-F238E27FC236}">
                <a16:creationId xmlns:a16="http://schemas.microsoft.com/office/drawing/2014/main" id="{7F400506-3672-E2A8-30EC-9D6786F413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138" y="1690688"/>
            <a:ext cx="8997724" cy="501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7818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BB918-DC1F-1B18-8B18-431637CA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Custo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890F0D-A6FE-4A03-DE5E-64DAC7429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Custo da qualidade = </a:t>
            </a:r>
          </a:p>
          <a:p>
            <a:pPr marL="457200" lvl="1" indent="0">
              <a:buNone/>
            </a:pPr>
            <a:r>
              <a:rPr lang="pt-BR" dirty="0"/>
              <a:t>Custo da prevenção </a:t>
            </a:r>
          </a:p>
          <a:p>
            <a:pPr marL="457200" lvl="1" indent="0">
              <a:buNone/>
            </a:pPr>
            <a:r>
              <a:rPr lang="pt-BR" dirty="0"/>
              <a:t>+ Custo da avaliação </a:t>
            </a:r>
          </a:p>
          <a:p>
            <a:pPr marL="457200" lvl="1" indent="0">
              <a:buNone/>
            </a:pPr>
            <a:r>
              <a:rPr lang="pt-BR" dirty="0"/>
              <a:t>+ Custo das falhas internas </a:t>
            </a:r>
          </a:p>
          <a:p>
            <a:pPr marL="457200" lvl="1" indent="0">
              <a:buNone/>
            </a:pPr>
            <a:r>
              <a:rPr lang="pt-BR" dirty="0"/>
              <a:t>+ Custo das falhas externos ao processo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1453448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09A9-F5FF-23DF-69C1-118BDE66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F1B2B-A369-2452-18FA-9AD6F24CF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Custo da qualidade</a:t>
            </a:r>
          </a:p>
        </p:txBody>
      </p:sp>
      <p:pic>
        <p:nvPicPr>
          <p:cNvPr id="10242" name="Picture 2" descr="Artigo Custos da Qualidade - Comparativo Custo da Não Qualidade vs Custo da Qualidade">
            <a:extLst>
              <a:ext uri="{FF2B5EF4-FFF2-40B4-BE49-F238E27FC236}">
                <a16:creationId xmlns:a16="http://schemas.microsoft.com/office/drawing/2014/main" id="{F9F5BCBA-E07A-BB5B-9640-B76E9C086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844" y="1690688"/>
            <a:ext cx="7348311" cy="468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67CF81A-DD4F-A0D3-684A-8DD528D87931}"/>
              </a:ext>
            </a:extLst>
          </p:cNvPr>
          <p:cNvSpPr txBox="1"/>
          <p:nvPr/>
        </p:nvSpPr>
        <p:spPr>
          <a:xfrm>
            <a:off x="3047999" y="6415186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hlinkClick r:id="rId3"/>
              </a:rPr>
              <a:t>https://qualyteam.com/pb/blog/como-identificar-os-custos-da-qualidade/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60471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C0D79-DA01-D4F8-C66B-74FFF4CC5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Custo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F1EDD-83C3-9C01-7B00-4785B49E4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Intimamente ligado à gestão de riscos</a:t>
            </a:r>
          </a:p>
        </p:txBody>
      </p:sp>
      <p:pic>
        <p:nvPicPr>
          <p:cNvPr id="12290" name="Picture 2" descr="Risk Based Testing PowerPoint and Google Slides Template">
            <a:extLst>
              <a:ext uri="{FF2B5EF4-FFF2-40B4-BE49-F238E27FC236}">
                <a16:creationId xmlns:a16="http://schemas.microsoft.com/office/drawing/2014/main" id="{D33D2010-CA86-7C77-AEA2-9818E135AB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61" b="19222"/>
          <a:stretch/>
        </p:blipFill>
        <p:spPr bwMode="auto">
          <a:xfrm>
            <a:off x="1677759" y="2430106"/>
            <a:ext cx="8836479" cy="399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8F6EF5AD-FB23-D495-06AC-66FFE098FE85}"/>
              </a:ext>
            </a:extLst>
          </p:cNvPr>
          <p:cNvSpPr txBox="1"/>
          <p:nvPr/>
        </p:nvSpPr>
        <p:spPr>
          <a:xfrm>
            <a:off x="3047999" y="649287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hlinkClick r:id="rId3"/>
              </a:rPr>
              <a:t>https://www.sketchbubble.com/en/presentation-risk-based-testing.html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866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12A5B-DDF3-C390-10D7-3D66ED7B7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Dilema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229DDD-060D-D42B-4B25-2CFEFBDB2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Software “</a:t>
            </a:r>
            <a:r>
              <a:rPr lang="pt-BR" b="1" u="sng" dirty="0"/>
              <a:t>bom o suficiente</a:t>
            </a:r>
            <a:r>
              <a:rPr lang="pt-BR" dirty="0"/>
              <a:t>”</a:t>
            </a:r>
          </a:p>
          <a:p>
            <a:pPr lvl="1"/>
            <a:r>
              <a:rPr lang="pt-BR" dirty="0"/>
              <a:t>Péssima qualidade </a:t>
            </a:r>
            <a:r>
              <a:rPr lang="pt-BR" dirty="0">
                <a:sym typeface="Wingdings" panose="05000000000000000000" pitchFamily="2" charset="2"/>
              </a:rPr>
              <a:t> ninguém compra</a:t>
            </a:r>
          </a:p>
          <a:p>
            <a:pPr lvl="1"/>
            <a:r>
              <a:rPr lang="pt-BR" dirty="0">
                <a:sym typeface="Wingdings" panose="05000000000000000000" pitchFamily="2" charset="2"/>
              </a:rPr>
              <a:t>Qualidade muito alta  muito tempo para entrega, muito caro</a:t>
            </a:r>
          </a:p>
          <a:p>
            <a:pPr lvl="1"/>
            <a:r>
              <a:rPr lang="pt-BR" dirty="0">
                <a:solidFill>
                  <a:srgbClr val="FF0000"/>
                </a:solidFill>
                <a:sym typeface="Wingdings" panose="05000000000000000000" pitchFamily="2" charset="2"/>
              </a:rPr>
              <a:t>Qual o meio termo?</a:t>
            </a:r>
            <a:endParaRPr lang="pt-BR" dirty="0">
              <a:solidFill>
                <a:srgbClr val="FF0000"/>
              </a:solidFill>
            </a:endParaRPr>
          </a:p>
        </p:txBody>
      </p:sp>
      <p:pic>
        <p:nvPicPr>
          <p:cNvPr id="4" name="Picture 4" descr="The Universal &quot;Better&quot; Curve by Pastor Bobby Gruenewald | Life.Church">
            <a:extLst>
              <a:ext uri="{FF2B5EF4-FFF2-40B4-BE49-F238E27FC236}">
                <a16:creationId xmlns:a16="http://schemas.microsoft.com/office/drawing/2014/main" id="{7C0C13D9-F805-2A31-0978-9E9C513B9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116" y="4186011"/>
            <a:ext cx="4491768" cy="252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76084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84C4-C594-A7E5-3443-61A0A97B2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E4980-B4E1-1D84-BF75-C5DA4CFB0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Dilema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5E8009-5FC9-449B-6254-91486A484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Software “</a:t>
            </a:r>
            <a:r>
              <a:rPr lang="pt-BR" b="1" u="sng" dirty="0"/>
              <a:t>bom o suficiente</a:t>
            </a:r>
            <a:r>
              <a:rPr lang="pt-BR" dirty="0"/>
              <a:t>”</a:t>
            </a:r>
          </a:p>
          <a:p>
            <a:pPr lvl="1"/>
            <a:r>
              <a:rPr lang="pt-BR" dirty="0"/>
              <a:t>Fornece funcionalidades de alta qualidade que os usuários desejam</a:t>
            </a:r>
          </a:p>
          <a:p>
            <a:pPr lvl="1"/>
            <a:r>
              <a:rPr lang="pt-BR" dirty="0"/>
              <a:t>Outras funções com erros conhecidos</a:t>
            </a:r>
          </a:p>
          <a:p>
            <a:pPr lvl="2"/>
            <a:r>
              <a:rPr lang="pt-BR" dirty="0"/>
              <a:t>Espera-se que os usuários relevem os erros por estarem muito satisfeitos com as outras funcionalidades</a:t>
            </a:r>
          </a:p>
          <a:p>
            <a:pPr lvl="1"/>
            <a:r>
              <a:rPr lang="pt-BR" dirty="0"/>
              <a:t>Depende da empresa e do tipo de software!</a:t>
            </a:r>
          </a:p>
        </p:txBody>
      </p:sp>
      <p:pic>
        <p:nvPicPr>
          <p:cNvPr id="23556" name="Picture 4" descr="The Universal &quot;Better&quot; Curve by Pastor Bobby Gruenewald | Life.Church">
            <a:extLst>
              <a:ext uri="{FF2B5EF4-FFF2-40B4-BE49-F238E27FC236}">
                <a16:creationId xmlns:a16="http://schemas.microsoft.com/office/drawing/2014/main" id="{090FD3A8-7B2E-4A47-0BC7-890B8C663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116" y="4186011"/>
            <a:ext cx="4491768" cy="2526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1364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921F5-B8A0-68E4-A00B-A7C308A0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Custo da qualidade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544533-B200-4229-8C14-0FFF1BADD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sz="4400" b="1" i="1" dirty="0" err="1"/>
              <a:t>Custo</a:t>
            </a:r>
            <a:r>
              <a:rPr lang="pt-BR" sz="4400" b="1" i="1" baseline="-25000" dirty="0" err="1"/>
              <a:t>impacto</a:t>
            </a:r>
            <a:r>
              <a:rPr lang="pt-BR" sz="4400" b="1" i="1" dirty="0"/>
              <a:t> &lt; </a:t>
            </a:r>
            <a:r>
              <a:rPr lang="pt-BR" sz="4400" b="1" i="1" dirty="0" err="1"/>
              <a:t>Custo</a:t>
            </a:r>
            <a:r>
              <a:rPr lang="pt-BR" sz="4400" b="1" i="1" baseline="-25000" dirty="0" err="1"/>
              <a:t>qualidade</a:t>
            </a:r>
            <a:endParaRPr lang="pt-BR" sz="4400" b="1" i="1" baseline="-25000" dirty="0"/>
          </a:p>
          <a:p>
            <a:endParaRPr lang="pt-BR" b="1" i="1" baseline="-25000" dirty="0"/>
          </a:p>
          <a:p>
            <a:r>
              <a:rPr lang="pt-BR" sz="2400" dirty="0"/>
              <a:t>Riscos:</a:t>
            </a:r>
          </a:p>
          <a:p>
            <a:pPr lvl="1"/>
            <a:r>
              <a:rPr lang="pt-BR" sz="2000" dirty="0"/>
              <a:t>Negligência e responsabilidade civil;</a:t>
            </a:r>
          </a:p>
          <a:p>
            <a:pPr lvl="1"/>
            <a:r>
              <a:rPr lang="pt-BR" sz="2000" dirty="0"/>
              <a:t>Qualidade e segurança (lógica e física);</a:t>
            </a:r>
          </a:p>
          <a:p>
            <a:pPr lvl="1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4060809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91F4D-5C1F-2793-0275-F261B218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Seminários avançados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0CD9B3-56CC-02F5-F5F0-A18EBCD58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Tópicos: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1- Gerenciamento de software livre </a:t>
            </a:r>
            <a:r>
              <a:rPr lang="pt-BR" b="1" dirty="0"/>
              <a:t>[Guilherme]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2- Gerenciamento de trabalho remoto </a:t>
            </a:r>
            <a:r>
              <a:rPr lang="pt-BR" b="1" dirty="0"/>
              <a:t>[Giovana]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3- Fatores de produtividade no desenvolvimento de software  [</a:t>
            </a:r>
            <a:r>
              <a:rPr lang="pt-BR" b="1" dirty="0"/>
              <a:t>Felipe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4- </a:t>
            </a:r>
            <a:r>
              <a:rPr lang="pt-BR" dirty="0" err="1"/>
              <a:t>LLMs</a:t>
            </a:r>
            <a:r>
              <a:rPr lang="pt-BR" dirty="0"/>
              <a:t> e desenvolvimento de SW [</a:t>
            </a:r>
            <a:r>
              <a:rPr lang="pt-BR" b="1" dirty="0"/>
              <a:t>João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5- Estratégias de implantação de SW (</a:t>
            </a:r>
            <a:r>
              <a:rPr lang="pt-BR" b="1" i="1" dirty="0" err="1"/>
              <a:t>rollout</a:t>
            </a:r>
            <a:r>
              <a:rPr lang="pt-BR" dirty="0"/>
              <a:t>: alfa/beta, A/B, </a:t>
            </a:r>
            <a:r>
              <a:rPr lang="pt-BR" dirty="0" err="1"/>
              <a:t>canary</a:t>
            </a:r>
            <a:r>
              <a:rPr lang="pt-BR" dirty="0"/>
              <a:t> </a:t>
            </a:r>
            <a:r>
              <a:rPr lang="pt-BR" dirty="0" err="1"/>
              <a:t>tests</a:t>
            </a:r>
            <a:r>
              <a:rPr lang="pt-BR" dirty="0"/>
              <a:t>...) 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6- Cultura </a:t>
            </a:r>
            <a:r>
              <a:rPr lang="pt-BR" dirty="0" err="1"/>
              <a:t>Ops</a:t>
            </a:r>
            <a:r>
              <a:rPr lang="pt-BR" dirty="0"/>
              <a:t>: </a:t>
            </a:r>
            <a:r>
              <a:rPr lang="pt-BR" dirty="0" err="1"/>
              <a:t>DevOps</a:t>
            </a:r>
            <a:r>
              <a:rPr lang="pt-BR" dirty="0"/>
              <a:t>, </a:t>
            </a:r>
            <a:r>
              <a:rPr lang="pt-BR" dirty="0" err="1"/>
              <a:t>MLOps</a:t>
            </a:r>
            <a:r>
              <a:rPr lang="pt-BR" dirty="0"/>
              <a:t>, </a:t>
            </a:r>
            <a:r>
              <a:rPr lang="pt-BR" dirty="0" err="1"/>
              <a:t>LLMOps</a:t>
            </a:r>
            <a:r>
              <a:rPr lang="pt-BR" dirty="0"/>
              <a:t>, AI </a:t>
            </a:r>
            <a:r>
              <a:rPr lang="pt-BR" dirty="0" err="1"/>
              <a:t>Ops</a:t>
            </a:r>
            <a:r>
              <a:rPr lang="pt-BR" dirty="0"/>
              <a:t> [</a:t>
            </a:r>
            <a:r>
              <a:rPr lang="pt-BR" b="1" dirty="0"/>
              <a:t>Mateus P.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7- Computação e as Ciências Sociais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8-Escalabilidade Ágil (</a:t>
            </a:r>
            <a:r>
              <a:rPr lang="pt-BR" dirty="0" err="1"/>
              <a:t>SAFe</a:t>
            </a:r>
            <a:r>
              <a:rPr lang="pt-BR" dirty="0"/>
              <a:t>, </a:t>
            </a:r>
            <a:r>
              <a:rPr lang="pt-BR" dirty="0" err="1"/>
              <a:t>LeSS</a:t>
            </a:r>
            <a:r>
              <a:rPr lang="pt-BR" dirty="0"/>
              <a:t>, Nexus) [</a:t>
            </a:r>
            <a:r>
              <a:rPr lang="pt-BR" b="1" dirty="0"/>
              <a:t>Gustavo</a:t>
            </a:r>
            <a:r>
              <a:rPr lang="pt-BR" dirty="0"/>
              <a:t>]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9-Questões culturais em produtos de software </a:t>
            </a:r>
            <a:endParaRPr lang="pt-BR" b="1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4038955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08BCDF-8806-C49F-F139-24622FB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62F806-5965-C85A-6DB3-92CF0BB63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pt-BR" sz="1800" dirty="0"/>
              <a:t>PROJECT MANAGEMENT INSTITUTE (PMI). </a:t>
            </a:r>
            <a:r>
              <a:rPr lang="pt-BR" sz="1800" b="1" dirty="0"/>
              <a:t>Guia PMBOK®: Oitava Edição</a:t>
            </a:r>
            <a:r>
              <a:rPr lang="pt-BR" sz="1800" dirty="0"/>
              <a:t>. Newtown Square: Project Management </a:t>
            </a:r>
            <a:r>
              <a:rPr lang="pt-BR" sz="1800" dirty="0" err="1"/>
              <a:t>Institute</a:t>
            </a:r>
            <a:r>
              <a:rPr lang="pt-BR" sz="1800" dirty="0"/>
              <a:t>, 2025.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Pressman, R. S., 7ª </a:t>
            </a:r>
            <a:r>
              <a:rPr lang="pt-BR" sz="1800" dirty="0" err="1"/>
              <a:t>ed</a:t>
            </a:r>
            <a:r>
              <a:rPr lang="pt-BR" sz="1800" dirty="0"/>
              <a:t> (2011). </a:t>
            </a:r>
            <a:r>
              <a:rPr lang="pt-BR" sz="1800" b="1" dirty="0"/>
              <a:t>Engenharia de software</a:t>
            </a:r>
            <a:r>
              <a:rPr lang="pt-BR" sz="1800" dirty="0"/>
              <a:t>.</a:t>
            </a:r>
          </a:p>
          <a:p>
            <a:pPr>
              <a:spcBef>
                <a:spcPts val="1800"/>
              </a:spcBef>
            </a:pPr>
            <a:r>
              <a:rPr lang="pt-BR" sz="1800" dirty="0" err="1"/>
              <a:t>Sommerville</a:t>
            </a:r>
            <a:r>
              <a:rPr lang="pt-BR" sz="1800" dirty="0"/>
              <a:t>. I. </a:t>
            </a:r>
            <a:r>
              <a:rPr lang="pt-BR" sz="1800" b="1" dirty="0"/>
              <a:t>Engenharia de Software</a:t>
            </a:r>
            <a:r>
              <a:rPr lang="pt-BR" sz="1800" dirty="0"/>
              <a:t>, 9ª </a:t>
            </a:r>
            <a:r>
              <a:rPr lang="pt-BR" sz="1800" dirty="0" err="1"/>
              <a:t>ed</a:t>
            </a:r>
            <a:r>
              <a:rPr lang="pt-BR" sz="1800" dirty="0"/>
              <a:t> (2011).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Notas de aula, prof. Simone Souza (ICMC/USP). </a:t>
            </a:r>
            <a:r>
              <a:rPr lang="pt-BR" sz="1800" b="1" dirty="0"/>
              <a:t>Aulas 14 e 15</a:t>
            </a:r>
            <a:r>
              <a:rPr lang="pt-BR" sz="1800" dirty="0"/>
              <a:t>, 2024.</a:t>
            </a:r>
          </a:p>
          <a:p>
            <a:pPr>
              <a:spcBef>
                <a:spcPts val="1800"/>
              </a:spcBef>
            </a:pPr>
            <a:r>
              <a:rPr lang="pt-BR" sz="1800" dirty="0"/>
              <a:t>Notas de aulas, prof. Leonardo Murta (IC/UFF). </a:t>
            </a:r>
            <a:r>
              <a:rPr lang="pt-BR" sz="1800" b="1" dirty="0"/>
              <a:t>Aulas 6 e 7</a:t>
            </a:r>
            <a:r>
              <a:rPr lang="pt-BR" sz="1800" dirty="0"/>
              <a:t>, 2024: </a:t>
            </a:r>
            <a:r>
              <a:rPr lang="pt-BR" sz="1800" dirty="0">
                <a:hlinkClick r:id="rId3"/>
              </a:rPr>
              <a:t>https://leomurta.github.io/</a:t>
            </a:r>
            <a:r>
              <a:rPr lang="pt-BR" sz="1800" dirty="0"/>
              <a:t>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pt-B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80090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055FE-B1D8-FF53-5DA1-C6DD2517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159835-0298-B3F6-88AB-514E2D6AB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Lei de Campbell </a:t>
            </a:r>
            <a:r>
              <a:rPr lang="pt-BR"/>
              <a:t>e Lei </a:t>
            </a:r>
            <a:r>
              <a:rPr lang="pt-BR" dirty="0"/>
              <a:t>de </a:t>
            </a:r>
            <a:r>
              <a:rPr lang="pt-BR" dirty="0" err="1"/>
              <a:t>Goodhart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38547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66057</TotalTime>
  <Words>3160</Words>
  <Application>Microsoft Office PowerPoint</Application>
  <PresentationFormat>Widescreen</PresentationFormat>
  <Paragraphs>520</Paragraphs>
  <Slides>78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78</vt:i4>
      </vt:variant>
    </vt:vector>
  </HeadingPairs>
  <TitlesOfParts>
    <vt:vector size="83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Na aula anterior, vimos...</vt:lpstr>
      <vt:lpstr>Agenda</vt:lpstr>
      <vt:lpstr>Qualidade de software?</vt:lpstr>
      <vt:lpstr>Qualidade depende da perspectiva</vt:lpstr>
      <vt:lpstr>Apresentação do PowerPoint</vt:lpstr>
      <vt:lpstr>Apresentação do PowerPoint</vt:lpstr>
      <vt:lpstr>Exemplos</vt:lpstr>
      <vt:lpstr>Exemplos</vt:lpstr>
      <vt:lpstr>Qualidade de software</vt:lpstr>
      <vt:lpstr>Qualidade de software</vt:lpstr>
      <vt:lpstr>PMBOK 8 (2026)</vt:lpstr>
      <vt:lpstr>PMBOK 8 (2026)</vt:lpstr>
      <vt:lpstr>PMBOK 8 (2026)</vt:lpstr>
      <vt:lpstr>PMBOK 8 (2026)</vt:lpstr>
      <vt:lpstr>Qualidade de software</vt:lpstr>
      <vt:lpstr>1) Planejamento da qualidade</vt:lpstr>
      <vt:lpstr>1) Planejamento da qualidade</vt:lpstr>
      <vt:lpstr>2) Garantia da Qualidade</vt:lpstr>
      <vt:lpstr>2) Garantia da Qualidade</vt:lpstr>
      <vt:lpstr>2) Garantia da qualidade</vt:lpstr>
      <vt:lpstr>3) Controle da qualidade</vt:lpstr>
      <vt:lpstr>3) Controle da qualidade</vt:lpstr>
      <vt:lpstr>3) Controle da qualidade</vt:lpstr>
      <vt:lpstr>Visão global da qualidade de software</vt:lpstr>
      <vt:lpstr>Verificação e validação (V&amp;V)</vt:lpstr>
      <vt:lpstr>Processo de software</vt:lpstr>
      <vt:lpstr>Agenda</vt:lpstr>
      <vt:lpstr>Qualidade de produto</vt:lpstr>
      <vt:lpstr>Propagação de defeitos</vt:lpstr>
      <vt:lpstr>Norma ISO/IEC 25.010</vt:lpstr>
      <vt:lpstr>Norma ISO/IEC 25.010</vt:lpstr>
      <vt:lpstr>Norma ISO/IEC 25.010</vt:lpstr>
      <vt:lpstr>Norma ISO/IEC 25.010</vt:lpstr>
      <vt:lpstr>Norma ISO/IEC 25.010</vt:lpstr>
      <vt:lpstr>Norma ISO/IEC 25.010</vt:lpstr>
      <vt:lpstr>Norma ISO/IEC 25.010</vt:lpstr>
      <vt:lpstr>Norma ISO/IEC 25.010</vt:lpstr>
      <vt:lpstr>Norma ISO/IEC 25.010</vt:lpstr>
      <vt:lpstr>Apresentação do PowerPoint</vt:lpstr>
      <vt:lpstr>Métricas para ISO/IEC 25.010</vt:lpstr>
      <vt:lpstr>Apresentação do PowerPoint</vt:lpstr>
      <vt:lpstr>Métricas de qualidade de produto</vt:lpstr>
      <vt:lpstr>Especificidades de software</vt:lpstr>
      <vt:lpstr>Qualidade de produto</vt:lpstr>
      <vt:lpstr>Testes de software</vt:lpstr>
      <vt:lpstr>Níveis de teste</vt:lpstr>
      <vt:lpstr>Agenda</vt:lpstr>
      <vt:lpstr>Qualidade de processo</vt:lpstr>
      <vt:lpstr>Qualidade de processo</vt:lpstr>
      <vt:lpstr>Garantia da Qualidade de Software (SQA)</vt:lpstr>
      <vt:lpstr>Métricas de processo</vt:lpstr>
      <vt:lpstr>Modelos de maturidade</vt:lpstr>
      <vt:lpstr>CMMI</vt:lpstr>
      <vt:lpstr>CMMI</vt:lpstr>
      <vt:lpstr>CMMI</vt:lpstr>
      <vt:lpstr>CMMi</vt:lpstr>
      <vt:lpstr>CMMI x métodos ágeis</vt:lpstr>
      <vt:lpstr>CMMI</vt:lpstr>
      <vt:lpstr>MPS.BR</vt:lpstr>
      <vt:lpstr>MPS.BR</vt:lpstr>
      <vt:lpstr>MPS.BR</vt:lpstr>
      <vt:lpstr>MPS.BR</vt:lpstr>
      <vt:lpstr>MPS.BR</vt:lpstr>
      <vt:lpstr>Qualidade de processo</vt:lpstr>
      <vt:lpstr>Processo de qualidade</vt:lpstr>
      <vt:lpstr>Atividade</vt:lpstr>
      <vt:lpstr>Agenda</vt:lpstr>
      <vt:lpstr>Custo da qualidade</vt:lpstr>
      <vt:lpstr>Custo da qualidade</vt:lpstr>
      <vt:lpstr>Custo da qualidade</vt:lpstr>
      <vt:lpstr>Custo da qualidade</vt:lpstr>
      <vt:lpstr>Dilema da qualidade</vt:lpstr>
      <vt:lpstr>Dilema da qualidade</vt:lpstr>
      <vt:lpstr>Custo da qualidade</vt:lpstr>
      <vt:lpstr>Seminários avançados</vt:lpstr>
      <vt:lpstr>Referências bibliográficas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1431</cp:revision>
  <dcterms:created xsi:type="dcterms:W3CDTF">2024-08-08T20:58:28Z</dcterms:created>
  <dcterms:modified xsi:type="dcterms:W3CDTF">2026-08-28T22:02:40Z</dcterms:modified>
</cp:coreProperties>
</file>