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256" r:id="rId2"/>
    <p:sldId id="788" r:id="rId3"/>
    <p:sldId id="531" r:id="rId4"/>
    <p:sldId id="628" r:id="rId5"/>
    <p:sldId id="755" r:id="rId6"/>
    <p:sldId id="801" r:id="rId7"/>
    <p:sldId id="1333" r:id="rId8"/>
    <p:sldId id="802" r:id="rId9"/>
    <p:sldId id="790" r:id="rId10"/>
    <p:sldId id="754" r:id="rId11"/>
    <p:sldId id="759" r:id="rId12"/>
    <p:sldId id="803" r:id="rId13"/>
    <p:sldId id="1336" r:id="rId14"/>
    <p:sldId id="804" r:id="rId15"/>
    <p:sldId id="1332" r:id="rId16"/>
    <p:sldId id="1338" r:id="rId17"/>
    <p:sldId id="791" r:id="rId18"/>
    <p:sldId id="756" r:id="rId19"/>
    <p:sldId id="758" r:id="rId20"/>
    <p:sldId id="757" r:id="rId21"/>
    <p:sldId id="1334" r:id="rId22"/>
    <p:sldId id="1335" r:id="rId23"/>
    <p:sldId id="761" r:id="rId24"/>
    <p:sldId id="775" r:id="rId25"/>
    <p:sldId id="805" r:id="rId26"/>
    <p:sldId id="806" r:id="rId27"/>
    <p:sldId id="762" r:id="rId28"/>
    <p:sldId id="766" r:id="rId29"/>
    <p:sldId id="763" r:id="rId30"/>
    <p:sldId id="808" r:id="rId31"/>
    <p:sldId id="768" r:id="rId32"/>
    <p:sldId id="767" r:id="rId33"/>
    <p:sldId id="792" r:id="rId34"/>
    <p:sldId id="811" r:id="rId35"/>
    <p:sldId id="764" r:id="rId36"/>
    <p:sldId id="1339" r:id="rId37"/>
    <p:sldId id="765" r:id="rId38"/>
    <p:sldId id="1340" r:id="rId39"/>
    <p:sldId id="1337" r:id="rId40"/>
    <p:sldId id="810" r:id="rId41"/>
    <p:sldId id="812" r:id="rId42"/>
    <p:sldId id="813" r:id="rId43"/>
    <p:sldId id="807" r:id="rId44"/>
    <p:sldId id="795" r:id="rId45"/>
    <p:sldId id="794" r:id="rId46"/>
    <p:sldId id="770" r:id="rId47"/>
    <p:sldId id="776" r:id="rId48"/>
    <p:sldId id="777" r:id="rId49"/>
    <p:sldId id="778" r:id="rId50"/>
    <p:sldId id="793" r:id="rId51"/>
    <p:sldId id="783" r:id="rId52"/>
    <p:sldId id="784" r:id="rId53"/>
    <p:sldId id="785" r:id="rId54"/>
    <p:sldId id="786" r:id="rId55"/>
    <p:sldId id="787" r:id="rId56"/>
    <p:sldId id="789" r:id="rId57"/>
    <p:sldId id="779" r:id="rId5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âmbulo" id="{4EC86D00-4420-4C6F-BCD1-3E1D9C03789E}">
          <p14:sldIdLst>
            <p14:sldId id="256"/>
            <p14:sldId id="788"/>
            <p14:sldId id="531"/>
            <p14:sldId id="628"/>
          </p14:sldIdLst>
        </p14:section>
        <p14:section name="Riscos de software" id="{DF465357-F9D9-4EC2-90C3-9A900F8A8419}">
          <p14:sldIdLst>
            <p14:sldId id="755"/>
            <p14:sldId id="801"/>
            <p14:sldId id="1333"/>
            <p14:sldId id="802"/>
            <p14:sldId id="790"/>
            <p14:sldId id="754"/>
            <p14:sldId id="759"/>
            <p14:sldId id="803"/>
            <p14:sldId id="1336"/>
            <p14:sldId id="804"/>
            <p14:sldId id="1332"/>
            <p14:sldId id="1338"/>
            <p14:sldId id="791"/>
            <p14:sldId id="756"/>
            <p14:sldId id="758"/>
            <p14:sldId id="757"/>
            <p14:sldId id="1334"/>
            <p14:sldId id="1335"/>
          </p14:sldIdLst>
        </p14:section>
        <p14:section name="Processo de gestão dos riscos" id="{6C2A3FE0-A39F-4851-BC24-9DF52F1AA7E4}">
          <p14:sldIdLst>
            <p14:sldId id="761"/>
            <p14:sldId id="775"/>
            <p14:sldId id="805"/>
            <p14:sldId id="806"/>
            <p14:sldId id="762"/>
            <p14:sldId id="766"/>
            <p14:sldId id="763"/>
            <p14:sldId id="808"/>
            <p14:sldId id="768"/>
            <p14:sldId id="767"/>
            <p14:sldId id="792"/>
            <p14:sldId id="811"/>
            <p14:sldId id="764"/>
            <p14:sldId id="1339"/>
            <p14:sldId id="765"/>
            <p14:sldId id="1340"/>
            <p14:sldId id="1337"/>
            <p14:sldId id="810"/>
            <p14:sldId id="812"/>
            <p14:sldId id="813"/>
            <p14:sldId id="807"/>
            <p14:sldId id="795"/>
            <p14:sldId id="794"/>
            <p14:sldId id="770"/>
            <p14:sldId id="776"/>
            <p14:sldId id="777"/>
            <p14:sldId id="778"/>
            <p14:sldId id="793"/>
            <p14:sldId id="783"/>
            <p14:sldId id="784"/>
            <p14:sldId id="785"/>
            <p14:sldId id="786"/>
            <p14:sldId id="787"/>
            <p14:sldId id="789"/>
            <p14:sldId id="7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runo Elias Penteado" initials="BE" lastIdx="2" clrIdx="0">
    <p:extLst>
      <p:ext uri="{19B8F6BF-5375-455C-9EA6-DF929625EA0E}">
        <p15:presenceInfo xmlns:p15="http://schemas.microsoft.com/office/powerpoint/2012/main" userId="S::bruno.penteado@unesp.br::bec6b747-612e-4f00-81d1-4fe3c5e6bf7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CF1AB2-1976-4502-BF36-3FF5EA218861}" styleName="Estilo Médio 4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5768" autoAdjust="0"/>
  </p:normalViewPr>
  <p:slideViewPr>
    <p:cSldViewPr snapToGrid="0">
      <p:cViewPr varScale="1">
        <p:scale>
          <a:sx n="68" d="100"/>
          <a:sy n="68" d="100"/>
        </p:scale>
        <p:origin x="11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A0D3E-F1D3-4165-92D6-88ABBF3402F7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4F4DC4-6592-40BF-ABDB-9BFF74F557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5736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Equipe </a:t>
            </a:r>
            <a:r>
              <a:rPr lang="pt-BR" dirty="0"/>
              <a:t>devops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24612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52102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A42B3-0BEB-F125-7681-0CCA1D577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95D8CA4-85A5-E636-C87C-64DBDC3138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9751DDA-C73B-EE16-0BA1-A4D7110855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23DE7DF-DB03-B35D-7042-955DABF479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6661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1) CC</a:t>
            </a:r>
          </a:p>
          <a:p>
            <a:r>
              <a:rPr lang="pt-BR" dirty="0"/>
              <a:t>2) CD</a:t>
            </a:r>
          </a:p>
          <a:p>
            <a:r>
              <a:rPr lang="pt-BR" dirty="0"/>
              <a:t>3) DC</a:t>
            </a:r>
          </a:p>
          <a:p>
            <a:r>
              <a:rPr lang="pt-BR" dirty="0"/>
              <a:t>4) CC</a:t>
            </a:r>
          </a:p>
          <a:p>
            <a:r>
              <a:rPr lang="pt-BR" dirty="0"/>
              <a:t>5) DD</a:t>
            </a:r>
          </a:p>
          <a:p>
            <a:r>
              <a:rPr lang="pt-BR" dirty="0"/>
              <a:t>6) CD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65272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1) Como conduzir as atividades de gestão de risco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1044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8787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1) Menos</a:t>
            </a:r>
          </a:p>
          <a:p>
            <a:r>
              <a:rPr lang="pt-BR" dirty="0"/>
              <a:t>2) Mais</a:t>
            </a:r>
          </a:p>
          <a:p>
            <a:r>
              <a:rPr lang="pt-BR" dirty="0"/>
              <a:t>3) Mais</a:t>
            </a:r>
          </a:p>
          <a:p>
            <a:r>
              <a:rPr lang="pt-BR" dirty="0"/>
              <a:t>4) Menos</a:t>
            </a:r>
          </a:p>
          <a:p>
            <a:r>
              <a:rPr lang="pt-BR" dirty="0"/>
              <a:t>5) Sem mudança</a:t>
            </a:r>
          </a:p>
          <a:p>
            <a:r>
              <a:rPr lang="pt-BR" dirty="0"/>
              <a:t>6) Mais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4F4DC4-6592-40BF-ABDB-9BFF74F557E8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5598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23A69-42FA-6C7F-8E7F-6B98D92359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D12021-E9B8-2DA5-D7AA-EEFAC9BE43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AE13B6-90D0-2EBF-557D-77BD35E40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DC1895-12D9-AC11-702E-11B703192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B0C4B1D-8FC3-28DD-213A-B4A33E191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6582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8C2FD6-A370-1985-C93A-1EDE8406C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52C3B9-7A7B-6CD7-6119-3D2AB3F88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677D9F-B2B1-EEB2-F39C-05B9FFB67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BCF700-7673-8EE5-8957-C42E2F58F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0852A1-3892-A7FE-CCE6-6FCC9FB20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F50F23F7-7509-A94A-0357-13196DBAB9BE}"/>
              </a:ext>
            </a:extLst>
          </p:cNvPr>
          <p:cNvCxnSpPr/>
          <p:nvPr userDrawn="1"/>
        </p:nvCxnSpPr>
        <p:spPr>
          <a:xfrm>
            <a:off x="838200" y="1515204"/>
            <a:ext cx="105156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49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4BC957-C48F-6616-84A8-A19050F98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C85F08-A25E-5A03-6537-9CF234C813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1BBAA9-5543-2C33-03DE-855D245B4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BEBC89-3A79-0634-3519-AF1F8111B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AD87A1-4927-B729-156C-B2C6FEFFC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1652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5213CD-B211-17A6-D257-BB10AAF02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0D9272-58DB-55C5-C017-D02D739EA6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7CA884-D3A7-E862-7F04-B499373461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C147A3D-8DA4-6B2C-0A0E-0AA6B0871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40C47B9-781B-1A6F-38A5-6CF791D12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D5ACD4D-8610-8AC9-93C7-D8B0369D9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1137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6E7B04-0019-79A4-76F5-2C8912174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BC33AB5-0365-0DCE-8AFE-3AABCB4EF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D09B770-753E-FCF1-A116-D319C584F6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E7E1C91-CE5E-222F-1899-061861EB58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D8F9A3A-15E1-DB2C-9454-3759BC68B0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DD57461-6C88-BC10-A526-51F0EC8E5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F514616-1567-C300-7178-6E93D825C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D247810-64D7-2657-E807-F2E63157F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1745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81F6D0-F91D-FF94-ADD4-10B99AAAA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211C08B-A0E1-D3DF-477B-076566DF4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8C29EE2-896F-6655-83F6-77B2CC775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9521969-790C-3FB8-B17B-C5D9FA8D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5323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8EA4D47-97AA-E8F2-EFAD-E53C4D4BA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06686CE-31E4-CD82-2C3F-AE7B79DE6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463308-365F-B15E-1B4F-EF5A05F5B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4646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F2A433-62E5-A2BD-9933-CEDBBAC8B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F278DE-9B7C-499B-0B63-1A51C8A34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852706B-ACC1-4F1F-252E-07F6A94B5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E07D0C2-9C2B-2A0D-85DB-E5122F1DF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9CEBD13-52BB-5E4C-C4C9-7253B4D15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8118860-1540-DB38-E923-CF9EB4C15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8265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72268F-28E4-33A8-9A0D-B4BD01E95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C3C9CF8-866C-BB9E-2C67-D40C4A1C7B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078B3E1-ECBE-DAF0-5317-CCE8B66223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B9CF26C-EB62-7FA1-1821-42D3E058A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0B9854-208F-52D2-AAFE-4C05AE118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1340E45-F88F-F4D5-516C-ECC00FF81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2655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009645-90D5-1856-B2DB-C12DE86D3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F207D42-9D2A-8F7A-AEE8-7980420C0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97E935-7DE0-6081-9677-5C257B0B6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32B49B-2BD6-A21A-CEE2-1B9E2148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3EF3D5-C6F9-8E4C-A73B-B9C1473DB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0567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C907A92-4A5E-2739-A866-E329CB69AB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EC33BF-D4D8-5F77-DD24-DA158AAC9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5AC911-DB13-B1D0-B867-3C6E61F09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6B603-1547-4FF1-9893-248F1C80E797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43CF6F-A03A-D784-15F8-5DB6477A2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624183-E9DA-9340-1464-04AA66A09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874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A7EA33D-A7C8-9466-7C32-0A686D071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44E89D-FA86-74FF-F5B2-DA0869805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436571-AAA0-FF36-AE0C-F581FE3716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6B603-1547-4FF1-9893-248F1C80E797}" type="datetimeFigureOut">
              <a:rPr lang="pt-BR" smtClean="0"/>
              <a:t>14/08/2026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657596-0053-291B-1A10-11FCA5D6CB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938FE5-92A0-DD55-5D9B-42370AB356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34841A-B43B-4ADF-B560-E829E6A817B2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6D69086C-F123-B506-151C-DD75F210BF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15159" t="9931" r="7592" b="36551"/>
          <a:stretch/>
        </p:blipFill>
        <p:spPr>
          <a:xfrm>
            <a:off x="10418618" y="365125"/>
            <a:ext cx="851299" cy="833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207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Bruno.penteado@unesp.b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enricodolfing.ch/en/case-study-4-the-440-million-software-error-at-knight-capital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v.br/anvisa/pt-br/acessoainformacao/acoeseprogramas/gestao-de-riscos/arquivos/guia-pratico-de-grc-v2-0_final.pdf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t.slideshare.net/slideshow/aula-07-gerenciamento-de-riscos/101758085#4" TargetMode="Externa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emf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1CE52B2-35C1-BC52-58D1-71F38112F63D}"/>
              </a:ext>
            </a:extLst>
          </p:cNvPr>
          <p:cNvSpPr txBox="1">
            <a:spLocks/>
          </p:cNvSpPr>
          <p:nvPr/>
        </p:nvSpPr>
        <p:spPr>
          <a:xfrm>
            <a:off x="1524000" y="2048338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b="1" dirty="0"/>
              <a:t>Aula 7</a:t>
            </a:r>
            <a:r>
              <a:rPr lang="pt-BR" dirty="0"/>
              <a:t> </a:t>
            </a:r>
            <a:br>
              <a:rPr lang="pt-BR" dirty="0"/>
            </a:br>
            <a:r>
              <a:rPr lang="pt-BR" dirty="0"/>
              <a:t>Riscos de projeto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52575701-68BF-5229-3D18-C2C9D3651AA6}"/>
              </a:ext>
            </a:extLst>
          </p:cNvPr>
          <p:cNvSpPr txBox="1">
            <a:spLocks/>
          </p:cNvSpPr>
          <p:nvPr/>
        </p:nvSpPr>
        <p:spPr>
          <a:xfrm>
            <a:off x="1524000" y="452801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Bruno Elias Penteado</a:t>
            </a:r>
          </a:p>
          <a:p>
            <a:r>
              <a:rPr lang="pt-BR" sz="2000" i="1" dirty="0">
                <a:hlinkClick r:id="rId3"/>
              </a:rPr>
              <a:t>bruno.penteado@unesp.br</a:t>
            </a:r>
            <a:r>
              <a:rPr lang="pt-BR" sz="2000" i="1" dirty="0"/>
              <a:t>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92919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5AA60B-667A-3B1E-5026-7006A72F2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Na aula anterior, vimos...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EAEA1F-22A4-D565-FC85-BCE673025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Cronograma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Cronograma:</a:t>
            </a:r>
          </a:p>
          <a:p>
            <a:pPr lvl="2"/>
            <a:r>
              <a:rPr lang="pt-BR" dirty="0"/>
              <a:t>Alinhamento com EAP</a:t>
            </a:r>
          </a:p>
          <a:p>
            <a:pPr lvl="2"/>
            <a:r>
              <a:rPr lang="pt-BR" dirty="0"/>
              <a:t>Caminho crítico (CPM) e PERT (</a:t>
            </a:r>
            <a:r>
              <a:rPr lang="en-US" dirty="0"/>
              <a:t>Program Evaluation and Review Technique)</a:t>
            </a:r>
            <a:endParaRPr lang="pt-BR" dirty="0"/>
          </a:p>
          <a:p>
            <a:pPr lvl="2"/>
            <a:r>
              <a:rPr lang="pt-BR" dirty="0"/>
              <a:t>Alocação de recursos</a:t>
            </a:r>
          </a:p>
          <a:p>
            <a:pPr lvl="2"/>
            <a:r>
              <a:rPr lang="pt-BR" dirty="0"/>
              <a:t>Representações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Orçamento:</a:t>
            </a:r>
          </a:p>
          <a:p>
            <a:pPr lvl="2"/>
            <a:r>
              <a:rPr lang="pt-BR" dirty="0"/>
              <a:t>Preço e lucro</a:t>
            </a:r>
          </a:p>
          <a:p>
            <a:pPr lvl="2"/>
            <a:r>
              <a:rPr lang="pt-BR" dirty="0"/>
              <a:t>Cronograma de desembolso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941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C376FF-90EA-9C4F-DC07-F31F9F534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714B55-9E67-EC4C-B3E0-F3F47E977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501FFA8-F008-8618-2CEE-D65519E89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814" y="365125"/>
            <a:ext cx="7733619" cy="6388274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1D3C709B-AE3E-74F3-FF30-586AB2729E2E}"/>
              </a:ext>
            </a:extLst>
          </p:cNvPr>
          <p:cNvSpPr/>
          <p:nvPr/>
        </p:nvSpPr>
        <p:spPr>
          <a:xfrm>
            <a:off x="1919814" y="1578429"/>
            <a:ext cx="8051500" cy="52795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8090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9DA329-E429-F9DF-509C-AEED5E691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Outras etapas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DDB1EAB-C2AD-B05F-CBCC-73E42169C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8925" y="2486594"/>
            <a:ext cx="4153480" cy="301032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34FC21A-1BC6-5E35-A750-07AE085A7440}"/>
              </a:ext>
            </a:extLst>
          </p:cNvPr>
          <p:cNvSpPr txBox="1"/>
          <p:nvPr/>
        </p:nvSpPr>
        <p:spPr>
          <a:xfrm>
            <a:off x="2911969" y="2946399"/>
            <a:ext cx="9601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Risco</a:t>
            </a:r>
            <a:endParaRPr lang="pt-BR" sz="24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A66475A-325B-C63C-073A-67C208BBB687}"/>
              </a:ext>
            </a:extLst>
          </p:cNvPr>
          <p:cNvSpPr txBox="1"/>
          <p:nvPr/>
        </p:nvSpPr>
        <p:spPr>
          <a:xfrm>
            <a:off x="9013613" y="2946399"/>
            <a:ext cx="9601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Risco</a:t>
            </a:r>
            <a:endParaRPr lang="pt-BR" sz="2400" b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9314A3C-8D1D-2557-91A7-9741BC38CD5D}"/>
              </a:ext>
            </a:extLst>
          </p:cNvPr>
          <p:cNvSpPr txBox="1"/>
          <p:nvPr/>
        </p:nvSpPr>
        <p:spPr>
          <a:xfrm>
            <a:off x="6002362" y="6292820"/>
            <a:ext cx="9601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Risco</a:t>
            </a:r>
            <a:endParaRPr lang="pt-BR" sz="2400" b="1" dirty="0"/>
          </a:p>
        </p:txBody>
      </p:sp>
    </p:spTree>
    <p:extLst>
      <p:ext uri="{BB962C8B-B14F-4D97-AF65-F5344CB8AC3E}">
        <p14:creationId xmlns:p14="http://schemas.microsoft.com/office/powerpoint/2010/main" val="2603745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2EEADF-A7BC-D08C-AAC3-741EE9532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2AE45F-F074-21D1-F91D-DDD22558A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Apresentar definições de:</a:t>
            </a:r>
          </a:p>
          <a:p>
            <a:pPr marL="914400" lvl="1" indent="-457200">
              <a:spcBef>
                <a:spcPts val="2400"/>
              </a:spcBef>
              <a:buFont typeface="+mj-lt"/>
              <a:buAutoNum type="arabicPeriod"/>
            </a:pPr>
            <a:r>
              <a:rPr lang="pt-BR" b="1" dirty="0"/>
              <a:t>Gestão de Riscos</a:t>
            </a:r>
          </a:p>
          <a:p>
            <a:pPr marL="1428750" lvl="2" indent="-514350">
              <a:buFont typeface="+mj-lt"/>
              <a:buAutoNum type="romanLcPeriod"/>
            </a:pPr>
            <a:r>
              <a:rPr lang="pt-BR" b="1" dirty="0"/>
              <a:t>Conceitos sobre Riscos de projeto</a:t>
            </a:r>
          </a:p>
          <a:p>
            <a:pPr marL="1428750" lvl="2" indent="-514350">
              <a:buFont typeface="+mj-lt"/>
              <a:buAutoNum type="romanLcPeriod"/>
            </a:pPr>
            <a:r>
              <a:rPr lang="pt-BR" dirty="0"/>
              <a:t>Processo de gestão</a:t>
            </a:r>
          </a:p>
          <a:p>
            <a:pPr marL="914400" lvl="1" indent="-457200">
              <a:buFont typeface="+mj-lt"/>
              <a:buAutoNum type="arabicPeriod"/>
            </a:pPr>
            <a:endParaRPr lang="pt-BR" dirty="0"/>
          </a:p>
          <a:p>
            <a:pPr marL="914400" lvl="1" indent="-457200">
              <a:buFont typeface="+mj-lt"/>
              <a:buAutoNum type="arabicPeriod"/>
            </a:pPr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9873D36-3431-E6C0-7167-B54DC568009D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2493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0CBC17-BBDE-9838-66E7-B57E3723F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Gestão de Riscos - PMBOK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F91ACB-AAFC-A721-02E7-71588A073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dos 7 </a:t>
            </a:r>
            <a:r>
              <a:rPr lang="pt-BR" b="1" dirty="0"/>
              <a:t>Domínios de Desempenho </a:t>
            </a:r>
            <a:r>
              <a:rPr lang="pt-BR" dirty="0"/>
              <a:t>do PMBOK 8</a:t>
            </a:r>
          </a:p>
        </p:txBody>
      </p:sp>
      <p:pic>
        <p:nvPicPr>
          <p:cNvPr id="2050" name="Picture 2" descr="Project Performance Domains Explained (Updated for PMBOK 8!)">
            <a:extLst>
              <a:ext uri="{FF2B5EF4-FFF2-40B4-BE49-F238E27FC236}">
                <a16:creationId xmlns:a16="http://schemas.microsoft.com/office/drawing/2014/main" id="{66BE2562-9028-97EF-D74C-0448084801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8" t="8316" r="6243" b="13476"/>
          <a:stretch/>
        </p:blipFill>
        <p:spPr bwMode="auto">
          <a:xfrm>
            <a:off x="3014132" y="2534469"/>
            <a:ext cx="5249334" cy="3958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4299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748CC-7996-76A4-E4C1-1C8827D9C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CBC31E-8961-E67E-6082-2DC1BAE1B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Gestão de Riscos - PMBOK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0902AE-455A-E878-047B-70CED7E7A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400"/>
              </a:spcBef>
            </a:pPr>
            <a:r>
              <a:rPr lang="pt-BR" dirty="0"/>
              <a:t>Representa uma abordagem detalhada para </a:t>
            </a:r>
            <a:r>
              <a:rPr lang="pt-BR" b="1" dirty="0"/>
              <a:t>criar resiliência  do projeto </a:t>
            </a:r>
            <a:r>
              <a:rPr lang="pt-BR" dirty="0"/>
              <a:t>ao gerenciar risco por meio de práticas de gestão;</a:t>
            </a:r>
          </a:p>
          <a:p>
            <a:pPr>
              <a:spcBef>
                <a:spcPts val="2400"/>
              </a:spcBef>
            </a:pPr>
            <a:r>
              <a:rPr lang="pt-BR" dirty="0"/>
              <a:t>Enfatiza a habilidade da equipe do projeto em </a:t>
            </a:r>
            <a:r>
              <a:rPr lang="pt-BR" b="1" dirty="0"/>
              <a:t>antecipar, se preparar, responder e se adaptar </a:t>
            </a:r>
            <a:r>
              <a:rPr lang="pt-BR" dirty="0"/>
              <a:t>a vários riscos e interrupções</a:t>
            </a:r>
          </a:p>
          <a:p>
            <a:pPr>
              <a:spcBef>
                <a:spcPts val="2400"/>
              </a:spcBef>
            </a:pPr>
            <a:r>
              <a:rPr lang="pt-BR" dirty="0"/>
              <a:t>Ajuda a garantir a continuidade e sucesso do projeto sob várias circunstâncias</a:t>
            </a:r>
          </a:p>
        </p:txBody>
      </p:sp>
    </p:spTree>
    <p:extLst>
      <p:ext uri="{BB962C8B-B14F-4D97-AF65-F5344CB8AC3E}">
        <p14:creationId xmlns:p14="http://schemas.microsoft.com/office/powerpoint/2010/main" val="82450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B7F0A1-9674-07E5-C764-45B3A3FF4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Gestão de Riscos - PMBOK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302D58-5D24-B643-6260-91490870F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Postura proativa no planejamento + resposta adaptável e flexível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112359D-9AA7-AD6B-6669-129FC2252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808" y="2457090"/>
            <a:ext cx="8878384" cy="4205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154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4F43D5-2642-015E-E422-3D49291B1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Risco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E8AA6C-D3F1-4F50-438B-EF43FF573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Evento incerto que, se ocorrer, pode </a:t>
            </a:r>
            <a:r>
              <a:rPr lang="pt-BR" b="1" dirty="0"/>
              <a:t>impactar positiva ou negativamente</a:t>
            </a:r>
            <a:r>
              <a:rPr lang="pt-BR" dirty="0"/>
              <a:t> os objetivos do projeto (prazo, custo, qualidade, escopo)</a:t>
            </a:r>
          </a:p>
          <a:p>
            <a:endParaRPr lang="pt-BR" dirty="0"/>
          </a:p>
          <a:p>
            <a:r>
              <a:rPr lang="pt-BR" dirty="0"/>
              <a:t>Diferença entre:</a:t>
            </a:r>
          </a:p>
          <a:p>
            <a:pPr lvl="1"/>
            <a:r>
              <a:rPr lang="pt-BR" b="1" dirty="0"/>
              <a:t>Risco</a:t>
            </a:r>
            <a:r>
              <a:rPr lang="pt-BR" dirty="0"/>
              <a:t>: algo que pode acontecer.</a:t>
            </a:r>
          </a:p>
          <a:p>
            <a:pPr lvl="1"/>
            <a:r>
              <a:rPr lang="pt-BR" b="1" dirty="0"/>
              <a:t>Problema (</a:t>
            </a:r>
            <a:r>
              <a:rPr lang="pt-BR" b="1" dirty="0" err="1"/>
              <a:t>issue</a:t>
            </a:r>
            <a:r>
              <a:rPr lang="pt-BR" b="1" dirty="0"/>
              <a:t>)</a:t>
            </a:r>
            <a:r>
              <a:rPr lang="pt-BR" dirty="0"/>
              <a:t>: algo que já aconteceu.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Exemplo: </a:t>
            </a:r>
          </a:p>
          <a:p>
            <a:pPr lvl="2"/>
            <a:r>
              <a:rPr lang="pt-BR" dirty="0"/>
              <a:t>“O banco de dados pode corromper durante uma migração” (risco)</a:t>
            </a:r>
          </a:p>
          <a:p>
            <a:pPr lvl="2"/>
            <a:r>
              <a:rPr lang="pt-BR" dirty="0"/>
              <a:t>“O banco corrompeu e perdemos dados” (problema).</a:t>
            </a:r>
          </a:p>
        </p:txBody>
      </p:sp>
    </p:spTree>
    <p:extLst>
      <p:ext uri="{BB962C8B-B14F-4D97-AF65-F5344CB8AC3E}">
        <p14:creationId xmlns:p14="http://schemas.microsoft.com/office/powerpoint/2010/main" val="2178844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BB08DB-9A6A-3540-B468-5B85E1088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Riscos de projeto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D0E2D5-BBD6-EE46-F5D7-27441BA0A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Risco = </a:t>
            </a:r>
            <a:r>
              <a:rPr lang="pt-BR" b="1" dirty="0"/>
              <a:t>incerteza inerente </a:t>
            </a:r>
            <a:r>
              <a:rPr lang="pt-BR" dirty="0"/>
              <a:t>aos projetos de software</a:t>
            </a:r>
          </a:p>
          <a:p>
            <a:pPr lvl="1"/>
            <a:r>
              <a:rPr lang="pt-BR" dirty="0"/>
              <a:t>2 características</a:t>
            </a:r>
          </a:p>
          <a:p>
            <a:pPr lvl="2"/>
            <a:r>
              <a:rPr lang="pt-BR" b="1" dirty="0"/>
              <a:t>Grau de incerteza</a:t>
            </a:r>
            <a:r>
              <a:rPr lang="pt-BR" dirty="0"/>
              <a:t>: 0 &lt; </a:t>
            </a:r>
            <a:r>
              <a:rPr lang="pt-BR" i="1" dirty="0"/>
              <a:t>p</a:t>
            </a:r>
            <a:r>
              <a:rPr lang="pt-BR" dirty="0"/>
              <a:t> &lt;100%</a:t>
            </a:r>
          </a:p>
          <a:p>
            <a:pPr lvl="2"/>
            <a:r>
              <a:rPr lang="pt-BR" b="1" dirty="0"/>
              <a:t>Perda</a:t>
            </a:r>
            <a:r>
              <a:rPr lang="pt-BR" dirty="0"/>
              <a:t>: consequências da concretização do risco</a:t>
            </a:r>
          </a:p>
          <a:p>
            <a:endParaRPr lang="pt-BR" dirty="0"/>
          </a:p>
          <a:p>
            <a:r>
              <a:rPr lang="pt-BR" dirty="0"/>
              <a:t>Papel do gerente de projetos:</a:t>
            </a:r>
          </a:p>
          <a:p>
            <a:pPr lvl="1"/>
            <a:r>
              <a:rPr lang="pt-BR" dirty="0"/>
              <a:t>Antecipar riscos que podem afetar cronograma ou qualidade do projeto</a:t>
            </a:r>
          </a:p>
          <a:p>
            <a:pPr lvl="1"/>
            <a:r>
              <a:rPr lang="pt-BR" dirty="0"/>
              <a:t>Tomar medidas para evitar realização</a:t>
            </a:r>
          </a:p>
          <a:p>
            <a:pPr lvl="1"/>
            <a:r>
              <a:rPr lang="pt-BR" dirty="0"/>
              <a:t>Monitorar a probabilidade de ocorrência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0A46613-2AAA-BDD5-ACB6-1885330AF1A2}"/>
              </a:ext>
            </a:extLst>
          </p:cNvPr>
          <p:cNvSpPr txBox="1"/>
          <p:nvPr/>
        </p:nvSpPr>
        <p:spPr>
          <a:xfrm>
            <a:off x="6221597" y="3662740"/>
            <a:ext cx="3015634" cy="33855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pt-BR" sz="1600" b="1" dirty="0"/>
              <a:t>Risco 100% = restrição do projeto</a:t>
            </a:r>
          </a:p>
        </p:txBody>
      </p:sp>
    </p:spTree>
    <p:extLst>
      <p:ext uri="{BB962C8B-B14F-4D97-AF65-F5344CB8AC3E}">
        <p14:creationId xmlns:p14="http://schemas.microsoft.com/office/powerpoint/2010/main" val="2058354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BADC7-16E9-B618-361A-F025B01EE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Riscos de projeto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D2A94A-B1FF-77DB-1A2D-6589C9F15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Conhecidos x previsíveis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Conhecidos</a:t>
            </a:r>
            <a:r>
              <a:rPr lang="pt-BR" dirty="0"/>
              <a:t>: podem ser descobertos após análise do plano do projeto, do ambiente comercial e técnico;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Previsíveis</a:t>
            </a:r>
            <a:r>
              <a:rPr lang="pt-BR" dirty="0"/>
              <a:t>: extrapolados de experiências anteriores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Imprevisíveis</a:t>
            </a:r>
            <a:r>
              <a:rPr lang="pt-BR" dirty="0"/>
              <a:t>: podem ou não ocorrer </a:t>
            </a:r>
            <a:r>
              <a:rPr lang="pt-BR" dirty="0">
                <a:sym typeface="Wingdings" panose="05000000000000000000" pitchFamily="2" charset="2"/>
              </a:rPr>
              <a:t> muito difíceis de se identificar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3286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6158B-2F7F-0489-E4BB-006C1A1A4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Riscos de projeto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9E709A3-7FE7-2B1D-C970-59DCD77F8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Quadrantes de conhecimento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7406081F-ED01-CA9C-326A-97656E0A65F1}"/>
              </a:ext>
            </a:extLst>
          </p:cNvPr>
          <p:cNvGrpSpPr/>
          <p:nvPr/>
        </p:nvGrpSpPr>
        <p:grpSpPr>
          <a:xfrm>
            <a:off x="4299457" y="2481555"/>
            <a:ext cx="3447541" cy="3178608"/>
            <a:chOff x="3653170" y="2526711"/>
            <a:chExt cx="3447541" cy="3178608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5B350834-67D6-62E9-A1D7-B649E347AB15}"/>
                </a:ext>
              </a:extLst>
            </p:cNvPr>
            <p:cNvSpPr/>
            <p:nvPr/>
          </p:nvSpPr>
          <p:spPr>
            <a:xfrm>
              <a:off x="3653170" y="2526711"/>
              <a:ext cx="1720342" cy="1589304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Conhecidos-Conhecidos </a:t>
              </a:r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0B1104BA-F266-3C38-4680-4442698FFF7D}"/>
                </a:ext>
              </a:extLst>
            </p:cNvPr>
            <p:cNvSpPr/>
            <p:nvPr/>
          </p:nvSpPr>
          <p:spPr>
            <a:xfrm>
              <a:off x="5380369" y="2526711"/>
              <a:ext cx="1720342" cy="1589304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Conhecidos-Desconhecidos</a:t>
              </a: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28C99EF9-3EF2-0048-6BB7-865475A87AB0}"/>
                </a:ext>
              </a:extLst>
            </p:cNvPr>
            <p:cNvSpPr/>
            <p:nvPr/>
          </p:nvSpPr>
          <p:spPr>
            <a:xfrm>
              <a:off x="3653170" y="4116015"/>
              <a:ext cx="1720342" cy="158930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Desconhecidos-Conhecidos</a:t>
              </a:r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3438E9B5-5835-0322-BD3E-99EF4D0D6649}"/>
                </a:ext>
              </a:extLst>
            </p:cNvPr>
            <p:cNvSpPr/>
            <p:nvPr/>
          </p:nvSpPr>
          <p:spPr>
            <a:xfrm>
              <a:off x="5380369" y="4116015"/>
              <a:ext cx="1720342" cy="1589304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dirty="0"/>
                <a:t>Desconhecidos-Desconhecidos</a:t>
              </a:r>
            </a:p>
          </p:txBody>
        </p:sp>
      </p:grp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EB71EFC-3F61-FF25-78F9-34C41DAFED65}"/>
              </a:ext>
            </a:extLst>
          </p:cNvPr>
          <p:cNvSpPr txBox="1"/>
          <p:nvPr/>
        </p:nvSpPr>
        <p:spPr>
          <a:xfrm>
            <a:off x="4996153" y="6131807"/>
            <a:ext cx="2047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Matriz de Rumsfeld</a:t>
            </a:r>
          </a:p>
        </p:txBody>
      </p:sp>
      <p:sp>
        <p:nvSpPr>
          <p:cNvPr id="14" name="Balão de Fala: Retângulo 13">
            <a:extLst>
              <a:ext uri="{FF2B5EF4-FFF2-40B4-BE49-F238E27FC236}">
                <a16:creationId xmlns:a16="http://schemas.microsoft.com/office/drawing/2014/main" id="{71431CD9-8352-F4D5-29A1-93B639F309EC}"/>
              </a:ext>
            </a:extLst>
          </p:cNvPr>
          <p:cNvSpPr/>
          <p:nvPr/>
        </p:nvSpPr>
        <p:spPr>
          <a:xfrm>
            <a:off x="894645" y="2676082"/>
            <a:ext cx="2693200" cy="1325563"/>
          </a:xfrm>
          <a:prstGeom prst="wedgeRectCallout">
            <a:avLst>
              <a:gd name="adj1" fmla="val 82663"/>
              <a:gd name="adj2" fmla="val -392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Fatos já mapeados no escopo. </a:t>
            </a:r>
          </a:p>
          <a:p>
            <a:pPr algn="ctr">
              <a:spcBef>
                <a:spcPts val="1800"/>
              </a:spcBef>
            </a:pPr>
            <a:r>
              <a:rPr lang="pt-BR" i="1" dirty="0"/>
              <a:t>Ex.: “Stack tecnológica escolhida”</a:t>
            </a:r>
          </a:p>
        </p:txBody>
      </p:sp>
      <p:sp>
        <p:nvSpPr>
          <p:cNvPr id="15" name="Balão de Fala: Retângulo 14">
            <a:extLst>
              <a:ext uri="{FF2B5EF4-FFF2-40B4-BE49-F238E27FC236}">
                <a16:creationId xmlns:a16="http://schemas.microsoft.com/office/drawing/2014/main" id="{61C62EE7-A702-8C2E-C0BC-D988580707EB}"/>
              </a:ext>
            </a:extLst>
          </p:cNvPr>
          <p:cNvSpPr/>
          <p:nvPr/>
        </p:nvSpPr>
        <p:spPr>
          <a:xfrm>
            <a:off x="894644" y="4476456"/>
            <a:ext cx="2712244" cy="2104966"/>
          </a:xfrm>
          <a:prstGeom prst="wedgeRectCallout">
            <a:avLst>
              <a:gd name="adj1" fmla="val 78290"/>
              <a:gd name="adj2" fmla="val -3288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Informação existe na organização mas não na equipe. </a:t>
            </a:r>
          </a:p>
          <a:p>
            <a:pPr algn="ctr">
              <a:spcBef>
                <a:spcPts val="1800"/>
              </a:spcBef>
            </a:pPr>
            <a:r>
              <a:rPr lang="pt-BR" i="1" dirty="0"/>
              <a:t>Ex.: “Incidente similar ocorreu com outra equipe mas não sabemos</a:t>
            </a:r>
            <a:r>
              <a:rPr lang="pt-BR" dirty="0"/>
              <a:t>”</a:t>
            </a:r>
          </a:p>
        </p:txBody>
      </p:sp>
      <p:sp>
        <p:nvSpPr>
          <p:cNvPr id="16" name="Balão de Fala: Retângulo 15">
            <a:extLst>
              <a:ext uri="{FF2B5EF4-FFF2-40B4-BE49-F238E27FC236}">
                <a16:creationId xmlns:a16="http://schemas.microsoft.com/office/drawing/2014/main" id="{460C42A0-82E8-8537-DB74-6BE091C2A18D}"/>
              </a:ext>
            </a:extLst>
          </p:cNvPr>
          <p:cNvSpPr/>
          <p:nvPr/>
        </p:nvSpPr>
        <p:spPr>
          <a:xfrm>
            <a:off x="8344782" y="2481555"/>
            <a:ext cx="2856616" cy="1589304"/>
          </a:xfrm>
          <a:prstGeom prst="wedgeRectCallout">
            <a:avLst>
              <a:gd name="adj1" fmla="val -70881"/>
              <a:gd name="adj2" fmla="val 12254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Riscos identificáveis e registráveis. </a:t>
            </a:r>
          </a:p>
          <a:p>
            <a:pPr algn="ctr">
              <a:spcBef>
                <a:spcPts val="1800"/>
              </a:spcBef>
            </a:pPr>
            <a:r>
              <a:rPr lang="pt-BR" i="1" dirty="0"/>
              <a:t>Ex.: “equipe não conhece ferramenta de CI/CD”</a:t>
            </a:r>
          </a:p>
        </p:txBody>
      </p:sp>
      <p:sp>
        <p:nvSpPr>
          <p:cNvPr id="17" name="Balão de Fala: Retângulo 16">
            <a:extLst>
              <a:ext uri="{FF2B5EF4-FFF2-40B4-BE49-F238E27FC236}">
                <a16:creationId xmlns:a16="http://schemas.microsoft.com/office/drawing/2014/main" id="{78FB008D-744F-2190-916E-01796AEE238F}"/>
              </a:ext>
            </a:extLst>
          </p:cNvPr>
          <p:cNvSpPr/>
          <p:nvPr/>
        </p:nvSpPr>
        <p:spPr>
          <a:xfrm>
            <a:off x="8360113" y="4543718"/>
            <a:ext cx="3089641" cy="1723026"/>
          </a:xfrm>
          <a:prstGeom prst="wedgeRectCallout">
            <a:avLst>
              <a:gd name="adj1" fmla="val -74282"/>
              <a:gd name="adj2" fmla="val -23261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Eventos emergentes, não sabemos quais são. </a:t>
            </a:r>
          </a:p>
          <a:p>
            <a:pPr algn="ctr">
              <a:spcBef>
                <a:spcPts val="1800"/>
              </a:spcBef>
            </a:pPr>
            <a:r>
              <a:rPr lang="pt-BR" i="1" dirty="0"/>
              <a:t>Ex.: “vulnerabilidade crítica, mudança regulatória”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722B53B7-1833-1C07-9B80-5617FCF78DBA}"/>
              </a:ext>
            </a:extLst>
          </p:cNvPr>
          <p:cNvSpPr/>
          <p:nvPr/>
        </p:nvSpPr>
        <p:spPr>
          <a:xfrm>
            <a:off x="6026656" y="2466493"/>
            <a:ext cx="1720342" cy="156908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4942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20A106-0E7A-CC3C-2550-82131DB5C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0B49D35-D01C-BEFB-3F21-D7DDDF81DBE7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95F67E70-9869-6A7A-348B-DDE8FD3405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9088539"/>
              </p:ext>
            </p:extLst>
          </p:nvPr>
        </p:nvGraphicFramePr>
        <p:xfrm>
          <a:off x="838200" y="1732914"/>
          <a:ext cx="10572044" cy="46227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39667">
                  <a:extLst>
                    <a:ext uri="{9D8B030D-6E8A-4147-A177-3AD203B41FA5}">
                      <a16:colId xmlns:a16="http://schemas.microsoft.com/office/drawing/2014/main" val="2325898326"/>
                    </a:ext>
                  </a:extLst>
                </a:gridCol>
                <a:gridCol w="2232377">
                  <a:extLst>
                    <a:ext uri="{9D8B030D-6E8A-4147-A177-3AD203B41FA5}">
                      <a16:colId xmlns:a16="http://schemas.microsoft.com/office/drawing/2014/main" val="2880266647"/>
                    </a:ext>
                  </a:extLst>
                </a:gridCol>
              </a:tblGrid>
              <a:tr h="434311">
                <a:tc>
                  <a:txBody>
                    <a:bodyPr/>
                    <a:lstStyle/>
                    <a:p>
                      <a:r>
                        <a:rPr lang="pt-BR" sz="2000" dirty="0"/>
                        <a:t>Situação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Categoria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569910"/>
                  </a:ext>
                </a:extLst>
              </a:tr>
              <a:tr h="434311">
                <a:tc>
                  <a:txBody>
                    <a:bodyPr/>
                    <a:lstStyle/>
                    <a:p>
                      <a:r>
                        <a:rPr lang="pt-BR" sz="2000" dirty="0"/>
                        <a:t>O time optou por usar </a:t>
                      </a:r>
                      <a:r>
                        <a:rPr lang="pt-BR" sz="2000" dirty="0" err="1"/>
                        <a:t>Kubernetes</a:t>
                      </a:r>
                      <a:r>
                        <a:rPr lang="pt-BR" sz="2000" dirty="0"/>
                        <a:t> para orquestrar os containers da aplicação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743702"/>
                  </a:ext>
                </a:extLst>
              </a:tr>
              <a:tr h="749632">
                <a:tc>
                  <a:txBody>
                    <a:bodyPr/>
                    <a:lstStyle/>
                    <a:p>
                      <a:r>
                        <a:rPr lang="pt-BR" sz="2000" dirty="0"/>
                        <a:t>O novo microsserviço pode não suportar a carga de acessos esperada na Black Friday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0446756"/>
                  </a:ext>
                </a:extLst>
              </a:tr>
              <a:tr h="1070902">
                <a:tc>
                  <a:txBody>
                    <a:bodyPr/>
                    <a:lstStyle/>
                    <a:p>
                      <a:r>
                        <a:rPr lang="pt-BR" sz="2000" dirty="0"/>
                        <a:t>O time de segurança da empresa já identificou uma falha comum de configuração em ambientes AWS em outro projeto, mas isso nunca foi comunicado ao time atual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3461518"/>
                  </a:ext>
                </a:extLst>
              </a:tr>
              <a:tr h="434311">
                <a:tc>
                  <a:txBody>
                    <a:bodyPr/>
                    <a:lstStyle/>
                    <a:p>
                      <a:r>
                        <a:rPr lang="pt-BR" sz="2000" dirty="0"/>
                        <a:t>O contrato com o fornecedor da API de pagamento vence em 8 meses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1564554"/>
                  </a:ext>
                </a:extLst>
              </a:tr>
              <a:tr h="749632">
                <a:tc>
                  <a:txBody>
                    <a:bodyPr/>
                    <a:lstStyle/>
                    <a:p>
                      <a:r>
                        <a:rPr lang="pt-BR" sz="2000" dirty="0"/>
                        <a:t>Uma futura mudança na legislação de privacidade de um país pode exigir uma reformulação completa da arquitetura de dados do sistema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916672"/>
                  </a:ext>
                </a:extLst>
              </a:tr>
              <a:tr h="749632">
                <a:tc>
                  <a:txBody>
                    <a:bodyPr/>
                    <a:lstStyle/>
                    <a:p>
                      <a:r>
                        <a:rPr lang="pt-BR" sz="2000" dirty="0"/>
                        <a:t>A migração do banco de dados pode causar um tempo de indisponibilidade maior do que o planejado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236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6971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9E2C65-E895-E639-7D76-304EC5C1D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Riscos de projeto</a:t>
            </a:r>
          </a:p>
        </p:txBody>
      </p:sp>
      <p:sp>
        <p:nvSpPr>
          <p:cNvPr id="4" name="Fluxograma: Processo Alternativo 3">
            <a:extLst>
              <a:ext uri="{FF2B5EF4-FFF2-40B4-BE49-F238E27FC236}">
                <a16:creationId xmlns:a16="http://schemas.microsoft.com/office/drawing/2014/main" id="{E97D005D-5C56-D1CB-DA08-33BA598A6B81}"/>
              </a:ext>
            </a:extLst>
          </p:cNvPr>
          <p:cNvSpPr/>
          <p:nvPr/>
        </p:nvSpPr>
        <p:spPr>
          <a:xfrm>
            <a:off x="225776" y="2031995"/>
            <a:ext cx="3747911" cy="3330222"/>
          </a:xfrm>
          <a:prstGeom prst="flowChartAlternate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800" b="1" dirty="0"/>
              <a:t>Apetite ao risco</a:t>
            </a:r>
          </a:p>
          <a:p>
            <a:pPr algn="ctr"/>
            <a:endParaRPr lang="pt-BR" sz="2800" dirty="0"/>
          </a:p>
          <a:p>
            <a:pPr algn="ctr"/>
            <a:r>
              <a:rPr lang="pt-BR" sz="2800" dirty="0"/>
              <a:t>Grau de incerteza que a organização aceita em troca de uma recompensa</a:t>
            </a:r>
            <a:endParaRPr lang="pt-BR" dirty="0"/>
          </a:p>
        </p:txBody>
      </p:sp>
      <p:sp>
        <p:nvSpPr>
          <p:cNvPr id="5" name="Fluxograma: Processo Alternativo 4">
            <a:extLst>
              <a:ext uri="{FF2B5EF4-FFF2-40B4-BE49-F238E27FC236}">
                <a16:creationId xmlns:a16="http://schemas.microsoft.com/office/drawing/2014/main" id="{DAFEE88B-E50B-0870-E690-FD9ACC515377}"/>
              </a:ext>
            </a:extLst>
          </p:cNvPr>
          <p:cNvSpPr/>
          <p:nvPr/>
        </p:nvSpPr>
        <p:spPr>
          <a:xfrm>
            <a:off x="4165598" y="2031995"/>
            <a:ext cx="3747911" cy="3330222"/>
          </a:xfrm>
          <a:prstGeom prst="flowChartAlternateProcess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800" b="1" dirty="0"/>
              <a:t>Tolerância ao risco</a:t>
            </a:r>
          </a:p>
          <a:p>
            <a:pPr algn="ctr"/>
            <a:endParaRPr lang="pt-BR" sz="2800" dirty="0"/>
          </a:p>
          <a:p>
            <a:pPr algn="ctr"/>
            <a:r>
              <a:rPr lang="pt-BR" sz="2800" dirty="0"/>
              <a:t>Medida da variação aceitável em torno de um objetivo – reflete o apetite</a:t>
            </a:r>
          </a:p>
        </p:txBody>
      </p:sp>
      <p:sp>
        <p:nvSpPr>
          <p:cNvPr id="6" name="Fluxograma: Processo Alternativo 5">
            <a:extLst>
              <a:ext uri="{FF2B5EF4-FFF2-40B4-BE49-F238E27FC236}">
                <a16:creationId xmlns:a16="http://schemas.microsoft.com/office/drawing/2014/main" id="{34F4578B-B590-5983-36EA-A0A0B637078B}"/>
              </a:ext>
            </a:extLst>
          </p:cNvPr>
          <p:cNvSpPr/>
          <p:nvPr/>
        </p:nvSpPr>
        <p:spPr>
          <a:xfrm>
            <a:off x="8105420" y="2031995"/>
            <a:ext cx="3747911" cy="3330222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800" b="1" dirty="0"/>
              <a:t>Exposição ao risco</a:t>
            </a:r>
          </a:p>
          <a:p>
            <a:pPr algn="ctr"/>
            <a:endParaRPr lang="pt-BR" sz="2800" dirty="0"/>
          </a:p>
          <a:p>
            <a:pPr algn="ctr"/>
            <a:r>
              <a:rPr lang="pt-BR" sz="2800" dirty="0"/>
              <a:t>Medida agregada do impacto potencial dos riscos em um projeto, programa ou portfolio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4E398FF-E684-3D06-9A20-1B00554AC1E2}"/>
              </a:ext>
            </a:extLst>
          </p:cNvPr>
          <p:cNvSpPr/>
          <p:nvPr/>
        </p:nvSpPr>
        <p:spPr>
          <a:xfrm>
            <a:off x="3407499" y="5125156"/>
            <a:ext cx="5000134" cy="163953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</a:pPr>
            <a:r>
              <a:rPr lang="pt-BR" sz="2400" b="1" dirty="0"/>
              <a:t>Apetite define a </a:t>
            </a:r>
            <a:r>
              <a:rPr lang="pt-BR" sz="2400" b="1" u="sng" dirty="0"/>
              <a:t>ambição</a:t>
            </a:r>
          </a:p>
          <a:p>
            <a:pPr algn="ctr">
              <a:spcBef>
                <a:spcPts val="1200"/>
              </a:spcBef>
            </a:pPr>
            <a:r>
              <a:rPr lang="pt-BR" sz="2400" b="1" dirty="0"/>
              <a:t>Tolerância define os </a:t>
            </a:r>
            <a:r>
              <a:rPr lang="pt-BR" sz="2400" b="1" u="sng" dirty="0"/>
              <a:t>limites</a:t>
            </a:r>
          </a:p>
          <a:p>
            <a:pPr algn="ctr">
              <a:spcBef>
                <a:spcPts val="1200"/>
              </a:spcBef>
            </a:pPr>
            <a:r>
              <a:rPr lang="pt-BR" sz="2400" b="1" dirty="0"/>
              <a:t>Exposição ajuda a </a:t>
            </a:r>
            <a:r>
              <a:rPr lang="pt-BR" sz="2400" b="1" u="sng" dirty="0"/>
              <a:t>priorizar</a:t>
            </a:r>
          </a:p>
        </p:txBody>
      </p:sp>
    </p:spTree>
    <p:extLst>
      <p:ext uri="{BB962C8B-B14F-4D97-AF65-F5344CB8AC3E}">
        <p14:creationId xmlns:p14="http://schemas.microsoft.com/office/powerpoint/2010/main" val="1023900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3AAF8B-61BD-66DD-8A8B-B2831232B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Apetite e Tolerância ao risco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EAB3E8-339F-7BEA-D75D-D428743AC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 1:</a:t>
            </a:r>
          </a:p>
          <a:p>
            <a:pPr>
              <a:spcBef>
                <a:spcPts val="2400"/>
              </a:spcBef>
            </a:pPr>
            <a:r>
              <a:rPr lang="pt-BR" dirty="0">
                <a:solidFill>
                  <a:schemeClr val="accent2"/>
                </a:solidFill>
              </a:rPr>
              <a:t>Apetite</a:t>
            </a:r>
            <a:r>
              <a:rPr lang="pt-BR" dirty="0"/>
              <a:t>: “Estamos dispostos a adotar uma nova tecnologia de banco de dados </a:t>
            </a:r>
            <a:r>
              <a:rPr lang="pt-BR" dirty="0" err="1"/>
              <a:t>NoSQL</a:t>
            </a:r>
            <a:r>
              <a:rPr lang="pt-BR" dirty="0"/>
              <a:t>”</a:t>
            </a:r>
          </a:p>
          <a:p>
            <a:pPr>
              <a:spcBef>
                <a:spcPts val="2400"/>
              </a:spcBef>
            </a:pPr>
            <a:r>
              <a:rPr lang="pt-BR" dirty="0">
                <a:solidFill>
                  <a:schemeClr val="accent5"/>
                </a:solidFill>
              </a:rPr>
              <a:t>Tolerância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Limite de 0.5% de falhas nas transações durante a migração;</a:t>
            </a:r>
          </a:p>
          <a:p>
            <a:pPr lvl="1"/>
            <a:r>
              <a:rPr lang="pt-BR" dirty="0"/>
              <a:t>Variação de +- 10% do cronograma;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Caso passe do limiar de 0,5%, faça </a:t>
            </a:r>
            <a:r>
              <a:rPr lang="pt-BR" dirty="0" err="1"/>
              <a:t>rollback</a:t>
            </a:r>
            <a:r>
              <a:rPr lang="pt-BR" dirty="0"/>
              <a:t> do sistema para o BD antigo;</a:t>
            </a:r>
          </a:p>
        </p:txBody>
      </p:sp>
    </p:spTree>
    <p:extLst>
      <p:ext uri="{BB962C8B-B14F-4D97-AF65-F5344CB8AC3E}">
        <p14:creationId xmlns:p14="http://schemas.microsoft.com/office/powerpoint/2010/main" val="237123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26C1C-2870-CD21-DE5F-30AB69790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813A39-8A62-2575-A931-8DC28F4A6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Apetite e Tolerância ao risco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73C3A3-4C95-C3D6-8DB6-0BCCECBA3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 2 (SER- </a:t>
            </a:r>
            <a:r>
              <a:rPr lang="pt-BR" i="1" dirty="0"/>
              <a:t>Software </a:t>
            </a:r>
            <a:r>
              <a:rPr lang="pt-BR" i="1" dirty="0" err="1"/>
              <a:t>Reliability</a:t>
            </a:r>
            <a:r>
              <a:rPr lang="pt-BR" i="1" dirty="0"/>
              <a:t> </a:t>
            </a:r>
            <a:r>
              <a:rPr lang="pt-BR" i="1" dirty="0" err="1"/>
              <a:t>Engineering</a:t>
            </a:r>
            <a:r>
              <a:rPr lang="pt-BR" dirty="0"/>
              <a:t>):</a:t>
            </a:r>
          </a:p>
          <a:p>
            <a:pPr>
              <a:spcBef>
                <a:spcPts val="2400"/>
              </a:spcBef>
            </a:pPr>
            <a:r>
              <a:rPr lang="pt-BR" dirty="0">
                <a:solidFill>
                  <a:schemeClr val="accent2"/>
                </a:solidFill>
              </a:rPr>
              <a:t>Apetite</a:t>
            </a:r>
            <a:r>
              <a:rPr lang="pt-BR" dirty="0"/>
              <a:t>: “SLO de 99,9% de disponibilidade”</a:t>
            </a:r>
          </a:p>
          <a:p>
            <a:pPr>
              <a:spcBef>
                <a:spcPts val="2400"/>
              </a:spcBef>
            </a:pPr>
            <a:r>
              <a:rPr lang="pt-BR" dirty="0">
                <a:solidFill>
                  <a:schemeClr val="accent5"/>
                </a:solidFill>
              </a:rPr>
              <a:t>Tolerância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Limite de 43 minutos de indisponibilidade por mês;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Caso passe do limiar, time para de lançar features novas e foca em estabilidade;</a:t>
            </a:r>
          </a:p>
        </p:txBody>
      </p:sp>
    </p:spTree>
    <p:extLst>
      <p:ext uri="{BB962C8B-B14F-4D97-AF65-F5344CB8AC3E}">
        <p14:creationId xmlns:p14="http://schemas.microsoft.com/office/powerpoint/2010/main" val="40275506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5AC729-910E-FA8E-910B-710819C49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Características do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6A2EED-4DC6-9E32-A15E-28CD9FA6B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Alta incerteza e complexidade</a:t>
            </a:r>
          </a:p>
          <a:p>
            <a:pPr>
              <a:spcBef>
                <a:spcPts val="1800"/>
              </a:spcBef>
            </a:pPr>
            <a:r>
              <a:rPr lang="pt-BR" dirty="0"/>
              <a:t>Dependência de tecnologia, pessoas e requisitos mutáveis</a:t>
            </a:r>
          </a:p>
          <a:p>
            <a:pPr>
              <a:spcBef>
                <a:spcPts val="1800"/>
              </a:spcBef>
            </a:pPr>
            <a:r>
              <a:rPr lang="pt-BR" dirty="0"/>
              <a:t>Interdependência entre módulos e sistemas</a:t>
            </a:r>
          </a:p>
          <a:p>
            <a:pPr>
              <a:spcBef>
                <a:spcPts val="1800"/>
              </a:spcBef>
            </a:pPr>
            <a:r>
              <a:rPr lang="pt-BR" dirty="0"/>
              <a:t>Contexto de inovação e prototipação constante</a:t>
            </a:r>
          </a:p>
          <a:p>
            <a:pPr>
              <a:spcBef>
                <a:spcPts val="1800"/>
              </a:spcBef>
            </a:pPr>
            <a:r>
              <a:rPr lang="pt-BR" dirty="0"/>
              <a:t>Impactos cumulativos e difíceis de prever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75307FA-AA7D-838E-8706-932EC9DB2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1492" y="3137868"/>
            <a:ext cx="2990597" cy="31555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131670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8C7765-44FC-A6B2-0852-EEBA8DCE6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Riscos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BB24C9-47B6-CC46-0082-E9B77E812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b="1" dirty="0"/>
              <a:t>Projeto</a:t>
            </a:r>
            <a:r>
              <a:rPr lang="pt-BR" dirty="0"/>
              <a:t>: afetam atributos do projeto (cronograma, orçamento, requisitos ou recursos do projeto)</a:t>
            </a:r>
          </a:p>
          <a:p>
            <a:pPr lvl="1"/>
            <a:r>
              <a:rPr lang="pt-BR" dirty="0" err="1"/>
              <a:t>Ex</a:t>
            </a:r>
            <a:r>
              <a:rPr lang="pt-BR" dirty="0"/>
              <a:t>: perda de alguém experiente na equipe;</a:t>
            </a:r>
          </a:p>
          <a:p>
            <a:pPr>
              <a:spcBef>
                <a:spcPts val="2400"/>
              </a:spcBef>
            </a:pPr>
            <a:r>
              <a:rPr lang="pt-BR" b="1" dirty="0"/>
              <a:t>Produto</a:t>
            </a:r>
            <a:r>
              <a:rPr lang="pt-BR" dirty="0"/>
              <a:t>: afetam o que está sendo construído, sua utilidade ou qualidade</a:t>
            </a:r>
          </a:p>
          <a:p>
            <a:pPr lvl="1"/>
            <a:r>
              <a:rPr lang="pt-BR" dirty="0" err="1"/>
              <a:t>Ex</a:t>
            </a:r>
            <a:r>
              <a:rPr lang="pt-BR" dirty="0"/>
              <a:t>: débito técnico</a:t>
            </a:r>
          </a:p>
          <a:p>
            <a:pPr>
              <a:spcBef>
                <a:spcPts val="2400"/>
              </a:spcBef>
            </a:pPr>
            <a:r>
              <a:rPr lang="pt-BR" b="1" dirty="0"/>
              <a:t>Pessoas</a:t>
            </a:r>
            <a:r>
              <a:rPr lang="pt-BR" dirty="0"/>
              <a:t>: associados à equipe, liderança, stakeholders, usuários finais</a:t>
            </a:r>
          </a:p>
          <a:p>
            <a:pPr lvl="1"/>
            <a:r>
              <a:rPr lang="pt-BR" dirty="0" err="1"/>
              <a:t>Ex</a:t>
            </a:r>
            <a:r>
              <a:rPr lang="pt-BR" dirty="0"/>
              <a:t>: alto </a:t>
            </a:r>
            <a:r>
              <a:rPr lang="pt-BR" i="1" dirty="0"/>
              <a:t>turnover </a:t>
            </a:r>
            <a:r>
              <a:rPr lang="pt-BR" dirty="0"/>
              <a:t>na equipe</a:t>
            </a:r>
            <a:endParaRPr lang="pt-BR" i="1" dirty="0"/>
          </a:p>
          <a:p>
            <a:pPr>
              <a:spcBef>
                <a:spcPts val="2400"/>
              </a:spcBef>
            </a:pPr>
            <a:r>
              <a:rPr lang="pt-BR" b="1" dirty="0"/>
              <a:t>Técnicos</a:t>
            </a:r>
            <a:r>
              <a:rPr lang="pt-BR" dirty="0"/>
              <a:t>: surgem da escolha de ferramentas, arquiteturas, limitações técnicas</a:t>
            </a:r>
          </a:p>
          <a:p>
            <a:pPr lvl="1"/>
            <a:r>
              <a:rPr lang="pt-BR" dirty="0" err="1"/>
              <a:t>Ex</a:t>
            </a:r>
            <a:r>
              <a:rPr lang="pt-BR" dirty="0"/>
              <a:t>: falha de componente comprado</a:t>
            </a:r>
          </a:p>
          <a:p>
            <a:pPr>
              <a:spcBef>
                <a:spcPts val="2400"/>
              </a:spcBef>
            </a:pPr>
            <a:r>
              <a:rPr lang="pt-BR" b="1" dirty="0"/>
              <a:t>Organizacional</a:t>
            </a:r>
            <a:r>
              <a:rPr lang="pt-BR" dirty="0"/>
              <a:t>: afetam a organização que desenvolve ou adquire o software</a:t>
            </a:r>
          </a:p>
          <a:p>
            <a:pPr lvl="1"/>
            <a:r>
              <a:rPr lang="pt-BR" dirty="0" err="1"/>
              <a:t>Ex</a:t>
            </a:r>
            <a:r>
              <a:rPr lang="pt-BR" dirty="0"/>
              <a:t>: novo produto da concorrência</a:t>
            </a:r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06659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28EDB9-ADFD-03C5-8C2E-1B895A268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Riscos de software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3016072-655B-7E10-188C-DB1739F8D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939" y="1559047"/>
            <a:ext cx="8192122" cy="519009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CB2C436-B714-3AC4-771E-BCCFEFB2BCEB}"/>
              </a:ext>
            </a:extLst>
          </p:cNvPr>
          <p:cNvSpPr txBox="1"/>
          <p:nvPr/>
        </p:nvSpPr>
        <p:spPr>
          <a:xfrm>
            <a:off x="10192061" y="6410587"/>
            <a:ext cx="19529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 err="1"/>
              <a:t>Sommerville</a:t>
            </a:r>
            <a:r>
              <a:rPr lang="pt-BR" sz="1600" b="1" dirty="0"/>
              <a:t> (p. 417)</a:t>
            </a:r>
          </a:p>
        </p:txBody>
      </p:sp>
    </p:spTree>
    <p:extLst>
      <p:ext uri="{BB962C8B-B14F-4D97-AF65-F5344CB8AC3E}">
        <p14:creationId xmlns:p14="http://schemas.microsoft.com/office/powerpoint/2010/main" val="2854076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8C7765-44FC-A6B2-0852-EEBA8DCE6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Riscos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BB24C9-47B6-CC46-0082-E9B77E812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Os riscos conhecidos devem ser registrados no </a:t>
            </a:r>
            <a:r>
              <a:rPr lang="pt-BR" b="1" dirty="0"/>
              <a:t>plano de projeto</a:t>
            </a:r>
          </a:p>
          <a:p>
            <a:pPr lvl="1"/>
            <a:r>
              <a:rPr lang="pt-BR" dirty="0"/>
              <a:t>Junto com análise de consequências</a:t>
            </a:r>
          </a:p>
          <a:p>
            <a:pPr lvl="1"/>
            <a:endParaRPr lang="pt-BR" dirty="0"/>
          </a:p>
          <a:p>
            <a:r>
              <a:rPr lang="pt-BR" dirty="0"/>
              <a:t>Dependem do tipo de projeto, do ambiente organizacional e do software sendo desenvolvido</a:t>
            </a:r>
          </a:p>
        </p:txBody>
      </p:sp>
    </p:spTree>
    <p:extLst>
      <p:ext uri="{BB962C8B-B14F-4D97-AF65-F5344CB8AC3E}">
        <p14:creationId xmlns:p14="http://schemas.microsoft.com/office/powerpoint/2010/main" val="32179298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FDD345-6F0D-65C3-A922-9792697F3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474F36-0C7E-D2D9-58B6-0EB0C927F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65A0440-FB62-570C-3D5B-17C225916F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910"/>
          <a:stretch/>
        </p:blipFill>
        <p:spPr>
          <a:xfrm>
            <a:off x="2023940" y="1292133"/>
            <a:ext cx="8675105" cy="5200742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34C9E77-958E-ABFB-BCF9-55FA0D9CE34D}"/>
              </a:ext>
            </a:extLst>
          </p:cNvPr>
          <p:cNvSpPr txBox="1"/>
          <p:nvPr/>
        </p:nvSpPr>
        <p:spPr>
          <a:xfrm>
            <a:off x="2393245" y="6492875"/>
            <a:ext cx="8305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hlinkClick r:id="rId3"/>
              </a:rPr>
              <a:t>https://www.henricodolfing.ch/en/case-study-4-the-440-million-software-error-at-knight-capital/</a:t>
            </a:r>
            <a:r>
              <a:rPr lang="pt-BR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751000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F462ED-A944-ED6B-A559-2E6AB495C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 </a:t>
            </a:r>
            <a:r>
              <a:rPr lang="pt-BR" i="1" dirty="0"/>
              <a:t>Knight Capital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1878E3-F3FD-5EB1-522B-7ECDA7722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Knight Capital – negociação automatizada de alta frequência;</a:t>
            </a:r>
          </a:p>
          <a:p>
            <a:pPr>
              <a:spcBef>
                <a:spcPts val="1800"/>
              </a:spcBef>
            </a:pPr>
            <a:r>
              <a:rPr lang="pt-BR" dirty="0"/>
              <a:t>Em 2005, equipe removeu função de roteador de ordens, mas deixou o código comentado em vez de removê-lo;</a:t>
            </a:r>
          </a:p>
          <a:p>
            <a:pPr>
              <a:spcBef>
                <a:spcPts val="1800"/>
              </a:spcBef>
            </a:pPr>
            <a:r>
              <a:rPr lang="pt-BR" dirty="0"/>
              <a:t>Em 2012, ao implantar código para mesma funcionalidade este código foi reativado (</a:t>
            </a:r>
            <a:r>
              <a:rPr lang="pt-BR" i="1" dirty="0"/>
              <a:t>flag</a:t>
            </a:r>
            <a:r>
              <a:rPr lang="pt-BR" dirty="0"/>
              <a:t>);</a:t>
            </a:r>
          </a:p>
          <a:p>
            <a:pPr>
              <a:spcBef>
                <a:spcPts val="1800"/>
              </a:spcBef>
            </a:pPr>
            <a:r>
              <a:rPr lang="pt-BR" dirty="0"/>
              <a:t>Sistema começou a enviar ordens de compra e venda em alta velocidade: 45 min, 4 milhões de ordens -&gt; prejuízo de US$ 460 milhões (quebrou a empresa)</a:t>
            </a:r>
          </a:p>
          <a:p>
            <a:pPr>
              <a:spcBef>
                <a:spcPts val="1800"/>
              </a:spcBef>
            </a:pPr>
            <a:r>
              <a:rPr lang="pt-BR" dirty="0"/>
              <a:t>Falhas: não remover código morto, falta de testes, não ter mecanismo de resposta rápida</a:t>
            </a:r>
          </a:p>
        </p:txBody>
      </p:sp>
      <p:pic>
        <p:nvPicPr>
          <p:cNvPr id="3074" name="Picture 2" descr="Knight Capital Sdn Bhd | LinkedIn">
            <a:extLst>
              <a:ext uri="{FF2B5EF4-FFF2-40B4-BE49-F238E27FC236}">
                <a16:creationId xmlns:a16="http://schemas.microsoft.com/office/drawing/2014/main" id="{8E187786-28AC-8F9D-A921-8E2817D37D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99" b="25101"/>
          <a:stretch/>
        </p:blipFill>
        <p:spPr bwMode="auto">
          <a:xfrm>
            <a:off x="7333545" y="365125"/>
            <a:ext cx="1905000" cy="1009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4293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2EEADF-A7BC-D08C-AAC3-741EE9532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Agenda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E2AE45F-F074-21D1-F91D-DDD22558A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Apresentar definições de:</a:t>
            </a:r>
          </a:p>
          <a:p>
            <a:pPr marL="914400" lvl="1" indent="-457200">
              <a:spcBef>
                <a:spcPts val="2400"/>
              </a:spcBef>
              <a:buFont typeface="+mj-lt"/>
              <a:buAutoNum type="arabicPeriod"/>
            </a:pPr>
            <a:r>
              <a:rPr lang="pt-BR" b="1" dirty="0"/>
              <a:t>Gestão de Riscos</a:t>
            </a:r>
          </a:p>
          <a:p>
            <a:pPr marL="1428750" lvl="2" indent="-514350">
              <a:buFont typeface="+mj-lt"/>
              <a:buAutoNum type="romanLcPeriod"/>
            </a:pPr>
            <a:r>
              <a:rPr lang="pt-BR" dirty="0"/>
              <a:t>Conceitos sobre Riscos de projeto</a:t>
            </a:r>
          </a:p>
          <a:p>
            <a:pPr marL="1428750" lvl="2" indent="-514350">
              <a:buFont typeface="+mj-lt"/>
              <a:buAutoNum type="romanLcPeriod"/>
            </a:pPr>
            <a:r>
              <a:rPr lang="pt-BR" b="1" dirty="0"/>
              <a:t>Processo de gestão</a:t>
            </a:r>
          </a:p>
          <a:p>
            <a:pPr marL="914400" lvl="1" indent="-457200">
              <a:buFont typeface="+mj-lt"/>
              <a:buAutoNum type="arabicPeriod"/>
            </a:pPr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9873D36-3431-E6C0-7167-B54DC568009D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7909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2493C8-A6E8-ADCE-B16A-D679512CE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Processo de gestão de riscos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B553DD-62F4-4FA7-DE20-433EA42FE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propósito do processo Gerência de Riscos é </a:t>
            </a:r>
            <a:r>
              <a:rPr lang="pt-BR" b="1" dirty="0"/>
              <a:t>identificar</a:t>
            </a:r>
            <a:r>
              <a:rPr lang="pt-BR" dirty="0"/>
              <a:t>, </a:t>
            </a:r>
            <a:r>
              <a:rPr lang="pt-BR" b="1" dirty="0"/>
              <a:t>analisar</a:t>
            </a:r>
            <a:r>
              <a:rPr lang="pt-BR" dirty="0"/>
              <a:t>, </a:t>
            </a:r>
            <a:r>
              <a:rPr lang="pt-BR" b="1" dirty="0"/>
              <a:t>tratar</a:t>
            </a:r>
            <a:r>
              <a:rPr lang="pt-BR" dirty="0"/>
              <a:t>, </a:t>
            </a:r>
            <a:r>
              <a:rPr lang="pt-BR" b="1" dirty="0"/>
              <a:t>monitorar</a:t>
            </a:r>
            <a:r>
              <a:rPr lang="pt-BR" dirty="0"/>
              <a:t> e </a:t>
            </a:r>
            <a:r>
              <a:rPr lang="pt-BR" b="1" dirty="0"/>
              <a:t>reduzir</a:t>
            </a:r>
            <a:r>
              <a:rPr lang="pt-BR" dirty="0"/>
              <a:t> continuamente os riscos em nível organizacional e de projeto (SOFTEX, 2009)</a:t>
            </a:r>
          </a:p>
          <a:p>
            <a:endParaRPr lang="pt-BR" dirty="0"/>
          </a:p>
          <a:p>
            <a:r>
              <a:rPr lang="pt-BR" dirty="0"/>
              <a:t>Tempo gasto na gestão de riscos traz retornos de muitas maneiras:</a:t>
            </a:r>
          </a:p>
          <a:p>
            <a:pPr lvl="1"/>
            <a:r>
              <a:rPr lang="pt-BR" dirty="0"/>
              <a:t>menos pressão durante o projeto; </a:t>
            </a:r>
          </a:p>
          <a:p>
            <a:pPr lvl="1"/>
            <a:r>
              <a:rPr lang="pt-BR" dirty="0"/>
              <a:t>mais capacidade de acompanhar e controlar um projeto ;</a:t>
            </a:r>
          </a:p>
          <a:p>
            <a:pPr lvl="1"/>
            <a:r>
              <a:rPr lang="pt-BR" dirty="0"/>
              <a:t>confiança do planejamento para os problemas antes que eles ocorram.</a:t>
            </a:r>
          </a:p>
        </p:txBody>
      </p:sp>
    </p:spTree>
    <p:extLst>
      <p:ext uri="{BB962C8B-B14F-4D97-AF65-F5344CB8AC3E}">
        <p14:creationId xmlns:p14="http://schemas.microsoft.com/office/powerpoint/2010/main" val="36347541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66D443-8AE9-BBCE-2069-88A07B677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Processo de gestão de riscos</a:t>
            </a:r>
          </a:p>
        </p:txBody>
      </p:sp>
      <p:sp>
        <p:nvSpPr>
          <p:cNvPr id="17" name="Retângulo de cantos arredondados 6">
            <a:extLst>
              <a:ext uri="{FF2B5EF4-FFF2-40B4-BE49-F238E27FC236}">
                <a16:creationId xmlns:a16="http://schemas.microsoft.com/office/drawing/2014/main" id="{62CF29D1-D690-7591-BB0E-CD47CF4577BE}"/>
              </a:ext>
            </a:extLst>
          </p:cNvPr>
          <p:cNvSpPr/>
          <p:nvPr/>
        </p:nvSpPr>
        <p:spPr>
          <a:xfrm>
            <a:off x="3830191" y="3449786"/>
            <a:ext cx="1620000" cy="720000"/>
          </a:xfrm>
          <a:prstGeom prst="roundRect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dirty="0"/>
              <a:t>Planejamento</a:t>
            </a:r>
          </a:p>
        </p:txBody>
      </p:sp>
      <p:sp>
        <p:nvSpPr>
          <p:cNvPr id="18" name="Retângulo de cantos arredondados 7">
            <a:extLst>
              <a:ext uri="{FF2B5EF4-FFF2-40B4-BE49-F238E27FC236}">
                <a16:creationId xmlns:a16="http://schemas.microsoft.com/office/drawing/2014/main" id="{B5963FCA-2305-1AAD-D2BA-B1D48D84AD0F}"/>
              </a:ext>
            </a:extLst>
          </p:cNvPr>
          <p:cNvSpPr/>
          <p:nvPr/>
        </p:nvSpPr>
        <p:spPr>
          <a:xfrm>
            <a:off x="6382196" y="2948059"/>
            <a:ext cx="1762876" cy="720000"/>
          </a:xfrm>
          <a:prstGeom prst="roundRect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dirty="0"/>
              <a:t>Execução</a:t>
            </a:r>
          </a:p>
        </p:txBody>
      </p:sp>
      <p:sp>
        <p:nvSpPr>
          <p:cNvPr id="19" name="Retângulo de cantos arredondados 8">
            <a:extLst>
              <a:ext uri="{FF2B5EF4-FFF2-40B4-BE49-F238E27FC236}">
                <a16:creationId xmlns:a16="http://schemas.microsoft.com/office/drawing/2014/main" id="{CC07A398-0011-67F1-9DCF-DF079E897B4A}"/>
              </a:ext>
            </a:extLst>
          </p:cNvPr>
          <p:cNvSpPr/>
          <p:nvPr/>
        </p:nvSpPr>
        <p:spPr>
          <a:xfrm>
            <a:off x="6358429" y="3918612"/>
            <a:ext cx="1762876" cy="720000"/>
          </a:xfrm>
          <a:prstGeom prst="roundRect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dirty="0"/>
              <a:t>Monitoramento e Controle</a:t>
            </a:r>
          </a:p>
        </p:txBody>
      </p:sp>
      <p:sp>
        <p:nvSpPr>
          <p:cNvPr id="20" name="Retângulo de cantos arredondados 11">
            <a:extLst>
              <a:ext uri="{FF2B5EF4-FFF2-40B4-BE49-F238E27FC236}">
                <a16:creationId xmlns:a16="http://schemas.microsoft.com/office/drawing/2014/main" id="{DD1506EF-A135-41B3-E47D-F2CF8D1ED855}"/>
              </a:ext>
            </a:extLst>
          </p:cNvPr>
          <p:cNvSpPr/>
          <p:nvPr/>
        </p:nvSpPr>
        <p:spPr>
          <a:xfrm>
            <a:off x="1487196" y="3449786"/>
            <a:ext cx="1620000" cy="720000"/>
          </a:xfrm>
          <a:prstGeom prst="roundRect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dirty="0"/>
              <a:t>Iniciação</a:t>
            </a:r>
          </a:p>
        </p:txBody>
      </p:sp>
      <p:sp>
        <p:nvSpPr>
          <p:cNvPr id="21" name="Retângulo de cantos arredondados 12">
            <a:extLst>
              <a:ext uri="{FF2B5EF4-FFF2-40B4-BE49-F238E27FC236}">
                <a16:creationId xmlns:a16="http://schemas.microsoft.com/office/drawing/2014/main" id="{06099A7C-9836-5520-046E-23795922608B}"/>
              </a:ext>
            </a:extLst>
          </p:cNvPr>
          <p:cNvSpPr/>
          <p:nvPr/>
        </p:nvSpPr>
        <p:spPr>
          <a:xfrm>
            <a:off x="8964919" y="3449786"/>
            <a:ext cx="1620000" cy="720000"/>
          </a:xfrm>
          <a:prstGeom prst="roundRect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dirty="0"/>
              <a:t>Encerramento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7E98AB80-A791-A74D-01DD-1C612BB1908B}"/>
              </a:ext>
            </a:extLst>
          </p:cNvPr>
          <p:cNvSpPr txBox="1"/>
          <p:nvPr/>
        </p:nvSpPr>
        <p:spPr>
          <a:xfrm>
            <a:off x="2173604" y="4859441"/>
            <a:ext cx="2471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i="1" dirty="0"/>
              <a:t>-</a:t>
            </a:r>
            <a:endParaRPr lang="pt-BR" sz="1600" dirty="0"/>
          </a:p>
          <a:p>
            <a:pPr algn="ctr"/>
            <a:endParaRPr lang="pt-BR" sz="1600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18002C0C-1DD6-4FD8-6E1C-691CA1EE1699}"/>
              </a:ext>
            </a:extLst>
          </p:cNvPr>
          <p:cNvSpPr txBox="1"/>
          <p:nvPr/>
        </p:nvSpPr>
        <p:spPr>
          <a:xfrm>
            <a:off x="9357411" y="4857505"/>
            <a:ext cx="2471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600" dirty="0"/>
              <a:t>-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A4EC03E-54D1-5AA6-9121-FCA1DAA8E9EE}"/>
              </a:ext>
            </a:extLst>
          </p:cNvPr>
          <p:cNvSpPr txBox="1"/>
          <p:nvPr/>
        </p:nvSpPr>
        <p:spPr>
          <a:xfrm>
            <a:off x="3230004" y="4524166"/>
            <a:ext cx="2820387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ctr">
              <a:spcBef>
                <a:spcPts val="1200"/>
              </a:spcBef>
              <a:buFont typeface="+mj-lt"/>
              <a:buAutoNum type="arabicPeriod"/>
            </a:pPr>
            <a:r>
              <a:rPr lang="pt-BR" sz="1600" dirty="0"/>
              <a:t>Plano de gestão de riscos</a:t>
            </a:r>
          </a:p>
          <a:p>
            <a:pPr marL="342900" indent="-342900" algn="ctr">
              <a:spcBef>
                <a:spcPts val="1200"/>
              </a:spcBef>
              <a:buFont typeface="+mj-lt"/>
              <a:buAutoNum type="arabicPeriod"/>
            </a:pPr>
            <a:r>
              <a:rPr lang="pt-BR" sz="1600" dirty="0"/>
              <a:t>Identificar riscos</a:t>
            </a:r>
          </a:p>
          <a:p>
            <a:pPr marL="342900" indent="-342900" algn="ctr">
              <a:spcBef>
                <a:spcPts val="1200"/>
              </a:spcBef>
              <a:buFont typeface="+mj-lt"/>
              <a:buAutoNum type="arabicPeriod"/>
            </a:pPr>
            <a:r>
              <a:rPr lang="pt-BR" sz="1600" dirty="0"/>
              <a:t>Realizar análise dos riscos</a:t>
            </a:r>
          </a:p>
          <a:p>
            <a:pPr marL="342900" indent="-342900" algn="ctr">
              <a:spcBef>
                <a:spcPts val="1200"/>
              </a:spcBef>
              <a:buFont typeface="+mj-lt"/>
              <a:buAutoNum type="arabicPeriod"/>
            </a:pPr>
            <a:r>
              <a:rPr lang="pt-BR" sz="1600" dirty="0"/>
              <a:t>Planejar resposta aos riscos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7E23D9F4-6121-CFA0-7522-9BC97108DF32}"/>
              </a:ext>
            </a:extLst>
          </p:cNvPr>
          <p:cNvSpPr txBox="1"/>
          <p:nvPr/>
        </p:nvSpPr>
        <p:spPr>
          <a:xfrm>
            <a:off x="6209072" y="4874841"/>
            <a:ext cx="21371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ctr">
              <a:buFont typeface="+mj-lt"/>
              <a:buAutoNum type="arabicPeriod" startAt="5"/>
            </a:pPr>
            <a:r>
              <a:rPr lang="pt-BR" sz="1600" dirty="0"/>
              <a:t>Monitorar os riscos</a:t>
            </a:r>
          </a:p>
        </p:txBody>
      </p:sp>
      <p:sp>
        <p:nvSpPr>
          <p:cNvPr id="26" name="Seta: para a Direita 25">
            <a:extLst>
              <a:ext uri="{FF2B5EF4-FFF2-40B4-BE49-F238E27FC236}">
                <a16:creationId xmlns:a16="http://schemas.microsoft.com/office/drawing/2014/main" id="{80FF4CAE-A466-B9C2-857C-9EF25A17C648}"/>
              </a:ext>
            </a:extLst>
          </p:cNvPr>
          <p:cNvSpPr/>
          <p:nvPr/>
        </p:nvSpPr>
        <p:spPr>
          <a:xfrm>
            <a:off x="3277430" y="3608096"/>
            <a:ext cx="382526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Seta: para a Direita 26">
            <a:extLst>
              <a:ext uri="{FF2B5EF4-FFF2-40B4-BE49-F238E27FC236}">
                <a16:creationId xmlns:a16="http://schemas.microsoft.com/office/drawing/2014/main" id="{F82428E1-5040-FBEE-5C8A-229D36B9528A}"/>
              </a:ext>
            </a:extLst>
          </p:cNvPr>
          <p:cNvSpPr/>
          <p:nvPr/>
        </p:nvSpPr>
        <p:spPr>
          <a:xfrm>
            <a:off x="5653704" y="3608096"/>
            <a:ext cx="382526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Seta: para a Direita 27">
            <a:extLst>
              <a:ext uri="{FF2B5EF4-FFF2-40B4-BE49-F238E27FC236}">
                <a16:creationId xmlns:a16="http://schemas.microsoft.com/office/drawing/2014/main" id="{ECAB7E4D-A597-7F57-5225-7F260A1A537D}"/>
              </a:ext>
            </a:extLst>
          </p:cNvPr>
          <p:cNvSpPr/>
          <p:nvPr/>
        </p:nvSpPr>
        <p:spPr>
          <a:xfrm>
            <a:off x="8434777" y="3608096"/>
            <a:ext cx="382526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E79BBB10-C9C2-178D-D6DB-E6AD1871F63B}"/>
              </a:ext>
            </a:extLst>
          </p:cNvPr>
          <p:cNvSpPr txBox="1"/>
          <p:nvPr/>
        </p:nvSpPr>
        <p:spPr>
          <a:xfrm>
            <a:off x="6109166" y="2358952"/>
            <a:ext cx="22808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ctr">
              <a:buFont typeface="+mj-lt"/>
              <a:buAutoNum type="arabicPeriod" startAt="6"/>
            </a:pPr>
            <a:r>
              <a:rPr lang="pt-BR" sz="1600" dirty="0"/>
              <a:t>Responder aos riscos</a:t>
            </a:r>
          </a:p>
        </p:txBody>
      </p:sp>
    </p:spTree>
    <p:extLst>
      <p:ext uri="{BB962C8B-B14F-4D97-AF65-F5344CB8AC3E}">
        <p14:creationId xmlns:p14="http://schemas.microsoft.com/office/powerpoint/2010/main" val="678820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E437E4-9EFD-6B24-EC16-812987B48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1- Planejar a gestão de riscos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C19EC4-62D3-5FDA-7108-B182CECC8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Definir</a:t>
            </a:r>
          </a:p>
          <a:p>
            <a:pPr lvl="1"/>
            <a:r>
              <a:rPr lang="pt-BR" dirty="0"/>
              <a:t>Governança</a:t>
            </a:r>
          </a:p>
          <a:p>
            <a:pPr lvl="1"/>
            <a:r>
              <a:rPr lang="pt-BR" dirty="0"/>
              <a:t>Papeis</a:t>
            </a:r>
          </a:p>
          <a:p>
            <a:pPr lvl="1"/>
            <a:r>
              <a:rPr lang="pt-BR" dirty="0"/>
              <a:t>Ferramentas</a:t>
            </a:r>
          </a:p>
          <a:p>
            <a:pPr lvl="1"/>
            <a:r>
              <a:rPr lang="pt-BR" dirty="0"/>
              <a:t>Frequência de reporte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E5A75CE-D325-90DB-C574-1C099180B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252" y="2363359"/>
            <a:ext cx="9404325" cy="425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7746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065E67-D41E-F986-56B1-829B23F8E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2-Identificar riscos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FF58AD-12CD-D68A-2FAF-CB1ACD070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Identificar riscos que podem representar grande ameaça </a:t>
            </a:r>
          </a:p>
          <a:p>
            <a:pPr>
              <a:spcBef>
                <a:spcPts val="2400"/>
              </a:spcBef>
            </a:pPr>
            <a:r>
              <a:rPr lang="pt-BR" dirty="0"/>
              <a:t>Processo iterativo, contínuo</a:t>
            </a:r>
          </a:p>
          <a:p>
            <a:pPr>
              <a:spcBef>
                <a:spcPts val="2400"/>
              </a:spcBef>
            </a:pPr>
            <a:r>
              <a:rPr lang="pt-BR" dirty="0"/>
              <a:t>Checklist de verificação de riscos</a:t>
            </a:r>
          </a:p>
          <a:p>
            <a:pPr lvl="1"/>
            <a:r>
              <a:rPr lang="pt-BR" b="1" dirty="0"/>
              <a:t>Tecnologia</a:t>
            </a:r>
            <a:r>
              <a:rPr lang="pt-BR" dirty="0"/>
              <a:t>: complexidade e novidade do SW e HW usados no projeto;</a:t>
            </a:r>
          </a:p>
          <a:p>
            <a:pPr lvl="1"/>
            <a:r>
              <a:rPr lang="pt-BR" b="1" dirty="0"/>
              <a:t>Pessoas</a:t>
            </a:r>
            <a:r>
              <a:rPr lang="pt-BR" dirty="0"/>
              <a:t>: quantidade e experiência da equipe de desenvolvimento;</a:t>
            </a:r>
          </a:p>
          <a:p>
            <a:pPr lvl="1"/>
            <a:r>
              <a:rPr lang="pt-BR" b="1" dirty="0"/>
              <a:t>Organizacionais</a:t>
            </a:r>
            <a:r>
              <a:rPr lang="pt-BR" dirty="0"/>
              <a:t>: restrições gerenciais ou de mercado;</a:t>
            </a:r>
          </a:p>
          <a:p>
            <a:pPr lvl="1"/>
            <a:r>
              <a:rPr lang="pt-BR" b="1" dirty="0"/>
              <a:t>Produto: </a:t>
            </a:r>
            <a:r>
              <a:rPr lang="pt-BR" dirty="0"/>
              <a:t>características do usuário ou da infra tecnológica</a:t>
            </a:r>
            <a:r>
              <a:rPr lang="pt-BR" b="1" dirty="0"/>
              <a:t>;</a:t>
            </a:r>
          </a:p>
          <a:p>
            <a:pPr lvl="1"/>
            <a:r>
              <a:rPr lang="pt-BR" b="1" dirty="0"/>
              <a:t>Projeto: </a:t>
            </a:r>
            <a:r>
              <a:rPr lang="pt-BR" dirty="0"/>
              <a:t>;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27D3F8D-9BC0-3577-1297-AF6186C76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2792" y="4001294"/>
            <a:ext cx="2183030" cy="27092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102013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C6820B-9F99-9E12-C0A5-9084AFB73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2-Identificar riscos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C0B8C03-C331-47F8-43B3-33FBF989E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509" y="1673223"/>
            <a:ext cx="9832273" cy="488428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B605634-47E9-506C-BD6B-F75A3DDFE7DD}"/>
              </a:ext>
            </a:extLst>
          </p:cNvPr>
          <p:cNvSpPr txBox="1"/>
          <p:nvPr/>
        </p:nvSpPr>
        <p:spPr>
          <a:xfrm>
            <a:off x="10300921" y="6497675"/>
            <a:ext cx="19529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 err="1"/>
              <a:t>Sommerville</a:t>
            </a:r>
            <a:r>
              <a:rPr lang="pt-BR" sz="1600" b="1" dirty="0"/>
              <a:t> (p. 418)</a:t>
            </a:r>
          </a:p>
        </p:txBody>
      </p:sp>
    </p:spTree>
    <p:extLst>
      <p:ext uri="{BB962C8B-B14F-4D97-AF65-F5344CB8AC3E}">
        <p14:creationId xmlns:p14="http://schemas.microsoft.com/office/powerpoint/2010/main" val="2046431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A0D12D-D0C9-EC5B-28AA-561A943E0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3- Analisar os riscos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9B23BE-2EDF-24DB-2761-68DE08729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858000" cy="4351338"/>
          </a:xfrm>
        </p:spPr>
        <p:txBody>
          <a:bodyPr>
            <a:normAutofit/>
          </a:bodyPr>
          <a:lstStyle/>
          <a:p>
            <a:r>
              <a:rPr lang="pt-BR" dirty="0"/>
              <a:t>Para cada risco levantado, julgar: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Probabilidade</a:t>
            </a:r>
            <a:r>
              <a:rPr lang="pt-BR" dirty="0"/>
              <a:t>: muito baixa, baixa, média, alta, muito alta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Impacto</a:t>
            </a:r>
            <a:r>
              <a:rPr lang="pt-BR" dirty="0"/>
              <a:t>: insignificante, toleráveis, graves, catastróficos</a:t>
            </a:r>
          </a:p>
          <a:p>
            <a:pPr lvl="1"/>
            <a:endParaRPr lang="pt-BR" dirty="0"/>
          </a:p>
          <a:p>
            <a:pPr lvl="1"/>
            <a:r>
              <a:rPr lang="pt-BR" b="1" i="1" dirty="0"/>
              <a:t>Exposição ao risco: </a:t>
            </a:r>
            <a:r>
              <a:rPr lang="pt-BR" i="1" dirty="0"/>
              <a:t>probabilidade * gravidade</a:t>
            </a:r>
          </a:p>
          <a:p>
            <a:pPr lvl="2"/>
            <a:r>
              <a:rPr lang="pt-BR" i="1" dirty="0"/>
              <a:t>Pode ser feita em termos monetários</a:t>
            </a:r>
          </a:p>
          <a:p>
            <a:pPr lvl="2"/>
            <a:endParaRPr lang="pt-BR" i="1" dirty="0"/>
          </a:p>
          <a:p>
            <a:pPr lvl="1"/>
            <a:r>
              <a:rPr lang="pt-BR" dirty="0"/>
              <a:t>Priorizar conforme nível de exposição aos riscos </a:t>
            </a:r>
          </a:p>
          <a:p>
            <a:pPr lvl="1"/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4350C6A-042F-4F97-B8C7-EA7A5656F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6825" y="2044933"/>
            <a:ext cx="3456974" cy="340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3274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0F579-B0F4-42BF-AD2D-A18F23E9F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E2CBD3-4D5F-68B3-4EEE-E1F750C95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3- Analisar os riscos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C9CB26-5CC8-40D3-0E3D-B7ACB3DEA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858000" cy="4351338"/>
          </a:xfrm>
        </p:spPr>
        <p:txBody>
          <a:bodyPr>
            <a:normAutofit/>
          </a:bodyPr>
          <a:lstStyle/>
          <a:p>
            <a:r>
              <a:rPr lang="pt-BR" dirty="0"/>
              <a:t>Para cada risco levantado, julgar: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Probabilidade</a:t>
            </a:r>
            <a:r>
              <a:rPr lang="pt-BR" dirty="0"/>
              <a:t>: muito baixa, baixa, média, alta, muito alta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Impacto</a:t>
            </a:r>
            <a:r>
              <a:rPr lang="pt-BR" dirty="0"/>
              <a:t>: insignificante, toleráveis, graves, catastróficos</a:t>
            </a:r>
          </a:p>
          <a:p>
            <a:pPr lvl="1"/>
            <a:endParaRPr lang="pt-BR" dirty="0"/>
          </a:p>
          <a:p>
            <a:pPr lvl="1"/>
            <a:r>
              <a:rPr lang="pt-BR" b="1" i="1" dirty="0"/>
              <a:t>Exposição ao risco: </a:t>
            </a:r>
            <a:r>
              <a:rPr lang="pt-BR" i="1" dirty="0"/>
              <a:t>probabilidade * gravidade</a:t>
            </a:r>
          </a:p>
          <a:p>
            <a:pPr lvl="2"/>
            <a:r>
              <a:rPr lang="pt-BR" i="1" dirty="0"/>
              <a:t>Pode ser feita em termos monetários</a:t>
            </a:r>
          </a:p>
          <a:p>
            <a:pPr lvl="2"/>
            <a:endParaRPr lang="pt-BR" i="1" dirty="0"/>
          </a:p>
          <a:p>
            <a:pPr lvl="1"/>
            <a:r>
              <a:rPr lang="pt-BR" dirty="0"/>
              <a:t>Priorizar conforme nível de exposição aos riscos </a:t>
            </a:r>
          </a:p>
          <a:p>
            <a:pPr lvl="1"/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51A68BF-3A97-EF84-3396-C639D7B61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6825" y="2044933"/>
            <a:ext cx="3456974" cy="340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4108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D5A8BB-DD78-279F-03BE-4EEA92A97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2-Análise do risco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D2043E-04C0-93A0-2113-5BAFA8C2E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D0E0906-5CA5-7ADE-4AB6-350CEE7F1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2485" y="1547291"/>
            <a:ext cx="6932772" cy="528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8669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A0D12D-D0C9-EC5B-28AA-561A943E0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4-Planejar respostas aos riscos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9B23BE-2EDF-24DB-2761-68DE08729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Considera cada um dos principais riscos que foram identificados e desenvolve estratégias para gerenciar esses riscos</a:t>
            </a:r>
          </a:p>
          <a:p>
            <a:pPr lvl="1"/>
            <a:r>
              <a:rPr lang="pt-BR" dirty="0"/>
              <a:t>Para cada um dos riscos:</a:t>
            </a:r>
          </a:p>
          <a:p>
            <a:pPr lvl="2"/>
            <a:r>
              <a:rPr lang="pt-BR" dirty="0"/>
              <a:t>pensar em ações que possa tomar para minimizar a interrupção do projeto, caso ocorra o problema identificado no risco</a:t>
            </a:r>
          </a:p>
          <a:p>
            <a:pPr lvl="2"/>
            <a:r>
              <a:rPr lang="pt-BR" dirty="0"/>
              <a:t>pensar sobre as informações que pode precisar coletar durante a monitoração do projeto de maneira que os problemas possam ser antecipado</a:t>
            </a:r>
          </a:p>
          <a:p>
            <a:pPr lvl="2"/>
            <a:endParaRPr lang="pt-BR" dirty="0"/>
          </a:p>
          <a:p>
            <a:r>
              <a:rPr lang="pt-BR" dirty="0"/>
              <a:t>Prevenção, minimização e contingência</a:t>
            </a:r>
          </a:p>
          <a:p>
            <a:pPr lvl="1"/>
            <a:r>
              <a:rPr lang="pt-BR" b="1" dirty="0"/>
              <a:t>Reduzir a chance </a:t>
            </a:r>
            <a:r>
              <a:rPr lang="pt-BR" dirty="0"/>
              <a:t>de o risco acontecer;</a:t>
            </a:r>
          </a:p>
          <a:p>
            <a:pPr lvl="1"/>
            <a:r>
              <a:rPr lang="pt-BR" b="1" dirty="0"/>
              <a:t>Reduzir o impacto </a:t>
            </a:r>
            <a:r>
              <a:rPr lang="pt-BR" dirty="0"/>
              <a:t>das consequências do risco;</a:t>
            </a:r>
          </a:p>
          <a:p>
            <a:pPr lvl="1"/>
            <a:r>
              <a:rPr lang="pt-BR" dirty="0"/>
              <a:t>Estratégia para </a:t>
            </a:r>
            <a:r>
              <a:rPr lang="pt-BR" b="1" dirty="0"/>
              <a:t>lidar com o acontecido</a:t>
            </a:r>
            <a:r>
              <a:rPr lang="pt-BR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6308253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C56DC6-A18E-AD2A-0EDF-A3174DCC2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4-Planejar respostas aos riscos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F75403-653D-9EFE-E912-A1880CB89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30244" cy="4351338"/>
          </a:xfrm>
        </p:spPr>
        <p:txBody>
          <a:bodyPr/>
          <a:lstStyle/>
          <a:p>
            <a:r>
              <a:rPr lang="pt-BR" dirty="0"/>
              <a:t>Ações?</a:t>
            </a:r>
          </a:p>
          <a:p>
            <a:pPr>
              <a:spcBef>
                <a:spcPts val="2400"/>
              </a:spcBef>
            </a:pPr>
            <a:r>
              <a:rPr lang="pt-BR" b="1" dirty="0"/>
              <a:t>Evitar</a:t>
            </a:r>
            <a:r>
              <a:rPr lang="pt-BR" dirty="0"/>
              <a:t>: reduzir probabilidade a zero</a:t>
            </a:r>
          </a:p>
          <a:p>
            <a:pPr>
              <a:spcBef>
                <a:spcPts val="2400"/>
              </a:spcBef>
            </a:pPr>
            <a:r>
              <a:rPr lang="pt-BR" b="1" dirty="0"/>
              <a:t>Mitigar</a:t>
            </a:r>
            <a:r>
              <a:rPr lang="pt-BR" dirty="0"/>
              <a:t>: reduzir probabilidade ou impacto</a:t>
            </a:r>
          </a:p>
          <a:p>
            <a:pPr>
              <a:spcBef>
                <a:spcPts val="2400"/>
              </a:spcBef>
            </a:pPr>
            <a:r>
              <a:rPr lang="pt-BR" b="1" dirty="0"/>
              <a:t>Transferir</a:t>
            </a:r>
            <a:r>
              <a:rPr lang="pt-BR" dirty="0"/>
              <a:t>: passar a responsabilidade</a:t>
            </a:r>
          </a:p>
          <a:p>
            <a:pPr>
              <a:spcBef>
                <a:spcPts val="2400"/>
              </a:spcBef>
            </a:pPr>
            <a:r>
              <a:rPr lang="pt-BR" b="1" dirty="0"/>
              <a:t>Aceitar</a:t>
            </a:r>
            <a:r>
              <a:rPr lang="pt-BR" dirty="0"/>
              <a:t>: quando o custo de mitigar é muito alto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E873E8F-B602-5D4B-FBC6-C37A389E6A64}"/>
              </a:ext>
            </a:extLst>
          </p:cNvPr>
          <p:cNvSpPr/>
          <p:nvPr/>
        </p:nvSpPr>
        <p:spPr>
          <a:xfrm>
            <a:off x="7168444" y="2030791"/>
            <a:ext cx="4593771" cy="279641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73025" lvl="1"/>
            <a:r>
              <a:rPr lang="pt-BR" sz="3200" b="1" dirty="0"/>
              <a:t>Exemplos:</a:t>
            </a:r>
          </a:p>
          <a:p>
            <a:pPr marL="358775" lvl="1" indent="-28575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358775" lvl="1" indent="-285750">
              <a:buFont typeface="Arial" panose="020B0604020202020204" pitchFamily="34" charset="0"/>
              <a:buChar char="•"/>
            </a:pPr>
            <a:r>
              <a:rPr lang="pt-BR" sz="2400" dirty="0"/>
              <a:t>Não usar biblioteca instável</a:t>
            </a:r>
          </a:p>
          <a:p>
            <a:pPr marL="358775" lvl="1" indent="-285750">
              <a:buFont typeface="Arial" panose="020B0604020202020204" pitchFamily="34" charset="0"/>
              <a:buChar char="•"/>
            </a:pPr>
            <a:r>
              <a:rPr lang="pt-BR" sz="2400" dirty="0"/>
              <a:t>Fazer backup diário</a:t>
            </a:r>
          </a:p>
          <a:p>
            <a:pPr marL="358775" lvl="1" indent="-285750">
              <a:buFont typeface="Arial" panose="020B0604020202020204" pitchFamily="34" charset="0"/>
              <a:buChar char="•"/>
            </a:pPr>
            <a:r>
              <a:rPr lang="pt-BR" sz="2400" dirty="0"/>
              <a:t>Contratar seguro, outsourcing</a:t>
            </a:r>
          </a:p>
          <a:p>
            <a:pPr marL="358775" lvl="1" indent="-285750">
              <a:buFont typeface="Arial" panose="020B0604020202020204" pitchFamily="34" charset="0"/>
              <a:buChar char="•"/>
            </a:pPr>
            <a:r>
              <a:rPr lang="pt-BR" sz="2400" dirty="0"/>
              <a:t>Monitorar e agir se ocorrer</a:t>
            </a:r>
          </a:p>
        </p:txBody>
      </p:sp>
    </p:spTree>
    <p:extLst>
      <p:ext uri="{BB962C8B-B14F-4D97-AF65-F5344CB8AC3E}">
        <p14:creationId xmlns:p14="http://schemas.microsoft.com/office/powerpoint/2010/main" val="2633832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3934BC-17B0-9941-0E1E-11DEDB9E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4-Planejar respostas aos riscos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572338-A696-FC2F-18E9-724F7B47A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A955F02-F1D5-B2C2-0A54-D88991501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961" y="1792473"/>
            <a:ext cx="9457033" cy="428270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E09437E-4F39-F6EA-6ED2-7752404D91C6}"/>
              </a:ext>
            </a:extLst>
          </p:cNvPr>
          <p:cNvSpPr txBox="1"/>
          <p:nvPr/>
        </p:nvSpPr>
        <p:spPr>
          <a:xfrm>
            <a:off x="2489200" y="6176963"/>
            <a:ext cx="736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hlinkClick r:id="rId3"/>
              </a:rPr>
              <a:t>https://www.gov.br/anvisa/pt-br/acessoainformacao/acoeseprogramas/gestao-de-riscos/arquivos/guia-pratico-de-grc-v2-0_final.pdf</a:t>
            </a:r>
            <a:r>
              <a:rPr lang="pt-BR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656690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BB981F-46AE-0B1E-BB07-3B13F8B5C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4-Planejar respostas aos riscos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6972E3-3FEB-4DB3-0BD6-6EE3872CA5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9DEE6F2-B09B-12B4-0AF4-95C8CAA55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188" y="1580413"/>
            <a:ext cx="8945223" cy="527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840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9E297B-3F6C-FB5B-C82E-44993B337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4-Planejar respostas aos riscos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D0943D-5A9D-EC55-C8EB-959D31B24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Exemplo: prática </a:t>
            </a:r>
            <a:r>
              <a:rPr lang="pt-BR" dirty="0" err="1"/>
              <a:t>DevSecOps</a:t>
            </a:r>
            <a:endParaRPr lang="pt-BR" dirty="0"/>
          </a:p>
          <a:p>
            <a:pPr lvl="1">
              <a:spcBef>
                <a:spcPts val="1800"/>
              </a:spcBef>
            </a:pPr>
            <a:r>
              <a:rPr lang="pt-BR" dirty="0"/>
              <a:t>Rodar scanner de vulnerabilidade (SAST/DAST) automaticamente no CI/CD antes do merge de um </a:t>
            </a:r>
            <a:r>
              <a:rPr lang="pt-BR" dirty="0" err="1"/>
              <a:t>commit</a:t>
            </a:r>
            <a:r>
              <a:rPr lang="pt-BR" dirty="0"/>
              <a:t>;</a:t>
            </a:r>
          </a:p>
        </p:txBody>
      </p:sp>
      <p:sp>
        <p:nvSpPr>
          <p:cNvPr id="5" name="AutoShape 4" descr="O que é SAST? | Wiz">
            <a:extLst>
              <a:ext uri="{FF2B5EF4-FFF2-40B4-BE49-F238E27FC236}">
                <a16:creationId xmlns:a16="http://schemas.microsoft.com/office/drawing/2014/main" id="{3452B10B-EED2-6020-EDB5-99ADE5FF0B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5CB7372-5061-F05F-246D-BA0FE2329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6839" y="3434923"/>
            <a:ext cx="4458322" cy="305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9820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B0DD72-D63E-1189-8157-A61B784D9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5-Monitoramento dos riscos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F1667F-63F2-CEB2-7B50-A08A46A97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Verificação de suposições sobre os riscos não mudaram</a:t>
            </a:r>
          </a:p>
          <a:p>
            <a:pPr>
              <a:spcBef>
                <a:spcPts val="2400"/>
              </a:spcBef>
            </a:pPr>
            <a:r>
              <a:rPr lang="pt-BR" dirty="0"/>
              <a:t>Avaliar </a:t>
            </a:r>
            <a:r>
              <a:rPr lang="pt-BR" b="1" dirty="0"/>
              <a:t>regularmente</a:t>
            </a:r>
            <a:r>
              <a:rPr lang="pt-BR" dirty="0"/>
              <a:t> se risco se torna mais ou menos provável</a:t>
            </a:r>
          </a:p>
          <a:p>
            <a:pPr>
              <a:spcBef>
                <a:spcPts val="2400"/>
              </a:spcBef>
            </a:pPr>
            <a:r>
              <a:rPr lang="pt-BR" dirty="0"/>
              <a:t>Observar outras métricas e fatores que indiquem essas alterações</a:t>
            </a:r>
          </a:p>
        </p:txBody>
      </p:sp>
    </p:spTree>
    <p:extLst>
      <p:ext uri="{BB962C8B-B14F-4D97-AF65-F5344CB8AC3E}">
        <p14:creationId xmlns:p14="http://schemas.microsoft.com/office/powerpoint/2010/main" val="28961485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5BB0B4-EF7F-CA39-AE28-0DE467B94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5-Monitoramento dos riscos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F8EC8A-A839-5B2A-2CDA-8C0360295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Exemplo: </a:t>
            </a:r>
            <a:r>
              <a:rPr lang="pt-BR" i="1" dirty="0" err="1"/>
              <a:t>Chaos</a:t>
            </a:r>
            <a:r>
              <a:rPr lang="pt-BR" i="1" dirty="0"/>
              <a:t> </a:t>
            </a:r>
            <a:r>
              <a:rPr lang="pt-BR" i="1" dirty="0" err="1"/>
              <a:t>Engineering</a:t>
            </a:r>
            <a:endParaRPr lang="pt-BR" i="1" dirty="0"/>
          </a:p>
          <a:p>
            <a:pPr>
              <a:spcBef>
                <a:spcPts val="2400"/>
              </a:spcBef>
            </a:pPr>
            <a:r>
              <a:rPr lang="pt-BR" dirty="0"/>
              <a:t>Monitoramento ativo, que provoca falhas de propósito para descobrir riscos antes que eles aconteçam sozinhos, em vez de só observar</a:t>
            </a:r>
          </a:p>
          <a:p>
            <a:pPr lvl="1">
              <a:spcBef>
                <a:spcPts val="2400"/>
              </a:spcBef>
            </a:pPr>
            <a:r>
              <a:rPr lang="pt-BR" dirty="0"/>
              <a:t>E</a:t>
            </a:r>
            <a:r>
              <a:rPr lang="pt-BR"/>
              <a:t>x</a:t>
            </a:r>
            <a:r>
              <a:rPr lang="pt-BR" dirty="0"/>
              <a:t>.: desligar um serviço de propósito em </a:t>
            </a:r>
            <a:r>
              <a:rPr lang="pt-BR"/>
              <a:t>ambiente controlado para validar se as respostas planejadas realmente funcionam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140529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F60C32-660D-6C2D-A9C5-488CC2F47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FDAE80C2-22BD-9CD0-F7DE-37212146EC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2494758"/>
              </p:ext>
            </p:extLst>
          </p:nvPr>
        </p:nvGraphicFramePr>
        <p:xfrm>
          <a:off x="496711" y="1495390"/>
          <a:ext cx="11379201" cy="515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2714">
                  <a:extLst>
                    <a:ext uri="{9D8B030D-6E8A-4147-A177-3AD203B41FA5}">
                      <a16:colId xmlns:a16="http://schemas.microsoft.com/office/drawing/2014/main" val="3919827451"/>
                    </a:ext>
                  </a:extLst>
                </a:gridCol>
                <a:gridCol w="4666511">
                  <a:extLst>
                    <a:ext uri="{9D8B030D-6E8A-4147-A177-3AD203B41FA5}">
                      <a16:colId xmlns:a16="http://schemas.microsoft.com/office/drawing/2014/main" val="1864728923"/>
                    </a:ext>
                  </a:extLst>
                </a:gridCol>
                <a:gridCol w="2769976">
                  <a:extLst>
                    <a:ext uri="{9D8B030D-6E8A-4147-A177-3AD203B41FA5}">
                      <a16:colId xmlns:a16="http://schemas.microsoft.com/office/drawing/2014/main" val="28931661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sz="2000" dirty="0"/>
                        <a:t>Risco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Sinal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Atualização</a:t>
                      </a:r>
                    </a:p>
                    <a:p>
                      <a:r>
                        <a:rPr lang="pt-BR" sz="2000" dirty="0"/>
                        <a:t>(mais provável / menos provável / sem mudança)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322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dirty="0"/>
                        <a:t>Atraso na entrega por falta de testes automatizados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a cobertura de testes subiu de 40% para 75% nos últimos dois sprints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323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dirty="0"/>
                        <a:t>Indisponibilidade do provedor de nuvem contratado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o provedor teve a terceira interrupção não planejada em dois meses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817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dirty="0"/>
                        <a:t>Perda de conhecimento por rotatividade da equipe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dois desenvolvedores pediram demissão essa semana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2291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dirty="0"/>
                        <a:t>Estouro de orçamento por escopo mal definido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o documento de requisitos foi assinado pelo cliente e está sem alterações há três semanas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1740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dirty="0"/>
                        <a:t>Vulnerabilidade de segurança em dependência desatualizada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o scanner de segurança automatizado não reportou novas </a:t>
                      </a:r>
                      <a:r>
                        <a:rPr lang="pt-BR" sz="1800" dirty="0" err="1"/>
                        <a:t>CVEs</a:t>
                      </a:r>
                      <a:r>
                        <a:rPr lang="pt-BR" sz="1800" dirty="0"/>
                        <a:t> críticas no último mês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3856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1800" dirty="0"/>
                        <a:t>Queda de performance em picos de acesso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dirty="0"/>
                        <a:t>as métricas de latência do APM mostram aumento de 30% nas últimas duas semanas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485203"/>
                  </a:ext>
                </a:extLst>
              </a:tr>
            </a:tbl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A0ECDAC7-A459-FBC3-0C53-6D4C27A1E470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2647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E8E6B6-6410-41F8-2A9E-FED93BC8B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6- Implementar respostas aos riscos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B1FEFB-04B7-FECD-9CF4-B45A619E8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Processo de executar os planos de resposta e avaliar sua efetividade ao longo do projeto, de modo a garantir a continuidade e a gestão efetiva dos riscos</a:t>
            </a:r>
          </a:p>
          <a:p>
            <a:endParaRPr lang="pt-BR" dirty="0"/>
          </a:p>
          <a:p>
            <a:r>
              <a:rPr lang="pt-BR" dirty="0"/>
              <a:t>Benefício: garantir que as respostas acordadas sejam executadas como planejado para tratar a exposição geral do projeto como um todo e minimizar as ameaças individuais</a:t>
            </a:r>
          </a:p>
        </p:txBody>
      </p:sp>
    </p:spTree>
    <p:extLst>
      <p:ext uri="{BB962C8B-B14F-4D97-AF65-F5344CB8AC3E}">
        <p14:creationId xmlns:p14="http://schemas.microsoft.com/office/powerpoint/2010/main" val="9317399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696A5F-C0C8-260E-2488-BC90D1009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Adaptação dos processos de Risco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90082FA-E8F6-5FC3-716C-54194E57D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Fatores: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Tamanho e complexidade do projeto;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Apetite e tolerância ao risco;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Visão holística entre outros Domínios de Performance;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Importância estratégica;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Flexibilidade no planejamento e respostas aos riscos;</a:t>
            </a:r>
          </a:p>
          <a:p>
            <a:pPr lvl="1">
              <a:spcBef>
                <a:spcPts val="1800"/>
              </a:spcBef>
            </a:pPr>
            <a:r>
              <a:rPr lang="pt-BR" dirty="0"/>
              <a:t>Necessidade de planos de resiliência (continuidade);</a:t>
            </a:r>
          </a:p>
          <a:p>
            <a:pPr lvl="1">
              <a:spcBef>
                <a:spcPts val="1800"/>
              </a:spcBef>
            </a:pPr>
            <a:r>
              <a:rPr lang="pt-BR" b="1" dirty="0"/>
              <a:t>Abordagem de desenvolvimento;</a:t>
            </a:r>
          </a:p>
        </p:txBody>
      </p:sp>
    </p:spTree>
    <p:extLst>
      <p:ext uri="{BB962C8B-B14F-4D97-AF65-F5344CB8AC3E}">
        <p14:creationId xmlns:p14="http://schemas.microsoft.com/office/powerpoint/2010/main" val="15295852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61D78F-9B86-8C0E-40D0-CBCC44887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dirty="0"/>
              <a:t>Adaptação por abordagem de desenvolvimento</a:t>
            </a:r>
          </a:p>
        </p:txBody>
      </p:sp>
      <p:sp>
        <p:nvSpPr>
          <p:cNvPr id="4" name="Fluxograma: Processo Alternativo 3">
            <a:extLst>
              <a:ext uri="{FF2B5EF4-FFF2-40B4-BE49-F238E27FC236}">
                <a16:creationId xmlns:a16="http://schemas.microsoft.com/office/drawing/2014/main" id="{30B4F698-C8EE-5331-D8D7-68E41CC018F5}"/>
              </a:ext>
            </a:extLst>
          </p:cNvPr>
          <p:cNvSpPr/>
          <p:nvPr/>
        </p:nvSpPr>
        <p:spPr>
          <a:xfrm>
            <a:off x="225776" y="2031995"/>
            <a:ext cx="3747911" cy="3330222"/>
          </a:xfrm>
          <a:prstGeom prst="flowChartAlternate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800" b="1" dirty="0"/>
              <a:t>Preditivo (cascata)</a:t>
            </a:r>
          </a:p>
          <a:p>
            <a:pPr algn="ctr"/>
            <a:endParaRPr lang="pt-BR" sz="2800" dirty="0"/>
          </a:p>
          <a:p>
            <a:pPr algn="ctr"/>
            <a:r>
              <a:rPr lang="pt-BR" sz="2000" dirty="0"/>
              <a:t>Registro de riscos formal, análise quantitativa robusta, revisões periódicas — comum em software para setores regulados (bancário, saúde).</a:t>
            </a:r>
            <a:endParaRPr lang="pt-BR" sz="1400" dirty="0"/>
          </a:p>
        </p:txBody>
      </p:sp>
      <p:sp>
        <p:nvSpPr>
          <p:cNvPr id="5" name="Fluxograma: Processo Alternativo 4">
            <a:extLst>
              <a:ext uri="{FF2B5EF4-FFF2-40B4-BE49-F238E27FC236}">
                <a16:creationId xmlns:a16="http://schemas.microsoft.com/office/drawing/2014/main" id="{C9F67332-093F-A8BA-7428-52889A097DF9}"/>
              </a:ext>
            </a:extLst>
          </p:cNvPr>
          <p:cNvSpPr/>
          <p:nvPr/>
        </p:nvSpPr>
        <p:spPr>
          <a:xfrm>
            <a:off x="4165598" y="2031995"/>
            <a:ext cx="3747911" cy="3330222"/>
          </a:xfrm>
          <a:prstGeom prst="flowChartAlternateProcess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800" b="1" dirty="0"/>
              <a:t>Ágil</a:t>
            </a:r>
          </a:p>
          <a:p>
            <a:pPr algn="ctr"/>
            <a:endParaRPr lang="pt-BR" sz="2800" dirty="0"/>
          </a:p>
          <a:p>
            <a:pPr algn="ctr"/>
            <a:r>
              <a:rPr lang="pt-BR" sz="2000" dirty="0"/>
              <a:t>discussão contínua de risco em cerimônias (</a:t>
            </a:r>
            <a:r>
              <a:rPr lang="pt-BR" sz="2000" dirty="0" err="1"/>
              <a:t>planning</a:t>
            </a:r>
            <a:r>
              <a:rPr lang="pt-BR" sz="2000" dirty="0"/>
              <a:t>, review, retrospectiva), quadros visuais leves (ex.: coluna de riscos no board), risco tratado como item de backlog </a:t>
            </a:r>
            <a:r>
              <a:rPr lang="pt-BR" sz="2000" dirty="0" err="1"/>
              <a:t>priorizável</a:t>
            </a:r>
            <a:endParaRPr lang="pt-BR" sz="2800" dirty="0"/>
          </a:p>
        </p:txBody>
      </p:sp>
      <p:sp>
        <p:nvSpPr>
          <p:cNvPr id="6" name="Fluxograma: Processo Alternativo 5">
            <a:extLst>
              <a:ext uri="{FF2B5EF4-FFF2-40B4-BE49-F238E27FC236}">
                <a16:creationId xmlns:a16="http://schemas.microsoft.com/office/drawing/2014/main" id="{5BD20238-2401-C3CF-127C-898927BDC370}"/>
              </a:ext>
            </a:extLst>
          </p:cNvPr>
          <p:cNvSpPr/>
          <p:nvPr/>
        </p:nvSpPr>
        <p:spPr>
          <a:xfrm>
            <a:off x="8105420" y="2031995"/>
            <a:ext cx="3747911" cy="3330222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800" b="1" dirty="0"/>
              <a:t>Híbrido</a:t>
            </a:r>
          </a:p>
          <a:p>
            <a:pPr algn="ctr"/>
            <a:endParaRPr lang="pt-BR" sz="2800" dirty="0"/>
          </a:p>
          <a:p>
            <a:pPr algn="ctr"/>
            <a:r>
              <a:rPr lang="pt-BR" sz="2000" dirty="0"/>
              <a:t>governança estruturada (nível de portfólio/programa) combinada com refinamento iterativo no nível de time — realidade da maioria das empresas de tecnologia de médio/grande porte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86552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A9A1A7-2D37-F17B-54D7-E7E8D5B43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Ferramentas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AAB42A-DDAB-09BC-1461-69E85004F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Exemplo: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0556B4A-6238-DB20-2D0E-DA2C54CAAC5D}"/>
              </a:ext>
            </a:extLst>
          </p:cNvPr>
          <p:cNvGrpSpPr/>
          <p:nvPr/>
        </p:nvGrpSpPr>
        <p:grpSpPr>
          <a:xfrm>
            <a:off x="3807780" y="1580445"/>
            <a:ext cx="7546020" cy="4952575"/>
            <a:chOff x="2367008" y="1869835"/>
            <a:chExt cx="6725590" cy="4414113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B699A9E9-3336-0F89-D108-0E6ED0483E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5631"/>
            <a:stretch/>
          </p:blipFill>
          <p:spPr>
            <a:xfrm>
              <a:off x="2367008" y="1869835"/>
              <a:ext cx="6725589" cy="1110239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29A7D2DC-6F36-3A00-21A9-EC8C555E69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67009" y="2968785"/>
              <a:ext cx="6725589" cy="3315163"/>
            </a:xfrm>
            <a:prstGeom prst="rect">
              <a:avLst/>
            </a:prstGeom>
          </p:spPr>
        </p:pic>
      </p:grp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CB4D2F8-C6E3-08FE-A207-D309774F82C1}"/>
              </a:ext>
            </a:extLst>
          </p:cNvPr>
          <p:cNvSpPr txBox="1"/>
          <p:nvPr/>
        </p:nvSpPr>
        <p:spPr>
          <a:xfrm>
            <a:off x="4644775" y="6547974"/>
            <a:ext cx="64685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hlinkClick r:id="rId4"/>
              </a:rPr>
              <a:t>https://pt.slideshare.net/slideshow/aula-07-gerenciamento-de-riscos/101758085#4</a:t>
            </a:r>
            <a:r>
              <a:rPr lang="pt-BR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705152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D661F5-7F8D-F052-CEAB-6484BC9BB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Ferramentas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2AA294-C184-EE13-7E29-9116842BC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026" name="Picture 2" descr="The ROAM Risk Model in Agile Projects and Its Deficiencies – Roland Wanner">
            <a:extLst>
              <a:ext uri="{FF2B5EF4-FFF2-40B4-BE49-F238E27FC236}">
                <a16:creationId xmlns:a16="http://schemas.microsoft.com/office/drawing/2014/main" id="{8BEDF7F7-FF24-2D80-27AF-A22BBE8C59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883" y="1690688"/>
            <a:ext cx="7006695" cy="4982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58095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8E7C00-8BCE-752D-468D-8A1A7B6B5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Ferramentas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25AD82-98B6-636D-2B74-7A458EC0D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1E7BD10-A5BA-DD54-C4FA-92319CF560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151"/>
          <a:stretch/>
        </p:blipFill>
        <p:spPr>
          <a:xfrm>
            <a:off x="0" y="1825625"/>
            <a:ext cx="12192000" cy="5210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7113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17CF76-2437-D456-8533-CE97C0C5A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ilustrativo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4163CB-33EA-C7EE-34E8-32A8E59A7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95800" cy="4351338"/>
          </a:xfrm>
        </p:spPr>
        <p:txBody>
          <a:bodyPr/>
          <a:lstStyle/>
          <a:p>
            <a:r>
              <a:rPr lang="pt-BR" b="1" dirty="0"/>
              <a:t>Cenário</a:t>
            </a:r>
            <a:r>
              <a:rPr lang="pt-BR" dirty="0"/>
              <a:t>: ultrapassagem em pista de mão única durante neblina</a:t>
            </a:r>
          </a:p>
          <a:p>
            <a:endParaRPr lang="pt-BR" dirty="0"/>
          </a:p>
          <a:p>
            <a:r>
              <a:rPr lang="pt-BR" b="1" dirty="0"/>
              <a:t>Risco</a:t>
            </a:r>
            <a:r>
              <a:rPr lang="pt-BR" dirty="0"/>
              <a:t>: colisão com carro vindo de outra direção</a:t>
            </a:r>
          </a:p>
        </p:txBody>
      </p:sp>
      <p:pic>
        <p:nvPicPr>
          <p:cNvPr id="1028" name="Picture 4" descr="O que o Código de Trânsito Brasileiro diz sobre a ultrapassagem - Exame  Pelo Bem">
            <a:extLst>
              <a:ext uri="{FF2B5EF4-FFF2-40B4-BE49-F238E27FC236}">
                <a16:creationId xmlns:a16="http://schemas.microsoft.com/office/drawing/2014/main" id="{1AE4F75D-ACEC-DECA-E3AD-F5B4BB9B2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825625"/>
            <a:ext cx="685800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0A65FA6-BE0C-40F5-ABFD-83AB94643D69}"/>
              </a:ext>
            </a:extLst>
          </p:cNvPr>
          <p:cNvSpPr txBox="1"/>
          <p:nvPr/>
        </p:nvSpPr>
        <p:spPr>
          <a:xfrm>
            <a:off x="5715000" y="5187255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400" dirty="0"/>
              <a:t>https://www.examepelobem.com.br/fotos/images/ULTRAPASSAGEM-1-1.jpg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B0CC9E6-3160-8F89-C175-4797F6B9D3F7}"/>
              </a:ext>
            </a:extLst>
          </p:cNvPr>
          <p:cNvSpPr txBox="1"/>
          <p:nvPr/>
        </p:nvSpPr>
        <p:spPr>
          <a:xfrm>
            <a:off x="6662057" y="6308209"/>
            <a:ext cx="4547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Baseado em exemplo do prof. Leonardo Murta</a:t>
            </a:r>
          </a:p>
        </p:txBody>
      </p:sp>
    </p:spTree>
    <p:extLst>
      <p:ext uri="{BB962C8B-B14F-4D97-AF65-F5344CB8AC3E}">
        <p14:creationId xmlns:p14="http://schemas.microsoft.com/office/powerpoint/2010/main" val="35502027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C4893F-CC17-75B1-2BFF-00A5AF6B2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ilustrativo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0A6984-EF40-2C6A-BE00-01E48FEF6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647137" cy="4351338"/>
          </a:xfrm>
        </p:spPr>
        <p:txBody>
          <a:bodyPr/>
          <a:lstStyle/>
          <a:p>
            <a:r>
              <a:rPr lang="pt-BR" dirty="0"/>
              <a:t>Probabilidade: 20% (pouca neblina)</a:t>
            </a:r>
          </a:p>
          <a:p>
            <a:r>
              <a:rPr lang="pt-BR" dirty="0"/>
              <a:t>Impacto: 0,9 (ferimentos graves)</a:t>
            </a:r>
          </a:p>
          <a:p>
            <a:r>
              <a:rPr lang="pt-BR" dirty="0"/>
              <a:t>Exposição: 0,18</a:t>
            </a:r>
          </a:p>
          <a:p>
            <a:r>
              <a:rPr lang="pt-BR" dirty="0"/>
              <a:t>Prioridade: média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E200FC0-793A-1378-8650-0FA84DC79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904870"/>
            <a:ext cx="5647137" cy="3272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9892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273C0A-AB8B-BB6C-407E-E0CA13E83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ilustrativo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6D8943-BED2-A207-FA41-053B9E1BF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Mitigação</a:t>
            </a:r>
          </a:p>
          <a:p>
            <a:pPr lvl="1"/>
            <a:r>
              <a:rPr lang="pt-BR" dirty="0"/>
              <a:t>Contenção: dirigir em baixa velocidade, respeitar sinalização, carro com ABS</a:t>
            </a:r>
          </a:p>
          <a:p>
            <a:pPr lvl="1"/>
            <a:r>
              <a:rPr lang="pt-BR" dirty="0"/>
              <a:t>Contingência: uso de cinto de segurança, </a:t>
            </a:r>
            <a:r>
              <a:rPr lang="pt-BR" i="1" dirty="0" err="1"/>
              <a:t>air</a:t>
            </a:r>
            <a:r>
              <a:rPr lang="pt-BR" i="1" dirty="0"/>
              <a:t> bags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41E9B15-8AD0-F9CF-E5F5-C048706D7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4487981" cy="317927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B91B9E5-9207-4D70-092A-228EBF00B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7373" y="3429000"/>
            <a:ext cx="3948601" cy="3154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9112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FF2360-DC39-0C6E-4069-863FFCA1F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ilustrativo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DF4CC9-B2FC-1113-B752-6167D543A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Monitoramento</a:t>
            </a:r>
          </a:p>
          <a:p>
            <a:pPr lvl="1"/>
            <a:r>
              <a:rPr lang="pt-BR" dirty="0"/>
              <a:t>A cada 10 minutos</a:t>
            </a:r>
          </a:p>
          <a:p>
            <a:pPr lvl="1"/>
            <a:r>
              <a:rPr lang="pt-BR" dirty="0"/>
              <a:t>Verificar mudanças climáticas</a:t>
            </a:r>
          </a:p>
          <a:p>
            <a:pPr lvl="1"/>
            <a:r>
              <a:rPr lang="pt-BR" dirty="0"/>
              <a:t>Verificar condições da pista e claridade</a:t>
            </a:r>
          </a:p>
          <a:p>
            <a:pPr lvl="1"/>
            <a:r>
              <a:rPr lang="pt-BR" dirty="0"/>
              <a:t>Atualizar avaliação de probabilidade e impacto do risco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B73B6A0-68E0-20C5-1477-C3C4674CD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270342"/>
            <a:ext cx="2575775" cy="190662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922F280-C734-28D6-F14F-98DA4556F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338" y="4270342"/>
            <a:ext cx="2575776" cy="194129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DB96B5A-7906-6E7A-7B5F-C639235C65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2477" y="4270342"/>
            <a:ext cx="2827835" cy="1898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3830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C541DB-5057-1E66-DA32-EF0BCC79E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4F9D64-86E3-A8F6-D5FC-28ADA365F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Risco identificado:</a:t>
            </a:r>
            <a:r>
              <a:rPr lang="pt-BR" dirty="0"/>
              <a:t> “Integração com API externa atrasa por falta de documentação.”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Probabilidade:</a:t>
            </a:r>
            <a:r>
              <a:rPr lang="pt-BR" dirty="0"/>
              <a:t> 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Impacto:</a:t>
            </a:r>
            <a:r>
              <a:rPr lang="pt-BR" dirty="0"/>
              <a:t> 5</a:t>
            </a:r>
          </a:p>
          <a:p>
            <a:pPr>
              <a:buFont typeface="Arial" panose="020B0604020202020204" pitchFamily="34" charset="0"/>
              <a:buChar char="•"/>
            </a:pPr>
            <a:endParaRPr lang="pt-BR" b="1" dirty="0"/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Ação de mitigação:</a:t>
            </a:r>
            <a:r>
              <a:rPr lang="pt-BR" dirty="0"/>
              <a:t> definir </a:t>
            </a:r>
            <a:r>
              <a:rPr lang="pt-BR" dirty="0" err="1"/>
              <a:t>mock</a:t>
            </a:r>
            <a:r>
              <a:rPr lang="pt-BR" dirty="0"/>
              <a:t> de API e testar integração local.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Responsável:</a:t>
            </a:r>
            <a:r>
              <a:rPr lang="pt-BR" dirty="0"/>
              <a:t> líder técnico.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Monitoramento:</a:t>
            </a:r>
            <a:r>
              <a:rPr lang="pt-BR" dirty="0"/>
              <a:t> revisar status semanalmente no quadro </a:t>
            </a:r>
            <a:r>
              <a:rPr lang="pt-BR" dirty="0" err="1"/>
              <a:t>Kanban</a:t>
            </a:r>
            <a:r>
              <a:rPr lang="pt-BR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6114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220C1C-8EF0-BA2E-515B-BEBF5BE19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Escopo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EDEEEE-2B1C-D2CD-3B9E-C10730190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Mas será que todo risco deve ser comunicado ao </a:t>
            </a:r>
            <a:r>
              <a:rPr lang="pt-BR" b="1" i="1" dirty="0"/>
              <a:t>cliente</a:t>
            </a:r>
            <a:r>
              <a:rPr lang="pt-BR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442621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62EF28-CE2D-C727-2E3E-EDADD198D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Transparência seletiva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590B7A-F082-897A-4584-CA4B72925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Nem todos os riscos precisam (ou devem) ser compartilhados com o cliente.</a:t>
            </a:r>
            <a:br>
              <a:rPr lang="pt-BR" dirty="0"/>
            </a:br>
            <a:endParaRPr lang="pt-BR" dirty="0"/>
          </a:p>
          <a:p>
            <a:r>
              <a:rPr lang="pt-BR" dirty="0"/>
              <a:t>O objetivo é </a:t>
            </a:r>
            <a:r>
              <a:rPr lang="pt-BR" b="1" dirty="0"/>
              <a:t>manter a confiança e a clareza sobre impactos reais</a:t>
            </a:r>
            <a:r>
              <a:rPr lang="pt-BR" dirty="0"/>
              <a:t>, sem sobrecarregar o cliente com riscos técnicos ou internos que a equipe já está mitigando.</a:t>
            </a:r>
          </a:p>
        </p:txBody>
      </p:sp>
    </p:spTree>
    <p:extLst>
      <p:ext uri="{BB962C8B-B14F-4D97-AF65-F5344CB8AC3E}">
        <p14:creationId xmlns:p14="http://schemas.microsoft.com/office/powerpoint/2010/main" val="17990842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FA939B-9B0F-D3F8-AD2A-FAC216FF6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Riscos que devem ser comunicados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641B59-A7BA-8606-C4AD-C91355E8F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056467" cy="4351338"/>
          </a:xfrm>
        </p:spPr>
        <p:txBody>
          <a:bodyPr>
            <a:normAutofit lnSpcReduction="10000"/>
          </a:bodyPr>
          <a:lstStyle/>
          <a:p>
            <a:r>
              <a:rPr lang="pt-BR" sz="2400" dirty="0"/>
              <a:t>Devem ser documentados e validados</a:t>
            </a:r>
          </a:p>
          <a:p>
            <a:endParaRPr lang="pt-BR" sz="2400" dirty="0"/>
          </a:p>
          <a:p>
            <a:r>
              <a:rPr lang="pt-BR" sz="2400" dirty="0"/>
              <a:t>Esses riscos </a:t>
            </a:r>
            <a:r>
              <a:rPr lang="pt-BR" sz="2400" b="1" dirty="0"/>
              <a:t>impactam diretamente os objetivos do projeto, o escopo, o prazo ou o custo</a:t>
            </a:r>
            <a:r>
              <a:rPr lang="pt-BR" sz="2400" dirty="0"/>
              <a:t>, e </a:t>
            </a:r>
            <a:r>
              <a:rPr lang="pt-BR" sz="2400" b="1" dirty="0"/>
              <a:t>dependem de decisões, ações ou recursos do cliente</a:t>
            </a:r>
            <a:r>
              <a:rPr lang="pt-BR" sz="2400" dirty="0"/>
              <a:t>.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9B624B51-AD88-F635-A65C-F62695DFE6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500788"/>
              </p:ext>
            </p:extLst>
          </p:nvPr>
        </p:nvGraphicFramePr>
        <p:xfrm>
          <a:off x="4015395" y="1294449"/>
          <a:ext cx="7818810" cy="541369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606270">
                  <a:extLst>
                    <a:ext uri="{9D8B030D-6E8A-4147-A177-3AD203B41FA5}">
                      <a16:colId xmlns:a16="http://schemas.microsoft.com/office/drawing/2014/main" val="2494833378"/>
                    </a:ext>
                  </a:extLst>
                </a:gridCol>
                <a:gridCol w="2606270">
                  <a:extLst>
                    <a:ext uri="{9D8B030D-6E8A-4147-A177-3AD203B41FA5}">
                      <a16:colId xmlns:a16="http://schemas.microsoft.com/office/drawing/2014/main" val="3144218166"/>
                    </a:ext>
                  </a:extLst>
                </a:gridCol>
                <a:gridCol w="2606270">
                  <a:extLst>
                    <a:ext uri="{9D8B030D-6E8A-4147-A177-3AD203B41FA5}">
                      <a16:colId xmlns:a16="http://schemas.microsoft.com/office/drawing/2014/main" val="2674199303"/>
                    </a:ext>
                  </a:extLst>
                </a:gridCol>
              </a:tblGrid>
              <a:tr h="271959">
                <a:tc>
                  <a:txBody>
                    <a:bodyPr/>
                    <a:lstStyle/>
                    <a:p>
                      <a:r>
                        <a:rPr lang="pt-BR" sz="2000" b="1" dirty="0"/>
                        <a:t>Tipo de risco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pt-BR" sz="2000" b="1" dirty="0"/>
                        <a:t>Exemplos práticos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pt-BR" sz="2000" b="1" dirty="0"/>
                        <a:t>Por que comunicar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2308991380"/>
                  </a:ext>
                </a:extLst>
              </a:tr>
              <a:tr h="883865">
                <a:tc>
                  <a:txBody>
                    <a:bodyPr/>
                    <a:lstStyle/>
                    <a:p>
                      <a:r>
                        <a:rPr lang="pt-BR" sz="2000" b="1" dirty="0"/>
                        <a:t>Riscos de negócio</a:t>
                      </a:r>
                      <a:endParaRPr lang="pt-BR" sz="2000" dirty="0"/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pt-BR" sz="1600"/>
                        <a:t>Mudança de prioridade de funcionalidades; redução de orçamento; alteração do público-alvo.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pt-BR" sz="1600"/>
                        <a:t>O cliente decide o rumo do produto e precisa validar o impacto.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1764249175"/>
                  </a:ext>
                </a:extLst>
              </a:tr>
              <a:tr h="883865">
                <a:tc>
                  <a:txBody>
                    <a:bodyPr/>
                    <a:lstStyle/>
                    <a:p>
                      <a:r>
                        <a:rPr lang="pt-BR" sz="2000" b="1" dirty="0"/>
                        <a:t>Riscos de requisitos</a:t>
                      </a:r>
                      <a:endParaRPr lang="pt-BR" sz="2000" dirty="0"/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pt-BR" sz="1600"/>
                        <a:t>Ambiguidade ou falta de detalhamento de regras de negócio; dependência de aprovações lentas.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pt-BR" sz="1600"/>
                        <a:t>O cliente deve participar da validação e esclarecer requisitos.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3059932428"/>
                  </a:ext>
                </a:extLst>
              </a:tr>
              <a:tr h="679897">
                <a:tc>
                  <a:txBody>
                    <a:bodyPr/>
                    <a:lstStyle/>
                    <a:p>
                      <a:r>
                        <a:rPr lang="pt-BR" sz="2000" b="1" dirty="0"/>
                        <a:t>Riscos contratuais e legais</a:t>
                      </a:r>
                      <a:endParaRPr lang="pt-BR" sz="2000" dirty="0"/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pt-BR" sz="1600"/>
                        <a:t>Atrasos por cláusulas de SLA, LGPD, compliance ou propriedade intelectual.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pt-BR" sz="1600"/>
                        <a:t>Envolve obrigações formais entre as partes.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502782035"/>
                  </a:ext>
                </a:extLst>
              </a:tr>
              <a:tr h="679897">
                <a:tc>
                  <a:txBody>
                    <a:bodyPr/>
                    <a:lstStyle/>
                    <a:p>
                      <a:r>
                        <a:rPr lang="pt-BR" sz="2000" b="1" dirty="0"/>
                        <a:t>Riscos de dependência externa</a:t>
                      </a:r>
                      <a:endParaRPr lang="pt-BR" sz="2000" dirty="0"/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pt-BR" sz="1600"/>
                        <a:t>Integração com sistemas do cliente (ex: ERP, TISS, gateway de pagamento).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pt-BR" sz="1600"/>
                        <a:t>A equipe depende do cliente ou de fornecedores indicados.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3951474429"/>
                  </a:ext>
                </a:extLst>
              </a:tr>
              <a:tr h="475928">
                <a:tc>
                  <a:txBody>
                    <a:bodyPr/>
                    <a:lstStyle/>
                    <a:p>
                      <a:r>
                        <a:rPr lang="pt-BR" sz="2000" b="1" dirty="0"/>
                        <a:t>Mudanças de escopo</a:t>
                      </a:r>
                      <a:endParaRPr lang="pt-BR" sz="2000" dirty="0"/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pt-BR" sz="1600"/>
                        <a:t>Solicitação de novas features fora do plano.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pt-BR" sz="1600"/>
                        <a:t>Deve ser validada, pois altera prazo e custo.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3006996839"/>
                  </a:ext>
                </a:extLst>
              </a:tr>
              <a:tr h="475928">
                <a:tc>
                  <a:txBody>
                    <a:bodyPr/>
                    <a:lstStyle/>
                    <a:p>
                      <a:r>
                        <a:rPr lang="pt-BR" sz="2000" b="1" dirty="0"/>
                        <a:t>Riscos de aceitação</a:t>
                      </a:r>
                      <a:endParaRPr lang="pt-BR" sz="2000" dirty="0"/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pt-BR" sz="1600"/>
                        <a:t>Dúvidas sobre critérios de aceite, testes de homologação.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Evita retrabalho e conflitos no encerramento.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4082423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52183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46ECEC-B1A1-8EE2-C3D2-DA12A11DD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Riscos mantidos internamente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8C6C5F-4494-42B6-7739-CBE359541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372556" cy="4351338"/>
          </a:xfrm>
        </p:spPr>
        <p:txBody>
          <a:bodyPr>
            <a:normAutofit fontScale="92500"/>
          </a:bodyPr>
          <a:lstStyle/>
          <a:p>
            <a:r>
              <a:rPr lang="pt-BR" dirty="0"/>
              <a:t>Esses riscos são </a:t>
            </a:r>
            <a:r>
              <a:rPr lang="pt-BR" b="1" dirty="0"/>
              <a:t>técnicos, operacionais ou de gestão interna</a:t>
            </a:r>
            <a:r>
              <a:rPr lang="pt-BR" dirty="0"/>
              <a:t>, e </a:t>
            </a:r>
            <a:r>
              <a:rPr lang="pt-BR" b="1" dirty="0"/>
              <a:t>não afetam diretamente o cliente</a:t>
            </a:r>
            <a:r>
              <a:rPr lang="pt-BR" dirty="0"/>
              <a:t>, a menos que se materializem.</a:t>
            </a:r>
            <a:br>
              <a:rPr lang="pt-BR" dirty="0"/>
            </a:br>
            <a:endParaRPr lang="pt-BR" dirty="0"/>
          </a:p>
          <a:p>
            <a:r>
              <a:rPr lang="pt-BR" dirty="0"/>
              <a:t>A equipe deve monitorá-los e agir preventivamente.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F101EEC2-B7AB-7578-BE13-7CEE3199CE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4857637"/>
              </p:ext>
            </p:extLst>
          </p:nvPr>
        </p:nvGraphicFramePr>
        <p:xfrm>
          <a:off x="5249332" y="1578310"/>
          <a:ext cx="6773334" cy="481584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840090">
                  <a:extLst>
                    <a:ext uri="{9D8B030D-6E8A-4147-A177-3AD203B41FA5}">
                      <a16:colId xmlns:a16="http://schemas.microsoft.com/office/drawing/2014/main" val="354603457"/>
                    </a:ext>
                  </a:extLst>
                </a:gridCol>
                <a:gridCol w="2675466">
                  <a:extLst>
                    <a:ext uri="{9D8B030D-6E8A-4147-A177-3AD203B41FA5}">
                      <a16:colId xmlns:a16="http://schemas.microsoft.com/office/drawing/2014/main" val="1059122798"/>
                    </a:ext>
                  </a:extLst>
                </a:gridCol>
                <a:gridCol w="2257778">
                  <a:extLst>
                    <a:ext uri="{9D8B030D-6E8A-4147-A177-3AD203B41FA5}">
                      <a16:colId xmlns:a16="http://schemas.microsoft.com/office/drawing/2014/main" val="2391535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t-BR" sz="2000" b="1" dirty="0"/>
                        <a:t>Tipo de risco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000" b="1" dirty="0"/>
                        <a:t>Exemplos práticos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000" b="1" dirty="0"/>
                        <a:t>Como tratar internamente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1713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1800" b="1" dirty="0"/>
                        <a:t>Técnico</a:t>
                      </a:r>
                      <a:endParaRPr lang="pt-B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600"/>
                        <a:t>Dificuldade com nova linguagem, falha em protótipo, dependência de biblioteca.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600"/>
                        <a:t>Plano de capacitação, protótipos de prova de conceito, pareamento.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250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1800" b="1" dirty="0"/>
                        <a:t>De equipe</a:t>
                      </a:r>
                      <a:endParaRPr lang="pt-B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600"/>
                        <a:t>Rotatividade, ausência temporária de membro, baixa produtividade.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600"/>
                        <a:t>Replanejar tarefas, redistribuir atividades, revisar cronograma.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3286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1800" b="1" dirty="0"/>
                        <a:t>De infraestrutura</a:t>
                      </a:r>
                      <a:endParaRPr lang="pt-B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600"/>
                        <a:t>Servidor de teste instável, pipeline CI/CD falhando.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600"/>
                        <a:t>Registrar no backlog técnico e monitorar.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604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1800" b="1" dirty="0"/>
                        <a:t>De qualidade</a:t>
                      </a:r>
                      <a:endParaRPr lang="pt-B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600"/>
                        <a:t>Bugs frequentes, retrabalho, cobertura de testes baixa.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600"/>
                        <a:t>Melhorar práticas de QA, code review e automação.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6716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 sz="1800" b="1" dirty="0"/>
                        <a:t>De comunicação interna</a:t>
                      </a:r>
                      <a:endParaRPr lang="pt-BR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600"/>
                        <a:t>Falta de clareza nas tarefas, sobreposição de funções.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Ajustar cerimônias e definir papéis com clareza.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25089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70068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F82A33-D5E5-29B6-542A-9FF73E0DB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Revisão constante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05044D05-8E72-31F9-32C5-0D533E6693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8479537"/>
              </p:ext>
            </p:extLst>
          </p:nvPr>
        </p:nvGraphicFramePr>
        <p:xfrm>
          <a:off x="838200" y="1825625"/>
          <a:ext cx="10515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9802093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9910488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2400" dirty="0"/>
                        <a:t>Riscos compartilhados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Riscos internos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0333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/>
                        <a:t>Documentar esses riscos na </a:t>
                      </a:r>
                      <a:r>
                        <a:rPr lang="pt-BR" sz="2400" b="1" dirty="0"/>
                        <a:t>matriz de riscos compartilhada</a:t>
                      </a:r>
                      <a:r>
                        <a:rPr lang="pt-BR" sz="2400" dirty="0"/>
                        <a:t> (parte do plano de projeto) </a:t>
                      </a:r>
                    </a:p>
                    <a:p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Registrar no </a:t>
                      </a:r>
                      <a:r>
                        <a:rPr lang="pt-BR" sz="2400" b="1" dirty="0"/>
                        <a:t>repositório interno de riscos</a:t>
                      </a:r>
                      <a:r>
                        <a:rPr lang="pt-BR" sz="2400" dirty="0"/>
                        <a:t> (</a:t>
                      </a:r>
                      <a:r>
                        <a:rPr lang="pt-BR" sz="2400" dirty="0" err="1"/>
                        <a:t>Trello</a:t>
                      </a:r>
                      <a:r>
                        <a:rPr lang="pt-BR" sz="2400" dirty="0"/>
                        <a:t>, </a:t>
                      </a:r>
                      <a:r>
                        <a:rPr lang="pt-BR" sz="2400" dirty="0" err="1"/>
                        <a:t>Notion</a:t>
                      </a:r>
                      <a:r>
                        <a:rPr lang="pt-BR" sz="2400" dirty="0"/>
                        <a:t>, </a:t>
                      </a:r>
                      <a:r>
                        <a:rPr lang="pt-BR" sz="2400" dirty="0" err="1"/>
                        <a:t>Jira</a:t>
                      </a:r>
                      <a:r>
                        <a:rPr lang="pt-BR" sz="2400" dirty="0"/>
                        <a:t>, etc.)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8999248"/>
                  </a:ext>
                </a:extLst>
              </a:tr>
              <a:tr h="643819">
                <a:tc>
                  <a:txBody>
                    <a:bodyPr/>
                    <a:lstStyle/>
                    <a:p>
                      <a:r>
                        <a:rPr lang="pt-BR" sz="2400" dirty="0"/>
                        <a:t>Discuti-los em </a:t>
                      </a:r>
                      <a:r>
                        <a:rPr lang="pt-BR" sz="2400" b="1" dirty="0"/>
                        <a:t>reuniões de acompanhamento</a:t>
                      </a:r>
                      <a:r>
                        <a:rPr lang="pt-BR" sz="2400" dirty="0"/>
                        <a:t> (</a:t>
                      </a:r>
                      <a:r>
                        <a:rPr lang="pt-BR" sz="2400" dirty="0" err="1"/>
                        <a:t>ex</a:t>
                      </a:r>
                      <a:r>
                        <a:rPr lang="pt-BR" sz="2400" dirty="0"/>
                        <a:t>: sprint review ou status </a:t>
                      </a:r>
                      <a:r>
                        <a:rPr lang="pt-BR" sz="2400" dirty="0" err="1"/>
                        <a:t>report</a:t>
                      </a:r>
                      <a:r>
                        <a:rPr lang="pt-BR" sz="2400" dirty="0"/>
                        <a:t>) </a:t>
                      </a:r>
                    </a:p>
                    <a:p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Revisar semanalmente com a equipe técnica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183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/>
                        <a:t>Atualizar as </a:t>
                      </a:r>
                      <a:r>
                        <a:rPr lang="pt-BR" sz="2400" b="1" dirty="0"/>
                        <a:t>ações mitigadoras</a:t>
                      </a:r>
                      <a:r>
                        <a:rPr lang="pt-BR" sz="2400" dirty="0"/>
                        <a:t> conforme decisão conjunta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Só comunicar ao cliente </a:t>
                      </a:r>
                      <a:r>
                        <a:rPr lang="pt-BR" sz="2400" b="1" dirty="0"/>
                        <a:t>se houver impacto potencial real</a:t>
                      </a:r>
                      <a:r>
                        <a:rPr lang="pt-BR" sz="2400" dirty="0"/>
                        <a:t> em prazos, escopo ou entregas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723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4704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355DA5-013E-8EE0-F716-B762273AA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Visibilidade dos riscos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D1CDED-728F-6368-1D0C-C7EE301A6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BBE02C6-8A31-081C-B6DF-2E3971682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220" y="1930493"/>
            <a:ext cx="10293559" cy="1727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53968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F0D588-AFD7-AFE2-3EF7-9CAC6A089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2E506C-AAAF-A3BB-14A7-C04390442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Planilha disponível no </a:t>
            </a:r>
            <a:r>
              <a:rPr lang="pt-BR" dirty="0" err="1"/>
              <a:t>Classroom</a:t>
            </a:r>
            <a:endParaRPr lang="pt-BR" dirty="0"/>
          </a:p>
          <a:p>
            <a:endParaRPr lang="pt-BR" sz="1800" dirty="0"/>
          </a:p>
          <a:p>
            <a:r>
              <a:rPr lang="pt-BR" dirty="0"/>
              <a:t>Identifique </a:t>
            </a:r>
            <a:r>
              <a:rPr lang="pt-BR" b="1" dirty="0"/>
              <a:t>10 riscos (2 por categoria) </a:t>
            </a:r>
            <a:r>
              <a:rPr lang="pt-BR" dirty="0"/>
              <a:t>relacionados ao projeto da disciplina</a:t>
            </a:r>
          </a:p>
          <a:p>
            <a:pPr lvl="1"/>
            <a:r>
              <a:rPr lang="pt-BR" dirty="0"/>
              <a:t>Identifique os riscos principais, embasados nas categorias vistas em aula</a:t>
            </a:r>
          </a:p>
          <a:p>
            <a:pPr lvl="1"/>
            <a:r>
              <a:rPr lang="pt-BR" dirty="0"/>
              <a:t>Identifique a probabilidade e o impacto de cada um</a:t>
            </a:r>
          </a:p>
          <a:p>
            <a:pPr lvl="1"/>
            <a:r>
              <a:rPr lang="pt-BR" dirty="0"/>
              <a:t>Proponha ação de mitigação</a:t>
            </a:r>
          </a:p>
          <a:p>
            <a:pPr lvl="1"/>
            <a:r>
              <a:rPr lang="pt-BR" dirty="0"/>
              <a:t>Delimite o escopo (interno ou compartilhado)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9D3F97E-43BA-1A43-0616-511322FFBC1D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19037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58243</TotalTime>
  <Words>2707</Words>
  <Application>Microsoft Office PowerPoint</Application>
  <PresentationFormat>Widescreen</PresentationFormat>
  <Paragraphs>401</Paragraphs>
  <Slides>57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57</vt:i4>
      </vt:variant>
    </vt:vector>
  </HeadingPairs>
  <TitlesOfParts>
    <vt:vector size="62" baseType="lpstr">
      <vt:lpstr>Arial</vt:lpstr>
      <vt:lpstr>Calibri</vt:lpstr>
      <vt:lpstr>Calibri Light</vt:lpstr>
      <vt:lpstr>Wingdings</vt:lpstr>
      <vt:lpstr>Tema do Office</vt:lpstr>
      <vt:lpstr>Apresentação do PowerPoint</vt:lpstr>
      <vt:lpstr>Na aula anterior, vimos...</vt:lpstr>
      <vt:lpstr>Apresentação do PowerPoint</vt:lpstr>
      <vt:lpstr>Outras etapas</vt:lpstr>
      <vt:lpstr>Agenda</vt:lpstr>
      <vt:lpstr>Gestão de Riscos - PMBOK</vt:lpstr>
      <vt:lpstr>Gestão de Riscos - PMBOK</vt:lpstr>
      <vt:lpstr>Gestão de Riscos - PMBOK</vt:lpstr>
      <vt:lpstr>Risco</vt:lpstr>
      <vt:lpstr>Riscos de projeto</vt:lpstr>
      <vt:lpstr>Riscos de projeto</vt:lpstr>
      <vt:lpstr>Riscos de projeto</vt:lpstr>
      <vt:lpstr>Exercício</vt:lpstr>
      <vt:lpstr>Riscos de projeto</vt:lpstr>
      <vt:lpstr>Apetite e Tolerância ao risco</vt:lpstr>
      <vt:lpstr>Apetite e Tolerância ao risco</vt:lpstr>
      <vt:lpstr>Características do software</vt:lpstr>
      <vt:lpstr>Riscos de software</vt:lpstr>
      <vt:lpstr>Riscos de software</vt:lpstr>
      <vt:lpstr>Riscos de software</vt:lpstr>
      <vt:lpstr>Apresentação do PowerPoint</vt:lpstr>
      <vt:lpstr>Caso Knight Capital</vt:lpstr>
      <vt:lpstr>Agenda</vt:lpstr>
      <vt:lpstr>Processo de gestão de riscos</vt:lpstr>
      <vt:lpstr>Processo de gestão de riscos</vt:lpstr>
      <vt:lpstr>1- Planejar a gestão de riscos</vt:lpstr>
      <vt:lpstr>2-Identificar riscos</vt:lpstr>
      <vt:lpstr>2-Identificar riscos</vt:lpstr>
      <vt:lpstr>3- Analisar os riscos</vt:lpstr>
      <vt:lpstr>3- Analisar os riscos</vt:lpstr>
      <vt:lpstr>2-Análise do risco</vt:lpstr>
      <vt:lpstr>4-Planejar respostas aos riscos</vt:lpstr>
      <vt:lpstr>4-Planejar respostas aos riscos</vt:lpstr>
      <vt:lpstr>4-Planejar respostas aos riscos</vt:lpstr>
      <vt:lpstr>4-Planejar respostas aos riscos</vt:lpstr>
      <vt:lpstr>4-Planejar respostas aos riscos</vt:lpstr>
      <vt:lpstr>5-Monitoramento dos riscos</vt:lpstr>
      <vt:lpstr>5-Monitoramento dos riscos</vt:lpstr>
      <vt:lpstr>Exercício</vt:lpstr>
      <vt:lpstr>6- Implementar respostas aos riscos</vt:lpstr>
      <vt:lpstr>Adaptação dos processos de Risco</vt:lpstr>
      <vt:lpstr>Adaptação por abordagem de desenvolvimento</vt:lpstr>
      <vt:lpstr>Ferramentas</vt:lpstr>
      <vt:lpstr>Ferramentas</vt:lpstr>
      <vt:lpstr>Ferramentas</vt:lpstr>
      <vt:lpstr>Exemplo ilustrativo</vt:lpstr>
      <vt:lpstr>Exemplo ilustrativo</vt:lpstr>
      <vt:lpstr>Exemplo ilustrativo</vt:lpstr>
      <vt:lpstr>Exemplo ilustrativo</vt:lpstr>
      <vt:lpstr>Exemplo</vt:lpstr>
      <vt:lpstr>Escopo</vt:lpstr>
      <vt:lpstr>Transparência seletiva</vt:lpstr>
      <vt:lpstr>Riscos que devem ser comunicados</vt:lpstr>
      <vt:lpstr>Riscos mantidos internamente</vt:lpstr>
      <vt:lpstr>Revisão constante</vt:lpstr>
      <vt:lpstr>Visibilidade dos riscos</vt:lpstr>
      <vt:lpstr>Atividade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Bruno Elias Penteado</dc:creator>
  <cp:lastModifiedBy>Author</cp:lastModifiedBy>
  <cp:revision>1245</cp:revision>
  <dcterms:created xsi:type="dcterms:W3CDTF">2024-08-08T20:58:28Z</dcterms:created>
  <dcterms:modified xsi:type="dcterms:W3CDTF">2026-08-14T21:47:41Z</dcterms:modified>
</cp:coreProperties>
</file>